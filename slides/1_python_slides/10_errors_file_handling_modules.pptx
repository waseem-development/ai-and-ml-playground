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0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32.xml" ContentType="application/vnd.openxmlformats-officedocument.presentationml.slide+xml"/>
  <Override PartName="/ppt/slides/slide48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A46165E-02FC-41E4-9D21-66BAEF94066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1508005-9DE0-4C66-B710-179F558934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4D27D4D-6205-441C-99EE-514D227993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BD147B-2E3C-49FC-8D8B-E35D4F8083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489BBBF-0D86-42B1-AE8C-EF924D17F4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B21461E-BEF1-404E-9076-111A3934DB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6328E9A-9047-4A2A-B0FB-02E8E16B0D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BFDCD04-5689-4A4C-86A0-F76DD633F3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FC48FFE-7926-4940-8314-EF75BE87BA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71A5C0E-C9B0-4275-8F51-081B21E29C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8B37CFE-8CCA-4ADA-8C89-F0ADCA3E13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A7EB040-84A6-4EEE-B5A6-26252D2048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F625CDE-75A7-407D-964F-EFE98E6837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386F3F-EEC6-4C48-8B2A-7F08B9EBF9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B81B631-3585-4013-918A-7B95E566EB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48CC0AC-843D-4658-8616-E56DB8698A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3BBF6DD-CB80-437D-AFC3-CAFAF98541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DF391A4-A46D-43A6-8E83-286A826D50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7A9A4B-D622-46A2-99B9-7C922E8F0B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C6C53A6-34FE-4CA3-A49D-7CCAE99C76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3635ADB-D9DE-413F-9B4E-EFA27E873F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6358FC2-723A-4319-A6C2-F256160DE7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1668244-5BE2-4732-B805-FECE9F8E14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D4EAB5C-B41E-4E98-80EB-E583EA7544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DEAC029-E5BA-4578-901E-5BE2E1C3FE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58C6701-D709-466B-B3B2-A7FFDAC61D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C3F2E8-0C99-47F4-AD54-8F7B6C16CD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94699E8-6452-4C22-BA4F-41DC1D9AE3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765FB5-3623-4AF9-895D-605249E072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EEE24A-ECA3-49F6-BD25-4C404465B3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24D22D5-98CE-4BF6-94E5-B6B61534B1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624AA18-A391-40D1-9321-D0180D9680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ADB43B8-8E86-4D52-8742-68E2640BF9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4A0CFC-F1C3-41B2-A7C3-BA28639085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D59E531-C263-43C6-A3EF-3BB06E85B7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5504A00-64A4-4666-A74F-BB3B49FA56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26821B9-DD4D-4A9F-BAA6-99BD5AA603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B15D460-675D-484E-A2EE-FF4A9FAAB6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87F9FFD-7A8B-4636-9B01-C15C8594E9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FE2520E-FE91-4C96-A2AD-18307E9B15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CDCB06E-F3FF-4AE9-BFCA-18A06551C3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72BD5CD-E223-46CD-8F53-557D5B801F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A04E142-EAC8-4919-B9C2-0C2A0B0DE2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9A57E65-C9E9-4886-8063-2FA072AC15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3FBA4BD-8C05-498B-961E-DB3921B51C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9A13A5D-7C15-4BE6-A6A5-36401D6DEC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402CC45-180A-4C4D-8FF0-A746F585DA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D1369F3-5DF8-496C-AD3F-DD099DD9A5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A235ECB-47F9-41A1-B98B-C889F04C1C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9.png"/><Relationship Id="rId3" Type="http://schemas.openxmlformats.org/officeDocument/2006/relationships/image" Target="../media/image29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9.png"/><Relationship Id="rId3" Type="http://schemas.openxmlformats.org/officeDocument/2006/relationships/image" Target="../media/image29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9.png"/><Relationship Id="rId3" Type="http://schemas.openxmlformats.org/officeDocument/2006/relationships/image" Target="../media/image29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-2286000" y="3657600"/>
            <a:ext cx="6399360" cy="63993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229600" y="-2743200"/>
            <a:ext cx="6399360" cy="63993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495400" y="914400"/>
            <a:ext cx="1187280" cy="11872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preencoded.png"/>
          <p:cNvPicPr/>
          <p:nvPr/>
        </p:nvPicPr>
        <p:blipFill>
          <a:blip r:embed="rId1"/>
          <a:stretch/>
        </p:blipFill>
        <p:spPr>
          <a:xfrm>
            <a:off x="5678280" y="1097280"/>
            <a:ext cx="830520" cy="83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3"/>
          <p:cNvSpPr/>
          <p:nvPr/>
        </p:nvSpPr>
        <p:spPr>
          <a:xfrm>
            <a:off x="914400" y="2377440"/>
            <a:ext cx="103586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Errors, File Handling &amp; Modules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914400" y="3383280"/>
            <a:ext cx="1035864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Types of Errors, try/except/finally, Reading &amp; Writing Files, and Python’s Built-In Toolbox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914400" y="3977640"/>
            <a:ext cx="103586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Session 11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We're Covering Today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457200" y="1600200"/>
            <a:ext cx="11273040" cy="565560"/>
          </a:xfrm>
          <a:prstGeom prst="roundRect">
            <a:avLst>
              <a:gd name="adj" fmla="val 1290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685800" y="1710000"/>
            <a:ext cx="345960" cy="3459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1" descr="preencoded.png"/>
          <p:cNvPicPr/>
          <p:nvPr/>
        </p:nvPicPr>
        <p:blipFill>
          <a:blip r:embed="rId2"/>
          <a:stretch/>
        </p:blipFill>
        <p:spPr>
          <a:xfrm>
            <a:off x="758880" y="178308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4"/>
          <p:cNvSpPr/>
          <p:nvPr/>
        </p:nvSpPr>
        <p:spPr>
          <a:xfrm>
            <a:off x="1234440" y="1600200"/>
            <a:ext cx="1023984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Types of errors — syntax, logical, and runtime, and how to tell them apart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457200" y="2258640"/>
            <a:ext cx="11273040" cy="56556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685800" y="2368440"/>
            <a:ext cx="345960" cy="3459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2" descr="preencoded.png"/>
          <p:cNvPicPr/>
          <p:nvPr/>
        </p:nvPicPr>
        <p:blipFill>
          <a:blip r:embed="rId3"/>
          <a:stretch/>
        </p:blipFill>
        <p:spPr>
          <a:xfrm>
            <a:off x="758880" y="244152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 7"/>
          <p:cNvSpPr/>
          <p:nvPr/>
        </p:nvSpPr>
        <p:spPr>
          <a:xfrm>
            <a:off x="1234440" y="2258640"/>
            <a:ext cx="1023984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Exception handling — try, except, else, finally, and raising your own errors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457200" y="2917080"/>
            <a:ext cx="11273040" cy="565560"/>
          </a:xfrm>
          <a:prstGeom prst="roundRect">
            <a:avLst>
              <a:gd name="adj" fmla="val 1290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9"/>
          <p:cNvSpPr/>
          <p:nvPr/>
        </p:nvSpPr>
        <p:spPr>
          <a:xfrm>
            <a:off x="685800" y="3026520"/>
            <a:ext cx="345960" cy="3459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3" descr="preencoded.png"/>
          <p:cNvPicPr/>
          <p:nvPr/>
        </p:nvPicPr>
        <p:blipFill>
          <a:blip r:embed="rId4"/>
          <a:stretch/>
        </p:blipFill>
        <p:spPr>
          <a:xfrm>
            <a:off x="758880" y="309996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10"/>
          <p:cNvSpPr/>
          <p:nvPr/>
        </p:nvSpPr>
        <p:spPr>
          <a:xfrm>
            <a:off x="1234440" y="2917080"/>
            <a:ext cx="1023984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File handling — opening, reading, writing, and safely closing files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1"/>
          <p:cNvSpPr/>
          <p:nvPr/>
        </p:nvSpPr>
        <p:spPr>
          <a:xfrm>
            <a:off x="457200" y="3575160"/>
            <a:ext cx="11273040" cy="56556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685800" y="3684960"/>
            <a:ext cx="345960" cy="3459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4" descr="preencoded.png"/>
          <p:cNvPicPr/>
          <p:nvPr/>
        </p:nvPicPr>
        <p:blipFill>
          <a:blip r:embed="rId5"/>
          <a:stretch/>
        </p:blipFill>
        <p:spPr>
          <a:xfrm>
            <a:off x="758880" y="375804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13"/>
          <p:cNvSpPr/>
          <p:nvPr/>
        </p:nvSpPr>
        <p:spPr>
          <a:xfrm>
            <a:off x="1234440" y="3575160"/>
            <a:ext cx="1023984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What a module actually is, and how import really works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4"/>
          <p:cNvSpPr/>
          <p:nvPr/>
        </p:nvSpPr>
        <p:spPr>
          <a:xfrm>
            <a:off x="457200" y="4233600"/>
            <a:ext cx="11273040" cy="565560"/>
          </a:xfrm>
          <a:prstGeom prst="roundRect">
            <a:avLst>
              <a:gd name="adj" fmla="val 1290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685800" y="4343400"/>
            <a:ext cx="345960" cy="3459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5" descr="preencoded.png"/>
          <p:cNvPicPr/>
          <p:nvPr/>
        </p:nvPicPr>
        <p:blipFill>
          <a:blip r:embed="rId6"/>
          <a:stretch/>
        </p:blipFill>
        <p:spPr>
          <a:xfrm>
            <a:off x="758880" y="441648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 16"/>
          <p:cNvSpPr/>
          <p:nvPr/>
        </p:nvSpPr>
        <p:spPr>
          <a:xfrm>
            <a:off x="1234440" y="4233600"/>
            <a:ext cx="1023984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Built-in modules — datetime, time, random, and a few more worth knowing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7"/>
          <p:cNvSpPr/>
          <p:nvPr/>
        </p:nvSpPr>
        <p:spPr>
          <a:xfrm>
            <a:off x="457200" y="4892040"/>
            <a:ext cx="11273040" cy="56556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685800" y="5001840"/>
            <a:ext cx="345960" cy="3459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" name="Image 6" descr="preencoded.png"/>
          <p:cNvPicPr/>
          <p:nvPr/>
        </p:nvPicPr>
        <p:blipFill>
          <a:blip r:embed="rId7"/>
          <a:stretch/>
        </p:blipFill>
        <p:spPr>
          <a:xfrm>
            <a:off x="758880" y="507492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 19"/>
          <p:cNvSpPr/>
          <p:nvPr/>
        </p:nvSpPr>
        <p:spPr>
          <a:xfrm>
            <a:off x="1234440" y="4892040"/>
            <a:ext cx="1023984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Today's tasks and two mini projects combining everything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0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1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-1828800" y="41148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9601200" y="-22860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"/>
          <p:cNvSpPr/>
          <p:nvPr/>
        </p:nvSpPr>
        <p:spPr>
          <a:xfrm>
            <a:off x="5596200" y="731520"/>
            <a:ext cx="1004400" cy="10044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27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3"/>
          <p:cNvSpPr/>
          <p:nvPr/>
        </p:nvSpPr>
        <p:spPr>
          <a:xfrm>
            <a:off x="914400" y="1965960"/>
            <a:ext cx="103586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914400" y="2377440"/>
            <a:ext cx="1035864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Types of Errors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1463040" y="4572000"/>
            <a:ext cx="92613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Before you can handle an error, you need to know which of the three kinds you’re looking at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10515600" y="5669280"/>
            <a:ext cx="3198960" cy="319896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an Error?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Three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different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failure modes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4572000" y="173736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An "error" isn’t one thing — Python code can fail in three fundamentally different ways, and the fix for each is completely different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Syntax errors — the code is written incorrectly and can’t even start running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Logical errors — the code runs fine, but produces the wrong answer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Runtime errors (exceptions) — the code is valid and starts running, but something goes wrong partway through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Syntax Errors — Caught Before the Code Even Runs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"/>
          <p:cNvSpPr/>
          <p:nvPr/>
        </p:nvSpPr>
        <p:spPr>
          <a:xfrm>
            <a:off x="548640" y="1828800"/>
            <a:ext cx="4753440" cy="40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syntax error means the code breaks Python’s grammar rules — a missing colon, an unclosed bracket, a mismatched quote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Python catches these before executing a single line — you get a SyntaxError and the program never starts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These are usually the easiest to fix — the traceback points directly at the exact line and often the exact character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5486400" y="1691640"/>
            <a:ext cx="6216480" cy="434196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5806440" y="1965960"/>
            <a:ext cx="5576400" cy="37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greet(name)     </a:t>
            </a:r>
            <a:r>
              <a:rPr lang="en-US" sz="20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missing colon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print(f"Hi {name}")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File "script.py", line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def greet(name)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           ^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SyntaxError: expected ':'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Logical Errors — The Code Runs, But the Answer Is Wrong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548640" y="1828800"/>
            <a:ext cx="4753440" cy="40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logical error means the code runs with no crash at all — Python has no way to detect it, because nothing is technically "wrong"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bug is in your thinking, not your syntax — the wrong formula, a swapped condition, an off-by-one loop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These are the hardest to find precisely because Python never complains — you only notice from incorrect output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5486400" y="1691640"/>
            <a:ext cx="6216480" cy="434196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5806440" y="1965960"/>
            <a:ext cx="5576400" cy="37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average(a, b):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return a + b / 2     </a:t>
            </a:r>
            <a:r>
              <a:rPr lang="en-US" sz="16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BUG: should be (a + b) /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average(10, 20)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20.0   &lt;- wrong! division happened before addition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Expected: 15.0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No error message anywhere — you have to notice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the output is wrong yourself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Common Runtime Errors (Exceptions) — Part 1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"/>
          <p:cNvSpPr/>
          <p:nvPr/>
        </p:nvSpPr>
        <p:spPr>
          <a:xfrm>
            <a:off x="457200" y="1508760"/>
            <a:ext cx="3610440" cy="4890600"/>
          </a:xfrm>
          <a:prstGeom prst="roundRect">
            <a:avLst>
              <a:gd name="adj" fmla="val 253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1989000" y="2094120"/>
            <a:ext cx="547200" cy="5472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1" descr="preencoded.png"/>
          <p:cNvPicPr/>
          <p:nvPr/>
        </p:nvPicPr>
        <p:blipFill>
          <a:blip r:embed="rId2"/>
          <a:stretch/>
        </p:blipFill>
        <p:spPr>
          <a:xfrm>
            <a:off x="2071080" y="2176200"/>
            <a:ext cx="382680" cy="38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4"/>
          <p:cNvSpPr/>
          <p:nvPr/>
        </p:nvSpPr>
        <p:spPr>
          <a:xfrm>
            <a:off x="548640" y="2715840"/>
            <a:ext cx="3427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ZeroDivisionError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603360" y="3099960"/>
            <a:ext cx="3317760" cy="31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10 / 0 — dividing by zero, always fatal, never a valid result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6"/>
          <p:cNvSpPr/>
          <p:nvPr/>
        </p:nvSpPr>
        <p:spPr>
          <a:xfrm>
            <a:off x="4288680" y="1508760"/>
            <a:ext cx="3610440" cy="4890600"/>
          </a:xfrm>
          <a:prstGeom prst="roundRect">
            <a:avLst>
              <a:gd name="adj" fmla="val 253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7"/>
          <p:cNvSpPr/>
          <p:nvPr/>
        </p:nvSpPr>
        <p:spPr>
          <a:xfrm>
            <a:off x="5820120" y="2094120"/>
            <a:ext cx="547200" cy="5472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2" descr="preencoded.png"/>
          <p:cNvPicPr/>
          <p:nvPr/>
        </p:nvPicPr>
        <p:blipFill>
          <a:blip r:embed="rId3"/>
          <a:stretch/>
        </p:blipFill>
        <p:spPr>
          <a:xfrm>
            <a:off x="5902560" y="2176200"/>
            <a:ext cx="382680" cy="38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8"/>
          <p:cNvSpPr/>
          <p:nvPr/>
        </p:nvSpPr>
        <p:spPr>
          <a:xfrm>
            <a:off x="4380120" y="2715840"/>
            <a:ext cx="3427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IndexError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9"/>
          <p:cNvSpPr/>
          <p:nvPr/>
        </p:nvSpPr>
        <p:spPr>
          <a:xfrm>
            <a:off x="4434840" y="3099960"/>
            <a:ext cx="3317760" cy="31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my_list[10] on a 3-item list — asking for a position that doesn’t exist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0"/>
          <p:cNvSpPr/>
          <p:nvPr/>
        </p:nvSpPr>
        <p:spPr>
          <a:xfrm>
            <a:off x="8119800" y="1508760"/>
            <a:ext cx="3610440" cy="4890600"/>
          </a:xfrm>
          <a:prstGeom prst="roundRect">
            <a:avLst>
              <a:gd name="adj" fmla="val 253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1"/>
          <p:cNvSpPr/>
          <p:nvPr/>
        </p:nvSpPr>
        <p:spPr>
          <a:xfrm>
            <a:off x="9651600" y="2094120"/>
            <a:ext cx="547200" cy="5472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" name="Image 3" descr="preencoded.png"/>
          <p:cNvPicPr/>
          <p:nvPr/>
        </p:nvPicPr>
        <p:blipFill>
          <a:blip r:embed="rId4"/>
          <a:stretch/>
        </p:blipFill>
        <p:spPr>
          <a:xfrm>
            <a:off x="9733680" y="2176200"/>
            <a:ext cx="382680" cy="38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12"/>
          <p:cNvSpPr/>
          <p:nvPr/>
        </p:nvSpPr>
        <p:spPr>
          <a:xfrm>
            <a:off x="8211240" y="2715840"/>
            <a:ext cx="3427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KeyError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3"/>
          <p:cNvSpPr/>
          <p:nvPr/>
        </p:nvSpPr>
        <p:spPr>
          <a:xfrm>
            <a:off x="8266320" y="3099960"/>
            <a:ext cx="3317760" cy="31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my_dict["missing"] — asking for a dictionary key that was never set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5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Common Runtime Errors (Exceptions) — Part 2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457200" y="1508760"/>
            <a:ext cx="3610440" cy="4890600"/>
          </a:xfrm>
          <a:prstGeom prst="roundRect">
            <a:avLst>
              <a:gd name="adj" fmla="val 253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1989000" y="2094120"/>
            <a:ext cx="547200" cy="5472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1" descr="preencoded.png"/>
          <p:cNvPicPr/>
          <p:nvPr/>
        </p:nvPicPr>
        <p:blipFill>
          <a:blip r:embed="rId2"/>
          <a:stretch/>
        </p:blipFill>
        <p:spPr>
          <a:xfrm>
            <a:off x="2071080" y="2176200"/>
            <a:ext cx="382680" cy="38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4"/>
          <p:cNvSpPr/>
          <p:nvPr/>
        </p:nvSpPr>
        <p:spPr>
          <a:xfrm>
            <a:off x="548640" y="2715840"/>
            <a:ext cx="3427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TypeError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603360" y="3099960"/>
            <a:ext cx="3317760" cy="31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"5" + 5 — combining incompatible types the operation can’t handle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6"/>
          <p:cNvSpPr/>
          <p:nvPr/>
        </p:nvSpPr>
        <p:spPr>
          <a:xfrm>
            <a:off x="4288680" y="1508760"/>
            <a:ext cx="3610440" cy="4890600"/>
          </a:xfrm>
          <a:prstGeom prst="roundRect">
            <a:avLst>
              <a:gd name="adj" fmla="val 253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7"/>
          <p:cNvSpPr/>
          <p:nvPr/>
        </p:nvSpPr>
        <p:spPr>
          <a:xfrm>
            <a:off x="5820120" y="2094120"/>
            <a:ext cx="547200" cy="5472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2" name="Image 2" descr="preencoded.png"/>
          <p:cNvPicPr/>
          <p:nvPr/>
        </p:nvPicPr>
        <p:blipFill>
          <a:blip r:embed="rId3"/>
          <a:stretch/>
        </p:blipFill>
        <p:spPr>
          <a:xfrm>
            <a:off x="5902560" y="2176200"/>
            <a:ext cx="382680" cy="38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 8"/>
          <p:cNvSpPr/>
          <p:nvPr/>
        </p:nvSpPr>
        <p:spPr>
          <a:xfrm>
            <a:off x="4380120" y="2715840"/>
            <a:ext cx="3427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ValueError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4434840" y="3099960"/>
            <a:ext cx="3317760" cy="31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int("abc") — the right type, but a value that can’t be converted or used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0"/>
          <p:cNvSpPr/>
          <p:nvPr/>
        </p:nvSpPr>
        <p:spPr>
          <a:xfrm>
            <a:off x="8119800" y="1508760"/>
            <a:ext cx="3610440" cy="4890600"/>
          </a:xfrm>
          <a:prstGeom prst="roundRect">
            <a:avLst>
              <a:gd name="adj" fmla="val 253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1"/>
          <p:cNvSpPr/>
          <p:nvPr/>
        </p:nvSpPr>
        <p:spPr>
          <a:xfrm>
            <a:off x="9651600" y="2094120"/>
            <a:ext cx="547200" cy="5472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3" descr="preencoded.png"/>
          <p:cNvPicPr/>
          <p:nvPr/>
        </p:nvPicPr>
        <p:blipFill>
          <a:blip r:embed="rId4"/>
          <a:stretch/>
        </p:blipFill>
        <p:spPr>
          <a:xfrm>
            <a:off x="9733680" y="2176200"/>
            <a:ext cx="382680" cy="38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12"/>
          <p:cNvSpPr/>
          <p:nvPr/>
        </p:nvSpPr>
        <p:spPr>
          <a:xfrm>
            <a:off x="8211240" y="2715840"/>
            <a:ext cx="3427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FileNotFoundError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3"/>
          <p:cNvSpPr/>
          <p:nvPr/>
        </p:nvSpPr>
        <p:spPr>
          <a:xfrm>
            <a:off x="8266320" y="3099960"/>
            <a:ext cx="3317760" cy="31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open("missing.txt") — trying to open a file that isn’t where you said it was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4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5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Syntax vs. Logical vs. Runtime — Side by Side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"/>
          <p:cNvSpPr/>
          <p:nvPr/>
        </p:nvSpPr>
        <p:spPr>
          <a:xfrm>
            <a:off x="457200" y="1508760"/>
            <a:ext cx="3610440" cy="4890600"/>
          </a:xfrm>
          <a:prstGeom prst="roundRect">
            <a:avLst>
              <a:gd name="adj" fmla="val 2532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"/>
          <p:cNvSpPr/>
          <p:nvPr/>
        </p:nvSpPr>
        <p:spPr>
          <a:xfrm>
            <a:off x="1989000" y="2094120"/>
            <a:ext cx="547200" cy="5472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1" descr="preencoded.png"/>
          <p:cNvPicPr/>
          <p:nvPr/>
        </p:nvPicPr>
        <p:blipFill>
          <a:blip r:embed="rId2"/>
          <a:stretch/>
        </p:blipFill>
        <p:spPr>
          <a:xfrm>
            <a:off x="2071080" y="2176200"/>
            <a:ext cx="382680" cy="38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4"/>
          <p:cNvSpPr/>
          <p:nvPr/>
        </p:nvSpPr>
        <p:spPr>
          <a:xfrm>
            <a:off x="548640" y="2715840"/>
            <a:ext cx="3427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Syntax 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603360" y="3099960"/>
            <a:ext cx="3317760" cy="31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Caught before running. Program never starts. Fix: correct the grammar Python is pointing at.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6"/>
          <p:cNvSpPr/>
          <p:nvPr/>
        </p:nvSpPr>
        <p:spPr>
          <a:xfrm>
            <a:off x="4288680" y="1508760"/>
            <a:ext cx="3610440" cy="4890600"/>
          </a:xfrm>
          <a:prstGeom prst="roundRect">
            <a:avLst>
              <a:gd name="adj" fmla="val 253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7"/>
          <p:cNvSpPr/>
          <p:nvPr/>
        </p:nvSpPr>
        <p:spPr>
          <a:xfrm>
            <a:off x="5820120" y="2094120"/>
            <a:ext cx="547200" cy="5472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2" descr="preencoded.png"/>
          <p:cNvPicPr/>
          <p:nvPr/>
        </p:nvPicPr>
        <p:blipFill>
          <a:blip r:embed="rId3"/>
          <a:stretch/>
        </p:blipFill>
        <p:spPr>
          <a:xfrm>
            <a:off x="5902560" y="2176200"/>
            <a:ext cx="382680" cy="38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8"/>
          <p:cNvSpPr/>
          <p:nvPr/>
        </p:nvSpPr>
        <p:spPr>
          <a:xfrm>
            <a:off x="4380120" y="2715840"/>
            <a:ext cx="3427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Logical 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9"/>
          <p:cNvSpPr/>
          <p:nvPr/>
        </p:nvSpPr>
        <p:spPr>
          <a:xfrm>
            <a:off x="4434840" y="3099960"/>
            <a:ext cx="3317760" cy="31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No crash at all. Wrong output. Fix: trace your logic by hand, check the actual math or condition.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0"/>
          <p:cNvSpPr/>
          <p:nvPr/>
        </p:nvSpPr>
        <p:spPr>
          <a:xfrm>
            <a:off x="8119800" y="1508760"/>
            <a:ext cx="3610440" cy="4890600"/>
          </a:xfrm>
          <a:prstGeom prst="roundRect">
            <a:avLst>
              <a:gd name="adj" fmla="val 253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1"/>
          <p:cNvSpPr/>
          <p:nvPr/>
        </p:nvSpPr>
        <p:spPr>
          <a:xfrm>
            <a:off x="9651600" y="2094120"/>
            <a:ext cx="547200" cy="5472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3" descr="preencoded.png"/>
          <p:cNvPicPr/>
          <p:nvPr/>
        </p:nvPicPr>
        <p:blipFill>
          <a:blip r:embed="rId4"/>
          <a:stretch/>
        </p:blipFill>
        <p:spPr>
          <a:xfrm>
            <a:off x="9733680" y="2176200"/>
            <a:ext cx="382680" cy="38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12"/>
          <p:cNvSpPr/>
          <p:nvPr/>
        </p:nvSpPr>
        <p:spPr>
          <a:xfrm>
            <a:off x="8211240" y="2715840"/>
            <a:ext cx="3427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Runtime 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3"/>
          <p:cNvSpPr/>
          <p:nvPr/>
        </p:nvSpPr>
        <p:spPr>
          <a:xfrm>
            <a:off x="8266320" y="3099960"/>
            <a:ext cx="3317760" cy="31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Program starts, then crashes partway through. Fix: handle it with try/except, or prevent the bad input.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4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5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-1828800" y="5029200"/>
            <a:ext cx="3656160" cy="36561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Types of Errors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3"/>
          <p:cNvSpPr/>
          <p:nvPr/>
        </p:nvSpPr>
        <p:spPr>
          <a:xfrm>
            <a:off x="457200" y="1600200"/>
            <a:ext cx="11273040" cy="4479120"/>
          </a:xfrm>
          <a:prstGeom prst="roundRect">
            <a:avLst>
              <a:gd name="adj" fmla="val 244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"/>
          <p:cNvSpPr/>
          <p:nvPr/>
        </p:nvSpPr>
        <p:spPr>
          <a:xfrm>
            <a:off x="822960" y="1828800"/>
            <a:ext cx="10514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5"/>
          <p:cNvSpPr/>
          <p:nvPr/>
        </p:nvSpPr>
        <p:spPr>
          <a:xfrm>
            <a:off x="822960" y="2423160"/>
            <a:ext cx="382680" cy="38268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6"/>
          <p:cNvSpPr/>
          <p:nvPr/>
        </p:nvSpPr>
        <p:spPr>
          <a:xfrm>
            <a:off x="822960" y="242316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7"/>
          <p:cNvSpPr/>
          <p:nvPr/>
        </p:nvSpPr>
        <p:spPr>
          <a:xfrm>
            <a:off x="1435680" y="2423160"/>
            <a:ext cx="95814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function with a deliberate missing colon, run it, and read the exact SyntaxError message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8"/>
          <p:cNvSpPr/>
          <p:nvPr/>
        </p:nvSpPr>
        <p:spPr>
          <a:xfrm>
            <a:off x="822960" y="3300840"/>
            <a:ext cx="382680" cy="38268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9"/>
          <p:cNvSpPr/>
          <p:nvPr/>
        </p:nvSpPr>
        <p:spPr>
          <a:xfrm>
            <a:off x="822960" y="330084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0"/>
          <p:cNvSpPr/>
          <p:nvPr/>
        </p:nvSpPr>
        <p:spPr>
          <a:xfrm>
            <a:off x="1435680" y="3300840"/>
            <a:ext cx="95814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function that calculates a percentage but has a deliberate logical bug — then find and fix it by tracing the math by hand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1"/>
          <p:cNvSpPr/>
          <p:nvPr/>
        </p:nvSpPr>
        <p:spPr>
          <a:xfrm>
            <a:off x="822960" y="4178880"/>
            <a:ext cx="382680" cy="38268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2"/>
          <p:cNvSpPr/>
          <p:nvPr/>
        </p:nvSpPr>
        <p:spPr>
          <a:xfrm>
            <a:off x="822960" y="417888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3"/>
          <p:cNvSpPr/>
          <p:nvPr/>
        </p:nvSpPr>
        <p:spPr>
          <a:xfrm>
            <a:off x="1435680" y="4178880"/>
            <a:ext cx="95814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Trigger a ZeroDivisionError, an IndexError, and a KeyError on purpose, and read each traceback carefully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4"/>
          <p:cNvSpPr/>
          <p:nvPr/>
        </p:nvSpPr>
        <p:spPr>
          <a:xfrm>
            <a:off x="822960" y="5056560"/>
            <a:ext cx="382680" cy="38268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5"/>
          <p:cNvSpPr/>
          <p:nvPr/>
        </p:nvSpPr>
        <p:spPr>
          <a:xfrm>
            <a:off x="822960" y="505656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6"/>
          <p:cNvSpPr/>
          <p:nvPr/>
        </p:nvSpPr>
        <p:spPr>
          <a:xfrm>
            <a:off x="1435680" y="5056560"/>
            <a:ext cx="95814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For each of the three errors above, say out loud which category (syntax/logical/runtime) it belongs to and why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7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0"/>
          <p:cNvSpPr/>
          <p:nvPr/>
        </p:nvSpPr>
        <p:spPr>
          <a:xfrm>
            <a:off x="-1828800" y="41148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"/>
          <p:cNvSpPr/>
          <p:nvPr/>
        </p:nvSpPr>
        <p:spPr>
          <a:xfrm>
            <a:off x="9601200" y="-22860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2"/>
          <p:cNvSpPr/>
          <p:nvPr/>
        </p:nvSpPr>
        <p:spPr>
          <a:xfrm>
            <a:off x="5596200" y="731520"/>
            <a:ext cx="1004400" cy="10044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27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 3"/>
          <p:cNvSpPr/>
          <p:nvPr/>
        </p:nvSpPr>
        <p:spPr>
          <a:xfrm>
            <a:off x="914400" y="1965960"/>
            <a:ext cx="103586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914400" y="2377440"/>
            <a:ext cx="1035864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Exception Handling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1463040" y="4572000"/>
            <a:ext cx="92613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You can’t prevent every runtime error — but you can control what happens when one occurs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0"/>
          <p:cNvSpPr/>
          <p:nvPr/>
        </p:nvSpPr>
        <p:spPr>
          <a:xfrm>
            <a:off x="10515600" y="5669280"/>
            <a:ext cx="3198960" cy="319896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Exception Handling?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6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Fail 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purpose,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not by accident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4572000" y="173736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Exception handling lets you catch a runtime error when it happens, and decide what your program does next — instead of crashing outright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Without it, one bad input from a user can end the entire program, even if everything else was working fine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try/except is the core tool — "try this risky code, and if it fails in a specific way, do this instead"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essential in any real program that takes input from users, files, or the internet — all places where things go wrong constantly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/ except — The Basics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"/>
          <p:cNvSpPr/>
          <p:nvPr/>
        </p:nvSpPr>
        <p:spPr>
          <a:xfrm>
            <a:off x="548640" y="1828800"/>
            <a:ext cx="4753440" cy="40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Code inside try runs first — if it completes with no error, except is skipped entirely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an error occurs inside try, Python immediately jumps to except and runs that block instead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rest of the program continues normally afterward — the crash is contained, not fatal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"/>
          <p:cNvSpPr/>
          <p:nvPr/>
        </p:nvSpPr>
        <p:spPr>
          <a:xfrm>
            <a:off x="5486400" y="1691640"/>
            <a:ext cx="6216480" cy="434196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4"/>
          <p:cNvSpPr/>
          <p:nvPr/>
        </p:nvSpPr>
        <p:spPr>
          <a:xfrm>
            <a:off x="5806440" y="1965960"/>
            <a:ext cx="5576400" cy="37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try: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number = int(input("Enter a number: "))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print(10 / number)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except: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print("Something went wrong — try again")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Input: "abc"    -&gt; Something went wrong — try again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Input: "0"      -&gt; Something went wrong — try again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Input: "5"      -&gt; 2.0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5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0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Catching Specific Exceptions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548640" y="1828800"/>
            <a:ext cx="4753440" cy="40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bare except catches everything — which also hides bugs you didn’t expect and didn’t mean to catch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Naming the exact exception type lets you respond differently to different problems, and lets unexpected errors still surface normally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Multiple except blocks can stack — Python checks them top to bottom and runs the first one that matches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5486400" y="1691640"/>
            <a:ext cx="6216480" cy="434196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5806440" y="1965960"/>
            <a:ext cx="5576400" cy="37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try: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number = int(input("Enter a number: "))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print(10 / number)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except ValueError: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print("That's not a valid number")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except ZeroDivisionError: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print("Can't divide by zero")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8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Accessing the Exception Object with as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"/>
          <p:cNvSpPr/>
          <p:nvPr/>
        </p:nvSpPr>
        <p:spPr>
          <a:xfrm>
            <a:off x="548640" y="1828800"/>
            <a:ext cx="4753440" cy="40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except SomeError as e captures the actual exception object, not just its type — e holds the real error details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str(e) or just printing e shows Python’s own explanation of exactly what went wrong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invaluable for logging — you keep the program running, but still record precisely what happened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3"/>
          <p:cNvSpPr/>
          <p:nvPr/>
        </p:nvSpPr>
        <p:spPr>
          <a:xfrm>
            <a:off x="5486400" y="1691640"/>
            <a:ext cx="6216480" cy="434196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4"/>
          <p:cNvSpPr/>
          <p:nvPr/>
        </p:nvSpPr>
        <p:spPr>
          <a:xfrm>
            <a:off x="5806440" y="1965960"/>
            <a:ext cx="5576400" cy="37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try: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result = 10 / 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except ZeroDivisionError as e: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print(f"Error occurred: {e}")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</a:t>
            </a:r>
            <a:r>
              <a:rPr lang="en-US" sz="15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Error occurred: division by zero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try: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int("abc")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except ValueError as e: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print(f"Error occurred: {e}")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</a:t>
            </a:r>
            <a:r>
              <a:rPr lang="en-US" sz="15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Error occurred: invalid literal for int() with base 10: 'abc'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5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6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else — Runs Only When Nothing Went Wrong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"/>
          <p:cNvSpPr/>
          <p:nvPr/>
        </p:nvSpPr>
        <p:spPr>
          <a:xfrm>
            <a:off x="548640" y="1828800"/>
            <a:ext cx="4753440" cy="40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An else block runs only if the try block completed with no exception at all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separates "the risky part" (in try) from "what to do once it definitely succeeded" (in else) — keeping each block’s purpose clear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It’s optional, and less commonly used than try/except, but it makes success-only logic explicit rather than just tacked onto the end of try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3"/>
          <p:cNvSpPr/>
          <p:nvPr/>
        </p:nvSpPr>
        <p:spPr>
          <a:xfrm>
            <a:off x="5486400" y="1691640"/>
            <a:ext cx="6216480" cy="434196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4"/>
          <p:cNvSpPr/>
          <p:nvPr/>
        </p:nvSpPr>
        <p:spPr>
          <a:xfrm>
            <a:off x="5806440" y="1965960"/>
            <a:ext cx="5576400" cy="37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try: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number = int(input("Enter a number: "))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except ValueError: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print("That's not a valid number")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print(f"Great, you entered {number}") </a:t>
            </a:r>
            <a:r>
              <a:rPr lang="en-US" sz="20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only if NO error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5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4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finally — Always Runs, No Matter What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"/>
          <p:cNvSpPr/>
          <p:nvPr/>
        </p:nvSpPr>
        <p:spPr>
          <a:xfrm>
            <a:off x="548640" y="1828800"/>
            <a:ext cx="4753440" cy="40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finally runs unconditionally — whether the try succeeded, an exception was caught, or even if the exception wasn’t caught at all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the right place for cleanup that absolutely must happen — closing a file, releasing a resource, closing a connection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Even a return inside try or except doesn’t skip finally — it always executes before the function actually returns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"/>
          <p:cNvSpPr/>
          <p:nvPr/>
        </p:nvSpPr>
        <p:spPr>
          <a:xfrm>
            <a:off x="5486400" y="1691640"/>
            <a:ext cx="6216480" cy="434196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4"/>
          <p:cNvSpPr/>
          <p:nvPr/>
        </p:nvSpPr>
        <p:spPr>
          <a:xfrm>
            <a:off x="5806440" y="1965960"/>
            <a:ext cx="5576400" cy="37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try: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number = int(input("Enter a number: "))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except ValueError: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print("Invalid number")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finally: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print("This always runs")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5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/ except / else / finally — The Full Flow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"/>
          <p:cNvSpPr/>
          <p:nvPr/>
        </p:nvSpPr>
        <p:spPr>
          <a:xfrm>
            <a:off x="1280160" y="1691640"/>
            <a:ext cx="2741760" cy="821520"/>
          </a:xfrm>
          <a:prstGeom prst="roundRect">
            <a:avLst>
              <a:gd name="adj" fmla="val 11111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"/>
          <p:cNvSpPr/>
          <p:nvPr/>
        </p:nvSpPr>
        <p:spPr>
          <a:xfrm>
            <a:off x="1280160" y="1691640"/>
            <a:ext cx="27417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onsolas"/>
              </a:rPr>
              <a:t>try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4"/>
          <p:cNvSpPr/>
          <p:nvPr/>
        </p:nvSpPr>
        <p:spPr>
          <a:xfrm>
            <a:off x="4297680" y="1691640"/>
            <a:ext cx="6582240" cy="821520"/>
          </a:xfrm>
          <a:prstGeom prst="roundRect">
            <a:avLst>
              <a:gd name="adj" fmla="val 111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5"/>
          <p:cNvSpPr/>
          <p:nvPr/>
        </p:nvSpPr>
        <p:spPr>
          <a:xfrm>
            <a:off x="4572000" y="1691640"/>
            <a:ext cx="612504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Runs first, always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6"/>
          <p:cNvSpPr/>
          <p:nvPr/>
        </p:nvSpPr>
        <p:spPr>
          <a:xfrm>
            <a:off x="2331720" y="2514600"/>
            <a:ext cx="638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7"/>
          <p:cNvSpPr/>
          <p:nvPr/>
        </p:nvSpPr>
        <p:spPr>
          <a:xfrm>
            <a:off x="1280160" y="2743200"/>
            <a:ext cx="2741760" cy="821520"/>
          </a:xfrm>
          <a:prstGeom prst="roundRect">
            <a:avLst>
              <a:gd name="adj" fmla="val 11111"/>
            </a:avLst>
          </a:prstGeom>
          <a:solidFill>
            <a:srgbClr val="A54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8"/>
          <p:cNvSpPr/>
          <p:nvPr/>
        </p:nvSpPr>
        <p:spPr>
          <a:xfrm>
            <a:off x="1280160" y="2743200"/>
            <a:ext cx="27417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onsolas"/>
              </a:rPr>
              <a:t>except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9"/>
          <p:cNvSpPr/>
          <p:nvPr/>
        </p:nvSpPr>
        <p:spPr>
          <a:xfrm>
            <a:off x="4297680" y="2743200"/>
            <a:ext cx="6582240" cy="821520"/>
          </a:xfrm>
          <a:prstGeom prst="roundRect">
            <a:avLst>
              <a:gd name="adj" fmla="val 111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0"/>
          <p:cNvSpPr/>
          <p:nvPr/>
        </p:nvSpPr>
        <p:spPr>
          <a:xfrm>
            <a:off x="4572000" y="2743200"/>
            <a:ext cx="612504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Runs ONLY if an error happened in try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1"/>
          <p:cNvSpPr/>
          <p:nvPr/>
        </p:nvSpPr>
        <p:spPr>
          <a:xfrm>
            <a:off x="2331720" y="3566160"/>
            <a:ext cx="638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2"/>
          <p:cNvSpPr/>
          <p:nvPr/>
        </p:nvSpPr>
        <p:spPr>
          <a:xfrm>
            <a:off x="1280160" y="3794760"/>
            <a:ext cx="2741760" cy="821520"/>
          </a:xfrm>
          <a:prstGeom prst="roundRect">
            <a:avLst>
              <a:gd name="adj" fmla="val 11111"/>
            </a:avLst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3"/>
          <p:cNvSpPr/>
          <p:nvPr/>
        </p:nvSpPr>
        <p:spPr>
          <a:xfrm>
            <a:off x="1280160" y="3794760"/>
            <a:ext cx="27417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onsolas"/>
              </a:rPr>
              <a:t>else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4"/>
          <p:cNvSpPr/>
          <p:nvPr/>
        </p:nvSpPr>
        <p:spPr>
          <a:xfrm>
            <a:off x="4297680" y="3794760"/>
            <a:ext cx="6582240" cy="821520"/>
          </a:xfrm>
          <a:prstGeom prst="roundRect">
            <a:avLst>
              <a:gd name="adj" fmla="val 111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5"/>
          <p:cNvSpPr/>
          <p:nvPr/>
        </p:nvSpPr>
        <p:spPr>
          <a:xfrm>
            <a:off x="4572000" y="3794760"/>
            <a:ext cx="612504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Runs ONLY if NO error happened in try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6"/>
          <p:cNvSpPr/>
          <p:nvPr/>
        </p:nvSpPr>
        <p:spPr>
          <a:xfrm>
            <a:off x="2331720" y="4617720"/>
            <a:ext cx="638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7"/>
          <p:cNvSpPr/>
          <p:nvPr/>
        </p:nvSpPr>
        <p:spPr>
          <a:xfrm>
            <a:off x="1280160" y="4846320"/>
            <a:ext cx="2741760" cy="821520"/>
          </a:xfrm>
          <a:prstGeom prst="roundRect">
            <a:avLst>
              <a:gd name="adj" fmla="val 11111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8"/>
          <p:cNvSpPr/>
          <p:nvPr/>
        </p:nvSpPr>
        <p:spPr>
          <a:xfrm>
            <a:off x="1280160" y="4846320"/>
            <a:ext cx="27417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onsolas"/>
              </a:rPr>
              <a:t>finally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9"/>
          <p:cNvSpPr/>
          <p:nvPr/>
        </p:nvSpPr>
        <p:spPr>
          <a:xfrm>
            <a:off x="4297680" y="4846320"/>
            <a:ext cx="6582240" cy="821520"/>
          </a:xfrm>
          <a:prstGeom prst="roundRect">
            <a:avLst>
              <a:gd name="adj" fmla="val 111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0"/>
          <p:cNvSpPr/>
          <p:nvPr/>
        </p:nvSpPr>
        <p:spPr>
          <a:xfrm>
            <a:off x="4572000" y="4846320"/>
            <a:ext cx="612504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Runs ALWAYS — error or not, return or not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1"/>
          <p:cNvSpPr/>
          <p:nvPr/>
        </p:nvSpPr>
        <p:spPr>
          <a:xfrm>
            <a:off x="1280160" y="5943600"/>
            <a:ext cx="95997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except and else are mutually exclusive for a given run — finally runs no matter which path was taken.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2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3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7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raise — Triggering Your Own Exceptions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"/>
          <p:cNvSpPr/>
          <p:nvPr/>
        </p:nvSpPr>
        <p:spPr>
          <a:xfrm>
            <a:off x="548640" y="1828800"/>
            <a:ext cx="4753440" cy="40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raise lets your own code deliberately trigger an exception — not just react to Python’s built-in ones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how you enforce your own rules: "this value is technically valid Python, but invalid for my program"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can raise a built-in exception type with a custom message, exactly like Python’s own errors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"/>
          <p:cNvSpPr/>
          <p:nvPr/>
        </p:nvSpPr>
        <p:spPr>
          <a:xfrm>
            <a:off x="5486400" y="1691640"/>
            <a:ext cx="6216480" cy="434196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4"/>
          <p:cNvSpPr/>
          <p:nvPr/>
        </p:nvSpPr>
        <p:spPr>
          <a:xfrm>
            <a:off x="5806440" y="1965960"/>
            <a:ext cx="5576400" cy="37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withdraw(balance, amount):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if amount &gt; balance: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raise ValueError("Insufficient funds")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return balance - amount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withdraw(10​0, 500)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ValueError: Insufficient funds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try: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withdraw(100, 500)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except ValueError as e: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print(f"Transaction failed: {e}")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5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Custom Exception Classes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"/>
          <p:cNvSpPr/>
          <p:nvPr/>
        </p:nvSpPr>
        <p:spPr>
          <a:xfrm>
            <a:off x="548640" y="1828800"/>
            <a:ext cx="4753440" cy="40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can define your own exception types by inheriting from Exception — giving errors in your program their own specific, meaningful names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lets calling code catch exactly your custom error, separately from every other kind of error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Real-world codebases do this constantly — InsufficientFundsError says far more than a generic ValueError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3"/>
          <p:cNvSpPr/>
          <p:nvPr/>
        </p:nvSpPr>
        <p:spPr>
          <a:xfrm>
            <a:off x="5486400" y="1691640"/>
            <a:ext cx="6216480" cy="434196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4"/>
          <p:cNvSpPr/>
          <p:nvPr/>
        </p:nvSpPr>
        <p:spPr>
          <a:xfrm>
            <a:off x="5806440" y="1965960"/>
            <a:ext cx="5576400" cy="37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class InsufficientFundsError(Exception):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pass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withdraw(balance, amount):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if amount &gt; balance: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raise InsufficientFundsError(f"Need {amount}, have {balance}")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return balance - amount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try: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withdraw(100, 500)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except InsufficientFundsError as e: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print(f"Blocked: {e}")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Blocked: Need 500, have 100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5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Real-World Use: Safely Validating User Input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"/>
          <p:cNvSpPr/>
          <p:nvPr/>
        </p:nvSpPr>
        <p:spPr>
          <a:xfrm>
            <a:off x="548640" y="1828800"/>
            <a:ext cx="4753440" cy="40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while loop combined with try/except is the standard pattern for "keep asking until the input is actually valid"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loop never trusts the user’s first attempt — it keeps trying until a genuinely valid value gets through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exact pattern shows up in signup forms, CLI tools, and configuration wizards everywhere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3"/>
          <p:cNvSpPr/>
          <p:nvPr/>
        </p:nvSpPr>
        <p:spPr>
          <a:xfrm>
            <a:off x="5486400" y="1691640"/>
            <a:ext cx="6216480" cy="434196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4"/>
          <p:cNvSpPr/>
          <p:nvPr/>
        </p:nvSpPr>
        <p:spPr>
          <a:xfrm>
            <a:off x="5806440" y="1965960"/>
            <a:ext cx="5576400" cy="37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get_valid_age():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while True: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try: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    age = int(input("Enter your age: "))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    if age &lt; 0: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        raise ValueError("Age can't be negative")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    return 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except ValueError as 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    print(f"Invalid input ({e}) — try again")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5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0"/>
          <p:cNvSpPr/>
          <p:nvPr/>
        </p:nvSpPr>
        <p:spPr>
          <a:xfrm>
            <a:off x="-1828800" y="5029200"/>
            <a:ext cx="3656160" cy="36561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Exception Handling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3"/>
          <p:cNvSpPr/>
          <p:nvPr/>
        </p:nvSpPr>
        <p:spPr>
          <a:xfrm>
            <a:off x="457200" y="1600200"/>
            <a:ext cx="11273040" cy="4479120"/>
          </a:xfrm>
          <a:prstGeom prst="roundRect">
            <a:avLst>
              <a:gd name="adj" fmla="val 244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4"/>
          <p:cNvSpPr/>
          <p:nvPr/>
        </p:nvSpPr>
        <p:spPr>
          <a:xfrm>
            <a:off x="822960" y="1828800"/>
            <a:ext cx="10514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5"/>
          <p:cNvSpPr/>
          <p:nvPr/>
        </p:nvSpPr>
        <p:spPr>
          <a:xfrm>
            <a:off x="822960" y="2423160"/>
            <a:ext cx="382680" cy="38268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6"/>
          <p:cNvSpPr/>
          <p:nvPr/>
        </p:nvSpPr>
        <p:spPr>
          <a:xfrm>
            <a:off x="822960" y="242316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7"/>
          <p:cNvSpPr/>
          <p:nvPr/>
        </p:nvSpPr>
        <p:spPr>
          <a:xfrm>
            <a:off x="1435680" y="2423160"/>
            <a:ext cx="95814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safe_divide(a, b) function that catches ZeroDivisionError and returns None instead of crashing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8"/>
          <p:cNvSpPr/>
          <p:nvPr/>
        </p:nvSpPr>
        <p:spPr>
          <a:xfrm>
            <a:off x="822960" y="3300840"/>
            <a:ext cx="382680" cy="38268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9"/>
          <p:cNvSpPr/>
          <p:nvPr/>
        </p:nvSpPr>
        <p:spPr>
          <a:xfrm>
            <a:off x="822960" y="330084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0"/>
          <p:cNvSpPr/>
          <p:nvPr/>
        </p:nvSpPr>
        <p:spPr>
          <a:xfrm>
            <a:off x="1435680" y="3300840"/>
            <a:ext cx="95814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loop that keeps asking for a number until valid, using try/except/else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1"/>
          <p:cNvSpPr/>
          <p:nvPr/>
        </p:nvSpPr>
        <p:spPr>
          <a:xfrm>
            <a:off x="822960" y="4178880"/>
            <a:ext cx="382680" cy="38268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2"/>
          <p:cNvSpPr/>
          <p:nvPr/>
        </p:nvSpPr>
        <p:spPr>
          <a:xfrm>
            <a:off x="822960" y="417888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3"/>
          <p:cNvSpPr/>
          <p:nvPr/>
        </p:nvSpPr>
        <p:spPr>
          <a:xfrm>
            <a:off x="1435680" y="4178880"/>
            <a:ext cx="95814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Add a finally block that prints "Attempt finished" after every single try, success or failure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4"/>
          <p:cNvSpPr/>
          <p:nvPr/>
        </p:nvSpPr>
        <p:spPr>
          <a:xfrm>
            <a:off x="822960" y="5056560"/>
            <a:ext cx="382680" cy="38268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5"/>
          <p:cNvSpPr/>
          <p:nvPr/>
        </p:nvSpPr>
        <p:spPr>
          <a:xfrm>
            <a:off x="822960" y="505656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6"/>
          <p:cNvSpPr/>
          <p:nvPr/>
        </p:nvSpPr>
        <p:spPr>
          <a:xfrm>
            <a:off x="1435680" y="5056560"/>
            <a:ext cx="95814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Create a custom NegativeValueError and raise it from a function that rejects negative input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7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0"/>
          <p:cNvSpPr/>
          <p:nvPr/>
        </p:nvSpPr>
        <p:spPr>
          <a:xfrm>
            <a:off x="-1828800" y="41148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"/>
          <p:cNvSpPr/>
          <p:nvPr/>
        </p:nvSpPr>
        <p:spPr>
          <a:xfrm>
            <a:off x="9601200" y="-22860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2"/>
          <p:cNvSpPr/>
          <p:nvPr/>
        </p:nvSpPr>
        <p:spPr>
          <a:xfrm>
            <a:off x="5596200" y="731520"/>
            <a:ext cx="1004400" cy="10044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3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27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4" name="Text 3"/>
          <p:cNvSpPr/>
          <p:nvPr/>
        </p:nvSpPr>
        <p:spPr>
          <a:xfrm>
            <a:off x="914400" y="1965960"/>
            <a:ext cx="103586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4"/>
          <p:cNvSpPr/>
          <p:nvPr/>
        </p:nvSpPr>
        <p:spPr>
          <a:xfrm>
            <a:off x="914400" y="2377440"/>
            <a:ext cx="1035864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File Handling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5"/>
          <p:cNvSpPr/>
          <p:nvPr/>
        </p:nvSpPr>
        <p:spPr>
          <a:xfrm>
            <a:off x="1463040" y="4572000"/>
            <a:ext cx="92613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Everything your program does disappears when it ends — unless you save it to a file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0"/>
          <p:cNvSpPr/>
          <p:nvPr/>
        </p:nvSpPr>
        <p:spPr>
          <a:xfrm>
            <a:off x="10515600" y="5669280"/>
            <a:ext cx="3198960" cy="319896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0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Why File Handling Matters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4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Data that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survives the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program ending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6"/>
          <p:cNvSpPr/>
          <p:nvPr/>
        </p:nvSpPr>
        <p:spPr>
          <a:xfrm>
            <a:off x="4572000" y="173736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Every variable in a running program lives only in memory — the moment the program ends, that data is gone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Files let a program persist data — logs, saved settings, user records — across separate runs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also how programs actually exchange data with each other — config files, exported reports, data feeds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File handling is where error handling becomes essential — missing files, permission issues, and full disks are all things that go wrong constantly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7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0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open() and File Modes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"/>
          <p:cNvSpPr/>
          <p:nvPr/>
        </p:nvSpPr>
        <p:spPr>
          <a:xfrm>
            <a:off x="548640" y="1828800"/>
            <a:ext cx="4251600" cy="40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open(filename, mode) is the starting point for any file operation — it returns a file object you then read from or write to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"r" (read, default) fails if the file doesn’t exist. "w" (write) creates or completely overwrites the file. "a" (append) adds to the end without erasing what’s there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"x" (exclusive create) fails if the file already exists — useful to avoid accidentally overwriting something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3"/>
          <p:cNvSpPr/>
          <p:nvPr/>
        </p:nvSpPr>
        <p:spPr>
          <a:xfrm>
            <a:off x="5029200" y="1691640"/>
            <a:ext cx="6673680" cy="434196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4"/>
          <p:cNvSpPr/>
          <p:nvPr/>
        </p:nvSpPr>
        <p:spPr>
          <a:xfrm>
            <a:off x="5806440" y="1965960"/>
            <a:ext cx="5576400" cy="37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open("notes.txt", "r")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read — error if missing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open("notes.txt", "w")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write — overwrites everything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open("notes.txt", "a")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append — adds to the end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open("notes.txt", "x")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create — error if it already exists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open("notes.txt", "r+")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read AND write, file must exist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5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8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Reading Files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"/>
          <p:cNvSpPr/>
          <p:nvPr/>
        </p:nvSpPr>
        <p:spPr>
          <a:xfrm>
            <a:off x="548640" y="1828800"/>
            <a:ext cx="4753440" cy="40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read() pulls in the entire file as one single string — fine for small files, wasteful for huge ones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readline() reads just one line at a time, remembering where it left off on the next call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readlines() returns every line as a list of strings; looping directly over the file object does the same thing, one line at a time, more memory-efficiently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3"/>
          <p:cNvSpPr/>
          <p:nvPr/>
        </p:nvSpPr>
        <p:spPr>
          <a:xfrm>
            <a:off x="5486400" y="1691640"/>
            <a:ext cx="6216480" cy="434196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4"/>
          <p:cNvSpPr/>
          <p:nvPr/>
        </p:nvSpPr>
        <p:spPr>
          <a:xfrm>
            <a:off x="5806440" y="1965960"/>
            <a:ext cx="5576400" cy="37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 = open("notes.txt", "r")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file.read()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entire file as one string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file.readline()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just the next line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file.readlines()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list of every line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for line in file:  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most common pattern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   print(line.strip())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.strip() removes the trailing \n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file.close()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5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6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Writing Files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2"/>
          <p:cNvSpPr/>
          <p:nvPr/>
        </p:nvSpPr>
        <p:spPr>
          <a:xfrm>
            <a:off x="548640" y="1828800"/>
            <a:ext cx="4753440" cy="40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write() writes a string exactly as given — it does not add a newline automatically, unlike print()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writelines() writes a list of strings back to back — you still need to include \n yourself if you want separate lines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Mode "w" starts the file empty every time you open it — use "a" if you want to keep what was already there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3"/>
          <p:cNvSpPr/>
          <p:nvPr/>
        </p:nvSpPr>
        <p:spPr>
          <a:xfrm>
            <a:off x="5486400" y="1691640"/>
            <a:ext cx="6216480" cy="434196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4"/>
          <p:cNvSpPr/>
          <p:nvPr/>
        </p:nvSpPr>
        <p:spPr>
          <a:xfrm>
            <a:off x="5806440" y="1965960"/>
            <a:ext cx="5576400" cy="37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 = open("notes.txt", "w")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file.write("First line\n")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file.write("Second line\n")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file.close()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lines = ["Third line\n", "Fourth line\n"]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 = open("notes.txt", "a")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append, don't erase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file.writelines(lines)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file.close()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5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4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with — The Safer Way to Handle Files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"/>
          <p:cNvSpPr/>
          <p:nvPr/>
        </p:nvSpPr>
        <p:spPr>
          <a:xfrm>
            <a:off x="548640" y="1828800"/>
            <a:ext cx="4753440" cy="40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Forgetting file.close() leaves the file locked or data unsaved — an easy, common mistake with manual open/close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with open(...) as file: automatically closes the file when the block ends — even if an error occurs inside 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the standard, professional way to work with files in Python — you’ll rarely see manual close() in real code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3"/>
          <p:cNvSpPr/>
          <p:nvPr/>
        </p:nvSpPr>
        <p:spPr>
          <a:xfrm>
            <a:off x="5486400" y="1691640"/>
            <a:ext cx="6216480" cy="434196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4"/>
          <p:cNvSpPr/>
          <p:nvPr/>
        </p:nvSpPr>
        <p:spPr>
          <a:xfrm>
            <a:off x="5806440" y="1965960"/>
            <a:ext cx="5576400" cy="37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# Manual way — easy to forget close(), unsafe on errors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 = open("notes.txt", "r")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content = file.read()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file.close()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# The right way — closes automatically, even on error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with open("notes.txt", "r") as file: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   content = file.read()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# file is already closed here, guaranteed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5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Checking Whether a File Exists First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2"/>
          <p:cNvSpPr/>
          <p:nvPr/>
        </p:nvSpPr>
        <p:spPr>
          <a:xfrm>
            <a:off x="548640" y="1828800"/>
            <a:ext cx="4753440" cy="40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os.path.exists() checks whether a file or folder is actually there before you try to use 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lets you avoid a FileNotFoundError entirely, rather than catching one after the fact — both are valid, depending on the situation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 real projects, both patterns are common: check-first for expected-missing files, try/except for genuinely unexpected failures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3"/>
          <p:cNvSpPr/>
          <p:nvPr/>
        </p:nvSpPr>
        <p:spPr>
          <a:xfrm>
            <a:off x="5486400" y="1691640"/>
            <a:ext cx="6216480" cy="434196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4"/>
          <p:cNvSpPr/>
          <p:nvPr/>
        </p:nvSpPr>
        <p:spPr>
          <a:xfrm>
            <a:off x="5806440" y="1965960"/>
            <a:ext cx="5576400" cy="37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import os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if os.path.exists("notes.txt"):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   with open("notes.txt", "r") as file: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       print(file.read())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else: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   print("File doesn't exist yet")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5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0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Real-World Use: A Safe Log Writer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"/>
          <p:cNvSpPr/>
          <p:nvPr/>
        </p:nvSpPr>
        <p:spPr>
          <a:xfrm>
            <a:off x="548640" y="1828800"/>
            <a:ext cx="4753440" cy="40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Combining with, append mode, and try/except is exactly how real applications write to log files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function never crashes the whole program just because logging failed — it fails safely and reports the problem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the same pattern behind almost every real logging system you’ll ever use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3"/>
          <p:cNvSpPr/>
          <p:nvPr/>
        </p:nvSpPr>
        <p:spPr>
          <a:xfrm>
            <a:off x="5486400" y="1691640"/>
            <a:ext cx="6216480" cy="434196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4"/>
          <p:cNvSpPr/>
          <p:nvPr/>
        </p:nvSpPr>
        <p:spPr>
          <a:xfrm>
            <a:off x="5806440" y="1965960"/>
            <a:ext cx="5576400" cy="37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def write_log(message):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   try: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       with open("app.log", "a") as file: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           file.write(message + "\n")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   except OSError as e: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       print(f"Could not write to log: {e}")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write_log("User logged in")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write_log("Payment processed")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5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0"/>
          <p:cNvSpPr/>
          <p:nvPr/>
        </p:nvSpPr>
        <p:spPr>
          <a:xfrm>
            <a:off x="-1828800" y="5029200"/>
            <a:ext cx="3656160" cy="36561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9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0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File Handling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3"/>
          <p:cNvSpPr/>
          <p:nvPr/>
        </p:nvSpPr>
        <p:spPr>
          <a:xfrm>
            <a:off x="457200" y="1600200"/>
            <a:ext cx="11273040" cy="4479120"/>
          </a:xfrm>
          <a:prstGeom prst="roundRect">
            <a:avLst>
              <a:gd name="adj" fmla="val 244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4"/>
          <p:cNvSpPr/>
          <p:nvPr/>
        </p:nvSpPr>
        <p:spPr>
          <a:xfrm>
            <a:off x="822960" y="1828800"/>
            <a:ext cx="10514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5"/>
          <p:cNvSpPr/>
          <p:nvPr/>
        </p:nvSpPr>
        <p:spPr>
          <a:xfrm>
            <a:off x="822960" y="2423160"/>
            <a:ext cx="382680" cy="38268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6"/>
          <p:cNvSpPr/>
          <p:nvPr/>
        </p:nvSpPr>
        <p:spPr>
          <a:xfrm>
            <a:off x="822960" y="242316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7"/>
          <p:cNvSpPr/>
          <p:nvPr/>
        </p:nvSpPr>
        <p:spPr>
          <a:xfrm>
            <a:off x="1435680" y="2423160"/>
            <a:ext cx="95814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script that creates a file, writes three lines to it, then reads and prints them back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8"/>
          <p:cNvSpPr/>
          <p:nvPr/>
        </p:nvSpPr>
        <p:spPr>
          <a:xfrm>
            <a:off x="822960" y="3300840"/>
            <a:ext cx="382680" cy="38268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9"/>
          <p:cNvSpPr/>
          <p:nvPr/>
        </p:nvSpPr>
        <p:spPr>
          <a:xfrm>
            <a:off x="822960" y="330084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0"/>
          <p:cNvSpPr/>
          <p:nvPr/>
        </p:nvSpPr>
        <p:spPr>
          <a:xfrm>
            <a:off x="1435680" y="3300840"/>
            <a:ext cx="95814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with to open a file for reading, and confirm it’s closed afterward by checking file.closed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1"/>
          <p:cNvSpPr/>
          <p:nvPr/>
        </p:nvSpPr>
        <p:spPr>
          <a:xfrm>
            <a:off x="822960" y="4178880"/>
            <a:ext cx="382680" cy="38268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2"/>
          <p:cNvSpPr/>
          <p:nvPr/>
        </p:nvSpPr>
        <p:spPr>
          <a:xfrm>
            <a:off x="822960" y="417888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3"/>
          <p:cNvSpPr/>
          <p:nvPr/>
        </p:nvSpPr>
        <p:spPr>
          <a:xfrm>
            <a:off x="1435680" y="4178880"/>
            <a:ext cx="95814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function that appends a new line to a file only if the file already exists, using os.path.exists()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4"/>
          <p:cNvSpPr/>
          <p:nvPr/>
        </p:nvSpPr>
        <p:spPr>
          <a:xfrm>
            <a:off x="822960" y="5056560"/>
            <a:ext cx="382680" cy="38268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5"/>
          <p:cNvSpPr/>
          <p:nvPr/>
        </p:nvSpPr>
        <p:spPr>
          <a:xfrm>
            <a:off x="822960" y="505656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6"/>
          <p:cNvSpPr/>
          <p:nvPr/>
        </p:nvSpPr>
        <p:spPr>
          <a:xfrm>
            <a:off x="1435680" y="5056560"/>
            <a:ext cx="95814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Wrap a file read in try/except to handle FileNotFoundError gracefully, with a helpful message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7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0"/>
          <p:cNvSpPr/>
          <p:nvPr/>
        </p:nvSpPr>
        <p:spPr>
          <a:xfrm>
            <a:off x="-1828800" y="41148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1"/>
          <p:cNvSpPr/>
          <p:nvPr/>
        </p:nvSpPr>
        <p:spPr>
          <a:xfrm>
            <a:off x="9601200" y="-22860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2"/>
          <p:cNvSpPr/>
          <p:nvPr/>
        </p:nvSpPr>
        <p:spPr>
          <a:xfrm>
            <a:off x="5596200" y="731520"/>
            <a:ext cx="1004400" cy="10044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0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27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Text 3"/>
          <p:cNvSpPr/>
          <p:nvPr/>
        </p:nvSpPr>
        <p:spPr>
          <a:xfrm>
            <a:off x="914400" y="1965960"/>
            <a:ext cx="103586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4"/>
          <p:cNvSpPr/>
          <p:nvPr/>
        </p:nvSpPr>
        <p:spPr>
          <a:xfrm>
            <a:off x="914400" y="2377440"/>
            <a:ext cx="1035864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Modules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5"/>
          <p:cNvSpPr/>
          <p:nvPr/>
        </p:nvSpPr>
        <p:spPr>
          <a:xfrm>
            <a:off x="1463040" y="4572000"/>
            <a:ext cx="92613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You’ve been using modules since your very first import — now let’s understand what they actually are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Shape 0"/>
          <p:cNvSpPr/>
          <p:nvPr/>
        </p:nvSpPr>
        <p:spPr>
          <a:xfrm>
            <a:off x="10515600" y="5669280"/>
            <a:ext cx="3198960" cy="319896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7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a Module?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1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2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Just 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.py file,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reusable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6"/>
          <p:cNvSpPr/>
          <p:nvPr/>
        </p:nvSpPr>
        <p:spPr>
          <a:xfrm>
            <a:off x="4572000" y="173736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module is simply a Python file — any .py file can be imported and reused inside another one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Python ships with a huge standard library of pre-written modules — datetime, random, math, os, and hundreds more — so you don’t have to write everything from scratch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import brings a module’s functions, classes, and variables into your own file, under that module’s name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the entire foundation of code reuse in Python — organizing related code into files, and pulling in only what you need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7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7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8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Import Styles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2"/>
          <p:cNvSpPr/>
          <p:nvPr/>
        </p:nvSpPr>
        <p:spPr>
          <a:xfrm>
            <a:off x="548640" y="1828800"/>
            <a:ext cx="4753440" cy="40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import module_name brings in the whole module — you access things with module_name.thing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from module_name import thing brings in just that one piece directly — no prefix needed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import module_name as alias gives it a shorter name to type — extremely common with popular libraries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3"/>
          <p:cNvSpPr/>
          <p:nvPr/>
        </p:nvSpPr>
        <p:spPr>
          <a:xfrm>
            <a:off x="5486400" y="1691640"/>
            <a:ext cx="6216480" cy="434196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4"/>
          <p:cNvSpPr/>
          <p:nvPr/>
        </p:nvSpPr>
        <p:spPr>
          <a:xfrm>
            <a:off x="5806440" y="1965960"/>
            <a:ext cx="5576400" cy="37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import random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random.randint(1, 10)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must prefix with random.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from random import randint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randint(1, 10)       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no prefix needed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import random as rnd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rnd.randint(1, 10)    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shorter alias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5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6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Creating Your Own Module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2"/>
          <p:cNvSpPr/>
          <p:nvPr/>
        </p:nvSpPr>
        <p:spPr>
          <a:xfrm>
            <a:off x="548640" y="1828800"/>
            <a:ext cx="4753440" cy="40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Any .py file you write is automatically a module — there’s no special syntax needed to "make" one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file named helpers.py containing functions can be imported from another file in the same folder with import helpers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exactly how you split a growing project into organized, reusable files instead of one giant script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3"/>
          <p:cNvSpPr/>
          <p:nvPr/>
        </p:nvSpPr>
        <p:spPr>
          <a:xfrm>
            <a:off x="5486400" y="1691640"/>
            <a:ext cx="6216480" cy="434196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4"/>
          <p:cNvSpPr/>
          <p:nvPr/>
        </p:nvSpPr>
        <p:spPr>
          <a:xfrm>
            <a:off x="5806440" y="1965960"/>
            <a:ext cx="5576400" cy="37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# helpers.py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def greet(name):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   return f"Hello, {name}!"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PI = 3.14159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# main.py (same folder)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import helpers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print(helpers.greet("Ahmed"))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Hello, Ahmed!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print(helpers.PI)     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3.14159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5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Few Standard Library Modules Worth Knowing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2"/>
          <p:cNvSpPr/>
          <p:nvPr/>
        </p:nvSpPr>
        <p:spPr>
          <a:xfrm>
            <a:off x="457200" y="1508760"/>
            <a:ext cx="2077920" cy="4890600"/>
          </a:xfrm>
          <a:prstGeom prst="roundRect">
            <a:avLst>
              <a:gd name="adj" fmla="val 439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3"/>
          <p:cNvSpPr/>
          <p:nvPr/>
        </p:nvSpPr>
        <p:spPr>
          <a:xfrm>
            <a:off x="1222560" y="2094120"/>
            <a:ext cx="547200" cy="5472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7" name="Image 1" descr="preencoded.png"/>
          <p:cNvPicPr/>
          <p:nvPr/>
        </p:nvPicPr>
        <p:blipFill>
          <a:blip r:embed="rId2"/>
          <a:stretch/>
        </p:blipFill>
        <p:spPr>
          <a:xfrm>
            <a:off x="1305000" y="2176200"/>
            <a:ext cx="382680" cy="38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8" name="Text 4"/>
          <p:cNvSpPr/>
          <p:nvPr/>
        </p:nvSpPr>
        <p:spPr>
          <a:xfrm>
            <a:off x="548640" y="2715840"/>
            <a:ext cx="1895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datetime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5"/>
          <p:cNvSpPr/>
          <p:nvPr/>
        </p:nvSpPr>
        <p:spPr>
          <a:xfrm>
            <a:off x="603360" y="3099960"/>
            <a:ext cx="1785240" cy="31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Working with dates, times, and formatting them for display or storage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6"/>
          <p:cNvSpPr/>
          <p:nvPr/>
        </p:nvSpPr>
        <p:spPr>
          <a:xfrm>
            <a:off x="2756160" y="1508760"/>
            <a:ext cx="2077920" cy="4890600"/>
          </a:xfrm>
          <a:prstGeom prst="roundRect">
            <a:avLst>
              <a:gd name="adj" fmla="val 439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7"/>
          <p:cNvSpPr/>
          <p:nvPr/>
        </p:nvSpPr>
        <p:spPr>
          <a:xfrm>
            <a:off x="3521520" y="2094120"/>
            <a:ext cx="547200" cy="5472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2" name="Image 2" descr="preencoded.png"/>
          <p:cNvPicPr/>
          <p:nvPr/>
        </p:nvPicPr>
        <p:blipFill>
          <a:blip r:embed="rId3"/>
          <a:stretch/>
        </p:blipFill>
        <p:spPr>
          <a:xfrm>
            <a:off x="3603600" y="2176200"/>
            <a:ext cx="382680" cy="38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3" name="Text 8"/>
          <p:cNvSpPr/>
          <p:nvPr/>
        </p:nvSpPr>
        <p:spPr>
          <a:xfrm>
            <a:off x="2847600" y="2715840"/>
            <a:ext cx="1895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9"/>
          <p:cNvSpPr/>
          <p:nvPr/>
        </p:nvSpPr>
        <p:spPr>
          <a:xfrm>
            <a:off x="2902320" y="3099960"/>
            <a:ext cx="1785240" cy="31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Pausing execution, and measuring how long code takes to run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0"/>
          <p:cNvSpPr/>
          <p:nvPr/>
        </p:nvSpPr>
        <p:spPr>
          <a:xfrm>
            <a:off x="5054760" y="1508760"/>
            <a:ext cx="2077920" cy="4890600"/>
          </a:xfrm>
          <a:prstGeom prst="roundRect">
            <a:avLst>
              <a:gd name="adj" fmla="val 439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1"/>
          <p:cNvSpPr/>
          <p:nvPr/>
        </p:nvSpPr>
        <p:spPr>
          <a:xfrm>
            <a:off x="5820120" y="2094120"/>
            <a:ext cx="547200" cy="5472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7" name="Image 3" descr="preencoded.png"/>
          <p:cNvPicPr/>
          <p:nvPr/>
        </p:nvPicPr>
        <p:blipFill>
          <a:blip r:embed="rId4"/>
          <a:stretch/>
        </p:blipFill>
        <p:spPr>
          <a:xfrm>
            <a:off x="5902560" y="2176200"/>
            <a:ext cx="382680" cy="38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8" name="Text 12"/>
          <p:cNvSpPr/>
          <p:nvPr/>
        </p:nvSpPr>
        <p:spPr>
          <a:xfrm>
            <a:off x="5146200" y="2715840"/>
            <a:ext cx="1895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random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3"/>
          <p:cNvSpPr/>
          <p:nvPr/>
        </p:nvSpPr>
        <p:spPr>
          <a:xfrm>
            <a:off x="5201280" y="3099960"/>
            <a:ext cx="1785240" cy="31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Random numbers, random choices, and shuffling — games, sampling, simulations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14"/>
          <p:cNvSpPr/>
          <p:nvPr/>
        </p:nvSpPr>
        <p:spPr>
          <a:xfrm>
            <a:off x="7353720" y="1508760"/>
            <a:ext cx="2077920" cy="4890600"/>
          </a:xfrm>
          <a:prstGeom prst="roundRect">
            <a:avLst>
              <a:gd name="adj" fmla="val 439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15"/>
          <p:cNvSpPr/>
          <p:nvPr/>
        </p:nvSpPr>
        <p:spPr>
          <a:xfrm>
            <a:off x="8119080" y="2094120"/>
            <a:ext cx="547200" cy="5472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2" name="Image 4" descr="preencoded.png"/>
          <p:cNvPicPr/>
          <p:nvPr/>
        </p:nvPicPr>
        <p:blipFill>
          <a:blip r:embed="rId5"/>
          <a:stretch/>
        </p:blipFill>
        <p:spPr>
          <a:xfrm>
            <a:off x="8201160" y="2176200"/>
            <a:ext cx="382680" cy="38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3" name="Text 16"/>
          <p:cNvSpPr/>
          <p:nvPr/>
        </p:nvSpPr>
        <p:spPr>
          <a:xfrm>
            <a:off x="7445160" y="2715840"/>
            <a:ext cx="1895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math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17"/>
          <p:cNvSpPr/>
          <p:nvPr/>
        </p:nvSpPr>
        <p:spPr>
          <a:xfrm>
            <a:off x="7499880" y="3099960"/>
            <a:ext cx="1785240" cy="31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Square roots, powers, trig, constants like pi — beyond basic arithmetic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18"/>
          <p:cNvSpPr/>
          <p:nvPr/>
        </p:nvSpPr>
        <p:spPr>
          <a:xfrm>
            <a:off x="9652320" y="1508760"/>
            <a:ext cx="2077920" cy="4890600"/>
          </a:xfrm>
          <a:prstGeom prst="roundRect">
            <a:avLst>
              <a:gd name="adj" fmla="val 439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9"/>
          <p:cNvSpPr/>
          <p:nvPr/>
        </p:nvSpPr>
        <p:spPr>
          <a:xfrm>
            <a:off x="10417680" y="2094120"/>
            <a:ext cx="547200" cy="5472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7" name="Image 5" descr="preencoded.png"/>
          <p:cNvPicPr/>
          <p:nvPr/>
        </p:nvPicPr>
        <p:blipFill>
          <a:blip r:embed="rId6"/>
          <a:stretch/>
        </p:blipFill>
        <p:spPr>
          <a:xfrm>
            <a:off x="10500120" y="2176200"/>
            <a:ext cx="382680" cy="38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8" name="Text 20"/>
          <p:cNvSpPr/>
          <p:nvPr/>
        </p:nvSpPr>
        <p:spPr>
          <a:xfrm>
            <a:off x="9743760" y="2715840"/>
            <a:ext cx="1895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21"/>
          <p:cNvSpPr/>
          <p:nvPr/>
        </p:nvSpPr>
        <p:spPr>
          <a:xfrm>
            <a:off x="9798840" y="3099960"/>
            <a:ext cx="1785240" cy="31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Talking to the operating system — file paths, checking what exists, environment info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22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23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4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datetime — Working With Dates and Times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2"/>
          <p:cNvSpPr/>
          <p:nvPr/>
        </p:nvSpPr>
        <p:spPr>
          <a:xfrm>
            <a:off x="548640" y="1828800"/>
            <a:ext cx="4753440" cy="40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datetime.now() gets the current date and time, right down to the microsecond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can do arithmetic directly with dates — adding a timedelta shifts a date forward or backward by days, hours, or more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strftime() formats a date into exactly the string layout you want, using format codes like %Y, %m, %d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3"/>
          <p:cNvSpPr/>
          <p:nvPr/>
        </p:nvSpPr>
        <p:spPr>
          <a:xfrm>
            <a:off x="5486400" y="1691640"/>
            <a:ext cx="6216480" cy="434196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4"/>
          <p:cNvSpPr/>
          <p:nvPr/>
        </p:nvSpPr>
        <p:spPr>
          <a:xfrm>
            <a:off x="5806440" y="1965960"/>
            <a:ext cx="5576400" cy="37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from datetime import datetime, timedelta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now = datetime.now()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print(now) # 2026-09-21 21:50:01.123456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tomorrow = now + timedelta(days=1)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print(tomorrow.strftime("%Y-%m-%d")) # 2026-09-22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print(now.strftime("%B %d, %Y")) # September 21, 2026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5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1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2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time — Pausing and Measuring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2"/>
          <p:cNvSpPr/>
          <p:nvPr/>
        </p:nvSpPr>
        <p:spPr>
          <a:xfrm>
            <a:off x="548640" y="1828800"/>
            <a:ext cx="4753440" cy="40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time.sleep(seconds) pauses execution for that many seconds — useful for rate-limiting, animations, or retry delays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time.time() returns the current moment as a number (seconds since a fixed reference point) — subtracting two readings gives elapsed time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exact pattern — read time, do work, read time again, subtract — is the standard way to measure how long code takes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3"/>
          <p:cNvSpPr/>
          <p:nvPr/>
        </p:nvSpPr>
        <p:spPr>
          <a:xfrm>
            <a:off x="5486400" y="1691640"/>
            <a:ext cx="6216480" cy="434196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4"/>
          <p:cNvSpPr/>
          <p:nvPr/>
        </p:nvSpPr>
        <p:spPr>
          <a:xfrm>
            <a:off x="5806440" y="1965960"/>
            <a:ext cx="5576400" cy="37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import time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print("Starting...")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time.sleep(2)   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pause for 2 seconds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print("Done waiting")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start = time.time()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total = sum(range(1_000_000))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some work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end = time.time()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print(f"Took {end - start:.4f} seconds")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5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9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0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random — Randomness, Choices, and Shuffling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2"/>
          <p:cNvSpPr/>
          <p:nvPr/>
        </p:nvSpPr>
        <p:spPr>
          <a:xfrm>
            <a:off x="548640" y="1828800"/>
            <a:ext cx="4753440" cy="40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random.randint(a, b) gives a random whole number, including both endpoints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random.choice(sequence) picks one random item from a list, tuple, or string — random.sample() picks several without repeats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random.shuffle(list) rearranges a list randomly, in place — it modifies the original list rather than returning a new one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3"/>
          <p:cNvSpPr/>
          <p:nvPr/>
        </p:nvSpPr>
        <p:spPr>
          <a:xfrm>
            <a:off x="5486400" y="1691640"/>
            <a:ext cx="6216480" cy="434196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4"/>
          <p:cNvSpPr/>
          <p:nvPr/>
        </p:nvSpPr>
        <p:spPr>
          <a:xfrm>
            <a:off x="5806440" y="1965960"/>
            <a:ext cx="5576400" cy="37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import random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random.randint(1, 6)           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a die roll, 1 to 6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random.choice(["rock", "paper", "scissors"])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one random pick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random.sample(range(1, 50), 6) 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6 unique lottery numbers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cards = ["A", "K", "Q", "J"]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random.shuffle(cards)          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shuffles cards in place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5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Shape 0"/>
          <p:cNvSpPr/>
          <p:nvPr/>
        </p:nvSpPr>
        <p:spPr>
          <a:xfrm>
            <a:off x="-1828800" y="5029200"/>
            <a:ext cx="3656160" cy="36561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8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9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Modules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3"/>
          <p:cNvSpPr/>
          <p:nvPr/>
        </p:nvSpPr>
        <p:spPr>
          <a:xfrm>
            <a:off x="457200" y="1600200"/>
            <a:ext cx="11273040" cy="4479120"/>
          </a:xfrm>
          <a:prstGeom prst="roundRect">
            <a:avLst>
              <a:gd name="adj" fmla="val 244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4"/>
          <p:cNvSpPr/>
          <p:nvPr/>
        </p:nvSpPr>
        <p:spPr>
          <a:xfrm>
            <a:off x="822960" y="1828800"/>
            <a:ext cx="10514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5"/>
          <p:cNvSpPr/>
          <p:nvPr/>
        </p:nvSpPr>
        <p:spPr>
          <a:xfrm>
            <a:off x="822960" y="2423160"/>
            <a:ext cx="382680" cy="38268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6"/>
          <p:cNvSpPr/>
          <p:nvPr/>
        </p:nvSpPr>
        <p:spPr>
          <a:xfrm>
            <a:off x="822960" y="242316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7"/>
          <p:cNvSpPr/>
          <p:nvPr/>
        </p:nvSpPr>
        <p:spPr>
          <a:xfrm>
            <a:off x="1435680" y="2423160"/>
            <a:ext cx="95814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Print today’s date formatted as "DD/MM/YYYY" using datetime and strftime()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8"/>
          <p:cNvSpPr/>
          <p:nvPr/>
        </p:nvSpPr>
        <p:spPr>
          <a:xfrm>
            <a:off x="822960" y="3300840"/>
            <a:ext cx="382680" cy="38268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9"/>
          <p:cNvSpPr/>
          <p:nvPr/>
        </p:nvSpPr>
        <p:spPr>
          <a:xfrm>
            <a:off x="822960" y="330084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0"/>
          <p:cNvSpPr/>
          <p:nvPr/>
        </p:nvSpPr>
        <p:spPr>
          <a:xfrm>
            <a:off x="1435680" y="3300840"/>
            <a:ext cx="95814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function that times how long a loop of 100,000 iterations takes, using time.time()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11"/>
          <p:cNvSpPr/>
          <p:nvPr/>
        </p:nvSpPr>
        <p:spPr>
          <a:xfrm>
            <a:off x="822960" y="4178880"/>
            <a:ext cx="382680" cy="38268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12"/>
          <p:cNvSpPr/>
          <p:nvPr/>
        </p:nvSpPr>
        <p:spPr>
          <a:xfrm>
            <a:off x="822960" y="417888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3"/>
          <p:cNvSpPr/>
          <p:nvPr/>
        </p:nvSpPr>
        <p:spPr>
          <a:xfrm>
            <a:off x="1435680" y="4178880"/>
            <a:ext cx="95814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Simulate rolling two dice using random.randint() and print their sum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14"/>
          <p:cNvSpPr/>
          <p:nvPr/>
        </p:nvSpPr>
        <p:spPr>
          <a:xfrm>
            <a:off x="822960" y="5056560"/>
            <a:ext cx="382680" cy="38268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15"/>
          <p:cNvSpPr/>
          <p:nvPr/>
        </p:nvSpPr>
        <p:spPr>
          <a:xfrm>
            <a:off x="822960" y="505656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16"/>
          <p:cNvSpPr/>
          <p:nvPr/>
        </p:nvSpPr>
        <p:spPr>
          <a:xfrm>
            <a:off x="1435680" y="5056560"/>
            <a:ext cx="95814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Create your own greetings.py module with two functions, then import and use it from a separate script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7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1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hape 0"/>
          <p:cNvSpPr/>
          <p:nvPr/>
        </p:nvSpPr>
        <p:spPr>
          <a:xfrm>
            <a:off x="-1828800" y="41148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1"/>
          <p:cNvSpPr/>
          <p:nvPr/>
        </p:nvSpPr>
        <p:spPr>
          <a:xfrm>
            <a:off x="9601200" y="-22860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2"/>
          <p:cNvSpPr/>
          <p:nvPr/>
        </p:nvSpPr>
        <p:spPr>
          <a:xfrm>
            <a:off x="5596200" y="731520"/>
            <a:ext cx="1004400" cy="10044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9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27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0" name="Text 3"/>
          <p:cNvSpPr/>
          <p:nvPr/>
        </p:nvSpPr>
        <p:spPr>
          <a:xfrm>
            <a:off x="914400" y="1965960"/>
            <a:ext cx="103586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INDUSTRY-STYLE TASKS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4"/>
          <p:cNvSpPr/>
          <p:nvPr/>
        </p:nvSpPr>
        <p:spPr>
          <a:xfrm>
            <a:off x="914400" y="2377440"/>
            <a:ext cx="1035864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Build the Things You’ll Actually Be Asked to Build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5"/>
          <p:cNvSpPr/>
          <p:nvPr/>
        </p:nvSpPr>
        <p:spPr>
          <a:xfrm>
            <a:off x="1463040" y="4572000"/>
            <a:ext cx="92613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Not toy examples — safe file writers, validated input loops, and reusable modules are everyday, real-world work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Shape 0"/>
          <p:cNvSpPr/>
          <p:nvPr/>
        </p:nvSpPr>
        <p:spPr>
          <a:xfrm>
            <a:off x="-1828800" y="5029200"/>
            <a:ext cx="3656160" cy="365616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6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7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A: Errors &amp; Exception Handling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3"/>
          <p:cNvSpPr/>
          <p:nvPr/>
        </p:nvSpPr>
        <p:spPr>
          <a:xfrm>
            <a:off x="457200" y="1600200"/>
            <a:ext cx="11273040" cy="4479120"/>
          </a:xfrm>
          <a:prstGeom prst="roundRect">
            <a:avLst>
              <a:gd name="adj" fmla="val 2449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4"/>
          <p:cNvSpPr/>
          <p:nvPr/>
        </p:nvSpPr>
        <p:spPr>
          <a:xfrm>
            <a:off x="822960" y="1828800"/>
            <a:ext cx="10514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5"/>
          <p:cNvSpPr/>
          <p:nvPr/>
        </p:nvSpPr>
        <p:spPr>
          <a:xfrm>
            <a:off x="822960" y="2423160"/>
            <a:ext cx="401040" cy="401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1" name="Image 1" descr="preencoded.png"/>
          <p:cNvPicPr/>
          <p:nvPr/>
        </p:nvPicPr>
        <p:blipFill>
          <a:blip r:embed="rId2"/>
          <a:stretch/>
        </p:blipFill>
        <p:spPr>
          <a:xfrm>
            <a:off x="887040" y="2487240"/>
            <a:ext cx="281880" cy="28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2" name="Shape 6"/>
          <p:cNvSpPr/>
          <p:nvPr/>
        </p:nvSpPr>
        <p:spPr>
          <a:xfrm>
            <a:off x="1371600" y="2441520"/>
            <a:ext cx="401040" cy="36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7"/>
          <p:cNvSpPr/>
          <p:nvPr/>
        </p:nvSpPr>
        <p:spPr>
          <a:xfrm>
            <a:off x="1371600" y="2441520"/>
            <a:ext cx="401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8"/>
          <p:cNvSpPr/>
          <p:nvPr/>
        </p:nvSpPr>
        <p:spPr>
          <a:xfrm>
            <a:off x="1920240" y="2423160"/>
            <a:ext cx="95083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divide(a, b) function that catches ZeroDivisionError and TypeError separately, with a specific message for each.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9"/>
          <p:cNvSpPr/>
          <p:nvPr/>
        </p:nvSpPr>
        <p:spPr>
          <a:xfrm>
            <a:off x="822960" y="3593520"/>
            <a:ext cx="401040" cy="401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6" name="Image 2" descr="preencoded.png"/>
          <p:cNvPicPr/>
          <p:nvPr/>
        </p:nvPicPr>
        <p:blipFill>
          <a:blip r:embed="rId3"/>
          <a:stretch/>
        </p:blipFill>
        <p:spPr>
          <a:xfrm>
            <a:off x="887040" y="3657600"/>
            <a:ext cx="281880" cy="28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7" name="Shape 10"/>
          <p:cNvSpPr/>
          <p:nvPr/>
        </p:nvSpPr>
        <p:spPr>
          <a:xfrm>
            <a:off x="1371600" y="3611880"/>
            <a:ext cx="401040" cy="36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11"/>
          <p:cNvSpPr/>
          <p:nvPr/>
        </p:nvSpPr>
        <p:spPr>
          <a:xfrm>
            <a:off x="1371600" y="3611880"/>
            <a:ext cx="401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12"/>
          <p:cNvSpPr/>
          <p:nvPr/>
        </p:nvSpPr>
        <p:spPr>
          <a:xfrm>
            <a:off x="1920240" y="3593520"/>
            <a:ext cx="95083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Build a get_valid_email() loop that keeps asking until the input contains "@", raising and catching a custom InvalidEmailError.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13"/>
          <p:cNvSpPr/>
          <p:nvPr/>
        </p:nvSpPr>
        <p:spPr>
          <a:xfrm>
            <a:off x="822960" y="4763880"/>
            <a:ext cx="401040" cy="401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1" name="Image 3" descr="preencoded.png"/>
          <p:cNvPicPr/>
          <p:nvPr/>
        </p:nvPicPr>
        <p:blipFill>
          <a:blip r:embed="rId4"/>
          <a:stretch/>
        </p:blipFill>
        <p:spPr>
          <a:xfrm>
            <a:off x="887040" y="4827960"/>
            <a:ext cx="281880" cy="28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2" name="Shape 14"/>
          <p:cNvSpPr/>
          <p:nvPr/>
        </p:nvSpPr>
        <p:spPr>
          <a:xfrm>
            <a:off x="1371600" y="4782240"/>
            <a:ext cx="401040" cy="36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5"/>
          <p:cNvSpPr/>
          <p:nvPr/>
        </p:nvSpPr>
        <p:spPr>
          <a:xfrm>
            <a:off x="1371600" y="4782240"/>
            <a:ext cx="401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6"/>
          <p:cNvSpPr/>
          <p:nvPr/>
        </p:nvSpPr>
        <p:spPr>
          <a:xfrm>
            <a:off x="1920240" y="4763880"/>
            <a:ext cx="95083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function using try/except/else/finally together, and add a comment explaining exactly when each block runs.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17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1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Shape 0"/>
          <p:cNvSpPr/>
          <p:nvPr/>
        </p:nvSpPr>
        <p:spPr>
          <a:xfrm>
            <a:off x="-1828800" y="5029200"/>
            <a:ext cx="3656160" cy="365616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9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0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B: File Handling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3"/>
          <p:cNvSpPr/>
          <p:nvPr/>
        </p:nvSpPr>
        <p:spPr>
          <a:xfrm>
            <a:off x="457200" y="1600200"/>
            <a:ext cx="11273040" cy="4479120"/>
          </a:xfrm>
          <a:prstGeom prst="roundRect">
            <a:avLst>
              <a:gd name="adj" fmla="val 2449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4"/>
          <p:cNvSpPr/>
          <p:nvPr/>
        </p:nvSpPr>
        <p:spPr>
          <a:xfrm>
            <a:off x="822960" y="1828800"/>
            <a:ext cx="10514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5"/>
          <p:cNvSpPr/>
          <p:nvPr/>
        </p:nvSpPr>
        <p:spPr>
          <a:xfrm>
            <a:off x="822960" y="2423160"/>
            <a:ext cx="401040" cy="401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4" name="Image 1" descr="preencoded.png"/>
          <p:cNvPicPr/>
          <p:nvPr/>
        </p:nvPicPr>
        <p:blipFill>
          <a:blip r:embed="rId2"/>
          <a:stretch/>
        </p:blipFill>
        <p:spPr>
          <a:xfrm>
            <a:off x="887040" y="2487240"/>
            <a:ext cx="281880" cy="28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5" name="Shape 6"/>
          <p:cNvSpPr/>
          <p:nvPr/>
        </p:nvSpPr>
        <p:spPr>
          <a:xfrm>
            <a:off x="1371600" y="2441520"/>
            <a:ext cx="401040" cy="36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7"/>
          <p:cNvSpPr/>
          <p:nvPr/>
        </p:nvSpPr>
        <p:spPr>
          <a:xfrm>
            <a:off x="1371600" y="2441520"/>
            <a:ext cx="401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8"/>
          <p:cNvSpPr/>
          <p:nvPr/>
        </p:nvSpPr>
        <p:spPr>
          <a:xfrm>
            <a:off x="1920240" y="2423160"/>
            <a:ext cx="95083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function that appends a timestamped entry to a "diary.txt" file every time it’s called, using with and append mode.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9"/>
          <p:cNvSpPr/>
          <p:nvPr/>
        </p:nvSpPr>
        <p:spPr>
          <a:xfrm>
            <a:off x="822960" y="3593520"/>
            <a:ext cx="401040" cy="401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9" name="Image 2" descr="preencoded.png"/>
          <p:cNvPicPr/>
          <p:nvPr/>
        </p:nvPicPr>
        <p:blipFill>
          <a:blip r:embed="rId3"/>
          <a:stretch/>
        </p:blipFill>
        <p:spPr>
          <a:xfrm>
            <a:off x="887040" y="3657600"/>
            <a:ext cx="281880" cy="28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0" name="Shape 10"/>
          <p:cNvSpPr/>
          <p:nvPr/>
        </p:nvSpPr>
        <p:spPr>
          <a:xfrm>
            <a:off x="1371600" y="3611880"/>
            <a:ext cx="401040" cy="36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11"/>
          <p:cNvSpPr/>
          <p:nvPr/>
        </p:nvSpPr>
        <p:spPr>
          <a:xfrm>
            <a:off x="1371600" y="3611880"/>
            <a:ext cx="401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12"/>
          <p:cNvSpPr/>
          <p:nvPr/>
        </p:nvSpPr>
        <p:spPr>
          <a:xfrm>
            <a:off x="1920240" y="3593520"/>
            <a:ext cx="95083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function that reads a file of numbers (one per line) and returns their sum, wrapped in try/except for FileNotFoundError.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13"/>
          <p:cNvSpPr/>
          <p:nvPr/>
        </p:nvSpPr>
        <p:spPr>
          <a:xfrm>
            <a:off x="822960" y="4763880"/>
            <a:ext cx="401040" cy="401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4" name="Image 3" descr="preencoded.png"/>
          <p:cNvPicPr/>
          <p:nvPr/>
        </p:nvPicPr>
        <p:blipFill>
          <a:blip r:embed="rId4"/>
          <a:stretch/>
        </p:blipFill>
        <p:spPr>
          <a:xfrm>
            <a:off x="887040" y="4827960"/>
            <a:ext cx="281880" cy="28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5" name="Shape 14"/>
          <p:cNvSpPr/>
          <p:nvPr/>
        </p:nvSpPr>
        <p:spPr>
          <a:xfrm>
            <a:off x="1371600" y="4782240"/>
            <a:ext cx="401040" cy="36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15"/>
          <p:cNvSpPr/>
          <p:nvPr/>
        </p:nvSpPr>
        <p:spPr>
          <a:xfrm>
            <a:off x="1371600" y="4782240"/>
            <a:ext cx="401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16"/>
          <p:cNvSpPr/>
          <p:nvPr/>
        </p:nvSpPr>
        <p:spPr>
          <a:xfrm>
            <a:off x="1920240" y="4763880"/>
            <a:ext cx="95083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word_count(filename) function that reads a file and returns how many words it contains in total.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17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1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Shape 0"/>
          <p:cNvSpPr/>
          <p:nvPr/>
        </p:nvSpPr>
        <p:spPr>
          <a:xfrm>
            <a:off x="-1828800" y="5029200"/>
            <a:ext cx="3656160" cy="365616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3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C: Modules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3"/>
          <p:cNvSpPr/>
          <p:nvPr/>
        </p:nvSpPr>
        <p:spPr>
          <a:xfrm>
            <a:off x="457200" y="1600200"/>
            <a:ext cx="11273040" cy="4479120"/>
          </a:xfrm>
          <a:prstGeom prst="roundRect">
            <a:avLst>
              <a:gd name="adj" fmla="val 2449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4"/>
          <p:cNvSpPr/>
          <p:nvPr/>
        </p:nvSpPr>
        <p:spPr>
          <a:xfrm>
            <a:off x="822960" y="1828800"/>
            <a:ext cx="10514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5"/>
          <p:cNvSpPr/>
          <p:nvPr/>
        </p:nvSpPr>
        <p:spPr>
          <a:xfrm>
            <a:off x="822960" y="2423160"/>
            <a:ext cx="401040" cy="401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7" name="Image 1" descr="preencoded.png"/>
          <p:cNvPicPr/>
          <p:nvPr/>
        </p:nvPicPr>
        <p:blipFill>
          <a:blip r:embed="rId2"/>
          <a:stretch/>
        </p:blipFill>
        <p:spPr>
          <a:xfrm>
            <a:off x="887040" y="2487240"/>
            <a:ext cx="281880" cy="28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8" name="Shape 6"/>
          <p:cNvSpPr/>
          <p:nvPr/>
        </p:nvSpPr>
        <p:spPr>
          <a:xfrm>
            <a:off x="1371600" y="2441520"/>
            <a:ext cx="401040" cy="36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7"/>
          <p:cNvSpPr/>
          <p:nvPr/>
        </p:nvSpPr>
        <p:spPr>
          <a:xfrm>
            <a:off x="1371600" y="2441520"/>
            <a:ext cx="401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8"/>
          <p:cNvSpPr/>
          <p:nvPr/>
        </p:nvSpPr>
        <p:spPr>
          <a:xfrm>
            <a:off x="1920240" y="2423160"/>
            <a:ext cx="95083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function that returns how many days are left until a given future date, using datetime.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9"/>
          <p:cNvSpPr/>
          <p:nvPr/>
        </p:nvSpPr>
        <p:spPr>
          <a:xfrm>
            <a:off x="822960" y="3593520"/>
            <a:ext cx="401040" cy="401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2" name="Image 2" descr="preencoded.png"/>
          <p:cNvPicPr/>
          <p:nvPr/>
        </p:nvPicPr>
        <p:blipFill>
          <a:blip r:embed="rId3"/>
          <a:stretch/>
        </p:blipFill>
        <p:spPr>
          <a:xfrm>
            <a:off x="887040" y="3657600"/>
            <a:ext cx="281880" cy="28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3" name="Shape 10"/>
          <p:cNvSpPr/>
          <p:nvPr/>
        </p:nvSpPr>
        <p:spPr>
          <a:xfrm>
            <a:off x="1371600" y="3611880"/>
            <a:ext cx="401040" cy="36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11"/>
          <p:cNvSpPr/>
          <p:nvPr/>
        </p:nvSpPr>
        <p:spPr>
          <a:xfrm>
            <a:off x="1371600" y="3611880"/>
            <a:ext cx="401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12"/>
          <p:cNvSpPr/>
          <p:nvPr/>
        </p:nvSpPr>
        <p:spPr>
          <a:xfrm>
            <a:off x="1920240" y="3593520"/>
            <a:ext cx="95083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Build a simple "password generator" using random.choice() over letters, digits, and symbols.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13"/>
          <p:cNvSpPr/>
          <p:nvPr/>
        </p:nvSpPr>
        <p:spPr>
          <a:xfrm>
            <a:off x="822960" y="4763880"/>
            <a:ext cx="401040" cy="401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7" name="Image 3" descr="preencoded.png"/>
          <p:cNvPicPr/>
          <p:nvPr/>
        </p:nvPicPr>
        <p:blipFill>
          <a:blip r:embed="rId4"/>
          <a:stretch/>
        </p:blipFill>
        <p:spPr>
          <a:xfrm>
            <a:off x="887040" y="4827960"/>
            <a:ext cx="281880" cy="28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8" name="Shape 14"/>
          <p:cNvSpPr/>
          <p:nvPr/>
        </p:nvSpPr>
        <p:spPr>
          <a:xfrm>
            <a:off x="1371600" y="4782240"/>
            <a:ext cx="401040" cy="36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15"/>
          <p:cNvSpPr/>
          <p:nvPr/>
        </p:nvSpPr>
        <p:spPr>
          <a:xfrm>
            <a:off x="1371600" y="4782240"/>
            <a:ext cx="401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16"/>
          <p:cNvSpPr/>
          <p:nvPr/>
        </p:nvSpPr>
        <p:spPr>
          <a:xfrm>
            <a:off x="1920240" y="4763880"/>
            <a:ext cx="95083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Create a stopwatch.py module with start_timer() and stop_timer() functions built on the time module, then use it from another script.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17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1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Shape 0"/>
          <p:cNvSpPr/>
          <p:nvPr/>
        </p:nvSpPr>
        <p:spPr>
          <a:xfrm>
            <a:off x="-1828800" y="41148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1"/>
          <p:cNvSpPr/>
          <p:nvPr/>
        </p:nvSpPr>
        <p:spPr>
          <a:xfrm>
            <a:off x="9601200" y="-22860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2"/>
          <p:cNvSpPr/>
          <p:nvPr/>
        </p:nvSpPr>
        <p:spPr>
          <a:xfrm>
            <a:off x="5596200" y="731520"/>
            <a:ext cx="1004400" cy="10044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6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27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7" name="Text 3"/>
          <p:cNvSpPr/>
          <p:nvPr/>
        </p:nvSpPr>
        <p:spPr>
          <a:xfrm>
            <a:off x="914400" y="1965960"/>
            <a:ext cx="103586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4"/>
          <p:cNvSpPr/>
          <p:nvPr/>
        </p:nvSpPr>
        <p:spPr>
          <a:xfrm>
            <a:off x="914400" y="2377440"/>
            <a:ext cx="1035864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Put It All Together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5"/>
          <p:cNvSpPr/>
          <p:nvPr/>
        </p:nvSpPr>
        <p:spPr>
          <a:xfrm>
            <a:off x="1463040" y="4572000"/>
            <a:ext cx="92613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Two projects combining error handling, file I/O, and Python’s built-in modules into one cohesive task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Shape 0"/>
          <p:cNvSpPr/>
          <p:nvPr/>
        </p:nvSpPr>
        <p:spPr>
          <a:xfrm>
            <a:off x="10515600" y="5669280"/>
            <a:ext cx="3198960" cy="319896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4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Mini Project 1: Safe File-Based Logger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7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8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Errors +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files +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datetime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6"/>
          <p:cNvSpPr/>
          <p:nvPr/>
        </p:nvSpPr>
        <p:spPr>
          <a:xfrm>
            <a:off x="4572000" y="173736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Build a log_event(message, level="INFO") function that appends timestamped entries to "app.log", using datetime for the timestamp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Wrap every file operation in try/except so a full disk or permissions issue never crashes the calling program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Add a read_logs(level=None) function that reads the file back and optionally filters by log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mirrors how real logging utilities are built in production code, before reaching for a full logging library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7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Shape 0"/>
          <p:cNvSpPr/>
          <p:nvPr/>
        </p:nvSpPr>
        <p:spPr>
          <a:xfrm>
            <a:off x="10515600" y="5669280"/>
            <a:ext cx="3198960" cy="319896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4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5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Mini Project 2: Number Guessing Game With Stats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8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9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Random +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time +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error handling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6"/>
          <p:cNvSpPr/>
          <p:nvPr/>
        </p:nvSpPr>
        <p:spPr>
          <a:xfrm>
            <a:off x="4572000" y="173736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random.randint() to pick a secret number, and time.time() to track how long the player takes to guess 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Wrap every guess in try/except so non-numeric input never crashes the game — just asks again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When the player wins, save their name, number of guesses, and time taken as a new line in "scores.txt"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Add a "view leaderboard" option that reads scores.txt back and prints the fastest three attempts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7"/>
          <p:cNvSpPr/>
          <p:nvPr/>
        </p:nvSpPr>
        <p:spPr>
          <a:xfrm>
            <a:off x="457200" y="6446520"/>
            <a:ext cx="7313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Shape 0"/>
          <p:cNvSpPr/>
          <p:nvPr/>
        </p:nvSpPr>
        <p:spPr>
          <a:xfrm>
            <a:off x="-1828800" y="41148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1"/>
          <p:cNvSpPr/>
          <p:nvPr/>
        </p:nvSpPr>
        <p:spPr>
          <a:xfrm>
            <a:off x="9601200" y="-22860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2"/>
          <p:cNvSpPr/>
          <p:nvPr/>
        </p:nvSpPr>
        <p:spPr>
          <a:xfrm>
            <a:off x="5596200" y="731520"/>
            <a:ext cx="1004400" cy="10044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6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27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7" name="Text 3"/>
          <p:cNvSpPr/>
          <p:nvPr/>
        </p:nvSpPr>
        <p:spPr>
          <a:xfrm>
            <a:off x="914400" y="1965960"/>
            <a:ext cx="103586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RECAP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4"/>
          <p:cNvSpPr/>
          <p:nvPr/>
        </p:nvSpPr>
        <p:spPr>
          <a:xfrm>
            <a:off x="914400" y="2377440"/>
            <a:ext cx="1035864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Errors are unavoidable — try/except/finally, safe file handling, and Python’s built-in modules are how real programs survive them.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5"/>
          <p:cNvSpPr/>
          <p:nvPr/>
        </p:nvSpPr>
        <p:spPr>
          <a:xfrm>
            <a:off x="1463040" y="4572000"/>
            <a:ext cx="92613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Next session: Advanced Python — comprehensions, generators, and regular expressions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2026-08-15T02:50:21Z</dcterms:created>
  <dc:creator>PptxGenJS</dc:creator>
  <dc:description/>
  <dc:language>en-US</dc:language>
  <cp:lastModifiedBy/>
  <dcterms:modified xsi:type="dcterms:W3CDTF">2026-09-21T23:21:48Z</dcterms:modified>
  <cp:revision>39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48</vt:i4>
  </property>
  <property fmtid="{D5CDD505-2E9C-101B-9397-08002B2CF9AE}" pid="3" name="PresentationFormat">
    <vt:lpwstr>On-screen Show (16:9)</vt:lpwstr>
  </property>
  <property fmtid="{D5CDD505-2E9C-101B-9397-08002B2CF9AE}" pid="4" name="Slides">
    <vt:i4>48</vt:i4>
  </property>
</Properties>
</file>