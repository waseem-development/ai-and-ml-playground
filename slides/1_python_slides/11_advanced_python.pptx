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D08F84-69D0-4C64-827C-83CFDFCB0DF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026077F-91DE-4991-A6C1-BE72CB0161E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6E6D081-01A1-4D58-BE69-746D1F8E19F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4225FFF-B3D0-481D-8811-01392CE147A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769921D-3C0D-472F-BAAD-12A97C64210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DA22A28-A1E2-47B3-8AF4-371536C660B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F22148E-CED1-450A-B807-985DB66DAE3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74DCBA9-A27B-41E2-8470-BA30FB26C41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A90F84F-4D7F-4E0C-8378-7172FC03D96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367EDC8-8D04-4B64-A500-0D6F911EDA0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2F64675-21F0-46D0-AB02-1A223A1C3BF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43CB0EE-87FE-4955-BE35-D5B2CE428CC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F40B730-F1A4-4A7A-AFBB-0BAF0F866D1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3C6E4EB-3CC4-47A7-BA3D-956661D25DE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237809C-2EA8-464F-96E0-CBE5581ABE1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8E269CE-8C65-4930-A9E6-5329DF854BF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CB05B85-9F04-4438-885D-F566265D8C2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AF43070-1706-46B7-BB0A-515C8D6FA13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8607960-B7D7-472B-AA6A-5D81BD4CDCF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A2E6730-4E75-4AB3-9F7A-6808B202820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A2FB857-AC1E-4403-B978-A4AA2F39503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8490130-AD5C-4042-A5E6-C7E99381C89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C86F440-2062-4261-A7AB-C16A339475A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642C593-6243-4BAD-A393-E56C691D7B1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0FB4325-2C33-4BAB-A791-3BC7A0D07F3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561F13F-32B1-4974-BE19-CA0FF3BA725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A677CC0-AFB6-480F-8CB3-B2D22CA9B82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63E2DE5-52D1-4823-B580-D6132B4B5BB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41692EE-C7AF-4F5D-B693-779BD6EA850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660DAEA-FD8E-4D57-A58F-30A53C37B0A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8DCA1D9-68BD-431A-A9DE-E780A27E6FA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03914F1-B1DF-46AA-9C10-46C2EF86FD7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81695DC-22D8-4358-B5EE-989C3D5C6BE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DEF9159-CDDC-4D0A-99AA-94E8670BE3A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D49CF35-78DA-4C57-A6D6-EE6CCD37116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BC06B7D-7018-4B67-9117-E2FC6010A12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70B70F1-2409-4382-A478-A2611486427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887DA82-41F5-48CF-B791-7878A4141E2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5B95B62-E53A-4DF5-8836-CB8C6EE8B54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FA15F65-73A5-4249-92B0-CE0E511807F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EFAF59D-C313-4465-8968-1E0CEE42C9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0820DE8-AD48-4620-9848-2515CE8FDB4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A924A0A-CFDA-4C40-80F4-921E0BE034F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ED5BCEE-6C1D-44B4-8E48-96D3784FD2D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99F4FD2-8838-4552-A04E-122968D0212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AABF7D0-1C80-43A3-8736-3150F8E15F0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7.pn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7.pn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7.pn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080" cy="64000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080" cy="64000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95400" y="914400"/>
            <a:ext cx="1188000" cy="11880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5678280" y="1097280"/>
            <a:ext cx="831240" cy="83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Advanced Python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Comprehensions, Generators, map/filter/reduce, Context Managers &amp; Regular Expressions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12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457200" y="1600200"/>
            <a:ext cx="11273760" cy="56628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85800" y="1710000"/>
            <a:ext cx="346680" cy="346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" name="Image 1" descr="preencoded.png"/>
          <p:cNvPicPr/>
          <p:nvPr/>
        </p:nvPicPr>
        <p:blipFill>
          <a:blip r:embed="rId2"/>
          <a:stretch/>
        </p:blipFill>
        <p:spPr>
          <a:xfrm>
            <a:off x="758880" y="17830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1234440" y="160020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Comprehensions — building lists, dicts, and sets in a single readable 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457200" y="2258640"/>
            <a:ext cx="11273760" cy="56628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685800" y="2368440"/>
            <a:ext cx="346680" cy="346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" name="Image 2" descr="preencoded.png"/>
          <p:cNvPicPr/>
          <p:nvPr/>
        </p:nvPicPr>
        <p:blipFill>
          <a:blip r:embed="rId3"/>
          <a:stretch/>
        </p:blipFill>
        <p:spPr>
          <a:xfrm>
            <a:off x="758880" y="24415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7"/>
          <p:cNvSpPr/>
          <p:nvPr/>
        </p:nvSpPr>
        <p:spPr>
          <a:xfrm>
            <a:off x="1234440" y="225864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Generators — producing values one at a time, without holding everything in memory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57200" y="2917080"/>
            <a:ext cx="11273760" cy="56628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685800" y="3026520"/>
            <a:ext cx="346680" cy="346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" name="Image 3" descr="preencoded.png"/>
          <p:cNvPicPr/>
          <p:nvPr/>
        </p:nvPicPr>
        <p:blipFill>
          <a:blip r:embed="rId4"/>
          <a:stretch/>
        </p:blipFill>
        <p:spPr>
          <a:xfrm>
            <a:off x="758880" y="309996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0"/>
          <p:cNvSpPr/>
          <p:nvPr/>
        </p:nvSpPr>
        <p:spPr>
          <a:xfrm>
            <a:off x="1234440" y="291708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map(), filter(), and reduce() — the functional-style alternative to comprehensions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57200" y="3575160"/>
            <a:ext cx="11273760" cy="56628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85800" y="3684960"/>
            <a:ext cx="346680" cy="346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" name="Image 4" descr="preencoded.png"/>
          <p:cNvPicPr/>
          <p:nvPr/>
        </p:nvPicPr>
        <p:blipFill>
          <a:blip r:embed="rId5"/>
          <a:stretch/>
        </p:blipFill>
        <p:spPr>
          <a:xfrm>
            <a:off x="758880" y="375804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1234440" y="357516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Context managers — what with is really doing, and how to build your own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457200" y="4233600"/>
            <a:ext cx="11273760" cy="566280"/>
          </a:xfrm>
          <a:prstGeom prst="roundRect">
            <a:avLst>
              <a:gd name="adj" fmla="val 1290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85800" y="4343400"/>
            <a:ext cx="346680" cy="346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" name="Image 5" descr="preencoded.png"/>
          <p:cNvPicPr/>
          <p:nvPr/>
        </p:nvPicPr>
        <p:blipFill>
          <a:blip r:embed="rId6"/>
          <a:stretch/>
        </p:blipFill>
        <p:spPr>
          <a:xfrm>
            <a:off x="758880" y="44164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6"/>
          <p:cNvSpPr/>
          <p:nvPr/>
        </p:nvSpPr>
        <p:spPr>
          <a:xfrm>
            <a:off x="1234440" y="423360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Regular expressions — finding and validating patterns inside text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457200" y="4892040"/>
            <a:ext cx="11273760" cy="56628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685800" y="5001840"/>
            <a:ext cx="346680" cy="3466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3" name="Image 6" descr="preencoded.png"/>
          <p:cNvPicPr/>
          <p:nvPr/>
        </p:nvPicPr>
        <p:blipFill>
          <a:blip r:embed="rId7"/>
          <a:stretch/>
        </p:blipFill>
        <p:spPr>
          <a:xfrm>
            <a:off x="758880" y="507492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9"/>
          <p:cNvSpPr/>
          <p:nvPr/>
        </p:nvSpPr>
        <p:spPr>
          <a:xfrm>
            <a:off x="1234440" y="4892040"/>
            <a:ext cx="102405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Today's tasks and two mini projects combining everything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559620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Comprehensions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 single, readable line that replaces a full for-loop for building a list, dict, or set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10515600" y="5669280"/>
            <a:ext cx="3199680" cy="319968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Comprehension?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1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loop,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compressed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 one line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comprehension builds a new list, dictionary, or set by describing what each item should be, directly inside the brackets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It’s not a new concept — it’s a more compact, more readable way to write a for-loop that builds up a collection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squares = [x*x for x in range(5)] reads almost like English: "x times x, for every x in range(5)"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one of the most distinctly "Pythonic" habits — experienced Python code leans on comprehensions constantly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 Comprehension — The Basic Pattern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pattern is always [expression for item in iterable] — expression decides what goes into the new list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Compare the loop version and the comprehension version below — they produce exactly the same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comprehension is a single expression, not a series of statements — it can be used directly wherever a list is needed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The loop version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squares = []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x in range(5):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squares.append(x * 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[0, 1, 4, 9, 16]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The comprehension version — same result, one 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squares = [x * x for x in range(5)]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[0, 1, 4, 9, 16]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Adding a Condition — Filtering While You Build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Adding if at the end filters which items get included — only items where the condition is True make it into the result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replaces a loop with a for AND an if inside it, combining both into the same single 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condition always comes after the for clause, unlike a ternary if/else, which comes before the for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Only even squares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evens_squared = [x * x for x in range(10) if x % 2 == 0]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[0, 4, 16, 36, 64]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if/else BEFORE the for — a value for every item, not a filter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labels = ["even" if x % 2 == 0 else "odd" for x in range(5)]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['even', 'odd', 'even', 'odd', 'even']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Dict Comprehension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same idea works for dictionaries — the pattern becomes {key_expr: value_expr for item in iterable}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extremely common for transforming one dictionary into another, or building a dictionary from two lists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zip() pairs up two sequences item by item — exactly what’s needed to build a dict from separate keys and values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names = ["Ahmed", "Sara", "Ali"]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ages = [25, 22, 28]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people = {name: age for name, age in zip(names, ages)}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{'Ahmed': 25, 'Sara': 22, 'Ali': 28}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prices = {"pen": 20, "book": 150, "bag": 800}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discounted = {item: price * 0.9 for item, price in prices.items()}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{'pen': 18.0, 'book': 135.0, 'bag': 720.0}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Set Comprehension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Curly braces with no colon build a set instead of a dict — {expr for item in iterable}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set comprehension automatically removes duplicates, exactly like any other set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Useful whenever you need unique results and don’t care about order — like collecting every distinct value in a dataset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words = ["apple", "banana", "apple", "cherry", "banana"]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unique_lengths = {len(w) for w in words}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{5, 6}   — duplicate lengths collapsed automatically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first_letters = {w[0].upper() for w in words}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# {'A', 'B', 'C'}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10515600" y="5669280"/>
            <a:ext cx="3199680" cy="3199680"/>
          </a:xfrm>
          <a:prstGeom prst="roundRect">
            <a:avLst>
              <a:gd name="adj" fmla="val 1142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Nested Comprehensions — Use Sparingly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30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Powerful,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but read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twice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comprehension can contain another comprehension — most often used to flatten a list of lists into one flat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[num for row in matrix for num in row] reads left to right: for every row in matrix, for every num in that row, keep num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genuinely useful, but readability drops fast past two levels — a normal nested loop is often clearer at that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same "would this be clearer written out?" test from lambda applies here too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Comprehensions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list comprehension that returns the cubes of numbers 1 through 10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822960" y="330084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822960" y="33008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1435680" y="33008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list comprehension that keeps only the words longer than 4 letters from a sentence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"/>
          <p:cNvSpPr/>
          <p:nvPr/>
        </p:nvSpPr>
        <p:spPr>
          <a:xfrm>
            <a:off x="822960" y="41788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822960" y="4178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1435680" y="41788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dict comprehension that maps each word in a list to its length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822960" y="50565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822960" y="5056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435680" y="50565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set comprehension that returns every unique vowel found in a sentence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822960" y="593460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822960" y="59346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1435680" y="593460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Flatten a list of lists like [[1,2], [3,4], [5]] into a single flat list using a nested comprehension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559620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Generators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What if you never needed to hold the whole result in memory at once?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10515600" y="5669280"/>
            <a:ext cx="3199680" cy="319968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Generator?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6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One value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at a time,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 demand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4572000" y="182880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generator is a special kind of function that produces a sequence of values one at a time, instead of building and returning the whole thing at once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normal function computes everything, then hands it all back with return — a generator pauses after each value, and only continues when asked for the next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matters enormously for big or even infinite sequences — you can’t hold "every number forever" in a list, but you can generate them one at a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Under the hood, this is exactly how range() and file objects already work — you’ve been using generator-like objects since your very first loop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5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yield vs. return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function containing yield anywhere in its body automatically becomes a generator function — calling it doesn’t run it, it creates a generator object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return ends a function immediately and hands back one final value — yield pauses the function, hands back one value, and remembers exactly where it left off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next time the generator is asked for a value, execution resumes right after that yield, not from the top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count_up_to(n):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count =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while count &lt;= n: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yield count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pause here, hand back "count"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count +=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counter = count_up_to(3)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print(counter)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&lt;generator object ...&gt;  — nothing run yet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Pulling Values Out with next()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next() asks a generator to run until its next yield, and returns that value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call to next() resumes exactly where the last one paused — the generator remembers its own internal state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When there’s nothing left to yield, Python raises StopIteration — this is exactly what a for loop is silently catching for you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count_up_to(n):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count =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while count &lt;= n: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yield count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count +=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counter = count_up_to(3)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next(counter)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next(counter)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next(counter)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next(counter)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StopIteration — nothing left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num in count_up_to(3):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handles next()/StopIteration for you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print(num)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1, 2,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Generator Expressions — Comprehension Syntax, Lazy Result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Swapping a list comprehension’s square brackets for parentheses turns it into a generator expression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looks almost identical to a list comprehension, but produces values lazily instead of building the whole list immediately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fastest way to get generator behavior when you don’t need a full yield-based function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squares_list = [x * x for x in range(1_000_000)]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built NOW, all at once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squares_gen  = (x * x for x in range(1_000_000))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built lazily, one at a time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print(type(squares_gen))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&lt;class 'generator'&gt;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 = sum(x * x for x in range(1_000_000))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never stores the full list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Lazy Evaluation, Visualized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640080" y="1737360"/>
            <a:ext cx="5211360" cy="2010960"/>
          </a:xfrm>
          <a:prstGeom prst="roundRect">
            <a:avLst>
              <a:gd name="adj" fmla="val 5455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914400" y="1874520"/>
            <a:ext cx="466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[x*x for x in range(5)]   — a 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91440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91440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178308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178308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265176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265176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352044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352044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438912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438912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914400" y="3246120"/>
            <a:ext cx="4662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All 5 values computed and held in memory immediately — before you even use one of them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6309360" y="1737360"/>
            <a:ext cx="5211360" cy="2010960"/>
          </a:xfrm>
          <a:prstGeom prst="roundRect">
            <a:avLst>
              <a:gd name="adj" fmla="val 545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6583680" y="1874520"/>
            <a:ext cx="466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(x*x for x in range(5))   — a generator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7"/>
          <p:cNvSpPr/>
          <p:nvPr/>
        </p:nvSpPr>
        <p:spPr>
          <a:xfrm>
            <a:off x="658368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658368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745236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A46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745236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1"/>
          <p:cNvSpPr/>
          <p:nvPr/>
        </p:nvSpPr>
        <p:spPr>
          <a:xfrm>
            <a:off x="832104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A46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832104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3"/>
          <p:cNvSpPr/>
          <p:nvPr/>
        </p:nvSpPr>
        <p:spPr>
          <a:xfrm>
            <a:off x="918972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A46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918972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10058400" y="2377440"/>
            <a:ext cx="730800" cy="730800"/>
          </a:xfrm>
          <a:prstGeom prst="roundRect">
            <a:avLst>
              <a:gd name="adj" fmla="val 10000"/>
            </a:avLst>
          </a:prstGeom>
          <a:solidFill>
            <a:srgbClr val="2A46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10058400" y="23774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C8A80"/>
                </a:solidFill>
                <a:effectLst/>
                <a:uFillTx/>
                <a:latin typeface="Consolas"/>
                <a:ea typeface="Consolas"/>
              </a:rPr>
              <a:t>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6583680" y="3246120"/>
            <a:ext cx="4662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Only ONE value exists at a time — the rest aren’t computed until you ask via next()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8"/>
          <p:cNvSpPr/>
          <p:nvPr/>
        </p:nvSpPr>
        <p:spPr>
          <a:xfrm>
            <a:off x="640080" y="4114800"/>
            <a:ext cx="10880640" cy="1736640"/>
          </a:xfrm>
          <a:prstGeom prst="roundRect">
            <a:avLst>
              <a:gd name="adj" fmla="val 6316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914400" y="4297680"/>
            <a:ext cx="103320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 this matters: </a:t>
            </a: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of 10 million squared numbers holds all 10 million in memory at once. A generator holds exactly one value at a time — the other 9,999,999 simply don’t exist yet.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called lazy evaluation — values are produced only the moment they’re actually needed, never before.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0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Reading a Huge File Line by Line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file object is itself already a generator-like object — looping over it never loads the whole file into memory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a genuinely massive log file, readlines() could crash a machine — iterating with a generator never will, no matter the file size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exact same "one value at a time" idea, applied to something you’ve already been doing since file handling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read_large_file(filename):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with open(filename) as file: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for line in file: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one line at a time, never the whole file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    yield line.strip()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for line in read_large_file("huge_log.txt"):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if "ERROR" in line: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print(line)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Generators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generator function even_numbers(n) that yields every even number from 0 up to 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8"/>
          <p:cNvSpPr/>
          <p:nvPr/>
        </p:nvSpPr>
        <p:spPr>
          <a:xfrm>
            <a:off x="822960" y="330084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 9"/>
          <p:cNvSpPr/>
          <p:nvPr/>
        </p:nvSpPr>
        <p:spPr>
          <a:xfrm>
            <a:off x="822960" y="33008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0"/>
          <p:cNvSpPr/>
          <p:nvPr/>
        </p:nvSpPr>
        <p:spPr>
          <a:xfrm>
            <a:off x="1435680" y="33008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Manually call next() on it three times, then use a for loop to consume the rest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1"/>
          <p:cNvSpPr/>
          <p:nvPr/>
        </p:nvSpPr>
        <p:spPr>
          <a:xfrm>
            <a:off x="822960" y="41788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 12"/>
          <p:cNvSpPr/>
          <p:nvPr/>
        </p:nvSpPr>
        <p:spPr>
          <a:xfrm>
            <a:off x="822960" y="4178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3"/>
          <p:cNvSpPr/>
          <p:nvPr/>
        </p:nvSpPr>
        <p:spPr>
          <a:xfrm>
            <a:off x="1435680" y="41788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Rewrite a list comprehension you wrote earlier this session as a generator expression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4"/>
          <p:cNvSpPr/>
          <p:nvPr/>
        </p:nvSpPr>
        <p:spPr>
          <a:xfrm>
            <a:off x="822960" y="50565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 15"/>
          <p:cNvSpPr/>
          <p:nvPr/>
        </p:nvSpPr>
        <p:spPr>
          <a:xfrm>
            <a:off x="822960" y="5056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6"/>
          <p:cNvSpPr/>
          <p:nvPr/>
        </p:nvSpPr>
        <p:spPr>
          <a:xfrm>
            <a:off x="1435680" y="50565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generator that yields Fibonacci numbers one at a time, forever — with no upper limit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559620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map(), filter(), and reduce()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 different, more functional style for transforming and combining sequences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map() — Transform Every Item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map(function, iterable) applies function to every item and returns a lazy map object — wrap it in list() to see all the results at once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map() can also take more than one iterable at once — the function is called with one item from each, pairwise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met map() with lambda already — it works exactly the same with a named function too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nums = [1, 2, 3, 4]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doubled = list(map(lambda n: n * 2, nums))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[2, 4, 6, 8]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map() over TWO iterables at once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[1, 2, 3]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[10, 20, 30]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sums = list(map(lambda x, y: x + y, a, b))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[11, 22, 33]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5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filter() — Keep Only What Passes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filter(function, iterable) keeps only the items where function returns True — also lazy, also needs list() to see results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Passing None as the function keeps only the items that are already truthy — a quick way to drop empty strings, zeros, and Nones from a list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filter() is a direct alternative to a list comprehension with just an if clause and no transformation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nums = [0, 1, 2, "", "hello", None, 3, False]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evens = list(filter(lambda n: isinstance(n, int) and n % 2 == 0, nums))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[0, 2]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truthy_only = list(filter(None, nums))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[1, 2, 'hello', 3]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6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reduce() — Combine Everything Into One Value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reduce(), from the functools module, repeatedly combines items two at a time until only one value is left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takes a function of two arguments — the "running total so far" and "the next item" — and keeps folding them together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Unlike map() and filter(), reduce() isn’t built in by default — it has to be imported, a deliberate signal that it’s used far less often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from functools import reduce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nums = [1, 2, 3, 4]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total = reduce(lambda acc, n: acc + n, nums)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10   — same as ((1 + 2) + 3) + 4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product = reduce(lambda acc, n: acc * n, nums)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24   — same as ((1 * 2) * 3) * 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6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Comprehensions vs. map()/filter() — The Pythonic Take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3" name="Image 1" descr="preencoded.png"/>
          <p:cNvPicPr/>
          <p:nvPr/>
        </p:nvPicPr>
        <p:blipFill>
          <a:blip r:embed="rId2"/>
          <a:stretch/>
        </p:blipFill>
        <p:spPr>
          <a:xfrm>
            <a:off x="804600" y="193860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Prefer Comprehensions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Most experienced Python developers reach for a comprehension by default — it’s considered more readable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[x*x for x in nums if x &gt; 0] reads as one clear thought; the equivalent map+filter needs two nested calls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standard, idiomatic choice for transforming and filtering in Python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8" name="Image 2" descr="preencoded.png"/>
          <p:cNvPicPr/>
          <p:nvPr/>
        </p:nvPicPr>
        <p:blipFill>
          <a:blip r:embed="rId3"/>
          <a:stretch/>
        </p:blipFill>
        <p:spPr>
          <a:xfrm>
            <a:off x="6519600" y="193860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map()/filter() Still Matter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You’ll see them constantly in real, existing codebases — recognizing them fluently matters even if you don’t reach for them first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They shine when you already have a named function, and don’t want to wrap it in a comprehension’s syntax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reduce() specifically has no comprehension equivalent — it fills a real, different gap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map(), filter(), reduce()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map() to convert a list of strings into a list of their lengths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822960" y="330084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822960" y="33008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1435680" y="33008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filter() to keep only the strings that start with a vowel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1"/>
          <p:cNvSpPr/>
          <p:nvPr/>
        </p:nvSpPr>
        <p:spPr>
          <a:xfrm>
            <a:off x="822960" y="41788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822960" y="4178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1435680" y="41788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reduce() to find the maximum value in a list, without using max()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822960" y="50565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822960" y="5056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6"/>
          <p:cNvSpPr/>
          <p:nvPr/>
        </p:nvSpPr>
        <p:spPr>
          <a:xfrm>
            <a:off x="1435680" y="50565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Rewrite one of the map()/filter() tasks above as a single list comprehension, and compare readability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4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559620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6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Context Managers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You’ve used with open(...) for weeks — now let’s see exactly what it’s doing, and build your own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10515600" y="5669280"/>
            <a:ext cx="3199680" cy="319968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Context Manager?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7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Guaranteed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setup and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cleanup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context manager is any object that defines what happens right when a with block starts, and what happens right when it ends — no matter how it ends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 open("file") as f: is the context manager you already know — it opens the file on entry, and guarantees it closes on exit, even if an error occurs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same guaranteed-cleanup pattern applies to database connections, network sockets, locks in multi-threaded code, and timers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Anything with a clear "start" and a "must always clean up afterward" shape is a candidate for a context manager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Writing Your Own — __enter__ and __exit__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__enter__ runs when the with block starts — whatever it returns becomes the as variable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__exit__ runs when the block ends, whether it finished normally or an exception was raised inside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exact same dunder-method pattern from OOP — with is just Python calling these two methods automatically for you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class Timer: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def __enter__(self):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import time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self.start = time.time()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return self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def __exit__(self, exc_type, exc_value, traceback):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import time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    print(f"Took {time.time() - self.start:.4f} seconds")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with Timer():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total = sum(range(1_000_000))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Took 0.0231 seconds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3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@contextmanager — A Simpler Way to Write One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contextlib’s @contextmanager decorator lets you write a context manager as a single generator function, instead of a full class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Code before yield runs on entry; code after yield runs on exit — yield itself marks the exact point where the with block’s code runs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simple cases, this is noticeably less boilerplate than writing __enter__ and __exit__ by hand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from contextlib import contextmanager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time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@contextmanager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timer():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start = time.time()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yield                 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the with block runs here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print(f"Took {time.time() - start:.4f} seconds")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with timer():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total = sum(range(1_000_000))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4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Context Managers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class-based context manager that prints "Starting..." on entry and "Finished." on exit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822960" y="330084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822960" y="33008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0"/>
          <p:cNvSpPr/>
          <p:nvPr/>
        </p:nvSpPr>
        <p:spPr>
          <a:xfrm>
            <a:off x="1435680" y="33008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Rewrite the same context manager using @contextmanager instead of a class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1"/>
          <p:cNvSpPr/>
          <p:nvPr/>
        </p:nvSpPr>
        <p:spPr>
          <a:xfrm>
            <a:off x="822960" y="41788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 12"/>
          <p:cNvSpPr/>
          <p:nvPr/>
        </p:nvSpPr>
        <p:spPr>
          <a:xfrm>
            <a:off x="822960" y="4178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1435680" y="41788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your context manager to wrap a block of code, and confirm the exit message prints even when the block raises an error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4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6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7" name="Shape 2"/>
          <p:cNvSpPr/>
          <p:nvPr/>
        </p:nvSpPr>
        <p:spPr>
          <a:xfrm>
            <a:off x="559620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8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Regular Expressions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 mini-language for describing patterns in text — built into Python through the re module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10515600" y="5669280"/>
            <a:ext cx="3199680" cy="319968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6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Regular Expression?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8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69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pattern,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not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literal string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regular expression (regex) describes a pattern of text, rather than one exact string — "a digit followed by three letters" instead of "5abc"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lets you validate formats (emails, phone numbers), search through huge amounts of text, and extract specific pieces from messy strings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Python’s built-in re module provides everything needed to work with regex — no installation required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Regex has its own compact syntax that looks unfamiliar at first, but a handful of building blocks cover the vast majority of real use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7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Core Functions: search(), match(), findall()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re.search() looks for the pattern anywhere in the string, and returns the first match it finds, or None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re.match() only checks starting at the very beginning of the string — a match anywhere else doesn’t count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re.findall() returns every match in the string as a list, not just the first one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text = "Contact us at 0300-1234567 or 0321-9876543"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re.search(r"\d{4}-\d{7}", text)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matches "0300-1234567"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re.match(r"Contact", text)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matches — string starts with 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re.match(r"0300", text)     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None — string doesn't START with 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re.findall(r"\d{4}-\d{7}", text)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['0300-1234567', '0321-9876543']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Building Blocks — The Patterns You’ll Use Constantly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"/>
          <p:cNvSpPr/>
          <p:nvPr/>
        </p:nvSpPr>
        <p:spPr>
          <a:xfrm>
            <a:off x="457200" y="1508760"/>
            <a:ext cx="2078640" cy="489132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6" name="Shape 3"/>
          <p:cNvSpPr/>
          <p:nvPr/>
        </p:nvSpPr>
        <p:spPr>
          <a:xfrm>
            <a:off x="1222560" y="20941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7" name="Image 1" descr="preencoded.png"/>
          <p:cNvPicPr/>
          <p:nvPr/>
        </p:nvPicPr>
        <p:blipFill>
          <a:blip r:embed="rId2"/>
          <a:stretch/>
        </p:blipFill>
        <p:spPr>
          <a:xfrm>
            <a:off x="1305000" y="21762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4"/>
          <p:cNvSpPr/>
          <p:nvPr/>
        </p:nvSpPr>
        <p:spPr>
          <a:xfrm>
            <a:off x="548640" y="2715840"/>
            <a:ext cx="1895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\d  \w  \s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5"/>
          <p:cNvSpPr/>
          <p:nvPr/>
        </p:nvSpPr>
        <p:spPr>
          <a:xfrm>
            <a:off x="603360" y="3099960"/>
            <a:ext cx="1785960" cy="31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Any digit, any word character (letter/digit/underscore), any whitespace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6"/>
          <p:cNvSpPr/>
          <p:nvPr/>
        </p:nvSpPr>
        <p:spPr>
          <a:xfrm>
            <a:off x="2756160" y="1508760"/>
            <a:ext cx="2078640" cy="489132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1" name="Shape 7"/>
          <p:cNvSpPr/>
          <p:nvPr/>
        </p:nvSpPr>
        <p:spPr>
          <a:xfrm>
            <a:off x="3521520" y="20941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2" name="Image 2" descr="preencoded.png"/>
          <p:cNvPicPr/>
          <p:nvPr/>
        </p:nvPicPr>
        <p:blipFill>
          <a:blip r:embed="rId3"/>
          <a:stretch/>
        </p:blipFill>
        <p:spPr>
          <a:xfrm>
            <a:off x="3603600" y="21762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Text 8"/>
          <p:cNvSpPr/>
          <p:nvPr/>
        </p:nvSpPr>
        <p:spPr>
          <a:xfrm>
            <a:off x="2847600" y="2715840"/>
            <a:ext cx="1895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*  +  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9"/>
          <p:cNvSpPr/>
          <p:nvPr/>
        </p:nvSpPr>
        <p:spPr>
          <a:xfrm>
            <a:off x="2902320" y="3099960"/>
            <a:ext cx="1785960" cy="31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0 or more, 1 or more, and 0 or 1 of whatever came right before 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0"/>
          <p:cNvSpPr/>
          <p:nvPr/>
        </p:nvSpPr>
        <p:spPr>
          <a:xfrm>
            <a:off x="5054760" y="1508760"/>
            <a:ext cx="2078640" cy="489132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6" name="Shape 11"/>
          <p:cNvSpPr/>
          <p:nvPr/>
        </p:nvSpPr>
        <p:spPr>
          <a:xfrm>
            <a:off x="5820120" y="20941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7" name="Image 3" descr="preencoded.png"/>
          <p:cNvPicPr/>
          <p:nvPr/>
        </p:nvPicPr>
        <p:blipFill>
          <a:blip r:embed="rId4"/>
          <a:stretch/>
        </p:blipFill>
        <p:spPr>
          <a:xfrm>
            <a:off x="5902560" y="21762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Text 12"/>
          <p:cNvSpPr/>
          <p:nvPr/>
        </p:nvSpPr>
        <p:spPr>
          <a:xfrm>
            <a:off x="5146200" y="2715840"/>
            <a:ext cx="1895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{n}  {n,m}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3"/>
          <p:cNvSpPr/>
          <p:nvPr/>
        </p:nvSpPr>
        <p:spPr>
          <a:xfrm>
            <a:off x="5201280" y="3099960"/>
            <a:ext cx="1785960" cy="31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Exactly n repeats, or between n and m repeats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4"/>
          <p:cNvSpPr/>
          <p:nvPr/>
        </p:nvSpPr>
        <p:spPr>
          <a:xfrm>
            <a:off x="7353720" y="1508760"/>
            <a:ext cx="2078640" cy="489132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1" name="Shape 15"/>
          <p:cNvSpPr/>
          <p:nvPr/>
        </p:nvSpPr>
        <p:spPr>
          <a:xfrm>
            <a:off x="8119080" y="20941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02" name="Image 4" descr="preencoded.png"/>
          <p:cNvPicPr/>
          <p:nvPr/>
        </p:nvPicPr>
        <p:blipFill>
          <a:blip r:embed="rId5"/>
          <a:stretch/>
        </p:blipFill>
        <p:spPr>
          <a:xfrm>
            <a:off x="8201160" y="21762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Text 16"/>
          <p:cNvSpPr/>
          <p:nvPr/>
        </p:nvSpPr>
        <p:spPr>
          <a:xfrm>
            <a:off x="7445160" y="2715840"/>
            <a:ext cx="1895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^  $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7"/>
          <p:cNvSpPr/>
          <p:nvPr/>
        </p:nvSpPr>
        <p:spPr>
          <a:xfrm>
            <a:off x="7499880" y="3099960"/>
            <a:ext cx="1785960" cy="31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Anchors — the very start and the very end of the string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8"/>
          <p:cNvSpPr/>
          <p:nvPr/>
        </p:nvSpPr>
        <p:spPr>
          <a:xfrm>
            <a:off x="9652320" y="1508760"/>
            <a:ext cx="2078640" cy="4891320"/>
          </a:xfrm>
          <a:prstGeom prst="roundRect">
            <a:avLst>
              <a:gd name="adj" fmla="val 4398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6" name="Shape 19"/>
          <p:cNvSpPr/>
          <p:nvPr/>
        </p:nvSpPr>
        <p:spPr>
          <a:xfrm>
            <a:off x="10417680" y="20941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07" name="Image 5" descr="preencoded.png"/>
          <p:cNvPicPr/>
          <p:nvPr/>
        </p:nvPicPr>
        <p:blipFill>
          <a:blip r:embed="rId6"/>
          <a:stretch/>
        </p:blipFill>
        <p:spPr>
          <a:xfrm>
            <a:off x="10500120" y="21762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 20"/>
          <p:cNvSpPr/>
          <p:nvPr/>
        </p:nvSpPr>
        <p:spPr>
          <a:xfrm>
            <a:off x="9743760" y="2715840"/>
            <a:ext cx="1895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( )  [ ]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1"/>
          <p:cNvSpPr/>
          <p:nvPr/>
        </p:nvSpPr>
        <p:spPr>
          <a:xfrm>
            <a:off x="9798840" y="3099960"/>
            <a:ext cx="1785960" cy="31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 capture group, and a character class — "any one of these characters"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2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3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Anatomy of a Pattern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"/>
          <p:cNvSpPr/>
          <p:nvPr/>
        </p:nvSpPr>
        <p:spPr>
          <a:xfrm>
            <a:off x="822960" y="1920240"/>
            <a:ext cx="10542240" cy="1188000"/>
          </a:xfrm>
          <a:prstGeom prst="roundRect">
            <a:avLst>
              <a:gd name="adj" fmla="val 9231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 3"/>
          <p:cNvSpPr/>
          <p:nvPr/>
        </p:nvSpPr>
        <p:spPr>
          <a:xfrm>
            <a:off x="1097280" y="1920240"/>
            <a:ext cx="99936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r'</a:t>
            </a:r>
            <a:r>
              <a:rPr lang="en-US" sz="30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(</a:t>
            </a:r>
            <a:r>
              <a:rPr lang="en-US" sz="3000" b="1" u="none" strike="noStrike">
                <a:solidFill>
                  <a:srgbClr val="7FD9C4"/>
                </a:solidFill>
                <a:effectLst/>
                <a:uFillTx/>
                <a:latin typeface="Cantarell"/>
                <a:ea typeface="Consolas"/>
              </a:rPr>
              <a:t>\d</a:t>
            </a:r>
            <a:r>
              <a:rPr lang="en-US" sz="3000" b="1" u="none" strike="noStrike">
                <a:solidFill>
                  <a:srgbClr val="E88D8D"/>
                </a:solidFill>
                <a:effectLst/>
                <a:uFillTx/>
                <a:latin typeface="Cantarell"/>
                <a:ea typeface="Consolas"/>
              </a:rPr>
              <a:t>{3}</a:t>
            </a:r>
            <a:r>
              <a:rPr lang="en-US" sz="30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)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-</a:t>
            </a:r>
            <a:r>
              <a:rPr lang="en-US" sz="30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(</a:t>
            </a:r>
            <a:r>
              <a:rPr lang="en-US" sz="3000" b="1" u="none" strike="noStrike">
                <a:solidFill>
                  <a:srgbClr val="7FD9C4"/>
                </a:solidFill>
                <a:effectLst/>
                <a:uFillTx/>
                <a:latin typeface="Cantarell"/>
                <a:ea typeface="Consolas"/>
              </a:rPr>
              <a:t>\d</a:t>
            </a:r>
            <a:r>
              <a:rPr lang="en-US" sz="3000" b="1" u="none" strike="noStrike">
                <a:solidFill>
                  <a:srgbClr val="E88D8D"/>
                </a:solidFill>
                <a:effectLst/>
                <a:uFillTx/>
                <a:latin typeface="Cantarell"/>
                <a:ea typeface="Consolas"/>
              </a:rPr>
              <a:t>{4}</a:t>
            </a:r>
            <a:r>
              <a:rPr lang="en-US" sz="30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)</a:t>
            </a:r>
            <a:r>
              <a:rPr lang="en-US" sz="3000" b="1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'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822960" y="3429000"/>
            <a:ext cx="5211360" cy="1050840"/>
          </a:xfrm>
          <a:prstGeom prst="roundRect">
            <a:avLst>
              <a:gd name="adj" fmla="val 869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8" name="Shape 5"/>
          <p:cNvSpPr/>
          <p:nvPr/>
        </p:nvSpPr>
        <p:spPr>
          <a:xfrm>
            <a:off x="1051560" y="3657600"/>
            <a:ext cx="1005120" cy="593640"/>
          </a:xfrm>
          <a:prstGeom prst="roundRect">
            <a:avLst>
              <a:gd name="adj" fmla="val 12308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1051560" y="365760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7C588"/>
                </a:solidFill>
                <a:effectLst/>
                <a:uFillTx/>
                <a:latin typeface="Cantarell"/>
                <a:ea typeface="Consolas"/>
              </a:rPr>
              <a:t>( 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7"/>
          <p:cNvSpPr/>
          <p:nvPr/>
        </p:nvSpPr>
        <p:spPr>
          <a:xfrm>
            <a:off x="2240280" y="3520440"/>
            <a:ext cx="3611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capture group — pulls out just this piece of the match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8"/>
          <p:cNvSpPr/>
          <p:nvPr/>
        </p:nvSpPr>
        <p:spPr>
          <a:xfrm>
            <a:off x="6263640" y="3429000"/>
            <a:ext cx="5211360" cy="1050840"/>
          </a:xfrm>
          <a:prstGeom prst="roundRect">
            <a:avLst>
              <a:gd name="adj" fmla="val 869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2" name="Shape 9"/>
          <p:cNvSpPr/>
          <p:nvPr/>
        </p:nvSpPr>
        <p:spPr>
          <a:xfrm>
            <a:off x="6492240" y="3657600"/>
            <a:ext cx="1005120" cy="593640"/>
          </a:xfrm>
          <a:prstGeom prst="roundRect">
            <a:avLst>
              <a:gd name="adj" fmla="val 12308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 10"/>
          <p:cNvSpPr/>
          <p:nvPr/>
        </p:nvSpPr>
        <p:spPr>
          <a:xfrm>
            <a:off x="6492240" y="365760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FD9C4"/>
                </a:solidFill>
                <a:effectLst/>
                <a:uFillTx/>
                <a:latin typeface="Cantarell"/>
                <a:ea typeface="Consolas"/>
              </a:rPr>
              <a:t>\d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1"/>
          <p:cNvSpPr/>
          <p:nvPr/>
        </p:nvSpPr>
        <p:spPr>
          <a:xfrm>
            <a:off x="7680960" y="3520440"/>
            <a:ext cx="3611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Any single digit, 0–9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2"/>
          <p:cNvSpPr/>
          <p:nvPr/>
        </p:nvSpPr>
        <p:spPr>
          <a:xfrm>
            <a:off x="822960" y="4663440"/>
            <a:ext cx="5211360" cy="1050840"/>
          </a:xfrm>
          <a:prstGeom prst="roundRect">
            <a:avLst>
              <a:gd name="adj" fmla="val 869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6" name="Shape 13"/>
          <p:cNvSpPr/>
          <p:nvPr/>
        </p:nvSpPr>
        <p:spPr>
          <a:xfrm>
            <a:off x="1051560" y="4892040"/>
            <a:ext cx="1005120" cy="593640"/>
          </a:xfrm>
          <a:prstGeom prst="roundRect">
            <a:avLst>
              <a:gd name="adj" fmla="val 12308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 14"/>
          <p:cNvSpPr/>
          <p:nvPr/>
        </p:nvSpPr>
        <p:spPr>
          <a:xfrm>
            <a:off x="1051560" y="489204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8D8D"/>
                </a:solidFill>
                <a:effectLst/>
                <a:uFillTx/>
                <a:latin typeface="Cantarell"/>
                <a:ea typeface="Consolas"/>
              </a:rPr>
              <a:t>{3} / {4}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5"/>
          <p:cNvSpPr/>
          <p:nvPr/>
        </p:nvSpPr>
        <p:spPr>
          <a:xfrm>
            <a:off x="2240280" y="4754880"/>
            <a:ext cx="3611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Exactly that many repeats of what came before 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6"/>
          <p:cNvSpPr/>
          <p:nvPr/>
        </p:nvSpPr>
        <p:spPr>
          <a:xfrm>
            <a:off x="6263640" y="4663440"/>
            <a:ext cx="5211360" cy="1050840"/>
          </a:xfrm>
          <a:prstGeom prst="roundRect">
            <a:avLst>
              <a:gd name="adj" fmla="val 869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0" name="Shape 17"/>
          <p:cNvSpPr/>
          <p:nvPr/>
        </p:nvSpPr>
        <p:spPr>
          <a:xfrm>
            <a:off x="6492240" y="4892040"/>
            <a:ext cx="1005120" cy="593640"/>
          </a:xfrm>
          <a:prstGeom prst="roundRect">
            <a:avLst>
              <a:gd name="adj" fmla="val 12308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 18"/>
          <p:cNvSpPr/>
          <p:nvPr/>
        </p:nvSpPr>
        <p:spPr>
          <a:xfrm>
            <a:off x="6492240" y="489204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onsolas"/>
              </a:rPr>
              <a:t>-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9"/>
          <p:cNvSpPr/>
          <p:nvPr/>
        </p:nvSpPr>
        <p:spPr>
          <a:xfrm>
            <a:off x="7680960" y="4754880"/>
            <a:ext cx="3611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literal character — matches an actual dash, nothing special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0"/>
          <p:cNvSpPr/>
          <p:nvPr/>
        </p:nvSpPr>
        <p:spPr>
          <a:xfrm>
            <a:off x="822960" y="6035040"/>
            <a:ext cx="10542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This pattern matches phone extensions like "123-4567" and captures "123" and "4567" separately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1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2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37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Groups and re.sub() — Extracting and Replacing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Parentheses in a pattern create capture groups — .groups() on a match gives you each captured piece separately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re.sub(pattern, replacement, text) finds every match and replaces it — exactly like find-and-replace, but pattern-based instead of exact-text-based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combination — match, capture, replace — is the foundation of most real-world text-cleaning code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match = re.search(r"(\d{3})-(\d{4})", "Ext: 123-4567")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match.group()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'123-4567'  — the whole match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match.group(1)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'123'       — first capture group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match.group(2)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'4567'      — second capture group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re.sub(r"\d", "*", "Call 0300-1234567")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# 'Call ****-*******'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Real-World Use: Validating and Extracting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well-formed regex is the standard way to validate whether input roughly matches an expected format, like an email address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re.fullmatch() requires the ENTIRE string to match, not just some part of it — exactly what validation needs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199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exact pattern — fullmatch for validation, findall/sub for extraction and cleanup — covers most real-world text-processing needs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3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2105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 4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import 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def is_valid_email(email):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pattern = r"[\w.]+@[\w]+\.[a-z]{2,}"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   return bool(re.fullmatch(pattern, email))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is_valid_email("ahmed@example.com")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True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is_valid_email("not-an-email")      </a:t>
            </a:r>
            <a:r>
              <a:rPr lang="en-US" sz="1250" b="0" u="none" strike="noStrike">
                <a:solidFill>
                  <a:srgbClr val="7C8A80"/>
                </a:solidFill>
                <a:effectLst/>
                <a:uFillTx/>
                <a:latin typeface="Cantarell"/>
                <a:ea typeface="Consolas"/>
              </a:rPr>
              <a:t>  # False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5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5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Regular Expressions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44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5"/>
          <p:cNvSpPr/>
          <p:nvPr/>
        </p:nvSpPr>
        <p:spPr>
          <a:xfrm>
            <a:off x="822960" y="24231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822960" y="24231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7"/>
          <p:cNvSpPr/>
          <p:nvPr/>
        </p:nvSpPr>
        <p:spPr>
          <a:xfrm>
            <a:off x="1435680" y="24231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regex that finds every number inside a sentence, using re.findall()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8"/>
          <p:cNvSpPr/>
          <p:nvPr/>
        </p:nvSpPr>
        <p:spPr>
          <a:xfrm>
            <a:off x="822960" y="330084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 9"/>
          <p:cNvSpPr/>
          <p:nvPr/>
        </p:nvSpPr>
        <p:spPr>
          <a:xfrm>
            <a:off x="822960" y="33008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0"/>
          <p:cNvSpPr/>
          <p:nvPr/>
        </p:nvSpPr>
        <p:spPr>
          <a:xfrm>
            <a:off x="1435680" y="330084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regex that validates a Pakistani-style phone number in the format 03XX-XXXXXXX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1"/>
          <p:cNvSpPr/>
          <p:nvPr/>
        </p:nvSpPr>
        <p:spPr>
          <a:xfrm>
            <a:off x="822960" y="417888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 12"/>
          <p:cNvSpPr/>
          <p:nvPr/>
        </p:nvSpPr>
        <p:spPr>
          <a:xfrm>
            <a:off x="822960" y="4178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3"/>
          <p:cNvSpPr/>
          <p:nvPr/>
        </p:nvSpPr>
        <p:spPr>
          <a:xfrm>
            <a:off x="1435680" y="417888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re.sub() to replace every vowel in a sentence with an asterisk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4"/>
          <p:cNvSpPr/>
          <p:nvPr/>
        </p:nvSpPr>
        <p:spPr>
          <a:xfrm>
            <a:off x="822960" y="5056560"/>
            <a:ext cx="383400" cy="38340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8" name="Text 15"/>
          <p:cNvSpPr/>
          <p:nvPr/>
        </p:nvSpPr>
        <p:spPr>
          <a:xfrm>
            <a:off x="822960" y="505656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6"/>
          <p:cNvSpPr/>
          <p:nvPr/>
        </p:nvSpPr>
        <p:spPr>
          <a:xfrm>
            <a:off x="1435680" y="5056560"/>
            <a:ext cx="9582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 capture group to extract just the domain name from an email address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3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4" name="Shape 2"/>
          <p:cNvSpPr/>
          <p:nvPr/>
        </p:nvSpPr>
        <p:spPr>
          <a:xfrm>
            <a:off x="559620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5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INDUSTRY-STYLE TASKS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Build the Things You’ll Actually Be Asked to Build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Not toy examples — lazy pipelines, safe resource handling, and pattern validation are everyday, real-world work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8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Comprehensions &amp; Generators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5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5"/>
          <p:cNvSpPr/>
          <p:nvPr/>
        </p:nvSpPr>
        <p:spPr>
          <a:xfrm>
            <a:off x="822960" y="24231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87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Shape 6"/>
          <p:cNvSpPr/>
          <p:nvPr/>
        </p:nvSpPr>
        <p:spPr>
          <a:xfrm>
            <a:off x="1371600" y="244152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 7"/>
          <p:cNvSpPr/>
          <p:nvPr/>
        </p:nvSpPr>
        <p:spPr>
          <a:xfrm>
            <a:off x="1371600" y="244152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8"/>
          <p:cNvSpPr/>
          <p:nvPr/>
        </p:nvSpPr>
        <p:spPr>
          <a:xfrm>
            <a:off x="1920240" y="242316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Given a list of product dictionaries, use a dict comprehension to build {name: price} for every product under 1000.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9"/>
          <p:cNvSpPr/>
          <p:nvPr/>
        </p:nvSpPr>
        <p:spPr>
          <a:xfrm>
            <a:off x="822960" y="359352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92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Shape 10"/>
          <p:cNvSpPr/>
          <p:nvPr/>
        </p:nvSpPr>
        <p:spPr>
          <a:xfrm>
            <a:off x="1371600" y="361188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 11"/>
          <p:cNvSpPr/>
          <p:nvPr/>
        </p:nvSpPr>
        <p:spPr>
          <a:xfrm>
            <a:off x="1371600" y="361188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2"/>
          <p:cNvSpPr/>
          <p:nvPr/>
        </p:nvSpPr>
        <p:spPr>
          <a:xfrm>
            <a:off x="1920240" y="359352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generator function batch(iterable, size) that yields successive chunks of a given size from a list.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3"/>
          <p:cNvSpPr/>
          <p:nvPr/>
        </p:nvSpPr>
        <p:spPr>
          <a:xfrm>
            <a:off x="822960" y="476388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97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Shape 14"/>
          <p:cNvSpPr/>
          <p:nvPr/>
        </p:nvSpPr>
        <p:spPr>
          <a:xfrm>
            <a:off x="1371600" y="478224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 15"/>
          <p:cNvSpPr/>
          <p:nvPr/>
        </p:nvSpPr>
        <p:spPr>
          <a:xfrm>
            <a:off x="1371600" y="478224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6"/>
          <p:cNvSpPr/>
          <p:nvPr/>
        </p:nvSpPr>
        <p:spPr>
          <a:xfrm>
            <a:off x="1920240" y="476388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Rewrite a for-loop you wrote in an earlier session as either a comprehension or a generator expression, whichever fits better.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0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map/filter/reduce &amp; Context Managers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8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5"/>
          <p:cNvSpPr/>
          <p:nvPr/>
        </p:nvSpPr>
        <p:spPr>
          <a:xfrm>
            <a:off x="822960" y="24231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10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Shape 6"/>
          <p:cNvSpPr/>
          <p:nvPr/>
        </p:nvSpPr>
        <p:spPr>
          <a:xfrm>
            <a:off x="1371600" y="244152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2" name="Text 7"/>
          <p:cNvSpPr/>
          <p:nvPr/>
        </p:nvSpPr>
        <p:spPr>
          <a:xfrm>
            <a:off x="1371600" y="244152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8"/>
          <p:cNvSpPr/>
          <p:nvPr/>
        </p:nvSpPr>
        <p:spPr>
          <a:xfrm>
            <a:off x="1920240" y="242316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reduce() to concatenate a list of strings into one, separated by commas, without using .join().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9"/>
          <p:cNvSpPr/>
          <p:nvPr/>
        </p:nvSpPr>
        <p:spPr>
          <a:xfrm>
            <a:off x="822960" y="359352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15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6" name="Shape 10"/>
          <p:cNvSpPr/>
          <p:nvPr/>
        </p:nvSpPr>
        <p:spPr>
          <a:xfrm>
            <a:off x="1371600" y="361188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 11"/>
          <p:cNvSpPr/>
          <p:nvPr/>
        </p:nvSpPr>
        <p:spPr>
          <a:xfrm>
            <a:off x="1371600" y="361188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2"/>
          <p:cNvSpPr/>
          <p:nvPr/>
        </p:nvSpPr>
        <p:spPr>
          <a:xfrm>
            <a:off x="1920240" y="359352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class-based context manager that opens a file, and automatically writes a "closed at [time]" log line on exit.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3"/>
          <p:cNvSpPr/>
          <p:nvPr/>
        </p:nvSpPr>
        <p:spPr>
          <a:xfrm>
            <a:off x="822960" y="476388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20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Shape 14"/>
          <p:cNvSpPr/>
          <p:nvPr/>
        </p:nvSpPr>
        <p:spPr>
          <a:xfrm>
            <a:off x="1371600" y="478224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2" name="Text 15"/>
          <p:cNvSpPr/>
          <p:nvPr/>
        </p:nvSpPr>
        <p:spPr>
          <a:xfrm>
            <a:off x="1371600" y="478224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6"/>
          <p:cNvSpPr/>
          <p:nvPr/>
        </p:nvSpPr>
        <p:spPr>
          <a:xfrm>
            <a:off x="1920240" y="476388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map() and filter() together to get the uppercase versions of every word longer than 3 letters in a sentence.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7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28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C: Regular Expressions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449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5"/>
          <p:cNvSpPr/>
          <p:nvPr/>
        </p:nvSpPr>
        <p:spPr>
          <a:xfrm>
            <a:off x="822960" y="242316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33" name="Image 1" descr="preencoded.png"/>
          <p:cNvPicPr/>
          <p:nvPr/>
        </p:nvPicPr>
        <p:blipFill>
          <a:blip r:embed="rId2"/>
          <a:stretch/>
        </p:blipFill>
        <p:spPr>
          <a:xfrm>
            <a:off x="887040" y="248724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Shape 6"/>
          <p:cNvSpPr/>
          <p:nvPr/>
        </p:nvSpPr>
        <p:spPr>
          <a:xfrm>
            <a:off x="1371600" y="244152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 7"/>
          <p:cNvSpPr/>
          <p:nvPr/>
        </p:nvSpPr>
        <p:spPr>
          <a:xfrm>
            <a:off x="1371600" y="244152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8"/>
          <p:cNvSpPr/>
          <p:nvPr/>
        </p:nvSpPr>
        <p:spPr>
          <a:xfrm>
            <a:off x="1920240" y="242316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function that extracts every hashtag (e.g. #python) from a block of social media text using re.findall().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9"/>
          <p:cNvSpPr/>
          <p:nvPr/>
        </p:nvSpPr>
        <p:spPr>
          <a:xfrm>
            <a:off x="822960" y="359352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38" name="Image 2" descr="preencoded.png"/>
          <p:cNvPicPr/>
          <p:nvPr/>
        </p:nvPicPr>
        <p:blipFill>
          <a:blip r:embed="rId3"/>
          <a:stretch/>
        </p:blipFill>
        <p:spPr>
          <a:xfrm>
            <a:off x="887040" y="365760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Shape 10"/>
          <p:cNvSpPr/>
          <p:nvPr/>
        </p:nvSpPr>
        <p:spPr>
          <a:xfrm>
            <a:off x="1371600" y="361188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0" name="Text 11"/>
          <p:cNvSpPr/>
          <p:nvPr/>
        </p:nvSpPr>
        <p:spPr>
          <a:xfrm>
            <a:off x="1371600" y="361188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2"/>
          <p:cNvSpPr/>
          <p:nvPr/>
        </p:nvSpPr>
        <p:spPr>
          <a:xfrm>
            <a:off x="1920240" y="359352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password_strength(password) function using regex to check for at least one digit, one uppercase letter, and a minimum length.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13"/>
          <p:cNvSpPr/>
          <p:nvPr/>
        </p:nvSpPr>
        <p:spPr>
          <a:xfrm>
            <a:off x="822960" y="4763880"/>
            <a:ext cx="401760" cy="401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43" name="Image 3" descr="preencoded.png"/>
          <p:cNvPicPr/>
          <p:nvPr/>
        </p:nvPicPr>
        <p:blipFill>
          <a:blip r:embed="rId4"/>
          <a:stretch/>
        </p:blipFill>
        <p:spPr>
          <a:xfrm>
            <a:off x="887040" y="4827960"/>
            <a:ext cx="282600" cy="28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Shape 14"/>
          <p:cNvSpPr/>
          <p:nvPr/>
        </p:nvSpPr>
        <p:spPr>
          <a:xfrm>
            <a:off x="1371600" y="4782240"/>
            <a:ext cx="401760" cy="365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5" name="Text 15"/>
          <p:cNvSpPr/>
          <p:nvPr/>
        </p:nvSpPr>
        <p:spPr>
          <a:xfrm>
            <a:off x="1371600" y="4782240"/>
            <a:ext cx="40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6"/>
          <p:cNvSpPr/>
          <p:nvPr/>
        </p:nvSpPr>
        <p:spPr>
          <a:xfrm>
            <a:off x="1920240" y="4763880"/>
            <a:ext cx="950904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re.sub() to normalize messy whitespace in a paragraph — collapse multiple spaces into exactly one.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0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1" name="Shape 2"/>
          <p:cNvSpPr/>
          <p:nvPr/>
        </p:nvSpPr>
        <p:spPr>
          <a:xfrm>
            <a:off x="559620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52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Put It All Together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Two projects combining comprehensions, generators, functional tools, context managers, and regex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10515600" y="5669280"/>
            <a:ext cx="3199680" cy="319968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5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1: Log File Analyzer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2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63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Generators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regex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context managers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generator function that reads a log file line by line, never loading the whole file into memory at once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regex to extract the timestamp, severity level, and message from each line, based on a consistent log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 context manager to time the entire analysis and guarantee the file is properly closed, even on error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Report the count of ERROR vs WARNING vs INFO lines using a dict comprehension over the results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0"/>
          <p:cNvSpPr/>
          <p:nvPr/>
        </p:nvSpPr>
        <p:spPr>
          <a:xfrm>
            <a:off x="10515600" y="5669280"/>
            <a:ext cx="3199680" cy="3199680"/>
          </a:xfrm>
          <a:prstGeom prst="roundRect">
            <a:avLst>
              <a:gd name="adj" fmla="val 11429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7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Mini Project 2: Sales Data Pipeline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30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3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74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Comprehensions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+ map/filter/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reduce, combined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Given a list of sale dictionaries, use a list comprehension to filter only sales above a certain amount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map() to apply a tax calculation across every remaining sale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reduce() to compute the total revenue in a single fold, without a manual loop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mirrors how real data-cleaning and reporting pipelines are structured before reaching for a library like pandas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7"/>
          <p:cNvSpPr/>
          <p:nvPr/>
        </p:nvSpPr>
        <p:spPr>
          <a:xfrm>
            <a:off x="45720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Advanced Python  ·  Session 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0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1" name="Shape 2"/>
          <p:cNvSpPr/>
          <p:nvPr/>
        </p:nvSpPr>
        <p:spPr>
          <a:xfrm>
            <a:off x="559620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K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82" name="Image 0" descr="preencoded.png"/>
          <p:cNvPicPr/>
          <p:nvPr/>
        </p:nvPicPr>
        <p:blipFill>
          <a:blip r:embed="rId1"/>
          <a:stretch/>
        </p:blipFill>
        <p:spPr>
          <a:xfrm>
            <a:off x="5742360" y="87768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3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Comprehensions, generators, functional tools, context managers, and regex are the difference between code that works and code that reads like a professional wrote it.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up: Git &amp; GitHub, in depth — branches, merging, pull requests, and resolving conflicts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LibreOffice/26.2.6.3$Linux_X86_64 LibreOffice_project/620$Build-3</Application>
  <AppVersion>15.0000</AppVersion>
  <Words>4851</Words>
  <Paragraphs>544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2026-08-15T02:59:21Z</dcterms:created>
  <dc:creator>PptxGenJS</dc:creator>
  <dc:description/>
  <dc:language>en-US</dc:language>
  <cp:lastModifiedBy/>
  <dcterms:modified xsi:type="dcterms:W3CDTF">2026-09-26T21:21:19Z</dcterms:modified>
  <cp:revision>14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Widescreen</vt:lpwstr>
  </property>
  <property fmtid="{D5CDD505-2E9C-101B-9397-08002B2CF9AE}" pid="4" name="Slides">
    <vt:i4>45</vt:i4>
  </property>
</Properties>
</file>