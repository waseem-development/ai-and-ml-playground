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59.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12.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35.xml" ContentType="application/vnd.openxmlformats-officedocument.presentationml.slide+xml"/>
  <Override PartName="/ppt/slides/slide80.xml" ContentType="application/vnd.openxmlformats-officedocument.presentationml.slide+xml"/>
  <Override PartName="/ppt/slides/slide64.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85.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49.xml" ContentType="application/vnd.openxmlformats-officedocument.presentationml.slide+xml"/>
  <Override PartName="/ppt/slides/slide29.xml" ContentType="application/vnd.openxmlformats-officedocument.presentationml.slide+xml"/>
  <Override PartName="/ppt/slides/slide61.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77.xml" ContentType="application/vnd.openxmlformats-officedocument.presentationml.slide+xml"/>
  <Override PartName="/ppt/slides/slide60.xml" ContentType="application/vnd.openxmlformats-officedocument.presentationml.slide+xml"/>
  <Override PartName="/ppt/slides/slide21.xml" ContentType="application/vnd.openxmlformats-officedocument.presentationml.slide+xml"/>
  <Override PartName="/ppt/slides/slide68.xml" ContentType="application/vnd.openxmlformats-officedocument.presentationml.slide+xml"/>
  <Override PartName="/ppt/slides/slide86.xml" ContentType="application/vnd.openxmlformats-officedocument.presentationml.slide+xml"/>
  <Override PartName="/ppt/slides/slide71.xml" ContentType="application/vnd.openxmlformats-officedocument.presentationml.slide+xml"/>
  <Override PartName="/ppt/slides/slide65.xml" ContentType="application/vnd.openxmlformats-officedocument.presentationml.slide+xml"/>
  <Override PartName="/ppt/slides/slide22.xml" ContentType="application/vnd.openxmlformats-officedocument.presentationml.slide+xml"/>
  <Override PartName="/ppt/slides/slide74.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76.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47.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57.xml" ContentType="application/vnd.openxmlformats-officedocument.presentationml.slide+xml"/>
  <Override PartName="/ppt/slides/slide20.xml" ContentType="application/vnd.openxmlformats-officedocument.presentationml.slide+xml"/>
  <Override PartName="/ppt/slides/slide83.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notesSlides/notesSlide77.xml" ContentType="application/vnd.openxmlformats-officedocument.presentationml.notesSlide+xml"/>
  <Override PartName="/ppt/notesSlides/notesSlide76.xml" ContentType="application/vnd.openxmlformats-officedocument.presentationml.notesSlide+xml"/>
  <Override PartName="/ppt/notesSlides/notesSlide4.xml" ContentType="application/vnd.openxmlformats-officedocument.presentationml.notesSlide+xml"/>
  <Override PartName="/ppt/notesSlides/notesSlide75.xml" ContentType="application/vnd.openxmlformats-officedocument.presentationml.notesSlide+xml"/>
  <Override PartName="/ppt/notesSlides/notesSlide74.xml" ContentType="application/vnd.openxmlformats-officedocument.presentationml.notesSlide+xml"/>
  <Override PartName="/ppt/notesSlides/notesSlide32.xml" ContentType="application/vnd.openxmlformats-officedocument.presentationml.notesSlide+xml"/>
  <Override PartName="/ppt/notesSlides/notesSlide78.xml" ContentType="application/vnd.openxmlformats-officedocument.presentationml.notesSlide+xml"/>
  <Override PartName="/ppt/notesSlides/notesSlide69.xml" ContentType="application/vnd.openxmlformats-officedocument.presentationml.notesSlide+xml"/>
  <Override PartName="/ppt/notesSlides/notesSlide30.xml" ContentType="application/vnd.openxmlformats-officedocument.presentationml.notesSlide+xml"/>
  <Override PartName="/ppt/notesSlides/notesSlide57.xml" ContentType="application/vnd.openxmlformats-officedocument.presentationml.notesSlide+xml"/>
  <Override PartName="/ppt/notesSlides/notesSlide38.xml" ContentType="application/vnd.openxmlformats-officedocument.presentationml.notesSlide+xml"/>
  <Override PartName="/ppt/notesSlides/notesSlide58.xml" ContentType="application/vnd.openxmlformats-officedocument.presentationml.notesSlide+xml"/>
  <Override PartName="/ppt/notesSlides/notesSlide22.xml" ContentType="application/vnd.openxmlformats-officedocument.presentationml.notesSlide+xml"/>
  <Override PartName="/ppt/notesSlides/notesSlide47.xml" ContentType="application/vnd.openxmlformats-officedocument.presentationml.notesSlide+xml"/>
  <Override PartName="/ppt/notesSlides/notesSlide21.xml" ContentType="application/vnd.openxmlformats-officedocument.presentationml.notesSlide+xml"/>
  <Override PartName="/ppt/notesSlides/notesSlide60.xml" ContentType="application/vnd.openxmlformats-officedocument.presentationml.notesSlide+xml"/>
  <Override PartName="/ppt/notesSlides/notesSlide87.xml" ContentType="application/vnd.openxmlformats-officedocument.presentationml.notesSlide+xml"/>
  <Override PartName="/ppt/notesSlides/notesSlide86.xml" ContentType="application/vnd.openxmlformats-officedocument.presentationml.notesSlide+xml"/>
  <Override PartName="/ppt/notesSlides/notesSlide85.xml" ContentType="application/vnd.openxmlformats-officedocument.presentationml.notesSlide+xml"/>
  <Override PartName="/ppt/notesSlides/notesSlide5.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37.xml" ContentType="application/vnd.openxmlformats-officedocument.presentationml.notesSlide+xml"/>
  <Override PartName="/ppt/notesSlides/notesSlide82.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84.xml" ContentType="application/vnd.openxmlformats-officedocument.presentationml.notesSlide+xml"/>
  <Override PartName="/ppt/notesSlides/notesSlide73.xml" ContentType="application/vnd.openxmlformats-officedocument.presentationml.notesSlide+xml"/>
  <Override PartName="/ppt/notesSlides/notesSlide31.xml" ContentType="application/vnd.openxmlformats-officedocument.presentationml.notesSlide+xml"/>
  <Override PartName="/ppt/notesSlides/notesSlide67.xml" ContentType="application/vnd.openxmlformats-officedocument.presentationml.notesSlide+xml"/>
  <Override PartName="/ppt/notesSlides/notesSlide79.xml" ContentType="application/vnd.openxmlformats-officedocument.presentationml.notesSlide+xml"/>
  <Override PartName="/ppt/notesSlides/notesSlide72.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81.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48.xml" ContentType="application/vnd.openxmlformats-officedocument.presentationml.notesSlide+xml"/>
  <Override PartName="/ppt/notesSlides/notesSlide23.xml" ContentType="application/vnd.openxmlformats-officedocument.presentationml.notesSlide+xml"/>
  <Override PartName="/ppt/notesSlides/notesSlide51.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80.xml" ContentType="application/vnd.openxmlformats-officedocument.presentationml.notesSlide+xml"/>
  <Override PartName="/ppt/notesSlides/notesSlide64.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24.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83.xml" ContentType="application/vnd.openxmlformats-officedocument.presentationml.notesSlide+xml"/>
  <Override PartName="/ppt/notesSlides/notesSlide50.xml" ContentType="application/vnd.openxmlformats-officedocument.presentationml.notesSlide+xml"/>
  <Override PartName="/ppt/notesSlides/notesSlide2.xml" ContentType="application/vnd.openxmlformats-officedocument.presentationml.notesSlide+xml"/>
  <Override PartName="/ppt/notesSlides/notesSlide52.xml" ContentType="application/vnd.openxmlformats-officedocument.presentationml.notesSlide+xml"/>
  <Override PartName="/ppt/notesSlides/notesSlide7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5.xml" ContentType="application/vnd.openxmlformats-officedocument.presentationml.notesSlide+xml"/>
  <Override PartName="/ppt/notesSlides/notesSlide70.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a:t>
            </a:r>
            <a:r>
              <a:rPr lang="en-US" sz="2000" b="0" u="none" strike="noStrike">
                <a:solidFill>
                  <a:srgbClr val="000000"/>
                </a:solidFill>
                <a:effectLst/>
                <a:uFillTx/>
                <a:latin typeface="Arial"/>
              </a:rPr>
              <a:t>ck </a:t>
            </a:r>
            <a:r>
              <a:rPr lang="en-US" sz="2000" b="0" u="none" strike="noStrike">
                <a:solidFill>
                  <a:srgbClr val="000000"/>
                </a:solidFill>
                <a:effectLst/>
                <a:uFillTx/>
                <a:latin typeface="Arial"/>
              </a:rPr>
              <a:t>to </a:t>
            </a:r>
            <a:r>
              <a:rPr lang="en-US" sz="2000" b="0" u="none" strike="noStrike">
                <a:solidFill>
                  <a:srgbClr val="000000"/>
                </a:solidFill>
                <a:effectLst/>
                <a:uFillTx/>
                <a:latin typeface="Arial"/>
              </a:rPr>
              <a:t>edi</a:t>
            </a:r>
            <a:r>
              <a:rPr lang="en-US" sz="2000" b="0" u="none" strike="noStrike">
                <a:solidFill>
                  <a:srgbClr val="000000"/>
                </a:solidFill>
                <a:effectLst/>
                <a:uFillTx/>
                <a:latin typeface="Arial"/>
              </a:rPr>
              <a:t>t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not</a:t>
            </a:r>
            <a:r>
              <a:rPr lang="en-US" sz="2000" b="0" u="none" strike="noStrike">
                <a:solidFill>
                  <a:srgbClr val="000000"/>
                </a:solidFill>
                <a:effectLst/>
                <a:uFillTx/>
                <a:latin typeface="Arial"/>
              </a:rPr>
              <a:t>es </a:t>
            </a:r>
            <a:r>
              <a:rPr lang="en-US" sz="2000" b="0" u="none" strike="noStrike">
                <a:solidFill>
                  <a:srgbClr val="000000"/>
                </a:solidFill>
                <a:effectLst/>
                <a:uFillTx/>
                <a:latin typeface="Arial"/>
              </a:rPr>
              <a:t>for</a:t>
            </a:r>
            <a:r>
              <a:rPr lang="en-US" sz="2000" b="0" u="none" strike="noStrike">
                <a:solidFill>
                  <a:srgbClr val="000000"/>
                </a:solidFill>
                <a:effectLst/>
                <a:uFillTx/>
                <a:latin typeface="Arial"/>
              </a:rPr>
              <a:t>ma</a:t>
            </a:r>
            <a:r>
              <a:rPr lang="en-US" sz="2000" b="0" u="none" strike="noStrike">
                <a:solidFill>
                  <a:srgbClr val="000000"/>
                </a:solidFill>
                <a:effectLst/>
                <a:uFillTx/>
                <a:latin typeface="Arial"/>
              </a:rPr>
              <a:t>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6233598-8CA3-4095-8229-D6658150497C}"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7" name="PlaceHolder 1"/>
          <p:cNvSpPr>
            <a:spLocks noGrp="1"/>
          </p:cNvSpPr>
          <p:nvPr>
            <p:ph type="sldImg"/>
          </p:nvPr>
        </p:nvSpPr>
        <p:spPr>
          <a:xfrm>
            <a:off x="685800" y="1143000"/>
            <a:ext cx="5486040" cy="3085920"/>
          </a:xfrm>
          <a:prstGeom prst="rect">
            <a:avLst/>
          </a:prstGeom>
          <a:ln w="0">
            <a:noFill/>
          </a:ln>
        </p:spPr>
      </p:sp>
      <p:sp>
        <p:nvSpPr>
          <p:cNvPr id="13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5C4C32-4556-4034-8DA7-C77379999EC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PlaceHolder 1"/>
          <p:cNvSpPr>
            <a:spLocks noGrp="1"/>
          </p:cNvSpPr>
          <p:nvPr>
            <p:ph type="sldImg"/>
          </p:nvPr>
        </p:nvSpPr>
        <p:spPr>
          <a:xfrm>
            <a:off x="685800" y="1143000"/>
            <a:ext cx="5486040" cy="3085920"/>
          </a:xfrm>
          <a:prstGeom prst="rect">
            <a:avLst/>
          </a:prstGeom>
          <a:ln w="0">
            <a:noFill/>
          </a:ln>
        </p:spPr>
      </p:sp>
      <p:sp>
        <p:nvSpPr>
          <p:cNvPr id="13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BA7C2E-172C-4CD5-9847-F63D241D172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3" name="PlaceHolder 1"/>
          <p:cNvSpPr>
            <a:spLocks noGrp="1"/>
          </p:cNvSpPr>
          <p:nvPr>
            <p:ph type="sldImg"/>
          </p:nvPr>
        </p:nvSpPr>
        <p:spPr>
          <a:xfrm>
            <a:off x="685800" y="1143000"/>
            <a:ext cx="5486040" cy="3085920"/>
          </a:xfrm>
          <a:prstGeom prst="rect">
            <a:avLst/>
          </a:prstGeom>
          <a:ln w="0">
            <a:noFill/>
          </a:ln>
        </p:spPr>
      </p:sp>
      <p:sp>
        <p:nvSpPr>
          <p:cNvPr id="13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EBA460-C651-4851-9F45-9AAFD839D0B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6" name="PlaceHolder 1"/>
          <p:cNvSpPr>
            <a:spLocks noGrp="1"/>
          </p:cNvSpPr>
          <p:nvPr>
            <p:ph type="sldImg"/>
          </p:nvPr>
        </p:nvSpPr>
        <p:spPr>
          <a:xfrm>
            <a:off x="685800" y="1143000"/>
            <a:ext cx="5486040" cy="3085920"/>
          </a:xfrm>
          <a:prstGeom prst="rect">
            <a:avLst/>
          </a:prstGeom>
          <a:ln w="0">
            <a:noFill/>
          </a:ln>
        </p:spPr>
      </p:sp>
      <p:sp>
        <p:nvSpPr>
          <p:cNvPr id="13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7E2418-E589-4DF4-AF13-8A7BF14143B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PlaceHolder 1"/>
          <p:cNvSpPr>
            <a:spLocks noGrp="1"/>
          </p:cNvSpPr>
          <p:nvPr>
            <p:ph type="sldImg"/>
          </p:nvPr>
        </p:nvSpPr>
        <p:spPr>
          <a:xfrm>
            <a:off x="685800" y="1143000"/>
            <a:ext cx="5486040" cy="3085920"/>
          </a:xfrm>
          <a:prstGeom prst="rect">
            <a:avLst/>
          </a:prstGeom>
          <a:ln w="0">
            <a:noFill/>
          </a:ln>
        </p:spPr>
      </p:sp>
      <p:sp>
        <p:nvSpPr>
          <p:cNvPr id="13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AEF3AF-025E-45F7-BC70-42376076CF7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2" name="PlaceHolder 1"/>
          <p:cNvSpPr>
            <a:spLocks noGrp="1"/>
          </p:cNvSpPr>
          <p:nvPr>
            <p:ph type="sldImg"/>
          </p:nvPr>
        </p:nvSpPr>
        <p:spPr>
          <a:xfrm>
            <a:off x="685800" y="1143000"/>
            <a:ext cx="5486040" cy="3085920"/>
          </a:xfrm>
          <a:prstGeom prst="rect">
            <a:avLst/>
          </a:prstGeom>
          <a:ln w="0">
            <a:noFill/>
          </a:ln>
        </p:spPr>
      </p:sp>
      <p:sp>
        <p:nvSpPr>
          <p:cNvPr id="13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438BB6-13B5-4370-B0CE-793E2629D63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PlaceHolder 1"/>
          <p:cNvSpPr>
            <a:spLocks noGrp="1"/>
          </p:cNvSpPr>
          <p:nvPr>
            <p:ph type="sldImg"/>
          </p:nvPr>
        </p:nvSpPr>
        <p:spPr>
          <a:xfrm>
            <a:off x="685800" y="1143000"/>
            <a:ext cx="5486040" cy="3085920"/>
          </a:xfrm>
          <a:prstGeom prst="rect">
            <a:avLst/>
          </a:prstGeom>
          <a:ln w="0">
            <a:noFill/>
          </a:ln>
        </p:spPr>
      </p:sp>
      <p:sp>
        <p:nvSpPr>
          <p:cNvPr id="13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784BC8-F2D5-487D-ADFA-4F0F3E932E0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8" name="PlaceHolder 1"/>
          <p:cNvSpPr>
            <a:spLocks noGrp="1"/>
          </p:cNvSpPr>
          <p:nvPr>
            <p:ph type="sldImg"/>
          </p:nvPr>
        </p:nvSpPr>
        <p:spPr>
          <a:xfrm>
            <a:off x="685800" y="1143000"/>
            <a:ext cx="5486040" cy="3085920"/>
          </a:xfrm>
          <a:prstGeom prst="rect">
            <a:avLst/>
          </a:prstGeom>
          <a:ln w="0">
            <a:noFill/>
          </a:ln>
        </p:spPr>
      </p:sp>
      <p:sp>
        <p:nvSpPr>
          <p:cNvPr id="13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0"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9EFF38-9149-4248-8B76-5F27626807F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1" name="PlaceHolder 1"/>
          <p:cNvSpPr>
            <a:spLocks noGrp="1"/>
          </p:cNvSpPr>
          <p:nvPr>
            <p:ph type="sldImg"/>
          </p:nvPr>
        </p:nvSpPr>
        <p:spPr>
          <a:xfrm>
            <a:off x="685800" y="1143000"/>
            <a:ext cx="5486040" cy="3085920"/>
          </a:xfrm>
          <a:prstGeom prst="rect">
            <a:avLst/>
          </a:prstGeom>
          <a:ln w="0">
            <a:noFill/>
          </a:ln>
        </p:spPr>
      </p:sp>
      <p:sp>
        <p:nvSpPr>
          <p:cNvPr id="13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3"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2A36AE-D84F-47BD-9253-06B8A46AFA6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4" name="PlaceHolder 1"/>
          <p:cNvSpPr>
            <a:spLocks noGrp="1"/>
          </p:cNvSpPr>
          <p:nvPr>
            <p:ph type="sldImg"/>
          </p:nvPr>
        </p:nvSpPr>
        <p:spPr>
          <a:xfrm>
            <a:off x="685800" y="1143000"/>
            <a:ext cx="5486040" cy="3085920"/>
          </a:xfrm>
          <a:prstGeom prst="rect">
            <a:avLst/>
          </a:prstGeom>
          <a:ln w="0">
            <a:noFill/>
          </a:ln>
        </p:spPr>
      </p:sp>
      <p:sp>
        <p:nvSpPr>
          <p:cNvPr id="13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E9432A-CB31-41F4-A836-6D61DF36DB3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PlaceHolder 1"/>
          <p:cNvSpPr>
            <a:spLocks noGrp="1"/>
          </p:cNvSpPr>
          <p:nvPr>
            <p:ph type="sldImg"/>
          </p:nvPr>
        </p:nvSpPr>
        <p:spPr>
          <a:xfrm>
            <a:off x="685800" y="1143000"/>
            <a:ext cx="5486040" cy="3085920"/>
          </a:xfrm>
          <a:prstGeom prst="rect">
            <a:avLst/>
          </a:prstGeom>
          <a:ln w="0">
            <a:noFill/>
          </a:ln>
        </p:spPr>
      </p:sp>
      <p:sp>
        <p:nvSpPr>
          <p:cNvPr id="13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9"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C9BE29-51E4-43E3-841B-9266834F03A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0" name="PlaceHolder 1"/>
          <p:cNvSpPr>
            <a:spLocks noGrp="1"/>
          </p:cNvSpPr>
          <p:nvPr>
            <p:ph type="sldImg"/>
          </p:nvPr>
        </p:nvSpPr>
        <p:spPr>
          <a:xfrm>
            <a:off x="685800" y="1143000"/>
            <a:ext cx="5486040" cy="3085920"/>
          </a:xfrm>
          <a:prstGeom prst="rect">
            <a:avLst/>
          </a:prstGeom>
          <a:ln w="0">
            <a:noFill/>
          </a:ln>
        </p:spPr>
      </p:sp>
      <p:sp>
        <p:nvSpPr>
          <p:cNvPr id="13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2"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17C042-981C-4252-AD13-9529A21283A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3" name="PlaceHolder 1"/>
          <p:cNvSpPr>
            <a:spLocks noGrp="1"/>
          </p:cNvSpPr>
          <p:nvPr>
            <p:ph type="sldImg"/>
          </p:nvPr>
        </p:nvSpPr>
        <p:spPr>
          <a:xfrm>
            <a:off x="685800" y="1143000"/>
            <a:ext cx="5486040" cy="3085920"/>
          </a:xfrm>
          <a:prstGeom prst="rect">
            <a:avLst/>
          </a:prstGeom>
          <a:ln w="0">
            <a:noFill/>
          </a:ln>
        </p:spPr>
      </p:sp>
      <p:sp>
        <p:nvSpPr>
          <p:cNvPr id="13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5"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48A919-43A0-4966-A968-365C910C907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PlaceHolder 1"/>
          <p:cNvSpPr>
            <a:spLocks noGrp="1"/>
          </p:cNvSpPr>
          <p:nvPr>
            <p:ph type="sldImg"/>
          </p:nvPr>
        </p:nvSpPr>
        <p:spPr>
          <a:xfrm>
            <a:off x="685800" y="1143000"/>
            <a:ext cx="5486040" cy="3085920"/>
          </a:xfrm>
          <a:prstGeom prst="rect">
            <a:avLst/>
          </a:prstGeom>
          <a:ln w="0">
            <a:noFill/>
          </a:ln>
        </p:spPr>
      </p:sp>
      <p:sp>
        <p:nvSpPr>
          <p:cNvPr id="13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8"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0ED9AC-3ACA-40EE-B56A-BFB2E1CFB96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9" name="PlaceHolder 1"/>
          <p:cNvSpPr>
            <a:spLocks noGrp="1"/>
          </p:cNvSpPr>
          <p:nvPr>
            <p:ph type="sldImg"/>
          </p:nvPr>
        </p:nvSpPr>
        <p:spPr>
          <a:xfrm>
            <a:off x="685800" y="1143000"/>
            <a:ext cx="5486040" cy="3085920"/>
          </a:xfrm>
          <a:prstGeom prst="rect">
            <a:avLst/>
          </a:prstGeom>
          <a:ln w="0">
            <a:noFill/>
          </a:ln>
        </p:spPr>
      </p:sp>
      <p:sp>
        <p:nvSpPr>
          <p:cNvPr id="13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51"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628588-471B-4234-917A-8EB29EF4DA9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2" name="PlaceHolder 1"/>
          <p:cNvSpPr>
            <a:spLocks noGrp="1"/>
          </p:cNvSpPr>
          <p:nvPr>
            <p:ph type="sldImg"/>
          </p:nvPr>
        </p:nvSpPr>
        <p:spPr>
          <a:xfrm>
            <a:off x="685800" y="1143000"/>
            <a:ext cx="5486040" cy="3085920"/>
          </a:xfrm>
          <a:prstGeom prst="rect">
            <a:avLst/>
          </a:prstGeom>
          <a:ln w="0">
            <a:noFill/>
          </a:ln>
        </p:spPr>
      </p:sp>
      <p:sp>
        <p:nvSpPr>
          <p:cNvPr id="13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54"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923823B-58D1-4DB4-9147-0C485A24E6C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5" name="PlaceHolder 1"/>
          <p:cNvSpPr>
            <a:spLocks noGrp="1"/>
          </p:cNvSpPr>
          <p:nvPr>
            <p:ph type="sldImg"/>
          </p:nvPr>
        </p:nvSpPr>
        <p:spPr>
          <a:xfrm>
            <a:off x="685800" y="1143000"/>
            <a:ext cx="5486040" cy="3085920"/>
          </a:xfrm>
          <a:prstGeom prst="rect">
            <a:avLst/>
          </a:prstGeom>
          <a:ln w="0">
            <a:noFill/>
          </a:ln>
        </p:spPr>
      </p:sp>
      <p:sp>
        <p:nvSpPr>
          <p:cNvPr id="13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57"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9488105-26EB-464F-AE4E-4BBF56C99F8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PlaceHolder 1"/>
          <p:cNvSpPr>
            <a:spLocks noGrp="1"/>
          </p:cNvSpPr>
          <p:nvPr>
            <p:ph type="sldImg"/>
          </p:nvPr>
        </p:nvSpPr>
        <p:spPr>
          <a:xfrm>
            <a:off x="685800" y="1143000"/>
            <a:ext cx="5486040" cy="3085920"/>
          </a:xfrm>
          <a:prstGeom prst="rect">
            <a:avLst/>
          </a:prstGeom>
          <a:ln w="0">
            <a:noFill/>
          </a:ln>
        </p:spPr>
      </p:sp>
      <p:sp>
        <p:nvSpPr>
          <p:cNvPr id="13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0"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909797-2E25-44E5-9287-81041DC6554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1" name="PlaceHolder 1"/>
          <p:cNvSpPr>
            <a:spLocks noGrp="1"/>
          </p:cNvSpPr>
          <p:nvPr>
            <p:ph type="sldImg"/>
          </p:nvPr>
        </p:nvSpPr>
        <p:spPr>
          <a:xfrm>
            <a:off x="685800" y="1143000"/>
            <a:ext cx="5486040" cy="3085920"/>
          </a:xfrm>
          <a:prstGeom prst="rect">
            <a:avLst/>
          </a:prstGeom>
          <a:ln w="0">
            <a:noFill/>
          </a:ln>
        </p:spPr>
      </p:sp>
      <p:sp>
        <p:nvSpPr>
          <p:cNvPr id="13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3"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353E3D-AB57-4C5B-9068-42431FF6A07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PlaceHolder 1"/>
          <p:cNvSpPr>
            <a:spLocks noGrp="1"/>
          </p:cNvSpPr>
          <p:nvPr>
            <p:ph type="sldImg"/>
          </p:nvPr>
        </p:nvSpPr>
        <p:spPr>
          <a:xfrm>
            <a:off x="685800" y="1143000"/>
            <a:ext cx="5486040" cy="3085920"/>
          </a:xfrm>
          <a:prstGeom prst="rect">
            <a:avLst/>
          </a:prstGeom>
          <a:ln w="0">
            <a:noFill/>
          </a:ln>
        </p:spPr>
      </p:sp>
      <p:sp>
        <p:nvSpPr>
          <p:cNvPr id="13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6"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236462-476F-4B55-9BA1-BA289561F07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7" name="PlaceHolder 1"/>
          <p:cNvSpPr>
            <a:spLocks noGrp="1"/>
          </p:cNvSpPr>
          <p:nvPr>
            <p:ph type="sldImg"/>
          </p:nvPr>
        </p:nvSpPr>
        <p:spPr>
          <a:xfrm>
            <a:off x="685800" y="1143000"/>
            <a:ext cx="5486040" cy="3085920"/>
          </a:xfrm>
          <a:prstGeom prst="rect">
            <a:avLst/>
          </a:prstGeom>
          <a:ln w="0">
            <a:noFill/>
          </a:ln>
        </p:spPr>
      </p:sp>
      <p:sp>
        <p:nvSpPr>
          <p:cNvPr id="13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9"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DD0D908-DEB0-47A1-BE26-B41001AF994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0" name="PlaceHolder 1"/>
          <p:cNvSpPr>
            <a:spLocks noGrp="1"/>
          </p:cNvSpPr>
          <p:nvPr>
            <p:ph type="sldImg"/>
          </p:nvPr>
        </p:nvSpPr>
        <p:spPr>
          <a:xfrm>
            <a:off x="685800" y="1143000"/>
            <a:ext cx="5486040" cy="3085920"/>
          </a:xfrm>
          <a:prstGeom prst="rect">
            <a:avLst/>
          </a:prstGeom>
          <a:ln w="0">
            <a:noFill/>
          </a:ln>
        </p:spPr>
      </p:sp>
      <p:sp>
        <p:nvSpPr>
          <p:cNvPr id="13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72"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7785BA-3B2A-4ED6-8968-2B7423AB72E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3" name="PlaceHolder 1"/>
          <p:cNvSpPr>
            <a:spLocks noGrp="1"/>
          </p:cNvSpPr>
          <p:nvPr>
            <p:ph type="sldImg"/>
          </p:nvPr>
        </p:nvSpPr>
        <p:spPr>
          <a:xfrm>
            <a:off x="685800" y="1143000"/>
            <a:ext cx="5486040" cy="3085920"/>
          </a:xfrm>
          <a:prstGeom prst="rect">
            <a:avLst/>
          </a:prstGeom>
          <a:ln w="0">
            <a:noFill/>
          </a:ln>
        </p:spPr>
      </p:sp>
      <p:sp>
        <p:nvSpPr>
          <p:cNvPr id="13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75"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39CB5F-F690-4719-9270-E3EA4F563D2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6" name="PlaceHolder 1"/>
          <p:cNvSpPr>
            <a:spLocks noGrp="1"/>
          </p:cNvSpPr>
          <p:nvPr>
            <p:ph type="sldImg"/>
          </p:nvPr>
        </p:nvSpPr>
        <p:spPr>
          <a:xfrm>
            <a:off x="685800" y="1143000"/>
            <a:ext cx="5486040" cy="3085920"/>
          </a:xfrm>
          <a:prstGeom prst="rect">
            <a:avLst/>
          </a:prstGeom>
          <a:ln w="0">
            <a:noFill/>
          </a:ln>
        </p:spPr>
      </p:sp>
      <p:sp>
        <p:nvSpPr>
          <p:cNvPr id="13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78"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438E73-21F8-4D06-A309-1988CAB6284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9" name="PlaceHolder 1"/>
          <p:cNvSpPr>
            <a:spLocks noGrp="1"/>
          </p:cNvSpPr>
          <p:nvPr>
            <p:ph type="sldImg"/>
          </p:nvPr>
        </p:nvSpPr>
        <p:spPr>
          <a:xfrm>
            <a:off x="685800" y="1143000"/>
            <a:ext cx="5486040" cy="3085920"/>
          </a:xfrm>
          <a:prstGeom prst="rect">
            <a:avLst/>
          </a:prstGeom>
          <a:ln w="0">
            <a:noFill/>
          </a:ln>
        </p:spPr>
      </p:sp>
      <p:sp>
        <p:nvSpPr>
          <p:cNvPr id="13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81"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ADF7BA-9267-4F16-8EB0-A199757FABB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2" name="PlaceHolder 1"/>
          <p:cNvSpPr>
            <a:spLocks noGrp="1"/>
          </p:cNvSpPr>
          <p:nvPr>
            <p:ph type="sldImg"/>
          </p:nvPr>
        </p:nvSpPr>
        <p:spPr>
          <a:xfrm>
            <a:off x="685800" y="1143000"/>
            <a:ext cx="5486040" cy="3085920"/>
          </a:xfrm>
          <a:prstGeom prst="rect">
            <a:avLst/>
          </a:prstGeom>
          <a:ln w="0">
            <a:noFill/>
          </a:ln>
        </p:spPr>
      </p:sp>
      <p:sp>
        <p:nvSpPr>
          <p:cNvPr id="13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84"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43B6A6-2A19-4267-B2B4-DB1E07BA194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5" name="PlaceHolder 1"/>
          <p:cNvSpPr>
            <a:spLocks noGrp="1"/>
          </p:cNvSpPr>
          <p:nvPr>
            <p:ph type="sldImg"/>
          </p:nvPr>
        </p:nvSpPr>
        <p:spPr>
          <a:xfrm>
            <a:off x="685800" y="1143000"/>
            <a:ext cx="5486040" cy="3085920"/>
          </a:xfrm>
          <a:prstGeom prst="rect">
            <a:avLst/>
          </a:prstGeom>
          <a:ln w="0">
            <a:noFill/>
          </a:ln>
        </p:spPr>
      </p:sp>
      <p:sp>
        <p:nvSpPr>
          <p:cNvPr id="13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87"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FDA117-CA27-41B6-98AF-4DD8BE438A5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8" name="PlaceHolder 1"/>
          <p:cNvSpPr>
            <a:spLocks noGrp="1"/>
          </p:cNvSpPr>
          <p:nvPr>
            <p:ph type="sldImg"/>
          </p:nvPr>
        </p:nvSpPr>
        <p:spPr>
          <a:xfrm>
            <a:off x="685800" y="1143000"/>
            <a:ext cx="5486040" cy="3085920"/>
          </a:xfrm>
          <a:prstGeom prst="rect">
            <a:avLst/>
          </a:prstGeom>
          <a:ln w="0">
            <a:noFill/>
          </a:ln>
        </p:spPr>
      </p:sp>
      <p:sp>
        <p:nvSpPr>
          <p:cNvPr id="13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90"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AE2E8CD-3073-4259-BA74-26185D7F502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1" name="PlaceHolder 1"/>
          <p:cNvSpPr>
            <a:spLocks noGrp="1"/>
          </p:cNvSpPr>
          <p:nvPr>
            <p:ph type="sldImg"/>
          </p:nvPr>
        </p:nvSpPr>
        <p:spPr>
          <a:xfrm>
            <a:off x="685800" y="1143000"/>
            <a:ext cx="5486040" cy="3085920"/>
          </a:xfrm>
          <a:prstGeom prst="rect">
            <a:avLst/>
          </a:prstGeom>
          <a:ln w="0">
            <a:noFill/>
          </a:ln>
        </p:spPr>
      </p:sp>
      <p:sp>
        <p:nvSpPr>
          <p:cNvPr id="13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93"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657984-2B94-4AA5-8817-E35E629B71A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4" name="PlaceHolder 1"/>
          <p:cNvSpPr>
            <a:spLocks noGrp="1"/>
          </p:cNvSpPr>
          <p:nvPr>
            <p:ph type="sldImg"/>
          </p:nvPr>
        </p:nvSpPr>
        <p:spPr>
          <a:xfrm>
            <a:off x="685800" y="1143000"/>
            <a:ext cx="5486040" cy="3085920"/>
          </a:xfrm>
          <a:prstGeom prst="rect">
            <a:avLst/>
          </a:prstGeom>
          <a:ln w="0">
            <a:noFill/>
          </a:ln>
        </p:spPr>
      </p:sp>
      <p:sp>
        <p:nvSpPr>
          <p:cNvPr id="13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96"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2BF1AE-A37D-46BB-92F4-1FB1A9E6856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7" name="PlaceHolder 1"/>
          <p:cNvSpPr>
            <a:spLocks noGrp="1"/>
          </p:cNvSpPr>
          <p:nvPr>
            <p:ph type="sldImg"/>
          </p:nvPr>
        </p:nvSpPr>
        <p:spPr>
          <a:xfrm>
            <a:off x="685800" y="1143000"/>
            <a:ext cx="5486040" cy="3085920"/>
          </a:xfrm>
          <a:prstGeom prst="rect">
            <a:avLst/>
          </a:prstGeom>
          <a:ln w="0">
            <a:noFill/>
          </a:ln>
        </p:spPr>
      </p:sp>
      <p:sp>
        <p:nvSpPr>
          <p:cNvPr id="13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99"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3A5B77-288D-4F34-A628-EAD51850621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0" name="PlaceHolder 1"/>
          <p:cNvSpPr>
            <a:spLocks noGrp="1"/>
          </p:cNvSpPr>
          <p:nvPr>
            <p:ph type="sldImg"/>
          </p:nvPr>
        </p:nvSpPr>
        <p:spPr>
          <a:xfrm>
            <a:off x="685800" y="1143000"/>
            <a:ext cx="5486040" cy="3085920"/>
          </a:xfrm>
          <a:prstGeom prst="rect">
            <a:avLst/>
          </a:prstGeom>
          <a:ln w="0">
            <a:noFill/>
          </a:ln>
        </p:spPr>
      </p:sp>
      <p:sp>
        <p:nvSpPr>
          <p:cNvPr id="14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02"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3EE5EF-9695-4780-B8DE-00776B48039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3" name="PlaceHolder 1"/>
          <p:cNvSpPr>
            <a:spLocks noGrp="1"/>
          </p:cNvSpPr>
          <p:nvPr>
            <p:ph type="sldImg"/>
          </p:nvPr>
        </p:nvSpPr>
        <p:spPr>
          <a:xfrm>
            <a:off x="685800" y="1143000"/>
            <a:ext cx="5486040" cy="3085920"/>
          </a:xfrm>
          <a:prstGeom prst="rect">
            <a:avLst/>
          </a:prstGeom>
          <a:ln w="0">
            <a:noFill/>
          </a:ln>
        </p:spPr>
      </p:sp>
      <p:sp>
        <p:nvSpPr>
          <p:cNvPr id="14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05"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870F5A-55BA-4811-9E9E-A5BA14A1806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6" name="PlaceHolder 1"/>
          <p:cNvSpPr>
            <a:spLocks noGrp="1"/>
          </p:cNvSpPr>
          <p:nvPr>
            <p:ph type="sldImg"/>
          </p:nvPr>
        </p:nvSpPr>
        <p:spPr>
          <a:xfrm>
            <a:off x="685800" y="1143000"/>
            <a:ext cx="5486040" cy="3085920"/>
          </a:xfrm>
          <a:prstGeom prst="rect">
            <a:avLst/>
          </a:prstGeom>
          <a:ln w="0">
            <a:noFill/>
          </a:ln>
        </p:spPr>
      </p:sp>
      <p:sp>
        <p:nvSpPr>
          <p:cNvPr id="14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08"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75F7BF-B05A-44E5-BDA2-967EAE0FB17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9" name="PlaceHolder 1"/>
          <p:cNvSpPr>
            <a:spLocks noGrp="1"/>
          </p:cNvSpPr>
          <p:nvPr>
            <p:ph type="sldImg"/>
          </p:nvPr>
        </p:nvSpPr>
        <p:spPr>
          <a:xfrm>
            <a:off x="685800" y="1143000"/>
            <a:ext cx="5486040" cy="3085920"/>
          </a:xfrm>
          <a:prstGeom prst="rect">
            <a:avLst/>
          </a:prstGeom>
          <a:ln w="0">
            <a:noFill/>
          </a:ln>
        </p:spPr>
      </p:sp>
      <p:sp>
        <p:nvSpPr>
          <p:cNvPr id="14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11"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7F9DED-C286-4799-BE8B-924F5DD2D4F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2" name="PlaceHolder 1"/>
          <p:cNvSpPr>
            <a:spLocks noGrp="1"/>
          </p:cNvSpPr>
          <p:nvPr>
            <p:ph type="sldImg"/>
          </p:nvPr>
        </p:nvSpPr>
        <p:spPr>
          <a:xfrm>
            <a:off x="685800" y="1143000"/>
            <a:ext cx="5486040" cy="3085920"/>
          </a:xfrm>
          <a:prstGeom prst="rect">
            <a:avLst/>
          </a:prstGeom>
          <a:ln w="0">
            <a:noFill/>
          </a:ln>
        </p:spPr>
      </p:sp>
      <p:sp>
        <p:nvSpPr>
          <p:cNvPr id="14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14"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F3254-8DCF-4B4C-8B77-8100F75744F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5" name="PlaceHolder 1"/>
          <p:cNvSpPr>
            <a:spLocks noGrp="1"/>
          </p:cNvSpPr>
          <p:nvPr>
            <p:ph type="sldImg"/>
          </p:nvPr>
        </p:nvSpPr>
        <p:spPr>
          <a:xfrm>
            <a:off x="685800" y="1143000"/>
            <a:ext cx="5486040" cy="3085920"/>
          </a:xfrm>
          <a:prstGeom prst="rect">
            <a:avLst/>
          </a:prstGeom>
          <a:ln w="0">
            <a:noFill/>
          </a:ln>
        </p:spPr>
      </p:sp>
      <p:sp>
        <p:nvSpPr>
          <p:cNvPr id="14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17"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6DE19A-4510-49F4-8DD0-F892B97D9A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8" name="PlaceHolder 1"/>
          <p:cNvSpPr>
            <a:spLocks noGrp="1"/>
          </p:cNvSpPr>
          <p:nvPr>
            <p:ph type="sldImg"/>
          </p:nvPr>
        </p:nvSpPr>
        <p:spPr>
          <a:xfrm>
            <a:off x="685800" y="1143000"/>
            <a:ext cx="5486040" cy="3085920"/>
          </a:xfrm>
          <a:prstGeom prst="rect">
            <a:avLst/>
          </a:prstGeom>
          <a:ln w="0">
            <a:noFill/>
          </a:ln>
        </p:spPr>
      </p:sp>
      <p:sp>
        <p:nvSpPr>
          <p:cNvPr id="14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20"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0B361C-CC3A-4817-BC30-85C09A07295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1" name="PlaceHolder 1"/>
          <p:cNvSpPr>
            <a:spLocks noGrp="1"/>
          </p:cNvSpPr>
          <p:nvPr>
            <p:ph type="sldImg"/>
          </p:nvPr>
        </p:nvSpPr>
        <p:spPr>
          <a:xfrm>
            <a:off x="685800" y="1143000"/>
            <a:ext cx="5486040" cy="3085920"/>
          </a:xfrm>
          <a:prstGeom prst="rect">
            <a:avLst/>
          </a:prstGeom>
          <a:ln w="0">
            <a:noFill/>
          </a:ln>
        </p:spPr>
      </p:sp>
      <p:sp>
        <p:nvSpPr>
          <p:cNvPr id="14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23"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8F01B3-7D84-4A24-A01A-D3EAFEB3D6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4" name="PlaceHolder 1"/>
          <p:cNvSpPr>
            <a:spLocks noGrp="1"/>
          </p:cNvSpPr>
          <p:nvPr>
            <p:ph type="sldImg"/>
          </p:nvPr>
        </p:nvSpPr>
        <p:spPr>
          <a:xfrm>
            <a:off x="685800" y="1143000"/>
            <a:ext cx="5486040" cy="3085920"/>
          </a:xfrm>
          <a:prstGeom prst="rect">
            <a:avLst/>
          </a:prstGeom>
          <a:ln w="0">
            <a:noFill/>
          </a:ln>
        </p:spPr>
      </p:sp>
      <p:sp>
        <p:nvSpPr>
          <p:cNvPr id="14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26"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DB9359-24C5-4DC9-B15A-EF341566E6A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7" name="PlaceHolder 1"/>
          <p:cNvSpPr>
            <a:spLocks noGrp="1"/>
          </p:cNvSpPr>
          <p:nvPr>
            <p:ph type="sldImg"/>
          </p:nvPr>
        </p:nvSpPr>
        <p:spPr>
          <a:xfrm>
            <a:off x="685800" y="1143000"/>
            <a:ext cx="5486040" cy="3085920"/>
          </a:xfrm>
          <a:prstGeom prst="rect">
            <a:avLst/>
          </a:prstGeom>
          <a:ln w="0">
            <a:noFill/>
          </a:ln>
        </p:spPr>
      </p:sp>
      <p:sp>
        <p:nvSpPr>
          <p:cNvPr id="14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29"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D805F1-968C-4193-9B69-C46F79809D9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0" name="PlaceHolder 1"/>
          <p:cNvSpPr>
            <a:spLocks noGrp="1"/>
          </p:cNvSpPr>
          <p:nvPr>
            <p:ph type="sldImg"/>
          </p:nvPr>
        </p:nvSpPr>
        <p:spPr>
          <a:xfrm>
            <a:off x="685800" y="1143000"/>
            <a:ext cx="5486040" cy="3085920"/>
          </a:xfrm>
          <a:prstGeom prst="rect">
            <a:avLst/>
          </a:prstGeom>
          <a:ln w="0">
            <a:noFill/>
          </a:ln>
        </p:spPr>
      </p:sp>
      <p:sp>
        <p:nvSpPr>
          <p:cNvPr id="14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32"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77AA863-D217-4051-9319-C15A00D8628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3" name="PlaceHolder 1"/>
          <p:cNvSpPr>
            <a:spLocks noGrp="1"/>
          </p:cNvSpPr>
          <p:nvPr>
            <p:ph type="sldImg"/>
          </p:nvPr>
        </p:nvSpPr>
        <p:spPr>
          <a:xfrm>
            <a:off x="685800" y="1143000"/>
            <a:ext cx="5486040" cy="3085920"/>
          </a:xfrm>
          <a:prstGeom prst="rect">
            <a:avLst/>
          </a:prstGeom>
          <a:ln w="0">
            <a:noFill/>
          </a:ln>
        </p:spPr>
      </p:sp>
      <p:sp>
        <p:nvSpPr>
          <p:cNvPr id="14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35"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9229B0-5948-4FDD-9803-14A0B104F4C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6" name="PlaceHolder 1"/>
          <p:cNvSpPr>
            <a:spLocks noGrp="1"/>
          </p:cNvSpPr>
          <p:nvPr>
            <p:ph type="sldImg"/>
          </p:nvPr>
        </p:nvSpPr>
        <p:spPr>
          <a:xfrm>
            <a:off x="685800" y="1143000"/>
            <a:ext cx="5486040" cy="3085920"/>
          </a:xfrm>
          <a:prstGeom prst="rect">
            <a:avLst/>
          </a:prstGeom>
          <a:ln w="0">
            <a:noFill/>
          </a:ln>
        </p:spPr>
      </p:sp>
      <p:sp>
        <p:nvSpPr>
          <p:cNvPr id="14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38"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BE9A0FE-3F70-4DE2-B1B3-1A30D36A0D7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9" name="PlaceHolder 1"/>
          <p:cNvSpPr>
            <a:spLocks noGrp="1"/>
          </p:cNvSpPr>
          <p:nvPr>
            <p:ph type="sldImg"/>
          </p:nvPr>
        </p:nvSpPr>
        <p:spPr>
          <a:xfrm>
            <a:off x="685800" y="1143000"/>
            <a:ext cx="5486040" cy="3085920"/>
          </a:xfrm>
          <a:prstGeom prst="rect">
            <a:avLst/>
          </a:prstGeom>
          <a:ln w="0">
            <a:noFill/>
          </a:ln>
        </p:spPr>
      </p:sp>
      <p:sp>
        <p:nvSpPr>
          <p:cNvPr id="14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41"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836C2E-B2B6-4BE8-94A0-8E95D2BBC94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2" name="PlaceHolder 1"/>
          <p:cNvSpPr>
            <a:spLocks noGrp="1"/>
          </p:cNvSpPr>
          <p:nvPr>
            <p:ph type="sldImg"/>
          </p:nvPr>
        </p:nvSpPr>
        <p:spPr>
          <a:xfrm>
            <a:off x="685800" y="1143000"/>
            <a:ext cx="5486040" cy="3085920"/>
          </a:xfrm>
          <a:prstGeom prst="rect">
            <a:avLst/>
          </a:prstGeom>
          <a:ln w="0">
            <a:noFill/>
          </a:ln>
        </p:spPr>
      </p:sp>
      <p:sp>
        <p:nvSpPr>
          <p:cNvPr id="14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44"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4EA45E-5C22-4103-B3E1-CB200A25A04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5" name="PlaceHolder 1"/>
          <p:cNvSpPr>
            <a:spLocks noGrp="1"/>
          </p:cNvSpPr>
          <p:nvPr>
            <p:ph type="sldImg"/>
          </p:nvPr>
        </p:nvSpPr>
        <p:spPr>
          <a:xfrm>
            <a:off x="685800" y="1143000"/>
            <a:ext cx="5486040" cy="3085920"/>
          </a:xfrm>
          <a:prstGeom prst="rect">
            <a:avLst/>
          </a:prstGeom>
          <a:ln w="0">
            <a:noFill/>
          </a:ln>
        </p:spPr>
      </p:sp>
      <p:sp>
        <p:nvSpPr>
          <p:cNvPr id="14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47"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4570B8D-CA12-45C6-B721-F47EF07190A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8" name="PlaceHolder 1"/>
          <p:cNvSpPr>
            <a:spLocks noGrp="1"/>
          </p:cNvSpPr>
          <p:nvPr>
            <p:ph type="sldImg"/>
          </p:nvPr>
        </p:nvSpPr>
        <p:spPr>
          <a:xfrm>
            <a:off x="685800" y="1143000"/>
            <a:ext cx="5486040" cy="3085920"/>
          </a:xfrm>
          <a:prstGeom prst="rect">
            <a:avLst/>
          </a:prstGeom>
          <a:ln w="0">
            <a:noFill/>
          </a:ln>
        </p:spPr>
      </p:sp>
      <p:sp>
        <p:nvSpPr>
          <p:cNvPr id="14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50"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9AE8C0-BBB6-45CA-82AC-8C887F86060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1" name="PlaceHolder 1"/>
          <p:cNvSpPr>
            <a:spLocks noGrp="1"/>
          </p:cNvSpPr>
          <p:nvPr>
            <p:ph type="sldImg"/>
          </p:nvPr>
        </p:nvSpPr>
        <p:spPr>
          <a:xfrm>
            <a:off x="685800" y="1143000"/>
            <a:ext cx="5486040" cy="3085920"/>
          </a:xfrm>
          <a:prstGeom prst="rect">
            <a:avLst/>
          </a:prstGeom>
          <a:ln w="0">
            <a:noFill/>
          </a:ln>
        </p:spPr>
      </p:sp>
      <p:sp>
        <p:nvSpPr>
          <p:cNvPr id="14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53"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81E8E2-1687-4826-8DB3-4E6FB27B68F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4" name="PlaceHolder 1"/>
          <p:cNvSpPr>
            <a:spLocks noGrp="1"/>
          </p:cNvSpPr>
          <p:nvPr>
            <p:ph type="sldImg"/>
          </p:nvPr>
        </p:nvSpPr>
        <p:spPr>
          <a:xfrm>
            <a:off x="685800" y="1143000"/>
            <a:ext cx="5486040" cy="3085920"/>
          </a:xfrm>
          <a:prstGeom prst="rect">
            <a:avLst/>
          </a:prstGeom>
          <a:ln w="0">
            <a:noFill/>
          </a:ln>
        </p:spPr>
      </p:sp>
      <p:sp>
        <p:nvSpPr>
          <p:cNvPr id="14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56"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954CE6-52C7-48FD-A83C-849F150B347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7" name="PlaceHolder 1"/>
          <p:cNvSpPr>
            <a:spLocks noGrp="1"/>
          </p:cNvSpPr>
          <p:nvPr>
            <p:ph type="sldImg"/>
          </p:nvPr>
        </p:nvSpPr>
        <p:spPr>
          <a:xfrm>
            <a:off x="685800" y="1143000"/>
            <a:ext cx="5486040" cy="3085920"/>
          </a:xfrm>
          <a:prstGeom prst="rect">
            <a:avLst/>
          </a:prstGeom>
          <a:ln w="0">
            <a:noFill/>
          </a:ln>
        </p:spPr>
      </p:sp>
      <p:sp>
        <p:nvSpPr>
          <p:cNvPr id="14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59"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BB1273-3EB1-49AB-8A74-AD615EC76DC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0" name="PlaceHolder 1"/>
          <p:cNvSpPr>
            <a:spLocks noGrp="1"/>
          </p:cNvSpPr>
          <p:nvPr>
            <p:ph type="sldImg"/>
          </p:nvPr>
        </p:nvSpPr>
        <p:spPr>
          <a:xfrm>
            <a:off x="685800" y="1143000"/>
            <a:ext cx="5486040" cy="3085920"/>
          </a:xfrm>
          <a:prstGeom prst="rect">
            <a:avLst/>
          </a:prstGeom>
          <a:ln w="0">
            <a:noFill/>
          </a:ln>
        </p:spPr>
      </p:sp>
      <p:sp>
        <p:nvSpPr>
          <p:cNvPr id="14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62"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3C723D-E1AA-498C-B847-80E4EBA863A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3" name="PlaceHolder 1"/>
          <p:cNvSpPr>
            <a:spLocks noGrp="1"/>
          </p:cNvSpPr>
          <p:nvPr>
            <p:ph type="sldImg"/>
          </p:nvPr>
        </p:nvSpPr>
        <p:spPr>
          <a:xfrm>
            <a:off x="685800" y="1143000"/>
            <a:ext cx="5486040" cy="3085920"/>
          </a:xfrm>
          <a:prstGeom prst="rect">
            <a:avLst/>
          </a:prstGeom>
          <a:ln w="0">
            <a:noFill/>
          </a:ln>
        </p:spPr>
      </p:sp>
      <p:sp>
        <p:nvSpPr>
          <p:cNvPr id="14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65"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4DD9A1D-1184-4CE7-BEDF-370A7BFA59E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6" name="PlaceHolder 1"/>
          <p:cNvSpPr>
            <a:spLocks noGrp="1"/>
          </p:cNvSpPr>
          <p:nvPr>
            <p:ph type="sldImg"/>
          </p:nvPr>
        </p:nvSpPr>
        <p:spPr>
          <a:xfrm>
            <a:off x="685800" y="1143000"/>
            <a:ext cx="5486040" cy="3085920"/>
          </a:xfrm>
          <a:prstGeom prst="rect">
            <a:avLst/>
          </a:prstGeom>
          <a:ln w="0">
            <a:noFill/>
          </a:ln>
        </p:spPr>
      </p:sp>
      <p:sp>
        <p:nvSpPr>
          <p:cNvPr id="14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68"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7305EF-DAE8-4042-B994-C513E168BF2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9" name="PlaceHolder 1"/>
          <p:cNvSpPr>
            <a:spLocks noGrp="1"/>
          </p:cNvSpPr>
          <p:nvPr>
            <p:ph type="sldImg"/>
          </p:nvPr>
        </p:nvSpPr>
        <p:spPr>
          <a:xfrm>
            <a:off x="685800" y="1143000"/>
            <a:ext cx="5486040" cy="3085920"/>
          </a:xfrm>
          <a:prstGeom prst="rect">
            <a:avLst/>
          </a:prstGeom>
          <a:ln w="0">
            <a:noFill/>
          </a:ln>
        </p:spPr>
      </p:sp>
      <p:sp>
        <p:nvSpPr>
          <p:cNvPr id="14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71"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7E1FD4-52D6-4EB4-A72C-65B5E46E6BF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2" name="PlaceHolder 1"/>
          <p:cNvSpPr>
            <a:spLocks noGrp="1"/>
          </p:cNvSpPr>
          <p:nvPr>
            <p:ph type="sldImg"/>
          </p:nvPr>
        </p:nvSpPr>
        <p:spPr>
          <a:xfrm>
            <a:off x="685800" y="1143000"/>
            <a:ext cx="5486040" cy="3085920"/>
          </a:xfrm>
          <a:prstGeom prst="rect">
            <a:avLst/>
          </a:prstGeom>
          <a:ln w="0">
            <a:noFill/>
          </a:ln>
        </p:spPr>
      </p:sp>
      <p:sp>
        <p:nvSpPr>
          <p:cNvPr id="14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74"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C8834F-DF10-484D-A234-40238B367E1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5" name="PlaceHolder 1"/>
          <p:cNvSpPr>
            <a:spLocks noGrp="1"/>
          </p:cNvSpPr>
          <p:nvPr>
            <p:ph type="sldImg"/>
          </p:nvPr>
        </p:nvSpPr>
        <p:spPr>
          <a:xfrm>
            <a:off x="685800" y="1143000"/>
            <a:ext cx="5486040" cy="3085920"/>
          </a:xfrm>
          <a:prstGeom prst="rect">
            <a:avLst/>
          </a:prstGeom>
          <a:ln w="0">
            <a:noFill/>
          </a:ln>
        </p:spPr>
      </p:sp>
      <p:sp>
        <p:nvSpPr>
          <p:cNvPr id="14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77"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04002E-64D8-4D05-BE73-0D26C041F85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8" name="PlaceHolder 1"/>
          <p:cNvSpPr>
            <a:spLocks noGrp="1"/>
          </p:cNvSpPr>
          <p:nvPr>
            <p:ph type="sldImg"/>
          </p:nvPr>
        </p:nvSpPr>
        <p:spPr>
          <a:xfrm>
            <a:off x="685800" y="1143000"/>
            <a:ext cx="5486040" cy="3085920"/>
          </a:xfrm>
          <a:prstGeom prst="rect">
            <a:avLst/>
          </a:prstGeom>
          <a:ln w="0">
            <a:noFill/>
          </a:ln>
        </p:spPr>
      </p:sp>
      <p:sp>
        <p:nvSpPr>
          <p:cNvPr id="1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80"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0BA10C-7DBF-4BDE-A66F-C445457457A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1" name="PlaceHolder 1"/>
          <p:cNvSpPr>
            <a:spLocks noGrp="1"/>
          </p:cNvSpPr>
          <p:nvPr>
            <p:ph type="sldImg"/>
          </p:nvPr>
        </p:nvSpPr>
        <p:spPr>
          <a:xfrm>
            <a:off x="685800" y="1143000"/>
            <a:ext cx="5486040" cy="3085920"/>
          </a:xfrm>
          <a:prstGeom prst="rect">
            <a:avLst/>
          </a:prstGeom>
          <a:ln w="0">
            <a:noFill/>
          </a:ln>
        </p:spPr>
      </p:sp>
      <p:sp>
        <p:nvSpPr>
          <p:cNvPr id="1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83"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9C5443-8B23-4431-B75F-67961DC1A6E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4" name="PlaceHolder 1"/>
          <p:cNvSpPr>
            <a:spLocks noGrp="1"/>
          </p:cNvSpPr>
          <p:nvPr>
            <p:ph type="sldImg"/>
          </p:nvPr>
        </p:nvSpPr>
        <p:spPr>
          <a:xfrm>
            <a:off x="685800" y="1143000"/>
            <a:ext cx="5486040" cy="3085920"/>
          </a:xfrm>
          <a:prstGeom prst="rect">
            <a:avLst/>
          </a:prstGeom>
          <a:ln w="0">
            <a:noFill/>
          </a:ln>
        </p:spPr>
      </p:sp>
      <p:sp>
        <p:nvSpPr>
          <p:cNvPr id="1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86"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A0D7A5-7C97-41FB-B361-E5B903CA067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7" name="PlaceHolder 1"/>
          <p:cNvSpPr>
            <a:spLocks noGrp="1"/>
          </p:cNvSpPr>
          <p:nvPr>
            <p:ph type="sldImg"/>
          </p:nvPr>
        </p:nvSpPr>
        <p:spPr>
          <a:xfrm>
            <a:off x="685800" y="1143000"/>
            <a:ext cx="5486040" cy="3085920"/>
          </a:xfrm>
          <a:prstGeom prst="rect">
            <a:avLst/>
          </a:prstGeom>
          <a:ln w="0">
            <a:noFill/>
          </a:ln>
        </p:spPr>
      </p:sp>
      <p:sp>
        <p:nvSpPr>
          <p:cNvPr id="1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89"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F224DC-E085-467C-AB99-1DD9D034F99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0" name="PlaceHolder 1"/>
          <p:cNvSpPr>
            <a:spLocks noGrp="1"/>
          </p:cNvSpPr>
          <p:nvPr>
            <p:ph type="sldImg"/>
          </p:nvPr>
        </p:nvSpPr>
        <p:spPr>
          <a:xfrm>
            <a:off x="685800" y="1143000"/>
            <a:ext cx="5486040" cy="3085920"/>
          </a:xfrm>
          <a:prstGeom prst="rect">
            <a:avLst/>
          </a:prstGeom>
          <a:ln w="0">
            <a:noFill/>
          </a:ln>
        </p:spPr>
      </p:sp>
      <p:sp>
        <p:nvSpPr>
          <p:cNvPr id="1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92"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7DB2D4F-520A-4F8D-A2C0-890BB982AE8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3" name="PlaceHolder 1"/>
          <p:cNvSpPr>
            <a:spLocks noGrp="1"/>
          </p:cNvSpPr>
          <p:nvPr>
            <p:ph type="sldImg"/>
          </p:nvPr>
        </p:nvSpPr>
        <p:spPr>
          <a:xfrm>
            <a:off x="685800" y="1143000"/>
            <a:ext cx="5486040" cy="3085920"/>
          </a:xfrm>
          <a:prstGeom prst="rect">
            <a:avLst/>
          </a:prstGeom>
          <a:ln w="0">
            <a:noFill/>
          </a:ln>
        </p:spPr>
      </p:sp>
      <p:sp>
        <p:nvSpPr>
          <p:cNvPr id="1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95"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F3AEFD1-1F18-4050-9298-E1353F0CF42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6" name="PlaceHolder 1"/>
          <p:cNvSpPr>
            <a:spLocks noGrp="1"/>
          </p:cNvSpPr>
          <p:nvPr>
            <p:ph type="sldImg"/>
          </p:nvPr>
        </p:nvSpPr>
        <p:spPr>
          <a:xfrm>
            <a:off x="685800" y="1143000"/>
            <a:ext cx="5486040" cy="3085920"/>
          </a:xfrm>
          <a:prstGeom prst="rect">
            <a:avLst/>
          </a:prstGeom>
          <a:ln w="0">
            <a:noFill/>
          </a:ln>
        </p:spPr>
      </p:sp>
      <p:sp>
        <p:nvSpPr>
          <p:cNvPr id="1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98"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FE1DBC-80FD-430D-98D6-CCA341A6A45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9" name="PlaceHolder 1"/>
          <p:cNvSpPr>
            <a:spLocks noGrp="1"/>
          </p:cNvSpPr>
          <p:nvPr>
            <p:ph type="sldImg"/>
          </p:nvPr>
        </p:nvSpPr>
        <p:spPr>
          <a:xfrm>
            <a:off x="685800" y="1143000"/>
            <a:ext cx="5486040" cy="3085920"/>
          </a:xfrm>
          <a:prstGeom prst="rect">
            <a:avLst/>
          </a:prstGeom>
          <a:ln w="0">
            <a:noFill/>
          </a:ln>
        </p:spPr>
      </p:sp>
      <p:sp>
        <p:nvSpPr>
          <p:cNvPr id="1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01"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E40BB8-F3BE-413E-B04D-71FDCE9638A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2" name="PlaceHolder 1"/>
          <p:cNvSpPr>
            <a:spLocks noGrp="1"/>
          </p:cNvSpPr>
          <p:nvPr>
            <p:ph type="sldImg"/>
          </p:nvPr>
        </p:nvSpPr>
        <p:spPr>
          <a:xfrm>
            <a:off x="685800" y="1143000"/>
            <a:ext cx="5486040" cy="3085920"/>
          </a:xfrm>
          <a:prstGeom prst="rect">
            <a:avLst/>
          </a:prstGeom>
          <a:ln w="0">
            <a:noFill/>
          </a:ln>
        </p:spPr>
      </p:sp>
      <p:sp>
        <p:nvSpPr>
          <p:cNvPr id="1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04"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B44F6C4-76D1-4F03-BA3C-E8BD9FE1DC6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5" name="PlaceHolder 1"/>
          <p:cNvSpPr>
            <a:spLocks noGrp="1"/>
          </p:cNvSpPr>
          <p:nvPr>
            <p:ph type="sldImg"/>
          </p:nvPr>
        </p:nvSpPr>
        <p:spPr>
          <a:xfrm>
            <a:off x="685800" y="1143000"/>
            <a:ext cx="5486040" cy="3085920"/>
          </a:xfrm>
          <a:prstGeom prst="rect">
            <a:avLst/>
          </a:prstGeom>
          <a:ln w="0">
            <a:noFill/>
          </a:ln>
        </p:spPr>
      </p:sp>
      <p:sp>
        <p:nvSpPr>
          <p:cNvPr id="1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07"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393543-682A-4329-B488-48231114F4B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8" name="PlaceHolder 1"/>
          <p:cNvSpPr>
            <a:spLocks noGrp="1"/>
          </p:cNvSpPr>
          <p:nvPr>
            <p:ph type="sldImg"/>
          </p:nvPr>
        </p:nvSpPr>
        <p:spPr>
          <a:xfrm>
            <a:off x="685800" y="1143000"/>
            <a:ext cx="5486040" cy="3085920"/>
          </a:xfrm>
          <a:prstGeom prst="rect">
            <a:avLst/>
          </a:prstGeom>
          <a:ln w="0">
            <a:noFill/>
          </a:ln>
        </p:spPr>
      </p:sp>
      <p:sp>
        <p:nvSpPr>
          <p:cNvPr id="1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10"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EC57D3-D5DE-4D69-BC6C-38B1ED33FCA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 name="Shape 0"/>
          <p:cNvSpPr/>
          <p:nvPr/>
        </p:nvSpPr>
        <p:spPr>
          <a:xfrm>
            <a:off x="8778240" y="-2194560"/>
            <a:ext cx="5486040" cy="548604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 name="Shape 1"/>
          <p:cNvSpPr/>
          <p:nvPr/>
        </p:nvSpPr>
        <p:spPr>
          <a:xfrm>
            <a:off x="-2011680" y="4206240"/>
            <a:ext cx="4205880" cy="420588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 name="Shape 2"/>
          <p:cNvSpPr/>
          <p:nvPr/>
        </p:nvSpPr>
        <p:spPr>
          <a:xfrm>
            <a:off x="5943600" y="5212080"/>
            <a:ext cx="1462680" cy="1462680"/>
          </a:xfrm>
          <a:prstGeom prst="ellipse">
            <a:avLst/>
          </a:prstGeom>
          <a:solidFill>
            <a:srgbClr val="4C112D">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3" name="Image 0" descr="/home/claude/pandas_deck/assets/logo_full.png"/>
          <p:cNvPicPr/>
          <p:nvPr/>
        </p:nvPicPr>
        <p:blipFill>
          <a:blip r:embed="rId1"/>
          <a:stretch/>
        </p:blipFill>
        <p:spPr>
          <a:xfrm>
            <a:off x="685800" y="502920"/>
            <a:ext cx="2651400" cy="861840"/>
          </a:xfrm>
          <a:prstGeom prst="rect">
            <a:avLst/>
          </a:prstGeom>
          <a:noFill/>
          <a:ln w="0">
            <a:noFill/>
          </a:ln>
        </p:spPr>
      </p:pic>
      <p:sp>
        <p:nvSpPr>
          <p:cNvPr id="14" name="Shape 4"/>
          <p:cNvSpPr/>
          <p:nvPr/>
        </p:nvSpPr>
        <p:spPr>
          <a:xfrm>
            <a:off x="713160" y="2331720"/>
            <a:ext cx="3748680" cy="292320"/>
          </a:xfrm>
          <a:prstGeom prst="roundRect">
            <a:avLst>
              <a:gd name="adj" fmla="val 50000"/>
            </a:avLst>
          </a:prstGeom>
          <a:solidFill>
            <a:srgbClr val="262758"/>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 name="Text 5"/>
          <p:cNvSpPr/>
          <p:nvPr/>
        </p:nvSpPr>
        <p:spPr>
          <a:xfrm>
            <a:off x="713160" y="2331720"/>
            <a:ext cx="374868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E0E7FF"/>
                </a:solidFill>
                <a:effectLst/>
                <a:uFillTx/>
                <a:latin typeface="Plus Jakarta Sans"/>
                <a:ea typeface="Plus Jakarta Sans"/>
              </a:rPr>
              <a:t>AI &amp; ML PLAYGROUND  ·  MODULE 05</a:t>
            </a:r>
            <a:endParaRPr lang="en-US" sz="1100" b="0" u="none" strike="noStrike">
              <a:solidFill>
                <a:srgbClr val="FFFFFF"/>
              </a:solidFill>
              <a:effectLst/>
              <a:uFillTx/>
              <a:latin typeface="Arial"/>
            </a:endParaRPr>
          </a:p>
        </p:txBody>
      </p:sp>
      <p:sp>
        <p:nvSpPr>
          <p:cNvPr id="16" name="Text 6"/>
          <p:cNvSpPr/>
          <p:nvPr/>
        </p:nvSpPr>
        <p:spPr>
          <a:xfrm>
            <a:off x="658440" y="2788920"/>
            <a:ext cx="9600840" cy="1462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6400" b="1" u="none" spc="-99" strike="noStrike">
                <a:solidFill>
                  <a:srgbClr val="F1F5F9"/>
                </a:solidFill>
                <a:effectLst/>
                <a:uFillTx/>
                <a:latin typeface="Bricolage Grotesque"/>
                <a:ea typeface="Bricolage Grotesque"/>
              </a:rPr>
              <a:t>Pandas</a:t>
            </a:r>
            <a:endParaRPr lang="en-US" sz="6400" b="0" u="none" strike="noStrike">
              <a:solidFill>
                <a:srgbClr val="FFFFFF"/>
              </a:solidFill>
              <a:effectLst/>
              <a:uFillTx/>
              <a:latin typeface="Arial"/>
            </a:endParaRPr>
          </a:p>
        </p:txBody>
      </p:sp>
      <p:sp>
        <p:nvSpPr>
          <p:cNvPr id="17" name="Text 7"/>
          <p:cNvSpPr/>
          <p:nvPr/>
        </p:nvSpPr>
        <p:spPr>
          <a:xfrm>
            <a:off x="713160" y="4160520"/>
            <a:ext cx="841212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94A3B8"/>
                </a:solidFill>
                <a:effectLst/>
                <a:uFillTx/>
                <a:latin typeface="Hanken Grotesk"/>
                <a:ea typeface="Hanken Grotesk"/>
              </a:rPr>
              <a:t>Structured, labeled data in Python — cleaning, exploring, and reshaping real datasets.</a:t>
            </a:r>
            <a:endParaRPr lang="en-US" sz="1600" b="0" u="none" strike="noStrike">
              <a:solidFill>
                <a:srgbClr val="FFFFFF"/>
              </a:solidFill>
              <a:effectLst/>
              <a:uFillTx/>
              <a:latin typeface="Arial"/>
            </a:endParaRPr>
          </a:p>
        </p:txBody>
      </p:sp>
      <p:sp>
        <p:nvSpPr>
          <p:cNvPr id="18" name="Shape 8"/>
          <p:cNvSpPr/>
          <p:nvPr/>
        </p:nvSpPr>
        <p:spPr>
          <a:xfrm>
            <a:off x="713160" y="5074920"/>
            <a:ext cx="2926080" cy="360"/>
          </a:xfrm>
          <a:prstGeom prst="line">
            <a:avLst/>
          </a:prstGeom>
          <a:ln w="12700">
            <a:solidFill>
              <a:srgbClr val="1E293B"/>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9" name="Text 9"/>
          <p:cNvSpPr/>
          <p:nvPr/>
        </p:nvSpPr>
        <p:spPr>
          <a:xfrm>
            <a:off x="713160" y="5166360"/>
            <a:ext cx="45716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2DD4BF"/>
                </a:solidFill>
                <a:effectLst/>
                <a:uFillTx/>
                <a:latin typeface="Plus Jakarta Sans"/>
                <a:ea typeface="Plus Jakarta Sans"/>
              </a:rPr>
              <a:t>CodeByPaxto: The AI &amp; ML Playground  ·  Hafiz Waseem Ahmed (Paxto)</a:t>
            </a:r>
            <a:endParaRPr lang="en-US" sz="1300" b="0" u="none" strike="noStrike">
              <a:solidFill>
                <a:srgbClr val="FFFFFF"/>
              </a:solidFill>
              <a:effectLst/>
              <a:uFillTx/>
              <a:latin typeface="Arial"/>
            </a:endParaRPr>
          </a:p>
        </p:txBody>
      </p:sp>
      <p:sp>
        <p:nvSpPr>
          <p:cNvPr id="20"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pic>
        <p:nvPicPr>
          <p:cNvPr id="21" name="Image 0" descr="/home/claude/pandas_deck/assets/logo_icon.png"/>
          <p:cNvPicPr/>
          <p:nvPr/>
        </p:nvPicPr>
        <p:blipFill>
          <a:blip r:embed="rId1"/>
          <a:stretch/>
        </p:blipFill>
        <p:spPr>
          <a:xfrm>
            <a:off x="640080" y="502920"/>
            <a:ext cx="402120" cy="482400"/>
          </a:xfrm>
          <a:prstGeom prst="rect">
            <a:avLst/>
          </a:prstGeom>
          <a:noFill/>
          <a:ln w="0">
            <a:noFill/>
          </a:ln>
        </p:spPr>
      </p:pic>
      <p:sp>
        <p:nvSpPr>
          <p:cNvPr id="22" name="Text 0"/>
          <p:cNvSpPr/>
          <p:nvPr/>
        </p:nvSpPr>
        <p:spPr>
          <a:xfrm>
            <a:off x="640080" y="1188720"/>
            <a:ext cx="54860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2DD4BF"/>
                </a:solidFill>
                <a:effectLst/>
                <a:uFillTx/>
                <a:latin typeface="Plus Jakarta Sans"/>
                <a:ea typeface="Plus Jakarta Sans"/>
              </a:rPr>
              <a:t>WHERE THIS FITS</a:t>
            </a:r>
            <a:endParaRPr lang="en-US" sz="1200" b="0" u="none" strike="noStrike">
              <a:solidFill>
                <a:srgbClr val="FFFFFF"/>
              </a:solidFill>
              <a:effectLst/>
              <a:uFillTx/>
              <a:latin typeface="Arial"/>
            </a:endParaRPr>
          </a:p>
        </p:txBody>
      </p:sp>
      <p:sp>
        <p:nvSpPr>
          <p:cNvPr id="23" name="Text 1"/>
          <p:cNvSpPr/>
          <p:nvPr/>
        </p:nvSpPr>
        <p:spPr>
          <a:xfrm>
            <a:off x="640080" y="1536120"/>
            <a:ext cx="1005804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1F5F9"/>
                </a:solidFill>
                <a:effectLst/>
                <a:uFillTx/>
                <a:latin typeface="Bricolage Grotesque"/>
                <a:ea typeface="Bricolage Grotesque"/>
              </a:rPr>
              <a:t>The AI &amp; ML Playground Roadmap</a:t>
            </a:r>
            <a:endParaRPr lang="en-US" sz="3000" b="0" u="none" strike="noStrike">
              <a:solidFill>
                <a:srgbClr val="FFFFFF"/>
              </a:solidFill>
              <a:effectLst/>
              <a:uFillTx/>
              <a:latin typeface="Arial"/>
            </a:endParaRPr>
          </a:p>
        </p:txBody>
      </p:sp>
      <p:sp>
        <p:nvSpPr>
          <p:cNvPr id="24" name="Shape 2"/>
          <p:cNvSpPr/>
          <p:nvPr/>
        </p:nvSpPr>
        <p:spPr>
          <a:xfrm>
            <a:off x="64008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 name="Text 3"/>
          <p:cNvSpPr/>
          <p:nvPr/>
        </p:nvSpPr>
        <p:spPr>
          <a:xfrm>
            <a:off x="68580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Python</a:t>
            </a:r>
            <a:endParaRPr lang="en-US" sz="950" b="0" u="none" strike="noStrike">
              <a:solidFill>
                <a:srgbClr val="FFFFFF"/>
              </a:solidFill>
              <a:effectLst/>
              <a:uFillTx/>
              <a:latin typeface="Arial"/>
            </a:endParaRPr>
          </a:p>
        </p:txBody>
      </p:sp>
      <p:sp>
        <p:nvSpPr>
          <p:cNvPr id="26" name="Text 4"/>
          <p:cNvSpPr/>
          <p:nvPr/>
        </p:nvSpPr>
        <p:spPr>
          <a:xfrm>
            <a:off x="173520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27" name="Shape 5"/>
          <p:cNvSpPr/>
          <p:nvPr/>
        </p:nvSpPr>
        <p:spPr>
          <a:xfrm>
            <a:off x="186336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8" name="Text 6"/>
          <p:cNvSpPr/>
          <p:nvPr/>
        </p:nvSpPr>
        <p:spPr>
          <a:xfrm>
            <a:off x="190908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Math for DS</a:t>
            </a:r>
            <a:endParaRPr lang="en-US" sz="950" b="0" u="none" strike="noStrike">
              <a:solidFill>
                <a:srgbClr val="FFFFFF"/>
              </a:solidFill>
              <a:effectLst/>
              <a:uFillTx/>
              <a:latin typeface="Arial"/>
            </a:endParaRPr>
          </a:p>
        </p:txBody>
      </p:sp>
      <p:sp>
        <p:nvSpPr>
          <p:cNvPr id="29" name="Text 7"/>
          <p:cNvSpPr/>
          <p:nvPr/>
        </p:nvSpPr>
        <p:spPr>
          <a:xfrm>
            <a:off x="295848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0" name="Shape 8"/>
          <p:cNvSpPr/>
          <p:nvPr/>
        </p:nvSpPr>
        <p:spPr>
          <a:xfrm>
            <a:off x="308664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1" name="Text 9"/>
          <p:cNvSpPr/>
          <p:nvPr/>
        </p:nvSpPr>
        <p:spPr>
          <a:xfrm>
            <a:off x="313236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Git &amp; GitHub</a:t>
            </a:r>
            <a:endParaRPr lang="en-US" sz="950" b="0" u="none" strike="noStrike">
              <a:solidFill>
                <a:srgbClr val="FFFFFF"/>
              </a:solidFill>
              <a:effectLst/>
              <a:uFillTx/>
              <a:latin typeface="Arial"/>
            </a:endParaRPr>
          </a:p>
        </p:txBody>
      </p:sp>
      <p:sp>
        <p:nvSpPr>
          <p:cNvPr id="32" name="Text 10"/>
          <p:cNvSpPr/>
          <p:nvPr/>
        </p:nvSpPr>
        <p:spPr>
          <a:xfrm>
            <a:off x="418176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3" name="Shape 11"/>
          <p:cNvSpPr/>
          <p:nvPr/>
        </p:nvSpPr>
        <p:spPr>
          <a:xfrm>
            <a:off x="430992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4" name="Text 12"/>
          <p:cNvSpPr/>
          <p:nvPr/>
        </p:nvSpPr>
        <p:spPr>
          <a:xfrm>
            <a:off x="435564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NumPy</a:t>
            </a:r>
            <a:endParaRPr lang="en-US" sz="950" b="0" u="none" strike="noStrike">
              <a:solidFill>
                <a:srgbClr val="FFFFFF"/>
              </a:solidFill>
              <a:effectLst/>
              <a:uFillTx/>
              <a:latin typeface="Arial"/>
            </a:endParaRPr>
          </a:p>
        </p:txBody>
      </p:sp>
      <p:sp>
        <p:nvSpPr>
          <p:cNvPr id="35" name="Text 13"/>
          <p:cNvSpPr/>
          <p:nvPr/>
        </p:nvSpPr>
        <p:spPr>
          <a:xfrm>
            <a:off x="540504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6" name="Shape 14"/>
          <p:cNvSpPr/>
          <p:nvPr/>
        </p:nvSpPr>
        <p:spPr>
          <a:xfrm>
            <a:off x="5533200" y="3977640"/>
            <a:ext cx="1094760" cy="868320"/>
          </a:xfrm>
          <a:prstGeom prst="roundRect">
            <a:avLst>
              <a:gd name="adj" fmla="val 8421"/>
            </a:avLst>
          </a:prstGeom>
          <a:solidFill>
            <a:srgbClr val="818CF8"/>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 name="Text 15"/>
          <p:cNvSpPr/>
          <p:nvPr/>
        </p:nvSpPr>
        <p:spPr>
          <a:xfrm>
            <a:off x="557892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B0F17"/>
                </a:solidFill>
                <a:effectLst/>
                <a:uFillTx/>
                <a:latin typeface="Plus Jakarta Sans"/>
                <a:ea typeface="Plus Jakarta Sans"/>
              </a:rPr>
              <a:t>Pandas</a:t>
            </a:r>
            <a:endParaRPr lang="en-US" sz="950" b="0" u="none" strike="noStrike">
              <a:solidFill>
                <a:srgbClr val="FFFFFF"/>
              </a:solidFill>
              <a:effectLst/>
              <a:uFillTx/>
              <a:latin typeface="Arial"/>
            </a:endParaRPr>
          </a:p>
        </p:txBody>
      </p:sp>
      <p:sp>
        <p:nvSpPr>
          <p:cNvPr id="38" name="Text 16"/>
          <p:cNvSpPr/>
          <p:nvPr/>
        </p:nvSpPr>
        <p:spPr>
          <a:xfrm>
            <a:off x="662832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9" name="Shape 17"/>
          <p:cNvSpPr/>
          <p:nvPr/>
        </p:nvSpPr>
        <p:spPr>
          <a:xfrm>
            <a:off x="675648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 name="Text 18"/>
          <p:cNvSpPr/>
          <p:nvPr/>
        </p:nvSpPr>
        <p:spPr>
          <a:xfrm>
            <a:off x="680220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Matplotlib</a:t>
            </a:r>
            <a:endParaRPr lang="en-US" sz="950" b="0" u="none" strike="noStrike">
              <a:solidFill>
                <a:srgbClr val="FFFFFF"/>
              </a:solidFill>
              <a:effectLst/>
              <a:uFillTx/>
              <a:latin typeface="Arial"/>
            </a:endParaRPr>
          </a:p>
        </p:txBody>
      </p:sp>
      <p:sp>
        <p:nvSpPr>
          <p:cNvPr id="41" name="Text 19"/>
          <p:cNvSpPr/>
          <p:nvPr/>
        </p:nvSpPr>
        <p:spPr>
          <a:xfrm>
            <a:off x="785160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2" name="Shape 20"/>
          <p:cNvSpPr/>
          <p:nvPr/>
        </p:nvSpPr>
        <p:spPr>
          <a:xfrm>
            <a:off x="797976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 name="Text 21"/>
          <p:cNvSpPr/>
          <p:nvPr/>
        </p:nvSpPr>
        <p:spPr>
          <a:xfrm>
            <a:off x="802548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Seaborn</a:t>
            </a:r>
            <a:endParaRPr lang="en-US" sz="950" b="0" u="none" strike="noStrike">
              <a:solidFill>
                <a:srgbClr val="FFFFFF"/>
              </a:solidFill>
              <a:effectLst/>
              <a:uFillTx/>
              <a:latin typeface="Arial"/>
            </a:endParaRPr>
          </a:p>
        </p:txBody>
      </p:sp>
      <p:sp>
        <p:nvSpPr>
          <p:cNvPr id="44" name="Text 22"/>
          <p:cNvSpPr/>
          <p:nvPr/>
        </p:nvSpPr>
        <p:spPr>
          <a:xfrm>
            <a:off x="907488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5" name="Shape 23"/>
          <p:cNvSpPr/>
          <p:nvPr/>
        </p:nvSpPr>
        <p:spPr>
          <a:xfrm>
            <a:off x="920304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6" name="Text 24"/>
          <p:cNvSpPr/>
          <p:nvPr/>
        </p:nvSpPr>
        <p:spPr>
          <a:xfrm>
            <a:off x="924876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Data Analytics</a:t>
            </a:r>
            <a:endParaRPr lang="en-US" sz="950" b="0" u="none" strike="noStrike">
              <a:solidFill>
                <a:srgbClr val="FFFFFF"/>
              </a:solidFill>
              <a:effectLst/>
              <a:uFillTx/>
              <a:latin typeface="Arial"/>
            </a:endParaRPr>
          </a:p>
        </p:txBody>
      </p:sp>
      <p:sp>
        <p:nvSpPr>
          <p:cNvPr id="47" name="Text 25"/>
          <p:cNvSpPr/>
          <p:nvPr/>
        </p:nvSpPr>
        <p:spPr>
          <a:xfrm>
            <a:off x="1029816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8" name="Shape 26"/>
          <p:cNvSpPr/>
          <p:nvPr/>
        </p:nvSpPr>
        <p:spPr>
          <a:xfrm>
            <a:off x="1042632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 name="Text 27"/>
          <p:cNvSpPr/>
          <p:nvPr/>
        </p:nvSpPr>
        <p:spPr>
          <a:xfrm>
            <a:off x="1047204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Supervised ML</a:t>
            </a:r>
            <a:endParaRPr lang="en-US" sz="950" b="0" u="none" strike="noStrike">
              <a:solidFill>
                <a:srgbClr val="FFFFFF"/>
              </a:solidFill>
              <a:effectLst/>
              <a:uFillTx/>
              <a:latin typeface="Arial"/>
            </a:endParaRPr>
          </a:p>
        </p:txBody>
      </p:sp>
      <p:sp>
        <p:nvSpPr>
          <p:cNvPr id="50" name="Text 28"/>
          <p:cNvSpPr/>
          <p:nvPr/>
        </p:nvSpPr>
        <p:spPr>
          <a:xfrm>
            <a:off x="640080" y="5212080"/>
            <a:ext cx="10240920" cy="914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400" b="0" u="none" strike="noStrike">
                <a:solidFill>
                  <a:srgbClr val="94A3B8"/>
                </a:solidFill>
                <a:effectLst/>
                <a:uFillTx/>
                <a:latin typeface="Hanken Grotesk"/>
                <a:ea typeface="Hanken Grotesk"/>
              </a:rPr>
              <a:t>You are here — right after NumPy. Pandas wraps NumPy arrays in labeled rows and columns, turning raw numbers into the kind of structured tables real datasets actually come in — exactly what Matplotlib, Seaborn, and every EDA workflow expect.</a:t>
            </a:r>
            <a:endParaRPr lang="en-US" sz="1400" b="0" u="none" strike="noStrike">
              <a:solidFill>
                <a:srgbClr val="FFFFFF"/>
              </a:solidFill>
              <a:effectLst/>
              <a:uFillTx/>
              <a:latin typeface="Arial"/>
            </a:endParaRPr>
          </a:p>
        </p:txBody>
      </p:sp>
      <p:sp>
        <p:nvSpPr>
          <p:cNvPr id="51" name="Text 2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BEFORE WE START</a:t>
            </a:r>
            <a:endParaRPr lang="en-US" sz="1100" b="0" u="none" strike="noStrike">
              <a:solidFill>
                <a:srgbClr val="000000"/>
              </a:solidFill>
              <a:effectLst/>
              <a:uFillTx/>
              <a:latin typeface="Arial"/>
            </a:endParaRPr>
          </a:p>
        </p:txBody>
      </p:sp>
      <p:sp>
        <p:nvSpPr>
          <p:cNvPr id="5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If NumPy Exists, Why Pandas?</a:t>
            </a:r>
            <a:endParaRPr lang="en-US" sz="2600" b="0" u="none" strike="noStrike">
              <a:solidFill>
                <a:srgbClr val="000000"/>
              </a:solidFill>
              <a:effectLst/>
              <a:uFillTx/>
              <a:latin typeface="Arial"/>
            </a:endParaRPr>
          </a:p>
        </p:txBody>
      </p:sp>
      <p:pic>
        <p:nvPicPr>
          <p:cNvPr id="5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5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6" name="Shape 3"/>
          <p:cNvSpPr/>
          <p:nvPr/>
        </p:nvSpPr>
        <p:spPr>
          <a:xfrm>
            <a:off x="548640" y="1691640"/>
            <a:ext cx="5211720" cy="4023000"/>
          </a:xfrm>
          <a:prstGeom prst="roundRect">
            <a:avLst>
              <a:gd name="adj" fmla="val 2727"/>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7" name="Shape 4"/>
          <p:cNvSpPr/>
          <p:nvPr/>
        </p:nvSpPr>
        <p:spPr>
          <a:xfrm>
            <a:off x="777240" y="1892880"/>
            <a:ext cx="1828440" cy="29232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8" name="Text 5"/>
          <p:cNvSpPr/>
          <p:nvPr/>
        </p:nvSpPr>
        <p:spPr>
          <a:xfrm>
            <a:off x="777240" y="1892880"/>
            <a:ext cx="182844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002019"/>
                </a:solidFill>
                <a:effectLst/>
                <a:uFillTx/>
                <a:latin typeface="Plus Jakarta Sans"/>
                <a:ea typeface="Plus Jakarta Sans"/>
              </a:rPr>
              <a:t>NUMPY ARRAY</a:t>
            </a:r>
            <a:endParaRPr lang="en-US" sz="1000" b="0" u="none" strike="noStrike">
              <a:solidFill>
                <a:srgbClr val="000000"/>
              </a:solidFill>
              <a:effectLst/>
              <a:uFillTx/>
              <a:latin typeface="Arial"/>
            </a:endParaRPr>
          </a:p>
        </p:txBody>
      </p:sp>
      <p:sp>
        <p:nvSpPr>
          <p:cNvPr id="59" name="Text 6"/>
          <p:cNvSpPr/>
          <p:nvPr/>
        </p:nvSpPr>
        <p:spPr>
          <a:xfrm>
            <a:off x="777240" y="2377440"/>
            <a:ext cx="4754520" cy="32000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Fast at pure numerical math — but every column must be the same data type.</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No column names — you track "column 3" by position, not by meaning.</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No built-in idea of missing data, grouping, or merging labeled tables.</a:t>
            </a:r>
            <a:endParaRPr lang="en-US" sz="1250" b="0" u="none" strike="noStrike">
              <a:solidFill>
                <a:srgbClr val="000000"/>
              </a:solidFill>
              <a:effectLst/>
              <a:uFillTx/>
              <a:latin typeface="Arial"/>
            </a:endParaRPr>
          </a:p>
        </p:txBody>
      </p:sp>
      <p:sp>
        <p:nvSpPr>
          <p:cNvPr id="60" name="Shape 7"/>
          <p:cNvSpPr/>
          <p:nvPr/>
        </p:nvSpPr>
        <p:spPr>
          <a:xfrm>
            <a:off x="6217920" y="1691640"/>
            <a:ext cx="5211720" cy="4023000"/>
          </a:xfrm>
          <a:prstGeom prst="roundRect">
            <a:avLst>
              <a:gd name="adj" fmla="val 2727"/>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 name="Shape 8"/>
          <p:cNvSpPr/>
          <p:nvPr/>
        </p:nvSpPr>
        <p:spPr>
          <a:xfrm>
            <a:off x="6446520" y="1892880"/>
            <a:ext cx="2377080" cy="292320"/>
          </a:xfrm>
          <a:prstGeom prst="roundRect">
            <a:avLst>
              <a:gd name="adj" fmla="val 50000"/>
            </a:avLst>
          </a:prstGeom>
          <a:solidFill>
            <a:srgbClr val="262758"/>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 name="Text 9"/>
          <p:cNvSpPr/>
          <p:nvPr/>
        </p:nvSpPr>
        <p:spPr>
          <a:xfrm>
            <a:off x="6446520" y="1892880"/>
            <a:ext cx="237708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E0E7FF"/>
                </a:solidFill>
                <a:effectLst/>
                <a:uFillTx/>
                <a:latin typeface="Plus Jakarta Sans"/>
                <a:ea typeface="Plus Jakarta Sans"/>
              </a:rPr>
              <a:t>PANDAS DATAFRAME</a:t>
            </a:r>
            <a:endParaRPr lang="en-US" sz="1000" b="0" u="none" strike="noStrike">
              <a:solidFill>
                <a:srgbClr val="000000"/>
              </a:solidFill>
              <a:effectLst/>
              <a:uFillTx/>
              <a:latin typeface="Arial"/>
            </a:endParaRPr>
          </a:p>
        </p:txBody>
      </p:sp>
      <p:sp>
        <p:nvSpPr>
          <p:cNvPr id="63" name="Text 10"/>
          <p:cNvSpPr/>
          <p:nvPr/>
        </p:nvSpPr>
        <p:spPr>
          <a:xfrm>
            <a:off x="6446520" y="2377440"/>
            <a:ext cx="4754520" cy="32000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Every column can hold its own type — numbers, text, dates — like a real spreadsheet.</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Rows and columns have labels — you select "age" or "name", not "column 3".</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Built-in tools for missing data, grouping, merging, and reshaping — the actual daily work of a Data Analyst.</a:t>
            </a:r>
            <a:endParaRPr lang="en-US" sz="1250" b="0" u="none" strike="noStrike">
              <a:solidFill>
                <a:srgbClr val="000000"/>
              </a:solidFill>
              <a:effectLst/>
              <a:uFillTx/>
              <a:latin typeface="Arial"/>
            </a:endParaRPr>
          </a:p>
        </p:txBody>
      </p:sp>
      <p:sp>
        <p:nvSpPr>
          <p:cNvPr id="64" name="Text 11"/>
          <p:cNvSpPr/>
          <p:nvPr/>
        </p:nvSpPr>
        <p:spPr>
          <a:xfrm>
            <a:off x="548640" y="5897880"/>
            <a:ext cx="111096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474651"/>
                </a:solidFill>
                <a:effectLst/>
                <a:uFillTx/>
                <a:latin typeface="Hanken Grotesk"/>
                <a:ea typeface="Hanken Grotesk"/>
              </a:rPr>
              <a:t>The honest framing: a DataFrame is built on top of NumPy arrays under the hood — Pandas adds the labels, structure, and tooling that real, messy, tabular data actually needs.</a:t>
            </a:r>
            <a:endParaRPr lang="en-US" sz="1200" b="0" u="none" strike="noStrike">
              <a:solidFill>
                <a:srgbClr val="000000"/>
              </a:solidFill>
              <a:effectLst/>
              <a:uFillTx/>
              <a:latin typeface="Arial"/>
            </a:endParaRPr>
          </a:p>
        </p:txBody>
      </p:sp>
      <p:sp>
        <p:nvSpPr>
          <p:cNvPr id="65" name="Text 1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WHAT WE'RE COVERING</a:t>
            </a:r>
            <a:endParaRPr lang="en-US" sz="1100" b="0" u="none" strike="noStrike">
              <a:solidFill>
                <a:srgbClr val="000000"/>
              </a:solidFill>
              <a:effectLst/>
              <a:uFillTx/>
              <a:latin typeface="Arial"/>
            </a:endParaRPr>
          </a:p>
        </p:txBody>
      </p:sp>
      <p:sp>
        <p:nvSpPr>
          <p:cNvPr id="6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Today's Roadmap</a:t>
            </a:r>
            <a:endParaRPr lang="en-US" sz="2600" b="0" u="none" strike="noStrike">
              <a:solidFill>
                <a:srgbClr val="000000"/>
              </a:solidFill>
              <a:effectLst/>
              <a:uFillTx/>
              <a:latin typeface="Arial"/>
            </a:endParaRPr>
          </a:p>
        </p:txBody>
      </p:sp>
      <p:pic>
        <p:nvPicPr>
          <p:cNvPr id="6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0" name="Shape 3"/>
          <p:cNvSpPr/>
          <p:nvPr/>
        </p:nvSpPr>
        <p:spPr>
          <a:xfrm>
            <a:off x="548640" y="16002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1" name="Text 4"/>
          <p:cNvSpPr/>
          <p:nvPr/>
        </p:nvSpPr>
        <p:spPr>
          <a:xfrm>
            <a:off x="676800" y="16916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01</a:t>
            </a:r>
            <a:endParaRPr lang="en-US" sz="1700" b="0" u="none" strike="noStrike">
              <a:solidFill>
                <a:srgbClr val="000000"/>
              </a:solidFill>
              <a:effectLst/>
              <a:uFillTx/>
              <a:latin typeface="Arial"/>
            </a:endParaRPr>
          </a:p>
        </p:txBody>
      </p:sp>
      <p:sp>
        <p:nvSpPr>
          <p:cNvPr id="72" name="Text 5"/>
          <p:cNvSpPr/>
          <p:nvPr/>
        </p:nvSpPr>
        <p:spPr>
          <a:xfrm>
            <a:off x="676800" y="21031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Introduction to Pandas</a:t>
            </a:r>
            <a:endParaRPr lang="en-US" sz="1050" b="0" u="none" strike="noStrike">
              <a:solidFill>
                <a:srgbClr val="000000"/>
              </a:solidFill>
              <a:effectLst/>
              <a:uFillTx/>
              <a:latin typeface="Arial"/>
            </a:endParaRPr>
          </a:p>
        </p:txBody>
      </p:sp>
      <p:sp>
        <p:nvSpPr>
          <p:cNvPr id="73" name="Shape 6"/>
          <p:cNvSpPr/>
          <p:nvPr/>
        </p:nvSpPr>
        <p:spPr>
          <a:xfrm>
            <a:off x="2797920" y="16002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 name="Text 7"/>
          <p:cNvSpPr/>
          <p:nvPr/>
        </p:nvSpPr>
        <p:spPr>
          <a:xfrm>
            <a:off x="2926080" y="16916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02</a:t>
            </a:r>
            <a:endParaRPr lang="en-US" sz="1700" b="0" u="none" strike="noStrike">
              <a:solidFill>
                <a:srgbClr val="000000"/>
              </a:solidFill>
              <a:effectLst/>
              <a:uFillTx/>
              <a:latin typeface="Arial"/>
            </a:endParaRPr>
          </a:p>
        </p:txBody>
      </p:sp>
      <p:sp>
        <p:nvSpPr>
          <p:cNvPr id="75" name="Text 8"/>
          <p:cNvSpPr/>
          <p:nvPr/>
        </p:nvSpPr>
        <p:spPr>
          <a:xfrm>
            <a:off x="2926080" y="21031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Foundations, Terms &amp; Series</a:t>
            </a:r>
            <a:endParaRPr lang="en-US" sz="1050" b="0" u="none" strike="noStrike">
              <a:solidFill>
                <a:srgbClr val="000000"/>
              </a:solidFill>
              <a:effectLst/>
              <a:uFillTx/>
              <a:latin typeface="Arial"/>
            </a:endParaRPr>
          </a:p>
        </p:txBody>
      </p:sp>
      <p:sp>
        <p:nvSpPr>
          <p:cNvPr id="76" name="Shape 9"/>
          <p:cNvSpPr/>
          <p:nvPr/>
        </p:nvSpPr>
        <p:spPr>
          <a:xfrm>
            <a:off x="5047560" y="16002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 name="Text 10"/>
          <p:cNvSpPr/>
          <p:nvPr/>
        </p:nvSpPr>
        <p:spPr>
          <a:xfrm>
            <a:off x="5175360" y="16916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03</a:t>
            </a:r>
            <a:endParaRPr lang="en-US" sz="1700" b="0" u="none" strike="noStrike">
              <a:solidFill>
                <a:srgbClr val="000000"/>
              </a:solidFill>
              <a:effectLst/>
              <a:uFillTx/>
              <a:latin typeface="Arial"/>
            </a:endParaRPr>
          </a:p>
        </p:txBody>
      </p:sp>
      <p:sp>
        <p:nvSpPr>
          <p:cNvPr id="78" name="Text 11"/>
          <p:cNvSpPr/>
          <p:nvPr/>
        </p:nvSpPr>
        <p:spPr>
          <a:xfrm>
            <a:off x="5175360" y="21031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Creating &amp; Loading Data</a:t>
            </a:r>
            <a:endParaRPr lang="en-US" sz="1050" b="0" u="none" strike="noStrike">
              <a:solidFill>
                <a:srgbClr val="000000"/>
              </a:solidFill>
              <a:effectLst/>
              <a:uFillTx/>
              <a:latin typeface="Arial"/>
            </a:endParaRPr>
          </a:p>
        </p:txBody>
      </p:sp>
      <p:sp>
        <p:nvSpPr>
          <p:cNvPr id="79" name="Shape 12"/>
          <p:cNvSpPr/>
          <p:nvPr/>
        </p:nvSpPr>
        <p:spPr>
          <a:xfrm>
            <a:off x="7296840" y="16002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0" name="Text 13"/>
          <p:cNvSpPr/>
          <p:nvPr/>
        </p:nvSpPr>
        <p:spPr>
          <a:xfrm>
            <a:off x="7425000" y="16916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04</a:t>
            </a:r>
            <a:endParaRPr lang="en-US" sz="1700" b="0" u="none" strike="noStrike">
              <a:solidFill>
                <a:srgbClr val="000000"/>
              </a:solidFill>
              <a:effectLst/>
              <a:uFillTx/>
              <a:latin typeface="Arial"/>
            </a:endParaRPr>
          </a:p>
        </p:txBody>
      </p:sp>
      <p:sp>
        <p:nvSpPr>
          <p:cNvPr id="81" name="Text 14"/>
          <p:cNvSpPr/>
          <p:nvPr/>
        </p:nvSpPr>
        <p:spPr>
          <a:xfrm>
            <a:off x="7425000" y="21031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Selecting &amp; Filtering</a:t>
            </a:r>
            <a:endParaRPr lang="en-US" sz="1050" b="0" u="none" strike="noStrike">
              <a:solidFill>
                <a:srgbClr val="000000"/>
              </a:solidFill>
              <a:effectLst/>
              <a:uFillTx/>
              <a:latin typeface="Arial"/>
            </a:endParaRPr>
          </a:p>
        </p:txBody>
      </p:sp>
      <p:sp>
        <p:nvSpPr>
          <p:cNvPr id="82" name="Shape 15"/>
          <p:cNvSpPr/>
          <p:nvPr/>
        </p:nvSpPr>
        <p:spPr>
          <a:xfrm>
            <a:off x="9546480" y="16002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 name="Text 16"/>
          <p:cNvSpPr/>
          <p:nvPr/>
        </p:nvSpPr>
        <p:spPr>
          <a:xfrm>
            <a:off x="9674280" y="16916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05</a:t>
            </a:r>
            <a:endParaRPr lang="en-US" sz="1700" b="0" u="none" strike="noStrike">
              <a:solidFill>
                <a:srgbClr val="000000"/>
              </a:solidFill>
              <a:effectLst/>
              <a:uFillTx/>
              <a:latin typeface="Arial"/>
            </a:endParaRPr>
          </a:p>
        </p:txBody>
      </p:sp>
      <p:sp>
        <p:nvSpPr>
          <p:cNvPr id="84" name="Text 17"/>
          <p:cNvSpPr/>
          <p:nvPr/>
        </p:nvSpPr>
        <p:spPr>
          <a:xfrm>
            <a:off x="9674280" y="21031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Modifying, Dropping &amp; apply()</a:t>
            </a:r>
            <a:endParaRPr lang="en-US" sz="1050" b="0" u="none" strike="noStrike">
              <a:solidFill>
                <a:srgbClr val="000000"/>
              </a:solidFill>
              <a:effectLst/>
              <a:uFillTx/>
              <a:latin typeface="Arial"/>
            </a:endParaRPr>
          </a:p>
        </p:txBody>
      </p:sp>
      <p:sp>
        <p:nvSpPr>
          <p:cNvPr id="85" name="Shape 18"/>
          <p:cNvSpPr/>
          <p:nvPr/>
        </p:nvSpPr>
        <p:spPr>
          <a:xfrm>
            <a:off x="548640" y="32004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 name="Text 19"/>
          <p:cNvSpPr/>
          <p:nvPr/>
        </p:nvSpPr>
        <p:spPr>
          <a:xfrm>
            <a:off x="676800" y="32918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06</a:t>
            </a:r>
            <a:endParaRPr lang="en-US" sz="1700" b="0" u="none" strike="noStrike">
              <a:solidFill>
                <a:srgbClr val="000000"/>
              </a:solidFill>
              <a:effectLst/>
              <a:uFillTx/>
              <a:latin typeface="Arial"/>
            </a:endParaRPr>
          </a:p>
        </p:txBody>
      </p:sp>
      <p:sp>
        <p:nvSpPr>
          <p:cNvPr id="87" name="Text 20"/>
          <p:cNvSpPr/>
          <p:nvPr/>
        </p:nvSpPr>
        <p:spPr>
          <a:xfrm>
            <a:off x="676800" y="37033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Handling Missing Data</a:t>
            </a:r>
            <a:endParaRPr lang="en-US" sz="1050" b="0" u="none" strike="noStrike">
              <a:solidFill>
                <a:srgbClr val="000000"/>
              </a:solidFill>
              <a:effectLst/>
              <a:uFillTx/>
              <a:latin typeface="Arial"/>
            </a:endParaRPr>
          </a:p>
        </p:txBody>
      </p:sp>
      <p:sp>
        <p:nvSpPr>
          <p:cNvPr id="88" name="Shape 21"/>
          <p:cNvSpPr/>
          <p:nvPr/>
        </p:nvSpPr>
        <p:spPr>
          <a:xfrm>
            <a:off x="2797920" y="32004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9" name="Text 22"/>
          <p:cNvSpPr/>
          <p:nvPr/>
        </p:nvSpPr>
        <p:spPr>
          <a:xfrm>
            <a:off x="2926080" y="32918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07</a:t>
            </a:r>
            <a:endParaRPr lang="en-US" sz="1700" b="0" u="none" strike="noStrike">
              <a:solidFill>
                <a:srgbClr val="000000"/>
              </a:solidFill>
              <a:effectLst/>
              <a:uFillTx/>
              <a:latin typeface="Arial"/>
            </a:endParaRPr>
          </a:p>
        </p:txBody>
      </p:sp>
      <p:sp>
        <p:nvSpPr>
          <p:cNvPr id="90" name="Text 23"/>
          <p:cNvSpPr/>
          <p:nvPr/>
        </p:nvSpPr>
        <p:spPr>
          <a:xfrm>
            <a:off x="2926080" y="37033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Sorting &amp; Ranking</a:t>
            </a:r>
            <a:endParaRPr lang="en-US" sz="1050" b="0" u="none" strike="noStrike">
              <a:solidFill>
                <a:srgbClr val="000000"/>
              </a:solidFill>
              <a:effectLst/>
              <a:uFillTx/>
              <a:latin typeface="Arial"/>
            </a:endParaRPr>
          </a:p>
        </p:txBody>
      </p:sp>
      <p:sp>
        <p:nvSpPr>
          <p:cNvPr id="91" name="Shape 24"/>
          <p:cNvSpPr/>
          <p:nvPr/>
        </p:nvSpPr>
        <p:spPr>
          <a:xfrm>
            <a:off x="5047560" y="32004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 name="Text 25"/>
          <p:cNvSpPr/>
          <p:nvPr/>
        </p:nvSpPr>
        <p:spPr>
          <a:xfrm>
            <a:off x="5175360" y="32918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08</a:t>
            </a:r>
            <a:endParaRPr lang="en-US" sz="1700" b="0" u="none" strike="noStrike">
              <a:solidFill>
                <a:srgbClr val="000000"/>
              </a:solidFill>
              <a:effectLst/>
              <a:uFillTx/>
              <a:latin typeface="Arial"/>
            </a:endParaRPr>
          </a:p>
        </p:txBody>
      </p:sp>
      <p:sp>
        <p:nvSpPr>
          <p:cNvPr id="93" name="Text 26"/>
          <p:cNvSpPr/>
          <p:nvPr/>
        </p:nvSpPr>
        <p:spPr>
          <a:xfrm>
            <a:off x="5175360" y="37033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GroupBy &amp; Aggregation</a:t>
            </a:r>
            <a:endParaRPr lang="en-US" sz="1050" b="0" u="none" strike="noStrike">
              <a:solidFill>
                <a:srgbClr val="000000"/>
              </a:solidFill>
              <a:effectLst/>
              <a:uFillTx/>
              <a:latin typeface="Arial"/>
            </a:endParaRPr>
          </a:p>
        </p:txBody>
      </p:sp>
      <p:sp>
        <p:nvSpPr>
          <p:cNvPr id="94" name="Shape 27"/>
          <p:cNvSpPr/>
          <p:nvPr/>
        </p:nvSpPr>
        <p:spPr>
          <a:xfrm>
            <a:off x="7296840" y="32004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5" name="Text 28"/>
          <p:cNvSpPr/>
          <p:nvPr/>
        </p:nvSpPr>
        <p:spPr>
          <a:xfrm>
            <a:off x="7425000" y="32918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09</a:t>
            </a:r>
            <a:endParaRPr lang="en-US" sz="1700" b="0" u="none" strike="noStrike">
              <a:solidFill>
                <a:srgbClr val="000000"/>
              </a:solidFill>
              <a:effectLst/>
              <a:uFillTx/>
              <a:latin typeface="Arial"/>
            </a:endParaRPr>
          </a:p>
        </p:txBody>
      </p:sp>
      <p:sp>
        <p:nvSpPr>
          <p:cNvPr id="96" name="Text 29"/>
          <p:cNvSpPr/>
          <p:nvPr/>
        </p:nvSpPr>
        <p:spPr>
          <a:xfrm>
            <a:off x="7425000" y="37033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Merging, Joining &amp; Concatenating</a:t>
            </a:r>
            <a:endParaRPr lang="en-US" sz="1050" b="0" u="none" strike="noStrike">
              <a:solidFill>
                <a:srgbClr val="000000"/>
              </a:solidFill>
              <a:effectLst/>
              <a:uFillTx/>
              <a:latin typeface="Arial"/>
            </a:endParaRPr>
          </a:p>
        </p:txBody>
      </p:sp>
      <p:sp>
        <p:nvSpPr>
          <p:cNvPr id="97" name="Shape 30"/>
          <p:cNvSpPr/>
          <p:nvPr/>
        </p:nvSpPr>
        <p:spPr>
          <a:xfrm>
            <a:off x="9546480" y="32004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8" name="Text 31"/>
          <p:cNvSpPr/>
          <p:nvPr/>
        </p:nvSpPr>
        <p:spPr>
          <a:xfrm>
            <a:off x="9674280" y="32918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10</a:t>
            </a:r>
            <a:endParaRPr lang="en-US" sz="1700" b="0" u="none" strike="noStrike">
              <a:solidFill>
                <a:srgbClr val="000000"/>
              </a:solidFill>
              <a:effectLst/>
              <a:uFillTx/>
              <a:latin typeface="Arial"/>
            </a:endParaRPr>
          </a:p>
        </p:txBody>
      </p:sp>
      <p:sp>
        <p:nvSpPr>
          <p:cNvPr id="99" name="Text 32"/>
          <p:cNvSpPr/>
          <p:nvPr/>
        </p:nvSpPr>
        <p:spPr>
          <a:xfrm>
            <a:off x="9674280" y="37033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Pivot Tables &amp; Reshaping</a:t>
            </a:r>
            <a:endParaRPr lang="en-US" sz="1050" b="0" u="none" strike="noStrike">
              <a:solidFill>
                <a:srgbClr val="000000"/>
              </a:solidFill>
              <a:effectLst/>
              <a:uFillTx/>
              <a:latin typeface="Arial"/>
            </a:endParaRPr>
          </a:p>
        </p:txBody>
      </p:sp>
      <p:sp>
        <p:nvSpPr>
          <p:cNvPr id="100" name="Shape 33"/>
          <p:cNvSpPr/>
          <p:nvPr/>
        </p:nvSpPr>
        <p:spPr>
          <a:xfrm>
            <a:off x="548640" y="48006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 name="Text 34"/>
          <p:cNvSpPr/>
          <p:nvPr/>
        </p:nvSpPr>
        <p:spPr>
          <a:xfrm>
            <a:off x="676800" y="48920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11</a:t>
            </a:r>
            <a:endParaRPr lang="en-US" sz="1700" b="0" u="none" strike="noStrike">
              <a:solidFill>
                <a:srgbClr val="000000"/>
              </a:solidFill>
              <a:effectLst/>
              <a:uFillTx/>
              <a:latin typeface="Arial"/>
            </a:endParaRPr>
          </a:p>
        </p:txBody>
      </p:sp>
      <p:sp>
        <p:nvSpPr>
          <p:cNvPr id="102" name="Text 35"/>
          <p:cNvSpPr/>
          <p:nvPr/>
        </p:nvSpPr>
        <p:spPr>
          <a:xfrm>
            <a:off x="676800" y="53035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String &amp; DateTime Operations</a:t>
            </a:r>
            <a:endParaRPr lang="en-US" sz="1050" b="0" u="none" strike="noStrike">
              <a:solidFill>
                <a:srgbClr val="000000"/>
              </a:solidFill>
              <a:effectLst/>
              <a:uFillTx/>
              <a:latin typeface="Arial"/>
            </a:endParaRPr>
          </a:p>
        </p:txBody>
      </p:sp>
      <p:sp>
        <p:nvSpPr>
          <p:cNvPr id="103" name="Shape 36"/>
          <p:cNvSpPr/>
          <p:nvPr/>
        </p:nvSpPr>
        <p:spPr>
          <a:xfrm>
            <a:off x="2797920" y="48006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4" name="Text 37"/>
          <p:cNvSpPr/>
          <p:nvPr/>
        </p:nvSpPr>
        <p:spPr>
          <a:xfrm>
            <a:off x="2926080" y="48920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12</a:t>
            </a:r>
            <a:endParaRPr lang="en-US" sz="1700" b="0" u="none" strike="noStrike">
              <a:solidFill>
                <a:srgbClr val="000000"/>
              </a:solidFill>
              <a:effectLst/>
              <a:uFillTx/>
              <a:latin typeface="Arial"/>
            </a:endParaRPr>
          </a:p>
        </p:txBody>
      </p:sp>
      <p:sp>
        <p:nvSpPr>
          <p:cNvPr id="105" name="Text 38"/>
          <p:cNvSpPr/>
          <p:nvPr/>
        </p:nvSpPr>
        <p:spPr>
          <a:xfrm>
            <a:off x="2926080" y="53035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Pandas + Visualization</a:t>
            </a:r>
            <a:endParaRPr lang="en-US" sz="1050" b="0" u="none" strike="noStrike">
              <a:solidFill>
                <a:srgbClr val="000000"/>
              </a:solidFill>
              <a:effectLst/>
              <a:uFillTx/>
              <a:latin typeface="Arial"/>
            </a:endParaRPr>
          </a:p>
        </p:txBody>
      </p:sp>
      <p:sp>
        <p:nvSpPr>
          <p:cNvPr id="106" name="Shape 39"/>
          <p:cNvSpPr/>
          <p:nvPr/>
        </p:nvSpPr>
        <p:spPr>
          <a:xfrm>
            <a:off x="5047560" y="48006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7" name="Text 40"/>
          <p:cNvSpPr/>
          <p:nvPr/>
        </p:nvSpPr>
        <p:spPr>
          <a:xfrm>
            <a:off x="5175360" y="48920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13</a:t>
            </a:r>
            <a:endParaRPr lang="en-US" sz="1700" b="0" u="none" strike="noStrike">
              <a:solidFill>
                <a:srgbClr val="000000"/>
              </a:solidFill>
              <a:effectLst/>
              <a:uFillTx/>
              <a:latin typeface="Arial"/>
            </a:endParaRPr>
          </a:p>
        </p:txBody>
      </p:sp>
      <p:sp>
        <p:nvSpPr>
          <p:cNvPr id="108" name="Text 41"/>
          <p:cNvSpPr/>
          <p:nvPr/>
        </p:nvSpPr>
        <p:spPr>
          <a:xfrm>
            <a:off x="5175360" y="53035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Pandas for Real-World Data</a:t>
            </a:r>
            <a:endParaRPr lang="en-US" sz="1050" b="0" u="none" strike="noStrike">
              <a:solidFill>
                <a:srgbClr val="000000"/>
              </a:solidFill>
              <a:effectLst/>
              <a:uFillTx/>
              <a:latin typeface="Arial"/>
            </a:endParaRPr>
          </a:p>
        </p:txBody>
      </p:sp>
      <p:sp>
        <p:nvSpPr>
          <p:cNvPr id="109" name="Shape 42"/>
          <p:cNvSpPr/>
          <p:nvPr/>
        </p:nvSpPr>
        <p:spPr>
          <a:xfrm>
            <a:off x="7296840" y="4800600"/>
            <a:ext cx="2111760" cy="1462680"/>
          </a:xfrm>
          <a:prstGeom prst="roundRect">
            <a:avLst>
              <a:gd name="adj" fmla="val 625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0" name="Text 43"/>
          <p:cNvSpPr/>
          <p:nvPr/>
        </p:nvSpPr>
        <p:spPr>
          <a:xfrm>
            <a:off x="7425000" y="4892040"/>
            <a:ext cx="18558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8C8AE0"/>
                </a:solidFill>
                <a:effectLst/>
                <a:uFillTx/>
                <a:latin typeface="Bricolage Grotesque"/>
                <a:ea typeface="Bricolage Grotesque"/>
              </a:rPr>
              <a:t>14</a:t>
            </a:r>
            <a:endParaRPr lang="en-US" sz="1700" b="0" u="none" strike="noStrike">
              <a:solidFill>
                <a:srgbClr val="000000"/>
              </a:solidFill>
              <a:effectLst/>
              <a:uFillTx/>
              <a:latin typeface="Arial"/>
            </a:endParaRPr>
          </a:p>
        </p:txBody>
      </p:sp>
      <p:sp>
        <p:nvSpPr>
          <p:cNvPr id="111" name="Text 44"/>
          <p:cNvSpPr/>
          <p:nvPr/>
        </p:nvSpPr>
        <p:spPr>
          <a:xfrm>
            <a:off x="7425000" y="5303520"/>
            <a:ext cx="185580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0000"/>
              </a:lnSpc>
              <a:tabLst>
                <a:tab pos="0" algn="l"/>
              </a:tabLst>
            </a:pPr>
            <a:r>
              <a:rPr lang="en-US" sz="1050" b="1" u="none" strike="noStrike">
                <a:solidFill>
                  <a:srgbClr val="1B1B20"/>
                </a:solidFill>
                <a:effectLst/>
                <a:uFillTx/>
                <a:latin typeface="Hanken Grotesk"/>
                <a:ea typeface="Hanken Grotesk"/>
              </a:rPr>
              <a:t>Mini Projects</a:t>
            </a:r>
            <a:endParaRPr lang="en-US" sz="1050" b="0" u="none" strike="noStrike">
              <a:solidFill>
                <a:srgbClr val="000000"/>
              </a:solidFill>
              <a:effectLst/>
              <a:uFillTx/>
              <a:latin typeface="Arial"/>
            </a:endParaRPr>
          </a:p>
        </p:txBody>
      </p:sp>
      <p:sp>
        <p:nvSpPr>
          <p:cNvPr id="112" name="Text 46"/>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04</a:t>
            </a:r>
            <a:endParaRPr lang="en-US" sz="900" b="0" u="none" strike="noStrike">
              <a:solidFill>
                <a:srgbClr val="000000"/>
              </a:solidFill>
              <a:effectLst/>
              <a:uFillTx/>
              <a:latin typeface="Arial"/>
            </a:endParaRPr>
          </a:p>
        </p:txBody>
      </p:sp>
      <p:sp>
        <p:nvSpPr>
          <p:cNvPr id="113" name="Text 36"/>
          <p:cNvSpPr/>
          <p:nvPr/>
        </p:nvSpPr>
        <p:spPr>
          <a:xfrm>
            <a:off x="549000" y="6202800"/>
            <a:ext cx="1106388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Running examples: simple student/grade tables for syntax — plus the tips, flights, and titanic datasets for real-world sections.</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14"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5"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16"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17"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 · INTRODUCTION</a:t>
            </a:r>
            <a:endParaRPr lang="en-US" sz="1400" b="0" u="none" strike="noStrike">
              <a:solidFill>
                <a:srgbClr val="FFFFFF"/>
              </a:solidFill>
              <a:effectLst/>
              <a:uFillTx/>
              <a:latin typeface="Arial"/>
            </a:endParaRPr>
          </a:p>
        </p:txBody>
      </p:sp>
      <p:sp>
        <p:nvSpPr>
          <p:cNvPr id="118"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Introduction to Pandas</a:t>
            </a:r>
            <a:endParaRPr lang="en-US" sz="4000" b="0" u="none" strike="noStrike">
              <a:solidFill>
                <a:srgbClr val="FFFFFF"/>
              </a:solidFill>
              <a:effectLst/>
              <a:uFillTx/>
              <a:latin typeface="Arial"/>
            </a:endParaRPr>
          </a:p>
        </p:txBody>
      </p:sp>
      <p:sp>
        <p:nvSpPr>
          <p:cNvPr id="119"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What it is, why it exists, and how it fits with NumPy.</a:t>
            </a:r>
            <a:endParaRPr lang="en-US" sz="1500" b="0" u="none" strike="noStrike">
              <a:solidFill>
                <a:srgbClr val="FFFFFF"/>
              </a:solidFill>
              <a:effectLst/>
              <a:uFillTx/>
              <a:latin typeface="Arial"/>
            </a:endParaRPr>
          </a:p>
        </p:txBody>
      </p:sp>
      <p:sp>
        <p:nvSpPr>
          <p:cNvPr id="120"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05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2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What Is Pandas?</a:t>
            </a:r>
            <a:endParaRPr lang="en-US" sz="2600" b="0" u="none" strike="noStrike">
              <a:solidFill>
                <a:srgbClr val="000000"/>
              </a:solidFill>
              <a:effectLst/>
              <a:uFillTx/>
              <a:latin typeface="Arial"/>
            </a:endParaRPr>
          </a:p>
        </p:txBody>
      </p:sp>
      <p:pic>
        <p:nvPicPr>
          <p:cNvPr id="12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5" name="Text 3"/>
          <p:cNvSpPr/>
          <p:nvPr/>
        </p:nvSpPr>
        <p:spPr>
          <a:xfrm>
            <a:off x="548640" y="1737360"/>
            <a:ext cx="11109600" cy="4114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00"/>
              </a:spcAft>
              <a:buClr>
                <a:srgbClr val="1B1B20"/>
              </a:buClr>
              <a:buFont typeface="Symbol" charset="2"/>
              <a:buChar char=""/>
            </a:pPr>
            <a:r>
              <a:rPr lang="en-US" sz="2000" b="0" u="none" strike="noStrike">
                <a:solidFill>
                  <a:srgbClr val="1B1B20"/>
                </a:solidFill>
                <a:effectLst/>
                <a:uFillTx/>
                <a:latin typeface="Cantarell"/>
                <a:ea typeface="Hanken Grotesk"/>
              </a:rPr>
              <a:t>Pandas is Python's core library for working with structured, tabular data — rows and columns, like a spreadsheet or a database table.</a:t>
            </a:r>
            <a:endParaRPr lang="en-US" sz="2000" b="0" u="none" strike="noStrike">
              <a:solidFill>
                <a:srgbClr val="000000"/>
              </a:solidFill>
              <a:effectLst/>
              <a:uFillTx/>
              <a:latin typeface="Cantarell"/>
            </a:endParaRPr>
          </a:p>
          <a:p>
            <a:pPr marL="228600" indent="-228600" defTabSz="914400">
              <a:lnSpc>
                <a:spcPct val="100000"/>
              </a:lnSpc>
              <a:spcAft>
                <a:spcPts val="1500"/>
              </a:spcAft>
              <a:buClr>
                <a:srgbClr val="1B1B20"/>
              </a:buClr>
              <a:buFont typeface="Symbol" charset="2"/>
              <a:buChar char=""/>
            </a:pPr>
            <a:r>
              <a:rPr lang="en-US" sz="2000" b="0" u="none" strike="noStrike">
                <a:solidFill>
                  <a:srgbClr val="1B1B20"/>
                </a:solidFill>
                <a:effectLst/>
                <a:uFillTx/>
                <a:latin typeface="Cantarell"/>
                <a:ea typeface="Hanken Grotesk"/>
              </a:rPr>
              <a:t>Its two main objects are the Series (a single labeled column) and the DataFrame (a full labeled table).</a:t>
            </a:r>
            <a:endParaRPr lang="en-US" sz="2000" b="0" u="none" strike="noStrike">
              <a:solidFill>
                <a:srgbClr val="000000"/>
              </a:solidFill>
              <a:effectLst/>
              <a:uFillTx/>
              <a:latin typeface="Cantarell"/>
            </a:endParaRPr>
          </a:p>
          <a:p>
            <a:pPr marL="228600" indent="-228600" defTabSz="914400">
              <a:lnSpc>
                <a:spcPct val="100000"/>
              </a:lnSpc>
              <a:spcAft>
                <a:spcPts val="1500"/>
              </a:spcAft>
              <a:buClr>
                <a:srgbClr val="1B1B20"/>
              </a:buClr>
              <a:buFont typeface="Symbol" charset="2"/>
              <a:buChar char=""/>
            </a:pPr>
            <a:r>
              <a:rPr lang="en-US" sz="2000" b="0" u="none" strike="noStrike">
                <a:solidFill>
                  <a:srgbClr val="1B1B20"/>
                </a:solidFill>
                <a:effectLst/>
                <a:uFillTx/>
                <a:latin typeface="Cantarell"/>
                <a:ea typeface="Hanken Grotesk"/>
              </a:rPr>
              <a:t>Where you'll actually use it: loading a CSV, cleaning messy data, filtering rows, grouping and summarizing, and preparing a dataset before it's plotted (Matplotlib/Seaborn) or modeled (Machine Learning).</a:t>
            </a:r>
            <a:endParaRPr lang="en-US" sz="2000" b="0" u="none" strike="noStrike">
              <a:solidFill>
                <a:srgbClr val="000000"/>
              </a:solidFill>
              <a:effectLst/>
              <a:uFillTx/>
              <a:latin typeface="Cantarell"/>
            </a:endParaRPr>
          </a:p>
          <a:p>
            <a:pPr marL="228600" indent="-228600" defTabSz="914400">
              <a:lnSpc>
                <a:spcPct val="100000"/>
              </a:lnSpc>
              <a:spcAft>
                <a:spcPts val="1500"/>
              </a:spcAft>
              <a:buClr>
                <a:srgbClr val="1B1B20"/>
              </a:buClr>
              <a:buFont typeface="Symbol" charset="2"/>
              <a:buChar char=""/>
            </a:pPr>
            <a:r>
              <a:rPr lang="en-US" sz="2000" b="0" u="none" strike="noStrike">
                <a:solidFill>
                  <a:srgbClr val="1B1B20"/>
                </a:solidFill>
                <a:effectLst/>
                <a:uFillTx/>
                <a:latin typeface="Cantarell"/>
                <a:ea typeface="Hanken Grotesk"/>
              </a:rPr>
              <a:t>If NumPy is the engine, Pandas is the dashboard — the layer you'll actually spend most of your time in during real Data Analytics work.</a:t>
            </a:r>
            <a:endParaRPr lang="en-US" sz="2000" b="0" u="none" strike="noStrike">
              <a:solidFill>
                <a:srgbClr val="000000"/>
              </a:solidFill>
              <a:effectLst/>
              <a:uFillTx/>
              <a:latin typeface="Cantarell"/>
            </a:endParaRPr>
          </a:p>
        </p:txBody>
      </p:sp>
      <p:sp>
        <p:nvSpPr>
          <p:cNvPr id="126"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2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Installing &amp; Importing</a:t>
            </a:r>
            <a:endParaRPr lang="en-US" sz="2600" b="0" u="none" strike="noStrike">
              <a:solidFill>
                <a:srgbClr val="000000"/>
              </a:solidFill>
              <a:effectLst/>
              <a:uFillTx/>
              <a:latin typeface="Arial"/>
            </a:endParaRPr>
          </a:p>
        </p:txBody>
      </p:sp>
      <p:pic>
        <p:nvPicPr>
          <p:cNvPr id="129"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3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1"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3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3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35"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one-time install</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pip install pandas</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every notebook / script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import pandas as pd</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 = pd.DataFrame({</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"name": ["Amina", "Ben"],</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"score": [88, 74]</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print(df)</a:t>
            </a:r>
            <a:endParaRPr lang="en-US" sz="1350" b="0" u="none" strike="noStrike">
              <a:solidFill>
                <a:srgbClr val="000000"/>
              </a:solidFill>
              <a:effectLst/>
              <a:uFillTx/>
              <a:latin typeface="Cantarell"/>
            </a:endParaRPr>
          </a:p>
        </p:txBody>
      </p:sp>
      <p:sp>
        <p:nvSpPr>
          <p:cNvPr id="136"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2000" b="0" u="none" strike="noStrike">
                <a:solidFill>
                  <a:srgbClr val="1B1B20"/>
                </a:solidFill>
                <a:effectLst/>
                <a:uFillTx/>
                <a:latin typeface="Hanken Grotesk"/>
                <a:ea typeface="Hanken Grotesk"/>
              </a:rPr>
              <a:t>pd is the near-universal alias for Pandas — used across virtually every Data Science codebase.</a:t>
            </a:r>
            <a:endParaRPr lang="en-US" sz="20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2000" b="0" u="none" strike="noStrike">
                <a:solidFill>
                  <a:srgbClr val="1B1B20"/>
                </a:solidFill>
                <a:effectLst/>
                <a:uFillTx/>
                <a:latin typeface="Hanken Grotesk"/>
                <a:ea typeface="Hanken Grotesk"/>
              </a:rPr>
              <a:t>Pandas depends on NumPy internally — installing Pandas installs NumPy too, if it isn't already there.</a:t>
            </a:r>
            <a:endParaRPr lang="en-US" sz="20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2000" b="0" u="none" strike="noStrike">
                <a:solidFill>
                  <a:srgbClr val="1B1B20"/>
                </a:solidFill>
                <a:effectLst/>
                <a:uFillTx/>
                <a:latin typeface="Hanken Grotesk"/>
                <a:ea typeface="Hanken Grotesk"/>
              </a:rPr>
              <a:t>Everything in this module builds from two objects: the Series and the DataFrame.</a:t>
            </a:r>
            <a:endParaRPr lang="en-US" sz="2000" b="0" u="none" strike="noStrike">
              <a:solidFill>
                <a:srgbClr val="000000"/>
              </a:solidFill>
              <a:effectLst/>
              <a:uFillTx/>
              <a:latin typeface="Arial"/>
            </a:endParaRPr>
          </a:p>
        </p:txBody>
      </p:sp>
      <p:sp>
        <p:nvSpPr>
          <p:cNvPr id="137"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38"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9"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40"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41"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Introduction to Pandas</a:t>
            </a:r>
            <a:endParaRPr lang="en-US" sz="2300" b="0" u="none" strike="noStrike">
              <a:solidFill>
                <a:srgbClr val="000000"/>
              </a:solidFill>
              <a:effectLst/>
              <a:uFillTx/>
              <a:latin typeface="Arial"/>
            </a:endParaRPr>
          </a:p>
        </p:txBody>
      </p:sp>
      <p:sp>
        <p:nvSpPr>
          <p:cNvPr id="142"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43"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44"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45"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46"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Install Pandas and openpyxl (if needed), then import Pandas using the standard pd alias.</a:t>
            </a:r>
            <a:endParaRPr lang="en-US" sz="1300" b="0" u="none" strike="noStrike">
              <a:solidFill>
                <a:srgbClr val="000000"/>
              </a:solidFill>
              <a:effectLst/>
              <a:uFillTx/>
              <a:latin typeface="Arial"/>
            </a:endParaRPr>
          </a:p>
        </p:txBody>
      </p:sp>
      <p:sp>
        <p:nvSpPr>
          <p:cNvPr id="147"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48"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49"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50"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small DataFrame from a dictionary of your own choosing and print it.</a:t>
            </a:r>
            <a:endParaRPr lang="en-US" sz="1300" b="0" u="none" strike="noStrike">
              <a:solidFill>
                <a:srgbClr val="000000"/>
              </a:solidFill>
              <a:effectLst/>
              <a:uFillTx/>
              <a:latin typeface="Arial"/>
            </a:endParaRPr>
          </a:p>
        </p:txBody>
      </p:sp>
      <p:sp>
        <p:nvSpPr>
          <p:cNvPr id="151"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2"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3"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54"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explain the difference between a Series and a DataFrame.</a:t>
            </a:r>
            <a:endParaRPr lang="en-US" sz="1300" b="0" u="none" strike="noStrike">
              <a:solidFill>
                <a:srgbClr val="000000"/>
              </a:solidFill>
              <a:effectLst/>
              <a:uFillTx/>
              <a:latin typeface="Arial"/>
            </a:endParaRPr>
          </a:p>
        </p:txBody>
      </p:sp>
      <p:pic>
        <p:nvPicPr>
          <p:cNvPr id="15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56" name="Text 17"/>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57" name="Text 1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58"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9"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60"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61"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2 · FOUNDATIONS</a:t>
            </a:r>
            <a:endParaRPr lang="en-US" sz="1400" b="0" u="none" strike="noStrike">
              <a:solidFill>
                <a:srgbClr val="FFFFFF"/>
              </a:solidFill>
              <a:effectLst/>
              <a:uFillTx/>
              <a:latin typeface="Arial"/>
            </a:endParaRPr>
          </a:p>
        </p:txBody>
      </p:sp>
      <p:sp>
        <p:nvSpPr>
          <p:cNvPr id="162"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Foundations &amp; Terminology</a:t>
            </a:r>
            <a:endParaRPr lang="en-US" sz="4000" b="0" u="none" strike="noStrike">
              <a:solidFill>
                <a:srgbClr val="FFFFFF"/>
              </a:solidFill>
              <a:effectLst/>
              <a:uFillTx/>
              <a:latin typeface="Arial"/>
            </a:endParaRPr>
          </a:p>
        </p:txBody>
      </p:sp>
      <p:sp>
        <p:nvSpPr>
          <p:cNvPr id="163"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12 core terms, plus the Series — the building blocks of every table.</a:t>
            </a:r>
            <a:endParaRPr lang="en-US" sz="1500" b="0" u="none" strike="noStrike">
              <a:solidFill>
                <a:srgbClr val="FFFFFF"/>
              </a:solidFill>
              <a:effectLst/>
              <a:uFillTx/>
              <a:latin typeface="Arial"/>
            </a:endParaRPr>
          </a:p>
        </p:txBody>
      </p:sp>
      <p:sp>
        <p:nvSpPr>
          <p:cNvPr id="164"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09</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65"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166"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1–4 · The Core Objects</a:t>
            </a:r>
            <a:endParaRPr lang="en-US" sz="2600" b="0" u="none" strike="noStrike">
              <a:solidFill>
                <a:srgbClr val="000000"/>
              </a:solidFill>
              <a:effectLst/>
              <a:uFillTx/>
              <a:latin typeface="Arial"/>
            </a:endParaRPr>
          </a:p>
        </p:txBody>
      </p:sp>
      <p:pic>
        <p:nvPicPr>
          <p:cNvPr id="167"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68"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69"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0"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1"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a:t>
            </a:r>
            <a:endParaRPr lang="en-US" sz="1500" b="0" u="none" strike="noStrike">
              <a:solidFill>
                <a:srgbClr val="000000"/>
              </a:solidFill>
              <a:effectLst/>
              <a:uFillTx/>
              <a:latin typeface="Arial"/>
            </a:endParaRPr>
          </a:p>
        </p:txBody>
      </p:sp>
      <p:sp>
        <p:nvSpPr>
          <p:cNvPr id="172"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DataFrame</a:t>
            </a:r>
            <a:endParaRPr lang="en-US" sz="1350" b="0" u="none" strike="noStrike">
              <a:solidFill>
                <a:srgbClr val="000000"/>
              </a:solidFill>
              <a:effectLst/>
              <a:uFillTx/>
              <a:latin typeface="Arial"/>
            </a:endParaRPr>
          </a:p>
        </p:txBody>
      </p:sp>
      <p:sp>
        <p:nvSpPr>
          <p:cNvPr id="173"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2D labeled table — rows and columns, Pandas' central object.</a:t>
            </a:r>
            <a:endParaRPr lang="en-US" sz="1050" b="0" u="none" strike="noStrike">
              <a:solidFill>
                <a:srgbClr val="000000"/>
              </a:solidFill>
              <a:effectLst/>
              <a:uFillTx/>
              <a:latin typeface="Arial"/>
            </a:endParaRPr>
          </a:p>
        </p:txBody>
      </p:sp>
      <p:sp>
        <p:nvSpPr>
          <p:cNvPr id="174"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5"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6"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2</a:t>
            </a:r>
            <a:endParaRPr lang="en-US" sz="1500" b="0" u="none" strike="noStrike">
              <a:solidFill>
                <a:srgbClr val="000000"/>
              </a:solidFill>
              <a:effectLst/>
              <a:uFillTx/>
              <a:latin typeface="Arial"/>
            </a:endParaRPr>
          </a:p>
        </p:txBody>
      </p:sp>
      <p:sp>
        <p:nvSpPr>
          <p:cNvPr id="177"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Series</a:t>
            </a:r>
            <a:endParaRPr lang="en-US" sz="1350" b="0" u="none" strike="noStrike">
              <a:solidFill>
                <a:srgbClr val="000000"/>
              </a:solidFill>
              <a:effectLst/>
              <a:uFillTx/>
              <a:latin typeface="Arial"/>
            </a:endParaRPr>
          </a:p>
        </p:txBody>
      </p:sp>
      <p:sp>
        <p:nvSpPr>
          <p:cNvPr id="178"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single labeled column of data — one column of a DataFrame, or a standalone 1D structure.</a:t>
            </a:r>
            <a:endParaRPr lang="en-US" sz="1050" b="0" u="none" strike="noStrike">
              <a:solidFill>
                <a:srgbClr val="000000"/>
              </a:solidFill>
              <a:effectLst/>
              <a:uFillTx/>
              <a:latin typeface="Arial"/>
            </a:endParaRPr>
          </a:p>
        </p:txBody>
      </p:sp>
      <p:sp>
        <p:nvSpPr>
          <p:cNvPr id="179"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80"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81"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3</a:t>
            </a:r>
            <a:endParaRPr lang="en-US" sz="1500" b="0" u="none" strike="noStrike">
              <a:solidFill>
                <a:srgbClr val="000000"/>
              </a:solidFill>
              <a:effectLst/>
              <a:uFillTx/>
              <a:latin typeface="Arial"/>
            </a:endParaRPr>
          </a:p>
        </p:txBody>
      </p:sp>
      <p:sp>
        <p:nvSpPr>
          <p:cNvPr id="182"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Index</a:t>
            </a:r>
            <a:endParaRPr lang="en-US" sz="1350" b="0" u="none" strike="noStrike">
              <a:solidFill>
                <a:srgbClr val="000000"/>
              </a:solidFill>
              <a:effectLst/>
              <a:uFillTx/>
              <a:latin typeface="Arial"/>
            </a:endParaRPr>
          </a:p>
        </p:txBody>
      </p:sp>
      <p:sp>
        <p:nvSpPr>
          <p:cNvPr id="183"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The labels identifying each row — shown on the left of every DataFrame.</a:t>
            </a:r>
            <a:endParaRPr lang="en-US" sz="1050" b="0" u="none" strike="noStrike">
              <a:solidFill>
                <a:srgbClr val="000000"/>
              </a:solidFill>
              <a:effectLst/>
              <a:uFillTx/>
              <a:latin typeface="Arial"/>
            </a:endParaRPr>
          </a:p>
        </p:txBody>
      </p:sp>
      <p:sp>
        <p:nvSpPr>
          <p:cNvPr id="184"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85"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86"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4</a:t>
            </a:r>
            <a:endParaRPr lang="en-US" sz="1500" b="0" u="none" strike="noStrike">
              <a:solidFill>
                <a:srgbClr val="000000"/>
              </a:solidFill>
              <a:effectLst/>
              <a:uFillTx/>
              <a:latin typeface="Arial"/>
            </a:endParaRPr>
          </a:p>
        </p:txBody>
      </p:sp>
      <p:sp>
        <p:nvSpPr>
          <p:cNvPr id="187"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Column</a:t>
            </a:r>
            <a:endParaRPr lang="en-US" sz="1350" b="0" u="none" strike="noStrike">
              <a:solidFill>
                <a:srgbClr val="000000"/>
              </a:solidFill>
              <a:effectLst/>
              <a:uFillTx/>
              <a:latin typeface="Arial"/>
            </a:endParaRPr>
          </a:p>
        </p:txBody>
      </p:sp>
      <p:sp>
        <p:nvSpPr>
          <p:cNvPr id="188"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One labeled field of data running down a DataFrame, e.g. "age".</a:t>
            </a:r>
            <a:endParaRPr lang="en-US" sz="1050" b="0" u="none" strike="noStrike">
              <a:solidFill>
                <a:srgbClr val="000000"/>
              </a:solidFill>
              <a:effectLst/>
              <a:uFillTx/>
              <a:latin typeface="Arial"/>
            </a:endParaRPr>
          </a:p>
        </p:txBody>
      </p:sp>
      <p:sp>
        <p:nvSpPr>
          <p:cNvPr id="189"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9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19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5–8 · Reading a DataFrame</a:t>
            </a:r>
            <a:endParaRPr lang="en-US" sz="2600" b="0" u="none" strike="noStrike">
              <a:solidFill>
                <a:srgbClr val="000000"/>
              </a:solidFill>
              <a:effectLst/>
              <a:uFillTx/>
              <a:latin typeface="Arial"/>
            </a:endParaRPr>
          </a:p>
        </p:txBody>
      </p:sp>
      <p:pic>
        <p:nvPicPr>
          <p:cNvPr id="19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9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94"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95"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96"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5</a:t>
            </a:r>
            <a:endParaRPr lang="en-US" sz="1500" b="0" u="none" strike="noStrike">
              <a:solidFill>
                <a:srgbClr val="000000"/>
              </a:solidFill>
              <a:effectLst/>
              <a:uFillTx/>
              <a:latin typeface="Arial"/>
            </a:endParaRPr>
          </a:p>
        </p:txBody>
      </p:sp>
      <p:sp>
        <p:nvSpPr>
          <p:cNvPr id="197"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Label</a:t>
            </a:r>
            <a:endParaRPr lang="en-US" sz="1350" b="0" u="none" strike="noStrike">
              <a:solidFill>
                <a:srgbClr val="000000"/>
              </a:solidFill>
              <a:effectLst/>
              <a:uFillTx/>
              <a:latin typeface="Arial"/>
            </a:endParaRPr>
          </a:p>
        </p:txBody>
      </p:sp>
      <p:sp>
        <p:nvSpPr>
          <p:cNvPr id="198"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The name used to refer to a row (via the index) or a column.</a:t>
            </a:r>
            <a:endParaRPr lang="en-US" sz="1050" b="0" u="none" strike="noStrike">
              <a:solidFill>
                <a:srgbClr val="000000"/>
              </a:solidFill>
              <a:effectLst/>
              <a:uFillTx/>
              <a:latin typeface="Arial"/>
            </a:endParaRPr>
          </a:p>
        </p:txBody>
      </p:sp>
      <p:sp>
        <p:nvSpPr>
          <p:cNvPr id="199"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00"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01"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6</a:t>
            </a:r>
            <a:endParaRPr lang="en-US" sz="1500" b="0" u="none" strike="noStrike">
              <a:solidFill>
                <a:srgbClr val="000000"/>
              </a:solidFill>
              <a:effectLst/>
              <a:uFillTx/>
              <a:latin typeface="Arial"/>
            </a:endParaRPr>
          </a:p>
        </p:txBody>
      </p:sp>
      <p:sp>
        <p:nvSpPr>
          <p:cNvPr id="202"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dtype</a:t>
            </a:r>
            <a:endParaRPr lang="en-US" sz="1350" b="0" u="none" strike="noStrike">
              <a:solidFill>
                <a:srgbClr val="000000"/>
              </a:solidFill>
              <a:effectLst/>
              <a:uFillTx/>
              <a:latin typeface="Arial"/>
            </a:endParaRPr>
          </a:p>
        </p:txBody>
      </p:sp>
      <p:sp>
        <p:nvSpPr>
          <p:cNvPr id="203"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The data type of a column's values, e.g. int64, float64, object (text).</a:t>
            </a:r>
            <a:endParaRPr lang="en-US" sz="1050" b="0" u="none" strike="noStrike">
              <a:solidFill>
                <a:srgbClr val="000000"/>
              </a:solidFill>
              <a:effectLst/>
              <a:uFillTx/>
              <a:latin typeface="Arial"/>
            </a:endParaRPr>
          </a:p>
        </p:txBody>
      </p:sp>
      <p:sp>
        <p:nvSpPr>
          <p:cNvPr id="204"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05"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06"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7</a:t>
            </a:r>
            <a:endParaRPr lang="en-US" sz="1500" b="0" u="none" strike="noStrike">
              <a:solidFill>
                <a:srgbClr val="000000"/>
              </a:solidFill>
              <a:effectLst/>
              <a:uFillTx/>
              <a:latin typeface="Arial"/>
            </a:endParaRPr>
          </a:p>
        </p:txBody>
      </p:sp>
      <p:sp>
        <p:nvSpPr>
          <p:cNvPr id="207"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NaN</a:t>
            </a:r>
            <a:endParaRPr lang="en-US" sz="1350" b="0" u="none" strike="noStrike">
              <a:solidFill>
                <a:srgbClr val="000000"/>
              </a:solidFill>
              <a:effectLst/>
              <a:uFillTx/>
              <a:latin typeface="Arial"/>
            </a:endParaRPr>
          </a:p>
        </p:txBody>
      </p:sp>
      <p:sp>
        <p:nvSpPr>
          <p:cNvPr id="208"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Pandas' marker for a missing value — "Not a Number", inherited from NumPy.</a:t>
            </a:r>
            <a:endParaRPr lang="en-US" sz="1050" b="0" u="none" strike="noStrike">
              <a:solidFill>
                <a:srgbClr val="000000"/>
              </a:solidFill>
              <a:effectLst/>
              <a:uFillTx/>
              <a:latin typeface="Arial"/>
            </a:endParaRPr>
          </a:p>
        </p:txBody>
      </p:sp>
      <p:sp>
        <p:nvSpPr>
          <p:cNvPr id="209"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10"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11"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8</a:t>
            </a:r>
            <a:endParaRPr lang="en-US" sz="1500" b="0" u="none" strike="noStrike">
              <a:solidFill>
                <a:srgbClr val="000000"/>
              </a:solidFill>
              <a:effectLst/>
              <a:uFillTx/>
              <a:latin typeface="Arial"/>
            </a:endParaRPr>
          </a:p>
        </p:txBody>
      </p:sp>
      <p:sp>
        <p:nvSpPr>
          <p:cNvPr id="212"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Axis</a:t>
            </a:r>
            <a:endParaRPr lang="en-US" sz="1350" b="0" u="none" strike="noStrike">
              <a:solidFill>
                <a:srgbClr val="000000"/>
              </a:solidFill>
              <a:effectLst/>
              <a:uFillTx/>
              <a:latin typeface="Arial"/>
            </a:endParaRPr>
          </a:p>
        </p:txBody>
      </p:sp>
      <p:sp>
        <p:nvSpPr>
          <p:cNvPr id="213"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The direction of an operation — axis=0 is down rows, axis=1 is across columns.</a:t>
            </a:r>
            <a:endParaRPr lang="en-US" sz="1050" b="0" u="none" strike="noStrike">
              <a:solidFill>
                <a:srgbClr val="000000"/>
              </a:solidFill>
              <a:effectLst/>
              <a:uFillTx/>
              <a:latin typeface="Arial"/>
            </a:endParaRPr>
          </a:p>
        </p:txBody>
      </p:sp>
      <p:sp>
        <p:nvSpPr>
          <p:cNvPr id="214"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15"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16"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9–12 · How Pandas Operates</a:t>
            </a:r>
            <a:endParaRPr lang="en-US" sz="2600" b="0" u="none" strike="noStrike">
              <a:solidFill>
                <a:srgbClr val="000000"/>
              </a:solidFill>
              <a:effectLst/>
              <a:uFillTx/>
              <a:latin typeface="Arial"/>
            </a:endParaRPr>
          </a:p>
        </p:txBody>
      </p:sp>
      <p:pic>
        <p:nvPicPr>
          <p:cNvPr id="217"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218"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19"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0"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1"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9</a:t>
            </a:r>
            <a:endParaRPr lang="en-US" sz="1500" b="0" u="none" strike="noStrike">
              <a:solidFill>
                <a:srgbClr val="000000"/>
              </a:solidFill>
              <a:effectLst/>
              <a:uFillTx/>
              <a:latin typeface="Arial"/>
            </a:endParaRPr>
          </a:p>
        </p:txBody>
      </p:sp>
      <p:sp>
        <p:nvSpPr>
          <p:cNvPr id="222"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Boolean Mask</a:t>
            </a:r>
            <a:endParaRPr lang="en-US" sz="1350" b="0" u="none" strike="noStrike">
              <a:solidFill>
                <a:srgbClr val="000000"/>
              </a:solidFill>
              <a:effectLst/>
              <a:uFillTx/>
              <a:latin typeface="Arial"/>
            </a:endParaRPr>
          </a:p>
        </p:txBody>
      </p:sp>
      <p:sp>
        <p:nvSpPr>
          <p:cNvPr id="223"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True/False Series used to filter rows that meet a condition.</a:t>
            </a:r>
            <a:endParaRPr lang="en-US" sz="1050" b="0" u="none" strike="noStrike">
              <a:solidFill>
                <a:srgbClr val="000000"/>
              </a:solidFill>
              <a:effectLst/>
              <a:uFillTx/>
              <a:latin typeface="Arial"/>
            </a:endParaRPr>
          </a:p>
        </p:txBody>
      </p:sp>
      <p:sp>
        <p:nvSpPr>
          <p:cNvPr id="224"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5"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6"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10</a:t>
            </a:r>
            <a:endParaRPr lang="en-US" sz="1500" b="0" u="none" strike="noStrike">
              <a:solidFill>
                <a:srgbClr val="000000"/>
              </a:solidFill>
              <a:effectLst/>
              <a:uFillTx/>
              <a:latin typeface="Arial"/>
            </a:endParaRPr>
          </a:p>
        </p:txBody>
      </p:sp>
      <p:sp>
        <p:nvSpPr>
          <p:cNvPr id="227"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GroupBy</a:t>
            </a:r>
            <a:endParaRPr lang="en-US" sz="1350" b="0" u="none" strike="noStrike">
              <a:solidFill>
                <a:srgbClr val="000000"/>
              </a:solidFill>
              <a:effectLst/>
              <a:uFillTx/>
              <a:latin typeface="Arial"/>
            </a:endParaRPr>
          </a:p>
        </p:txBody>
      </p:sp>
      <p:sp>
        <p:nvSpPr>
          <p:cNvPr id="228"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Splitting data into groups by a column's values, to summarize each group separately.</a:t>
            </a:r>
            <a:endParaRPr lang="en-US" sz="1050" b="0" u="none" strike="noStrike">
              <a:solidFill>
                <a:srgbClr val="000000"/>
              </a:solidFill>
              <a:effectLst/>
              <a:uFillTx/>
              <a:latin typeface="Arial"/>
            </a:endParaRPr>
          </a:p>
        </p:txBody>
      </p:sp>
      <p:sp>
        <p:nvSpPr>
          <p:cNvPr id="229"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0"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1"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11</a:t>
            </a:r>
            <a:endParaRPr lang="en-US" sz="1500" b="0" u="none" strike="noStrike">
              <a:solidFill>
                <a:srgbClr val="000000"/>
              </a:solidFill>
              <a:effectLst/>
              <a:uFillTx/>
              <a:latin typeface="Arial"/>
            </a:endParaRPr>
          </a:p>
        </p:txBody>
      </p:sp>
      <p:sp>
        <p:nvSpPr>
          <p:cNvPr id="232"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Merge</a:t>
            </a:r>
            <a:endParaRPr lang="en-US" sz="1350" b="0" u="none" strike="noStrike">
              <a:solidFill>
                <a:srgbClr val="000000"/>
              </a:solidFill>
              <a:effectLst/>
              <a:uFillTx/>
              <a:latin typeface="Arial"/>
            </a:endParaRPr>
          </a:p>
        </p:txBody>
      </p:sp>
      <p:sp>
        <p:nvSpPr>
          <p:cNvPr id="233"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Combining two DataFrames based on a shared key column, like a database join.</a:t>
            </a:r>
            <a:endParaRPr lang="en-US" sz="1050" b="0" u="none" strike="noStrike">
              <a:solidFill>
                <a:srgbClr val="000000"/>
              </a:solidFill>
              <a:effectLst/>
              <a:uFillTx/>
              <a:latin typeface="Arial"/>
            </a:endParaRPr>
          </a:p>
        </p:txBody>
      </p:sp>
      <p:sp>
        <p:nvSpPr>
          <p:cNvPr id="234"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5"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6"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12</a:t>
            </a:r>
            <a:endParaRPr lang="en-US" sz="1500" b="0" u="none" strike="noStrike">
              <a:solidFill>
                <a:srgbClr val="000000"/>
              </a:solidFill>
              <a:effectLst/>
              <a:uFillTx/>
              <a:latin typeface="Arial"/>
            </a:endParaRPr>
          </a:p>
        </p:txBody>
      </p:sp>
      <p:sp>
        <p:nvSpPr>
          <p:cNvPr id="237"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Method Chaining</a:t>
            </a:r>
            <a:endParaRPr lang="en-US" sz="1350" b="0" u="none" strike="noStrike">
              <a:solidFill>
                <a:srgbClr val="000000"/>
              </a:solidFill>
              <a:effectLst/>
              <a:uFillTx/>
              <a:latin typeface="Arial"/>
            </a:endParaRPr>
          </a:p>
        </p:txBody>
      </p:sp>
      <p:sp>
        <p:nvSpPr>
          <p:cNvPr id="238"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Calling several DataFrame methods back to back in one line, e.g. df.dropna().sort_values("age").</a:t>
            </a:r>
            <a:endParaRPr lang="en-US" sz="1050" b="0" u="none" strike="noStrike">
              <a:solidFill>
                <a:srgbClr val="000000"/>
              </a:solidFill>
              <a:effectLst/>
              <a:uFillTx/>
              <a:latin typeface="Arial"/>
            </a:endParaRPr>
          </a:p>
        </p:txBody>
      </p:sp>
      <p:sp>
        <p:nvSpPr>
          <p:cNvPr id="239"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4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4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Anatomy of a DataFrame</a:t>
            </a:r>
            <a:endParaRPr lang="en-US" sz="2600" b="0" u="none" strike="noStrike">
              <a:solidFill>
                <a:srgbClr val="000000"/>
              </a:solidFill>
              <a:effectLst/>
              <a:uFillTx/>
              <a:latin typeface="Arial"/>
            </a:endParaRPr>
          </a:p>
        </p:txBody>
      </p:sp>
      <p:pic>
        <p:nvPicPr>
          <p:cNvPr id="24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24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44" name="Shape 3"/>
          <p:cNvSpPr/>
          <p:nvPr/>
        </p:nvSpPr>
        <p:spPr>
          <a:xfrm>
            <a:off x="1828800" y="2011680"/>
            <a:ext cx="137124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5" name="Text 4"/>
          <p:cNvSpPr/>
          <p:nvPr/>
        </p:nvSpPr>
        <p:spPr>
          <a:xfrm>
            <a:off x="1828800" y="201168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name</a:t>
            </a:r>
            <a:endParaRPr lang="en-US" sz="1050" b="0" u="none" strike="noStrike">
              <a:solidFill>
                <a:srgbClr val="000000"/>
              </a:solidFill>
              <a:effectLst/>
              <a:uFillTx/>
              <a:latin typeface="Arial"/>
            </a:endParaRPr>
          </a:p>
        </p:txBody>
      </p:sp>
      <p:sp>
        <p:nvSpPr>
          <p:cNvPr id="246" name="Shape 5"/>
          <p:cNvSpPr/>
          <p:nvPr/>
        </p:nvSpPr>
        <p:spPr>
          <a:xfrm>
            <a:off x="3200400" y="2011680"/>
            <a:ext cx="137124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7" name="Text 6"/>
          <p:cNvSpPr/>
          <p:nvPr/>
        </p:nvSpPr>
        <p:spPr>
          <a:xfrm>
            <a:off x="3200400" y="201168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age</a:t>
            </a:r>
            <a:endParaRPr lang="en-US" sz="1050" b="0" u="none" strike="noStrike">
              <a:solidFill>
                <a:srgbClr val="000000"/>
              </a:solidFill>
              <a:effectLst/>
              <a:uFillTx/>
              <a:latin typeface="Arial"/>
            </a:endParaRPr>
          </a:p>
        </p:txBody>
      </p:sp>
      <p:sp>
        <p:nvSpPr>
          <p:cNvPr id="248" name="Shape 7"/>
          <p:cNvSpPr/>
          <p:nvPr/>
        </p:nvSpPr>
        <p:spPr>
          <a:xfrm>
            <a:off x="4572000" y="2011680"/>
            <a:ext cx="137124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9" name="Text 8"/>
          <p:cNvSpPr/>
          <p:nvPr/>
        </p:nvSpPr>
        <p:spPr>
          <a:xfrm>
            <a:off x="4572000" y="201168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score</a:t>
            </a:r>
            <a:endParaRPr lang="en-US" sz="1050" b="0" u="none" strike="noStrike">
              <a:solidFill>
                <a:srgbClr val="000000"/>
              </a:solidFill>
              <a:effectLst/>
              <a:uFillTx/>
              <a:latin typeface="Arial"/>
            </a:endParaRPr>
          </a:p>
        </p:txBody>
      </p:sp>
      <p:sp>
        <p:nvSpPr>
          <p:cNvPr id="250" name="Shape 9"/>
          <p:cNvSpPr/>
          <p:nvPr/>
        </p:nvSpPr>
        <p:spPr>
          <a:xfrm>
            <a:off x="1188720" y="2011680"/>
            <a:ext cx="639720" cy="502560"/>
          </a:xfrm>
          <a:prstGeom prst="rect">
            <a:avLst/>
          </a:prstGeom>
          <a:solidFill>
            <a:srgbClr val="8C8AE0"/>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1" name="Shape 10"/>
          <p:cNvSpPr/>
          <p:nvPr/>
        </p:nvSpPr>
        <p:spPr>
          <a:xfrm>
            <a:off x="1188720" y="2514600"/>
            <a:ext cx="63972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2" name="Text 11"/>
          <p:cNvSpPr/>
          <p:nvPr/>
        </p:nvSpPr>
        <p:spPr>
          <a:xfrm>
            <a:off x="1188720" y="2514600"/>
            <a:ext cx="6397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0</a:t>
            </a:r>
            <a:endParaRPr lang="en-US" sz="1000" b="0" u="none" strike="noStrike">
              <a:solidFill>
                <a:srgbClr val="000000"/>
              </a:solidFill>
              <a:effectLst/>
              <a:uFillTx/>
              <a:latin typeface="Arial"/>
            </a:endParaRPr>
          </a:p>
        </p:txBody>
      </p:sp>
      <p:sp>
        <p:nvSpPr>
          <p:cNvPr id="253" name="Shape 12"/>
          <p:cNvSpPr/>
          <p:nvPr/>
        </p:nvSpPr>
        <p:spPr>
          <a:xfrm>
            <a:off x="1828800" y="251460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4" name="Text 13"/>
          <p:cNvSpPr/>
          <p:nvPr/>
        </p:nvSpPr>
        <p:spPr>
          <a:xfrm>
            <a:off x="1828800" y="251460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Amina</a:t>
            </a:r>
            <a:endParaRPr lang="en-US" sz="1050" b="0" u="none" strike="noStrike">
              <a:solidFill>
                <a:srgbClr val="000000"/>
              </a:solidFill>
              <a:effectLst/>
              <a:uFillTx/>
              <a:latin typeface="Arial"/>
            </a:endParaRPr>
          </a:p>
        </p:txBody>
      </p:sp>
      <p:sp>
        <p:nvSpPr>
          <p:cNvPr id="255" name="Shape 14"/>
          <p:cNvSpPr/>
          <p:nvPr/>
        </p:nvSpPr>
        <p:spPr>
          <a:xfrm>
            <a:off x="3200400" y="2514600"/>
            <a:ext cx="137124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6" name="Text 15"/>
          <p:cNvSpPr/>
          <p:nvPr/>
        </p:nvSpPr>
        <p:spPr>
          <a:xfrm>
            <a:off x="3200400" y="251460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onsolas"/>
                <a:ea typeface="Consolas"/>
              </a:rPr>
              <a:t>22</a:t>
            </a:r>
            <a:endParaRPr lang="en-US" sz="1050" b="0" u="none" strike="noStrike">
              <a:solidFill>
                <a:srgbClr val="000000"/>
              </a:solidFill>
              <a:effectLst/>
              <a:uFillTx/>
              <a:latin typeface="Arial"/>
            </a:endParaRPr>
          </a:p>
        </p:txBody>
      </p:sp>
      <p:sp>
        <p:nvSpPr>
          <p:cNvPr id="257" name="Shape 16"/>
          <p:cNvSpPr/>
          <p:nvPr/>
        </p:nvSpPr>
        <p:spPr>
          <a:xfrm>
            <a:off x="4572000" y="251460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8" name="Text 17"/>
          <p:cNvSpPr/>
          <p:nvPr/>
        </p:nvSpPr>
        <p:spPr>
          <a:xfrm>
            <a:off x="4572000" y="251460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88</a:t>
            </a:r>
            <a:endParaRPr lang="en-US" sz="1050" b="0" u="none" strike="noStrike">
              <a:solidFill>
                <a:srgbClr val="000000"/>
              </a:solidFill>
              <a:effectLst/>
              <a:uFillTx/>
              <a:latin typeface="Arial"/>
            </a:endParaRPr>
          </a:p>
        </p:txBody>
      </p:sp>
      <p:sp>
        <p:nvSpPr>
          <p:cNvPr id="259" name="Shape 18"/>
          <p:cNvSpPr/>
          <p:nvPr/>
        </p:nvSpPr>
        <p:spPr>
          <a:xfrm>
            <a:off x="1188720" y="3017520"/>
            <a:ext cx="63972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0" name="Text 19"/>
          <p:cNvSpPr/>
          <p:nvPr/>
        </p:nvSpPr>
        <p:spPr>
          <a:xfrm>
            <a:off x="1188720" y="3017520"/>
            <a:ext cx="6397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1</a:t>
            </a:r>
            <a:endParaRPr lang="en-US" sz="1000" b="0" u="none" strike="noStrike">
              <a:solidFill>
                <a:srgbClr val="000000"/>
              </a:solidFill>
              <a:effectLst/>
              <a:uFillTx/>
              <a:latin typeface="Arial"/>
            </a:endParaRPr>
          </a:p>
        </p:txBody>
      </p:sp>
      <p:sp>
        <p:nvSpPr>
          <p:cNvPr id="261" name="Shape 20"/>
          <p:cNvSpPr/>
          <p:nvPr/>
        </p:nvSpPr>
        <p:spPr>
          <a:xfrm>
            <a:off x="1828800" y="301752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2" name="Text 21"/>
          <p:cNvSpPr/>
          <p:nvPr/>
        </p:nvSpPr>
        <p:spPr>
          <a:xfrm>
            <a:off x="1828800" y="301752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Ben</a:t>
            </a:r>
            <a:endParaRPr lang="en-US" sz="1050" b="0" u="none" strike="noStrike">
              <a:solidFill>
                <a:srgbClr val="000000"/>
              </a:solidFill>
              <a:effectLst/>
              <a:uFillTx/>
              <a:latin typeface="Arial"/>
            </a:endParaRPr>
          </a:p>
        </p:txBody>
      </p:sp>
      <p:sp>
        <p:nvSpPr>
          <p:cNvPr id="263" name="Shape 22"/>
          <p:cNvSpPr/>
          <p:nvPr/>
        </p:nvSpPr>
        <p:spPr>
          <a:xfrm>
            <a:off x="3200400" y="3017520"/>
            <a:ext cx="137124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4" name="Text 23"/>
          <p:cNvSpPr/>
          <p:nvPr/>
        </p:nvSpPr>
        <p:spPr>
          <a:xfrm>
            <a:off x="3200400" y="301752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onsolas"/>
                <a:ea typeface="Consolas"/>
              </a:rPr>
              <a:t>25</a:t>
            </a:r>
            <a:endParaRPr lang="en-US" sz="1050" b="0" u="none" strike="noStrike">
              <a:solidFill>
                <a:srgbClr val="000000"/>
              </a:solidFill>
              <a:effectLst/>
              <a:uFillTx/>
              <a:latin typeface="Arial"/>
            </a:endParaRPr>
          </a:p>
        </p:txBody>
      </p:sp>
      <p:sp>
        <p:nvSpPr>
          <p:cNvPr id="265" name="Shape 24"/>
          <p:cNvSpPr/>
          <p:nvPr/>
        </p:nvSpPr>
        <p:spPr>
          <a:xfrm>
            <a:off x="4572000" y="301752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6" name="Text 25"/>
          <p:cNvSpPr/>
          <p:nvPr/>
        </p:nvSpPr>
        <p:spPr>
          <a:xfrm>
            <a:off x="4572000" y="301752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74</a:t>
            </a:r>
            <a:endParaRPr lang="en-US" sz="1050" b="0" u="none" strike="noStrike">
              <a:solidFill>
                <a:srgbClr val="000000"/>
              </a:solidFill>
              <a:effectLst/>
              <a:uFillTx/>
              <a:latin typeface="Arial"/>
            </a:endParaRPr>
          </a:p>
        </p:txBody>
      </p:sp>
      <p:sp>
        <p:nvSpPr>
          <p:cNvPr id="267" name="Shape 26"/>
          <p:cNvSpPr/>
          <p:nvPr/>
        </p:nvSpPr>
        <p:spPr>
          <a:xfrm>
            <a:off x="1188720" y="3520440"/>
            <a:ext cx="63972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8" name="Text 27"/>
          <p:cNvSpPr/>
          <p:nvPr/>
        </p:nvSpPr>
        <p:spPr>
          <a:xfrm>
            <a:off x="1188720" y="3520440"/>
            <a:ext cx="6397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2</a:t>
            </a:r>
            <a:endParaRPr lang="en-US" sz="1000" b="0" u="none" strike="noStrike">
              <a:solidFill>
                <a:srgbClr val="000000"/>
              </a:solidFill>
              <a:effectLst/>
              <a:uFillTx/>
              <a:latin typeface="Arial"/>
            </a:endParaRPr>
          </a:p>
        </p:txBody>
      </p:sp>
      <p:sp>
        <p:nvSpPr>
          <p:cNvPr id="269" name="Shape 28"/>
          <p:cNvSpPr/>
          <p:nvPr/>
        </p:nvSpPr>
        <p:spPr>
          <a:xfrm>
            <a:off x="1828800" y="352044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0" name="Text 29"/>
          <p:cNvSpPr/>
          <p:nvPr/>
        </p:nvSpPr>
        <p:spPr>
          <a:xfrm>
            <a:off x="1828800" y="352044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Chen</a:t>
            </a:r>
            <a:endParaRPr lang="en-US" sz="1050" b="0" u="none" strike="noStrike">
              <a:solidFill>
                <a:srgbClr val="000000"/>
              </a:solidFill>
              <a:effectLst/>
              <a:uFillTx/>
              <a:latin typeface="Arial"/>
            </a:endParaRPr>
          </a:p>
        </p:txBody>
      </p:sp>
      <p:sp>
        <p:nvSpPr>
          <p:cNvPr id="271" name="Shape 30"/>
          <p:cNvSpPr/>
          <p:nvPr/>
        </p:nvSpPr>
        <p:spPr>
          <a:xfrm>
            <a:off x="3200400" y="3520440"/>
            <a:ext cx="137124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2" name="Text 31"/>
          <p:cNvSpPr/>
          <p:nvPr/>
        </p:nvSpPr>
        <p:spPr>
          <a:xfrm>
            <a:off x="3200400" y="352044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onsolas"/>
                <a:ea typeface="Consolas"/>
              </a:rPr>
              <a:t>21</a:t>
            </a:r>
            <a:endParaRPr lang="en-US" sz="1050" b="0" u="none" strike="noStrike">
              <a:solidFill>
                <a:srgbClr val="000000"/>
              </a:solidFill>
              <a:effectLst/>
              <a:uFillTx/>
              <a:latin typeface="Arial"/>
            </a:endParaRPr>
          </a:p>
        </p:txBody>
      </p:sp>
      <p:sp>
        <p:nvSpPr>
          <p:cNvPr id="273" name="Shape 32"/>
          <p:cNvSpPr/>
          <p:nvPr/>
        </p:nvSpPr>
        <p:spPr>
          <a:xfrm>
            <a:off x="4572000" y="352044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4" name="Text 33"/>
          <p:cNvSpPr/>
          <p:nvPr/>
        </p:nvSpPr>
        <p:spPr>
          <a:xfrm>
            <a:off x="4572000" y="352044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91</a:t>
            </a:r>
            <a:endParaRPr lang="en-US" sz="1050" b="0" u="none" strike="noStrike">
              <a:solidFill>
                <a:srgbClr val="000000"/>
              </a:solidFill>
              <a:effectLst/>
              <a:uFillTx/>
              <a:latin typeface="Arial"/>
            </a:endParaRPr>
          </a:p>
        </p:txBody>
      </p:sp>
      <p:sp>
        <p:nvSpPr>
          <p:cNvPr id="275" name="Shape 34"/>
          <p:cNvSpPr/>
          <p:nvPr/>
        </p:nvSpPr>
        <p:spPr>
          <a:xfrm>
            <a:off x="1188720" y="4023360"/>
            <a:ext cx="63972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6" name="Text 35"/>
          <p:cNvSpPr/>
          <p:nvPr/>
        </p:nvSpPr>
        <p:spPr>
          <a:xfrm>
            <a:off x="1188720" y="4023360"/>
            <a:ext cx="6397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3</a:t>
            </a:r>
            <a:endParaRPr lang="en-US" sz="1000" b="0" u="none" strike="noStrike">
              <a:solidFill>
                <a:srgbClr val="000000"/>
              </a:solidFill>
              <a:effectLst/>
              <a:uFillTx/>
              <a:latin typeface="Arial"/>
            </a:endParaRPr>
          </a:p>
        </p:txBody>
      </p:sp>
      <p:sp>
        <p:nvSpPr>
          <p:cNvPr id="277" name="Shape 36"/>
          <p:cNvSpPr/>
          <p:nvPr/>
        </p:nvSpPr>
        <p:spPr>
          <a:xfrm>
            <a:off x="1828800" y="402336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8" name="Text 37"/>
          <p:cNvSpPr/>
          <p:nvPr/>
        </p:nvSpPr>
        <p:spPr>
          <a:xfrm>
            <a:off x="1828800" y="402336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Diego</a:t>
            </a:r>
            <a:endParaRPr lang="en-US" sz="1050" b="0" u="none" strike="noStrike">
              <a:solidFill>
                <a:srgbClr val="000000"/>
              </a:solidFill>
              <a:effectLst/>
              <a:uFillTx/>
              <a:latin typeface="Arial"/>
            </a:endParaRPr>
          </a:p>
        </p:txBody>
      </p:sp>
      <p:sp>
        <p:nvSpPr>
          <p:cNvPr id="279" name="Shape 38"/>
          <p:cNvSpPr/>
          <p:nvPr/>
        </p:nvSpPr>
        <p:spPr>
          <a:xfrm>
            <a:off x="3200400" y="4023360"/>
            <a:ext cx="137124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80" name="Text 39"/>
          <p:cNvSpPr/>
          <p:nvPr/>
        </p:nvSpPr>
        <p:spPr>
          <a:xfrm>
            <a:off x="3200400" y="402336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onsolas"/>
                <a:ea typeface="Consolas"/>
              </a:rPr>
              <a:t>24</a:t>
            </a:r>
            <a:endParaRPr lang="en-US" sz="1050" b="0" u="none" strike="noStrike">
              <a:solidFill>
                <a:srgbClr val="000000"/>
              </a:solidFill>
              <a:effectLst/>
              <a:uFillTx/>
              <a:latin typeface="Arial"/>
            </a:endParaRPr>
          </a:p>
        </p:txBody>
      </p:sp>
      <p:sp>
        <p:nvSpPr>
          <p:cNvPr id="281" name="Shape 40"/>
          <p:cNvSpPr/>
          <p:nvPr/>
        </p:nvSpPr>
        <p:spPr>
          <a:xfrm>
            <a:off x="4572000" y="4023360"/>
            <a:ext cx="137124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82" name="Text 41"/>
          <p:cNvSpPr/>
          <p:nvPr/>
        </p:nvSpPr>
        <p:spPr>
          <a:xfrm>
            <a:off x="4572000" y="4023360"/>
            <a:ext cx="13712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67</a:t>
            </a:r>
            <a:endParaRPr lang="en-US" sz="1050" b="0" u="none" strike="noStrike">
              <a:solidFill>
                <a:srgbClr val="000000"/>
              </a:solidFill>
              <a:effectLst/>
              <a:uFillTx/>
              <a:latin typeface="Arial"/>
            </a:endParaRPr>
          </a:p>
        </p:txBody>
      </p:sp>
      <p:sp>
        <p:nvSpPr>
          <p:cNvPr id="283" name="Text 42"/>
          <p:cNvSpPr/>
          <p:nvPr/>
        </p:nvSpPr>
        <p:spPr>
          <a:xfrm>
            <a:off x="1143000" y="4617720"/>
            <a:ext cx="2011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0" i="1" u="none" strike="noStrike">
                <a:solidFill>
                  <a:srgbClr val="474651"/>
                </a:solidFill>
                <a:effectLst/>
                <a:uFillTx/>
                <a:latin typeface="Hanken Grotesk"/>
                <a:ea typeface="Hanken Grotesk"/>
              </a:rPr>
              <a:t>← Index (row labels)</a:t>
            </a:r>
            <a:endParaRPr lang="en-US" sz="1000" b="0" u="none" strike="noStrike">
              <a:solidFill>
                <a:srgbClr val="000000"/>
              </a:solidFill>
              <a:effectLst/>
              <a:uFillTx/>
              <a:latin typeface="Arial"/>
            </a:endParaRPr>
          </a:p>
        </p:txBody>
      </p:sp>
      <p:sp>
        <p:nvSpPr>
          <p:cNvPr id="284" name="Text 43"/>
          <p:cNvSpPr/>
          <p:nvPr/>
        </p:nvSpPr>
        <p:spPr>
          <a:xfrm>
            <a:off x="1828800" y="1691640"/>
            <a:ext cx="27428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0" i="1" u="none" strike="noStrike">
                <a:solidFill>
                  <a:srgbClr val="474651"/>
                </a:solidFill>
                <a:effectLst/>
                <a:uFillTx/>
                <a:latin typeface="Hanken Grotesk"/>
                <a:ea typeface="Hanken Grotesk"/>
              </a:rPr>
              <a:t>Column labels →</a:t>
            </a:r>
            <a:endParaRPr lang="en-US" sz="1000" b="0" u="none" strike="noStrike">
              <a:solidFill>
                <a:srgbClr val="000000"/>
              </a:solidFill>
              <a:effectLst/>
              <a:uFillTx/>
              <a:latin typeface="Arial"/>
            </a:endParaRPr>
          </a:p>
        </p:txBody>
      </p:sp>
      <p:sp>
        <p:nvSpPr>
          <p:cNvPr id="285" name="Text 44"/>
          <p:cNvSpPr/>
          <p:nvPr/>
        </p:nvSpPr>
        <p:spPr>
          <a:xfrm>
            <a:off x="6949440" y="2103120"/>
            <a:ext cx="470880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250" b="0" u="none" strike="noStrike">
                <a:solidFill>
                  <a:srgbClr val="1B1B20"/>
                </a:solidFill>
                <a:effectLst/>
                <a:uFillTx/>
                <a:latin typeface="Hanken Grotesk"/>
                <a:ea typeface="Hanken Grotesk"/>
              </a:rPr>
              <a:t>The Index (left) labels every row — by default it's 0, 1, 2, ... but can be set to anything, like names or dates.</a:t>
            </a:r>
            <a:endParaRPr lang="en-US" sz="12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250" b="0" u="none" strike="noStrike">
                <a:solidFill>
                  <a:srgbClr val="1B1B20"/>
                </a:solidFill>
                <a:effectLst/>
                <a:uFillTx/>
                <a:latin typeface="Hanken Grotesk"/>
                <a:ea typeface="Hanken Grotesk"/>
              </a:rPr>
              <a:t>Each Column has its own label and its own dtype — "name" holds text, "age" and "score" hold numbers.</a:t>
            </a:r>
            <a:endParaRPr lang="en-US" sz="12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250" b="0" u="none" strike="noStrike">
                <a:solidFill>
                  <a:srgbClr val="1B1B20"/>
                </a:solidFill>
                <a:effectLst/>
                <a:uFillTx/>
                <a:latin typeface="Hanken Grotesk"/>
                <a:ea typeface="Hanken Grotesk"/>
              </a:rPr>
              <a:t>One highlighted column ("age") is itself a Series — a DataFrame is really a collection of aligned Series sharing one Index.</a:t>
            </a:r>
            <a:endParaRPr lang="en-US" sz="12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250" b="0" u="none" strike="noStrike">
                <a:solidFill>
                  <a:srgbClr val="1B1B20"/>
                </a:solidFill>
                <a:effectLst/>
                <a:uFillTx/>
                <a:latin typeface="Hanken Grotesk"/>
                <a:ea typeface="Hanken Grotesk"/>
              </a:rPr>
              <a:t>df.loc[] and df.iloc[] (Part 4) are how you reach into this grid by label or by position.</a:t>
            </a:r>
            <a:endParaRPr lang="en-US" sz="1250" b="0" u="none" strike="noStrike">
              <a:solidFill>
                <a:srgbClr val="000000"/>
              </a:solidFill>
              <a:effectLst/>
              <a:uFillTx/>
              <a:latin typeface="Arial"/>
            </a:endParaRPr>
          </a:p>
        </p:txBody>
      </p:sp>
      <p:sp>
        <p:nvSpPr>
          <p:cNvPr id="286" name="Text 4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87"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88"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289"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90"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Foundations &amp; Terminology</a:t>
            </a:r>
            <a:endParaRPr lang="en-US" sz="2300" b="0" u="none" strike="noStrike">
              <a:solidFill>
                <a:srgbClr val="000000"/>
              </a:solidFill>
              <a:effectLst/>
              <a:uFillTx/>
              <a:latin typeface="Arial"/>
            </a:endParaRPr>
          </a:p>
        </p:txBody>
      </p:sp>
      <p:sp>
        <p:nvSpPr>
          <p:cNvPr id="291"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292"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3"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4"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5"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explain the difference between a DataFrame's Index and its columns.</a:t>
            </a:r>
            <a:endParaRPr lang="en-US" sz="1300" b="0" u="none" strike="noStrike">
              <a:solidFill>
                <a:srgbClr val="000000"/>
              </a:solidFill>
              <a:effectLst/>
              <a:uFillTx/>
              <a:latin typeface="Arial"/>
            </a:endParaRPr>
          </a:p>
        </p:txBody>
      </p:sp>
      <p:sp>
        <p:nvSpPr>
          <p:cNvPr id="296"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7"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8"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299"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Name which axis number refers to rows, and which refers to columns.</a:t>
            </a:r>
            <a:endParaRPr lang="en-US" sz="1300" b="0" u="none" strike="noStrike">
              <a:solidFill>
                <a:srgbClr val="000000"/>
              </a:solidFill>
              <a:effectLst/>
              <a:uFillTx/>
              <a:latin typeface="Arial"/>
            </a:endParaRPr>
          </a:p>
        </p:txBody>
      </p:sp>
      <p:sp>
        <p:nvSpPr>
          <p:cNvPr id="300"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1"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2"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03"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what a boolean mask is, using a simple example.</a:t>
            </a:r>
            <a:endParaRPr lang="en-US" sz="1300" b="0" u="none" strike="noStrike">
              <a:solidFill>
                <a:srgbClr val="000000"/>
              </a:solidFill>
              <a:effectLst/>
              <a:uFillTx/>
              <a:latin typeface="Arial"/>
            </a:endParaRPr>
          </a:p>
        </p:txBody>
      </p:sp>
      <p:sp>
        <p:nvSpPr>
          <p:cNvPr id="304"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5"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6"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07"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what GroupBy does, in one or two sentences, without writing any code.</a:t>
            </a:r>
            <a:endParaRPr lang="en-US" sz="1300" b="0" u="none" strike="noStrike">
              <a:solidFill>
                <a:srgbClr val="000000"/>
              </a:solidFill>
              <a:effectLst/>
              <a:uFillTx/>
              <a:latin typeface="Arial"/>
            </a:endParaRPr>
          </a:p>
        </p:txBody>
      </p:sp>
      <p:pic>
        <p:nvPicPr>
          <p:cNvPr id="30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09"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10"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1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SERIES</a:t>
            </a:r>
            <a:endParaRPr lang="en-US" sz="1100" b="0" u="none" strike="noStrike">
              <a:solidFill>
                <a:srgbClr val="000000"/>
              </a:solidFill>
              <a:effectLst/>
              <a:uFillTx/>
              <a:latin typeface="Arial"/>
            </a:endParaRPr>
          </a:p>
        </p:txBody>
      </p:sp>
      <p:sp>
        <p:nvSpPr>
          <p:cNvPr id="31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Series vs. a Python List</a:t>
            </a:r>
            <a:endParaRPr lang="en-US" sz="2600" b="0" u="none" strike="noStrike">
              <a:solidFill>
                <a:srgbClr val="000000"/>
              </a:solidFill>
              <a:effectLst/>
              <a:uFillTx/>
              <a:latin typeface="Arial"/>
            </a:endParaRPr>
          </a:p>
        </p:txBody>
      </p:sp>
      <p:pic>
        <p:nvPicPr>
          <p:cNvPr id="31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1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315" name="Table 0"/>
          <p:cNvGraphicFramePr/>
          <p:nvPr/>
        </p:nvGraphicFramePr>
        <p:xfrm>
          <a:off x="548640" y="1737360"/>
          <a:ext cx="11109600" cy="2651400"/>
        </p:xfrm>
        <a:graphic>
          <a:graphicData uri="http://schemas.openxmlformats.org/drawingml/2006/table">
            <a:tbl>
              <a:tblPr/>
              <a:tblGrid>
                <a:gridCol w="3999240"/>
                <a:gridCol w="7110360"/>
              </a:tblGrid>
              <a:tr h="53028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Feature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Python list  →  Pandas Series</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Index</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Only 0, 1, 2…  →  numbers OR custom labels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Math (sum, mean…)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Manual loops  →  built in: .sum() .mean() .max()</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Missing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No concept  →  NaN, with isna() / fillna()</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Part of a DataFrame?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No  →  Yes: every column is a Series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16" name="Shape 3"/>
          <p:cNvSpPr/>
          <p:nvPr/>
        </p:nvSpPr>
        <p:spPr>
          <a:xfrm>
            <a:off x="548640" y="4572000"/>
            <a:ext cx="11109600" cy="1279800"/>
          </a:xfrm>
          <a:prstGeom prst="roundRect">
            <a:avLst>
              <a:gd name="adj" fmla="val 857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17" name="Shape 4"/>
          <p:cNvSpPr/>
          <p:nvPr/>
        </p:nvSpPr>
        <p:spPr>
          <a:xfrm>
            <a:off x="713160" y="47181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18" name="Shape 5"/>
          <p:cNvSpPr/>
          <p:nvPr/>
        </p:nvSpPr>
        <p:spPr>
          <a:xfrm>
            <a:off x="914400" y="47181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19" name="Shape 6"/>
          <p:cNvSpPr/>
          <p:nvPr/>
        </p:nvSpPr>
        <p:spPr>
          <a:xfrm>
            <a:off x="1115640" y="47181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20" name="Text 7"/>
          <p:cNvSpPr/>
          <p:nvPr/>
        </p:nvSpPr>
        <p:spPr>
          <a:xfrm>
            <a:off x="749880" y="4956120"/>
            <a:ext cx="10707120" cy="749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onsolas"/>
                <a:ea typeface="Consolas"/>
              </a:rPr>
              <a:t>s = pd.Series([10, 20, 30], index=["a", "b", "c"])</a:t>
            </a:r>
            <a:endParaRPr lang="en-US" sz="1400" b="0" u="none" strike="noStrike">
              <a:solidFill>
                <a:srgbClr val="000000"/>
              </a:solidFill>
              <a:effectLst/>
              <a:uFillTx/>
              <a:latin typeface="Arial"/>
            </a:endParaRPr>
          </a:p>
          <a:p>
            <a:pPr defTabSz="914400">
              <a:lnSpc>
                <a:spcPct val="118000"/>
              </a:lnSpc>
              <a:tabLst>
                <a:tab pos="0" algn="l"/>
              </a:tabLst>
            </a:pPr>
            <a:r>
              <a:rPr lang="en-US" sz="1400" b="0" u="none" strike="noStrike">
                <a:solidFill>
                  <a:srgbClr val="F1F5F9"/>
                </a:solidFill>
                <a:effectLst/>
                <a:uFillTx/>
                <a:latin typeface="Consolas"/>
                <a:ea typeface="Consolas"/>
              </a:rPr>
              <a:t>s["b"], s.mean()     # 20, 20.0</a:t>
            </a:r>
            <a:endParaRPr lang="en-US" sz="1400" b="0" u="none" strike="noStrike">
              <a:solidFill>
                <a:srgbClr val="000000"/>
              </a:solidFill>
              <a:effectLst/>
              <a:uFillTx/>
              <a:latin typeface="Arial"/>
            </a:endParaRPr>
          </a:p>
        </p:txBody>
      </p:sp>
      <p:sp>
        <p:nvSpPr>
          <p:cNvPr id="321"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2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SERIES</a:t>
            </a:r>
            <a:endParaRPr lang="en-US" sz="1100" b="0" u="none" strike="noStrike">
              <a:solidFill>
                <a:srgbClr val="000000"/>
              </a:solidFill>
              <a:effectLst/>
              <a:uFillTx/>
              <a:latin typeface="Arial"/>
            </a:endParaRPr>
          </a:p>
        </p:txBody>
      </p:sp>
      <p:sp>
        <p:nvSpPr>
          <p:cNvPr id="32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Creating a Series</a:t>
            </a:r>
            <a:endParaRPr lang="en-US" sz="2600" b="0" u="none" strike="noStrike">
              <a:solidFill>
                <a:srgbClr val="000000"/>
              </a:solidFill>
              <a:effectLst/>
              <a:uFillTx/>
              <a:latin typeface="Arial"/>
            </a:endParaRPr>
          </a:p>
        </p:txBody>
      </p:sp>
      <p:pic>
        <p:nvPicPr>
          <p:cNvPr id="32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2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26"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27"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28"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29"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30"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labels = ["a", "b", "c"]</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nums   = [10, 20, 30]</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pd.Series(nums)               # 0, 1, 2</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pd.Series(nums, index=labels) # a, b, c</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pd.Series(np.array(nums))     # from NumPy</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pd.Series({"Waseem": 10,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"Kamran": 20})     # from dict</a:t>
            </a:r>
            <a:endParaRPr lang="en-US" sz="1350" b="0" u="none" strike="noStrike">
              <a:solidFill>
                <a:srgbClr val="000000"/>
              </a:solidFill>
              <a:effectLst/>
              <a:uFillTx/>
              <a:latin typeface="Arial"/>
            </a:endParaRPr>
          </a:p>
        </p:txBody>
      </p:sp>
      <p:sp>
        <p:nvSpPr>
          <p:cNvPr id="331"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 Series is one labeled column: a list of values where every value has an index label — by default 0, 1, 2…</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Build it from a Python list, a NumPy array, or a dictionary. A dictionary’s keys become the index and its values become the data.</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Pass index= by name to set custom labels. Passing labels as the second argument also works, but index= is clearer.</a:t>
            </a:r>
            <a:endParaRPr lang="en-US" sz="1400" b="0" u="none" strike="noStrike">
              <a:solidFill>
                <a:srgbClr val="000000"/>
              </a:solidFill>
              <a:effectLst/>
              <a:uFillTx/>
              <a:latin typeface="Arial"/>
            </a:endParaRPr>
          </a:p>
        </p:txBody>
      </p:sp>
      <p:sp>
        <p:nvSpPr>
          <p:cNvPr id="332"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3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SERIES</a:t>
            </a:r>
            <a:endParaRPr lang="en-US" sz="1100" b="0" u="none" strike="noStrike">
              <a:solidFill>
                <a:srgbClr val="000000"/>
              </a:solidFill>
              <a:effectLst/>
              <a:uFillTx/>
              <a:latin typeface="Arial"/>
            </a:endParaRPr>
          </a:p>
        </p:txBody>
      </p:sp>
      <p:sp>
        <p:nvSpPr>
          <p:cNvPr id="33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Custom Labels — the Locker Analogy</a:t>
            </a:r>
            <a:endParaRPr lang="en-US" sz="2600" b="0" u="none" strike="noStrike">
              <a:solidFill>
                <a:srgbClr val="000000"/>
              </a:solidFill>
              <a:effectLst/>
              <a:uFillTx/>
              <a:latin typeface="Arial"/>
            </a:endParaRPr>
          </a:p>
        </p:txBody>
      </p:sp>
      <p:pic>
        <p:nvPicPr>
          <p:cNvPr id="33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3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37"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3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3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4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41"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a = [100, 2, 3]</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s = pd.Series(a, index=["x", "y", "z"])</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print(s["x"])    # 100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print(s["y"])    # 2</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print(s["z"])    # 3</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print(s.dtype)   # int64</a:t>
            </a:r>
            <a:endParaRPr lang="en-US" sz="1350" b="0" u="none" strike="noStrike">
              <a:solidFill>
                <a:srgbClr val="000000"/>
              </a:solidFill>
              <a:effectLst/>
              <a:uFillTx/>
              <a:latin typeface="Arial"/>
            </a:endParaRPr>
          </a:p>
        </p:txBody>
      </p:sp>
      <p:sp>
        <p:nvSpPr>
          <p:cNvPr id="342"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Analogy: a locker system. Instead of lockers 0, 1, 2 you name them x, y, z — then ask for “what’s in locker x?”</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Once labeled, you read values by label — s["x"] — instead of by position.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dtype tells you what is stored: int64 means 64-bit whole numbers.</a:t>
            </a:r>
            <a:endParaRPr lang="en-US" sz="1400" b="0" u="none" strike="noStrike">
              <a:solidFill>
                <a:srgbClr val="000000"/>
              </a:solidFill>
              <a:effectLst/>
              <a:uFillTx/>
              <a:latin typeface="Arial"/>
            </a:endParaRPr>
          </a:p>
        </p:txBody>
      </p:sp>
      <p:sp>
        <p:nvSpPr>
          <p:cNvPr id="343"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4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SERIES</a:t>
            </a:r>
            <a:endParaRPr lang="en-US" sz="1100" b="0" u="none" strike="noStrike">
              <a:solidFill>
                <a:srgbClr val="000000"/>
              </a:solidFill>
              <a:effectLst/>
              <a:uFillTx/>
              <a:latin typeface="Arial"/>
            </a:endParaRPr>
          </a:p>
        </p:txBody>
      </p:sp>
      <p:sp>
        <p:nvSpPr>
          <p:cNvPr id="34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Series from a Dict — and DataFrames</a:t>
            </a:r>
            <a:endParaRPr lang="en-US" sz="2600" b="0" u="none" strike="noStrike">
              <a:solidFill>
                <a:srgbClr val="000000"/>
              </a:solidFill>
              <a:effectLst/>
              <a:uFillTx/>
              <a:latin typeface="Arial"/>
            </a:endParaRPr>
          </a:p>
        </p:txBody>
      </p:sp>
      <p:pic>
        <p:nvPicPr>
          <p:cNvPr id="34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4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48"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49"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50"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51"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52"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cal = {"day1": 420, </a:t>
            </a:r>
            <a:r>
              <a:rPr lang="en-US" sz="1350" b="0" u="none" strike="noStrike">
                <a:solidFill>
                  <a:srgbClr val="F1F5F9"/>
                </a:solidFill>
                <a:effectLst/>
                <a:uFillTx/>
                <a:latin typeface="Consolas"/>
                <a:ea typeface="Consolas"/>
              </a:rPr>
              <a:t>"day2": 380, "day3": </a:t>
            </a:r>
            <a:r>
              <a:rPr lang="en-US" sz="1350" b="0" u="none" strike="noStrike">
                <a:solidFill>
                  <a:srgbClr val="F1F5F9"/>
                </a:solidFill>
                <a:effectLst/>
                <a:uFillTx/>
                <a:latin typeface="Consolas"/>
                <a:ea typeface="Consolas"/>
              </a:rPr>
              <a:t>390}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s = pd.Series(cal)</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s.sum(), s.mean(), </a:t>
            </a:r>
            <a:r>
              <a:rPr lang="en-US" sz="1350" b="0" u="none" strike="noStrike">
                <a:solidFill>
                  <a:srgbClr val="F1F5F9"/>
                </a:solidFill>
                <a:effectLst/>
                <a:uFillTx/>
                <a:latin typeface="Consolas"/>
                <a:ea typeface="Consolas"/>
              </a:rPr>
              <a:t>s.idxmax()</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1190, 396.7, </a:t>
            </a:r>
            <a:r>
              <a:rPr lang="en-US" sz="1350" b="0" u="none" strike="noStrike">
                <a:solidFill>
                  <a:srgbClr val="F1F5F9"/>
                </a:solidFill>
                <a:effectLst/>
                <a:uFillTx/>
                <a:latin typeface="Consolas"/>
                <a:ea typeface="Consolas"/>
              </a:rPr>
              <a:t>"day1"</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pd.Series(cal, </a:t>
            </a:r>
            <a:r>
              <a:rPr lang="en-US" sz="1350" b="0" u="none" strike="noStrike">
                <a:solidFill>
                  <a:srgbClr val="F1F5F9"/>
                </a:solidFill>
                <a:effectLst/>
                <a:uFillTx/>
                <a:latin typeface="Consolas"/>
                <a:ea typeface="Consolas"/>
              </a:rPr>
              <a:t>index=["day1", </a:t>
            </a:r>
            <a:r>
              <a:rPr lang="en-US" sz="1350" b="0" u="none" strike="noStrike">
                <a:solidFill>
                  <a:srgbClr val="F1F5F9"/>
                </a:solidFill>
                <a:effectLst/>
                <a:uFillTx/>
                <a:latin typeface="Consolas"/>
                <a:ea typeface="Consolas"/>
              </a:rPr>
              <a:t>"day4"])</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day1  420.0   day4  </a:t>
            </a:r>
            <a:r>
              <a:rPr lang="en-US" sz="1350" b="0" u="none" strike="noStrike">
                <a:solidFill>
                  <a:srgbClr val="F1F5F9"/>
                </a:solidFill>
                <a:effectLst/>
                <a:uFillTx/>
                <a:latin typeface="Consolas"/>
                <a:ea typeface="Consolas"/>
              </a:rPr>
              <a:t>NaN</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 = pd.DataFrame({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"calories": [420, </a:t>
            </a:r>
            <a:r>
              <a:rPr lang="en-US" sz="1350" b="0" u="none" strike="noStrike">
                <a:solidFill>
                  <a:srgbClr val="F1F5F9"/>
                </a:solidFill>
                <a:effectLst/>
                <a:uFillTx/>
                <a:latin typeface="Consolas"/>
                <a:ea typeface="Consolas"/>
              </a:rPr>
              <a:t>380, 390],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"duration": [50, 40, </a:t>
            </a:r>
            <a:r>
              <a:rPr lang="en-US" sz="1350" b="0" u="none" strike="noStrike">
                <a:solidFill>
                  <a:srgbClr val="F1F5F9"/>
                </a:solidFill>
                <a:effectLst/>
                <a:uFillTx/>
                <a:latin typeface="Consolas"/>
                <a:ea typeface="Consolas"/>
              </a:rPr>
              <a:t>45]})</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type(df["calories"])   </a:t>
            </a:r>
            <a:r>
              <a:rPr lang="en-US" sz="1350" b="0" u="none" strike="noStrike">
                <a:solidFill>
                  <a:srgbClr val="F1F5F9"/>
                </a:solidFill>
                <a:effectLst/>
                <a:uFillTx/>
                <a:latin typeface="Consolas"/>
                <a:ea typeface="Consolas"/>
              </a:rPr>
              <a:t># Series</a:t>
            </a:r>
            <a:endParaRPr lang="en-US" sz="1350" b="0" u="none" strike="noStrike">
              <a:solidFill>
                <a:srgbClr val="000000"/>
              </a:solidFill>
              <a:effectLst/>
              <a:uFillTx/>
              <a:latin typeface="Arial"/>
            </a:endParaRPr>
          </a:p>
        </p:txBody>
      </p:sp>
      <p:sp>
        <p:nvSpPr>
          <p:cNvPr id="353"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 dict maps straight onto a Series — keys become the index, values the data — so .sum(), .mean() and .idxmax() work immediately.</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Pass index= with a dict to pick only the keys you want. A key that isn’t in the dict still appears, filled with NaN (and the numbers become floats).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 DataFrame is Series side by side: a dict of lists becomes columns, and type() confirms each column is a Series.</a:t>
            </a:r>
            <a:endParaRPr lang="en-US" sz="1400" b="0" u="none" strike="noStrike">
              <a:solidFill>
                <a:srgbClr val="000000"/>
              </a:solidFill>
              <a:effectLst/>
              <a:uFillTx/>
              <a:latin typeface="Arial"/>
            </a:endParaRPr>
          </a:p>
        </p:txBody>
      </p:sp>
      <p:sp>
        <p:nvSpPr>
          <p:cNvPr id="354"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55"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56"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357"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SERIES</a:t>
            </a:r>
            <a:endParaRPr lang="en-US" sz="1100" b="0" u="none" strike="noStrike">
              <a:solidFill>
                <a:srgbClr val="000000"/>
              </a:solidFill>
              <a:effectLst/>
              <a:uFillTx/>
              <a:latin typeface="Arial"/>
            </a:endParaRPr>
          </a:p>
        </p:txBody>
      </p:sp>
      <p:sp>
        <p:nvSpPr>
          <p:cNvPr id="358"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Pandas Series</a:t>
            </a:r>
            <a:endParaRPr lang="en-US" sz="2300" b="0" u="none" strike="noStrike">
              <a:solidFill>
                <a:srgbClr val="000000"/>
              </a:solidFill>
              <a:effectLst/>
              <a:uFillTx/>
              <a:latin typeface="Arial"/>
            </a:endParaRPr>
          </a:p>
        </p:txBody>
      </p:sp>
      <p:sp>
        <p:nvSpPr>
          <p:cNvPr id="359"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360"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1"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2"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363"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Series from a list, then again with custom index labels, and read one value by its label.</a:t>
            </a:r>
            <a:endParaRPr lang="en-US" sz="1300" b="0" u="none" strike="noStrike">
              <a:solidFill>
                <a:srgbClr val="000000"/>
              </a:solidFill>
              <a:effectLst/>
              <a:uFillTx/>
              <a:latin typeface="Arial"/>
            </a:endParaRPr>
          </a:p>
        </p:txBody>
      </p:sp>
      <p:sp>
        <p:nvSpPr>
          <p:cNvPr id="364"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5"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6"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67"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Build a Series from a dictionary, select only two of its keys with index=, then request a missing key and explain the NaN.</a:t>
            </a:r>
            <a:endParaRPr lang="en-US" sz="1300" b="0" u="none" strike="noStrike">
              <a:solidFill>
                <a:srgbClr val="000000"/>
              </a:solidFill>
              <a:effectLst/>
              <a:uFillTx/>
              <a:latin typeface="Arial"/>
            </a:endParaRPr>
          </a:p>
        </p:txBody>
      </p:sp>
      <p:sp>
        <p:nvSpPr>
          <p:cNvPr id="368"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9"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0"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71"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sum, mean, and idxmax() of a Series and say what each one told you.</a:t>
            </a:r>
            <a:endParaRPr lang="en-US" sz="1300" b="0" u="none" strike="noStrike">
              <a:solidFill>
                <a:srgbClr val="000000"/>
              </a:solidFill>
              <a:effectLst/>
              <a:uFillTx/>
              <a:latin typeface="Arial"/>
            </a:endParaRPr>
          </a:p>
        </p:txBody>
      </p:sp>
      <p:sp>
        <p:nvSpPr>
          <p:cNvPr id="372"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3"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4"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75"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Build a DataFrame from a dict of lists and confirm with type() that one column is a Series.</a:t>
            </a:r>
            <a:endParaRPr lang="en-US" sz="1300" b="0" u="none" strike="noStrike">
              <a:solidFill>
                <a:srgbClr val="000000"/>
              </a:solidFill>
              <a:effectLst/>
              <a:uFillTx/>
              <a:latin typeface="Arial"/>
            </a:endParaRPr>
          </a:p>
        </p:txBody>
      </p:sp>
      <p:pic>
        <p:nvPicPr>
          <p:cNvPr id="37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77"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78"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379"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80"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381"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382"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3 · CREATING &amp; LOADING DATA</a:t>
            </a:r>
            <a:endParaRPr lang="en-US" sz="1400" b="0" u="none" strike="noStrike">
              <a:solidFill>
                <a:srgbClr val="FFFFFF"/>
              </a:solidFill>
              <a:effectLst/>
              <a:uFillTx/>
              <a:latin typeface="Arial"/>
            </a:endParaRPr>
          </a:p>
        </p:txBody>
      </p:sp>
      <p:sp>
        <p:nvSpPr>
          <p:cNvPr id="383"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Creating &amp; Loading Data</a:t>
            </a:r>
            <a:endParaRPr lang="en-US" sz="4000" b="0" u="none" strike="noStrike">
              <a:solidFill>
                <a:srgbClr val="FFFFFF"/>
              </a:solidFill>
              <a:effectLst/>
              <a:uFillTx/>
              <a:latin typeface="Arial"/>
            </a:endParaRPr>
          </a:p>
        </p:txBody>
      </p:sp>
      <p:sp>
        <p:nvSpPr>
          <p:cNvPr id="384"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Every analysis starts with getting data into a DataFrame.</a:t>
            </a:r>
            <a:endParaRPr lang="en-US" sz="1500" b="0" u="none" strike="noStrike">
              <a:solidFill>
                <a:srgbClr val="FFFFFF"/>
              </a:solidFill>
              <a:effectLst/>
              <a:uFillTx/>
              <a:latin typeface="Arial"/>
            </a:endParaRPr>
          </a:p>
        </p:txBody>
      </p:sp>
      <p:sp>
        <p:nvSpPr>
          <p:cNvPr id="385"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20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8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38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From a Dictionary or List</a:t>
            </a:r>
            <a:endParaRPr lang="en-US" sz="2600" b="0" u="none" strike="noStrike">
              <a:solidFill>
                <a:srgbClr val="000000"/>
              </a:solidFill>
              <a:effectLst/>
              <a:uFillTx/>
              <a:latin typeface="Arial"/>
            </a:endParaRPr>
          </a:p>
        </p:txBody>
      </p:sp>
      <p:pic>
        <p:nvPicPr>
          <p:cNvPr id="38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38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90"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91"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92"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93"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94"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 from a dictionary of lists</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df = pd.DataFrame({</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"name": ["Amina", "Ben", "Chen"],</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"age": [22, 25, 21],</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"score": [88, 74, 91]</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from a list of dictionaries</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records = [</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{"name": "Amina", "score": 88},</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{"name": "Ben", "score": 74}</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df2 = pd.DataFrame(records)</a:t>
            </a:r>
            <a:endParaRPr lang="en-US" sz="1300" b="0" u="none" strike="noStrike">
              <a:solidFill>
                <a:srgbClr val="000000"/>
              </a:solidFill>
              <a:effectLst/>
              <a:uFillTx/>
              <a:latin typeface="Cantarell"/>
            </a:endParaRPr>
          </a:p>
        </p:txBody>
      </p:sp>
      <p:sp>
        <p:nvSpPr>
          <p:cNvPr id="395"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 dict of lists becomes columns — each key is a column name, each list is that column's values.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 list of dicts becomes rows — each dict is one row, with its keys as column names.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Both are common ways to build a small DataFrame directly in code, without a file.</a:t>
            </a:r>
            <a:endParaRPr lang="en-US" sz="1400" b="0" u="none" strike="noStrike">
              <a:solidFill>
                <a:srgbClr val="000000"/>
              </a:solidFill>
              <a:effectLst/>
              <a:uFillTx/>
              <a:latin typeface="Arial"/>
            </a:endParaRPr>
          </a:p>
        </p:txBody>
      </p:sp>
      <p:sp>
        <p:nvSpPr>
          <p:cNvPr id="396"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9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39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Reading Real Files</a:t>
            </a:r>
            <a:endParaRPr lang="en-US" sz="2600" b="0" u="none" strike="noStrike">
              <a:solidFill>
                <a:srgbClr val="000000"/>
              </a:solidFill>
              <a:effectLst/>
              <a:uFillTx/>
              <a:latin typeface="Arial"/>
            </a:endParaRPr>
          </a:p>
        </p:txBody>
      </p:sp>
      <p:pic>
        <p:nvPicPr>
          <p:cNvPr id="399"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0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401" name="Table 0"/>
          <p:cNvGraphicFramePr/>
          <p:nvPr/>
        </p:nvGraphicFramePr>
        <p:xfrm>
          <a:off x="548640" y="1737360"/>
          <a:ext cx="11109600" cy="2559960"/>
        </p:xfrm>
        <a:graphic>
          <a:graphicData uri="http://schemas.openxmlformats.org/drawingml/2006/table">
            <a:tbl>
              <a:tblPr/>
              <a:tblGrid>
                <a:gridCol w="3999240"/>
                <a:gridCol w="7110360"/>
              </a:tblGrid>
              <a:tr h="5119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pd.read_csv("file.csv")</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Loads a CSV file into a DataFrame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pd.read_excel("file.xlsx")</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Loads an Excel spreadsheet into a DataFrame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pd.read_json("file.json")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Loads a JSON file into a DataFrame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df.to_csv("out.csv", index=False)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Saves a DataFrame back out to a CSV file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402" name="Shape 3"/>
          <p:cNvSpPr/>
          <p:nvPr/>
        </p:nvSpPr>
        <p:spPr>
          <a:xfrm>
            <a:off x="548640" y="448056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3" name="Shape 4"/>
          <p:cNvSpPr/>
          <p:nvPr/>
        </p:nvSpPr>
        <p:spPr>
          <a:xfrm>
            <a:off x="713160" y="46267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04" name="Shape 5"/>
          <p:cNvSpPr/>
          <p:nvPr/>
        </p:nvSpPr>
        <p:spPr>
          <a:xfrm>
            <a:off x="914400" y="46267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05" name="Shape 6"/>
          <p:cNvSpPr/>
          <p:nvPr/>
        </p:nvSpPr>
        <p:spPr>
          <a:xfrm>
            <a:off x="1115640" y="46267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06" name="Text 7"/>
          <p:cNvSpPr/>
          <p:nvPr/>
        </p:nvSpPr>
        <p:spPr>
          <a:xfrm>
            <a:off x="749880" y="475668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df = pd.read_csv("students.csv")</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common useful arguments:</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pd.read_csv("data.csv", index_col=0)      # use column 0 as the index</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pd.read_csv("data.csv", usecols=["name", "score"])  # load only some columns</a:t>
            </a:r>
            <a:endParaRPr lang="en-US" sz="1250" b="0" u="none" strike="noStrike">
              <a:solidFill>
                <a:srgbClr val="000000"/>
              </a:solidFill>
              <a:effectLst/>
              <a:uFillTx/>
              <a:latin typeface="Cantarell"/>
            </a:endParaRPr>
          </a:p>
        </p:txBody>
      </p:sp>
      <p:sp>
        <p:nvSpPr>
          <p:cNvPr id="407"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0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0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First Look — head(), tail(), shape</a:t>
            </a:r>
            <a:endParaRPr lang="en-US" sz="2600" b="0" u="none" strike="noStrike">
              <a:solidFill>
                <a:srgbClr val="000000"/>
              </a:solidFill>
              <a:effectLst/>
              <a:uFillTx/>
              <a:latin typeface="Arial"/>
            </a:endParaRPr>
          </a:p>
        </p:txBody>
      </p:sp>
      <p:pic>
        <p:nvPicPr>
          <p:cNvPr id="41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1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12" name="Shape 3"/>
          <p:cNvSpPr/>
          <p:nvPr/>
        </p:nvSpPr>
        <p:spPr>
          <a:xfrm>
            <a:off x="548640" y="1737360"/>
            <a:ext cx="5394600" cy="2742840"/>
          </a:xfrm>
          <a:prstGeom prst="roundRect">
            <a:avLst>
              <a:gd name="adj" fmla="val 40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13"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14"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15"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16" name="Text 7"/>
          <p:cNvSpPr/>
          <p:nvPr/>
        </p:nvSpPr>
        <p:spPr>
          <a:xfrm>
            <a:off x="749880" y="2121480"/>
            <a:ext cx="4992120" cy="221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df.head()      # first 5 rows (default)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df.head(3)     # first 3 rows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df.tail()      # last 5 rows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df.shape       # (rows, columns), e.g. (150, 4)</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df.columns     # list of column names</a:t>
            </a:r>
            <a:endParaRPr lang="en-US" sz="1350" b="0" u="none" strike="noStrike">
              <a:solidFill>
                <a:srgbClr val="000000"/>
              </a:solidFill>
              <a:effectLst/>
              <a:uFillTx/>
              <a:latin typeface="Cantarell"/>
            </a:endParaRPr>
          </a:p>
        </p:txBody>
      </p:sp>
      <p:sp>
        <p:nvSpPr>
          <p:cNvPr id="417" name="Text 8"/>
          <p:cNvSpPr/>
          <p:nvPr/>
        </p:nvSpPr>
        <p:spPr>
          <a:xfrm>
            <a:off x="6172200" y="1737360"/>
            <a:ext cx="5486040" cy="27428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head() and tail() are the very first thing to run on any new dataset — a quick sanity check on what you're working with.</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shape tells you the size instantly, without scrolling through the whole table.</a:t>
            </a:r>
            <a:endParaRPr lang="en-US" sz="1400" b="0" u="none" strike="noStrike">
              <a:solidFill>
                <a:srgbClr val="000000"/>
              </a:solidFill>
              <a:effectLst/>
              <a:uFillTx/>
              <a:latin typeface="Arial"/>
            </a:endParaRPr>
          </a:p>
        </p:txBody>
      </p:sp>
      <p:sp>
        <p:nvSpPr>
          <p:cNvPr id="418"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1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2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Understanding a Dataset — info() &amp; describe()</a:t>
            </a:r>
            <a:endParaRPr lang="en-US" sz="2600" b="0" u="none" strike="noStrike">
              <a:solidFill>
                <a:srgbClr val="000000"/>
              </a:solidFill>
              <a:effectLst/>
              <a:uFillTx/>
              <a:latin typeface="Arial"/>
            </a:endParaRPr>
          </a:p>
        </p:txBody>
      </p:sp>
      <p:pic>
        <p:nvPicPr>
          <p:cNvPr id="421"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2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23"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Before doing anything else, info() and describe() give you a fast, complete summary of a DataFrame.</a:t>
            </a:r>
            <a:endParaRPr lang="en-US" sz="1300" b="0" u="none" strike="noStrike">
              <a:solidFill>
                <a:srgbClr val="000000"/>
              </a:solidFill>
              <a:effectLst/>
              <a:uFillTx/>
              <a:latin typeface="Arial"/>
            </a:endParaRPr>
          </a:p>
        </p:txBody>
      </p:sp>
      <p:sp>
        <p:nvSpPr>
          <p:cNvPr id="424"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5"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26"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27"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28"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df.info()</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column names, dtypes,</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non-null counts, memory usage</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df.describe()</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count, mean, std, min,</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25/50/75%, max</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for every numeric column</a:t>
            </a:r>
            <a:endParaRPr lang="en-US" sz="1250" b="0" u="none" strike="noStrike">
              <a:solidFill>
                <a:srgbClr val="000000"/>
              </a:solidFill>
              <a:effectLst/>
              <a:uFillTx/>
              <a:latin typeface="Cantarell"/>
            </a:endParaRPr>
          </a:p>
        </p:txBody>
      </p:sp>
      <p:sp>
        <p:nvSpPr>
          <p:cNvPr id="429"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430" name="Image 1" descr="/home/claude/pandas_deck/charts/missing_students.png"/>
          <p:cNvPicPr/>
          <p:nvPr/>
        </p:nvPicPr>
        <p:blipFill>
          <a:blip r:embed="rId2"/>
          <a:stretch/>
        </p:blipFill>
        <p:spPr>
          <a:xfrm>
            <a:off x="6282000" y="2167200"/>
            <a:ext cx="5266440" cy="3071880"/>
          </a:xfrm>
          <a:prstGeom prst="rect">
            <a:avLst/>
          </a:prstGeom>
          <a:noFill/>
          <a:ln w="0">
            <a:noFill/>
          </a:ln>
        </p:spPr>
      </p:pic>
      <p:sp>
        <p:nvSpPr>
          <p:cNvPr id="431"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info() tells you what's there and what's missing; describe() tells you the shape of each numeric column — both take one line and save many mistakes.</a:t>
            </a:r>
            <a:endParaRPr lang="en-US" sz="1150" b="0" u="none" strike="noStrike">
              <a:solidFill>
                <a:srgbClr val="000000"/>
              </a:solidFill>
              <a:effectLst/>
              <a:uFillTx/>
              <a:latin typeface="Arial"/>
            </a:endParaRPr>
          </a:p>
        </p:txBody>
      </p:sp>
      <p:sp>
        <p:nvSpPr>
          <p:cNvPr id="432"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3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3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Explore a Column — unique() &amp; value_counts()</a:t>
            </a:r>
            <a:endParaRPr lang="en-US" sz="2600" b="0" u="none" strike="noStrike">
              <a:solidFill>
                <a:srgbClr val="000000"/>
              </a:solidFill>
              <a:effectLst/>
              <a:uFillTx/>
              <a:latin typeface="Arial"/>
            </a:endParaRPr>
          </a:p>
        </p:txBody>
      </p:sp>
      <p:pic>
        <p:nvPicPr>
          <p:cNvPr id="43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3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37"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3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4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41"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df = pd.read_csv("./Datasets/population.csv")</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df["PROVINCE"].unique()</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["PUNJAB" "SINDH" "BALOCHISTAN"</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"KPK" "KPK/FATA"]</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df["PROVINCE"].value_counts()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PUNJAB 143 · SINDH 137 · BALOCHISTAN 131</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KPK 71 · KPK/FATA 46</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df.PROVINCE   # same as df["PROVINCE"]</a:t>
            </a:r>
            <a:endParaRPr lang="en-US" sz="1350" b="0" u="none" strike="noStrike">
              <a:solidFill>
                <a:srgbClr val="000000"/>
              </a:solidFill>
              <a:effectLst/>
              <a:uFillTx/>
              <a:latin typeface="Cantarell"/>
            </a:endParaRPr>
          </a:p>
        </p:txBody>
      </p:sp>
      <p:sp>
        <p:nvSpPr>
          <p:cNvPr id="442"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unique() lists each distinct value once — the fastest way to learn what categories a column holds.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value_counts() counts how often each value appears, most frequent first — here, tehsils per province.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df.PROVINCE is shorthand for df["PROVINCE"], but only works when the column name has no spaces, so brackets are the safe habit.</a:t>
            </a:r>
            <a:endParaRPr lang="en-US" sz="1400" b="0" u="none" strike="noStrike">
              <a:solidFill>
                <a:srgbClr val="000000"/>
              </a:solidFill>
              <a:effectLst/>
              <a:uFillTx/>
              <a:latin typeface="Arial"/>
            </a:endParaRPr>
          </a:p>
        </p:txBody>
      </p:sp>
      <p:sp>
        <p:nvSpPr>
          <p:cNvPr id="443"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4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4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Setting the Index — set_index()</a:t>
            </a:r>
            <a:endParaRPr lang="en-US" sz="2600" b="0" u="none" strike="noStrike">
              <a:solidFill>
                <a:srgbClr val="000000"/>
              </a:solidFill>
              <a:effectLst/>
              <a:uFillTx/>
              <a:latin typeface="Arial"/>
            </a:endParaRPr>
          </a:p>
        </p:txBody>
      </p:sp>
      <p:pic>
        <p:nvPicPr>
          <p:cNvPr id="44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4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48"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9"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50"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51"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52"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cols = ["Name", "Age", "City", "Salary"]</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1. labels at creation</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pd.DataFrame(rows, columns=cols,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index=["A", "B", "C", "D"])</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2. replace the index afterwards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df.index = ["row1", "row2", "row3", "row4"]</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3. promote a column to the index</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df.set_index("Name", inplace=True)</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df.loc["Waseem"]</a:t>
            </a:r>
            <a:endParaRPr lang="en-US" sz="1350" b="0" u="none" strike="noStrike">
              <a:solidFill>
                <a:srgbClr val="000000"/>
              </a:solidFill>
              <a:effectLst/>
              <a:uFillTx/>
              <a:latin typeface="Cantarell"/>
            </a:endParaRPr>
          </a:p>
        </p:txBody>
      </p:sp>
      <p:sp>
        <p:nvSpPr>
          <p:cNvPr id="453"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Three ways to label rows: index= when you build the DataFrame, assigning df.index later, or set_index("col") to promote an existing column.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set_index() is the one you’ll use most — a Name or ID column makes .loc["Waseem"] read like plain English.</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inplace=True changes the real DataFrame; leave it out and you get a modified copy while the original stays unchanged.</a:t>
            </a:r>
            <a:endParaRPr lang="en-US" sz="1400" b="0" u="none" strike="noStrike">
              <a:solidFill>
                <a:srgbClr val="000000"/>
              </a:solidFill>
              <a:effectLst/>
              <a:uFillTx/>
              <a:latin typeface="Arial"/>
            </a:endParaRPr>
          </a:p>
        </p:txBody>
      </p:sp>
      <p:sp>
        <p:nvSpPr>
          <p:cNvPr id="454"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55"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56"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Saving &amp; Loading — Excel and JSON</a:t>
            </a:r>
            <a:endParaRPr lang="en-US" sz="2600" b="0" u="none" strike="noStrike">
              <a:solidFill>
                <a:srgbClr val="000000"/>
              </a:solidFill>
              <a:effectLst/>
              <a:uFillTx/>
              <a:latin typeface="Arial"/>
            </a:endParaRPr>
          </a:p>
        </p:txBody>
      </p:sp>
      <p:pic>
        <p:nvPicPr>
          <p:cNvPr id="457"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58"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59"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60"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61"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62"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63"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df.to_excel("out.xlsx", index=False,</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sheet_name="Population")</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pd.read_excel("out.xlsx").shape</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(528, 21)</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JSON: outer keys are row labels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pd.read_json("recipes.json", orient="index")</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default: outer keys are column names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pd.DataFrame({"Duration": {"0": 60, "1": 60}})</a:t>
            </a:r>
            <a:endParaRPr lang="en-US" sz="1350" b="0" u="none" strike="noStrike">
              <a:solidFill>
                <a:srgbClr val="000000"/>
              </a:solidFill>
              <a:effectLst/>
              <a:uFillTx/>
              <a:latin typeface="Cantarell"/>
            </a:endParaRPr>
          </a:p>
        </p:txBody>
      </p:sp>
      <p:sp>
        <p:nvSpPr>
          <p:cNvPr id="464"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to_excel() writes a .xlsx file; index=False drops the 0, 1, 2… row numbers and sheet_name= names the tab.</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Excel files need the openpyxl package (pip install openpyxl). Read the file straight back and compare .shape to check nothing was lost.</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read_json() depends on the JSON layout: orient="index" treats each outer key as a row, while the default treats outer keys as columns.</a:t>
            </a:r>
            <a:endParaRPr lang="en-US" sz="1400" b="0" u="none" strike="noStrike">
              <a:solidFill>
                <a:srgbClr val="000000"/>
              </a:solidFill>
              <a:effectLst/>
              <a:uFillTx/>
              <a:latin typeface="Arial"/>
            </a:endParaRPr>
          </a:p>
        </p:txBody>
      </p:sp>
      <p:sp>
        <p:nvSpPr>
          <p:cNvPr id="465"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6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6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Tip — Display More Rows</a:t>
            </a:r>
            <a:endParaRPr lang="en-US" sz="2600" b="0" u="none" strike="noStrike">
              <a:solidFill>
                <a:srgbClr val="000000"/>
              </a:solidFill>
              <a:effectLst/>
              <a:uFillTx/>
              <a:latin typeface="Arial"/>
            </a:endParaRPr>
          </a:p>
        </p:txBody>
      </p:sp>
      <p:pic>
        <p:nvPicPr>
          <p:cNvPr id="46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6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70"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1"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72"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73"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474"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pd.options.display.max_rows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60   (the default)</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pd.options.display.max_rows = 530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df    # all 528 rows are now shown</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pd.options.display.max_rows = 60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reset when you are done</a:t>
            </a:r>
            <a:endParaRPr lang="en-US" sz="1350" b="0" u="none" strike="noStrike">
              <a:solidFill>
                <a:srgbClr val="000000"/>
              </a:solidFill>
              <a:effectLst/>
              <a:uFillTx/>
              <a:latin typeface="Cantarell"/>
            </a:endParaRPr>
          </a:p>
        </p:txBody>
      </p:sp>
      <p:sp>
        <p:nvSpPr>
          <p:cNvPr id="475"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Pandas abbreviates big tables with “…” in the middle. pd.options.display.max_rows controls how many rows Jupyter shows.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It changes only the display — your data is untouched, like zooming in on a map.</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Be careful: showing 10,000+ rows slows your notebook. Prefer head(20) / tail(20), and reset the setting afterwards.</a:t>
            </a:r>
            <a:endParaRPr lang="en-US" sz="1400" b="0" u="none" strike="noStrike">
              <a:solidFill>
                <a:srgbClr val="000000"/>
              </a:solidFill>
              <a:effectLst/>
              <a:uFillTx/>
              <a:latin typeface="Arial"/>
            </a:endParaRPr>
          </a:p>
        </p:txBody>
      </p:sp>
      <p:sp>
        <p:nvSpPr>
          <p:cNvPr id="476"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77"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8"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479"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&amp; LOADING DATA</a:t>
            </a:r>
            <a:endParaRPr lang="en-US" sz="1100" b="0" u="none" strike="noStrike">
              <a:solidFill>
                <a:srgbClr val="000000"/>
              </a:solidFill>
              <a:effectLst/>
              <a:uFillTx/>
              <a:latin typeface="Arial"/>
            </a:endParaRPr>
          </a:p>
        </p:txBody>
      </p:sp>
      <p:sp>
        <p:nvSpPr>
          <p:cNvPr id="480"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Creating &amp; Loading Data</a:t>
            </a:r>
            <a:endParaRPr lang="en-US" sz="2300" b="0" u="none" strike="noStrike">
              <a:solidFill>
                <a:srgbClr val="000000"/>
              </a:solidFill>
              <a:effectLst/>
              <a:uFillTx/>
              <a:latin typeface="Arial"/>
            </a:endParaRPr>
          </a:p>
        </p:txBody>
      </p:sp>
      <p:sp>
        <p:nvSpPr>
          <p:cNvPr id="481"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482"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3"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4"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485"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DataFrame from a dictionary (3+ columns, 4+ rows), then give it custom row labels using index= and using set_index().</a:t>
            </a:r>
            <a:endParaRPr lang="en-US" sz="1300" b="0" u="none" strike="noStrike">
              <a:solidFill>
                <a:srgbClr val="000000"/>
              </a:solidFill>
              <a:effectLst/>
              <a:uFillTx/>
              <a:latin typeface="Arial"/>
            </a:endParaRPr>
          </a:p>
        </p:txBody>
      </p:sp>
      <p:sp>
        <p:nvSpPr>
          <p:cNvPr id="486"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7"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8"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489"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Load a CSV with pd.read_csv(), print its shape, then run .head(), .info(), and .describe() and explain what each told you.</a:t>
            </a:r>
            <a:endParaRPr lang="en-US" sz="1300" b="0" u="none" strike="noStrike">
              <a:solidFill>
                <a:srgbClr val="000000"/>
              </a:solidFill>
              <a:effectLst/>
              <a:uFillTx/>
              <a:latin typeface="Arial"/>
            </a:endParaRPr>
          </a:p>
        </p:txBody>
      </p:sp>
      <p:sp>
        <p:nvSpPr>
          <p:cNvPr id="490"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1"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2"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493"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unique() and value_counts() on a categorical column, and raise then reset pd.options.display.max_rows.</a:t>
            </a:r>
            <a:endParaRPr lang="en-US" sz="1300" b="0" u="none" strike="noStrike">
              <a:solidFill>
                <a:srgbClr val="000000"/>
              </a:solidFill>
              <a:effectLst/>
              <a:uFillTx/>
              <a:latin typeface="Arial"/>
            </a:endParaRPr>
          </a:p>
        </p:txBody>
      </p:sp>
      <p:sp>
        <p:nvSpPr>
          <p:cNvPr id="494"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5"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6"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497"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Save a DataFrame with to_excel(index=False), read it back with read_excel(), and confirm the shape matches.</a:t>
            </a:r>
            <a:endParaRPr lang="en-US" sz="1300" b="0" u="none" strike="noStrike">
              <a:solidFill>
                <a:srgbClr val="000000"/>
              </a:solidFill>
              <a:effectLst/>
              <a:uFillTx/>
              <a:latin typeface="Arial"/>
            </a:endParaRPr>
          </a:p>
        </p:txBody>
      </p:sp>
      <p:pic>
        <p:nvPicPr>
          <p:cNvPr id="49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499"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00"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501"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02"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503"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504"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4 · SELECTING &amp; FILTERING</a:t>
            </a:r>
            <a:endParaRPr lang="en-US" sz="1400" b="0" u="none" strike="noStrike">
              <a:solidFill>
                <a:srgbClr val="FFFFFF"/>
              </a:solidFill>
              <a:effectLst/>
              <a:uFillTx/>
              <a:latin typeface="Arial"/>
            </a:endParaRPr>
          </a:p>
        </p:txBody>
      </p:sp>
      <p:sp>
        <p:nvSpPr>
          <p:cNvPr id="505"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Selecting &amp; Filtering Data</a:t>
            </a:r>
            <a:endParaRPr lang="en-US" sz="4000" b="0" u="none" strike="noStrike">
              <a:solidFill>
                <a:srgbClr val="FFFFFF"/>
              </a:solidFill>
              <a:effectLst/>
              <a:uFillTx/>
              <a:latin typeface="Arial"/>
            </a:endParaRPr>
          </a:p>
        </p:txBody>
      </p:sp>
      <p:sp>
        <p:nvSpPr>
          <p:cNvPr id="506"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Reaching into a DataFrame to grab exactly the rows and columns you need.</a:t>
            </a:r>
            <a:endParaRPr lang="en-US" sz="1500" b="0" u="none" strike="noStrike">
              <a:solidFill>
                <a:srgbClr val="FFFFFF"/>
              </a:solidFill>
              <a:effectLst/>
              <a:uFillTx/>
              <a:latin typeface="Arial"/>
            </a:endParaRPr>
          </a:p>
        </p:txBody>
      </p:sp>
      <p:sp>
        <p:nvSpPr>
          <p:cNvPr id="507"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30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0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SELECTING &amp; FILTERING</a:t>
            </a:r>
            <a:endParaRPr lang="en-US" sz="1100" b="0" u="none" strike="noStrike">
              <a:solidFill>
                <a:srgbClr val="000000"/>
              </a:solidFill>
              <a:effectLst/>
              <a:uFillTx/>
              <a:latin typeface="Arial"/>
            </a:endParaRPr>
          </a:p>
        </p:txBody>
      </p:sp>
      <p:sp>
        <p:nvSpPr>
          <p:cNvPr id="50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Selecting Columns</a:t>
            </a:r>
            <a:endParaRPr lang="en-US" sz="2600" b="0" u="none" strike="noStrike">
              <a:solidFill>
                <a:srgbClr val="000000"/>
              </a:solidFill>
              <a:effectLst/>
              <a:uFillTx/>
              <a:latin typeface="Arial"/>
            </a:endParaRPr>
          </a:p>
        </p:txBody>
      </p:sp>
      <p:pic>
        <p:nvPicPr>
          <p:cNvPr id="51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51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12" name="Shape 3"/>
          <p:cNvSpPr/>
          <p:nvPr/>
        </p:nvSpPr>
        <p:spPr>
          <a:xfrm>
            <a:off x="1097280" y="1737360"/>
            <a:ext cx="155412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3" name="Text 4"/>
          <p:cNvSpPr/>
          <p:nvPr/>
        </p:nvSpPr>
        <p:spPr>
          <a:xfrm>
            <a:off x="1097280" y="173736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name</a:t>
            </a:r>
            <a:endParaRPr lang="en-US" sz="1050" b="0" u="none" strike="noStrike">
              <a:solidFill>
                <a:srgbClr val="000000"/>
              </a:solidFill>
              <a:effectLst/>
              <a:uFillTx/>
              <a:latin typeface="Arial"/>
            </a:endParaRPr>
          </a:p>
        </p:txBody>
      </p:sp>
      <p:sp>
        <p:nvSpPr>
          <p:cNvPr id="514" name="Shape 5"/>
          <p:cNvSpPr/>
          <p:nvPr/>
        </p:nvSpPr>
        <p:spPr>
          <a:xfrm>
            <a:off x="2651760" y="1737360"/>
            <a:ext cx="155412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5" name="Text 6"/>
          <p:cNvSpPr/>
          <p:nvPr/>
        </p:nvSpPr>
        <p:spPr>
          <a:xfrm>
            <a:off x="2651760" y="173736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age</a:t>
            </a:r>
            <a:endParaRPr lang="en-US" sz="1050" b="0" u="none" strike="noStrike">
              <a:solidFill>
                <a:srgbClr val="000000"/>
              </a:solidFill>
              <a:effectLst/>
              <a:uFillTx/>
              <a:latin typeface="Arial"/>
            </a:endParaRPr>
          </a:p>
        </p:txBody>
      </p:sp>
      <p:sp>
        <p:nvSpPr>
          <p:cNvPr id="516" name="Shape 7"/>
          <p:cNvSpPr/>
          <p:nvPr/>
        </p:nvSpPr>
        <p:spPr>
          <a:xfrm>
            <a:off x="4206240" y="1737360"/>
            <a:ext cx="155412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7" name="Text 8"/>
          <p:cNvSpPr/>
          <p:nvPr/>
        </p:nvSpPr>
        <p:spPr>
          <a:xfrm>
            <a:off x="4206240" y="173736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score</a:t>
            </a:r>
            <a:endParaRPr lang="en-US" sz="1050" b="0" u="none" strike="noStrike">
              <a:solidFill>
                <a:srgbClr val="000000"/>
              </a:solidFill>
              <a:effectLst/>
              <a:uFillTx/>
              <a:latin typeface="Arial"/>
            </a:endParaRPr>
          </a:p>
        </p:txBody>
      </p:sp>
      <p:sp>
        <p:nvSpPr>
          <p:cNvPr id="518" name="Shape 9"/>
          <p:cNvSpPr/>
          <p:nvPr/>
        </p:nvSpPr>
        <p:spPr>
          <a:xfrm>
            <a:off x="548640" y="1737360"/>
            <a:ext cx="548280" cy="502560"/>
          </a:xfrm>
          <a:prstGeom prst="rect">
            <a:avLst/>
          </a:prstGeom>
          <a:solidFill>
            <a:srgbClr val="8C8AE0"/>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9" name="Shape 10"/>
          <p:cNvSpPr/>
          <p:nvPr/>
        </p:nvSpPr>
        <p:spPr>
          <a:xfrm>
            <a:off x="548640" y="2240280"/>
            <a:ext cx="54828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0" name="Text 11"/>
          <p:cNvSpPr/>
          <p:nvPr/>
        </p:nvSpPr>
        <p:spPr>
          <a:xfrm>
            <a:off x="548640" y="2240280"/>
            <a:ext cx="54828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0</a:t>
            </a:r>
            <a:endParaRPr lang="en-US" sz="1000" b="0" u="none" strike="noStrike">
              <a:solidFill>
                <a:srgbClr val="000000"/>
              </a:solidFill>
              <a:effectLst/>
              <a:uFillTx/>
              <a:latin typeface="Arial"/>
            </a:endParaRPr>
          </a:p>
        </p:txBody>
      </p:sp>
      <p:sp>
        <p:nvSpPr>
          <p:cNvPr id="521" name="Shape 12"/>
          <p:cNvSpPr/>
          <p:nvPr/>
        </p:nvSpPr>
        <p:spPr>
          <a:xfrm>
            <a:off x="1097280" y="2240280"/>
            <a:ext cx="155412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2" name="Text 13"/>
          <p:cNvSpPr/>
          <p:nvPr/>
        </p:nvSpPr>
        <p:spPr>
          <a:xfrm>
            <a:off x="1097280" y="224028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antarell"/>
                <a:ea typeface="Consolas"/>
              </a:rPr>
              <a:t>Amina</a:t>
            </a:r>
            <a:endParaRPr lang="en-US" sz="1050" b="0" u="none" strike="noStrike">
              <a:solidFill>
                <a:srgbClr val="000000"/>
              </a:solidFill>
              <a:effectLst/>
              <a:uFillTx/>
              <a:latin typeface="Cantarell"/>
            </a:endParaRPr>
          </a:p>
        </p:txBody>
      </p:sp>
      <p:sp>
        <p:nvSpPr>
          <p:cNvPr id="523" name="Shape 14"/>
          <p:cNvSpPr/>
          <p:nvPr/>
        </p:nvSpPr>
        <p:spPr>
          <a:xfrm>
            <a:off x="2651760" y="2240280"/>
            <a:ext cx="155412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4" name="Text 15"/>
          <p:cNvSpPr/>
          <p:nvPr/>
        </p:nvSpPr>
        <p:spPr>
          <a:xfrm>
            <a:off x="2651760" y="224028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22</a:t>
            </a:r>
            <a:endParaRPr lang="en-US" sz="1050" b="0" u="none" strike="noStrike">
              <a:solidFill>
                <a:srgbClr val="000000"/>
              </a:solidFill>
              <a:effectLst/>
              <a:uFillTx/>
              <a:latin typeface="Arial"/>
            </a:endParaRPr>
          </a:p>
        </p:txBody>
      </p:sp>
      <p:sp>
        <p:nvSpPr>
          <p:cNvPr id="525" name="Shape 16"/>
          <p:cNvSpPr/>
          <p:nvPr/>
        </p:nvSpPr>
        <p:spPr>
          <a:xfrm>
            <a:off x="4206240" y="2240280"/>
            <a:ext cx="155412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6" name="Text 17"/>
          <p:cNvSpPr/>
          <p:nvPr/>
        </p:nvSpPr>
        <p:spPr>
          <a:xfrm>
            <a:off x="4206240" y="224028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88</a:t>
            </a:r>
            <a:endParaRPr lang="en-US" sz="1050" b="0" u="none" strike="noStrike">
              <a:solidFill>
                <a:srgbClr val="000000"/>
              </a:solidFill>
              <a:effectLst/>
              <a:uFillTx/>
              <a:latin typeface="Arial"/>
            </a:endParaRPr>
          </a:p>
        </p:txBody>
      </p:sp>
      <p:sp>
        <p:nvSpPr>
          <p:cNvPr id="527" name="Shape 18"/>
          <p:cNvSpPr/>
          <p:nvPr/>
        </p:nvSpPr>
        <p:spPr>
          <a:xfrm>
            <a:off x="548640" y="2743200"/>
            <a:ext cx="54828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8" name="Text 19"/>
          <p:cNvSpPr/>
          <p:nvPr/>
        </p:nvSpPr>
        <p:spPr>
          <a:xfrm>
            <a:off x="548640" y="2743200"/>
            <a:ext cx="54828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1</a:t>
            </a:r>
            <a:endParaRPr lang="en-US" sz="1000" b="0" u="none" strike="noStrike">
              <a:solidFill>
                <a:srgbClr val="000000"/>
              </a:solidFill>
              <a:effectLst/>
              <a:uFillTx/>
              <a:latin typeface="Arial"/>
            </a:endParaRPr>
          </a:p>
        </p:txBody>
      </p:sp>
      <p:sp>
        <p:nvSpPr>
          <p:cNvPr id="529" name="Shape 20"/>
          <p:cNvSpPr/>
          <p:nvPr/>
        </p:nvSpPr>
        <p:spPr>
          <a:xfrm>
            <a:off x="1097280" y="2743200"/>
            <a:ext cx="155412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0" name="Text 21"/>
          <p:cNvSpPr/>
          <p:nvPr/>
        </p:nvSpPr>
        <p:spPr>
          <a:xfrm>
            <a:off x="1097280" y="274320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antarell"/>
                <a:ea typeface="Consolas"/>
              </a:rPr>
              <a:t>Ben</a:t>
            </a:r>
            <a:endParaRPr lang="en-US" sz="1050" b="0" u="none" strike="noStrike">
              <a:solidFill>
                <a:srgbClr val="000000"/>
              </a:solidFill>
              <a:effectLst/>
              <a:uFillTx/>
              <a:latin typeface="Cantarell"/>
            </a:endParaRPr>
          </a:p>
        </p:txBody>
      </p:sp>
      <p:sp>
        <p:nvSpPr>
          <p:cNvPr id="531" name="Shape 22"/>
          <p:cNvSpPr/>
          <p:nvPr/>
        </p:nvSpPr>
        <p:spPr>
          <a:xfrm>
            <a:off x="2651760" y="2743200"/>
            <a:ext cx="155412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2" name="Text 23"/>
          <p:cNvSpPr/>
          <p:nvPr/>
        </p:nvSpPr>
        <p:spPr>
          <a:xfrm>
            <a:off x="2651760" y="274320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25</a:t>
            </a:r>
            <a:endParaRPr lang="en-US" sz="1050" b="0" u="none" strike="noStrike">
              <a:solidFill>
                <a:srgbClr val="000000"/>
              </a:solidFill>
              <a:effectLst/>
              <a:uFillTx/>
              <a:latin typeface="Arial"/>
            </a:endParaRPr>
          </a:p>
        </p:txBody>
      </p:sp>
      <p:sp>
        <p:nvSpPr>
          <p:cNvPr id="533" name="Shape 24"/>
          <p:cNvSpPr/>
          <p:nvPr/>
        </p:nvSpPr>
        <p:spPr>
          <a:xfrm>
            <a:off x="4206240" y="2743200"/>
            <a:ext cx="155412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4" name="Text 25"/>
          <p:cNvSpPr/>
          <p:nvPr/>
        </p:nvSpPr>
        <p:spPr>
          <a:xfrm>
            <a:off x="4206240" y="274320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74</a:t>
            </a:r>
            <a:endParaRPr lang="en-US" sz="1050" b="0" u="none" strike="noStrike">
              <a:solidFill>
                <a:srgbClr val="000000"/>
              </a:solidFill>
              <a:effectLst/>
              <a:uFillTx/>
              <a:latin typeface="Arial"/>
            </a:endParaRPr>
          </a:p>
        </p:txBody>
      </p:sp>
      <p:sp>
        <p:nvSpPr>
          <p:cNvPr id="535" name="Shape 26"/>
          <p:cNvSpPr/>
          <p:nvPr/>
        </p:nvSpPr>
        <p:spPr>
          <a:xfrm>
            <a:off x="548640" y="3246120"/>
            <a:ext cx="54828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6" name="Text 27"/>
          <p:cNvSpPr/>
          <p:nvPr/>
        </p:nvSpPr>
        <p:spPr>
          <a:xfrm>
            <a:off x="548640" y="3246120"/>
            <a:ext cx="54828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2</a:t>
            </a:r>
            <a:endParaRPr lang="en-US" sz="1000" b="0" u="none" strike="noStrike">
              <a:solidFill>
                <a:srgbClr val="000000"/>
              </a:solidFill>
              <a:effectLst/>
              <a:uFillTx/>
              <a:latin typeface="Arial"/>
            </a:endParaRPr>
          </a:p>
        </p:txBody>
      </p:sp>
      <p:sp>
        <p:nvSpPr>
          <p:cNvPr id="537" name="Shape 28"/>
          <p:cNvSpPr/>
          <p:nvPr/>
        </p:nvSpPr>
        <p:spPr>
          <a:xfrm>
            <a:off x="1097280" y="3246120"/>
            <a:ext cx="1554120" cy="502560"/>
          </a:xfrm>
          <a:prstGeom prst="rect">
            <a:avLst/>
          </a:prstGeom>
          <a:solidFill>
            <a:srgbClr val="E07AB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8" name="Text 29"/>
          <p:cNvSpPr/>
          <p:nvPr/>
        </p:nvSpPr>
        <p:spPr>
          <a:xfrm>
            <a:off x="1097280" y="324612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2F0523"/>
                </a:solidFill>
                <a:effectLst/>
                <a:uFillTx/>
                <a:latin typeface="Cantarell"/>
                <a:ea typeface="Consolas"/>
              </a:rPr>
              <a:t>Chen</a:t>
            </a:r>
            <a:endParaRPr lang="en-US" sz="1050" b="0" u="none" strike="noStrike">
              <a:solidFill>
                <a:srgbClr val="000000"/>
              </a:solidFill>
              <a:effectLst/>
              <a:uFillTx/>
              <a:latin typeface="Cantarell"/>
            </a:endParaRPr>
          </a:p>
        </p:txBody>
      </p:sp>
      <p:sp>
        <p:nvSpPr>
          <p:cNvPr id="539" name="Shape 30"/>
          <p:cNvSpPr/>
          <p:nvPr/>
        </p:nvSpPr>
        <p:spPr>
          <a:xfrm>
            <a:off x="2651760" y="3246120"/>
            <a:ext cx="155412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0" name="Text 31"/>
          <p:cNvSpPr/>
          <p:nvPr/>
        </p:nvSpPr>
        <p:spPr>
          <a:xfrm>
            <a:off x="2651760" y="324612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21</a:t>
            </a:r>
            <a:endParaRPr lang="en-US" sz="1050" b="0" u="none" strike="noStrike">
              <a:solidFill>
                <a:srgbClr val="000000"/>
              </a:solidFill>
              <a:effectLst/>
              <a:uFillTx/>
              <a:latin typeface="Arial"/>
            </a:endParaRPr>
          </a:p>
        </p:txBody>
      </p:sp>
      <p:sp>
        <p:nvSpPr>
          <p:cNvPr id="541" name="Shape 32"/>
          <p:cNvSpPr/>
          <p:nvPr/>
        </p:nvSpPr>
        <p:spPr>
          <a:xfrm>
            <a:off x="4206240" y="3246120"/>
            <a:ext cx="155412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2" name="Text 33"/>
          <p:cNvSpPr/>
          <p:nvPr/>
        </p:nvSpPr>
        <p:spPr>
          <a:xfrm>
            <a:off x="4206240" y="3246120"/>
            <a:ext cx="155412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91</a:t>
            </a:r>
            <a:endParaRPr lang="en-US" sz="1050" b="0" u="none" strike="noStrike">
              <a:solidFill>
                <a:srgbClr val="000000"/>
              </a:solidFill>
              <a:effectLst/>
              <a:uFillTx/>
              <a:latin typeface="Arial"/>
            </a:endParaRPr>
          </a:p>
        </p:txBody>
      </p:sp>
      <p:sp>
        <p:nvSpPr>
          <p:cNvPr id="543" name="Shape 34"/>
          <p:cNvSpPr/>
          <p:nvPr/>
        </p:nvSpPr>
        <p:spPr>
          <a:xfrm>
            <a:off x="548640" y="3840480"/>
            <a:ext cx="6263280" cy="1462680"/>
          </a:xfrm>
          <a:prstGeom prst="roundRect">
            <a:avLst>
              <a:gd name="adj" fmla="val 75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4" name="Shape 35"/>
          <p:cNvSpPr/>
          <p:nvPr/>
        </p:nvSpPr>
        <p:spPr>
          <a:xfrm>
            <a:off x="713160" y="398664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45" name="Shape 36"/>
          <p:cNvSpPr/>
          <p:nvPr/>
        </p:nvSpPr>
        <p:spPr>
          <a:xfrm>
            <a:off x="914400" y="398664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46" name="Shape 37"/>
          <p:cNvSpPr/>
          <p:nvPr/>
        </p:nvSpPr>
        <p:spPr>
          <a:xfrm>
            <a:off x="1115640" y="398664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47" name="Text 38"/>
          <p:cNvSpPr/>
          <p:nvPr/>
        </p:nvSpPr>
        <p:spPr>
          <a:xfrm>
            <a:off x="749880" y="4224600"/>
            <a:ext cx="5860800" cy="9324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df["name"]        # one </a:t>
            </a:r>
            <a:r>
              <a:rPr lang="en-US" sz="1300" b="0" u="none" strike="noStrike">
                <a:solidFill>
                  <a:srgbClr val="F1F5F9"/>
                </a:solidFill>
                <a:effectLst/>
                <a:uFillTx/>
                <a:latin typeface="Cantarell"/>
                <a:ea typeface="Consolas"/>
              </a:rPr>
              <a:t>column -&gt; a Series</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df[["name","age"]] # </a:t>
            </a:r>
            <a:r>
              <a:rPr lang="en-US" sz="1300" b="0" u="none" strike="noStrike">
                <a:solidFill>
                  <a:srgbClr val="F1F5F9"/>
                </a:solidFill>
                <a:effectLst/>
                <a:uFillTx/>
                <a:latin typeface="Cantarell"/>
                <a:ea typeface="Consolas"/>
              </a:rPr>
              <a:t>multiple columns -&gt; a </a:t>
            </a:r>
            <a:r>
              <a:rPr lang="en-US" sz="1300" b="0" u="none" strike="noStrike">
                <a:solidFill>
                  <a:srgbClr val="F1F5F9"/>
                </a:solidFill>
                <a:effectLst/>
                <a:uFillTx/>
                <a:latin typeface="Cantarell"/>
                <a:ea typeface="Consolas"/>
              </a:rPr>
              <a:t>DataFrame</a:t>
            </a:r>
            <a:endParaRPr lang="en-US" sz="1300" b="0" u="none" strike="noStrike">
              <a:solidFill>
                <a:srgbClr val="000000"/>
              </a:solidFill>
              <a:effectLst/>
              <a:uFillTx/>
              <a:latin typeface="Cantarell"/>
            </a:endParaRPr>
          </a:p>
        </p:txBody>
      </p:sp>
      <p:sp>
        <p:nvSpPr>
          <p:cNvPr id="548" name="Text 39"/>
          <p:cNvSpPr/>
          <p:nvPr/>
        </p:nvSpPr>
        <p:spPr>
          <a:xfrm>
            <a:off x="548640" y="5486400"/>
            <a:ext cx="6263280" cy="8226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200" b="0" u="none" strike="noStrike">
                <a:solidFill>
                  <a:srgbClr val="1B1B20"/>
                </a:solidFill>
                <a:effectLst/>
                <a:uFillTx/>
                <a:latin typeface="Hanken Grotesk"/>
                <a:ea typeface="Hanken Grotesk"/>
              </a:rPr>
              <a:t>Single brackets with </a:t>
            </a:r>
            <a:r>
              <a:rPr lang="en-US" sz="1200" b="0" u="none" strike="noStrike">
                <a:solidFill>
                  <a:srgbClr val="1B1B20"/>
                </a:solidFill>
                <a:effectLst/>
                <a:uFillTx/>
                <a:latin typeface="Hanken Grotesk"/>
                <a:ea typeface="Hanken Grotesk"/>
              </a:rPr>
              <a:t>one column name </a:t>
            </a:r>
            <a:r>
              <a:rPr lang="en-US" sz="1200" b="0" u="none" strike="noStrike">
                <a:solidFill>
                  <a:srgbClr val="1B1B20"/>
                </a:solidFill>
                <a:effectLst/>
                <a:uFillTx/>
                <a:latin typeface="Hanken Grotesk"/>
                <a:ea typeface="Hanken Grotesk"/>
              </a:rPr>
              <a:t>return a Series; </a:t>
            </a:r>
            <a:r>
              <a:rPr lang="en-US" sz="1200" b="0" u="none" strike="noStrike">
                <a:solidFill>
                  <a:srgbClr val="1B1B20"/>
                </a:solidFill>
                <a:effectLst/>
                <a:uFillTx/>
                <a:latin typeface="Hanken Grotesk"/>
                <a:ea typeface="Hanken Grotesk"/>
              </a:rPr>
              <a:t>double brackets </a:t>
            </a:r>
            <a:r>
              <a:rPr lang="en-US" sz="1200" b="0" u="none" strike="noStrike">
                <a:solidFill>
                  <a:srgbClr val="1B1B20"/>
                </a:solidFill>
                <a:effectLst/>
                <a:uFillTx/>
                <a:latin typeface="Hanken Grotesk"/>
                <a:ea typeface="Hanken Grotesk"/>
              </a:rPr>
              <a:t>with a list return a </a:t>
            </a:r>
            <a:r>
              <a:rPr lang="en-US" sz="1200" b="0" u="none" strike="noStrike">
                <a:solidFill>
                  <a:srgbClr val="1B1B20"/>
                </a:solidFill>
                <a:effectLst/>
                <a:uFillTx/>
                <a:latin typeface="Hanken Grotesk"/>
                <a:ea typeface="Hanken Grotesk"/>
              </a:rPr>
              <a:t>DataFrame — even </a:t>
            </a:r>
            <a:r>
              <a:rPr lang="en-US" sz="1200" b="0" u="none" strike="noStrike">
                <a:solidFill>
                  <a:srgbClr val="1B1B20"/>
                </a:solidFill>
                <a:effectLst/>
                <a:uFillTx/>
                <a:latin typeface="Hanken Grotesk"/>
                <a:ea typeface="Hanken Grotesk"/>
              </a:rPr>
              <a:t>for one column.</a:t>
            </a:r>
            <a:endParaRPr lang="en-US" sz="1200" b="0" u="none" strike="noStrike">
              <a:solidFill>
                <a:srgbClr val="000000"/>
              </a:solidFill>
              <a:effectLst/>
              <a:uFillTx/>
              <a:latin typeface="Arial"/>
            </a:endParaRPr>
          </a:p>
        </p:txBody>
      </p:sp>
      <p:sp>
        <p:nvSpPr>
          <p:cNvPr id="549" name="Text 4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5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SELECTING &amp; FILTERING</a:t>
            </a:r>
            <a:endParaRPr lang="en-US" sz="1100" b="0" u="none" strike="noStrike">
              <a:solidFill>
                <a:srgbClr val="000000"/>
              </a:solidFill>
              <a:effectLst/>
              <a:uFillTx/>
              <a:latin typeface="Arial"/>
            </a:endParaRPr>
          </a:p>
        </p:txBody>
      </p:sp>
      <p:sp>
        <p:nvSpPr>
          <p:cNvPr id="55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.loc[] — Selecting by Label</a:t>
            </a:r>
            <a:endParaRPr lang="en-US" sz="2600" b="0" u="none" strike="noStrike">
              <a:solidFill>
                <a:srgbClr val="000000"/>
              </a:solidFill>
              <a:effectLst/>
              <a:uFillTx/>
              <a:latin typeface="Arial"/>
            </a:endParaRPr>
          </a:p>
        </p:txBody>
      </p:sp>
      <p:pic>
        <p:nvPicPr>
          <p:cNvPr id="55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55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554" name="Table 0"/>
          <p:cNvGraphicFramePr/>
          <p:nvPr/>
        </p:nvGraphicFramePr>
        <p:xfrm>
          <a:off x="548640" y="1737360"/>
          <a:ext cx="11109600" cy="2834280"/>
        </p:xfrm>
        <a:graphic>
          <a:graphicData uri="http://schemas.openxmlformats.org/drawingml/2006/table">
            <a:tbl>
              <a:tblPr/>
              <a:tblGrid>
                <a:gridCol w="3999240"/>
                <a:gridCol w="7110360"/>
              </a:tblGrid>
              <a:tr h="56664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df.loc[0]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row labeled 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df.loc[0, "name"]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value at row 0, column "name"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df.loc[0:2, "name":"score"]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 slice of rows and columns, by label — both ends included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df.loc[df["score"] &gt; 80]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Every row where the condition is True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555" name="Text 3"/>
          <p:cNvSpPr/>
          <p:nvPr/>
        </p:nvSpPr>
        <p:spPr>
          <a:xfrm>
            <a:off x="548640" y="4754880"/>
            <a:ext cx="11109600" cy="548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.loc[] always works with labels — the index values and column names you see on the DataFrame itself.</a:t>
            </a:r>
            <a:endParaRPr lang="en-US" sz="1300" b="0" u="none" strike="noStrike">
              <a:solidFill>
                <a:srgbClr val="000000"/>
              </a:solidFill>
              <a:effectLst/>
              <a:uFillTx/>
              <a:latin typeface="Arial"/>
            </a:endParaRPr>
          </a:p>
        </p:txBody>
      </p:sp>
      <p:sp>
        <p:nvSpPr>
          <p:cNvPr id="556"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5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SELECTING &amp; FILTERING</a:t>
            </a:r>
            <a:endParaRPr lang="en-US" sz="1100" b="0" u="none" strike="noStrike">
              <a:solidFill>
                <a:srgbClr val="000000"/>
              </a:solidFill>
              <a:effectLst/>
              <a:uFillTx/>
              <a:latin typeface="Arial"/>
            </a:endParaRPr>
          </a:p>
        </p:txBody>
      </p:sp>
      <p:sp>
        <p:nvSpPr>
          <p:cNvPr id="55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.iloc[] — Selecting by Position</a:t>
            </a:r>
            <a:endParaRPr lang="en-US" sz="2600" b="0" u="none" strike="noStrike">
              <a:solidFill>
                <a:srgbClr val="000000"/>
              </a:solidFill>
              <a:effectLst/>
              <a:uFillTx/>
              <a:latin typeface="Arial"/>
            </a:endParaRPr>
          </a:p>
        </p:txBody>
      </p:sp>
      <p:pic>
        <p:nvPicPr>
          <p:cNvPr id="559"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56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561" name="Table 0"/>
          <p:cNvGraphicFramePr/>
          <p:nvPr/>
        </p:nvGraphicFramePr>
        <p:xfrm>
          <a:off x="548640" y="1737360"/>
          <a:ext cx="11109600" cy="2834280"/>
        </p:xfrm>
        <a:graphic>
          <a:graphicData uri="http://schemas.openxmlformats.org/drawingml/2006/table">
            <a:tbl>
              <a:tblPr/>
              <a:tblGrid>
                <a:gridCol w="3999240"/>
                <a:gridCol w="7110360"/>
              </a:tblGrid>
              <a:tr h="56664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df.iloc[0]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first row, regardless of its label</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df.iloc[0, 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value at row position 0, column position 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df.iloc[0:2, 0:2]</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 slice by position — stop is excluded, just like Python lists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66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df.iloc[-1]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last row</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562" name="Text 3"/>
          <p:cNvSpPr/>
          <p:nvPr/>
        </p:nvSpPr>
        <p:spPr>
          <a:xfrm>
            <a:off x="548640" y="4754880"/>
            <a:ext cx="11109600" cy="548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.iloc[] always works with integer positions — the same way indexing works on a Python list or a NumPy array.</a:t>
            </a:r>
            <a:endParaRPr lang="en-US" sz="1300" b="0" u="none" strike="noStrike">
              <a:solidFill>
                <a:srgbClr val="000000"/>
              </a:solidFill>
              <a:effectLst/>
              <a:uFillTx/>
              <a:latin typeface="Arial"/>
            </a:endParaRPr>
          </a:p>
        </p:txBody>
      </p:sp>
      <p:sp>
        <p:nvSpPr>
          <p:cNvPr id="563"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6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SELECTING &amp; FILTERING</a:t>
            </a:r>
            <a:endParaRPr lang="en-US" sz="1100" b="0" u="none" strike="noStrike">
              <a:solidFill>
                <a:srgbClr val="000000"/>
              </a:solidFill>
              <a:effectLst/>
              <a:uFillTx/>
              <a:latin typeface="Arial"/>
            </a:endParaRPr>
          </a:p>
        </p:txBody>
      </p:sp>
      <p:sp>
        <p:nvSpPr>
          <p:cNvPr id="56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Boolean Filtering — Rows That Match a Condition</a:t>
            </a:r>
            <a:endParaRPr lang="en-US" sz="2600" b="0" u="none" strike="noStrike">
              <a:solidFill>
                <a:srgbClr val="000000"/>
              </a:solidFill>
              <a:effectLst/>
              <a:uFillTx/>
              <a:latin typeface="Arial"/>
            </a:endParaRPr>
          </a:p>
        </p:txBody>
      </p:sp>
      <p:pic>
        <p:nvPicPr>
          <p:cNvPr id="56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56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a:t>
            </a:r>
            <a:r>
              <a:rPr lang="en-US" sz="900" b="0" u="none" strike="noStrike">
                <a:solidFill>
                  <a:srgbClr val="474651"/>
                </a:solidFill>
                <a:effectLst/>
                <a:uFillTx/>
                <a:latin typeface="Plus Jakarta Sans"/>
                <a:ea typeface="Plus Jakarta Sans"/>
              </a:rPr>
              <a:t>Playground  ·  Hafiz Waseem </a:t>
            </a:r>
            <a:r>
              <a:rPr lang="en-US" sz="900" b="0" u="none" strike="noStrike">
                <a:solidFill>
                  <a:srgbClr val="474651"/>
                </a:solidFill>
                <a:effectLst/>
                <a:uFillTx/>
                <a:latin typeface="Plus Jakarta Sans"/>
                <a:ea typeface="Plus Jakarta Sans"/>
              </a:rPr>
              <a:t>Ahmed (Paxto)</a:t>
            </a:r>
            <a:endParaRPr lang="en-US" sz="900" b="0" u="none" strike="noStrike">
              <a:solidFill>
                <a:srgbClr val="000000"/>
              </a:solidFill>
              <a:effectLst/>
              <a:uFillTx/>
              <a:latin typeface="Arial"/>
            </a:endParaRPr>
          </a:p>
        </p:txBody>
      </p:sp>
      <p:sp>
        <p:nvSpPr>
          <p:cNvPr id="568"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The most common way to filter a DataFrame: build a True/False condition, then use it as an index.</a:t>
            </a:r>
            <a:endParaRPr lang="en-US" sz="1300" b="0" u="none" strike="noStrike">
              <a:solidFill>
                <a:srgbClr val="000000"/>
              </a:solidFill>
              <a:effectLst/>
              <a:uFillTx/>
              <a:latin typeface="Arial"/>
            </a:endParaRPr>
          </a:p>
        </p:txBody>
      </p:sp>
      <p:sp>
        <p:nvSpPr>
          <p:cNvPr id="569"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70"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71"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72"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73"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onsolas"/>
                <a:ea typeface="Consolas"/>
              </a:rPr>
              <a:t>passing = df[df["score"] &gt;= 60]</a:t>
            </a:r>
            <a:endParaRPr lang="en-US" sz="1250" b="0" u="none" strike="noStrike">
              <a:solidFill>
                <a:srgbClr val="000000"/>
              </a:solidFill>
              <a:effectLst/>
              <a:uFillTx/>
              <a:latin typeface="Arial"/>
            </a:endParaRPr>
          </a:p>
          <a:p>
            <a:pPr defTabSz="914400">
              <a:lnSpc>
                <a:spcPct val="118000"/>
              </a:lnSpc>
              <a:tabLst>
                <a:tab pos="0" algn="l"/>
              </a:tabLst>
            </a:pP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combine conditions with &amp; and |</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honors = df[</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(df["score"] &gt;= 90) &amp;</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(df["age"] &lt; 23)</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a:t>
            </a:r>
            <a:endParaRPr lang="en-US" sz="1250" b="0" u="none" strike="noStrike">
              <a:solidFill>
                <a:srgbClr val="000000"/>
              </a:solidFill>
              <a:effectLst/>
              <a:uFillTx/>
              <a:latin typeface="Arial"/>
            </a:endParaRPr>
          </a:p>
        </p:txBody>
      </p:sp>
      <p:sp>
        <p:nvSpPr>
          <p:cNvPr id="574"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575" name="Image 1" descr="/home/claude/pandas_deck/charts/missing_students.png"/>
          <p:cNvPicPr/>
          <p:nvPr/>
        </p:nvPicPr>
        <p:blipFill>
          <a:blip r:embed="rId2"/>
          <a:stretch/>
        </p:blipFill>
        <p:spPr>
          <a:xfrm>
            <a:off x="6282000" y="2167200"/>
            <a:ext cx="5266440" cy="3071880"/>
          </a:xfrm>
          <a:prstGeom prst="rect">
            <a:avLst/>
          </a:prstGeom>
          <a:noFill/>
          <a:ln w="0">
            <a:noFill/>
          </a:ln>
        </p:spPr>
      </p:pic>
      <p:sp>
        <p:nvSpPr>
          <p:cNvPr id="576"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df["score"] &gt;= 60 creates a boolean Series the same length as df — wrapping df[...] around it keeps only the True rows. Use &amp; / | (not and/or) and wrap each condition in parentheses.</a:t>
            </a:r>
            <a:endParaRPr lang="en-US" sz="1150" b="0" u="none" strike="noStrike">
              <a:solidFill>
                <a:srgbClr val="000000"/>
              </a:solidFill>
              <a:effectLst/>
              <a:uFillTx/>
              <a:latin typeface="Arial"/>
            </a:endParaRPr>
          </a:p>
        </p:txBody>
      </p:sp>
      <p:sp>
        <p:nvSpPr>
          <p:cNvPr id="577"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7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SELECTING &amp; FILTERING</a:t>
            </a:r>
            <a:endParaRPr lang="en-US" sz="1100" b="0" u="none" strike="noStrike">
              <a:solidFill>
                <a:srgbClr val="000000"/>
              </a:solidFill>
              <a:effectLst/>
              <a:uFillTx/>
              <a:latin typeface="Arial"/>
            </a:endParaRPr>
          </a:p>
        </p:txBody>
      </p:sp>
      <p:sp>
        <p:nvSpPr>
          <p:cNvPr id="57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loc &amp; iloc — Beyond the Basics</a:t>
            </a:r>
            <a:endParaRPr lang="en-US" sz="2600" b="0" u="none" strike="noStrike">
              <a:solidFill>
                <a:srgbClr val="000000"/>
              </a:solidFill>
              <a:effectLst/>
              <a:uFillTx/>
              <a:latin typeface="Arial"/>
            </a:endParaRPr>
          </a:p>
        </p:txBody>
      </p:sp>
      <p:pic>
        <p:nvPicPr>
          <p:cNvPr id="58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58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82"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83"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84"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85"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586"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df.iloc[[0, 3]]          # rows 0 and 3</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df.iloc[:, 0]            # first column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df.iloc[0:3:2]           # every 2nd row</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df.loc[df["City"] == "Quetta", "Name"]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Waseem, Kamran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df.iloc[0, 2] = 20500000  # set one cell</a:t>
            </a:r>
            <a:endParaRPr lang="en-US" sz="1350" b="0" u="none" strike="noStrike">
              <a:solidFill>
                <a:srgbClr val="000000"/>
              </a:solidFill>
              <a:effectLst/>
              <a:uFillTx/>
              <a:latin typeface="Arial"/>
            </a:endParaRPr>
          </a:p>
        </p:txBody>
      </p:sp>
      <p:sp>
        <p:nvSpPr>
          <p:cNvPr id="587"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Pass a list to .iloc[] to pick rows by position; iloc[:, 0] is every row of the first column, and iloc[0:3:2] takes every second row.</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.loc[condition, "col"] filters rows and picks a column in one step. Assigning with iloc[0, 2] = value overwrites that cell for good — one outlier can badly skew describe().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Concatenating frames that share labels leaves duplicate labels, so .loc["A"] returns every match. Use ignore_index=True to renumber.</a:t>
            </a:r>
            <a:endParaRPr lang="en-US" sz="1400" b="0" u="none" strike="noStrike">
              <a:solidFill>
                <a:srgbClr val="000000"/>
              </a:solidFill>
              <a:effectLst/>
              <a:uFillTx/>
              <a:latin typeface="Arial"/>
            </a:endParaRPr>
          </a:p>
        </p:txBody>
      </p:sp>
      <p:sp>
        <p:nvSpPr>
          <p:cNvPr id="588"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89"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90"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591"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SELECTING &amp; FILTERING</a:t>
            </a:r>
            <a:endParaRPr lang="en-US" sz="1100" b="0" u="none" strike="noStrike">
              <a:solidFill>
                <a:srgbClr val="000000"/>
              </a:solidFill>
              <a:effectLst/>
              <a:uFillTx/>
              <a:latin typeface="Arial"/>
            </a:endParaRPr>
          </a:p>
        </p:txBody>
      </p:sp>
      <p:sp>
        <p:nvSpPr>
          <p:cNvPr id="592"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Selecting &amp; Filtering Data</a:t>
            </a:r>
            <a:endParaRPr lang="en-US" sz="2300" b="0" u="none" strike="noStrike">
              <a:solidFill>
                <a:srgbClr val="000000"/>
              </a:solidFill>
              <a:effectLst/>
              <a:uFillTx/>
              <a:latin typeface="Arial"/>
            </a:endParaRPr>
          </a:p>
        </p:txBody>
      </p:sp>
      <p:sp>
        <p:nvSpPr>
          <p:cNvPr id="593"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594"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95"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96"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597"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Select a single column from a DataFrame as a Series, and two columns as a DataFrame.</a:t>
            </a:r>
            <a:endParaRPr lang="en-US" sz="1300" b="0" u="none" strike="noStrike">
              <a:solidFill>
                <a:srgbClr val="000000"/>
              </a:solidFill>
              <a:effectLst/>
              <a:uFillTx/>
              <a:latin typeface="Arial"/>
            </a:endParaRPr>
          </a:p>
        </p:txBody>
      </p:sp>
      <p:sp>
        <p:nvSpPr>
          <p:cNvPr id="598"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99"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0"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601"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.loc[] to select a range of rows and a range of columns by label.</a:t>
            </a:r>
            <a:endParaRPr lang="en-US" sz="1300" b="0" u="none" strike="noStrike">
              <a:solidFill>
                <a:srgbClr val="000000"/>
              </a:solidFill>
              <a:effectLst/>
              <a:uFillTx/>
              <a:latin typeface="Arial"/>
            </a:endParaRPr>
          </a:p>
        </p:txBody>
      </p:sp>
      <p:sp>
        <p:nvSpPr>
          <p:cNvPr id="602"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3"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4"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605"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.iloc[] to select the same data by position — try a list, a step slice, and iloc[:, 0].</a:t>
            </a:r>
            <a:endParaRPr lang="en-US" sz="1300" b="0" u="none" strike="noStrike">
              <a:solidFill>
                <a:srgbClr val="000000"/>
              </a:solidFill>
              <a:effectLst/>
              <a:uFillTx/>
              <a:latin typeface="Arial"/>
            </a:endParaRPr>
          </a:p>
        </p:txBody>
      </p:sp>
      <p:sp>
        <p:nvSpPr>
          <p:cNvPr id="606"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7"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8"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609"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Filter a DataFrame to rows matching two combined conditions, using &amp; and parentheses.</a:t>
            </a:r>
            <a:endParaRPr lang="en-US" sz="1300" b="0" u="none" strike="noStrike">
              <a:solidFill>
                <a:srgbClr val="000000"/>
              </a:solidFill>
              <a:effectLst/>
              <a:uFillTx/>
              <a:latin typeface="Arial"/>
            </a:endParaRPr>
          </a:p>
        </p:txBody>
      </p:sp>
      <p:pic>
        <p:nvPicPr>
          <p:cNvPr id="61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11"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12"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613"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4"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615"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616"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5 · MODIFYING DATA</a:t>
            </a:r>
            <a:endParaRPr lang="en-US" sz="1400" b="0" u="none" strike="noStrike">
              <a:solidFill>
                <a:srgbClr val="FFFFFF"/>
              </a:solidFill>
              <a:effectLst/>
              <a:uFillTx/>
              <a:latin typeface="Arial"/>
            </a:endParaRPr>
          </a:p>
        </p:txBody>
      </p:sp>
      <p:sp>
        <p:nvSpPr>
          <p:cNvPr id="617"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Adding, Modifying &amp; Dropping</a:t>
            </a:r>
            <a:endParaRPr lang="en-US" sz="4000" b="0" u="none" strike="noStrike">
              <a:solidFill>
                <a:srgbClr val="FFFFFF"/>
              </a:solidFill>
              <a:effectLst/>
              <a:uFillTx/>
              <a:latin typeface="Arial"/>
            </a:endParaRPr>
          </a:p>
        </p:txBody>
      </p:sp>
      <p:sp>
        <p:nvSpPr>
          <p:cNvPr id="618"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Reshaping the columns and rows of a DataFrame you already have.</a:t>
            </a:r>
            <a:endParaRPr lang="en-US" sz="1500" b="0" u="none" strike="noStrike">
              <a:solidFill>
                <a:srgbClr val="FFFFFF"/>
              </a:solidFill>
              <a:effectLst/>
              <a:uFillTx/>
              <a:latin typeface="Arial"/>
            </a:endParaRPr>
          </a:p>
        </p:txBody>
      </p:sp>
      <p:sp>
        <p:nvSpPr>
          <p:cNvPr id="619"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37</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MODIFYING DATA</a:t>
            </a:r>
            <a:endParaRPr lang="en-US" sz="1100" b="0" u="none" strike="noStrike">
              <a:solidFill>
                <a:srgbClr val="000000"/>
              </a:solidFill>
              <a:effectLst/>
              <a:uFillTx/>
              <a:latin typeface="Arial"/>
            </a:endParaRPr>
          </a:p>
        </p:txBody>
      </p:sp>
      <p:sp>
        <p:nvSpPr>
          <p:cNvPr id="6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Adding &amp; Modifying Columns</a:t>
            </a:r>
            <a:endParaRPr lang="en-US" sz="2600" b="0" u="none" strike="noStrike">
              <a:solidFill>
                <a:srgbClr val="000000"/>
              </a:solidFill>
              <a:effectLst/>
              <a:uFillTx/>
              <a:latin typeface="Arial"/>
            </a:endParaRPr>
          </a:p>
        </p:txBody>
      </p:sp>
      <p:pic>
        <p:nvPicPr>
          <p:cNvPr id="62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24" name="Shape 3"/>
          <p:cNvSpPr/>
          <p:nvPr/>
        </p:nvSpPr>
        <p:spPr>
          <a:xfrm>
            <a:off x="548640" y="1737360"/>
            <a:ext cx="5394600" cy="3840120"/>
          </a:xfrm>
          <a:prstGeom prst="roundRect">
            <a:avLst>
              <a:gd name="adj" fmla="val 285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28" name="Text 7"/>
          <p:cNvSpPr/>
          <p:nvPr/>
        </p:nvSpPr>
        <p:spPr>
          <a:xfrm>
            <a:off x="749880" y="2121480"/>
            <a:ext cx="4992120" cy="3309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onsolas"/>
                <a:ea typeface="Consolas"/>
              </a:rPr>
              <a:t>df["pass"] = df["score"] &gt;= 60</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new column, computed from an existing one</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df["score"] = df["score"] + 5</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modifies an existing column in place</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df.rename(</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columns={"score": "final_score"},</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inplace=True</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a:t>
            </a:r>
            <a:endParaRPr lang="en-US" sz="1300" b="0" u="none" strike="noStrike">
              <a:solidFill>
                <a:srgbClr val="000000"/>
              </a:solidFill>
              <a:effectLst/>
              <a:uFillTx/>
              <a:latin typeface="Arial"/>
            </a:endParaRPr>
          </a:p>
        </p:txBody>
      </p:sp>
      <p:sp>
        <p:nvSpPr>
          <p:cNvPr id="629" name="Text 8"/>
          <p:cNvSpPr/>
          <p:nvPr/>
        </p:nvSpPr>
        <p:spPr>
          <a:xfrm>
            <a:off x="6172200" y="1737360"/>
            <a:ext cx="548604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Assigning to a new column name creates it — the calculation is vectorized, just like NumPy.</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Assigning to an existing column name overwrites it.</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rename() relabels columns without changing any data; inplace=True applies the change directly instead of returning a copy.</a:t>
            </a:r>
            <a:endParaRPr lang="en-US" sz="1400" b="0" u="none" strike="noStrike">
              <a:solidFill>
                <a:srgbClr val="000000"/>
              </a:solidFill>
              <a:effectLst/>
              <a:uFillTx/>
              <a:latin typeface="Arial"/>
            </a:endParaRPr>
          </a:p>
        </p:txBody>
      </p:sp>
      <p:sp>
        <p:nvSpPr>
          <p:cNvPr id="6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3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MODIFYING DATA</a:t>
            </a:r>
            <a:endParaRPr lang="en-US" sz="1100" b="0" u="none" strike="noStrike">
              <a:solidFill>
                <a:srgbClr val="000000"/>
              </a:solidFill>
              <a:effectLst/>
              <a:uFillTx/>
              <a:latin typeface="Arial"/>
            </a:endParaRPr>
          </a:p>
        </p:txBody>
      </p:sp>
      <p:sp>
        <p:nvSpPr>
          <p:cNvPr id="63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Dropping Rows &amp; Columns</a:t>
            </a:r>
            <a:endParaRPr lang="en-US" sz="2600" b="0" u="none" strike="noStrike">
              <a:solidFill>
                <a:srgbClr val="000000"/>
              </a:solidFill>
              <a:effectLst/>
              <a:uFillTx/>
              <a:latin typeface="Arial"/>
            </a:endParaRPr>
          </a:p>
        </p:txBody>
      </p:sp>
      <p:pic>
        <p:nvPicPr>
          <p:cNvPr id="63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3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635" name="Table 0"/>
          <p:cNvGraphicFramePr/>
          <p:nvPr/>
        </p:nvGraphicFramePr>
        <p:xfrm>
          <a:off x="548640" y="1737360"/>
          <a:ext cx="11109600" cy="2651400"/>
        </p:xfrm>
        <a:graphic>
          <a:graphicData uri="http://schemas.openxmlformats.org/drawingml/2006/table">
            <a:tbl>
              <a:tblPr/>
              <a:tblGrid>
                <a:gridCol w="3999240"/>
                <a:gridCol w="7110360"/>
              </a:tblGrid>
              <a:tr h="53028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df.drop(columns=["age"])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DataFrame without the "age" column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df.drop(index=[0, 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DataFrame without rows 0 and 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df.drop("age", axis=1)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Same as above — axis=1 means "a column"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02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inplace=True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Apply the drop directly, instead of returning a new DataFrame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636" name="Shape 3"/>
          <p:cNvSpPr/>
          <p:nvPr/>
        </p:nvSpPr>
        <p:spPr>
          <a:xfrm>
            <a:off x="548640" y="4572000"/>
            <a:ext cx="11109600" cy="1279800"/>
          </a:xfrm>
          <a:prstGeom prst="roundRect">
            <a:avLst>
              <a:gd name="adj" fmla="val 857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7" name="Shape 4"/>
          <p:cNvSpPr/>
          <p:nvPr/>
        </p:nvSpPr>
        <p:spPr>
          <a:xfrm>
            <a:off x="713160" y="47181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38" name="Shape 5"/>
          <p:cNvSpPr/>
          <p:nvPr/>
        </p:nvSpPr>
        <p:spPr>
          <a:xfrm>
            <a:off x="914400" y="47181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39" name="Shape 6"/>
          <p:cNvSpPr/>
          <p:nvPr/>
        </p:nvSpPr>
        <p:spPr>
          <a:xfrm>
            <a:off x="1115640" y="47181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40" name="Text 7"/>
          <p:cNvSpPr/>
          <p:nvPr/>
        </p:nvSpPr>
        <p:spPr>
          <a:xfrm>
            <a:off x="749880" y="4956120"/>
            <a:ext cx="10707120" cy="749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onsolas"/>
                <a:ea typeface="Consolas"/>
              </a:rPr>
              <a:t>df.drop(columns=["age"], inplace=True)</a:t>
            </a:r>
            <a:endParaRPr lang="en-US" sz="1400" b="0" u="none" strike="noStrike">
              <a:solidFill>
                <a:srgbClr val="000000"/>
              </a:solidFill>
              <a:effectLst/>
              <a:uFillTx/>
              <a:latin typeface="Arial"/>
            </a:endParaRPr>
          </a:p>
          <a:p>
            <a:pPr defTabSz="914400">
              <a:lnSpc>
                <a:spcPct val="118000"/>
              </a:lnSpc>
              <a:tabLst>
                <a:tab pos="0" algn="l"/>
              </a:tabLst>
            </a:pPr>
            <a:r>
              <a:rPr lang="en-US" sz="1400" b="0" u="none" strike="noStrike">
                <a:solidFill>
                  <a:srgbClr val="F1F5F9"/>
                </a:solidFill>
                <a:effectLst/>
                <a:uFillTx/>
                <a:latin typeface="Consolas"/>
                <a:ea typeface="Consolas"/>
              </a:rPr>
              <a:t>df.drop(index=[0], inplace=True)</a:t>
            </a:r>
            <a:endParaRPr lang="en-US" sz="1400" b="0" u="none" strike="noStrike">
              <a:solidFill>
                <a:srgbClr val="000000"/>
              </a:solidFill>
              <a:effectLst/>
              <a:uFillTx/>
              <a:latin typeface="Arial"/>
            </a:endParaRPr>
          </a:p>
        </p:txBody>
      </p:sp>
      <p:sp>
        <p:nvSpPr>
          <p:cNvPr id="641"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4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MODIFYING DATA</a:t>
            </a:r>
            <a:endParaRPr lang="en-US" sz="1100" b="0" u="none" strike="noStrike">
              <a:solidFill>
                <a:srgbClr val="000000"/>
              </a:solidFill>
              <a:effectLst/>
              <a:uFillTx/>
              <a:latin typeface="Arial"/>
            </a:endParaRPr>
          </a:p>
        </p:txBody>
      </p:sp>
      <p:sp>
        <p:nvSpPr>
          <p:cNvPr id="64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Applying Functions — apply() &amp; lambda</a:t>
            </a:r>
            <a:endParaRPr lang="en-US" sz="2600" b="0" u="none" strike="noStrike">
              <a:solidFill>
                <a:srgbClr val="000000"/>
              </a:solidFill>
              <a:effectLst/>
              <a:uFillTx/>
              <a:latin typeface="Arial"/>
            </a:endParaRPr>
          </a:p>
        </p:txBody>
      </p:sp>
      <p:pic>
        <p:nvPicPr>
          <p:cNvPr id="64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4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46"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7"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48"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49"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50"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def square(x):</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return x ** 2</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df["B"] = df["B"].apply(square)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10, 20, 30 ...  -&gt;  100, 400, 900 ...</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df["D"] = df["B"].apply(lambda x: x ** 2)</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lambda: same idea, no def needed</a:t>
            </a:r>
            <a:endParaRPr lang="en-US" sz="1350" b="0" u="none" strike="noStrike">
              <a:solidFill>
                <a:srgbClr val="000000"/>
              </a:solidFill>
              <a:effectLst/>
              <a:uFillTx/>
              <a:latin typeface="Arial"/>
            </a:endParaRPr>
          </a:p>
        </p:txBody>
      </p:sp>
      <p:sp>
        <p:nvSpPr>
          <p:cNvPr id="651"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apply() runs a function on every value in a column — pass your own def function or a one-line lambda (an anonymous function).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Use def for logic you’ll reuse; use lambda x: x ** 2 for a quick one-off.</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Watch out: df["B"] = df["B"].apply(square) overwrites the column. Re-run that cell and it squares again — 10 becomes 100, then 10,000.</a:t>
            </a:r>
            <a:endParaRPr lang="en-US" sz="1400" b="0" u="none" strike="noStrike">
              <a:solidFill>
                <a:srgbClr val="000000"/>
              </a:solidFill>
              <a:effectLst/>
              <a:uFillTx/>
              <a:latin typeface="Arial"/>
            </a:endParaRPr>
          </a:p>
        </p:txBody>
      </p:sp>
      <p:sp>
        <p:nvSpPr>
          <p:cNvPr id="652"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53"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4"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655"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MODIFYING DATA</a:t>
            </a:r>
            <a:endParaRPr lang="en-US" sz="1100" b="0" u="none" strike="noStrike">
              <a:solidFill>
                <a:srgbClr val="000000"/>
              </a:solidFill>
              <a:effectLst/>
              <a:uFillTx/>
              <a:latin typeface="Arial"/>
            </a:endParaRPr>
          </a:p>
        </p:txBody>
      </p:sp>
      <p:sp>
        <p:nvSpPr>
          <p:cNvPr id="656"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Adding, Modifying &amp; Dropping</a:t>
            </a:r>
            <a:endParaRPr lang="en-US" sz="2300" b="0" u="none" strike="noStrike">
              <a:solidFill>
                <a:srgbClr val="000000"/>
              </a:solidFill>
              <a:effectLst/>
              <a:uFillTx/>
              <a:latin typeface="Arial"/>
            </a:endParaRPr>
          </a:p>
        </p:txBody>
      </p:sp>
      <p:sp>
        <p:nvSpPr>
          <p:cNvPr id="657"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658"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9"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60"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661"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Add a new column to a DataFrame that's computed from an existing column.</a:t>
            </a:r>
            <a:endParaRPr lang="en-US" sz="1300" b="0" u="none" strike="noStrike">
              <a:solidFill>
                <a:srgbClr val="000000"/>
              </a:solidFill>
              <a:effectLst/>
              <a:uFillTx/>
              <a:latin typeface="Arial"/>
            </a:endParaRPr>
          </a:p>
        </p:txBody>
      </p:sp>
      <p:sp>
        <p:nvSpPr>
          <p:cNvPr id="662"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63"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64"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665"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Rename one column to a more descriptive name.</a:t>
            </a:r>
            <a:endParaRPr lang="en-US" sz="1300" b="0" u="none" strike="noStrike">
              <a:solidFill>
                <a:srgbClr val="000000"/>
              </a:solidFill>
              <a:effectLst/>
              <a:uFillTx/>
              <a:latin typeface="Arial"/>
            </a:endParaRPr>
          </a:p>
        </p:txBody>
      </p:sp>
      <p:sp>
        <p:nvSpPr>
          <p:cNvPr id="666"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67"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68"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669"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Drop one column and one row from a DataFrame, using drop().</a:t>
            </a:r>
            <a:endParaRPr lang="en-US" sz="1300" b="0" u="none" strike="noStrike">
              <a:solidFill>
                <a:srgbClr val="000000"/>
              </a:solidFill>
              <a:effectLst/>
              <a:uFillTx/>
              <a:latin typeface="Arial"/>
            </a:endParaRPr>
          </a:p>
        </p:txBody>
      </p:sp>
      <p:sp>
        <p:nvSpPr>
          <p:cNvPr id="670"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71"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72"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673"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apply() with a def function and with a lambda to add a computed column, and explain what inplace=True does.</a:t>
            </a:r>
            <a:endParaRPr lang="en-US" sz="1300" b="0" u="none" strike="noStrike">
              <a:solidFill>
                <a:srgbClr val="000000"/>
              </a:solidFill>
              <a:effectLst/>
              <a:uFillTx/>
              <a:latin typeface="Arial"/>
            </a:endParaRPr>
          </a:p>
        </p:txBody>
      </p:sp>
      <p:pic>
        <p:nvPicPr>
          <p:cNvPr id="67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75"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76"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677"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78"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679"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680"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6 · MISSING DATA</a:t>
            </a:r>
            <a:endParaRPr lang="en-US" sz="1400" b="0" u="none" strike="noStrike">
              <a:solidFill>
                <a:srgbClr val="FFFFFF"/>
              </a:solidFill>
              <a:effectLst/>
              <a:uFillTx/>
              <a:latin typeface="Arial"/>
            </a:endParaRPr>
          </a:p>
        </p:txBody>
      </p:sp>
      <p:sp>
        <p:nvSpPr>
          <p:cNvPr id="681"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Handling </a:t>
            </a:r>
            <a:r>
              <a:rPr lang="en-US" sz="4000" b="1" u="none" spc="-51" strike="noStrike">
                <a:solidFill>
                  <a:srgbClr val="F1F5F9"/>
                </a:solidFill>
                <a:effectLst/>
                <a:uFillTx/>
                <a:latin typeface="Bricolage Grotesque"/>
                <a:ea typeface="Bricolage Grotesque"/>
              </a:rPr>
              <a:t>Missing Data</a:t>
            </a:r>
            <a:endParaRPr lang="en-US" sz="4000" b="0" u="none" strike="noStrike">
              <a:solidFill>
                <a:srgbClr val="FFFFFF"/>
              </a:solidFill>
              <a:effectLst/>
              <a:uFillTx/>
              <a:latin typeface="Arial"/>
            </a:endParaRPr>
          </a:p>
        </p:txBody>
      </p:sp>
      <p:sp>
        <p:nvSpPr>
          <p:cNvPr id="682"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Real datasets are rarely complete — Pandas gives you the tools to find and fix the gaps.</a:t>
            </a:r>
            <a:endParaRPr lang="en-US" sz="1500" b="0" u="none" strike="noStrike">
              <a:solidFill>
                <a:srgbClr val="FFFFFF"/>
              </a:solidFill>
              <a:effectLst/>
              <a:uFillTx/>
              <a:latin typeface="Arial"/>
            </a:endParaRPr>
          </a:p>
        </p:txBody>
      </p:sp>
      <p:sp>
        <p:nvSpPr>
          <p:cNvPr id="683"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42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8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MISSING DATA</a:t>
            </a:r>
            <a:endParaRPr lang="en-US" sz="1100" b="0" u="none" strike="noStrike">
              <a:solidFill>
                <a:srgbClr val="000000"/>
              </a:solidFill>
              <a:effectLst/>
              <a:uFillTx/>
              <a:latin typeface="Arial"/>
            </a:endParaRPr>
          </a:p>
        </p:txBody>
      </p:sp>
      <p:sp>
        <p:nvSpPr>
          <p:cNvPr id="68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Finding Missing Values — isna() &amp; notna()</a:t>
            </a:r>
            <a:endParaRPr lang="en-US" sz="2600" b="0" u="none" strike="noStrike">
              <a:solidFill>
                <a:srgbClr val="000000"/>
              </a:solidFill>
              <a:effectLst/>
              <a:uFillTx/>
              <a:latin typeface="Arial"/>
            </a:endParaRPr>
          </a:p>
        </p:txBody>
      </p:sp>
      <p:pic>
        <p:nvPicPr>
          <p:cNvPr id="68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68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88"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isna() marks every missing value across a whole DataFrame at once, column by column.</a:t>
            </a:r>
            <a:endParaRPr lang="en-US" sz="1300" b="0" u="none" strike="noStrike">
              <a:solidFill>
                <a:srgbClr val="000000"/>
              </a:solidFill>
              <a:effectLst/>
              <a:uFillTx/>
              <a:latin typeface="Arial"/>
            </a:endParaRPr>
          </a:p>
        </p:txBody>
      </p:sp>
      <p:sp>
        <p:nvSpPr>
          <p:cNvPr id="689"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90"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91"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92"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93"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onsolas"/>
                <a:ea typeface="Consolas"/>
              </a:rPr>
              <a:t>df.isna()</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True/False grid, same shape as df</a:t>
            </a:r>
            <a:endParaRPr lang="en-US" sz="1250" b="0" u="none" strike="noStrike">
              <a:solidFill>
                <a:srgbClr val="000000"/>
              </a:solidFill>
              <a:effectLst/>
              <a:uFillTx/>
              <a:latin typeface="Arial"/>
            </a:endParaRPr>
          </a:p>
          <a:p>
            <a:pPr defTabSz="914400">
              <a:lnSpc>
                <a:spcPct val="118000"/>
              </a:lnSpc>
              <a:tabLst>
                <a:tab pos="0" algn="l"/>
              </a:tabLst>
            </a:pP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df.isna().sum()</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count of missing values,</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per column</a:t>
            </a:r>
            <a:endParaRPr lang="en-US" sz="1250" b="0" u="none" strike="noStrike">
              <a:solidFill>
                <a:srgbClr val="000000"/>
              </a:solidFill>
              <a:effectLst/>
              <a:uFillTx/>
              <a:latin typeface="Arial"/>
            </a:endParaRPr>
          </a:p>
          <a:p>
            <a:pPr defTabSz="914400">
              <a:lnSpc>
                <a:spcPct val="118000"/>
              </a:lnSpc>
              <a:tabLst>
                <a:tab pos="0" algn="l"/>
              </a:tabLst>
            </a:pP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df.isna().sum().sum()</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total missing values</a:t>
            </a:r>
            <a:endParaRPr lang="en-US" sz="1250" b="0" u="none" strike="noStrike">
              <a:solidFill>
                <a:srgbClr val="000000"/>
              </a:solidFill>
              <a:effectLst/>
              <a:uFillTx/>
              <a:latin typeface="Arial"/>
            </a:endParaRPr>
          </a:p>
        </p:txBody>
      </p:sp>
      <p:sp>
        <p:nvSpPr>
          <p:cNvPr id="694"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695" name="Image 1" descr="/home/claude/pandas_deck/charts/missing_students.png"/>
          <p:cNvPicPr/>
          <p:nvPr/>
        </p:nvPicPr>
        <p:blipFill>
          <a:blip r:embed="rId2"/>
          <a:stretch/>
        </p:blipFill>
        <p:spPr>
          <a:xfrm>
            <a:off x="6282000" y="2167200"/>
            <a:ext cx="5266440" cy="3071880"/>
          </a:xfrm>
          <a:prstGeom prst="rect">
            <a:avLst/>
          </a:prstGeom>
          <a:noFill/>
          <a:ln w="0">
            <a:noFill/>
          </a:ln>
        </p:spPr>
      </p:pic>
      <p:sp>
        <p:nvSpPr>
          <p:cNvPr id="696"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isna().sum() is one of the very first things to run on a new dataset — it tells you exactly where cleanup is needed before anything else.</a:t>
            </a:r>
            <a:endParaRPr lang="en-US" sz="1150" b="0" u="none" strike="noStrike">
              <a:solidFill>
                <a:srgbClr val="000000"/>
              </a:solidFill>
              <a:effectLst/>
              <a:uFillTx/>
              <a:latin typeface="Arial"/>
            </a:endParaRPr>
          </a:p>
        </p:txBody>
      </p:sp>
      <p:sp>
        <p:nvSpPr>
          <p:cNvPr id="697"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9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MISSING DATA</a:t>
            </a:r>
            <a:endParaRPr lang="en-US" sz="1100" b="0" u="none" strike="noStrike">
              <a:solidFill>
                <a:srgbClr val="000000"/>
              </a:solidFill>
              <a:effectLst/>
              <a:uFillTx/>
              <a:latin typeface="Arial"/>
            </a:endParaRPr>
          </a:p>
        </p:txBody>
      </p:sp>
      <p:sp>
        <p:nvSpPr>
          <p:cNvPr id="69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Dealing with the Gaps</a:t>
            </a:r>
            <a:endParaRPr lang="en-US" sz="2600" b="0" u="none" strike="noStrike">
              <a:solidFill>
                <a:srgbClr val="000000"/>
              </a:solidFill>
              <a:effectLst/>
              <a:uFillTx/>
              <a:latin typeface="Arial"/>
            </a:endParaRPr>
          </a:p>
        </p:txBody>
      </p:sp>
      <p:pic>
        <p:nvPicPr>
          <p:cNvPr id="70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70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702" name="Table 0"/>
          <p:cNvGraphicFramePr/>
          <p:nvPr/>
        </p:nvGraphicFramePr>
        <p:xfrm>
          <a:off x="548640" y="1737360"/>
          <a:ext cx="11109600" cy="2743200"/>
        </p:xfrm>
        <a:graphic>
          <a:graphicData uri="http://schemas.openxmlformats.org/drawingml/2006/table">
            <a:tbl>
              <a:tblPr/>
              <a:tblGrid>
                <a:gridCol w="3999240"/>
                <a:gridCol w="7110360"/>
              </a:tblGrid>
              <a:tr h="54864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df.dropna()</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Removes every row that has at least one missing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df.dropna(subset=["age"])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Removes rows only if "age" specifically is missing</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df.fillna(0)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Replaces every missing value with 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df.fillna(df["age"].median())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Replaces missing values with a computed statistic, like the median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703" name="Shape 3"/>
          <p:cNvSpPr/>
          <p:nvPr/>
        </p:nvSpPr>
        <p:spPr>
          <a:xfrm>
            <a:off x="548640" y="4663440"/>
            <a:ext cx="11109600" cy="1874160"/>
          </a:xfrm>
          <a:prstGeom prst="roundRect">
            <a:avLst>
              <a:gd name="adj" fmla="val 48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704" name="Image 1" descr="/home/claude/pandas_deck/charts/titanic_fillna.png"/>
          <p:cNvPicPr/>
          <p:nvPr/>
        </p:nvPicPr>
        <p:blipFill>
          <a:blip r:embed="rId2"/>
          <a:stretch/>
        </p:blipFill>
        <p:spPr>
          <a:xfrm>
            <a:off x="658440" y="4773240"/>
            <a:ext cx="10890000" cy="1490040"/>
          </a:xfrm>
          <a:prstGeom prst="rect">
            <a:avLst/>
          </a:prstGeom>
          <a:noFill/>
          <a:ln w="0">
            <a:noFill/>
          </a:ln>
        </p:spPr>
      </p:pic>
      <p:sp>
        <p:nvSpPr>
          <p:cNvPr id="705" name="Text 4"/>
          <p:cNvSpPr/>
          <p:nvPr/>
        </p:nvSpPr>
        <p:spPr>
          <a:xfrm>
            <a:off x="548640" y="6263640"/>
            <a:ext cx="1110960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titanic["age"] before and after filling missing values with the median.</a:t>
            </a:r>
            <a:endParaRPr lang="en-US" sz="950" b="0" u="none" strike="noStrike">
              <a:solidFill>
                <a:srgbClr val="000000"/>
              </a:solidFill>
              <a:effectLst/>
              <a:uFillTx/>
              <a:latin typeface="Arial"/>
            </a:endParaRPr>
          </a:p>
        </p:txBody>
      </p:sp>
      <p:sp>
        <p:nvSpPr>
          <p:cNvPr id="70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0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MISSING DATA</a:t>
            </a:r>
            <a:endParaRPr lang="en-US" sz="1100" b="0" u="none" strike="noStrike">
              <a:solidFill>
                <a:srgbClr val="000000"/>
              </a:solidFill>
              <a:effectLst/>
              <a:uFillTx/>
              <a:latin typeface="Arial"/>
            </a:endParaRPr>
          </a:p>
        </p:txBody>
      </p:sp>
      <p:sp>
        <p:nvSpPr>
          <p:cNvPr id="70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Thresholds — any() &amp; dropna(thresh=)</a:t>
            </a:r>
            <a:endParaRPr lang="en-US" sz="2600" b="0" u="none" strike="noStrike">
              <a:solidFill>
                <a:srgbClr val="000000"/>
              </a:solidFill>
              <a:effectLst/>
              <a:uFillTx/>
              <a:latin typeface="Arial"/>
            </a:endParaRPr>
          </a:p>
        </p:txBody>
      </p:sp>
      <p:pic>
        <p:nvPicPr>
          <p:cNvPr id="709"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71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11"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1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1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1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15"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df.isna().any()</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A–E: all True (each has a gap)</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df.dropna()</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Empty — every row has a NaN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df.dropna(thresh=4)</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rows with 4+ real values: all 5 kept</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df.dropna(thresh=5)</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rows with 5 real values: none</a:t>
            </a:r>
            <a:endParaRPr lang="en-US" sz="1350" b="0" u="none" strike="noStrike">
              <a:solidFill>
                <a:srgbClr val="000000"/>
              </a:solidFill>
              <a:effectLst/>
              <a:uFillTx/>
              <a:latin typeface="Arial"/>
            </a:endParaRPr>
          </a:p>
        </p:txBody>
      </p:sp>
      <p:sp>
        <p:nvSpPr>
          <p:cNvPr id="716"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isna().any() answers yes/no per column; isna().sum() counts the gaps.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dropna() deletes any row with even one NaN — in the 5×5 example, that deletes everything.</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thresh=n is the minimum number of non-missing values a row needs to survive. Each row has 4 real values out of 5, so thresh=4 keeps all five and thresh=5 keeps none.</a:t>
            </a:r>
            <a:endParaRPr lang="en-US" sz="1400" b="0" u="none" strike="noStrike">
              <a:solidFill>
                <a:srgbClr val="000000"/>
              </a:solidFill>
              <a:effectLst/>
              <a:uFillTx/>
              <a:latin typeface="Arial"/>
            </a:endParaRPr>
          </a:p>
        </p:txBody>
      </p:sp>
      <p:sp>
        <p:nvSpPr>
          <p:cNvPr id="717"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1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MISSING DATA</a:t>
            </a:r>
            <a:endParaRPr lang="en-US" sz="1100" b="0" u="none" strike="noStrike">
              <a:solidFill>
                <a:srgbClr val="000000"/>
              </a:solidFill>
              <a:effectLst/>
              <a:uFillTx/>
              <a:latin typeface="Arial"/>
            </a:endParaRPr>
          </a:p>
        </p:txBody>
      </p:sp>
      <p:sp>
        <p:nvSpPr>
          <p:cNvPr id="71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fillna() with a Per-Column Dictionary</a:t>
            </a:r>
            <a:endParaRPr lang="en-US" sz="2600" b="0" u="none" strike="noStrike">
              <a:solidFill>
                <a:srgbClr val="000000"/>
              </a:solidFill>
              <a:effectLst/>
              <a:uFillTx/>
              <a:latin typeface="Arial"/>
            </a:endParaRPr>
          </a:p>
        </p:txBody>
      </p:sp>
      <p:pic>
        <p:nvPicPr>
          <p:cNvPr id="72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72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22"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3"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24"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25"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26"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df.fillna(df.mean())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each NaN -&gt; its own column’s mean</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values = {"A": 0, "B": 1, "C": 2,</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"D": 3, "E": 4}</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df.fillna(value=values)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row 2, col A  -&gt;  0.0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row 1, col B  -&gt;  1.0</a:t>
            </a:r>
            <a:endParaRPr lang="en-US" sz="1350" b="0" u="none" strike="noStrike">
              <a:solidFill>
                <a:srgbClr val="000000"/>
              </a:solidFill>
              <a:effectLst/>
              <a:uFillTx/>
              <a:latin typeface="Arial"/>
            </a:endParaRPr>
          </a:p>
        </p:txBody>
      </p:sp>
      <p:sp>
        <p:nvSpPr>
          <p:cNvPr id="727"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fillna(df.mean()) fills each column’s gaps with that column’s own average — one call, five different fill values.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fillna(value=dict) lets you choose: each key is a column name, and its value is the fill for that column only.</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These methods return a new DataFrame unless you pass inplace=True — assign the result back or it’s lost.</a:t>
            </a:r>
            <a:endParaRPr lang="en-US" sz="1400" b="0" u="none" strike="noStrike">
              <a:solidFill>
                <a:srgbClr val="000000"/>
              </a:solidFill>
              <a:effectLst/>
              <a:uFillTx/>
              <a:latin typeface="Arial"/>
            </a:endParaRPr>
          </a:p>
        </p:txBody>
      </p:sp>
      <p:sp>
        <p:nvSpPr>
          <p:cNvPr id="728"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29"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30"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731"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MISSING DATA</a:t>
            </a:r>
            <a:endParaRPr lang="en-US" sz="1100" b="0" u="none" strike="noStrike">
              <a:solidFill>
                <a:srgbClr val="000000"/>
              </a:solidFill>
              <a:effectLst/>
              <a:uFillTx/>
              <a:latin typeface="Arial"/>
            </a:endParaRPr>
          </a:p>
        </p:txBody>
      </p:sp>
      <p:sp>
        <p:nvSpPr>
          <p:cNvPr id="732"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Handling Missing Data</a:t>
            </a:r>
            <a:endParaRPr lang="en-US" sz="2300" b="0" u="none" strike="noStrike">
              <a:solidFill>
                <a:srgbClr val="000000"/>
              </a:solidFill>
              <a:effectLst/>
              <a:uFillTx/>
              <a:latin typeface="Arial"/>
            </a:endParaRPr>
          </a:p>
        </p:txBody>
      </p:sp>
      <p:sp>
        <p:nvSpPr>
          <p:cNvPr id="733"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a:t>
            </a:r>
            <a:r>
              <a:rPr lang="en-US" sz="1300" b="0" i="1" u="none" strike="noStrike">
                <a:solidFill>
                  <a:srgbClr val="474651"/>
                </a:solidFill>
                <a:effectLst/>
                <a:uFillTx/>
                <a:latin typeface="Hanken Grotesk"/>
                <a:ea typeface="Hanken Grotesk"/>
              </a:rPr>
              <a:t>— no code shown, </a:t>
            </a:r>
            <a:r>
              <a:rPr lang="en-US" sz="1300" b="0" i="1" u="none" strike="noStrike">
                <a:solidFill>
                  <a:srgbClr val="474651"/>
                </a:solidFill>
                <a:effectLst/>
                <a:uFillTx/>
                <a:latin typeface="Hanken Grotesk"/>
                <a:ea typeface="Hanken Grotesk"/>
              </a:rPr>
              <a:t>that's the point.</a:t>
            </a:r>
            <a:endParaRPr lang="en-US" sz="1300" b="0" u="none" strike="noStrike">
              <a:solidFill>
                <a:srgbClr val="000000"/>
              </a:solidFill>
              <a:effectLst/>
              <a:uFillTx/>
              <a:latin typeface="Arial"/>
            </a:endParaRPr>
          </a:p>
        </p:txBody>
      </p:sp>
      <p:sp>
        <p:nvSpPr>
          <p:cNvPr id="734"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35"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36"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37"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small DataFrame with a few missing values, and count them per column.</a:t>
            </a:r>
            <a:endParaRPr lang="en-US" sz="1300" b="0" u="none" strike="noStrike">
              <a:solidFill>
                <a:srgbClr val="000000"/>
              </a:solidFill>
              <a:effectLst/>
              <a:uFillTx/>
              <a:latin typeface="Arial"/>
            </a:endParaRPr>
          </a:p>
        </p:txBody>
      </p:sp>
      <p:sp>
        <p:nvSpPr>
          <p:cNvPr id="738"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39"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0"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41"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Drop rows with dropna(), then try dropna(thresh=...) and compare how many rows survive.</a:t>
            </a:r>
            <a:endParaRPr lang="en-US" sz="1300" b="0" u="none" strike="noStrike">
              <a:solidFill>
                <a:srgbClr val="000000"/>
              </a:solidFill>
              <a:effectLst/>
              <a:uFillTx/>
              <a:latin typeface="Arial"/>
            </a:endParaRPr>
          </a:p>
        </p:txBody>
      </p:sp>
      <p:sp>
        <p:nvSpPr>
          <p:cNvPr id="742"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3"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4"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45"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Fill missing values with the column mean or median, then with a fillna() dictionary giving each column its own fill.</a:t>
            </a:r>
            <a:endParaRPr lang="en-US" sz="1300" b="0" u="none" strike="noStrike">
              <a:solidFill>
                <a:srgbClr val="000000"/>
              </a:solidFill>
              <a:effectLst/>
              <a:uFillTx/>
              <a:latin typeface="Arial"/>
            </a:endParaRPr>
          </a:p>
        </p:txBody>
      </p:sp>
      <p:sp>
        <p:nvSpPr>
          <p:cNvPr id="746"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7"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8"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49"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when you'd choose dropna() over fillna(), and vice versa.</a:t>
            </a:r>
            <a:endParaRPr lang="en-US" sz="1300" b="0" u="none" strike="noStrike">
              <a:solidFill>
                <a:srgbClr val="000000"/>
              </a:solidFill>
              <a:effectLst/>
              <a:uFillTx/>
              <a:latin typeface="Arial"/>
            </a:endParaRPr>
          </a:p>
        </p:txBody>
      </p:sp>
      <p:pic>
        <p:nvPicPr>
          <p:cNvPr id="75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751"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52"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753"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4"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755"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756"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7 · SORTING &amp; RANKING</a:t>
            </a:r>
            <a:endParaRPr lang="en-US" sz="1400" b="0" u="none" strike="noStrike">
              <a:solidFill>
                <a:srgbClr val="FFFFFF"/>
              </a:solidFill>
              <a:effectLst/>
              <a:uFillTx/>
              <a:latin typeface="Arial"/>
            </a:endParaRPr>
          </a:p>
        </p:txBody>
      </p:sp>
      <p:sp>
        <p:nvSpPr>
          <p:cNvPr id="757"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Sorting &amp; Ranking</a:t>
            </a:r>
            <a:endParaRPr lang="en-US" sz="4000" b="0" u="none" strike="noStrike">
              <a:solidFill>
                <a:srgbClr val="FFFFFF"/>
              </a:solidFill>
              <a:effectLst/>
              <a:uFillTx/>
              <a:latin typeface="Arial"/>
            </a:endParaRPr>
          </a:p>
        </p:txBody>
      </p:sp>
      <p:sp>
        <p:nvSpPr>
          <p:cNvPr id="758"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Ordering a DataFrame to see what stands out first.</a:t>
            </a:r>
            <a:endParaRPr lang="en-US" sz="1500" b="0" u="none" strike="noStrike">
              <a:solidFill>
                <a:srgbClr val="FFFFFF"/>
              </a:solidFill>
              <a:effectLst/>
              <a:uFillTx/>
              <a:latin typeface="Arial"/>
            </a:endParaRPr>
          </a:p>
        </p:txBody>
      </p:sp>
      <p:sp>
        <p:nvSpPr>
          <p:cNvPr id="759"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48</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6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SORTING &amp; RANKING</a:t>
            </a:r>
            <a:endParaRPr lang="en-US" sz="1100" b="0" u="none" strike="noStrike">
              <a:solidFill>
                <a:srgbClr val="000000"/>
              </a:solidFill>
              <a:effectLst/>
              <a:uFillTx/>
              <a:latin typeface="Arial"/>
            </a:endParaRPr>
          </a:p>
        </p:txBody>
      </p:sp>
      <p:sp>
        <p:nvSpPr>
          <p:cNvPr id="76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Sorting Values &amp; the Index</a:t>
            </a:r>
            <a:endParaRPr lang="en-US" sz="2600" b="0" u="none" strike="noStrike">
              <a:solidFill>
                <a:srgbClr val="000000"/>
              </a:solidFill>
              <a:effectLst/>
              <a:uFillTx/>
              <a:latin typeface="Arial"/>
            </a:endParaRPr>
          </a:p>
        </p:txBody>
      </p:sp>
      <p:pic>
        <p:nvPicPr>
          <p:cNvPr id="76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76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764" name="Table 0"/>
          <p:cNvGraphicFramePr/>
          <p:nvPr/>
        </p:nvGraphicFramePr>
        <p:xfrm>
          <a:off x="548640" y="1737360"/>
          <a:ext cx="11109600" cy="3200040"/>
        </p:xfrm>
        <a:graphic>
          <a:graphicData uri="http://schemas.openxmlformats.org/drawingml/2006/table">
            <a:tbl>
              <a:tblPr/>
              <a:tblGrid>
                <a:gridCol w="3999240"/>
                <a:gridCol w="7110360"/>
              </a:tblGrid>
              <a:tr h="5331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33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df.sort_values("score")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Sorts rows by a column's values, ascending by default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3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df.sort_values("score", ascending=False)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Sorts descending — highest first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3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df.sort_values(["class", "score"])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Sorts by multiple columns, in order</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3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df.sort_index()</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Sorts rows back into index order</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33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df["score"].rank()</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Gives each value its rank, 1 = smallest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765" name="Shape 3"/>
          <p:cNvSpPr/>
          <p:nvPr/>
        </p:nvSpPr>
        <p:spPr>
          <a:xfrm>
            <a:off x="548640" y="5074920"/>
            <a:ext cx="11109600" cy="1005480"/>
          </a:xfrm>
          <a:prstGeom prst="roundRect">
            <a:avLst>
              <a:gd name="adj" fmla="val 1090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6" name="Shape 4"/>
          <p:cNvSpPr/>
          <p:nvPr/>
        </p:nvSpPr>
        <p:spPr>
          <a:xfrm>
            <a:off x="713160" y="522108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67" name="Shape 5"/>
          <p:cNvSpPr/>
          <p:nvPr/>
        </p:nvSpPr>
        <p:spPr>
          <a:xfrm>
            <a:off x="914400" y="522108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68" name="Shape 6"/>
          <p:cNvSpPr/>
          <p:nvPr/>
        </p:nvSpPr>
        <p:spPr>
          <a:xfrm>
            <a:off x="1115640" y="522108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769" name="Text 7"/>
          <p:cNvSpPr/>
          <p:nvPr/>
        </p:nvSpPr>
        <p:spPr>
          <a:xfrm>
            <a:off x="749880" y="5459040"/>
            <a:ext cx="10707120" cy="475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df.sort_values("score", ascending=False).head(3)</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the 3 highest scores, in order</a:t>
            </a:r>
            <a:endParaRPr lang="en-US" sz="1350" b="0" u="none" strike="noStrike">
              <a:solidFill>
                <a:srgbClr val="000000"/>
              </a:solidFill>
              <a:effectLst/>
              <a:uFillTx/>
              <a:latin typeface="Arial"/>
            </a:endParaRPr>
          </a:p>
        </p:txBody>
      </p:sp>
      <p:sp>
        <p:nvSpPr>
          <p:cNvPr id="770"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71"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2"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773"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SORTING &amp; RANKING</a:t>
            </a:r>
            <a:endParaRPr lang="en-US" sz="1100" b="0" u="none" strike="noStrike">
              <a:solidFill>
                <a:srgbClr val="000000"/>
              </a:solidFill>
              <a:effectLst/>
              <a:uFillTx/>
              <a:latin typeface="Arial"/>
            </a:endParaRPr>
          </a:p>
        </p:txBody>
      </p:sp>
      <p:sp>
        <p:nvSpPr>
          <p:cNvPr id="774"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Sorting &amp; Ranking</a:t>
            </a:r>
            <a:endParaRPr lang="en-US" sz="2300" b="0" u="none" strike="noStrike">
              <a:solidFill>
                <a:srgbClr val="000000"/>
              </a:solidFill>
              <a:effectLst/>
              <a:uFillTx/>
              <a:latin typeface="Arial"/>
            </a:endParaRPr>
          </a:p>
        </p:txBody>
      </p:sp>
      <p:sp>
        <p:nvSpPr>
          <p:cNvPr id="775"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776"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7"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8"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79"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Sort a DataFrame by one column, ascending and then descending.</a:t>
            </a:r>
            <a:endParaRPr lang="en-US" sz="1300" b="0" u="none" strike="noStrike">
              <a:solidFill>
                <a:srgbClr val="000000"/>
              </a:solidFill>
              <a:effectLst/>
              <a:uFillTx/>
              <a:latin typeface="Arial"/>
            </a:endParaRPr>
          </a:p>
        </p:txBody>
      </p:sp>
      <p:sp>
        <p:nvSpPr>
          <p:cNvPr id="780"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81"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82"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83"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Sort a DataFrame by two columns at once.</a:t>
            </a:r>
            <a:endParaRPr lang="en-US" sz="1300" b="0" u="none" strike="noStrike">
              <a:solidFill>
                <a:srgbClr val="000000"/>
              </a:solidFill>
              <a:effectLst/>
              <a:uFillTx/>
              <a:latin typeface="Arial"/>
            </a:endParaRPr>
          </a:p>
        </p:txBody>
      </p:sp>
      <p:sp>
        <p:nvSpPr>
          <p:cNvPr id="784"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85"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86"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87"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Find the top 3 rows by a numeric column using sort_values() and head() together.</a:t>
            </a:r>
            <a:endParaRPr lang="en-US" sz="1300" b="0" u="none" strike="noStrike">
              <a:solidFill>
                <a:srgbClr val="000000"/>
              </a:solidFill>
              <a:effectLst/>
              <a:uFillTx/>
              <a:latin typeface="Arial"/>
            </a:endParaRPr>
          </a:p>
        </p:txBody>
      </p:sp>
      <p:sp>
        <p:nvSpPr>
          <p:cNvPr id="788"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89"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90"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91"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Rank a column's values and add the ranks as a new column.</a:t>
            </a:r>
            <a:endParaRPr lang="en-US" sz="1300" b="0" u="none" strike="noStrike">
              <a:solidFill>
                <a:srgbClr val="000000"/>
              </a:solidFill>
              <a:effectLst/>
              <a:uFillTx/>
              <a:latin typeface="Arial"/>
            </a:endParaRPr>
          </a:p>
        </p:txBody>
      </p:sp>
      <p:pic>
        <p:nvPicPr>
          <p:cNvPr id="79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793"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94"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795"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96"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797"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798"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8 · GROUPBY &amp; AGGREGATION</a:t>
            </a:r>
            <a:endParaRPr lang="en-US" sz="1400" b="0" u="none" strike="noStrike">
              <a:solidFill>
                <a:srgbClr val="FFFFFF"/>
              </a:solidFill>
              <a:effectLst/>
              <a:uFillTx/>
              <a:latin typeface="Arial"/>
            </a:endParaRPr>
          </a:p>
        </p:txBody>
      </p:sp>
      <p:sp>
        <p:nvSpPr>
          <p:cNvPr id="799"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GroupBy &amp; Aggregation</a:t>
            </a:r>
            <a:endParaRPr lang="en-US" sz="4000" b="0" u="none" strike="noStrike">
              <a:solidFill>
                <a:srgbClr val="FFFFFF"/>
              </a:solidFill>
              <a:effectLst/>
              <a:uFillTx/>
              <a:latin typeface="Arial"/>
            </a:endParaRPr>
          </a:p>
        </p:txBody>
      </p:sp>
      <p:sp>
        <p:nvSpPr>
          <p:cNvPr id="800"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The single most-used Pandas skill for EDA — split your data into groups, then summarize each one.</a:t>
            </a:r>
            <a:endParaRPr lang="en-US" sz="1500" b="0" u="none" strike="noStrike">
              <a:solidFill>
                <a:srgbClr val="FFFFFF"/>
              </a:solidFill>
              <a:effectLst/>
              <a:uFillTx/>
              <a:latin typeface="Arial"/>
            </a:endParaRPr>
          </a:p>
        </p:txBody>
      </p:sp>
      <p:sp>
        <p:nvSpPr>
          <p:cNvPr id="801"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51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0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GROUPBY</a:t>
            </a:r>
            <a:endParaRPr lang="en-US" sz="1100" b="0" u="none" strike="noStrike">
              <a:solidFill>
                <a:srgbClr val="000000"/>
              </a:solidFill>
              <a:effectLst/>
              <a:uFillTx/>
              <a:latin typeface="Arial"/>
            </a:endParaRPr>
          </a:p>
        </p:txBody>
      </p:sp>
      <p:sp>
        <p:nvSpPr>
          <p:cNvPr id="80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The Idea: Split → Apply → Combine</a:t>
            </a:r>
            <a:endParaRPr lang="en-US" sz="2600" b="0" u="none" strike="noStrike">
              <a:solidFill>
                <a:srgbClr val="000000"/>
              </a:solidFill>
              <a:effectLst/>
              <a:uFillTx/>
              <a:latin typeface="Arial"/>
            </a:endParaRPr>
          </a:p>
        </p:txBody>
      </p:sp>
      <p:pic>
        <p:nvPicPr>
          <p:cNvPr id="80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0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06" name="Shape 3"/>
          <p:cNvSpPr/>
          <p:nvPr/>
        </p:nvSpPr>
        <p:spPr>
          <a:xfrm>
            <a:off x="548640" y="1920240"/>
            <a:ext cx="3291480" cy="3291480"/>
          </a:xfrm>
          <a:prstGeom prst="roundRect">
            <a:avLst>
              <a:gd name="adj" fmla="val 333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07" name="Text 4"/>
          <p:cNvSpPr/>
          <p:nvPr/>
        </p:nvSpPr>
        <p:spPr>
          <a:xfrm>
            <a:off x="777240" y="2148840"/>
            <a:ext cx="283428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5755A7"/>
                </a:solidFill>
                <a:effectLst/>
                <a:uFillTx/>
                <a:latin typeface="Bricolage Grotesque"/>
                <a:ea typeface="Bricolage Grotesque"/>
              </a:rPr>
              <a:t>1. Split</a:t>
            </a:r>
            <a:endParaRPr lang="en-US" sz="1700" b="0" u="none" strike="noStrike">
              <a:solidFill>
                <a:srgbClr val="000000"/>
              </a:solidFill>
              <a:effectLst/>
              <a:uFillTx/>
              <a:latin typeface="Arial"/>
            </a:endParaRPr>
          </a:p>
        </p:txBody>
      </p:sp>
      <p:sp>
        <p:nvSpPr>
          <p:cNvPr id="808" name="Text 5"/>
          <p:cNvSpPr/>
          <p:nvPr/>
        </p:nvSpPr>
        <p:spPr>
          <a:xfrm>
            <a:off x="777240" y="2697480"/>
            <a:ext cx="2834280" cy="2377080"/>
          </a:xfrm>
          <a:prstGeom prst="rect">
            <a:avLst/>
          </a:prstGeom>
          <a:noFill/>
          <a:ln w="0">
            <a:noFill/>
          </a:ln>
        </p:spPr>
        <p:style>
          <a:lnRef idx="0"/>
          <a:fillRef idx="0"/>
          <a:effectRef idx="0"/>
          <a:fontRef idx="minor"/>
        </p:style>
        <p:txBody>
          <a:bodyPr lIns="90000" tIns="45000" rIns="90000" bIns="45000" anchor="t">
            <a:noAutofit/>
          </a:bodyPr>
          <a:p>
            <a:pPr defTabSz="914400">
              <a:lnSpc>
                <a:spcPct val="130000"/>
              </a:lnSpc>
              <a:tabLst>
                <a:tab pos="0" algn="l"/>
              </a:tabLst>
            </a:pPr>
            <a:r>
              <a:rPr lang="en-US" sz="1250" b="0" u="none" strike="noStrike">
                <a:solidFill>
                  <a:srgbClr val="474651"/>
                </a:solidFill>
                <a:effectLst/>
                <a:uFillTx/>
                <a:latin typeface="Hanken Grotesk"/>
                <a:ea typeface="Hanken Grotesk"/>
              </a:rPr>
              <a:t>Group rows by a column's value — e.g. every row becomes part of its "day" group.</a:t>
            </a:r>
            <a:endParaRPr lang="en-US" sz="1250" b="0" u="none" strike="noStrike">
              <a:solidFill>
                <a:srgbClr val="000000"/>
              </a:solidFill>
              <a:effectLst/>
              <a:uFillTx/>
              <a:latin typeface="Arial"/>
            </a:endParaRPr>
          </a:p>
        </p:txBody>
      </p:sp>
      <p:sp>
        <p:nvSpPr>
          <p:cNvPr id="809" name="Text 6"/>
          <p:cNvSpPr/>
          <p:nvPr/>
        </p:nvSpPr>
        <p:spPr>
          <a:xfrm>
            <a:off x="3840480" y="1920240"/>
            <a:ext cx="319680" cy="3291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5755A7"/>
                </a:solidFill>
                <a:effectLst/>
                <a:uFillTx/>
                <a:latin typeface="Calibri"/>
              </a:rPr>
              <a:t>→</a:t>
            </a:r>
            <a:endParaRPr lang="en-US" sz="2000" b="0" u="none" strike="noStrike">
              <a:solidFill>
                <a:srgbClr val="000000"/>
              </a:solidFill>
              <a:effectLst/>
              <a:uFillTx/>
              <a:latin typeface="Arial"/>
            </a:endParaRPr>
          </a:p>
        </p:txBody>
      </p:sp>
      <p:sp>
        <p:nvSpPr>
          <p:cNvPr id="810" name="Shape 7"/>
          <p:cNvSpPr/>
          <p:nvPr/>
        </p:nvSpPr>
        <p:spPr>
          <a:xfrm>
            <a:off x="4160520" y="1920240"/>
            <a:ext cx="3291480" cy="3291480"/>
          </a:xfrm>
          <a:prstGeom prst="roundRect">
            <a:avLst>
              <a:gd name="adj" fmla="val 3333"/>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11" name="Text 8"/>
          <p:cNvSpPr/>
          <p:nvPr/>
        </p:nvSpPr>
        <p:spPr>
          <a:xfrm>
            <a:off x="4389120" y="2148840"/>
            <a:ext cx="283428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231F71"/>
                </a:solidFill>
                <a:effectLst/>
                <a:uFillTx/>
                <a:latin typeface="Bricolage Grotesque"/>
                <a:ea typeface="Bricolage Grotesque"/>
              </a:rPr>
              <a:t>2. Apply</a:t>
            </a:r>
            <a:endParaRPr lang="en-US" sz="1700" b="0" u="none" strike="noStrike">
              <a:solidFill>
                <a:srgbClr val="000000"/>
              </a:solidFill>
              <a:effectLst/>
              <a:uFillTx/>
              <a:latin typeface="Arial"/>
            </a:endParaRPr>
          </a:p>
        </p:txBody>
      </p:sp>
      <p:sp>
        <p:nvSpPr>
          <p:cNvPr id="812" name="Text 9"/>
          <p:cNvSpPr/>
          <p:nvPr/>
        </p:nvSpPr>
        <p:spPr>
          <a:xfrm>
            <a:off x="4389120" y="2697480"/>
            <a:ext cx="2834280" cy="2377080"/>
          </a:xfrm>
          <a:prstGeom prst="rect">
            <a:avLst/>
          </a:prstGeom>
          <a:noFill/>
          <a:ln w="0">
            <a:noFill/>
          </a:ln>
        </p:spPr>
        <p:style>
          <a:lnRef idx="0"/>
          <a:fillRef idx="0"/>
          <a:effectRef idx="0"/>
          <a:fontRef idx="minor"/>
        </p:style>
        <p:txBody>
          <a:bodyPr lIns="90000" tIns="45000" rIns="90000" bIns="45000" anchor="t">
            <a:noAutofit/>
          </a:bodyPr>
          <a:p>
            <a:pPr defTabSz="914400">
              <a:lnSpc>
                <a:spcPct val="130000"/>
              </a:lnSpc>
              <a:tabLst>
                <a:tab pos="0" algn="l"/>
              </a:tabLst>
            </a:pPr>
            <a:r>
              <a:rPr lang="en-US" sz="1250" b="0" u="none" strike="noStrike">
                <a:solidFill>
                  <a:srgbClr val="231F71"/>
                </a:solidFill>
                <a:effectLst/>
                <a:uFillTx/>
                <a:latin typeface="Hanken Grotesk"/>
                <a:ea typeface="Hanken Grotesk"/>
              </a:rPr>
              <a:t>Run a function on each group separately — e.g. </a:t>
            </a:r>
            <a:r>
              <a:rPr lang="en-US" sz="1250" b="0" u="none" strike="noStrike">
                <a:solidFill>
                  <a:srgbClr val="231F71"/>
                </a:solidFill>
                <a:effectLst/>
                <a:uFillTx/>
                <a:latin typeface="Hanken Grotesk"/>
                <a:ea typeface="Hanken Grotesk"/>
              </a:rPr>
              <a:t>compute the mean tip within each day.</a:t>
            </a:r>
            <a:endParaRPr lang="en-US" sz="1250" b="0" u="none" strike="noStrike">
              <a:solidFill>
                <a:srgbClr val="000000"/>
              </a:solidFill>
              <a:effectLst/>
              <a:uFillTx/>
              <a:latin typeface="Arial"/>
            </a:endParaRPr>
          </a:p>
        </p:txBody>
      </p:sp>
      <p:sp>
        <p:nvSpPr>
          <p:cNvPr id="813" name="Text 10"/>
          <p:cNvSpPr/>
          <p:nvPr/>
        </p:nvSpPr>
        <p:spPr>
          <a:xfrm>
            <a:off x="7452360" y="1920240"/>
            <a:ext cx="319680" cy="3291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5755A7"/>
                </a:solidFill>
                <a:effectLst/>
                <a:uFillTx/>
                <a:latin typeface="Calibri"/>
              </a:rPr>
              <a:t>→</a:t>
            </a:r>
            <a:endParaRPr lang="en-US" sz="2000" b="0" u="none" strike="noStrike">
              <a:solidFill>
                <a:srgbClr val="000000"/>
              </a:solidFill>
              <a:effectLst/>
              <a:uFillTx/>
              <a:latin typeface="Arial"/>
            </a:endParaRPr>
          </a:p>
        </p:txBody>
      </p:sp>
      <p:sp>
        <p:nvSpPr>
          <p:cNvPr id="814" name="Shape 11"/>
          <p:cNvSpPr/>
          <p:nvPr/>
        </p:nvSpPr>
        <p:spPr>
          <a:xfrm>
            <a:off x="7772400" y="1920240"/>
            <a:ext cx="3291480" cy="3291480"/>
          </a:xfrm>
          <a:prstGeom prst="roundRect">
            <a:avLst>
              <a:gd name="adj" fmla="val 333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15" name="Text 12"/>
          <p:cNvSpPr/>
          <p:nvPr/>
        </p:nvSpPr>
        <p:spPr>
          <a:xfrm>
            <a:off x="8001000" y="2148840"/>
            <a:ext cx="283428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5755A7"/>
                </a:solidFill>
                <a:effectLst/>
                <a:uFillTx/>
                <a:latin typeface="Bricolage Grotesque"/>
                <a:ea typeface="Bricolage Grotesque"/>
              </a:rPr>
              <a:t>3. Combine</a:t>
            </a:r>
            <a:endParaRPr lang="en-US" sz="1700" b="0" u="none" strike="noStrike">
              <a:solidFill>
                <a:srgbClr val="000000"/>
              </a:solidFill>
              <a:effectLst/>
              <a:uFillTx/>
              <a:latin typeface="Arial"/>
            </a:endParaRPr>
          </a:p>
        </p:txBody>
      </p:sp>
      <p:sp>
        <p:nvSpPr>
          <p:cNvPr id="816" name="Text 13"/>
          <p:cNvSpPr/>
          <p:nvPr/>
        </p:nvSpPr>
        <p:spPr>
          <a:xfrm>
            <a:off x="8001000" y="2697480"/>
            <a:ext cx="2834280" cy="2377080"/>
          </a:xfrm>
          <a:prstGeom prst="rect">
            <a:avLst/>
          </a:prstGeom>
          <a:noFill/>
          <a:ln w="0">
            <a:noFill/>
          </a:ln>
        </p:spPr>
        <p:style>
          <a:lnRef idx="0"/>
          <a:fillRef idx="0"/>
          <a:effectRef idx="0"/>
          <a:fontRef idx="minor"/>
        </p:style>
        <p:txBody>
          <a:bodyPr lIns="90000" tIns="45000" rIns="90000" bIns="45000" anchor="t">
            <a:noAutofit/>
          </a:bodyPr>
          <a:p>
            <a:pPr defTabSz="914400">
              <a:lnSpc>
                <a:spcPct val="130000"/>
              </a:lnSpc>
              <a:tabLst>
                <a:tab pos="0" algn="l"/>
              </a:tabLst>
            </a:pPr>
            <a:r>
              <a:rPr lang="en-US" sz="1250" b="0" u="none" strike="noStrike">
                <a:solidFill>
                  <a:srgbClr val="474651"/>
                </a:solidFill>
                <a:effectLst/>
                <a:uFillTx/>
                <a:latin typeface="Hanken Grotesk"/>
                <a:ea typeface="Hanken Grotesk"/>
              </a:rPr>
              <a:t>Collect each group's result back into a single, summarized table.</a:t>
            </a:r>
            <a:endParaRPr lang="en-US" sz="1250" b="0" u="none" strike="noStrike">
              <a:solidFill>
                <a:srgbClr val="000000"/>
              </a:solidFill>
              <a:effectLst/>
              <a:uFillTx/>
              <a:latin typeface="Arial"/>
            </a:endParaRPr>
          </a:p>
        </p:txBody>
      </p:sp>
      <p:sp>
        <p:nvSpPr>
          <p:cNvPr id="817" name="Text 14"/>
          <p:cNvSpPr/>
          <p:nvPr/>
        </p:nvSpPr>
        <p:spPr>
          <a:xfrm>
            <a:off x="548640" y="5486400"/>
            <a:ext cx="111096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This exact pattern — split, apply, combine — is what groupby() automates in one line of code.</a:t>
            </a:r>
            <a:endParaRPr lang="en-US" sz="1300" b="0" u="none" strike="noStrike">
              <a:solidFill>
                <a:srgbClr val="000000"/>
              </a:solidFill>
              <a:effectLst/>
              <a:uFillTx/>
              <a:latin typeface="Arial"/>
            </a:endParaRPr>
          </a:p>
        </p:txBody>
      </p:sp>
      <p:sp>
        <p:nvSpPr>
          <p:cNvPr id="818" name="Text 1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1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GROUPBY</a:t>
            </a:r>
            <a:endParaRPr lang="en-US" sz="1100" b="0" u="none" strike="noStrike">
              <a:solidFill>
                <a:srgbClr val="000000"/>
              </a:solidFill>
              <a:effectLst/>
              <a:uFillTx/>
              <a:latin typeface="Arial"/>
            </a:endParaRPr>
          </a:p>
        </p:txBody>
      </p:sp>
      <p:sp>
        <p:nvSpPr>
          <p:cNvPr id="82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Anatomy of groupby()</a:t>
            </a:r>
            <a:endParaRPr lang="en-US" sz="2600" b="0" u="none" strike="noStrike">
              <a:solidFill>
                <a:srgbClr val="000000"/>
              </a:solidFill>
              <a:effectLst/>
              <a:uFillTx/>
              <a:latin typeface="Arial"/>
            </a:endParaRPr>
          </a:p>
        </p:txBody>
      </p:sp>
      <p:pic>
        <p:nvPicPr>
          <p:cNvPr id="821"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2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23" name="Shape 3"/>
          <p:cNvSpPr/>
          <p:nvPr/>
        </p:nvSpPr>
        <p:spPr>
          <a:xfrm>
            <a:off x="548640" y="1737360"/>
            <a:ext cx="5394600" cy="3840120"/>
          </a:xfrm>
          <a:prstGeom prst="roundRect">
            <a:avLst>
              <a:gd name="adj" fmla="val 285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24"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25"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26"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27" name="Text 7"/>
          <p:cNvSpPr/>
          <p:nvPr/>
        </p:nvSpPr>
        <p:spPr>
          <a:xfrm>
            <a:off x="749880" y="2121480"/>
            <a:ext cx="4992120" cy="3309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onsolas"/>
                <a:ea typeface="Consolas"/>
              </a:rPr>
              <a:t>df.groupby("column_name")["target_column"].agg_function()</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examples:</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df.groupby("day")["tip"].mean()</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df.groupby("day")["tip"].sum()</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df.groupby("day")["tip"].count()</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df.groupby("day").agg({"tip": "mean", "size": "sum"})</a:t>
            </a:r>
            <a:endParaRPr lang="en-US" sz="1300" b="0" u="none" strike="noStrike">
              <a:solidFill>
                <a:srgbClr val="000000"/>
              </a:solidFill>
              <a:effectLst/>
              <a:uFillTx/>
              <a:latin typeface="Arial"/>
            </a:endParaRPr>
          </a:p>
        </p:txBody>
      </p:sp>
      <p:graphicFrame>
        <p:nvGraphicFramePr>
          <p:cNvPr id="828" name="Table 0"/>
          <p:cNvGraphicFramePr/>
          <p:nvPr/>
        </p:nvGraphicFramePr>
        <p:xfrm>
          <a:off x="6172200" y="1737360"/>
          <a:ext cx="5486040" cy="2743200"/>
        </p:xfrm>
        <a:graphic>
          <a:graphicData uri="http://schemas.openxmlformats.org/drawingml/2006/table">
            <a:tbl>
              <a:tblPr/>
              <a:tblGrid>
                <a:gridCol w="1974960"/>
                <a:gridCol w="3511080"/>
              </a:tblGrid>
              <a:tr h="54864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groupby("col")</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column whose values define the groups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["target"]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column to summarize within each group</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.mean() / .sum() / .count()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aggregate statistic to compute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.agg({...})</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Apply different statistics to different columns at once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829"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3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GROUPBY</a:t>
            </a:r>
            <a:endParaRPr lang="en-US" sz="1100" b="0" u="none" strike="noStrike">
              <a:solidFill>
                <a:srgbClr val="000000"/>
              </a:solidFill>
              <a:effectLst/>
              <a:uFillTx/>
              <a:latin typeface="Arial"/>
            </a:endParaRPr>
          </a:p>
        </p:txBody>
      </p:sp>
      <p:sp>
        <p:nvSpPr>
          <p:cNvPr id="83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Average Tip by Day — a Real Example</a:t>
            </a:r>
            <a:endParaRPr lang="en-US" sz="2600" b="0" u="none" strike="noStrike">
              <a:solidFill>
                <a:srgbClr val="000000"/>
              </a:solidFill>
              <a:effectLst/>
              <a:uFillTx/>
              <a:latin typeface="Arial"/>
            </a:endParaRPr>
          </a:p>
        </p:txBody>
      </p:sp>
      <p:pic>
        <p:nvPicPr>
          <p:cNvPr id="83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3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34"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3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3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38"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onsolas"/>
                <a:ea typeface="Consolas"/>
              </a:rPr>
              <a:t>tips = sns.load_dataset("tips")</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avg_tip = tips.groupby("day")["tip"].mean()</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print(avg_tip)</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Thur    2.77</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Fri     2.73</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Sat     2.99</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Sun     3.26</a:t>
            </a:r>
            <a:endParaRPr lang="en-US" sz="1300" b="0" u="none" strike="noStrike">
              <a:solidFill>
                <a:srgbClr val="000000"/>
              </a:solidFill>
              <a:effectLst/>
              <a:uFillTx/>
              <a:latin typeface="Arial"/>
            </a:endParaRPr>
          </a:p>
        </p:txBody>
      </p:sp>
      <p:sp>
        <p:nvSpPr>
          <p:cNvPr id="839"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840" name="Image 1" descr="/home/claude/pandas_deck/charts/groupby_tip_day.png"/>
          <p:cNvPicPr/>
          <p:nvPr/>
        </p:nvPicPr>
        <p:blipFill>
          <a:blip r:embed="rId2"/>
          <a:stretch/>
        </p:blipFill>
        <p:spPr>
          <a:xfrm>
            <a:off x="6282000" y="1847160"/>
            <a:ext cx="5266440" cy="3803400"/>
          </a:xfrm>
          <a:prstGeom prst="rect">
            <a:avLst/>
          </a:prstGeom>
          <a:noFill/>
          <a:ln w="0">
            <a:noFill/>
          </a:ln>
        </p:spPr>
      </p:pic>
      <p:sp>
        <p:nvSpPr>
          <p:cNvPr id="841" name="Text 9"/>
          <p:cNvSpPr/>
          <p:nvPr/>
        </p:nvSpPr>
        <p:spPr>
          <a:xfrm>
            <a:off x="548640" y="5029200"/>
            <a:ext cx="539460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i="1" u="none" strike="noStrike">
                <a:solidFill>
                  <a:srgbClr val="474651"/>
                </a:solidFill>
                <a:effectLst/>
                <a:uFillTx/>
                <a:latin typeface="Hanken Grotesk"/>
                <a:ea typeface="Hanken Grotesk"/>
              </a:rPr>
              <a:t>One line answers a real question: which day tips the highest, on average? Sunday.</a:t>
            </a:r>
            <a:endParaRPr lang="en-US" sz="1250" b="0" u="none" strike="noStrike">
              <a:solidFill>
                <a:srgbClr val="000000"/>
              </a:solidFill>
              <a:effectLst/>
              <a:uFillTx/>
              <a:latin typeface="Arial"/>
            </a:endParaRPr>
          </a:p>
        </p:txBody>
      </p:sp>
      <p:sp>
        <p:nvSpPr>
          <p:cNvPr id="842"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4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GROUPBY</a:t>
            </a:r>
            <a:endParaRPr lang="en-US" sz="1100" b="0" u="none" strike="noStrike">
              <a:solidFill>
                <a:srgbClr val="000000"/>
              </a:solidFill>
              <a:effectLst/>
              <a:uFillTx/>
              <a:latin typeface="Arial"/>
            </a:endParaRPr>
          </a:p>
        </p:txBody>
      </p:sp>
      <p:sp>
        <p:nvSpPr>
          <p:cNvPr id="84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Looking Inside a GroupBy Object</a:t>
            </a:r>
            <a:endParaRPr lang="en-US" sz="2600" b="0" u="none" strike="noStrike">
              <a:solidFill>
                <a:srgbClr val="000000"/>
              </a:solidFill>
              <a:effectLst/>
              <a:uFillTx/>
              <a:latin typeface="Arial"/>
            </a:endParaRPr>
          </a:p>
        </p:txBody>
      </p:sp>
      <p:pic>
        <p:nvPicPr>
          <p:cNvPr id="84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4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47"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4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5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51"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cat = </a:t>
            </a:r>
            <a:r>
              <a:rPr lang="en-US" sz="1350" b="0" u="none" strike="noStrike">
                <a:solidFill>
                  <a:srgbClr val="F1F5F9"/>
                </a:solidFill>
                <a:effectLst/>
                <a:uFillTx/>
                <a:latin typeface="Consolas"/>
                <a:ea typeface="Consolas"/>
              </a:rPr>
              <a:t>df.groupby("Categor</a:t>
            </a:r>
            <a:r>
              <a:rPr lang="en-US" sz="1350" b="0" u="none" strike="noStrike">
                <a:solidFill>
                  <a:srgbClr val="F1F5F9"/>
                </a:solidFill>
                <a:effectLst/>
                <a:uFillTx/>
                <a:latin typeface="Consolas"/>
                <a:ea typeface="Consolas"/>
              </a:rPr>
              <a:t>y")</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cat   # a GroupBy </a:t>
            </a:r>
            <a:r>
              <a:rPr lang="en-US" sz="1350" b="0" u="none" strike="noStrike">
                <a:solidFill>
                  <a:srgbClr val="F1F5F9"/>
                </a:solidFill>
                <a:effectLst/>
                <a:uFillTx/>
                <a:latin typeface="Consolas"/>
                <a:ea typeface="Consolas"/>
              </a:rPr>
              <a:t>object, not a table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for name, group in </a:t>
            </a:r>
            <a:r>
              <a:rPr lang="en-US" sz="1350" b="0" u="none" strike="noStrike">
                <a:solidFill>
                  <a:srgbClr val="F1F5F9"/>
                </a:solidFill>
                <a:effectLst/>
                <a:uFillTx/>
                <a:latin typeface="Consolas"/>
                <a:ea typeface="Consolas"/>
              </a:rPr>
              <a:t>cat:</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print(name)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print(group)   # A, </a:t>
            </a:r>
            <a:r>
              <a:rPr lang="en-US" sz="1350" b="0" u="none" strike="noStrike">
                <a:solidFill>
                  <a:srgbClr val="F1F5F9"/>
                </a:solidFill>
                <a:effectLst/>
                <a:uFillTx/>
                <a:latin typeface="Consolas"/>
                <a:ea typeface="Consolas"/>
              </a:rPr>
              <a:t>B, C sub-tables</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df.groupby(["Store", </a:t>
            </a:r>
            <a:r>
              <a:rPr lang="en-US" sz="1350" b="0" u="none" strike="noStrike">
                <a:solidFill>
                  <a:srgbClr val="F1F5F9"/>
                </a:solidFill>
                <a:effectLst/>
                <a:uFillTx/>
                <a:latin typeface="Consolas"/>
                <a:ea typeface="Consolas"/>
              </a:rPr>
              <a:t>"Category"])</a:t>
            </a:r>
            <a:r>
              <a:rPr lang="en-US" sz="1350" b="0" u="none" strike="noStrike">
                <a:solidFill>
                  <a:srgbClr val="F1F5F9"/>
                </a:solidFill>
                <a:effectLst/>
                <a:uFillTx/>
                <a:latin typeface="Consolas"/>
                <a:ea typeface="Consolas"/>
              </a:rPr>
              <a:t>["Sales"].sum()</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S1: A 220, B 500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S2: A 150, B 180, C </a:t>
            </a:r>
            <a:r>
              <a:rPr lang="en-US" sz="1350" b="0" u="none" strike="noStrike">
                <a:solidFill>
                  <a:srgbClr val="F1F5F9"/>
                </a:solidFill>
                <a:effectLst/>
                <a:uFillTx/>
                <a:latin typeface="Consolas"/>
                <a:ea typeface="Consolas"/>
              </a:rPr>
              <a:t>450</a:t>
            </a:r>
            <a:endParaRPr lang="en-US" sz="1350" b="0" u="none" strike="noStrike">
              <a:solidFill>
                <a:srgbClr val="000000"/>
              </a:solidFill>
              <a:effectLst/>
              <a:uFillTx/>
              <a:latin typeface="Arial"/>
            </a:endParaRPr>
          </a:p>
        </p:txBody>
      </p:sp>
      <p:sp>
        <p:nvSpPr>
          <p:cNvPr id="852"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groupby() returns a GroupBy object — a plan, not a table — so printing it shows only an object address.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Loop over it and you get (name, sub-table) pairs: A, B and C each get their own DataFrame — the Split step made visible.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Pass a list of columns to group by several keys; the result has a two-level index (Store, then Category).</a:t>
            </a:r>
            <a:endParaRPr lang="en-US" sz="1400" b="0" u="none" strike="noStrike">
              <a:solidFill>
                <a:srgbClr val="000000"/>
              </a:solidFill>
              <a:effectLst/>
              <a:uFillTx/>
              <a:latin typeface="Arial"/>
            </a:endParaRPr>
          </a:p>
        </p:txBody>
      </p:sp>
      <p:sp>
        <p:nvSpPr>
          <p:cNvPr id="853"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5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GROUPBY</a:t>
            </a:r>
            <a:endParaRPr lang="en-US" sz="1100" b="0" u="none" strike="noStrike">
              <a:solidFill>
                <a:srgbClr val="000000"/>
              </a:solidFill>
              <a:effectLst/>
              <a:uFillTx/>
              <a:latin typeface="Arial"/>
            </a:endParaRPr>
          </a:p>
        </p:txBody>
      </p:sp>
      <p:sp>
        <p:nvSpPr>
          <p:cNvPr id="85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Aggregati</a:t>
            </a:r>
            <a:r>
              <a:rPr lang="en-US" sz="2600" b="1" u="none" spc="-31" strike="noStrike">
                <a:solidFill>
                  <a:srgbClr val="1B1B20"/>
                </a:solidFill>
                <a:effectLst/>
                <a:uFillTx/>
                <a:latin typeface="Bricolage Grotesque"/>
                <a:ea typeface="Bricolage Grotesque"/>
              </a:rPr>
              <a:t>ng with </a:t>
            </a:r>
            <a:r>
              <a:rPr lang="en-US" sz="2600" b="1" u="none" spc="-31" strike="noStrike">
                <a:solidFill>
                  <a:srgbClr val="1B1B20"/>
                </a:solidFill>
                <a:effectLst/>
                <a:uFillTx/>
                <a:latin typeface="Bricolage Grotesque"/>
                <a:ea typeface="Bricolage Grotesque"/>
              </a:rPr>
              <a:t>agg() — a </a:t>
            </a:r>
            <a:r>
              <a:rPr lang="en-US" sz="2600" b="1" u="none" spc="-31" strike="noStrike">
                <a:solidFill>
                  <a:srgbClr val="1B1B20"/>
                </a:solidFill>
                <a:effectLst/>
                <a:uFillTx/>
                <a:latin typeface="Bricolage Grotesque"/>
                <a:ea typeface="Bricolage Grotesque"/>
              </a:rPr>
              <a:t>List of </a:t>
            </a:r>
            <a:r>
              <a:rPr lang="en-US" sz="2600" b="1" u="none" spc="-31" strike="noStrike">
                <a:solidFill>
                  <a:srgbClr val="1B1B20"/>
                </a:solidFill>
                <a:effectLst/>
                <a:uFillTx/>
                <a:latin typeface="Bricolage Grotesque"/>
                <a:ea typeface="Bricolage Grotesque"/>
              </a:rPr>
              <a:t>Functions</a:t>
            </a:r>
            <a:endParaRPr lang="en-US" sz="2600" b="0" u="none" strike="noStrike">
              <a:solidFill>
                <a:srgbClr val="000000"/>
              </a:solidFill>
              <a:effectLst/>
              <a:uFillTx/>
              <a:latin typeface="Arial"/>
            </a:endParaRPr>
          </a:p>
        </p:txBody>
      </p:sp>
      <p:pic>
        <p:nvPicPr>
          <p:cNvPr id="85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5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58"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9"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60"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61"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62"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df["Sales"].mean()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187.5</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df["Sales"].agg(</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["mean", "median", "min", "max", "std"])</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mean    187.5</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median  190.0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min     100.0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max     300.0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std      66.06</a:t>
            </a:r>
            <a:endParaRPr lang="en-US" sz="1350" b="0" u="none" strike="noStrike">
              <a:solidFill>
                <a:srgbClr val="000000"/>
              </a:solidFill>
              <a:effectLst/>
              <a:uFillTx/>
              <a:latin typeface="Arial"/>
            </a:endParaRPr>
          </a:p>
        </p:txBody>
      </p:sp>
      <p:sp>
        <p:nvSpPr>
          <p:cNvPr id="863"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Aggregation means combining many values into one result — mean, median, min, max, count, std.</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agg() takes a list of function names and returns all of them in one call, instead of five separate lines.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same agg() works after a groupby, giving each group its own full summary.</a:t>
            </a:r>
            <a:endParaRPr lang="en-US" sz="1400" b="0" u="none" strike="noStrike">
              <a:solidFill>
                <a:srgbClr val="000000"/>
              </a:solidFill>
              <a:effectLst/>
              <a:uFillTx/>
              <a:latin typeface="Arial"/>
            </a:endParaRPr>
          </a:p>
        </p:txBody>
      </p:sp>
      <p:sp>
        <p:nvSpPr>
          <p:cNvPr id="864"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65"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6"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867"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GROUPBY &amp; AGGREGATION</a:t>
            </a:r>
            <a:endParaRPr lang="en-US" sz="1100" b="0" u="none" strike="noStrike">
              <a:solidFill>
                <a:srgbClr val="000000"/>
              </a:solidFill>
              <a:effectLst/>
              <a:uFillTx/>
              <a:latin typeface="Arial"/>
            </a:endParaRPr>
          </a:p>
        </p:txBody>
      </p:sp>
      <p:sp>
        <p:nvSpPr>
          <p:cNvPr id="868"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GroupBy &amp; </a:t>
            </a:r>
            <a:r>
              <a:rPr lang="en-US" sz="2300" b="1" u="none" strike="noStrike">
                <a:solidFill>
                  <a:srgbClr val="1B1B20"/>
                </a:solidFill>
                <a:effectLst/>
                <a:uFillTx/>
                <a:latin typeface="Bricolage Grotesque"/>
                <a:ea typeface="Bricolage Grotesque"/>
              </a:rPr>
              <a:t>Aggregation</a:t>
            </a:r>
            <a:endParaRPr lang="en-US" sz="2300" b="0" u="none" strike="noStrike">
              <a:solidFill>
                <a:srgbClr val="000000"/>
              </a:solidFill>
              <a:effectLst/>
              <a:uFillTx/>
              <a:latin typeface="Arial"/>
            </a:endParaRPr>
          </a:p>
        </p:txBody>
      </p:sp>
      <p:sp>
        <p:nvSpPr>
          <p:cNvPr id="869"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870"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1"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2"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873"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Group a DataFrame by one categorical column and compute the mean of a numeric column.</a:t>
            </a:r>
            <a:endParaRPr lang="en-US" sz="1300" b="0" u="none" strike="noStrike">
              <a:solidFill>
                <a:srgbClr val="000000"/>
              </a:solidFill>
              <a:effectLst/>
              <a:uFillTx/>
              <a:latin typeface="Arial"/>
            </a:endParaRPr>
          </a:p>
        </p:txBody>
      </p:sp>
      <p:sp>
        <p:nvSpPr>
          <p:cNvPr id="874"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5"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6"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877"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Group by the same column and compute several statistics at once with .agg(), e.g. ["mean", "median", "min", "max", "std"].</a:t>
            </a:r>
            <a:endParaRPr lang="en-US" sz="1300" b="0" u="none" strike="noStrike">
              <a:solidFill>
                <a:srgbClr val="000000"/>
              </a:solidFill>
              <a:effectLst/>
              <a:uFillTx/>
              <a:latin typeface="Arial"/>
            </a:endParaRPr>
          </a:p>
        </p:txBody>
      </p:sp>
      <p:sp>
        <p:nvSpPr>
          <p:cNvPr id="878"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9"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80"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881"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Group by two columns at once (e.g. day and time) and compare the results.</a:t>
            </a:r>
            <a:endParaRPr lang="en-US" sz="1300" b="0" u="none" strike="noStrike">
              <a:solidFill>
                <a:srgbClr val="000000"/>
              </a:solidFill>
              <a:effectLst/>
              <a:uFillTx/>
              <a:latin typeface="Arial"/>
            </a:endParaRPr>
          </a:p>
        </p:txBody>
      </p:sp>
      <p:sp>
        <p:nvSpPr>
          <p:cNvPr id="882"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83"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84"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885"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describe the split-apply-combine idea using your own grouped result as the example.</a:t>
            </a:r>
            <a:endParaRPr lang="en-US" sz="1300" b="0" u="none" strike="noStrike">
              <a:solidFill>
                <a:srgbClr val="000000"/>
              </a:solidFill>
              <a:effectLst/>
              <a:uFillTx/>
              <a:latin typeface="Arial"/>
            </a:endParaRPr>
          </a:p>
        </p:txBody>
      </p:sp>
      <p:pic>
        <p:nvPicPr>
          <p:cNvPr id="88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87"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88"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889"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90"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891"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892"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9 · MERGING &amp; JOINING</a:t>
            </a:r>
            <a:endParaRPr lang="en-US" sz="1400" b="0" u="none" strike="noStrike">
              <a:solidFill>
                <a:srgbClr val="FFFFFF"/>
              </a:solidFill>
              <a:effectLst/>
              <a:uFillTx/>
              <a:latin typeface="Arial"/>
            </a:endParaRPr>
          </a:p>
        </p:txBody>
      </p:sp>
      <p:sp>
        <p:nvSpPr>
          <p:cNvPr id="893"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Merging, Joining &amp; Concatenating</a:t>
            </a:r>
            <a:endParaRPr lang="en-US" sz="4000" b="0" u="none" strike="noStrike">
              <a:solidFill>
                <a:srgbClr val="FFFFFF"/>
              </a:solidFill>
              <a:effectLst/>
              <a:uFillTx/>
              <a:latin typeface="Arial"/>
            </a:endParaRPr>
          </a:p>
        </p:txBody>
      </p:sp>
      <p:sp>
        <p:nvSpPr>
          <p:cNvPr id="894"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Combining two DataFrames into one — by stacking them, or by matching a shared key.</a:t>
            </a:r>
            <a:endParaRPr lang="en-US" sz="1500" b="0" u="none" strike="noStrike">
              <a:solidFill>
                <a:srgbClr val="FFFFFF"/>
              </a:solidFill>
              <a:effectLst/>
              <a:uFillTx/>
              <a:latin typeface="Arial"/>
            </a:endParaRPr>
          </a:p>
        </p:txBody>
      </p:sp>
      <p:sp>
        <p:nvSpPr>
          <p:cNvPr id="895"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58</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9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MERGING &amp; JOINING</a:t>
            </a:r>
            <a:endParaRPr lang="en-US" sz="1100" b="0" u="none" strike="noStrike">
              <a:solidFill>
                <a:srgbClr val="000000"/>
              </a:solidFill>
              <a:effectLst/>
              <a:uFillTx/>
              <a:latin typeface="Arial"/>
            </a:endParaRPr>
          </a:p>
        </p:txBody>
      </p:sp>
      <p:sp>
        <p:nvSpPr>
          <p:cNvPr id="89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Two Small Tables</a:t>
            </a:r>
            <a:endParaRPr lang="en-US" sz="2600" b="0" u="none" strike="noStrike">
              <a:solidFill>
                <a:srgbClr val="000000"/>
              </a:solidFill>
              <a:effectLst/>
              <a:uFillTx/>
              <a:latin typeface="Arial"/>
            </a:endParaRPr>
          </a:p>
        </p:txBody>
      </p:sp>
      <p:pic>
        <p:nvPicPr>
          <p:cNvPr id="89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89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00" name="Shape 3"/>
          <p:cNvSpPr/>
          <p:nvPr/>
        </p:nvSpPr>
        <p:spPr>
          <a:xfrm>
            <a:off x="1325880" y="1920240"/>
            <a:ext cx="173700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1" name="Text 4"/>
          <p:cNvSpPr/>
          <p:nvPr/>
        </p:nvSpPr>
        <p:spPr>
          <a:xfrm>
            <a:off x="1325880" y="192024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name</a:t>
            </a:r>
            <a:endParaRPr lang="en-US" sz="1050" b="0" u="none" strike="noStrike">
              <a:solidFill>
                <a:srgbClr val="000000"/>
              </a:solidFill>
              <a:effectLst/>
              <a:uFillTx/>
              <a:latin typeface="Arial"/>
            </a:endParaRPr>
          </a:p>
        </p:txBody>
      </p:sp>
      <p:sp>
        <p:nvSpPr>
          <p:cNvPr id="902" name="Shape 5"/>
          <p:cNvSpPr/>
          <p:nvPr/>
        </p:nvSpPr>
        <p:spPr>
          <a:xfrm>
            <a:off x="3063240" y="1920240"/>
            <a:ext cx="173700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3" name="Text 6"/>
          <p:cNvSpPr/>
          <p:nvPr/>
        </p:nvSpPr>
        <p:spPr>
          <a:xfrm>
            <a:off x="3063240" y="192024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class</a:t>
            </a:r>
            <a:endParaRPr lang="en-US" sz="1050" b="0" u="none" strike="noStrike">
              <a:solidFill>
                <a:srgbClr val="000000"/>
              </a:solidFill>
              <a:effectLst/>
              <a:uFillTx/>
              <a:latin typeface="Arial"/>
            </a:endParaRPr>
          </a:p>
        </p:txBody>
      </p:sp>
      <p:sp>
        <p:nvSpPr>
          <p:cNvPr id="904" name="Shape 7"/>
          <p:cNvSpPr/>
          <p:nvPr/>
        </p:nvSpPr>
        <p:spPr>
          <a:xfrm>
            <a:off x="822960" y="1920240"/>
            <a:ext cx="502560" cy="502560"/>
          </a:xfrm>
          <a:prstGeom prst="rect">
            <a:avLst/>
          </a:prstGeom>
          <a:solidFill>
            <a:srgbClr val="8C8AE0"/>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5" name="Shape 8"/>
          <p:cNvSpPr/>
          <p:nvPr/>
        </p:nvSpPr>
        <p:spPr>
          <a:xfrm>
            <a:off x="822960" y="2423160"/>
            <a:ext cx="50256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6" name="Text 9"/>
          <p:cNvSpPr/>
          <p:nvPr/>
        </p:nvSpPr>
        <p:spPr>
          <a:xfrm>
            <a:off x="822960" y="2423160"/>
            <a:ext cx="50256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0</a:t>
            </a:r>
            <a:endParaRPr lang="en-US" sz="1000" b="0" u="none" strike="noStrike">
              <a:solidFill>
                <a:srgbClr val="000000"/>
              </a:solidFill>
              <a:effectLst/>
              <a:uFillTx/>
              <a:latin typeface="Arial"/>
            </a:endParaRPr>
          </a:p>
        </p:txBody>
      </p:sp>
      <p:sp>
        <p:nvSpPr>
          <p:cNvPr id="907" name="Shape 10"/>
          <p:cNvSpPr/>
          <p:nvPr/>
        </p:nvSpPr>
        <p:spPr>
          <a:xfrm>
            <a:off x="1325880" y="242316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8" name="Text 11"/>
          <p:cNvSpPr/>
          <p:nvPr/>
        </p:nvSpPr>
        <p:spPr>
          <a:xfrm>
            <a:off x="1325880" y="242316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Amina</a:t>
            </a:r>
            <a:endParaRPr lang="en-US" sz="1050" b="0" u="none" strike="noStrike">
              <a:solidFill>
                <a:srgbClr val="000000"/>
              </a:solidFill>
              <a:effectLst/>
              <a:uFillTx/>
              <a:latin typeface="Arial"/>
            </a:endParaRPr>
          </a:p>
        </p:txBody>
      </p:sp>
      <p:sp>
        <p:nvSpPr>
          <p:cNvPr id="909" name="Shape 12"/>
          <p:cNvSpPr/>
          <p:nvPr/>
        </p:nvSpPr>
        <p:spPr>
          <a:xfrm>
            <a:off x="3063240" y="242316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0" name="Text 13"/>
          <p:cNvSpPr/>
          <p:nvPr/>
        </p:nvSpPr>
        <p:spPr>
          <a:xfrm>
            <a:off x="3063240" y="242316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10A</a:t>
            </a:r>
            <a:endParaRPr lang="en-US" sz="1050" b="0" u="none" strike="noStrike">
              <a:solidFill>
                <a:srgbClr val="000000"/>
              </a:solidFill>
              <a:effectLst/>
              <a:uFillTx/>
              <a:latin typeface="Arial"/>
            </a:endParaRPr>
          </a:p>
        </p:txBody>
      </p:sp>
      <p:sp>
        <p:nvSpPr>
          <p:cNvPr id="911" name="Shape 14"/>
          <p:cNvSpPr/>
          <p:nvPr/>
        </p:nvSpPr>
        <p:spPr>
          <a:xfrm>
            <a:off x="822960" y="2926080"/>
            <a:ext cx="50256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2" name="Text 15"/>
          <p:cNvSpPr/>
          <p:nvPr/>
        </p:nvSpPr>
        <p:spPr>
          <a:xfrm>
            <a:off x="822960" y="2926080"/>
            <a:ext cx="50256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1</a:t>
            </a:r>
            <a:endParaRPr lang="en-US" sz="1000" b="0" u="none" strike="noStrike">
              <a:solidFill>
                <a:srgbClr val="000000"/>
              </a:solidFill>
              <a:effectLst/>
              <a:uFillTx/>
              <a:latin typeface="Arial"/>
            </a:endParaRPr>
          </a:p>
        </p:txBody>
      </p:sp>
      <p:sp>
        <p:nvSpPr>
          <p:cNvPr id="913" name="Shape 16"/>
          <p:cNvSpPr/>
          <p:nvPr/>
        </p:nvSpPr>
        <p:spPr>
          <a:xfrm>
            <a:off x="1325880" y="292608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4" name="Text 17"/>
          <p:cNvSpPr/>
          <p:nvPr/>
        </p:nvSpPr>
        <p:spPr>
          <a:xfrm>
            <a:off x="1325880" y="292608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Ben</a:t>
            </a:r>
            <a:endParaRPr lang="en-US" sz="1050" b="0" u="none" strike="noStrike">
              <a:solidFill>
                <a:srgbClr val="000000"/>
              </a:solidFill>
              <a:effectLst/>
              <a:uFillTx/>
              <a:latin typeface="Arial"/>
            </a:endParaRPr>
          </a:p>
        </p:txBody>
      </p:sp>
      <p:sp>
        <p:nvSpPr>
          <p:cNvPr id="915" name="Shape 18"/>
          <p:cNvSpPr/>
          <p:nvPr/>
        </p:nvSpPr>
        <p:spPr>
          <a:xfrm>
            <a:off x="3063240" y="292608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6" name="Text 19"/>
          <p:cNvSpPr/>
          <p:nvPr/>
        </p:nvSpPr>
        <p:spPr>
          <a:xfrm>
            <a:off x="3063240" y="292608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10B</a:t>
            </a:r>
            <a:endParaRPr lang="en-US" sz="1050" b="0" u="none" strike="noStrike">
              <a:solidFill>
                <a:srgbClr val="000000"/>
              </a:solidFill>
              <a:effectLst/>
              <a:uFillTx/>
              <a:latin typeface="Arial"/>
            </a:endParaRPr>
          </a:p>
        </p:txBody>
      </p:sp>
      <p:sp>
        <p:nvSpPr>
          <p:cNvPr id="917" name="Shape 20"/>
          <p:cNvSpPr/>
          <p:nvPr/>
        </p:nvSpPr>
        <p:spPr>
          <a:xfrm>
            <a:off x="822960" y="3429000"/>
            <a:ext cx="50256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8" name="Text 21"/>
          <p:cNvSpPr/>
          <p:nvPr/>
        </p:nvSpPr>
        <p:spPr>
          <a:xfrm>
            <a:off x="822960" y="3429000"/>
            <a:ext cx="50256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2</a:t>
            </a:r>
            <a:endParaRPr lang="en-US" sz="1000" b="0" u="none" strike="noStrike">
              <a:solidFill>
                <a:srgbClr val="000000"/>
              </a:solidFill>
              <a:effectLst/>
              <a:uFillTx/>
              <a:latin typeface="Arial"/>
            </a:endParaRPr>
          </a:p>
        </p:txBody>
      </p:sp>
      <p:sp>
        <p:nvSpPr>
          <p:cNvPr id="919" name="Shape 22"/>
          <p:cNvSpPr/>
          <p:nvPr/>
        </p:nvSpPr>
        <p:spPr>
          <a:xfrm>
            <a:off x="1325880" y="342900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0" name="Text 23"/>
          <p:cNvSpPr/>
          <p:nvPr/>
        </p:nvSpPr>
        <p:spPr>
          <a:xfrm>
            <a:off x="1325880" y="342900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Chen</a:t>
            </a:r>
            <a:endParaRPr lang="en-US" sz="1050" b="0" u="none" strike="noStrike">
              <a:solidFill>
                <a:srgbClr val="000000"/>
              </a:solidFill>
              <a:effectLst/>
              <a:uFillTx/>
              <a:latin typeface="Arial"/>
            </a:endParaRPr>
          </a:p>
        </p:txBody>
      </p:sp>
      <p:sp>
        <p:nvSpPr>
          <p:cNvPr id="921" name="Shape 24"/>
          <p:cNvSpPr/>
          <p:nvPr/>
        </p:nvSpPr>
        <p:spPr>
          <a:xfrm>
            <a:off x="3063240" y="342900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2" name="Text 25"/>
          <p:cNvSpPr/>
          <p:nvPr/>
        </p:nvSpPr>
        <p:spPr>
          <a:xfrm>
            <a:off x="3063240" y="342900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10A</a:t>
            </a:r>
            <a:endParaRPr lang="en-US" sz="1050" b="0" u="none" strike="noStrike">
              <a:solidFill>
                <a:srgbClr val="000000"/>
              </a:solidFill>
              <a:effectLst/>
              <a:uFillTx/>
              <a:latin typeface="Arial"/>
            </a:endParaRPr>
          </a:p>
        </p:txBody>
      </p:sp>
      <p:sp>
        <p:nvSpPr>
          <p:cNvPr id="923" name="Text 26"/>
          <p:cNvSpPr/>
          <p:nvPr/>
        </p:nvSpPr>
        <p:spPr>
          <a:xfrm>
            <a:off x="822960" y="155448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5755A7"/>
                </a:solidFill>
                <a:effectLst/>
                <a:uFillTx/>
                <a:latin typeface="Bricolage Grotesque"/>
                <a:ea typeface="Bricolage Grotesque"/>
              </a:rPr>
              <a:t>students</a:t>
            </a:r>
            <a:endParaRPr lang="en-US" sz="1300" b="0" u="none" strike="noStrike">
              <a:solidFill>
                <a:srgbClr val="000000"/>
              </a:solidFill>
              <a:effectLst/>
              <a:uFillTx/>
              <a:latin typeface="Arial"/>
            </a:endParaRPr>
          </a:p>
        </p:txBody>
      </p:sp>
      <p:sp>
        <p:nvSpPr>
          <p:cNvPr id="924" name="Shape 27"/>
          <p:cNvSpPr/>
          <p:nvPr/>
        </p:nvSpPr>
        <p:spPr>
          <a:xfrm>
            <a:off x="6720840" y="1920240"/>
            <a:ext cx="173700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5" name="Text 28"/>
          <p:cNvSpPr/>
          <p:nvPr/>
        </p:nvSpPr>
        <p:spPr>
          <a:xfrm>
            <a:off x="6720840" y="192024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name</a:t>
            </a:r>
            <a:endParaRPr lang="en-US" sz="1050" b="0" u="none" strike="noStrike">
              <a:solidFill>
                <a:srgbClr val="000000"/>
              </a:solidFill>
              <a:effectLst/>
              <a:uFillTx/>
              <a:latin typeface="Arial"/>
            </a:endParaRPr>
          </a:p>
        </p:txBody>
      </p:sp>
      <p:sp>
        <p:nvSpPr>
          <p:cNvPr id="926" name="Shape 29"/>
          <p:cNvSpPr/>
          <p:nvPr/>
        </p:nvSpPr>
        <p:spPr>
          <a:xfrm>
            <a:off x="8458200" y="1920240"/>
            <a:ext cx="1737000" cy="502560"/>
          </a:xfrm>
          <a:prstGeom prst="rect">
            <a:avLst/>
          </a:prstGeom>
          <a:solidFill>
            <a:srgbClr val="5755A7"/>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7" name="Text 30"/>
          <p:cNvSpPr/>
          <p:nvPr/>
        </p:nvSpPr>
        <p:spPr>
          <a:xfrm>
            <a:off x="8458200" y="192024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FFFFFF"/>
                </a:solidFill>
                <a:effectLst/>
                <a:uFillTx/>
                <a:latin typeface="Plus Jakarta Sans"/>
                <a:ea typeface="Plus Jakarta Sans"/>
              </a:rPr>
              <a:t>score</a:t>
            </a:r>
            <a:endParaRPr lang="en-US" sz="1050" b="0" u="none" strike="noStrike">
              <a:solidFill>
                <a:srgbClr val="000000"/>
              </a:solidFill>
              <a:effectLst/>
              <a:uFillTx/>
              <a:latin typeface="Arial"/>
            </a:endParaRPr>
          </a:p>
        </p:txBody>
      </p:sp>
      <p:sp>
        <p:nvSpPr>
          <p:cNvPr id="928" name="Shape 31"/>
          <p:cNvSpPr/>
          <p:nvPr/>
        </p:nvSpPr>
        <p:spPr>
          <a:xfrm>
            <a:off x="6217920" y="1920240"/>
            <a:ext cx="502560" cy="502560"/>
          </a:xfrm>
          <a:prstGeom prst="rect">
            <a:avLst/>
          </a:prstGeom>
          <a:solidFill>
            <a:srgbClr val="8C8AE0"/>
          </a:solidFill>
          <a:ln w="952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9" name="Shape 32"/>
          <p:cNvSpPr/>
          <p:nvPr/>
        </p:nvSpPr>
        <p:spPr>
          <a:xfrm>
            <a:off x="6217920" y="2423160"/>
            <a:ext cx="50256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30" name="Text 33"/>
          <p:cNvSpPr/>
          <p:nvPr/>
        </p:nvSpPr>
        <p:spPr>
          <a:xfrm>
            <a:off x="6217920" y="2423160"/>
            <a:ext cx="50256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0</a:t>
            </a:r>
            <a:endParaRPr lang="en-US" sz="1000" b="0" u="none" strike="noStrike">
              <a:solidFill>
                <a:srgbClr val="000000"/>
              </a:solidFill>
              <a:effectLst/>
              <a:uFillTx/>
              <a:latin typeface="Arial"/>
            </a:endParaRPr>
          </a:p>
        </p:txBody>
      </p:sp>
      <p:sp>
        <p:nvSpPr>
          <p:cNvPr id="931" name="Shape 34"/>
          <p:cNvSpPr/>
          <p:nvPr/>
        </p:nvSpPr>
        <p:spPr>
          <a:xfrm>
            <a:off x="6720840" y="242316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32" name="Text 35"/>
          <p:cNvSpPr/>
          <p:nvPr/>
        </p:nvSpPr>
        <p:spPr>
          <a:xfrm>
            <a:off x="6720840" y="242316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Amina</a:t>
            </a:r>
            <a:endParaRPr lang="en-US" sz="1050" b="0" u="none" strike="noStrike">
              <a:solidFill>
                <a:srgbClr val="000000"/>
              </a:solidFill>
              <a:effectLst/>
              <a:uFillTx/>
              <a:latin typeface="Arial"/>
            </a:endParaRPr>
          </a:p>
        </p:txBody>
      </p:sp>
      <p:sp>
        <p:nvSpPr>
          <p:cNvPr id="933" name="Shape 36"/>
          <p:cNvSpPr/>
          <p:nvPr/>
        </p:nvSpPr>
        <p:spPr>
          <a:xfrm>
            <a:off x="8458200" y="242316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34" name="Text 37"/>
          <p:cNvSpPr/>
          <p:nvPr/>
        </p:nvSpPr>
        <p:spPr>
          <a:xfrm>
            <a:off x="8458200" y="242316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88</a:t>
            </a:r>
            <a:endParaRPr lang="en-US" sz="1050" b="0" u="none" strike="noStrike">
              <a:solidFill>
                <a:srgbClr val="000000"/>
              </a:solidFill>
              <a:effectLst/>
              <a:uFillTx/>
              <a:latin typeface="Arial"/>
            </a:endParaRPr>
          </a:p>
        </p:txBody>
      </p:sp>
      <p:sp>
        <p:nvSpPr>
          <p:cNvPr id="935" name="Shape 38"/>
          <p:cNvSpPr/>
          <p:nvPr/>
        </p:nvSpPr>
        <p:spPr>
          <a:xfrm>
            <a:off x="6217920" y="2926080"/>
            <a:ext cx="50256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36" name="Text 39"/>
          <p:cNvSpPr/>
          <p:nvPr/>
        </p:nvSpPr>
        <p:spPr>
          <a:xfrm>
            <a:off x="6217920" y="2926080"/>
            <a:ext cx="50256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1</a:t>
            </a:r>
            <a:endParaRPr lang="en-US" sz="1000" b="0" u="none" strike="noStrike">
              <a:solidFill>
                <a:srgbClr val="000000"/>
              </a:solidFill>
              <a:effectLst/>
              <a:uFillTx/>
              <a:latin typeface="Arial"/>
            </a:endParaRPr>
          </a:p>
        </p:txBody>
      </p:sp>
      <p:sp>
        <p:nvSpPr>
          <p:cNvPr id="937" name="Shape 40"/>
          <p:cNvSpPr/>
          <p:nvPr/>
        </p:nvSpPr>
        <p:spPr>
          <a:xfrm>
            <a:off x="6720840" y="292608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38" name="Text 41"/>
          <p:cNvSpPr/>
          <p:nvPr/>
        </p:nvSpPr>
        <p:spPr>
          <a:xfrm>
            <a:off x="6720840" y="292608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Ben</a:t>
            </a:r>
            <a:endParaRPr lang="en-US" sz="1050" b="0" u="none" strike="noStrike">
              <a:solidFill>
                <a:srgbClr val="000000"/>
              </a:solidFill>
              <a:effectLst/>
              <a:uFillTx/>
              <a:latin typeface="Arial"/>
            </a:endParaRPr>
          </a:p>
        </p:txBody>
      </p:sp>
      <p:sp>
        <p:nvSpPr>
          <p:cNvPr id="939" name="Shape 42"/>
          <p:cNvSpPr/>
          <p:nvPr/>
        </p:nvSpPr>
        <p:spPr>
          <a:xfrm>
            <a:off x="8458200" y="292608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0" name="Text 43"/>
          <p:cNvSpPr/>
          <p:nvPr/>
        </p:nvSpPr>
        <p:spPr>
          <a:xfrm>
            <a:off x="8458200" y="292608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74</a:t>
            </a:r>
            <a:endParaRPr lang="en-US" sz="1050" b="0" u="none" strike="noStrike">
              <a:solidFill>
                <a:srgbClr val="000000"/>
              </a:solidFill>
              <a:effectLst/>
              <a:uFillTx/>
              <a:latin typeface="Arial"/>
            </a:endParaRPr>
          </a:p>
        </p:txBody>
      </p:sp>
      <p:sp>
        <p:nvSpPr>
          <p:cNvPr id="941" name="Shape 44"/>
          <p:cNvSpPr/>
          <p:nvPr/>
        </p:nvSpPr>
        <p:spPr>
          <a:xfrm>
            <a:off x="6217920" y="3429000"/>
            <a:ext cx="502560" cy="502560"/>
          </a:xfrm>
          <a:prstGeom prst="rect">
            <a:avLst/>
          </a:prstGeom>
          <a:solidFill>
            <a:srgbClr val="F0ECF4"/>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2" name="Text 45"/>
          <p:cNvSpPr/>
          <p:nvPr/>
        </p:nvSpPr>
        <p:spPr>
          <a:xfrm>
            <a:off x="6217920" y="3429000"/>
            <a:ext cx="50256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474651"/>
                </a:solidFill>
                <a:effectLst/>
                <a:uFillTx/>
                <a:latin typeface="Consolas"/>
                <a:ea typeface="Consolas"/>
              </a:rPr>
              <a:t>2</a:t>
            </a:r>
            <a:endParaRPr lang="en-US" sz="1000" b="0" u="none" strike="noStrike">
              <a:solidFill>
                <a:srgbClr val="000000"/>
              </a:solidFill>
              <a:effectLst/>
              <a:uFillTx/>
              <a:latin typeface="Arial"/>
            </a:endParaRPr>
          </a:p>
        </p:txBody>
      </p:sp>
      <p:sp>
        <p:nvSpPr>
          <p:cNvPr id="943" name="Shape 46"/>
          <p:cNvSpPr/>
          <p:nvPr/>
        </p:nvSpPr>
        <p:spPr>
          <a:xfrm>
            <a:off x="6720840" y="342900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4" name="Text 47"/>
          <p:cNvSpPr/>
          <p:nvPr/>
        </p:nvSpPr>
        <p:spPr>
          <a:xfrm>
            <a:off x="6720840" y="342900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Diego</a:t>
            </a:r>
            <a:endParaRPr lang="en-US" sz="1050" b="0" u="none" strike="noStrike">
              <a:solidFill>
                <a:srgbClr val="000000"/>
              </a:solidFill>
              <a:effectLst/>
              <a:uFillTx/>
              <a:latin typeface="Arial"/>
            </a:endParaRPr>
          </a:p>
        </p:txBody>
      </p:sp>
      <p:sp>
        <p:nvSpPr>
          <p:cNvPr id="945" name="Shape 48"/>
          <p:cNvSpPr/>
          <p:nvPr/>
        </p:nvSpPr>
        <p:spPr>
          <a:xfrm>
            <a:off x="8458200" y="3429000"/>
            <a:ext cx="1737000" cy="502560"/>
          </a:xfrm>
          <a:prstGeom prst="rect">
            <a:avLst/>
          </a:prstGeom>
          <a:solidFill>
            <a:srgbClr val="FFFFFF"/>
          </a:solidFill>
          <a:ln w="635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6" name="Text 49"/>
          <p:cNvSpPr/>
          <p:nvPr/>
        </p:nvSpPr>
        <p:spPr>
          <a:xfrm>
            <a:off x="8458200" y="3429000"/>
            <a:ext cx="1737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u="none" strike="noStrike">
                <a:solidFill>
                  <a:srgbClr val="1B1B20"/>
                </a:solidFill>
                <a:effectLst/>
                <a:uFillTx/>
                <a:latin typeface="Consolas"/>
                <a:ea typeface="Consolas"/>
              </a:rPr>
              <a:t>67</a:t>
            </a:r>
            <a:endParaRPr lang="en-US" sz="1050" b="0" u="none" strike="noStrike">
              <a:solidFill>
                <a:srgbClr val="000000"/>
              </a:solidFill>
              <a:effectLst/>
              <a:uFillTx/>
              <a:latin typeface="Arial"/>
            </a:endParaRPr>
          </a:p>
        </p:txBody>
      </p:sp>
      <p:sp>
        <p:nvSpPr>
          <p:cNvPr id="947" name="Text 50"/>
          <p:cNvSpPr/>
          <p:nvPr/>
        </p:nvSpPr>
        <p:spPr>
          <a:xfrm>
            <a:off x="6217920" y="155448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BE185D"/>
                </a:solidFill>
                <a:effectLst/>
                <a:uFillTx/>
                <a:latin typeface="Bricolage Grotesque"/>
                <a:ea typeface="Bricolage Grotesque"/>
              </a:rPr>
              <a:t>grades</a:t>
            </a:r>
            <a:endParaRPr lang="en-US" sz="1300" b="0" u="none" strike="noStrike">
              <a:solidFill>
                <a:srgbClr val="000000"/>
              </a:solidFill>
              <a:effectLst/>
              <a:uFillTx/>
              <a:latin typeface="Arial"/>
            </a:endParaRPr>
          </a:p>
        </p:txBody>
      </p:sp>
      <p:sp>
        <p:nvSpPr>
          <p:cNvPr id="948" name="Text 51"/>
          <p:cNvSpPr/>
          <p:nvPr/>
        </p:nvSpPr>
        <p:spPr>
          <a:xfrm>
            <a:off x="822960" y="3840480"/>
            <a:ext cx="10423800" cy="1828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"students" and "grades" share a common column: "name" — this is the key that joins them together.</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Notice Chen has no matching grade, and Diego has no matching class — a realistic mismatch we'll handle next.</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concat() would just stack these on top of each other; merge() matches rows by the shared key instead.</a:t>
            </a:r>
            <a:endParaRPr lang="en-US" sz="1350" b="0" u="none" strike="noStrike">
              <a:solidFill>
                <a:srgbClr val="000000"/>
              </a:solidFill>
              <a:effectLst/>
              <a:uFillTx/>
              <a:latin typeface="Arial"/>
            </a:endParaRPr>
          </a:p>
        </p:txBody>
      </p:sp>
      <p:sp>
        <p:nvSpPr>
          <p:cNvPr id="949" name="Text 5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5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MERGING &amp; JOINING</a:t>
            </a:r>
            <a:endParaRPr lang="en-US" sz="1100" b="0" u="none" strike="noStrike">
              <a:solidFill>
                <a:srgbClr val="000000"/>
              </a:solidFill>
              <a:effectLst/>
              <a:uFillTx/>
              <a:latin typeface="Arial"/>
            </a:endParaRPr>
          </a:p>
        </p:txBody>
      </p:sp>
      <p:sp>
        <p:nvSpPr>
          <p:cNvPr id="95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concat() — Stacking DataFrames</a:t>
            </a:r>
            <a:endParaRPr lang="en-US" sz="2600" b="0" u="none" strike="noStrike">
              <a:solidFill>
                <a:srgbClr val="000000"/>
              </a:solidFill>
              <a:effectLst/>
              <a:uFillTx/>
              <a:latin typeface="Arial"/>
            </a:endParaRPr>
          </a:p>
        </p:txBody>
      </p:sp>
      <p:pic>
        <p:nvPicPr>
          <p:cNvPr id="952"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95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954" name="Table 0"/>
          <p:cNvGraphicFramePr/>
          <p:nvPr/>
        </p:nvGraphicFramePr>
        <p:xfrm>
          <a:off x="548640" y="1737360"/>
          <a:ext cx="11109600" cy="2285640"/>
        </p:xfrm>
        <a:graphic>
          <a:graphicData uri="http://schemas.openxmlformats.org/drawingml/2006/table">
            <a:tbl>
              <a:tblPr/>
              <a:tblGrid>
                <a:gridCol w="3999240"/>
                <a:gridCol w="7110360"/>
              </a:tblGrid>
              <a:tr h="5713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pd.concat([df1, df2])</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Stacks rows on top of each other (same columns)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pd.concat([df1, df2], axis=1)</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Places DataFrames side by side (same index)</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ignore_index=True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Renumbers the index instead of keeping the originals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955" name="Text 3"/>
          <p:cNvSpPr/>
          <p:nvPr/>
        </p:nvSpPr>
        <p:spPr>
          <a:xfrm>
            <a:off x="548640" y="4206240"/>
            <a:ext cx="11109600" cy="548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Use concat() when you have multiple chunks of the same kind of data — e.g. sales data from 12 separate monthly files.</a:t>
            </a:r>
            <a:endParaRPr lang="en-US" sz="1300" b="0" u="none" strike="noStrike">
              <a:solidFill>
                <a:srgbClr val="000000"/>
              </a:solidFill>
              <a:effectLst/>
              <a:uFillTx/>
              <a:latin typeface="Arial"/>
            </a:endParaRPr>
          </a:p>
        </p:txBody>
      </p:sp>
      <p:sp>
        <p:nvSpPr>
          <p:cNvPr id="956"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5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MERGING &amp; JOINING</a:t>
            </a:r>
            <a:endParaRPr lang="en-US" sz="1100" b="0" u="none" strike="noStrike">
              <a:solidFill>
                <a:srgbClr val="000000"/>
              </a:solidFill>
              <a:effectLst/>
              <a:uFillTx/>
              <a:latin typeface="Arial"/>
            </a:endParaRPr>
          </a:p>
        </p:txBody>
      </p:sp>
      <p:sp>
        <p:nvSpPr>
          <p:cNvPr id="95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merge() — Matching by a Shared Key</a:t>
            </a:r>
            <a:endParaRPr lang="en-US" sz="2600" b="0" u="none" strike="noStrike">
              <a:solidFill>
                <a:srgbClr val="000000"/>
              </a:solidFill>
              <a:effectLst/>
              <a:uFillTx/>
              <a:latin typeface="Arial"/>
            </a:endParaRPr>
          </a:p>
        </p:txBody>
      </p:sp>
      <p:pic>
        <p:nvPicPr>
          <p:cNvPr id="959"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96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61" name="Shape 3"/>
          <p:cNvSpPr/>
          <p:nvPr/>
        </p:nvSpPr>
        <p:spPr>
          <a:xfrm>
            <a:off x="548640" y="1737360"/>
            <a:ext cx="3291480" cy="2651400"/>
          </a:xfrm>
          <a:prstGeom prst="roundRect">
            <a:avLst>
              <a:gd name="adj" fmla="val 4138"/>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6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6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6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65" name="Text 7"/>
          <p:cNvSpPr/>
          <p:nvPr/>
        </p:nvSpPr>
        <p:spPr>
          <a:xfrm>
            <a:off x="749880" y="2121480"/>
            <a:ext cx="2889000" cy="212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pd.merge(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students, grades,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on="name",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how="inner"</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 or "left", "right", "outer"</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a:t>
            </a:r>
            <a:endParaRPr lang="en-US" sz="1350" b="0" u="none" strike="noStrike">
              <a:solidFill>
                <a:srgbClr val="000000"/>
              </a:solidFill>
              <a:effectLst/>
              <a:uFillTx/>
              <a:latin typeface="Arial"/>
            </a:endParaRPr>
          </a:p>
        </p:txBody>
      </p:sp>
      <p:sp>
        <p:nvSpPr>
          <p:cNvPr id="966" name="Shape 8"/>
          <p:cNvSpPr/>
          <p:nvPr/>
        </p:nvSpPr>
        <p:spPr>
          <a:xfrm>
            <a:off x="4434840" y="1874520"/>
            <a:ext cx="959760" cy="959760"/>
          </a:xfrm>
          <a:prstGeom prst="ellipse">
            <a:avLst/>
          </a:prstGeom>
          <a:solidFill>
            <a:srgbClr val="5755A7">
              <a:alpha val="4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67" name="Shape 9"/>
          <p:cNvSpPr/>
          <p:nvPr/>
        </p:nvSpPr>
        <p:spPr>
          <a:xfrm>
            <a:off x="5087880" y="1874520"/>
            <a:ext cx="959760" cy="959760"/>
          </a:xfrm>
          <a:prstGeom prst="ellipse">
            <a:avLst/>
          </a:prstGeom>
          <a:solidFill>
            <a:srgbClr val="5755A7">
              <a:alpha val="4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68" name="Shape 10"/>
          <p:cNvSpPr/>
          <p:nvPr/>
        </p:nvSpPr>
        <p:spPr>
          <a:xfrm>
            <a:off x="5087880" y="2018520"/>
            <a:ext cx="352440" cy="671760"/>
          </a:xfrm>
          <a:prstGeom prst="ellipse">
            <a:avLst/>
          </a:prstGeom>
          <a:solidFill>
            <a:srgbClr val="5755A7">
              <a:alpha val="9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69" name="Text 11"/>
          <p:cNvSpPr/>
          <p:nvPr/>
        </p:nvSpPr>
        <p:spPr>
          <a:xfrm>
            <a:off x="4251960" y="2907720"/>
            <a:ext cx="163188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1B1B20"/>
                </a:solidFill>
                <a:effectLst/>
                <a:uFillTx/>
                <a:latin typeface="Bricolage Grotesque"/>
                <a:ea typeface="Bricolage Grotesque"/>
              </a:rPr>
              <a:t>inner</a:t>
            </a:r>
            <a:endParaRPr lang="en-US" sz="1200" b="0" u="none" strike="noStrike">
              <a:solidFill>
                <a:srgbClr val="000000"/>
              </a:solidFill>
              <a:effectLst/>
              <a:uFillTx/>
              <a:latin typeface="Arial"/>
            </a:endParaRPr>
          </a:p>
        </p:txBody>
      </p:sp>
      <p:sp>
        <p:nvSpPr>
          <p:cNvPr id="970" name="Shape 12"/>
          <p:cNvSpPr/>
          <p:nvPr/>
        </p:nvSpPr>
        <p:spPr>
          <a:xfrm>
            <a:off x="5806440" y="1874520"/>
            <a:ext cx="959760" cy="959760"/>
          </a:xfrm>
          <a:prstGeom prst="ellipse">
            <a:avLst/>
          </a:prstGeom>
          <a:solidFill>
            <a:srgbClr val="BE185D">
              <a:alpha val="7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1" name="Shape 13"/>
          <p:cNvSpPr/>
          <p:nvPr/>
        </p:nvSpPr>
        <p:spPr>
          <a:xfrm>
            <a:off x="6459480" y="1874520"/>
            <a:ext cx="959760" cy="959760"/>
          </a:xfrm>
          <a:prstGeom prst="ellipse">
            <a:avLst/>
          </a:prstGeom>
          <a:solidFill>
            <a:srgbClr val="F0ECF4">
              <a:alpha val="7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2" name="Text 14"/>
          <p:cNvSpPr/>
          <p:nvPr/>
        </p:nvSpPr>
        <p:spPr>
          <a:xfrm>
            <a:off x="5623560" y="2907720"/>
            <a:ext cx="163188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1B1B20"/>
                </a:solidFill>
                <a:effectLst/>
                <a:uFillTx/>
                <a:latin typeface="Bricolage Grotesque"/>
                <a:ea typeface="Bricolage Grotesque"/>
              </a:rPr>
              <a:t>left</a:t>
            </a:r>
            <a:endParaRPr lang="en-US" sz="1200" b="0" u="none" strike="noStrike">
              <a:solidFill>
                <a:srgbClr val="000000"/>
              </a:solidFill>
              <a:effectLst/>
              <a:uFillTx/>
              <a:latin typeface="Arial"/>
            </a:endParaRPr>
          </a:p>
        </p:txBody>
      </p:sp>
      <p:sp>
        <p:nvSpPr>
          <p:cNvPr id="973" name="Shape 15"/>
          <p:cNvSpPr/>
          <p:nvPr/>
        </p:nvSpPr>
        <p:spPr>
          <a:xfrm>
            <a:off x="7178040" y="1874520"/>
            <a:ext cx="959760" cy="959760"/>
          </a:xfrm>
          <a:prstGeom prst="ellipse">
            <a:avLst/>
          </a:prstGeom>
          <a:solidFill>
            <a:srgbClr val="F0ECF4">
              <a:alpha val="7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4" name="Shape 16"/>
          <p:cNvSpPr/>
          <p:nvPr/>
        </p:nvSpPr>
        <p:spPr>
          <a:xfrm>
            <a:off x="7831080" y="1874520"/>
            <a:ext cx="959760" cy="959760"/>
          </a:xfrm>
          <a:prstGeom prst="ellipse">
            <a:avLst/>
          </a:prstGeom>
          <a:solidFill>
            <a:srgbClr val="386759">
              <a:alpha val="7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5" name="Text 17"/>
          <p:cNvSpPr/>
          <p:nvPr/>
        </p:nvSpPr>
        <p:spPr>
          <a:xfrm>
            <a:off x="6995160" y="2907720"/>
            <a:ext cx="163188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1B1B20"/>
                </a:solidFill>
                <a:effectLst/>
                <a:uFillTx/>
                <a:latin typeface="Bricolage Grotesque"/>
                <a:ea typeface="Bricolage Grotesque"/>
              </a:rPr>
              <a:t>right</a:t>
            </a:r>
            <a:endParaRPr lang="en-US" sz="1200" b="0" u="none" strike="noStrike">
              <a:solidFill>
                <a:srgbClr val="000000"/>
              </a:solidFill>
              <a:effectLst/>
              <a:uFillTx/>
              <a:latin typeface="Arial"/>
            </a:endParaRPr>
          </a:p>
        </p:txBody>
      </p:sp>
      <p:sp>
        <p:nvSpPr>
          <p:cNvPr id="976" name="Shape 18"/>
          <p:cNvSpPr/>
          <p:nvPr/>
        </p:nvSpPr>
        <p:spPr>
          <a:xfrm>
            <a:off x="8549640" y="1874520"/>
            <a:ext cx="959760" cy="959760"/>
          </a:xfrm>
          <a:prstGeom prst="ellipse">
            <a:avLst/>
          </a:prstGeom>
          <a:solidFill>
            <a:srgbClr val="8C8AE0">
              <a:alpha val="7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7" name="Shape 19"/>
          <p:cNvSpPr/>
          <p:nvPr/>
        </p:nvSpPr>
        <p:spPr>
          <a:xfrm>
            <a:off x="9202680" y="1874520"/>
            <a:ext cx="959760" cy="959760"/>
          </a:xfrm>
          <a:prstGeom prst="ellipse">
            <a:avLst/>
          </a:prstGeom>
          <a:solidFill>
            <a:srgbClr val="8C8AE0">
              <a:alpha val="75000"/>
            </a:srgbClr>
          </a:solidFill>
          <a:ln w="12700">
            <a:solidFill>
              <a:srgbClr val="47465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8" name="Text 20"/>
          <p:cNvSpPr/>
          <p:nvPr/>
        </p:nvSpPr>
        <p:spPr>
          <a:xfrm>
            <a:off x="8366760" y="2907720"/>
            <a:ext cx="163188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1B1B20"/>
                </a:solidFill>
                <a:effectLst/>
                <a:uFillTx/>
                <a:latin typeface="Bricolage Grotesque"/>
                <a:ea typeface="Bricolage Grotesque"/>
              </a:rPr>
              <a:t>outer</a:t>
            </a:r>
            <a:endParaRPr lang="en-US" sz="1200" b="0" u="none" strike="noStrike">
              <a:solidFill>
                <a:srgbClr val="000000"/>
              </a:solidFill>
              <a:effectLst/>
              <a:uFillTx/>
              <a:latin typeface="Arial"/>
            </a:endParaRPr>
          </a:p>
        </p:txBody>
      </p:sp>
      <p:sp>
        <p:nvSpPr>
          <p:cNvPr id="979" name="Text 21"/>
          <p:cNvSpPr/>
          <p:nvPr/>
        </p:nvSpPr>
        <p:spPr>
          <a:xfrm>
            <a:off x="548640" y="4846320"/>
            <a:ext cx="10515240" cy="1645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inner — only rows where the key matches in both DataFrames.</a:t>
            </a:r>
            <a:endParaRPr lang="en-US" sz="1300" b="0" u="none" strike="noStrike">
              <a:solidFill>
                <a:srgbClr val="000000"/>
              </a:solidFill>
              <a:effectLst/>
              <a:uFillTx/>
              <a:latin typeface="Arial"/>
            </a:endParaRPr>
          </a:p>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left / right — every row from one side, matched where possible (NaN where there's no match).</a:t>
            </a:r>
            <a:endParaRPr lang="en-US" sz="1300" b="0" u="none" strike="noStrike">
              <a:solidFill>
                <a:srgbClr val="000000"/>
              </a:solidFill>
              <a:effectLst/>
              <a:uFillTx/>
              <a:latin typeface="Arial"/>
            </a:endParaRPr>
          </a:p>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outer — every row from both sides, matched where possible.</a:t>
            </a:r>
            <a:endParaRPr lang="en-US" sz="1300" b="0" u="none" strike="noStrike">
              <a:solidFill>
                <a:srgbClr val="000000"/>
              </a:solidFill>
              <a:effectLst/>
              <a:uFillTx/>
              <a:latin typeface="Arial"/>
            </a:endParaRPr>
          </a:p>
        </p:txBody>
      </p:sp>
      <p:sp>
        <p:nvSpPr>
          <p:cNvPr id="980"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8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MERGING &amp; JOINING</a:t>
            </a:r>
            <a:endParaRPr lang="en-US" sz="1100" b="0" u="none" strike="noStrike">
              <a:solidFill>
                <a:srgbClr val="000000"/>
              </a:solidFill>
              <a:effectLst/>
              <a:uFillTx/>
              <a:latin typeface="Arial"/>
            </a:endParaRPr>
          </a:p>
        </p:txBody>
      </p:sp>
      <p:sp>
        <p:nvSpPr>
          <p:cNvPr id="98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Merge in Action — Employees &amp; Salaries</a:t>
            </a:r>
            <a:endParaRPr lang="en-US" sz="2600" b="0" u="none" strike="noStrike">
              <a:solidFill>
                <a:srgbClr val="000000"/>
              </a:solidFill>
              <a:effectLst/>
              <a:uFillTx/>
              <a:latin typeface="Arial"/>
            </a:endParaRPr>
          </a:p>
        </p:txBody>
      </p:sp>
      <p:pic>
        <p:nvPicPr>
          <p:cNvPr id="98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98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85"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86"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87"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88"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89"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pd.merge(employees, salaries)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inner join on employee_id: IDs 1, 2, 3</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pd.merge(employees, salaries,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on="employee_id", how="outer")</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IDs 4, 5: salary, bonus -&gt; NaN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IDs 6, 7: name, department -&gt; NaN</a:t>
            </a:r>
            <a:endParaRPr lang="en-US" sz="1350" b="0" u="none" strike="noStrike">
              <a:solidFill>
                <a:srgbClr val="000000"/>
              </a:solidFill>
              <a:effectLst/>
              <a:uFillTx/>
              <a:latin typeface="Arial"/>
            </a:endParaRPr>
          </a:p>
        </p:txBody>
      </p:sp>
      <p:sp>
        <p:nvSpPr>
          <p:cNvPr id="990"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employees has IDs 1–5 and salaries has IDs 1, 2, 3, 6, 7 — only 1, 2 and 3 appear in both.</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With no on= Pandas joins on the column the tables share, and with no how= it uses inner, so only the three matching employees survive.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how="outer" keeps all seven IDs and fills gaps with NaN. Because NaN is a float, salary shows as 60000.0 — a classic surprise.</a:t>
            </a:r>
            <a:endParaRPr lang="en-US" sz="1400" b="0" u="none" strike="noStrike">
              <a:solidFill>
                <a:srgbClr val="000000"/>
              </a:solidFill>
              <a:effectLst/>
              <a:uFillTx/>
              <a:latin typeface="Arial"/>
            </a:endParaRPr>
          </a:p>
        </p:txBody>
      </p:sp>
      <p:sp>
        <p:nvSpPr>
          <p:cNvPr id="991"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92"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93"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994"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MERGING &amp; JOINING</a:t>
            </a:r>
            <a:endParaRPr lang="en-US" sz="1100" b="0" u="none" strike="noStrike">
              <a:solidFill>
                <a:srgbClr val="000000"/>
              </a:solidFill>
              <a:effectLst/>
              <a:uFillTx/>
              <a:latin typeface="Arial"/>
            </a:endParaRPr>
          </a:p>
        </p:txBody>
      </p:sp>
      <p:sp>
        <p:nvSpPr>
          <p:cNvPr id="995"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Merging, Joining &amp; Concatenating</a:t>
            </a:r>
            <a:endParaRPr lang="en-US" sz="2300" b="0" u="none" strike="noStrike">
              <a:solidFill>
                <a:srgbClr val="000000"/>
              </a:solidFill>
              <a:effectLst/>
              <a:uFillTx/>
              <a:latin typeface="Arial"/>
            </a:endParaRPr>
          </a:p>
        </p:txBody>
      </p:sp>
      <p:sp>
        <p:nvSpPr>
          <p:cNvPr id="996"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997"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98"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99"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000"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two small DataFrames that share one key column, with a couple of non-matching rows.</a:t>
            </a:r>
            <a:endParaRPr lang="en-US" sz="1300" b="0" u="none" strike="noStrike">
              <a:solidFill>
                <a:srgbClr val="000000"/>
              </a:solidFill>
              <a:effectLst/>
              <a:uFillTx/>
              <a:latin typeface="Arial"/>
            </a:endParaRPr>
          </a:p>
        </p:txBody>
      </p:sp>
      <p:sp>
        <p:nvSpPr>
          <p:cNvPr id="1001"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02"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03"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004"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Merge them with how="inner" and note which rows survive.</a:t>
            </a:r>
            <a:endParaRPr lang="en-US" sz="1300" b="0" u="none" strike="noStrike">
              <a:solidFill>
                <a:srgbClr val="000000"/>
              </a:solidFill>
              <a:effectLst/>
              <a:uFillTx/>
              <a:latin typeface="Arial"/>
            </a:endParaRPr>
          </a:p>
        </p:txBody>
      </p:sp>
      <p:sp>
        <p:nvSpPr>
          <p:cNvPr id="1005"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06"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07"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008"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Merge the same two DataFrames with how="left" and how="outer", and compare the results.</a:t>
            </a:r>
            <a:endParaRPr lang="en-US" sz="1300" b="0" u="none" strike="noStrike">
              <a:solidFill>
                <a:srgbClr val="000000"/>
              </a:solidFill>
              <a:effectLst/>
              <a:uFillTx/>
              <a:latin typeface="Arial"/>
            </a:endParaRPr>
          </a:p>
        </p:txBody>
      </p:sp>
      <p:sp>
        <p:nvSpPr>
          <p:cNvPr id="1009"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0"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1"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012"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Concatenate two DataFrames with the same columns using pd.concat().</a:t>
            </a:r>
            <a:endParaRPr lang="en-US" sz="1300" b="0" u="none" strike="noStrike">
              <a:solidFill>
                <a:srgbClr val="000000"/>
              </a:solidFill>
              <a:effectLst/>
              <a:uFillTx/>
              <a:latin typeface="Arial"/>
            </a:endParaRPr>
          </a:p>
        </p:txBody>
      </p:sp>
      <p:pic>
        <p:nvPicPr>
          <p:cNvPr id="101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014"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15"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16"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7"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018"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019"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10 · PIVOT TABLES &amp; RESHAPING</a:t>
            </a:r>
            <a:endParaRPr lang="en-US" sz="1400" b="0" u="none" strike="noStrike">
              <a:solidFill>
                <a:srgbClr val="FFFFFF"/>
              </a:solidFill>
              <a:effectLst/>
              <a:uFillTx/>
              <a:latin typeface="Arial"/>
            </a:endParaRPr>
          </a:p>
        </p:txBody>
      </p:sp>
      <p:sp>
        <p:nvSpPr>
          <p:cNvPr id="1020"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Pivot Tables &amp; Reshaping</a:t>
            </a:r>
            <a:endParaRPr lang="en-US" sz="4000" b="0" u="none" strike="noStrike">
              <a:solidFill>
                <a:srgbClr val="FFFFFF"/>
              </a:solidFill>
              <a:effectLst/>
              <a:uFillTx/>
              <a:latin typeface="Arial"/>
            </a:endParaRPr>
          </a:p>
        </p:txBody>
      </p:sp>
      <p:sp>
        <p:nvSpPr>
          <p:cNvPr id="1021"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Turning long, repetitive data into a wide summary grid, and back again.</a:t>
            </a:r>
            <a:endParaRPr lang="en-US" sz="1500" b="0" u="none" strike="noStrike">
              <a:solidFill>
                <a:srgbClr val="FFFFFF"/>
              </a:solidFill>
              <a:effectLst/>
              <a:uFillTx/>
              <a:latin typeface="Arial"/>
            </a:endParaRPr>
          </a:p>
        </p:txBody>
      </p:sp>
      <p:sp>
        <p:nvSpPr>
          <p:cNvPr id="1022"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64</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02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PIVOT TABLES</a:t>
            </a:r>
            <a:endParaRPr lang="en-US" sz="1100" b="0" u="none" strike="noStrike">
              <a:solidFill>
                <a:srgbClr val="000000"/>
              </a:solidFill>
              <a:effectLst/>
              <a:uFillTx/>
              <a:latin typeface="Arial"/>
            </a:endParaRPr>
          </a:p>
        </p:txBody>
      </p:sp>
      <p:sp>
        <p:nvSpPr>
          <p:cNvPr id="102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pivot_table() — Long Data, Summarized Wide</a:t>
            </a:r>
            <a:endParaRPr lang="en-US" sz="2600" b="0" u="none" strike="noStrike">
              <a:solidFill>
                <a:srgbClr val="000000"/>
              </a:solidFill>
              <a:effectLst/>
              <a:uFillTx/>
              <a:latin typeface="Arial"/>
            </a:endParaRPr>
          </a:p>
        </p:txBody>
      </p:sp>
      <p:pic>
        <p:nvPicPr>
          <p:cNvPr id="102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02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27" name="Shape 3"/>
          <p:cNvSpPr/>
          <p:nvPr/>
        </p:nvSpPr>
        <p:spPr>
          <a:xfrm>
            <a:off x="548640" y="1737360"/>
            <a:ext cx="5394600" cy="2194200"/>
          </a:xfrm>
          <a:prstGeom prst="roundRect">
            <a:avLst>
              <a:gd name="adj" fmla="val 50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2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2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3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31" name="Text 7"/>
          <p:cNvSpPr/>
          <p:nvPr/>
        </p:nvSpPr>
        <p:spPr>
          <a:xfrm>
            <a:off x="749880" y="2121480"/>
            <a:ext cx="4992120" cy="16639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flights = sns.load_dataset("flights")</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pvt = flights.pivot_table(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values="passengers",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index="month",</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columns="year"</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a:t>
            </a:r>
            <a:endParaRPr lang="en-US" sz="1350" b="0" u="none" strike="noStrike">
              <a:solidFill>
                <a:srgbClr val="000000"/>
              </a:solidFill>
              <a:effectLst/>
              <a:uFillTx/>
              <a:latin typeface="Arial"/>
            </a:endParaRPr>
          </a:p>
        </p:txBody>
      </p:sp>
      <p:sp>
        <p:nvSpPr>
          <p:cNvPr id="1032"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033" name="Image 1" descr="/home/claude/pandas_deck/charts/heatmap_flights.png"/>
          <p:cNvPicPr/>
          <p:nvPr/>
        </p:nvPicPr>
        <p:blipFill>
          <a:blip r:embed="rId2"/>
          <a:stretch/>
        </p:blipFill>
        <p:spPr>
          <a:xfrm>
            <a:off x="6282000" y="1847160"/>
            <a:ext cx="5266440" cy="3638880"/>
          </a:xfrm>
          <a:prstGeom prst="rect">
            <a:avLst/>
          </a:prstGeom>
          <a:noFill/>
          <a:ln w="0">
            <a:noFill/>
          </a:ln>
        </p:spPr>
      </p:pic>
      <p:sp>
        <p:nvSpPr>
          <p:cNvPr id="1034"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The pivoted grid, visualized as a heatmap (Seaborn, Part 7 of that module).</a:t>
            </a:r>
            <a:endParaRPr lang="en-US" sz="950" b="0" u="none" strike="noStrike">
              <a:solidFill>
                <a:srgbClr val="000000"/>
              </a:solidFill>
              <a:effectLst/>
              <a:uFillTx/>
              <a:latin typeface="Arial"/>
            </a:endParaRPr>
          </a:p>
        </p:txBody>
      </p:sp>
      <p:sp>
        <p:nvSpPr>
          <p:cNvPr id="1035" name="Text 10"/>
          <p:cNvSpPr/>
          <p:nvPr/>
        </p:nvSpPr>
        <p:spPr>
          <a:xfrm>
            <a:off x="548640" y="4114800"/>
            <a:ext cx="5394600" cy="1828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250" b="0" u="none" strike="noStrike">
                <a:solidFill>
                  <a:srgbClr val="1B1B20"/>
                </a:solidFill>
                <a:effectLst/>
                <a:uFillTx/>
                <a:latin typeface="Hanken Grotesk"/>
                <a:ea typeface="Hanken Grotesk"/>
              </a:rPr>
              <a:t>pivot_table() reshapes long-format rows (one row per month + year) into a wide grid — months down, years across.</a:t>
            </a:r>
            <a:endParaRPr lang="en-US" sz="1250" b="0" u="none" strike="noStrike">
              <a:solidFill>
                <a:srgbClr val="000000"/>
              </a:solidFill>
              <a:effectLst/>
              <a:uFillTx/>
              <a:latin typeface="Arial"/>
            </a:endParaRPr>
          </a:p>
          <a:p>
            <a:pPr marL="228600" indent="-228600" defTabSz="914400">
              <a:lnSpc>
                <a:spcPct val="100000"/>
              </a:lnSpc>
              <a:spcAft>
                <a:spcPts val="1001"/>
              </a:spcAft>
              <a:buClr>
                <a:srgbClr val="1B1B20"/>
              </a:buClr>
              <a:buFont typeface="Symbol" charset="2"/>
              <a:buChar char=""/>
            </a:pPr>
            <a:r>
              <a:rPr lang="en-US" sz="1250" b="0" u="none" strike="noStrike">
                <a:solidFill>
                  <a:srgbClr val="1B1B20"/>
                </a:solidFill>
                <a:effectLst/>
                <a:uFillTx/>
                <a:latin typeface="Hanken Grotesk"/>
                <a:ea typeface="Hanken Grotesk"/>
              </a:rPr>
              <a:t>By default it aggregates with mean() if there are multiple matching rows per cell — pass aggfunc= to change that.</a:t>
            </a:r>
            <a:endParaRPr lang="en-US" sz="1250" b="0" u="none" strike="noStrike">
              <a:solidFill>
                <a:srgbClr val="000000"/>
              </a:solidFill>
              <a:effectLst/>
              <a:uFillTx/>
              <a:latin typeface="Arial"/>
            </a:endParaRPr>
          </a:p>
        </p:txBody>
      </p:sp>
      <p:sp>
        <p:nvSpPr>
          <p:cNvPr id="1036"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03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PIVOT TABLES</a:t>
            </a:r>
            <a:endParaRPr lang="en-US" sz="1100" b="0" u="none" strike="noStrike">
              <a:solidFill>
                <a:srgbClr val="000000"/>
              </a:solidFill>
              <a:effectLst/>
              <a:uFillTx/>
              <a:latin typeface="Arial"/>
            </a:endParaRPr>
          </a:p>
        </p:txBody>
      </p:sp>
      <p:sp>
        <p:nvSpPr>
          <p:cNvPr id="103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pivot_table() — Multiple Values</a:t>
            </a:r>
            <a:endParaRPr lang="en-US" sz="2600" b="0" u="none" strike="noStrike">
              <a:solidFill>
                <a:srgbClr val="000000"/>
              </a:solidFill>
              <a:effectLst/>
              <a:uFillTx/>
              <a:latin typeface="Arial"/>
            </a:endParaRPr>
          </a:p>
        </p:txBody>
      </p:sp>
      <p:pic>
        <p:nvPicPr>
          <p:cNvPr id="1039"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04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41"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4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4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4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45"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pd.pivot_table(df, values="Sales",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index="Region", columns="Product",</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aggfunc="median")</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pd.pivot_table(df,</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values=["Sales", "Units"],</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index="Region", columns="Product",</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aggfunc="median")</a:t>
            </a:r>
            <a:endParaRPr lang="en-US" sz="1350" b="0" u="none" strike="noStrike">
              <a:solidFill>
                <a:srgbClr val="000000"/>
              </a:solidFill>
              <a:effectLst/>
              <a:uFillTx/>
              <a:latin typeface="Arial"/>
            </a:endParaRPr>
          </a:p>
        </p:txBody>
      </p:sp>
      <p:sp>
        <p:nvSpPr>
          <p:cNvPr id="1046"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aggfunc takes a name like "median", "sum" or "mean" — don’t just rely on the default mean.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Pass a list to values= to summarize several columns at once: one block per measure (Sales, Units) side by side.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NaN cells mean no rows exist for that Region–Product pair. Here each region sold exactly one product, so most cells are empty.</a:t>
            </a:r>
            <a:endParaRPr lang="en-US" sz="1400" b="0" u="none" strike="noStrike">
              <a:solidFill>
                <a:srgbClr val="000000"/>
              </a:solidFill>
              <a:effectLst/>
              <a:uFillTx/>
              <a:latin typeface="Arial"/>
            </a:endParaRPr>
          </a:p>
        </p:txBody>
      </p:sp>
      <p:sp>
        <p:nvSpPr>
          <p:cNvPr id="1047"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04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RESHAPING</a:t>
            </a:r>
            <a:endParaRPr lang="en-US" sz="1100" b="0" u="none" strike="noStrike">
              <a:solidFill>
                <a:srgbClr val="000000"/>
              </a:solidFill>
              <a:effectLst/>
              <a:uFillTx/>
              <a:latin typeface="Arial"/>
            </a:endParaRPr>
          </a:p>
        </p:txBody>
      </p:sp>
      <p:sp>
        <p:nvSpPr>
          <p:cNvPr id="104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melt() — Wide Data, Back to Long</a:t>
            </a:r>
            <a:endParaRPr lang="en-US" sz="2600" b="0" u="none" strike="noStrike">
              <a:solidFill>
                <a:srgbClr val="000000"/>
              </a:solidFill>
              <a:effectLst/>
              <a:uFillTx/>
              <a:latin typeface="Arial"/>
            </a:endParaRPr>
          </a:p>
        </p:txBody>
      </p:sp>
      <p:pic>
        <p:nvPicPr>
          <p:cNvPr id="1050"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05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graphicFrame>
        <p:nvGraphicFramePr>
          <p:cNvPr id="1052" name="Table 0"/>
          <p:cNvGraphicFramePr/>
          <p:nvPr/>
        </p:nvGraphicFramePr>
        <p:xfrm>
          <a:off x="548640" y="1737360"/>
          <a:ext cx="11109600" cy="1828440"/>
        </p:xfrm>
        <a:graphic>
          <a:graphicData uri="http://schemas.openxmlformats.org/drawingml/2006/table">
            <a:tbl>
              <a:tblPr/>
              <a:tblGrid>
                <a:gridCol w="3999240"/>
                <a:gridCol w="7110360"/>
              </a:tblGrid>
              <a:tr h="60948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6094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df.melt(id_vars=["name"])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Turns wide columns into two columns: variable and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60948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onsolas"/>
                          <a:ea typeface="Consolas"/>
                        </a:rPr>
                        <a:t>value_vars=[...]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Choose which columns to "unpivot"; others are left as identifiers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1053" name="Shape 3"/>
          <p:cNvSpPr/>
          <p:nvPr/>
        </p:nvSpPr>
        <p:spPr>
          <a:xfrm>
            <a:off x="548640" y="3749040"/>
            <a:ext cx="11109600" cy="2742840"/>
          </a:xfrm>
          <a:prstGeom prst="roundRect">
            <a:avLst>
              <a:gd name="adj" fmla="val 40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54" name="Shape 4"/>
          <p:cNvSpPr/>
          <p:nvPr/>
        </p:nvSpPr>
        <p:spPr>
          <a:xfrm>
            <a:off x="713160" y="38952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55" name="Shape 5"/>
          <p:cNvSpPr/>
          <p:nvPr/>
        </p:nvSpPr>
        <p:spPr>
          <a:xfrm>
            <a:off x="914400" y="38952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56" name="Shape 6"/>
          <p:cNvSpPr/>
          <p:nvPr/>
        </p:nvSpPr>
        <p:spPr>
          <a:xfrm>
            <a:off x="1115640" y="38952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57" name="Text 7"/>
          <p:cNvSpPr/>
          <p:nvPr/>
        </p:nvSpPr>
        <p:spPr>
          <a:xfrm>
            <a:off x="749880" y="4133160"/>
            <a:ext cx="10707120" cy="221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onsolas"/>
                <a:ea typeface="Consolas"/>
              </a:rPr>
              <a:t>wide = pd.DataFrame({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"name": ["Amina", "Ben"],</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"Math": [88, 74], "Physics": [85, 70]</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a:t>
            </a:r>
            <a:endParaRPr lang="en-US" sz="1250" b="0" u="none" strike="noStrike">
              <a:solidFill>
                <a:srgbClr val="000000"/>
              </a:solidFill>
              <a:effectLst/>
              <a:uFillTx/>
              <a:latin typeface="Arial"/>
            </a:endParaRPr>
          </a:p>
          <a:p>
            <a:pPr defTabSz="914400">
              <a:lnSpc>
                <a:spcPct val="118000"/>
              </a:lnSpc>
              <a:tabLst>
                <a:tab pos="0" algn="l"/>
              </a:tabLst>
            </a:pP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long = wide.melt(id_vars="name",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var_name="subject", value_name="score")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name subject  score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0  Amina    Math     88</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1    Ben    Math     74</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2  Amina Physics     85</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3    Ben Physics     70</a:t>
            </a:r>
            <a:endParaRPr lang="en-US" sz="1250" b="0" u="none" strike="noStrike">
              <a:solidFill>
                <a:srgbClr val="000000"/>
              </a:solidFill>
              <a:effectLst/>
              <a:uFillTx/>
              <a:latin typeface="Arial"/>
            </a:endParaRPr>
          </a:p>
        </p:txBody>
      </p:sp>
      <p:sp>
        <p:nvSpPr>
          <p:cNvPr id="105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05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PIVOT TABLES</a:t>
            </a:r>
            <a:endParaRPr lang="en-US" sz="1100" b="0" u="none" strike="noStrike">
              <a:solidFill>
                <a:srgbClr val="000000"/>
              </a:solidFill>
              <a:effectLst/>
              <a:uFillTx/>
              <a:latin typeface="Arial"/>
            </a:endParaRPr>
          </a:p>
        </p:txBody>
      </p:sp>
      <p:sp>
        <p:nvSpPr>
          <p:cNvPr id="106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pd.crosstab() — Counting Combinations</a:t>
            </a:r>
            <a:endParaRPr lang="en-US" sz="2600" b="0" u="none" strike="noStrike">
              <a:solidFill>
                <a:srgbClr val="000000"/>
              </a:solidFill>
              <a:effectLst/>
              <a:uFillTx/>
              <a:latin typeface="Arial"/>
            </a:endParaRPr>
          </a:p>
        </p:txBody>
      </p:sp>
      <p:pic>
        <p:nvPicPr>
          <p:cNvPr id="1061"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06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63"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64"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65"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66"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067"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pd.crosstab(df["Regi</a:t>
            </a:r>
            <a:r>
              <a:rPr lang="en-US" sz="1350" b="0" u="none" strike="noStrike">
                <a:solidFill>
                  <a:srgbClr val="F1F5F9"/>
                </a:solidFill>
                <a:effectLst/>
                <a:uFillTx/>
                <a:latin typeface="Consolas"/>
                <a:ea typeface="Consolas"/>
              </a:rPr>
              <a:t>on"], df["Product"])</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Product  A  B  C  D</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East      5  0  0  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North     0  0  5  0</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South     0  0  0  5</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West      0  5  0  0</a:t>
            </a:r>
            <a:endParaRPr lang="en-US" sz="1350" b="0" u="none" strike="noStrike">
              <a:solidFill>
                <a:srgbClr val="000000"/>
              </a:solidFill>
              <a:effectLst/>
              <a:uFillTx/>
              <a:latin typeface="Arial"/>
            </a:endParaRPr>
          </a:p>
        </p:txBody>
      </p:sp>
      <p:sp>
        <p:nvSpPr>
          <p:cNvPr id="1068"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crosstab() counts how often each combination of two categories occurs — a frequency table, no numeric column needed.</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pivot_table() summarizes a number (like Sales); crosstab() counts rows. Use crosstab to see how two categories overlap.</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zeros tell the same story as the NaN cells in the pivot: every region sold only one product.</a:t>
            </a:r>
            <a:endParaRPr lang="en-US" sz="1400" b="0" u="none" strike="noStrike">
              <a:solidFill>
                <a:srgbClr val="000000"/>
              </a:solidFill>
              <a:effectLst/>
              <a:uFillTx/>
              <a:latin typeface="Arial"/>
            </a:endParaRPr>
          </a:p>
        </p:txBody>
      </p:sp>
      <p:sp>
        <p:nvSpPr>
          <p:cNvPr id="1069"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070"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71"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072"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PIVOT TABLES &amp; RESHAPING</a:t>
            </a:r>
            <a:endParaRPr lang="en-US" sz="1100" b="0" u="none" strike="noStrike">
              <a:solidFill>
                <a:srgbClr val="000000"/>
              </a:solidFill>
              <a:effectLst/>
              <a:uFillTx/>
              <a:latin typeface="Arial"/>
            </a:endParaRPr>
          </a:p>
        </p:txBody>
      </p:sp>
      <p:sp>
        <p:nvSpPr>
          <p:cNvPr id="1073"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Pivot Tables &amp; Reshaping</a:t>
            </a:r>
            <a:endParaRPr lang="en-US" sz="2300" b="0" u="none" strike="noStrike">
              <a:solidFill>
                <a:srgbClr val="000000"/>
              </a:solidFill>
              <a:effectLst/>
              <a:uFillTx/>
              <a:latin typeface="Arial"/>
            </a:endParaRPr>
          </a:p>
        </p:txBody>
      </p:sp>
      <p:sp>
        <p:nvSpPr>
          <p:cNvPr id="1074"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075"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76"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77"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078"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Build a pivot table from a small dataset, summarizing one numeric column across two categories.</a:t>
            </a:r>
            <a:endParaRPr lang="en-US" sz="1300" b="0" u="none" strike="noStrike">
              <a:solidFill>
                <a:srgbClr val="000000"/>
              </a:solidFill>
              <a:effectLst/>
              <a:uFillTx/>
              <a:latin typeface="Arial"/>
            </a:endParaRPr>
          </a:p>
        </p:txBody>
      </p:sp>
      <p:sp>
        <p:nvSpPr>
          <p:cNvPr id="1079"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0"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1"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082"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Change aggfunc from the default mean to sum or median, and pass two columns to values=.</a:t>
            </a:r>
            <a:endParaRPr lang="en-US" sz="1300" b="0" u="none" strike="noStrike">
              <a:solidFill>
                <a:srgbClr val="000000"/>
              </a:solidFill>
              <a:effectLst/>
              <a:uFillTx/>
              <a:latin typeface="Arial"/>
            </a:endParaRPr>
          </a:p>
        </p:txBody>
      </p:sp>
      <p:sp>
        <p:nvSpPr>
          <p:cNvPr id="1083"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4"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5"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086"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Take a wide DataFrame (one column per subject) and melt() it into long format.</a:t>
            </a:r>
            <a:endParaRPr lang="en-US" sz="1300" b="0" u="none" strike="noStrike">
              <a:solidFill>
                <a:srgbClr val="000000"/>
              </a:solidFill>
              <a:effectLst/>
              <a:uFillTx/>
              <a:latin typeface="Arial"/>
            </a:endParaRPr>
          </a:p>
        </p:txBody>
      </p:sp>
      <p:sp>
        <p:nvSpPr>
          <p:cNvPr id="1087"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8"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9"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090"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Build a crosstab() of two categorical columns, and explain when you’d use pivot_table() vs. crosstab() vs. melt().</a:t>
            </a:r>
            <a:endParaRPr lang="en-US" sz="1300" b="0" u="none" strike="noStrike">
              <a:solidFill>
                <a:srgbClr val="000000"/>
              </a:solidFill>
              <a:effectLst/>
              <a:uFillTx/>
              <a:latin typeface="Arial"/>
            </a:endParaRPr>
          </a:p>
        </p:txBody>
      </p:sp>
      <p:pic>
        <p:nvPicPr>
          <p:cNvPr id="1091"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092"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93"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94"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95"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096"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097"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11 · STRING &amp; DATETIME OPERATIONS</a:t>
            </a:r>
            <a:endParaRPr lang="en-US" sz="1400" b="0" u="none" strike="noStrike">
              <a:solidFill>
                <a:srgbClr val="FFFFFF"/>
              </a:solidFill>
              <a:effectLst/>
              <a:uFillTx/>
              <a:latin typeface="Arial"/>
            </a:endParaRPr>
          </a:p>
        </p:txBody>
      </p:sp>
      <p:sp>
        <p:nvSpPr>
          <p:cNvPr id="1098"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String &amp; DateTime Operations</a:t>
            </a:r>
            <a:endParaRPr lang="en-US" sz="4000" b="0" u="none" strike="noStrike">
              <a:solidFill>
                <a:srgbClr val="FFFFFF"/>
              </a:solidFill>
              <a:effectLst/>
              <a:uFillTx/>
              <a:latin typeface="Arial"/>
            </a:endParaRPr>
          </a:p>
        </p:txBody>
      </p:sp>
      <p:sp>
        <p:nvSpPr>
          <p:cNvPr id="1099"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Cleaning text and working with dates — two accessors that unlock a huge amount of real-world cleanup.</a:t>
            </a:r>
            <a:endParaRPr lang="en-US" sz="1500" b="0" u="none" strike="noStrike">
              <a:solidFill>
                <a:srgbClr val="FFFFFF"/>
              </a:solidFill>
              <a:effectLst/>
              <a:uFillTx/>
              <a:latin typeface="Arial"/>
            </a:endParaRPr>
          </a:p>
        </p:txBody>
      </p:sp>
      <p:sp>
        <p:nvSpPr>
          <p:cNvPr id="1100"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70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0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STRING OPERATIONS</a:t>
            </a:r>
            <a:endParaRPr lang="en-US" sz="1100" b="0" u="none" strike="noStrike">
              <a:solidFill>
                <a:srgbClr val="000000"/>
              </a:solidFill>
              <a:effectLst/>
              <a:uFillTx/>
              <a:latin typeface="Arial"/>
            </a:endParaRPr>
          </a:p>
        </p:txBody>
      </p:sp>
      <p:sp>
        <p:nvSpPr>
          <p:cNvPr id="110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The .str Accessor</a:t>
            </a:r>
            <a:endParaRPr lang="en-US" sz="2600" b="0" u="none" strike="noStrike">
              <a:solidFill>
                <a:srgbClr val="000000"/>
              </a:solidFill>
              <a:effectLst/>
              <a:uFillTx/>
              <a:latin typeface="Arial"/>
            </a:endParaRPr>
          </a:p>
        </p:txBody>
      </p:sp>
      <p:pic>
        <p:nvPicPr>
          <p:cNvPr id="110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10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05"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06"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07"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08"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09"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onsolas"/>
                <a:ea typeface="Consolas"/>
              </a:rPr>
              <a:t>names = pd.Series([" Amina ", "BEN", "chen"])</a:t>
            </a:r>
            <a:endParaRPr lang="en-US" sz="1250" b="0" u="none" strike="noStrike">
              <a:solidFill>
                <a:srgbClr val="000000"/>
              </a:solidFill>
              <a:effectLst/>
              <a:uFillTx/>
              <a:latin typeface="Arial"/>
            </a:endParaRPr>
          </a:p>
          <a:p>
            <a:pPr defTabSz="914400">
              <a:lnSpc>
                <a:spcPct val="118000"/>
              </a:lnSpc>
              <a:tabLst>
                <a:tab pos="0" algn="l"/>
              </a:tabLst>
            </a:pP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names.str.strip()      # remove extra whitespace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names.str.lower()      # "amina", "ben", "chen"</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names.str.title()      # "Amina", "Ben", "Chen"</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names.str.contains("a", case=False)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 True, False, True</a:t>
            </a:r>
            <a:endParaRPr lang="en-US" sz="1250" b="0" u="none" strike="noStrike">
              <a:solidFill>
                <a:srgbClr val="000000"/>
              </a:solidFill>
              <a:effectLst/>
              <a:uFillTx/>
              <a:latin typeface="Arial"/>
            </a:endParaRPr>
          </a:p>
          <a:p>
            <a:pPr defTabSz="914400">
              <a:lnSpc>
                <a:spcPct val="118000"/>
              </a:lnSpc>
              <a:tabLst>
                <a:tab pos="0" algn="l"/>
              </a:tabLst>
            </a:pPr>
            <a:r>
              <a:rPr lang="en-US" sz="1250" b="0" u="none" strike="noStrike">
                <a:solidFill>
                  <a:srgbClr val="F1F5F9"/>
                </a:solidFill>
                <a:effectLst/>
                <a:uFillTx/>
                <a:latin typeface="Consolas"/>
                <a:ea typeface="Consolas"/>
              </a:rPr>
              <a:t>names.str.replace("e", "3")</a:t>
            </a:r>
            <a:endParaRPr lang="en-US" sz="1250" b="0" u="none" strike="noStrike">
              <a:solidFill>
                <a:srgbClr val="000000"/>
              </a:solidFill>
              <a:effectLst/>
              <a:uFillTx/>
              <a:latin typeface="Arial"/>
            </a:endParaRPr>
          </a:p>
        </p:txBody>
      </p:sp>
      <p:sp>
        <p:nvSpPr>
          <p:cNvPr id="1110"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The .str accessor applies a string method to every value in a Series at once — vectorized, just like NumPy math.</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Extremely common for cleaning messy, inconsistently-cased or padded text columns before analysis.</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Chainable: names.str.strip().str.lower() runs both in sequence.</a:t>
            </a:r>
            <a:endParaRPr lang="en-US" sz="1350" b="0" u="none" strike="noStrike">
              <a:solidFill>
                <a:srgbClr val="000000"/>
              </a:solidFill>
              <a:effectLst/>
              <a:uFillTx/>
              <a:latin typeface="Arial"/>
            </a:endParaRPr>
          </a:p>
        </p:txBody>
      </p:sp>
      <p:sp>
        <p:nvSpPr>
          <p:cNvPr id="1111"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1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DATETIME OPERATIONS</a:t>
            </a:r>
            <a:endParaRPr lang="en-US" sz="1100" b="0" u="none" strike="noStrike">
              <a:solidFill>
                <a:srgbClr val="000000"/>
              </a:solidFill>
              <a:effectLst/>
              <a:uFillTx/>
              <a:latin typeface="Arial"/>
            </a:endParaRPr>
          </a:p>
        </p:txBody>
      </p:sp>
      <p:sp>
        <p:nvSpPr>
          <p:cNvPr id="111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The .dt Accessor</a:t>
            </a:r>
            <a:endParaRPr lang="en-US" sz="2600" b="0" u="none" strike="noStrike">
              <a:solidFill>
                <a:srgbClr val="000000"/>
              </a:solidFill>
              <a:effectLst/>
              <a:uFillTx/>
              <a:latin typeface="Arial"/>
            </a:endParaRPr>
          </a:p>
        </p:txBody>
      </p:sp>
      <p:pic>
        <p:nvPicPr>
          <p:cNvPr id="111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11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16"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17"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18"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19"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20"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onsolas"/>
                <a:ea typeface="Consolas"/>
              </a:rPr>
              <a:t>df["date"] = pd.to_datetime(</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["2026-01-15", "2026-02-03"]</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df["date"].dt.year     # 2026, 2026</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df["date"].dt.month    # 1, 2</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df["date"].dt.day_name()</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"Thursday", "Tuesday"</a:t>
            </a:r>
            <a:endParaRPr lang="en-US" sz="1300" b="0" u="none" strike="noStrike">
              <a:solidFill>
                <a:srgbClr val="000000"/>
              </a:solidFill>
              <a:effectLst/>
              <a:uFillTx/>
              <a:latin typeface="Arial"/>
            </a:endParaRPr>
          </a:p>
        </p:txBody>
      </p:sp>
      <p:sp>
        <p:nvSpPr>
          <p:cNvPr id="1121" name="Text 8"/>
          <p:cNvSpPr/>
          <p:nvPr/>
        </p:nvSpPr>
        <p:spPr>
          <a:xfrm>
            <a:off x="6172200" y="1737360"/>
            <a:ext cx="5486040" cy="36572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pd.to_datetime() converts a text/date column into a real datetime type — required before .dt will work.</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Once converted, .dt gives you year, month, day, weekday name, and more, all vectorized.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This is essential for any time-series data — sales by month, sensor readings by day, and so on.</a:t>
            </a:r>
            <a:endParaRPr lang="en-US" sz="1350" b="0" u="none" strike="noStrike">
              <a:solidFill>
                <a:srgbClr val="000000"/>
              </a:solidFill>
              <a:effectLst/>
              <a:uFillTx/>
              <a:latin typeface="Arial"/>
            </a:endParaRPr>
          </a:p>
        </p:txBody>
      </p:sp>
      <p:sp>
        <p:nvSpPr>
          <p:cNvPr id="1122"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23"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24"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125"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STRING &amp; DATETIME OPERATIONS</a:t>
            </a:r>
            <a:endParaRPr lang="en-US" sz="1100" b="0" u="none" strike="noStrike">
              <a:solidFill>
                <a:srgbClr val="000000"/>
              </a:solidFill>
              <a:effectLst/>
              <a:uFillTx/>
              <a:latin typeface="Arial"/>
            </a:endParaRPr>
          </a:p>
        </p:txBody>
      </p:sp>
      <p:sp>
        <p:nvSpPr>
          <p:cNvPr id="1126"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String &amp; DateTime Operations</a:t>
            </a:r>
            <a:endParaRPr lang="en-US" sz="2300" b="0" u="none" strike="noStrike">
              <a:solidFill>
                <a:srgbClr val="000000"/>
              </a:solidFill>
              <a:effectLst/>
              <a:uFillTx/>
              <a:latin typeface="Arial"/>
            </a:endParaRPr>
          </a:p>
        </p:txBody>
      </p:sp>
      <p:sp>
        <p:nvSpPr>
          <p:cNvPr id="1127"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128"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29"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0"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131"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Series of messy text (extra spaces, mixed case) and clean it with .str methods.</a:t>
            </a:r>
            <a:endParaRPr lang="en-US" sz="1300" b="0" u="none" strike="noStrike">
              <a:solidFill>
                <a:srgbClr val="000000"/>
              </a:solidFill>
              <a:effectLst/>
              <a:uFillTx/>
              <a:latin typeface="Arial"/>
            </a:endParaRPr>
          </a:p>
        </p:txBody>
      </p:sp>
      <p:sp>
        <p:nvSpPr>
          <p:cNvPr id="1132"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3"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4"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135"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Filter a DataFrame to rows where a text column contains a specific substring.</a:t>
            </a:r>
            <a:endParaRPr lang="en-US" sz="1300" b="0" u="none" strike="noStrike">
              <a:solidFill>
                <a:srgbClr val="000000"/>
              </a:solidFill>
              <a:effectLst/>
              <a:uFillTx/>
              <a:latin typeface="Arial"/>
            </a:endParaRPr>
          </a:p>
        </p:txBody>
      </p:sp>
      <p:sp>
        <p:nvSpPr>
          <p:cNvPr id="1136"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7"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8"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139"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Convert a column of date strings to real dates with pd.to_datetime().</a:t>
            </a:r>
            <a:endParaRPr lang="en-US" sz="1300" b="0" u="none" strike="noStrike">
              <a:solidFill>
                <a:srgbClr val="000000"/>
              </a:solidFill>
              <a:effectLst/>
              <a:uFillTx/>
              <a:latin typeface="Arial"/>
            </a:endParaRPr>
          </a:p>
        </p:txBody>
      </p:sp>
      <p:sp>
        <p:nvSpPr>
          <p:cNvPr id="1140"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1"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2"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143"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Extract the month and weekday name from that date column using .dt.</a:t>
            </a:r>
            <a:endParaRPr lang="en-US" sz="1300" b="0" u="none" strike="noStrike">
              <a:solidFill>
                <a:srgbClr val="000000"/>
              </a:solidFill>
              <a:effectLst/>
              <a:uFillTx/>
              <a:latin typeface="Arial"/>
            </a:endParaRPr>
          </a:p>
        </p:txBody>
      </p:sp>
      <p:pic>
        <p:nvPicPr>
          <p:cNvPr id="1144"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145"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46"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147"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8"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149"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150"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12 · PANDAS + VISUALIZATION</a:t>
            </a:r>
            <a:endParaRPr lang="en-US" sz="1400" b="0" u="none" strike="noStrike">
              <a:solidFill>
                <a:srgbClr val="FFFFFF"/>
              </a:solidFill>
              <a:effectLst/>
              <a:uFillTx/>
              <a:latin typeface="Arial"/>
            </a:endParaRPr>
          </a:p>
        </p:txBody>
      </p:sp>
      <p:sp>
        <p:nvSpPr>
          <p:cNvPr id="1151"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Pandas + Visualization</a:t>
            </a:r>
            <a:endParaRPr lang="en-US" sz="4000" b="0" u="none" strike="noStrike">
              <a:solidFill>
                <a:srgbClr val="FFFFFF"/>
              </a:solidFill>
              <a:effectLst/>
              <a:uFillTx/>
              <a:latin typeface="Arial"/>
            </a:endParaRPr>
          </a:p>
        </p:txBody>
      </p:sp>
      <p:sp>
        <p:nvSpPr>
          <p:cNvPr id="1152"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A DataFrame can plot itself — a fast bridge into Matplotlib and Seaborn.</a:t>
            </a:r>
            <a:endParaRPr lang="en-US" sz="1500" b="0" u="none" strike="noStrike">
              <a:solidFill>
                <a:srgbClr val="FFFFFF"/>
              </a:solidFill>
              <a:effectLst/>
              <a:uFillTx/>
              <a:latin typeface="Arial"/>
            </a:endParaRPr>
          </a:p>
        </p:txBody>
      </p:sp>
      <p:sp>
        <p:nvSpPr>
          <p:cNvPr id="1153"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74</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5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PANDAS + VISUALIZATION</a:t>
            </a:r>
            <a:endParaRPr lang="en-US" sz="1100" b="0" u="none" strike="noStrike">
              <a:solidFill>
                <a:srgbClr val="000000"/>
              </a:solidFill>
              <a:effectLst/>
              <a:uFillTx/>
              <a:latin typeface="Arial"/>
            </a:endParaRPr>
          </a:p>
        </p:txBody>
      </p:sp>
      <p:sp>
        <p:nvSpPr>
          <p:cNvPr id="115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df.plot() — Charts in One Line</a:t>
            </a:r>
            <a:endParaRPr lang="en-US" sz="2600" b="0" u="none" strike="noStrike">
              <a:solidFill>
                <a:srgbClr val="000000"/>
              </a:solidFill>
              <a:effectLst/>
              <a:uFillTx/>
              <a:latin typeface="Arial"/>
            </a:endParaRPr>
          </a:p>
        </p:txBody>
      </p:sp>
      <p:pic>
        <p:nvPicPr>
          <p:cNvPr id="1156"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15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58"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59"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60"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61"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162"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avg_tip = tips.groupby("day")["tip"].mean()</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avg_tip.plot(kind="bar", color="#5755A7")</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plt.title("Average Tip by Day")</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plt.ylabel("Tip ($)")</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plt.show()</a:t>
            </a:r>
            <a:endParaRPr lang="en-US" sz="1350" b="0" u="none" strike="noStrike">
              <a:solidFill>
                <a:srgbClr val="000000"/>
              </a:solidFill>
              <a:effectLst/>
              <a:uFillTx/>
              <a:latin typeface="Arial"/>
            </a:endParaRPr>
          </a:p>
        </p:txBody>
      </p:sp>
      <p:sp>
        <p:nvSpPr>
          <p:cNvPr id="1163"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164" name="Image 1" descr="/home/claude/pandas_deck/charts/groupby_tip_day.png"/>
          <p:cNvPicPr/>
          <p:nvPr/>
        </p:nvPicPr>
        <p:blipFill>
          <a:blip r:embed="rId2"/>
          <a:stretch/>
        </p:blipFill>
        <p:spPr>
          <a:xfrm>
            <a:off x="6282000" y="1847160"/>
            <a:ext cx="5266440" cy="3638880"/>
          </a:xfrm>
          <a:prstGeom prst="rect">
            <a:avLst/>
          </a:prstGeom>
          <a:noFill/>
          <a:ln w="0">
            <a:noFill/>
          </a:ln>
        </p:spPr>
      </p:pic>
      <p:sp>
        <p:nvSpPr>
          <p:cNvPr id="1165"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Same chart, drawn straight from the GroupBy result.</a:t>
            </a:r>
            <a:endParaRPr lang="en-US" sz="950" b="0" u="none" strike="noStrike">
              <a:solidFill>
                <a:srgbClr val="000000"/>
              </a:solidFill>
              <a:effectLst/>
              <a:uFillTx/>
              <a:latin typeface="Arial"/>
            </a:endParaRPr>
          </a:p>
        </p:txBody>
      </p:sp>
      <p:sp>
        <p:nvSpPr>
          <p:cNvPr id="1166" name="Text 10"/>
          <p:cNvSpPr/>
          <p:nvPr/>
        </p:nvSpPr>
        <p:spPr>
          <a:xfrm>
            <a:off x="548640" y="5029200"/>
            <a:ext cx="5394600" cy="14626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200" b="0" u="none" strike="noStrike">
                <a:solidFill>
                  <a:srgbClr val="1B1B20"/>
                </a:solidFill>
                <a:effectLst/>
                <a:uFillTx/>
                <a:latin typeface="Hanken Grotesk"/>
                <a:ea typeface="Hanken Grotesk"/>
              </a:rPr>
              <a:t>.plot() is built on Matplotlib under the hood — kind="bar"/"line"/"hist"/"scatter" covers most quick checks.</a:t>
            </a:r>
            <a:endParaRPr lang="en-US" sz="1200" b="0" u="none" strike="noStrike">
              <a:solidFill>
                <a:srgbClr val="000000"/>
              </a:solidFill>
              <a:effectLst/>
              <a:uFillTx/>
              <a:latin typeface="Arial"/>
            </a:endParaRPr>
          </a:p>
          <a:p>
            <a:pPr marL="228600" indent="-228600" defTabSz="914400">
              <a:lnSpc>
                <a:spcPct val="100000"/>
              </a:lnSpc>
              <a:spcAft>
                <a:spcPts val="1001"/>
              </a:spcAft>
              <a:buClr>
                <a:srgbClr val="1B1B20"/>
              </a:buClr>
              <a:buFont typeface="Symbol" charset="2"/>
              <a:buChar char=""/>
            </a:pPr>
            <a:r>
              <a:rPr lang="en-US" sz="1200" b="0" u="none" strike="noStrike">
                <a:solidFill>
                  <a:srgbClr val="1B1B20"/>
                </a:solidFill>
                <a:effectLst/>
                <a:uFillTx/>
                <a:latin typeface="Hanken Grotesk"/>
                <a:ea typeface="Hanken Grotesk"/>
              </a:rPr>
              <a:t>Great for a fast look while exploring; switch to Matplotlib or Seaborn directly once you want full control over styling.</a:t>
            </a:r>
            <a:endParaRPr lang="en-US" sz="1200" b="0" u="none" strike="noStrike">
              <a:solidFill>
                <a:srgbClr val="000000"/>
              </a:solidFill>
              <a:effectLst/>
              <a:uFillTx/>
              <a:latin typeface="Arial"/>
            </a:endParaRPr>
          </a:p>
        </p:txBody>
      </p:sp>
      <p:sp>
        <p:nvSpPr>
          <p:cNvPr id="1167"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68"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69"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170"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PANDAS + VISUALIZATION</a:t>
            </a:r>
            <a:endParaRPr lang="en-US" sz="1100" b="0" u="none" strike="noStrike">
              <a:solidFill>
                <a:srgbClr val="000000"/>
              </a:solidFill>
              <a:effectLst/>
              <a:uFillTx/>
              <a:latin typeface="Arial"/>
            </a:endParaRPr>
          </a:p>
        </p:txBody>
      </p:sp>
      <p:sp>
        <p:nvSpPr>
          <p:cNvPr id="1171"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Pandas + Visualization</a:t>
            </a:r>
            <a:endParaRPr lang="en-US" sz="2300" b="0" u="none" strike="noStrike">
              <a:solidFill>
                <a:srgbClr val="000000"/>
              </a:solidFill>
              <a:effectLst/>
              <a:uFillTx/>
              <a:latin typeface="Arial"/>
            </a:endParaRPr>
          </a:p>
        </p:txBody>
      </p:sp>
      <p:sp>
        <p:nvSpPr>
          <p:cNvPr id="1172"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173"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4"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5"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176"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Group any DataFrame and plot the result directly with .plot(kind="bar").</a:t>
            </a:r>
            <a:endParaRPr lang="en-US" sz="1300" b="0" u="none" strike="noStrike">
              <a:solidFill>
                <a:srgbClr val="000000"/>
              </a:solidFill>
              <a:effectLst/>
              <a:uFillTx/>
              <a:latin typeface="Arial"/>
            </a:endParaRPr>
          </a:p>
        </p:txBody>
      </p:sp>
      <p:sp>
        <p:nvSpPr>
          <p:cNvPr id="1177"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8"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9"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180"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Try kind="line" and kind="hist" on two different columns and compare.</a:t>
            </a:r>
            <a:endParaRPr lang="en-US" sz="1300" b="0" u="none" strike="noStrike">
              <a:solidFill>
                <a:srgbClr val="000000"/>
              </a:solidFill>
              <a:effectLst/>
              <a:uFillTx/>
              <a:latin typeface="Arial"/>
            </a:endParaRPr>
          </a:p>
        </p:txBody>
      </p:sp>
      <p:sp>
        <p:nvSpPr>
          <p:cNvPr id="1181"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2"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3"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184"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Customize a .plot() </a:t>
            </a:r>
            <a:r>
              <a:rPr lang="en-US" sz="1300" b="0" u="none" strike="noStrike">
                <a:solidFill>
                  <a:srgbClr val="1B1B20"/>
                </a:solidFill>
                <a:effectLst/>
                <a:uFillTx/>
                <a:latin typeface="Hanken Grotesk"/>
                <a:ea typeface="Hanken Grotesk"/>
              </a:rPr>
              <a:t>output using regular </a:t>
            </a:r>
            <a:r>
              <a:rPr lang="en-US" sz="1300" b="0" u="none" strike="noStrike">
                <a:solidFill>
                  <a:srgbClr val="1B1B20"/>
                </a:solidFill>
                <a:effectLst/>
                <a:uFillTx/>
                <a:latin typeface="Hanken Grotesk"/>
                <a:ea typeface="Hanken Grotesk"/>
              </a:rPr>
              <a:t>Matplotlib calls </a:t>
            </a:r>
            <a:r>
              <a:rPr lang="en-US" sz="1300" b="0" u="none" strike="noStrike">
                <a:solidFill>
                  <a:srgbClr val="1B1B20"/>
                </a:solidFill>
                <a:effectLst/>
                <a:uFillTx/>
                <a:latin typeface="Hanken Grotesk"/>
                <a:ea typeface="Hanken Grotesk"/>
              </a:rPr>
              <a:t>(plt.title(), plt.ylabel()) </a:t>
            </a:r>
            <a:r>
              <a:rPr lang="en-US" sz="1300" b="0" u="none" strike="noStrike">
                <a:solidFill>
                  <a:srgbClr val="1B1B20"/>
                </a:solidFill>
                <a:effectLst/>
                <a:uFillTx/>
                <a:latin typeface="Hanken Grotesk"/>
                <a:ea typeface="Hanken Grotesk"/>
              </a:rPr>
              <a:t>afterward.</a:t>
            </a:r>
            <a:endParaRPr lang="en-US" sz="1300" b="0" u="none" strike="noStrike">
              <a:solidFill>
                <a:srgbClr val="000000"/>
              </a:solidFill>
              <a:effectLst/>
              <a:uFillTx/>
              <a:latin typeface="Arial"/>
            </a:endParaRPr>
          </a:p>
        </p:txBody>
      </p:sp>
      <p:pic>
        <p:nvPicPr>
          <p:cNvPr id="118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186" name="Text 17"/>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a:t>
            </a:r>
            <a:r>
              <a:rPr lang="en-US" sz="900" b="0" u="none" strike="noStrike">
                <a:solidFill>
                  <a:srgbClr val="474651"/>
                </a:solidFill>
                <a:effectLst/>
                <a:uFillTx/>
                <a:latin typeface="Plus Jakarta Sans"/>
                <a:ea typeface="Plus Jakarta Sans"/>
              </a:rPr>
              <a:t>Playground  ·  Hafiz Waseem </a:t>
            </a:r>
            <a:r>
              <a:rPr lang="en-US" sz="900" b="0" u="none" strike="noStrike">
                <a:solidFill>
                  <a:srgbClr val="474651"/>
                </a:solidFill>
                <a:effectLst/>
                <a:uFillTx/>
                <a:latin typeface="Plus Jakarta Sans"/>
                <a:ea typeface="Plus Jakarta Sans"/>
              </a:rPr>
              <a:t>Ahmed (Paxto)</a:t>
            </a:r>
            <a:endParaRPr lang="en-US" sz="900" b="0" u="none" strike="noStrike">
              <a:solidFill>
                <a:srgbClr val="000000"/>
              </a:solidFill>
              <a:effectLst/>
              <a:uFillTx/>
              <a:latin typeface="Arial"/>
            </a:endParaRPr>
          </a:p>
        </p:txBody>
      </p:sp>
      <p:sp>
        <p:nvSpPr>
          <p:cNvPr id="1187" name="Text 1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188"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9"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190"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191"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13 · </a:t>
            </a:r>
            <a:r>
              <a:rPr lang="en-US" sz="1400" b="1" u="none" spc="300" strike="noStrike">
                <a:solidFill>
                  <a:srgbClr val="2DD4BF"/>
                </a:solidFill>
                <a:effectLst/>
                <a:uFillTx/>
                <a:latin typeface="Plus Jakarta Sans"/>
                <a:ea typeface="Plus Jakarta Sans"/>
              </a:rPr>
              <a:t>REAL-WORLD </a:t>
            </a:r>
            <a:r>
              <a:rPr lang="en-US" sz="1400" b="1" u="none" spc="300" strike="noStrike">
                <a:solidFill>
                  <a:srgbClr val="2DD4BF"/>
                </a:solidFill>
                <a:effectLst/>
                <a:uFillTx/>
                <a:latin typeface="Plus Jakarta Sans"/>
                <a:ea typeface="Plus Jakarta Sans"/>
              </a:rPr>
              <a:t>DATA</a:t>
            </a:r>
            <a:endParaRPr lang="en-US" sz="1400" b="0" u="none" strike="noStrike">
              <a:solidFill>
                <a:srgbClr val="FFFFFF"/>
              </a:solidFill>
              <a:effectLst/>
              <a:uFillTx/>
              <a:latin typeface="Arial"/>
            </a:endParaRPr>
          </a:p>
        </p:txBody>
      </p:sp>
      <p:sp>
        <p:nvSpPr>
          <p:cNvPr id="1192"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Pandas for Real-World Data</a:t>
            </a:r>
            <a:endParaRPr lang="en-US" sz="4000" b="0" u="none" strike="noStrike">
              <a:solidFill>
                <a:srgbClr val="FFFFFF"/>
              </a:solidFill>
              <a:effectLst/>
              <a:uFillTx/>
              <a:latin typeface="Arial"/>
            </a:endParaRPr>
          </a:p>
        </p:txBody>
      </p:sp>
      <p:sp>
        <p:nvSpPr>
          <p:cNvPr id="1193"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Putting the whole toolkit together on the titanic dataset — the same EDA workflow you'll run on every new dataset.</a:t>
            </a:r>
            <a:endParaRPr lang="en-US" sz="1500" b="0" u="none" strike="noStrike">
              <a:solidFill>
                <a:srgbClr val="FFFFFF"/>
              </a:solidFill>
              <a:effectLst/>
              <a:uFillTx/>
              <a:latin typeface="Arial"/>
            </a:endParaRPr>
          </a:p>
        </p:txBody>
      </p:sp>
      <p:sp>
        <p:nvSpPr>
          <p:cNvPr id="1194"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77</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95"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13 · REAL-WORLD DATA</a:t>
            </a:r>
            <a:endParaRPr lang="en-US" sz="1100" b="0" u="none" strike="noStrike">
              <a:solidFill>
                <a:srgbClr val="000000"/>
              </a:solidFill>
              <a:effectLst/>
              <a:uFillTx/>
              <a:latin typeface="Arial"/>
            </a:endParaRPr>
          </a:p>
        </p:txBody>
      </p:sp>
      <p:sp>
        <p:nvSpPr>
          <p:cNvPr id="1196"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Step 1 — Load </a:t>
            </a:r>
            <a:r>
              <a:rPr lang="en-US" sz="2600" b="1" u="none" spc="-31" strike="noStrike">
                <a:solidFill>
                  <a:srgbClr val="1B1B20"/>
                </a:solidFill>
                <a:effectLst/>
                <a:uFillTx/>
                <a:latin typeface="Bricolage Grotesque"/>
                <a:ea typeface="Bricolage Grotesque"/>
              </a:rPr>
              <a:t>&amp; Inspect</a:t>
            </a:r>
            <a:endParaRPr lang="en-US" sz="2600" b="0" u="none" strike="noStrike">
              <a:solidFill>
                <a:srgbClr val="000000"/>
              </a:solidFill>
              <a:effectLst/>
              <a:uFillTx/>
              <a:latin typeface="Arial"/>
            </a:endParaRPr>
          </a:p>
        </p:txBody>
      </p:sp>
      <p:pic>
        <p:nvPicPr>
          <p:cNvPr id="1197"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198"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99"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00"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01"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02"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03"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onsolas"/>
                <a:ea typeface="Consolas"/>
              </a:rPr>
              <a:t>titanic = sns.load_dataset("titanic")</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titanic.shape</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(891, 15)</a:t>
            </a:r>
            <a:endParaRPr lang="en-US" sz="1300" b="0" u="none" strike="noStrike">
              <a:solidFill>
                <a:srgbClr val="000000"/>
              </a:solidFill>
              <a:effectLst/>
              <a:uFillTx/>
              <a:latin typeface="Arial"/>
            </a:endParaRPr>
          </a:p>
          <a:p>
            <a:pPr defTabSz="914400">
              <a:lnSpc>
                <a:spcPct val="118000"/>
              </a:lnSpc>
              <a:tabLst>
                <a:tab pos="0" algn="l"/>
              </a:tabLst>
            </a:pP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titanic.info()</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titanic.isna().sum()</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age        177</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deck       688</a:t>
            </a:r>
            <a:endParaRPr lang="en-US" sz="130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F1F5F9"/>
                </a:solidFill>
                <a:effectLst/>
                <a:uFillTx/>
                <a:latin typeface="Consolas"/>
                <a:ea typeface="Consolas"/>
              </a:rPr>
              <a:t># embarked     2</a:t>
            </a:r>
            <a:endParaRPr lang="en-US" sz="1300" b="0" u="none" strike="noStrike">
              <a:solidFill>
                <a:srgbClr val="000000"/>
              </a:solidFill>
              <a:effectLst/>
              <a:uFillTx/>
              <a:latin typeface="Arial"/>
            </a:endParaRPr>
          </a:p>
        </p:txBody>
      </p:sp>
      <p:sp>
        <p:nvSpPr>
          <p:cNvPr id="1204"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Always start the same way: shape, info(), and isna().sum() — know what you have and what's missing before touching anything.</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age has real gaps worth handling; deck is missing so often it may not be usable at all.</a:t>
            </a:r>
            <a:endParaRPr lang="en-US" sz="1400" b="0" u="none" strike="noStrike">
              <a:solidFill>
                <a:srgbClr val="000000"/>
              </a:solidFill>
              <a:effectLst/>
              <a:uFillTx/>
              <a:latin typeface="Arial"/>
            </a:endParaRPr>
          </a:p>
        </p:txBody>
      </p:sp>
      <p:sp>
        <p:nvSpPr>
          <p:cNvPr id="1205"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0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13 · REAL-WORLD DATA</a:t>
            </a:r>
            <a:endParaRPr lang="en-US" sz="1100" b="0" u="none" strike="noStrike">
              <a:solidFill>
                <a:srgbClr val="000000"/>
              </a:solidFill>
              <a:effectLst/>
              <a:uFillTx/>
              <a:latin typeface="Arial"/>
            </a:endParaRPr>
          </a:p>
        </p:txBody>
      </p:sp>
      <p:sp>
        <p:nvSpPr>
          <p:cNvPr id="120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Step 2 — Clean the Missing Values</a:t>
            </a:r>
            <a:endParaRPr lang="en-US" sz="2600" b="0" u="none" strike="noStrike">
              <a:solidFill>
                <a:srgbClr val="000000"/>
              </a:solidFill>
              <a:effectLst/>
              <a:uFillTx/>
              <a:latin typeface="Arial"/>
            </a:endParaRPr>
          </a:p>
        </p:txBody>
      </p:sp>
      <p:pic>
        <p:nvPicPr>
          <p:cNvPr id="1208"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0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10" name="Shape 3"/>
          <p:cNvSpPr/>
          <p:nvPr/>
        </p:nvSpPr>
        <p:spPr>
          <a:xfrm>
            <a:off x="548640" y="1737360"/>
            <a:ext cx="5394600" cy="2742840"/>
          </a:xfrm>
          <a:prstGeom prst="roundRect">
            <a:avLst>
              <a:gd name="adj" fmla="val 40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11"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12"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13"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14" name="Text 7"/>
          <p:cNvSpPr/>
          <p:nvPr/>
        </p:nvSpPr>
        <p:spPr>
          <a:xfrm>
            <a:off x="749880" y="2121480"/>
            <a:ext cx="4992120" cy="221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titanic["age"] = titanic["age"].fillna(</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titanic["age"].median()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titanic.drop(columns=["deck"], inplace=True)</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titanic.dropna(subset=["embarked"], inplace=True)</a:t>
            </a:r>
            <a:endParaRPr lang="en-US" sz="1350" b="0" u="none" strike="noStrike">
              <a:solidFill>
                <a:srgbClr val="000000"/>
              </a:solidFill>
              <a:effectLst/>
              <a:uFillTx/>
              <a:latin typeface="Arial"/>
            </a:endParaRPr>
          </a:p>
        </p:txBody>
      </p:sp>
      <p:sp>
        <p:nvSpPr>
          <p:cNvPr id="1215"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216" name="Image 1" descr="/home/claude/pandas_deck/charts/titanic_fillna.png"/>
          <p:cNvPicPr/>
          <p:nvPr/>
        </p:nvPicPr>
        <p:blipFill>
          <a:blip r:embed="rId2"/>
          <a:stretch/>
        </p:blipFill>
        <p:spPr>
          <a:xfrm>
            <a:off x="6282000" y="1847160"/>
            <a:ext cx="5266440" cy="3638880"/>
          </a:xfrm>
          <a:prstGeom prst="rect">
            <a:avLst/>
          </a:prstGeom>
          <a:noFill/>
          <a:ln w="0">
            <a:noFill/>
          </a:ln>
        </p:spPr>
      </p:pic>
      <p:sp>
        <p:nvSpPr>
          <p:cNvPr id="1217"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age's distribution barely shifts after filling with the median.</a:t>
            </a:r>
            <a:endParaRPr lang="en-US" sz="950" b="0" u="none" strike="noStrike">
              <a:solidFill>
                <a:srgbClr val="000000"/>
              </a:solidFill>
              <a:effectLst/>
              <a:uFillTx/>
              <a:latin typeface="Arial"/>
            </a:endParaRPr>
          </a:p>
        </p:txBody>
      </p:sp>
      <p:sp>
        <p:nvSpPr>
          <p:cNvPr id="1218"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79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1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13 · REAL-WORLD DATA</a:t>
            </a:r>
            <a:endParaRPr lang="en-US" sz="1100" b="0" u="none" strike="noStrike">
              <a:solidFill>
                <a:srgbClr val="000000"/>
              </a:solidFill>
              <a:effectLst/>
              <a:uFillTx/>
              <a:latin typeface="Arial"/>
            </a:endParaRPr>
          </a:p>
        </p:txBody>
      </p:sp>
      <p:sp>
        <p:nvSpPr>
          <p:cNvPr id="122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Step 3 — Ask a Real Question with GroupBy</a:t>
            </a:r>
            <a:endParaRPr lang="en-US" sz="2600" b="0" u="none" strike="noStrike">
              <a:solidFill>
                <a:srgbClr val="000000"/>
              </a:solidFill>
              <a:effectLst/>
              <a:uFillTx/>
              <a:latin typeface="Arial"/>
            </a:endParaRPr>
          </a:p>
        </p:txBody>
      </p:sp>
      <p:pic>
        <p:nvPicPr>
          <p:cNvPr id="1221"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2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23" name="Shape 3"/>
          <p:cNvSpPr/>
          <p:nvPr/>
        </p:nvSpPr>
        <p:spPr>
          <a:xfrm>
            <a:off x="548640" y="1737360"/>
            <a:ext cx="5394600" cy="2377080"/>
          </a:xfrm>
          <a:prstGeom prst="roundRect">
            <a:avLst>
              <a:gd name="adj" fmla="val 4615"/>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24"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25"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26"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227" name="Text 7"/>
          <p:cNvSpPr/>
          <p:nvPr/>
        </p:nvSpPr>
        <p:spPr>
          <a:xfrm>
            <a:off x="749880" y="2121480"/>
            <a:ext cx="4992120" cy="18468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onsolas"/>
                <a:ea typeface="Consolas"/>
              </a:rPr>
              <a:t>survival_rate = titanic.groupby("pclass")["survived"].mean()</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print(survival_rate)</a:t>
            </a:r>
            <a:endParaRPr lang="en-US" sz="135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1    0.63</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2    0.47</a:t>
            </a:r>
            <a:endParaRPr lang="en-US" sz="1350" b="0" u="none" strike="noStrike">
              <a:solidFill>
                <a:srgbClr val="000000"/>
              </a:solidFill>
              <a:effectLst/>
              <a:uFillTx/>
              <a:latin typeface="Arial"/>
            </a:endParaRPr>
          </a:p>
          <a:p>
            <a:pPr defTabSz="914400">
              <a:lnSpc>
                <a:spcPct val="118000"/>
              </a:lnSpc>
              <a:tabLst>
                <a:tab pos="0" algn="l"/>
              </a:tabLst>
            </a:pPr>
            <a:r>
              <a:rPr lang="en-US" sz="1350" b="0" u="none" strike="noStrike">
                <a:solidFill>
                  <a:srgbClr val="F1F5F9"/>
                </a:solidFill>
                <a:effectLst/>
                <a:uFillTx/>
                <a:latin typeface="Consolas"/>
                <a:ea typeface="Consolas"/>
              </a:rPr>
              <a:t># 3    0.24</a:t>
            </a:r>
            <a:endParaRPr lang="en-US" sz="1350" b="0" u="none" strike="noStrike">
              <a:solidFill>
                <a:srgbClr val="000000"/>
              </a:solidFill>
              <a:effectLst/>
              <a:uFillTx/>
              <a:latin typeface="Arial"/>
            </a:endParaRPr>
          </a:p>
        </p:txBody>
      </p:sp>
      <p:sp>
        <p:nvSpPr>
          <p:cNvPr id="1228"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229" name="Image 1" descr="/home/claude/pandas_deck/charts/survival_by_class.png"/>
          <p:cNvPicPr/>
          <p:nvPr/>
        </p:nvPicPr>
        <p:blipFill>
          <a:blip r:embed="rId2"/>
          <a:stretch/>
        </p:blipFill>
        <p:spPr>
          <a:xfrm>
            <a:off x="6282000" y="1847160"/>
            <a:ext cx="5266440" cy="3803400"/>
          </a:xfrm>
          <a:prstGeom prst="rect">
            <a:avLst/>
          </a:prstGeom>
          <a:noFill/>
          <a:ln w="0">
            <a:noFill/>
          </a:ln>
        </p:spPr>
      </p:pic>
      <p:sp>
        <p:nvSpPr>
          <p:cNvPr id="1230" name="Text 9"/>
          <p:cNvSpPr/>
          <p:nvPr/>
        </p:nvSpPr>
        <p:spPr>
          <a:xfrm>
            <a:off x="548640" y="4297680"/>
            <a:ext cx="5394600" cy="1554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250" b="0" u="none" strike="noStrike">
                <a:solidFill>
                  <a:srgbClr val="1B1B20"/>
                </a:solidFill>
                <a:effectLst/>
                <a:uFillTx/>
                <a:latin typeface="Hanken Grotesk"/>
                <a:ea typeface="Hanken Grotesk"/>
              </a:rPr>
              <a:t>This single groupby().mean() answers a real historical question: 1st class passengers survived at more than double the rate of 3rd class.</a:t>
            </a:r>
            <a:endParaRPr lang="en-US" sz="1250" b="0" u="none" strike="noStrike">
              <a:solidFill>
                <a:srgbClr val="000000"/>
              </a:solidFill>
              <a:effectLst/>
              <a:uFillTx/>
              <a:latin typeface="Arial"/>
            </a:endParaRPr>
          </a:p>
        </p:txBody>
      </p:sp>
      <p:sp>
        <p:nvSpPr>
          <p:cNvPr id="1231"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32"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33"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234"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13 · REAL-WORLD DATA</a:t>
            </a:r>
            <a:endParaRPr lang="en-US" sz="1100" b="0" u="none" strike="noStrike">
              <a:solidFill>
                <a:srgbClr val="000000"/>
              </a:solidFill>
              <a:effectLst/>
              <a:uFillTx/>
              <a:latin typeface="Arial"/>
            </a:endParaRPr>
          </a:p>
        </p:txBody>
      </p:sp>
      <p:sp>
        <p:nvSpPr>
          <p:cNvPr id="1235"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Pandas for Real-World Data</a:t>
            </a:r>
            <a:endParaRPr lang="en-US" sz="2300" b="0" u="none" strike="noStrike">
              <a:solidFill>
                <a:srgbClr val="000000"/>
              </a:solidFill>
              <a:effectLst/>
              <a:uFillTx/>
              <a:latin typeface="Arial"/>
            </a:endParaRPr>
          </a:p>
        </p:txBody>
      </p:sp>
      <p:sp>
        <p:nvSpPr>
          <p:cNvPr id="1236"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237"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38"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39"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40"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Load the titanic </a:t>
            </a:r>
            <a:r>
              <a:rPr lang="en-US" sz="1300" b="0" u="none" strike="noStrike">
                <a:solidFill>
                  <a:srgbClr val="1B1B20"/>
                </a:solidFill>
                <a:effectLst/>
                <a:uFillTx/>
                <a:latin typeface="Hanken Grotesk"/>
                <a:ea typeface="Hanken Grotesk"/>
              </a:rPr>
              <a:t>dataset and run </a:t>
            </a:r>
            <a:r>
              <a:rPr lang="en-US" sz="1300" b="0" u="none" strike="noStrike">
                <a:solidFill>
                  <a:srgbClr val="1B1B20"/>
                </a:solidFill>
                <a:effectLst/>
                <a:uFillTx/>
                <a:latin typeface="Hanken Grotesk"/>
                <a:ea typeface="Hanken Grotesk"/>
              </a:rPr>
              <a:t>shape, info(), and </a:t>
            </a:r>
            <a:r>
              <a:rPr lang="en-US" sz="1300" b="0" u="none" strike="noStrike">
                <a:solidFill>
                  <a:srgbClr val="1B1B20"/>
                </a:solidFill>
                <a:effectLst/>
                <a:uFillTx/>
                <a:latin typeface="Hanken Grotesk"/>
                <a:ea typeface="Hanken Grotesk"/>
              </a:rPr>
              <a:t>isna().sum().</a:t>
            </a:r>
            <a:endParaRPr lang="en-US" sz="1300" b="0" u="none" strike="noStrike">
              <a:solidFill>
                <a:srgbClr val="000000"/>
              </a:solidFill>
              <a:effectLst/>
              <a:uFillTx/>
              <a:latin typeface="Arial"/>
            </a:endParaRPr>
          </a:p>
        </p:txBody>
      </p:sp>
      <p:sp>
        <p:nvSpPr>
          <p:cNvPr id="1241"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42"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43"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44"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Clean the age column's missing values with a sensible fill strategy.</a:t>
            </a:r>
            <a:endParaRPr lang="en-US" sz="1300" b="0" u="none" strike="noStrike">
              <a:solidFill>
                <a:srgbClr val="000000"/>
              </a:solidFill>
              <a:effectLst/>
              <a:uFillTx/>
              <a:latin typeface="Arial"/>
            </a:endParaRPr>
          </a:p>
        </p:txBody>
      </p:sp>
      <p:sp>
        <p:nvSpPr>
          <p:cNvPr id="1245"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46"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47"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48"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Group by sex and compute the survival rate — how does it compare to the class breakdown?</a:t>
            </a:r>
            <a:endParaRPr lang="en-US" sz="1300" b="0" u="none" strike="noStrike">
              <a:solidFill>
                <a:srgbClr val="000000"/>
              </a:solidFill>
              <a:effectLst/>
              <a:uFillTx/>
              <a:latin typeface="Arial"/>
            </a:endParaRPr>
          </a:p>
        </p:txBody>
      </p:sp>
      <p:sp>
        <p:nvSpPr>
          <p:cNvPr id="1249"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50"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51"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252"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Write 2-3 sentences summarizing what you learned about who was more likely to survive.</a:t>
            </a:r>
            <a:endParaRPr lang="en-US" sz="1300" b="0" u="none" strike="noStrike">
              <a:solidFill>
                <a:srgbClr val="000000"/>
              </a:solidFill>
              <a:effectLst/>
              <a:uFillTx/>
              <a:latin typeface="Arial"/>
            </a:endParaRPr>
          </a:p>
        </p:txBody>
      </p:sp>
      <p:pic>
        <p:nvPicPr>
          <p:cNvPr id="1253"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54"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55"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256"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57"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258" name="Image 0" descr="/home/claude/pandas_deck/assets/logo_icon.png"/>
          <p:cNvPicPr/>
          <p:nvPr/>
        </p:nvPicPr>
        <p:blipFill>
          <a:blip r:embed="rId1"/>
          <a:stretch/>
        </p:blipFill>
        <p:spPr>
          <a:xfrm>
            <a:off x="640080" y="548640"/>
            <a:ext cx="438480" cy="526320"/>
          </a:xfrm>
          <a:prstGeom prst="rect">
            <a:avLst/>
          </a:prstGeom>
          <a:noFill/>
          <a:ln w="0">
            <a:noFill/>
          </a:ln>
        </p:spPr>
      </p:pic>
      <p:sp>
        <p:nvSpPr>
          <p:cNvPr id="1259"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14 · MINI PROJECTS</a:t>
            </a:r>
            <a:endParaRPr lang="en-US" sz="1400" b="0" u="none" strike="noStrike">
              <a:solidFill>
                <a:srgbClr val="FFFFFF"/>
              </a:solidFill>
              <a:effectLst/>
              <a:uFillTx/>
              <a:latin typeface="Arial"/>
            </a:endParaRPr>
          </a:p>
        </p:txBody>
      </p:sp>
      <p:sp>
        <p:nvSpPr>
          <p:cNvPr id="1260"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Put It All Together</a:t>
            </a:r>
            <a:endParaRPr lang="en-US" sz="4000" b="0" u="none" strike="noStrike">
              <a:solidFill>
                <a:srgbClr val="FFFFFF"/>
              </a:solidFill>
              <a:effectLst/>
              <a:uFillTx/>
              <a:latin typeface="Arial"/>
            </a:endParaRPr>
          </a:p>
        </p:txBody>
      </p:sp>
      <p:sp>
        <p:nvSpPr>
          <p:cNvPr id="1261"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Three small projects combining everything from Foundations to Real-World Data — built end to end with Pandas.</a:t>
            </a:r>
            <a:endParaRPr lang="en-US" sz="1500" b="0" u="none" strike="noStrike">
              <a:solidFill>
                <a:srgbClr val="FFFFFF"/>
              </a:solidFill>
              <a:effectLst/>
              <a:uFillTx/>
              <a:latin typeface="Arial"/>
            </a:endParaRPr>
          </a:p>
        </p:txBody>
      </p:sp>
      <p:sp>
        <p:nvSpPr>
          <p:cNvPr id="1262"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82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6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14 · MINI PROJECTS</a:t>
            </a:r>
            <a:endParaRPr lang="en-US" sz="1100" b="0" u="none" strike="noStrike">
              <a:solidFill>
                <a:srgbClr val="000000"/>
              </a:solidFill>
              <a:effectLst/>
              <a:uFillTx/>
              <a:latin typeface="Arial"/>
            </a:endParaRPr>
          </a:p>
        </p:txBody>
      </p:sp>
      <p:sp>
        <p:nvSpPr>
          <p:cNvPr id="126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1: Class Grade Report</a:t>
            </a:r>
            <a:endParaRPr lang="en-US" sz="2600" b="0" u="none" strike="noStrike">
              <a:solidFill>
                <a:srgbClr val="000000"/>
              </a:solidFill>
              <a:effectLst/>
              <a:uFillTx/>
              <a:latin typeface="Arial"/>
            </a:endParaRPr>
          </a:p>
        </p:txBody>
      </p:sp>
      <p:pic>
        <p:nvPicPr>
          <p:cNvPr id="126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6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67"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68"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69"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1</a:t>
            </a:r>
            <a:endParaRPr lang="en-US" sz="4200" b="0" u="none" strike="noStrike">
              <a:solidFill>
                <a:srgbClr val="000000"/>
              </a:solidFill>
              <a:effectLst/>
              <a:uFillTx/>
              <a:latin typeface="Arial"/>
            </a:endParaRPr>
          </a:p>
        </p:txBody>
      </p:sp>
      <p:sp>
        <p:nvSpPr>
          <p:cNvPr id="1270"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Filtering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GroupBy + sorting</a:t>
            </a:r>
            <a:endParaRPr lang="en-US" sz="1300" b="0" u="none" strike="noStrike">
              <a:solidFill>
                <a:srgbClr val="000000"/>
              </a:solidFill>
              <a:effectLst/>
              <a:uFillTx/>
              <a:latin typeface="Arial"/>
            </a:endParaRPr>
          </a:p>
        </p:txBody>
      </p:sp>
      <p:sp>
        <p:nvSpPr>
          <p:cNvPr id="1271"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DataFrame of students with name, class, and scores across 3 subjects.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Filter to students passing every subject, using combined boolean conditions.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Group by class and compute the average score per class.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apply() with a lambda to add a letter-grade column, then sort by overall average and report the top 3.</a:t>
            </a:r>
            <a:endParaRPr lang="en-US" sz="1450" b="0" u="none" strike="noStrike">
              <a:solidFill>
                <a:srgbClr val="000000"/>
              </a:solidFill>
              <a:effectLst/>
              <a:uFillTx/>
              <a:latin typeface="Arial"/>
            </a:endParaRPr>
          </a:p>
        </p:txBody>
      </p:sp>
      <p:sp>
        <p:nvSpPr>
          <p:cNvPr id="1272"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7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14 · MINI PROJECTS</a:t>
            </a:r>
            <a:endParaRPr lang="en-US" sz="1100" b="0" u="none" strike="noStrike">
              <a:solidFill>
                <a:srgbClr val="000000"/>
              </a:solidFill>
              <a:effectLst/>
              <a:uFillTx/>
              <a:latin typeface="Arial"/>
            </a:endParaRPr>
          </a:p>
        </p:txBody>
      </p:sp>
      <p:sp>
        <p:nvSpPr>
          <p:cNvPr id="127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2: Sales Data Merge &amp; Clean</a:t>
            </a:r>
            <a:endParaRPr lang="en-US" sz="2600" b="0" u="none" strike="noStrike">
              <a:solidFill>
                <a:srgbClr val="000000"/>
              </a:solidFill>
              <a:effectLst/>
              <a:uFillTx/>
              <a:latin typeface="Arial"/>
            </a:endParaRPr>
          </a:p>
        </p:txBody>
      </p:sp>
      <p:pic>
        <p:nvPicPr>
          <p:cNvPr id="127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7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77"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78"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79"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2</a:t>
            </a:r>
            <a:endParaRPr lang="en-US" sz="4200" b="0" u="none" strike="noStrike">
              <a:solidFill>
                <a:srgbClr val="000000"/>
              </a:solidFill>
              <a:effectLst/>
              <a:uFillTx/>
              <a:latin typeface="Arial"/>
            </a:endParaRPr>
          </a:p>
        </p:txBody>
      </p:sp>
      <p:sp>
        <p:nvSpPr>
          <p:cNvPr id="1280"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Merge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Missing data cleanup</a:t>
            </a:r>
            <a:endParaRPr lang="en-US" sz="1300" b="0" u="none" strike="noStrike">
              <a:solidFill>
                <a:srgbClr val="000000"/>
              </a:solidFill>
              <a:effectLst/>
              <a:uFillTx/>
              <a:latin typeface="Arial"/>
            </a:endParaRPr>
          </a:p>
        </p:txBody>
      </p:sp>
      <p:sp>
        <p:nvSpPr>
          <p:cNvPr id="1281"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two small DataFrames: one with product info, one with monthly sales figures, sharing a product ID key.</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Merge them with how="left" and identify any products with no matching sales.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Fill missing sales with a fillna() dictionary (a different fill per column), and use dropna(thresh=...) to drop rows with too few real values.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Group the merged result by product category and report total sales per category.</a:t>
            </a:r>
            <a:endParaRPr lang="en-US" sz="1450" b="0" u="none" strike="noStrike">
              <a:solidFill>
                <a:srgbClr val="000000"/>
              </a:solidFill>
              <a:effectLst/>
              <a:uFillTx/>
              <a:latin typeface="Arial"/>
            </a:endParaRPr>
          </a:p>
        </p:txBody>
      </p:sp>
      <p:sp>
        <p:nvSpPr>
          <p:cNvPr id="1282"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8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14 · MINI PROJECTS</a:t>
            </a:r>
            <a:endParaRPr lang="en-US" sz="1100" b="0" u="none" strike="noStrike">
              <a:solidFill>
                <a:srgbClr val="000000"/>
              </a:solidFill>
              <a:effectLst/>
              <a:uFillTx/>
              <a:latin typeface="Arial"/>
            </a:endParaRPr>
          </a:p>
        </p:txBody>
      </p:sp>
      <p:sp>
        <p:nvSpPr>
          <p:cNvPr id="128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3: Titanic EDA Report</a:t>
            </a:r>
            <a:endParaRPr lang="en-US" sz="2600" b="0" u="none" strike="noStrike">
              <a:solidFill>
                <a:srgbClr val="000000"/>
              </a:solidFill>
              <a:effectLst/>
              <a:uFillTx/>
              <a:latin typeface="Arial"/>
            </a:endParaRPr>
          </a:p>
        </p:txBody>
      </p:sp>
      <p:pic>
        <p:nvPicPr>
          <p:cNvPr id="1285" name="Image 0" descr="/home/claude/pandas_deck/assets/logo_icon.png"/>
          <p:cNvPicPr/>
          <p:nvPr/>
        </p:nvPicPr>
        <p:blipFill>
          <a:blip r:embed="rId1"/>
          <a:stretch/>
        </p:blipFill>
        <p:spPr>
          <a:xfrm>
            <a:off x="11323080" y="320040"/>
            <a:ext cx="383760" cy="460440"/>
          </a:xfrm>
          <a:prstGeom prst="rect">
            <a:avLst/>
          </a:prstGeom>
          <a:noFill/>
          <a:ln w="0">
            <a:noFill/>
          </a:ln>
        </p:spPr>
      </p:pic>
      <p:sp>
        <p:nvSpPr>
          <p:cNvPr id="128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87"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88"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89"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3</a:t>
            </a:r>
            <a:endParaRPr lang="en-US" sz="4200" b="0" u="none" strike="noStrike">
              <a:solidFill>
                <a:srgbClr val="000000"/>
              </a:solidFill>
              <a:effectLst/>
              <a:uFillTx/>
              <a:latin typeface="Arial"/>
            </a:endParaRPr>
          </a:p>
        </p:txBody>
      </p:sp>
      <p:sp>
        <p:nvSpPr>
          <p:cNvPr id="1290"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Real-world EDA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GroupBy + visualization</a:t>
            </a:r>
            <a:endParaRPr lang="en-US" sz="1300" b="0" u="none" strike="noStrike">
              <a:solidFill>
                <a:srgbClr val="000000"/>
              </a:solidFill>
              <a:effectLst/>
              <a:uFillTx/>
              <a:latin typeface="Arial"/>
            </a:endParaRPr>
          </a:p>
        </p:txBody>
      </p:sp>
      <p:sp>
        <p:nvSpPr>
          <p:cNvPr id="1291"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Load the titanic dataset and run the standard inspect to clean workflow (Part 13).</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Compute survival rate grouped by sex, and separately by pclass.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Plot one of your grouped results directly with .plot(kind="bar").</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Write a short summary (3-4 sentences) of the strongest pattern you found in who survived.</a:t>
            </a:r>
            <a:endParaRPr lang="en-US" sz="1450" b="0" u="none" strike="noStrike">
              <a:solidFill>
                <a:srgbClr val="000000"/>
              </a:solidFill>
              <a:effectLst/>
              <a:uFillTx/>
              <a:latin typeface="Arial"/>
            </a:endParaRPr>
          </a:p>
        </p:txBody>
      </p:sp>
      <p:sp>
        <p:nvSpPr>
          <p:cNvPr id="1292"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293" name="Shape 0"/>
          <p:cNvSpPr/>
          <p:nvPr/>
        </p:nvSpPr>
        <p:spPr>
          <a:xfrm>
            <a:off x="-1828800" y="-2103120"/>
            <a:ext cx="4754520" cy="47545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94" name="Shape 1"/>
          <p:cNvSpPr/>
          <p:nvPr/>
        </p:nvSpPr>
        <p:spPr>
          <a:xfrm>
            <a:off x="9326880" y="4206240"/>
            <a:ext cx="4205880" cy="4205880"/>
          </a:xfrm>
          <a:prstGeom prst="ellipse">
            <a:avLst/>
          </a:prstGeom>
          <a:solidFill>
            <a:srgbClr val="11362E">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95" name="Shape 2"/>
          <p:cNvSpPr/>
          <p:nvPr/>
        </p:nvSpPr>
        <p:spPr>
          <a:xfrm>
            <a:off x="4907160" y="1051560"/>
            <a:ext cx="2377080" cy="54360"/>
          </a:xfrm>
          <a:prstGeom prst="roundRect">
            <a:avLst>
              <a:gd name="adj" fmla="val 50000"/>
            </a:avLst>
          </a:prstGeom>
          <a:solidFill>
            <a:srgbClr val="818CF8"/>
          </a:solidFill>
          <a:ln w="0">
            <a:noFill/>
          </a:ln>
        </p:spPr>
        <p:style>
          <a:lnRef idx="0"/>
          <a:fillRef idx="0"/>
          <a:effectRef idx="0"/>
          <a:fontRef idx="minor"/>
        </p:style>
        <p:txBody>
          <a:bodyPr lIns="90000" tIns="-6480" rIns="90000" bIns="-6480" anchor="t">
            <a:noAutofit/>
          </a:bodyPr>
          <a:p>
            <a:endParaRPr lang="en-US" sz="1800" b="0" u="none" strike="noStrike">
              <a:solidFill>
                <a:schemeClr val="dk1"/>
              </a:solidFill>
              <a:effectLst/>
              <a:uFillTx/>
              <a:latin typeface="Calibri"/>
            </a:endParaRPr>
          </a:p>
        </p:txBody>
      </p:sp>
      <p:sp>
        <p:nvSpPr>
          <p:cNvPr id="1296" name="Text 3"/>
          <p:cNvSpPr/>
          <p:nvPr/>
        </p:nvSpPr>
        <p:spPr>
          <a:xfrm>
            <a:off x="0" y="1234440"/>
            <a:ext cx="12191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pc="300" strike="noStrike">
                <a:solidFill>
                  <a:srgbClr val="2DD4BF"/>
                </a:solidFill>
                <a:effectLst/>
                <a:uFillTx/>
                <a:latin typeface="Plus Jakarta Sans"/>
                <a:ea typeface="Plus Jakarta Sans"/>
              </a:rPr>
              <a:t>MODULE RECAP</a:t>
            </a:r>
            <a:endParaRPr lang="en-US" sz="1200" b="0" u="none" strike="noStrike">
              <a:solidFill>
                <a:srgbClr val="FFFFFF"/>
              </a:solidFill>
              <a:effectLst/>
              <a:uFillTx/>
              <a:latin typeface="Arial"/>
            </a:endParaRPr>
          </a:p>
        </p:txBody>
      </p:sp>
      <p:sp>
        <p:nvSpPr>
          <p:cNvPr id="1297" name="Text 4"/>
          <p:cNvSpPr/>
          <p:nvPr/>
        </p:nvSpPr>
        <p:spPr>
          <a:xfrm>
            <a:off x="1249560" y="1920240"/>
            <a:ext cx="9692280" cy="2377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5000"/>
              </a:lnSpc>
              <a:tabLst>
                <a:tab pos="0" algn="l"/>
              </a:tabLst>
            </a:pPr>
            <a:r>
              <a:rPr lang="en-US" sz="2700" b="1" u="none" strike="noStrike">
                <a:solidFill>
                  <a:srgbClr val="F1F5F9"/>
                </a:solidFill>
                <a:effectLst/>
                <a:uFillTx/>
                <a:latin typeface="Bricolage Grotesque"/>
                <a:ea typeface="Bricolage Grotesque"/>
              </a:rPr>
              <a:t>Every DataFrame you filtered, grouped, and merged today is the exact same structure you'll load, clean, and hand off to Matplotlib, Seaborn, and every model in this course. Selecting, GroupBy, and merge aren't just Pandas skills — they're the daily grammar of Data Analytics.</a:t>
            </a:r>
            <a:endParaRPr lang="en-US" sz="2700" b="0" u="none" strike="noStrike">
              <a:solidFill>
                <a:srgbClr val="FFFFFF"/>
              </a:solidFill>
              <a:effectLst/>
              <a:uFillTx/>
              <a:latin typeface="Arial"/>
            </a:endParaRPr>
          </a:p>
        </p:txBody>
      </p:sp>
      <p:sp>
        <p:nvSpPr>
          <p:cNvPr id="1298" name="Text 5"/>
          <p:cNvSpPr/>
          <p:nvPr/>
        </p:nvSpPr>
        <p:spPr>
          <a:xfrm>
            <a:off x="0" y="4526280"/>
            <a:ext cx="121914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0" i="1" u="none" strike="noStrike">
                <a:solidFill>
                  <a:srgbClr val="94A3B8"/>
                </a:solidFill>
                <a:effectLst/>
                <a:uFillTx/>
                <a:latin typeface="Hanken Grotesk"/>
                <a:ea typeface="Hanken Grotesk"/>
              </a:rPr>
              <a:t>Next up: Matplotlib — turning the clean DataFrames you just built into pictures you can actually reason about.</a:t>
            </a:r>
            <a:endParaRPr lang="en-US" sz="1400" b="0" u="none" strike="noStrike">
              <a:solidFill>
                <a:srgbClr val="FFFFFF"/>
              </a:solidFill>
              <a:effectLst/>
              <a:uFillTx/>
              <a:latin typeface="Arial"/>
            </a:endParaRPr>
          </a:p>
        </p:txBody>
      </p:sp>
      <p:sp>
        <p:nvSpPr>
          <p:cNvPr id="1299" name="Text 6"/>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86</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300" name="Shape 0"/>
          <p:cNvSpPr/>
          <p:nvPr/>
        </p:nvSpPr>
        <p:spPr>
          <a:xfrm>
            <a:off x="-1828800" y="-1828800"/>
            <a:ext cx="4571640" cy="457164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01" name="Shape 1"/>
          <p:cNvSpPr/>
          <p:nvPr/>
        </p:nvSpPr>
        <p:spPr>
          <a:xfrm>
            <a:off x="9601200" y="4114800"/>
            <a:ext cx="4114440" cy="4114440"/>
          </a:xfrm>
          <a:prstGeom prst="ellipse">
            <a:avLst/>
          </a:prstGeom>
          <a:solidFill>
            <a:srgbClr val="4C112D">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02" name="Shape 2"/>
          <p:cNvSpPr/>
          <p:nvPr/>
        </p:nvSpPr>
        <p:spPr>
          <a:xfrm>
            <a:off x="4495680" y="2167200"/>
            <a:ext cx="3200040" cy="1188360"/>
          </a:xfrm>
          <a:prstGeom prst="roundRect">
            <a:avLst>
              <a:gd name="adj" fmla="val 9231"/>
            </a:avLst>
          </a:prstGeom>
          <a:solidFill>
            <a:srgbClr val="FFFFFF"/>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303" name="Image 0" descr="/home/claude/pandas_deck/assets/logo_full.png"/>
          <p:cNvPicPr/>
          <p:nvPr/>
        </p:nvPicPr>
        <p:blipFill>
          <a:blip r:embed="rId1"/>
          <a:stretch/>
        </p:blipFill>
        <p:spPr>
          <a:xfrm>
            <a:off x="4632840" y="2286000"/>
            <a:ext cx="2925720" cy="950760"/>
          </a:xfrm>
          <a:prstGeom prst="rect">
            <a:avLst/>
          </a:prstGeom>
          <a:noFill/>
          <a:ln w="0">
            <a:noFill/>
          </a:ln>
        </p:spPr>
      </p:pic>
      <p:sp>
        <p:nvSpPr>
          <p:cNvPr id="1304" name="Text 3"/>
          <p:cNvSpPr/>
          <p:nvPr/>
        </p:nvSpPr>
        <p:spPr>
          <a:xfrm>
            <a:off x="0" y="3429000"/>
            <a:ext cx="1219140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3600" b="1" u="none" strike="noStrike">
                <a:solidFill>
                  <a:srgbClr val="F1F5F9"/>
                </a:solidFill>
                <a:effectLst/>
                <a:uFillTx/>
                <a:latin typeface="Bricolage Grotesque"/>
                <a:ea typeface="Bricolage Grotesque"/>
              </a:rPr>
              <a:t>Thank You</a:t>
            </a:r>
            <a:endParaRPr lang="en-US" sz="3600" b="0" u="none" strike="noStrike">
              <a:solidFill>
                <a:srgbClr val="FFFFFF"/>
              </a:solidFill>
              <a:effectLst/>
              <a:uFillTx/>
              <a:latin typeface="Arial"/>
            </a:endParaRPr>
          </a:p>
        </p:txBody>
      </p:sp>
      <p:sp>
        <p:nvSpPr>
          <p:cNvPr id="1305" name="Text 4"/>
          <p:cNvSpPr/>
          <p:nvPr/>
        </p:nvSpPr>
        <p:spPr>
          <a:xfrm>
            <a:off x="0" y="4160520"/>
            <a:ext cx="121914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94A3B8"/>
                </a:solidFill>
                <a:effectLst/>
                <a:uFillTx/>
                <a:latin typeface="Plus Jakarta Sans"/>
                <a:ea typeface="Plus Jakarta Sans"/>
              </a:rPr>
              <a:t>Pandas · AI &amp; ML Playground · CodeByPaxto</a:t>
            </a:r>
            <a:endParaRPr lang="en-US" sz="1300" b="0" u="none" strike="noStrike">
              <a:solidFill>
                <a:srgbClr val="FFFFFF"/>
              </a:solidFill>
              <a:effectLst/>
              <a:uFillTx/>
              <a:latin typeface="Arial"/>
            </a:endParaRPr>
          </a:p>
        </p:txBody>
      </p:sp>
      <p:sp>
        <p:nvSpPr>
          <p:cNvPr id="130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87</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2026-09-26T09:00:49Z</dcterms:created>
  <dc:creator>PptxGenJS</dc:creator>
  <dc:description/>
  <dc:language>en-US</dc:language>
  <cp:lastModifiedBy/>
  <dcterms:modified xsi:type="dcterms:W3CDTF">2026-10-03T10:41:07Z</dcterms:modified>
  <cp:revision>7</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69</vt:i4>
  </property>
  <property fmtid="{D5CDD505-2E9C-101B-9397-08002B2CF9AE}" pid="3" name="PresentationFormat">
    <vt:lpwstr>On-screen Show (16:9)</vt:lpwstr>
  </property>
  <property fmtid="{D5CDD505-2E9C-101B-9397-08002B2CF9AE}" pid="4" name="Slides">
    <vt:i4>69</vt:i4>
  </property>
</Properties>
</file>