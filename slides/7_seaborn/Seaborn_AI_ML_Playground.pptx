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42.xml" ContentType="application/vnd.openxmlformats-officedocument.presentationml.slide+xml"/>
  <Override PartName="/ppt/slides/slide17.xml" ContentType="application/vnd.openxmlformats-officedocument.presentationml.slide+xml"/>
  <Override PartName="/ppt/slides/slide40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66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65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61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70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29.xml" ContentType="application/vnd.openxmlformats-officedocument.presentationml.slide+xml"/>
  <Override PartName="/ppt/slides/slide10.xml" ContentType="application/vnd.openxmlformats-officedocument.presentationml.slide+xml"/>
  <Override PartName="/ppt/slides/slide71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6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0.xml" ContentType="application/vnd.openxmlformats-officedocument.presentationml.slide+xml"/>
  <Override PartName="/ppt/slides/slide57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6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0D2063B-E32E-4129-AEDE-AB1E0A2B2D7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2D6928-16D3-46E5-97B8-CE0E0DB510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97AFD4-CD56-425B-A0CF-9AEA90433D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7B5077-54FD-4D9C-8F76-FFA05090DA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6E0686-12F2-46C0-809D-72546D7974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F463567-EDB2-4FFB-8EED-CA8211F9C8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2FEE44-2187-4AFB-9AB6-5630FC2240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424440A-BB5B-49CC-8E99-974B0D291F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EC7946-88BF-4A28-BEFC-D68B9B514D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FF331E-4F42-4963-878E-A4C86AC195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70CFBA-DA4B-45F4-93FF-9B1F1F7038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7FF7F7-072D-4CB8-9154-229C6B786C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B42EF4-1E21-4ECA-8004-E29A0EDE30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AD97EFF-53D5-400C-9821-AD16F0A1C6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EE3E56-6663-4B74-9FBA-6CBB15680F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D912B4-73AA-472E-9E29-48AD04D7CC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D8C379-B564-4A41-AB05-556BD6FE7F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15E29C-AE8C-4D46-A32D-9E25D221BD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193017-A152-436B-ADBA-63DCA79033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0418DF-78AD-49C8-88B4-DBCE5570BA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E5627E-3A3C-4026-AFC3-465C575A49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902853-4804-48BE-9234-0ED8EAAD15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7B830D-BBF1-40CC-B950-BF3BAACC8B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564CAE-26C1-42EB-91CF-DB039A6B16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337AA2-B2BC-421A-8678-88018984BE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E9CEDF-4CB5-4CC2-BDF1-2882D26675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4BE5F0-141B-497A-9B65-C24C5DF4CA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63B752-B546-4B64-AEA8-0FAF3D7D3BF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C3DE5A-8F6C-4E74-B1E1-E9EE061930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6C5647-A4D5-4B26-84C8-2E5323153E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927A52-57B9-444E-AC3D-81C66E30FF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34C5F9-D3D5-49C6-95FF-3CA985E8F7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A0FD07-6484-45D4-84A2-43FDB77660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A8687E-7BE7-4720-A5C3-0F395401A0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F0B43C-F972-4099-9B01-3BC25D8B76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1C3170-94CC-4800-98B7-21AEEE23CC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D54447-1347-48FD-B37E-303E8E6858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5B7FDB-292C-4025-B53B-2D2B74549E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1F44C6-933B-4C53-9E4C-5A59CB63B8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CB1678-5F92-4744-803D-F214B03CC6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5B001B-E9D4-4E61-B35B-59F94005B9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6839AE-CC3F-4EBB-BBE5-35A7267B88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2E5CAC-BA7C-43B5-B775-DC9E6356FB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290CE9-0055-45C6-9D8A-ED83B9EF7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3B4B88-E650-4CAF-B35C-F39B1C1E5A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674BAC-C8E8-4499-BBF7-F96ACB9378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BBBCCA-1068-40A2-9133-13F610BE3F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72358E-A94B-4B0C-854B-D63253379E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4AC49D-A9EC-4F42-9B1F-B6553F9951B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CE9193-DBDD-4C7C-B822-2D38A35626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5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C19897-FD0A-4866-BD7A-19E73434D4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6D710C-655F-4FC4-9FA7-A033792E2E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216182-3CFB-49CF-934E-5073CB8916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D6DBD1-98B3-4F61-B965-A50F5A0060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7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12E770-8F9A-43CE-AD28-EDA1B2B5AD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3E792B-F224-48CD-BB1D-D805EA9E28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1219D3-F4E2-45FA-9AC1-D04C0B6431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B276DB-D47E-4B44-8323-A4B5DEAFC5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5F7D8B-D036-4C48-853D-1698EF66E3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F82E84-B168-4874-9794-299BCBA674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BBFF9A-D83F-4DD3-AD62-2B6D0C2DB41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F3F012-151F-405D-B818-BF47A56194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29AB84-B499-4D6D-821C-C256C72119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4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AF70BD-E0C1-4BE4-9296-D6DCAC495B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7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95061F-07E7-425C-9D02-893D170BD5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A68317-67BF-4466-BD5B-8B0ABD1B38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3DE4D3-1FCA-4F3E-AF51-9DE600A3EA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2F1353-BF05-4610-A261-5239741E81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703D8C-7C4D-472A-A0A6-523F035EB7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6952CA-C284-474D-A642-78962081E1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5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EB28F4-6B52-4BA0-B828-FEAA1A7CEF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2E71CA-3D29-4E09-82BA-8C67E73973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8778240" y="-2194560"/>
            <a:ext cx="5485680" cy="548568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2011680" y="4206240"/>
            <a:ext cx="4205520" cy="420552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943600" y="5212080"/>
            <a:ext cx="1462320" cy="1462320"/>
          </a:xfrm>
          <a:prstGeom prst="ellipse">
            <a:avLst/>
          </a:prstGeom>
          <a:solidFill>
            <a:srgbClr val="4C112D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4"/>
          <p:cNvSpPr/>
          <p:nvPr/>
        </p:nvSpPr>
        <p:spPr>
          <a:xfrm>
            <a:off x="713160" y="2331720"/>
            <a:ext cx="4022640" cy="291960"/>
          </a:xfrm>
          <a:prstGeom prst="roundRect">
            <a:avLst>
              <a:gd name="adj" fmla="val 50000"/>
            </a:avLst>
          </a:prstGeom>
          <a:solidFill>
            <a:srgbClr val="26275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713160" y="2331720"/>
            <a:ext cx="4022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0E7FF"/>
                </a:solidFill>
                <a:effectLst/>
                <a:uFillTx/>
                <a:latin typeface="Plus Jakarta Sans"/>
                <a:ea typeface="Plus Jakarta Sans"/>
              </a:rPr>
              <a:t>AI &amp; ML PLAYGROUND  ·  MODULE 07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658440" y="2788920"/>
            <a:ext cx="96004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pc="-99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Seaborn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713160" y="4160520"/>
            <a:ext cx="80460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Statistical visualization, built on Matplotlib — the fast path from a DataFrame to real insight.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8"/>
          <p:cNvSpPr/>
          <p:nvPr/>
        </p:nvSpPr>
        <p:spPr>
          <a:xfrm>
            <a:off x="713160" y="5074920"/>
            <a:ext cx="2926080" cy="360"/>
          </a:xfrm>
          <a:prstGeom prst="line">
            <a:avLst/>
          </a:prstGeom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9"/>
          <p:cNvSpPr/>
          <p:nvPr/>
        </p:nvSpPr>
        <p:spPr>
          <a:xfrm>
            <a:off x="713160" y="5166360"/>
            <a:ext cx="4571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b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y 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C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o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d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e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B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y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a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xt</a:t>
            </a:r>
            <a:r>
              <a:rPr lang="en-US" sz="1300" b="1" u="none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" name=""/>
          <p:cNvPicPr/>
          <p:nvPr/>
        </p:nvPicPr>
        <p:blipFill>
          <a:blip r:embed="rId1"/>
          <a:stretch/>
        </p:blipFill>
        <p:spPr>
          <a:xfrm>
            <a:off x="691560" y="406800"/>
            <a:ext cx="3385080" cy="112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02920"/>
            <a:ext cx="401760" cy="48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0"/>
          <p:cNvSpPr/>
          <p:nvPr/>
        </p:nvSpPr>
        <p:spPr>
          <a:xfrm>
            <a:off x="640080" y="1188720"/>
            <a:ext cx="54856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WHERE THIS FITS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"/>
          <p:cNvSpPr/>
          <p:nvPr/>
        </p:nvSpPr>
        <p:spPr>
          <a:xfrm>
            <a:off x="640080" y="1536120"/>
            <a:ext cx="10057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The 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AI &amp; 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ML 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Play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gro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und 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Roa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dm</a:t>
            </a:r>
            <a:r>
              <a:rPr lang="en-US" sz="30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ap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2"/>
          <p:cNvSpPr/>
          <p:nvPr/>
        </p:nvSpPr>
        <p:spPr>
          <a:xfrm>
            <a:off x="64008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68580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Python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173520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5"/>
          <p:cNvSpPr/>
          <p:nvPr/>
        </p:nvSpPr>
        <p:spPr>
          <a:xfrm>
            <a:off x="186336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190908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Math for DS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295848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308664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9"/>
          <p:cNvSpPr/>
          <p:nvPr/>
        </p:nvSpPr>
        <p:spPr>
          <a:xfrm>
            <a:off x="313236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Git &amp; GitHub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0"/>
          <p:cNvSpPr/>
          <p:nvPr/>
        </p:nvSpPr>
        <p:spPr>
          <a:xfrm>
            <a:off x="418176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1"/>
          <p:cNvSpPr/>
          <p:nvPr/>
        </p:nvSpPr>
        <p:spPr>
          <a:xfrm>
            <a:off x="430992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2"/>
          <p:cNvSpPr/>
          <p:nvPr/>
        </p:nvSpPr>
        <p:spPr>
          <a:xfrm>
            <a:off x="435564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NumPy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3"/>
          <p:cNvSpPr/>
          <p:nvPr/>
        </p:nvSpPr>
        <p:spPr>
          <a:xfrm>
            <a:off x="540504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4"/>
          <p:cNvSpPr/>
          <p:nvPr/>
        </p:nvSpPr>
        <p:spPr>
          <a:xfrm>
            <a:off x="553320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5"/>
          <p:cNvSpPr/>
          <p:nvPr/>
        </p:nvSpPr>
        <p:spPr>
          <a:xfrm>
            <a:off x="557892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Pandas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6"/>
          <p:cNvSpPr/>
          <p:nvPr/>
        </p:nvSpPr>
        <p:spPr>
          <a:xfrm>
            <a:off x="662832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7"/>
          <p:cNvSpPr/>
          <p:nvPr/>
        </p:nvSpPr>
        <p:spPr>
          <a:xfrm>
            <a:off x="675648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8"/>
          <p:cNvSpPr/>
          <p:nvPr/>
        </p:nvSpPr>
        <p:spPr>
          <a:xfrm>
            <a:off x="680220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Matplotlib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9"/>
          <p:cNvSpPr/>
          <p:nvPr/>
        </p:nvSpPr>
        <p:spPr>
          <a:xfrm>
            <a:off x="785160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0"/>
          <p:cNvSpPr/>
          <p:nvPr/>
        </p:nvSpPr>
        <p:spPr>
          <a:xfrm>
            <a:off x="797976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818C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1"/>
          <p:cNvSpPr/>
          <p:nvPr/>
        </p:nvSpPr>
        <p:spPr>
          <a:xfrm>
            <a:off x="802548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B0F17"/>
                </a:solidFill>
                <a:effectLst/>
                <a:uFillTx/>
                <a:latin typeface="Plus Jakarta Sans"/>
                <a:ea typeface="Plus Jakarta Sans"/>
              </a:rPr>
              <a:t>Seaborn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2"/>
          <p:cNvSpPr/>
          <p:nvPr/>
        </p:nvSpPr>
        <p:spPr>
          <a:xfrm>
            <a:off x="907488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3"/>
          <p:cNvSpPr/>
          <p:nvPr/>
        </p:nvSpPr>
        <p:spPr>
          <a:xfrm>
            <a:off x="920304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4"/>
          <p:cNvSpPr/>
          <p:nvPr/>
        </p:nvSpPr>
        <p:spPr>
          <a:xfrm>
            <a:off x="924876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Data Analytics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5"/>
          <p:cNvSpPr/>
          <p:nvPr/>
        </p:nvSpPr>
        <p:spPr>
          <a:xfrm>
            <a:off x="10298160" y="3977640"/>
            <a:ext cx="173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760" tIns="45000" rIns="8676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→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6"/>
          <p:cNvSpPr/>
          <p:nvPr/>
        </p:nvSpPr>
        <p:spPr>
          <a:xfrm>
            <a:off x="10426320" y="3977640"/>
            <a:ext cx="1094400" cy="867960"/>
          </a:xfrm>
          <a:prstGeom prst="roundRect">
            <a:avLst>
              <a:gd name="adj" fmla="val 8421"/>
            </a:avLst>
          </a:prstGeom>
          <a:solidFill>
            <a:srgbClr val="162032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7"/>
          <p:cNvSpPr/>
          <p:nvPr/>
        </p:nvSpPr>
        <p:spPr>
          <a:xfrm>
            <a:off x="10472040" y="3977640"/>
            <a:ext cx="10029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Supervised ML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8"/>
          <p:cNvSpPr/>
          <p:nvPr/>
        </p:nvSpPr>
        <p:spPr>
          <a:xfrm>
            <a:off x="640080" y="5212080"/>
            <a:ext cx="102405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You are here — Matplotlib gave you full control over drawing charts by hand. Seaborn builds on that same engine and adds statistical intelligence and DataFrame-native syntax, so the EDA work in Data Analytics goes faster.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BEFORE WE START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If Matplotlib Exists, Why Seaborn?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548640" y="1691640"/>
            <a:ext cx="5211360" cy="40226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777240" y="1892880"/>
            <a:ext cx="1828080" cy="29196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777240" y="1892880"/>
            <a:ext cx="1828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2019"/>
                </a:solidFill>
                <a:effectLst/>
                <a:uFillTx/>
                <a:latin typeface="Plus Jakarta Sans"/>
                <a:ea typeface="Plus Jakarta Sans"/>
              </a:rPr>
              <a:t>MATPLOTLIB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777240" y="2377440"/>
            <a:ext cx="475416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The engine — can draw anything, but you specify almost everything by hand.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Statistics (regression lines, confidence intervals, density curves) must be computed yourself.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Works with plain arrays and lists.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7"/>
          <p:cNvSpPr/>
          <p:nvPr/>
        </p:nvSpPr>
        <p:spPr>
          <a:xfrm>
            <a:off x="6217920" y="1691640"/>
            <a:ext cx="5211360" cy="4022640"/>
          </a:xfrm>
          <a:prstGeom prst="roundRect">
            <a:avLst>
              <a:gd name="adj" fmla="val 2727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8"/>
          <p:cNvSpPr/>
          <p:nvPr/>
        </p:nvSpPr>
        <p:spPr>
          <a:xfrm>
            <a:off x="6446520" y="1892880"/>
            <a:ext cx="1462320" cy="291960"/>
          </a:xfrm>
          <a:prstGeom prst="roundRect">
            <a:avLst>
              <a:gd name="adj" fmla="val 50000"/>
            </a:avLst>
          </a:prstGeom>
          <a:solidFill>
            <a:srgbClr val="26275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6446520" y="1892880"/>
            <a:ext cx="14623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0E7FF"/>
                </a:solidFill>
                <a:effectLst/>
                <a:uFillTx/>
                <a:latin typeface="Plus Jakarta Sans"/>
                <a:ea typeface="Plus Jakarta Sans"/>
              </a:rPr>
              <a:t>SEABORN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0"/>
          <p:cNvSpPr/>
          <p:nvPr/>
        </p:nvSpPr>
        <p:spPr>
          <a:xfrm>
            <a:off x="6446520" y="2377440"/>
            <a:ext cx="4754160" cy="31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231F71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Built directly on top of Matplotlib — every Seaborn chart is secretly a Matplotlib Figure underneath.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231F71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Computes statistics automatically — regression lines, confidence bands, KDE curves, one function call.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231F71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Reads a Pandas DataFrame directly — pass column names (x=, y=, hue=) instead of slicing arrays by hand.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1"/>
          <p:cNvSpPr/>
          <p:nvPr/>
        </p:nvSpPr>
        <p:spPr>
          <a:xfrm>
            <a:off x="548640" y="5897880"/>
            <a:ext cx="11109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The honest framing: Matplotlib is the foundation and the fine-tuning tool. Seaborn is the fast path for statistical, exploratory work — exactly what you'll do constantly in Data Analytics.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WHAT WE'RE COVERING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Today's Roadmap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"/>
          <p:cNvSpPr/>
          <p:nvPr/>
        </p:nvSpPr>
        <p:spPr>
          <a:xfrm>
            <a:off x="548640" y="173736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4"/>
          <p:cNvSpPr/>
          <p:nvPr/>
        </p:nvSpPr>
        <p:spPr>
          <a:xfrm>
            <a:off x="685800" y="186552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85800" y="237744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Foundations &amp; Terminology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2797920" y="173736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7"/>
          <p:cNvSpPr/>
          <p:nvPr/>
        </p:nvSpPr>
        <p:spPr>
          <a:xfrm>
            <a:off x="2935080" y="186552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"/>
          <p:cNvSpPr/>
          <p:nvPr/>
        </p:nvSpPr>
        <p:spPr>
          <a:xfrm>
            <a:off x="2935080" y="237744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Getting Started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9"/>
          <p:cNvSpPr/>
          <p:nvPr/>
        </p:nvSpPr>
        <p:spPr>
          <a:xfrm>
            <a:off x="5047560" y="173736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0"/>
          <p:cNvSpPr/>
          <p:nvPr/>
        </p:nvSpPr>
        <p:spPr>
          <a:xfrm>
            <a:off x="5184720" y="186552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1"/>
          <p:cNvSpPr/>
          <p:nvPr/>
        </p:nvSpPr>
        <p:spPr>
          <a:xfrm>
            <a:off x="5184720" y="237744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Distribution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2"/>
          <p:cNvSpPr/>
          <p:nvPr/>
        </p:nvSpPr>
        <p:spPr>
          <a:xfrm>
            <a:off x="7296840" y="173736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7434000" y="186552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4"/>
          <p:cNvSpPr/>
          <p:nvPr/>
        </p:nvSpPr>
        <p:spPr>
          <a:xfrm>
            <a:off x="7434000" y="237744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Categorical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5"/>
          <p:cNvSpPr/>
          <p:nvPr/>
        </p:nvSpPr>
        <p:spPr>
          <a:xfrm>
            <a:off x="9546480" y="173736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6"/>
          <p:cNvSpPr/>
          <p:nvPr/>
        </p:nvSpPr>
        <p:spPr>
          <a:xfrm>
            <a:off x="9683640" y="186552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7"/>
          <p:cNvSpPr/>
          <p:nvPr/>
        </p:nvSpPr>
        <p:spPr>
          <a:xfrm>
            <a:off x="9683640" y="237744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Relational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8"/>
          <p:cNvSpPr/>
          <p:nvPr/>
        </p:nvSpPr>
        <p:spPr>
          <a:xfrm>
            <a:off x="548640" y="362088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9"/>
          <p:cNvSpPr/>
          <p:nvPr/>
        </p:nvSpPr>
        <p:spPr>
          <a:xfrm>
            <a:off x="685800" y="374904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06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0"/>
          <p:cNvSpPr/>
          <p:nvPr/>
        </p:nvSpPr>
        <p:spPr>
          <a:xfrm>
            <a:off x="685800" y="426096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Regression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"/>
          <p:cNvSpPr/>
          <p:nvPr/>
        </p:nvSpPr>
        <p:spPr>
          <a:xfrm>
            <a:off x="2797920" y="362088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2"/>
          <p:cNvSpPr/>
          <p:nvPr/>
        </p:nvSpPr>
        <p:spPr>
          <a:xfrm>
            <a:off x="2935080" y="374904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07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3"/>
          <p:cNvSpPr/>
          <p:nvPr/>
        </p:nvSpPr>
        <p:spPr>
          <a:xfrm>
            <a:off x="2935080" y="426096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Matrix Plots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4"/>
          <p:cNvSpPr/>
          <p:nvPr/>
        </p:nvSpPr>
        <p:spPr>
          <a:xfrm>
            <a:off x="5047560" y="362088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5"/>
          <p:cNvSpPr/>
          <p:nvPr/>
        </p:nvSpPr>
        <p:spPr>
          <a:xfrm>
            <a:off x="5184720" y="374904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08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6"/>
          <p:cNvSpPr/>
          <p:nvPr/>
        </p:nvSpPr>
        <p:spPr>
          <a:xfrm>
            <a:off x="5184720" y="426096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Styling &amp; Palettes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7"/>
          <p:cNvSpPr/>
          <p:nvPr/>
        </p:nvSpPr>
        <p:spPr>
          <a:xfrm>
            <a:off x="7296840" y="362088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8"/>
          <p:cNvSpPr/>
          <p:nvPr/>
        </p:nvSpPr>
        <p:spPr>
          <a:xfrm>
            <a:off x="7434000" y="374904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09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9"/>
          <p:cNvSpPr/>
          <p:nvPr/>
        </p:nvSpPr>
        <p:spPr>
          <a:xfrm>
            <a:off x="7434000" y="426096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Seaborn for EDA &amp;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30"/>
          <p:cNvSpPr/>
          <p:nvPr/>
        </p:nvSpPr>
        <p:spPr>
          <a:xfrm>
            <a:off x="9546480" y="3620880"/>
            <a:ext cx="2111400" cy="173664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1"/>
          <p:cNvSpPr/>
          <p:nvPr/>
        </p:nvSpPr>
        <p:spPr>
          <a:xfrm>
            <a:off x="9683640" y="3749040"/>
            <a:ext cx="18370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C8AE0"/>
                </a:solidFill>
                <a:effectLst/>
                <a:uFillTx/>
                <a:latin typeface="Bricolage Grotesque"/>
                <a:ea typeface="Bricolage Grotesque"/>
              </a:rPr>
              <a:t>10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2"/>
          <p:cNvSpPr/>
          <p:nvPr/>
        </p:nvSpPr>
        <p:spPr>
          <a:xfrm>
            <a:off x="9683640" y="4260960"/>
            <a:ext cx="1837080" cy="95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Mini Projects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3"/>
          <p:cNvSpPr/>
          <p:nvPr/>
        </p:nvSpPr>
        <p:spPr>
          <a:xfrm>
            <a:off x="548640" y="5486400"/>
            <a:ext cx="11063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Running example: the tips dataset throughout — with a switch to titanic for the ML section.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4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1 · FOUNDATIONS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Foundations &amp; Terminology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10 core terms that unlock how Seaborn thinks about data — and why it feels so different from plain Matplotlib.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05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 · TERMINOLOGY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Terms 1–4 · Reading Data &amp; Encodings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548640" y="1600200"/>
            <a:ext cx="2639520" cy="4205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4"/>
          <p:cNvSpPr/>
          <p:nvPr/>
        </p:nvSpPr>
        <p:spPr>
          <a:xfrm>
            <a:off x="71316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71316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1188720" y="1746360"/>
            <a:ext cx="18165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DataFrame-Native Plotting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713160" y="2221920"/>
            <a:ext cx="231048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Seaborn plots read straight from a Pandas DataFrame — you pass column names, not raw arrays.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3371760" y="1600200"/>
            <a:ext cx="2639520" cy="4205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353628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0"/>
          <p:cNvSpPr/>
          <p:nvPr/>
        </p:nvSpPr>
        <p:spPr>
          <a:xfrm>
            <a:off x="353628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4011840" y="1746360"/>
            <a:ext cx="18165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hue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2"/>
          <p:cNvSpPr/>
          <p:nvPr/>
        </p:nvSpPr>
        <p:spPr>
          <a:xfrm>
            <a:off x="3536280" y="2221920"/>
            <a:ext cx="231048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parameter that colors points/bars by a category, and adds the legend for you automatically.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3"/>
          <p:cNvSpPr/>
          <p:nvPr/>
        </p:nvSpPr>
        <p:spPr>
          <a:xfrm>
            <a:off x="6195240" y="1600200"/>
            <a:ext cx="2639520" cy="4205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635976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635976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6"/>
          <p:cNvSpPr/>
          <p:nvPr/>
        </p:nvSpPr>
        <p:spPr>
          <a:xfrm>
            <a:off x="6835320" y="1746360"/>
            <a:ext cx="18165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size / style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6359760" y="2221920"/>
            <a:ext cx="231048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Parameters that scale point size or change marker/line style by category — extra dimensions on one chart.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9018360" y="1600200"/>
            <a:ext cx="2639520" cy="4205520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9"/>
          <p:cNvSpPr/>
          <p:nvPr/>
        </p:nvSpPr>
        <p:spPr>
          <a:xfrm>
            <a:off x="918288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0"/>
          <p:cNvSpPr/>
          <p:nvPr/>
        </p:nvSpPr>
        <p:spPr>
          <a:xfrm>
            <a:off x="918288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9658440" y="1746360"/>
            <a:ext cx="18165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Figure-Level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2"/>
          <p:cNvSpPr/>
          <p:nvPr/>
        </p:nvSpPr>
        <p:spPr>
          <a:xfrm>
            <a:off x="9182880" y="2221920"/>
            <a:ext cx="231048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function that creates its own Figure and can build multiple panels at once — e.g. displot(), lmplot().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 · TERMINOLOGY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Terms 5–7 · How Seaborn Builds Charts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1600200"/>
            <a:ext cx="3580560" cy="420552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71316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71316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88720" y="1746360"/>
            <a:ext cx="275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Axes-Level Function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7"/>
          <p:cNvSpPr/>
          <p:nvPr/>
        </p:nvSpPr>
        <p:spPr>
          <a:xfrm>
            <a:off x="713160" y="2221920"/>
            <a:ext cx="32515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function that draws onto one Axes you give it — e.g. histplot(), boxplot() — plays nicely with plt.subplots().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8"/>
          <p:cNvSpPr/>
          <p:nvPr/>
        </p:nvSpPr>
        <p:spPr>
          <a:xfrm>
            <a:off x="4312800" y="1600200"/>
            <a:ext cx="3580560" cy="420552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9"/>
          <p:cNvSpPr/>
          <p:nvPr/>
        </p:nvSpPr>
        <p:spPr>
          <a:xfrm>
            <a:off x="447768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447768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1"/>
          <p:cNvSpPr/>
          <p:nvPr/>
        </p:nvSpPr>
        <p:spPr>
          <a:xfrm>
            <a:off x="4952880" y="1746360"/>
            <a:ext cx="275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Facet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2"/>
          <p:cNvSpPr/>
          <p:nvPr/>
        </p:nvSpPr>
        <p:spPr>
          <a:xfrm>
            <a:off x="4477680" y="2221920"/>
            <a:ext cx="32515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sub-plot created automatically by splitting data into a grid, based on a category (col=, row=).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3"/>
          <p:cNvSpPr/>
          <p:nvPr/>
        </p:nvSpPr>
        <p:spPr>
          <a:xfrm>
            <a:off x="8077320" y="1600200"/>
            <a:ext cx="3580560" cy="420552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4"/>
          <p:cNvSpPr/>
          <p:nvPr/>
        </p:nvSpPr>
        <p:spPr>
          <a:xfrm>
            <a:off x="824184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5"/>
          <p:cNvSpPr/>
          <p:nvPr/>
        </p:nvSpPr>
        <p:spPr>
          <a:xfrm>
            <a:off x="824184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6"/>
          <p:cNvSpPr/>
          <p:nvPr/>
        </p:nvSpPr>
        <p:spPr>
          <a:xfrm>
            <a:off x="8717400" y="1746360"/>
            <a:ext cx="275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Estimator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7"/>
          <p:cNvSpPr/>
          <p:nvPr/>
        </p:nvSpPr>
        <p:spPr>
          <a:xfrm>
            <a:off x="8241840" y="2221920"/>
            <a:ext cx="32515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The statistic used to summarize a group of values — mean is the default; np.sum is common too.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 · TERMINOLOGY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Terms 8–10 · Statistics, Built In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3"/>
          <p:cNvSpPr/>
          <p:nvPr/>
        </p:nvSpPr>
        <p:spPr>
          <a:xfrm>
            <a:off x="548640" y="1600200"/>
            <a:ext cx="3580560" cy="420552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"/>
          <p:cNvSpPr/>
          <p:nvPr/>
        </p:nvSpPr>
        <p:spPr>
          <a:xfrm>
            <a:off x="71316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"/>
          <p:cNvSpPr/>
          <p:nvPr/>
        </p:nvSpPr>
        <p:spPr>
          <a:xfrm>
            <a:off x="71316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6"/>
          <p:cNvSpPr/>
          <p:nvPr/>
        </p:nvSpPr>
        <p:spPr>
          <a:xfrm>
            <a:off x="1188720" y="1746360"/>
            <a:ext cx="275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Confidence Interval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7"/>
          <p:cNvSpPr/>
          <p:nvPr/>
        </p:nvSpPr>
        <p:spPr>
          <a:xfrm>
            <a:off x="713160" y="2221920"/>
            <a:ext cx="32515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The shaded band around a line/bar showing the plausible range for the true value.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4312800" y="1600200"/>
            <a:ext cx="3580560" cy="420552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9"/>
          <p:cNvSpPr/>
          <p:nvPr/>
        </p:nvSpPr>
        <p:spPr>
          <a:xfrm>
            <a:off x="447768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447768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1"/>
          <p:cNvSpPr/>
          <p:nvPr/>
        </p:nvSpPr>
        <p:spPr>
          <a:xfrm>
            <a:off x="4952880" y="1746360"/>
            <a:ext cx="275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KDE (Kernel Density Estimate)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2"/>
          <p:cNvSpPr/>
          <p:nvPr/>
        </p:nvSpPr>
        <p:spPr>
          <a:xfrm>
            <a:off x="4477680" y="2221920"/>
            <a:ext cx="32515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smoothed curve estimating a variable's distribution — a smoother alternative to a histogram.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3"/>
          <p:cNvSpPr/>
          <p:nvPr/>
        </p:nvSpPr>
        <p:spPr>
          <a:xfrm>
            <a:off x="8077320" y="1600200"/>
            <a:ext cx="3580560" cy="420552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4"/>
          <p:cNvSpPr/>
          <p:nvPr/>
        </p:nvSpPr>
        <p:spPr>
          <a:xfrm>
            <a:off x="8241840" y="1764720"/>
            <a:ext cx="383400" cy="38340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5"/>
          <p:cNvSpPr/>
          <p:nvPr/>
        </p:nvSpPr>
        <p:spPr>
          <a:xfrm>
            <a:off x="8241840" y="1764720"/>
            <a:ext cx="3834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10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6"/>
          <p:cNvSpPr/>
          <p:nvPr/>
        </p:nvSpPr>
        <p:spPr>
          <a:xfrm>
            <a:off x="8717400" y="1746360"/>
            <a:ext cx="275760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Palette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7"/>
          <p:cNvSpPr/>
          <p:nvPr/>
        </p:nvSpPr>
        <p:spPr>
          <a:xfrm>
            <a:off x="8241840" y="2221920"/>
            <a:ext cx="3251520" cy="34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A named or custom set of colors used to distinguish categories or encode values.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 · TERMINOLOGY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Figure-Level vs. Axes-Level — The #1 Thing to Get Right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3"/>
          <p:cNvSpPr/>
          <p:nvPr/>
        </p:nvSpPr>
        <p:spPr>
          <a:xfrm>
            <a:off x="548640" y="1691640"/>
            <a:ext cx="5211360" cy="3976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4"/>
          <p:cNvSpPr/>
          <p:nvPr/>
        </p:nvSpPr>
        <p:spPr>
          <a:xfrm>
            <a:off x="777240" y="1892880"/>
            <a:ext cx="1828080" cy="29196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"/>
          <p:cNvSpPr/>
          <p:nvPr/>
        </p:nvSpPr>
        <p:spPr>
          <a:xfrm>
            <a:off x="777240" y="1892880"/>
            <a:ext cx="18280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02019"/>
                </a:solidFill>
                <a:effectLst/>
                <a:uFillTx/>
                <a:latin typeface="Plus Jakarta Sans"/>
                <a:ea typeface="Plus Jakarta Sans"/>
              </a:rPr>
              <a:t>AXES-LEVEL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777240" y="2377440"/>
            <a:ext cx="4754160" cy="1690920"/>
          </a:xfrm>
          <a:prstGeom prst="roundRect">
            <a:avLst>
              <a:gd name="adj" fmla="val 6486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7"/>
          <p:cNvSpPr/>
          <p:nvPr/>
        </p:nvSpPr>
        <p:spPr>
          <a:xfrm>
            <a:off x="941760" y="25236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8"/>
          <p:cNvSpPr/>
          <p:nvPr/>
        </p:nvSpPr>
        <p:spPr>
          <a:xfrm>
            <a:off x="1143000" y="25236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9"/>
          <p:cNvSpPr/>
          <p:nvPr/>
        </p:nvSpPr>
        <p:spPr>
          <a:xfrm>
            <a:off x="1344240" y="25236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0"/>
          <p:cNvSpPr/>
          <p:nvPr/>
        </p:nvSpPr>
        <p:spPr>
          <a:xfrm>
            <a:off x="978480" y="2761560"/>
            <a:ext cx="435168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fig, ax = plt.subplots()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sns.histplot(df["tip"], ax=ax)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sns.boxplot(x="day", y="tip",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data=df, ax=ax)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1"/>
          <p:cNvSpPr/>
          <p:nvPr/>
        </p:nvSpPr>
        <p:spPr>
          <a:xfrm>
            <a:off x="777240" y="4206240"/>
            <a:ext cx="475416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Draws onto one Axes you already have.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Fits directly into plt.subplots() grids.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Examples: histplot, boxplot, scatterplot, heatmap.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2"/>
          <p:cNvSpPr/>
          <p:nvPr/>
        </p:nvSpPr>
        <p:spPr>
          <a:xfrm>
            <a:off x="6217920" y="1691640"/>
            <a:ext cx="5211360" cy="39769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3"/>
          <p:cNvSpPr/>
          <p:nvPr/>
        </p:nvSpPr>
        <p:spPr>
          <a:xfrm>
            <a:off x="6446520" y="1892880"/>
            <a:ext cx="1919520" cy="29196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6446520" y="1892880"/>
            <a:ext cx="19195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FIGURE-LEVEL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6446520" y="2377440"/>
            <a:ext cx="4754160" cy="1690920"/>
          </a:xfrm>
          <a:prstGeom prst="roundRect">
            <a:avLst>
              <a:gd name="adj" fmla="val 6486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6611040" y="25236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7"/>
          <p:cNvSpPr/>
          <p:nvPr/>
        </p:nvSpPr>
        <p:spPr>
          <a:xfrm>
            <a:off x="6812280" y="25236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8"/>
          <p:cNvSpPr/>
          <p:nvPr/>
        </p:nvSpPr>
        <p:spPr>
          <a:xfrm>
            <a:off x="7013520" y="25236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6647760" y="2761560"/>
            <a:ext cx="4351680" cy="11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sns.displot(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df["tip"], kind="hist"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creates its own Figure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0"/>
          <p:cNvSpPr/>
          <p:nvPr/>
        </p:nvSpPr>
        <p:spPr>
          <a:xfrm>
            <a:off x="6446520" y="4206240"/>
            <a:ext cx="475416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Creates and owns its own Figure — no ax= needed.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Can facet into a grid with col=/row=.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Examples: displot, catplot, relplot, lmplot.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1"/>
          <p:cNvSpPr/>
          <p:nvPr/>
        </p:nvSpPr>
        <p:spPr>
          <a:xfrm>
            <a:off x="548640" y="5806440"/>
            <a:ext cx="111092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Rule of thumb: if you need it inside a Matplotlib subplot grid, reach for the axes-level version.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09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 · TERMINOLOGY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Foundations &amp; Terminology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In your own words, explain the difference between a figure-level and an axes-level function.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Name one parameter you'd add to a chart to encode a 3rd variable, and one for a 4th.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Explain what a confidence interval band is telling you when you see one around a line.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7"/>
          <p:cNvSpPr/>
          <p:nvPr/>
        </p:nvSpPr>
        <p:spPr>
          <a:xfrm>
            <a:off x="548640" y="48736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8"/>
          <p:cNvSpPr/>
          <p:nvPr/>
        </p:nvSpPr>
        <p:spPr>
          <a:xfrm>
            <a:off x="731520" y="51206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9"/>
          <p:cNvSpPr/>
          <p:nvPr/>
        </p:nvSpPr>
        <p:spPr>
          <a:xfrm>
            <a:off x="731520" y="51206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0"/>
          <p:cNvSpPr/>
          <p:nvPr/>
        </p:nvSpPr>
        <p:spPr>
          <a:xfrm>
            <a:off x="1234440" y="48736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List two things a Palette can be used for on a chart.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 21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4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2 · GETTING STARTED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Getting Started with Seaborn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Installing, importing, loading a built-in dataset, and understanding how Seaborn sits on top of Matplotlib.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11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2 · GETTING STARTED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Installing, Importing &amp; Built-In Datasets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3"/>
          <p:cNvSpPr/>
          <p:nvPr/>
        </p:nvSpPr>
        <p:spPr>
          <a:xfrm>
            <a:off x="548640" y="1691640"/>
            <a:ext cx="539424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7"/>
          <p:cNvSpPr/>
          <p:nvPr/>
        </p:nvSpPr>
        <p:spPr>
          <a:xfrm>
            <a:off x="749880" y="2075760"/>
            <a:ext cx="499176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one-time install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pip install seaborn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import seaborn as sns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import matplotlib.pyplot as plt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no downloading, no cleaning —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just a ready DataFrame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tips = sns.load_dataset("tips")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tips.head()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8"/>
          <p:cNvSpPr/>
          <p:nvPr/>
        </p:nvSpPr>
        <p:spPr>
          <a:xfrm>
            <a:off x="6172200" y="1691640"/>
            <a:ext cx="548568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Seaborn ships a small library of clean sample datasets — tips, titanic, flights, iris, and more.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sns.load_dataset("name") pulls one straight into a Pandas DataFrame — no downloading, no missing-value cleanup.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lets you focus entirely on visualization syntax while learning, instead of data wrangling.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We'll use tips as our running example, and switch to titanic for the ML section later.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2 · GETTING STARTED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sns.set_theme() — One Line, Better Defaults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"/>
          <p:cNvSpPr/>
          <p:nvPr/>
        </p:nvSpPr>
        <p:spPr>
          <a:xfrm>
            <a:off x="548640" y="1691640"/>
            <a:ext cx="5211360" cy="3931200"/>
          </a:xfrm>
          <a:prstGeom prst="roundRect">
            <a:avLst>
              <a:gd name="adj" fmla="val 2791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749880" y="2075760"/>
            <a:ext cx="4808880" cy="340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sns.set_theme(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style="whitegrid",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palette="deep"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every chart from here 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uses this look automatically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sns.histplot(tips["total_bill"])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plt.show()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8"/>
          <p:cNvSpPr/>
          <p:nvPr/>
        </p:nvSpPr>
        <p:spPr>
          <a:xfrm>
            <a:off x="6035040" y="1691640"/>
            <a:ext cx="562284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Call this once, near the top of your notebook — it affects every chart drawn afterward.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style= controls the background/grid look (darkgrid, whitegrid, dark, white, ticks).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palette= sets the default color scheme for categories across every chart.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single line is most of why Seaborn charts look polished with almost no extra work.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2 · GETTING STARTED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Seaborn Layers on Top of Matplotlib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548640" y="1691640"/>
            <a:ext cx="548568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7"/>
          <p:cNvSpPr/>
          <p:nvPr/>
        </p:nvSpPr>
        <p:spPr>
          <a:xfrm>
            <a:off x="749880" y="2075760"/>
            <a:ext cx="508320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fig, ax = plt.subplots(figsize=(6, 4))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Seaborn draws the chart...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sns.boxplot(x="day", y="tip",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data=tips, ax=ax)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...Matplotlib fine-tunes it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ax.set_title("Tips by Day")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ax.set_xlabel("Day of Week")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plt.show()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8"/>
          <p:cNvSpPr/>
          <p:nvPr/>
        </p:nvSpPr>
        <p:spPr>
          <a:xfrm>
            <a:off x="6309360" y="1691640"/>
            <a:ext cx="5348520" cy="402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Every Seaborn chart is secretly a Matplotlib Figure and Axes underneath.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Pass ax= to draw a Seaborn chart onto an Axes you created with plt.subplots() — this is how the two libraries cooperate.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Once drawn, everything from your Matplotlib module still works: ax.set_title(), ax.set_xlabel(), plt.savefig().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Think of it as: Seaborn draws the statistics, Matplotlib does the fine detailing.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2 · GETTING STARTED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Your First Seaborn Plot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3"/>
          <p:cNvSpPr/>
          <p:nvPr/>
        </p:nvSpPr>
        <p:spPr>
          <a:xfrm>
            <a:off x="548640" y="1691640"/>
            <a:ext cx="5211360" cy="3931200"/>
          </a:xfrm>
          <a:prstGeom prst="roundRect">
            <a:avLst>
              <a:gd name="adj" fmla="val 2791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7"/>
          <p:cNvSpPr/>
          <p:nvPr/>
        </p:nvSpPr>
        <p:spPr>
          <a:xfrm>
            <a:off x="749880" y="2075760"/>
            <a:ext cx="4808880" cy="340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import seaborn as sns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tips = sns.load_dataset("tips")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sns.scatterplot(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x="total_bill",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y="tip",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data=tips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8"/>
          <p:cNvSpPr/>
          <p:nvPr/>
        </p:nvSpPr>
        <p:spPr>
          <a:xfrm>
            <a:off x="6035040" y="1691640"/>
            <a:ext cx="5622840" cy="393120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2" name="Image 1" descr="/home/claude/sns/charts/scatter_relational.png"/>
          <p:cNvPicPr/>
          <p:nvPr/>
        </p:nvPicPr>
        <p:blipFill>
          <a:blip r:embed="rId2"/>
          <a:stretch/>
        </p:blipFill>
        <p:spPr>
          <a:xfrm>
            <a:off x="6144840" y="1801440"/>
            <a:ext cx="5403240" cy="354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Text 9"/>
          <p:cNvSpPr/>
          <p:nvPr/>
        </p:nvSpPr>
        <p:spPr>
          <a:xfrm>
            <a:off x="6035040" y="534924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Column names in, a finished chart out.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2 · GETTING STARTED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Getting Started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Load the tips dataset and print its shape and column names.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Call sns.set_theme() with a style of your choice, then plot any histogram and see the difference.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F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g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u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h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l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.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u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l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o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(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)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n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d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d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o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n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h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o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n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o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u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n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g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x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=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7"/>
          <p:cNvSpPr/>
          <p:nvPr/>
        </p:nvSpPr>
        <p:spPr>
          <a:xfrm>
            <a:off x="548640" y="48736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18"/>
          <p:cNvSpPr/>
          <p:nvPr/>
        </p:nvSpPr>
        <p:spPr>
          <a:xfrm>
            <a:off x="731520" y="51206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9"/>
          <p:cNvSpPr/>
          <p:nvPr/>
        </p:nvSpPr>
        <p:spPr>
          <a:xfrm>
            <a:off x="731520" y="51206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20"/>
          <p:cNvSpPr/>
          <p:nvPr/>
        </p:nvSpPr>
        <p:spPr>
          <a:xfrm>
            <a:off x="1234440" y="48736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Predict what sns.load_dataset("titanic") will contain before you check it — then check.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7" name="Text 21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2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2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Distribution Plots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Understanding how one quantitative variable is spread out — histograms, density curves, and multi-variable views, all built in.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17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What Is a Distribution Plot?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9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737360"/>
            <a:ext cx="580572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distribution plot shows how the values of one numerical column are spread out — where most values cluster, and where the outliers sit.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is usually the very first thing you check about any new dataset, before anything else.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Seaborn's distribution tools go beyond the plain histogram from Matplotlib — adding smoothed curves (KDE) and relationship views in one line.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section covers: histplot / displot, kdeplot, rugplot, jointplot, and pairplot.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4"/>
          <p:cNvSpPr/>
          <p:nvPr/>
        </p:nvSpPr>
        <p:spPr>
          <a:xfrm>
            <a:off x="6583680" y="1737360"/>
            <a:ext cx="5074200" cy="4114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Image 1" descr="/home/claude/sns/charts/hist_kde.png"/>
          <p:cNvPicPr/>
          <p:nvPr/>
        </p:nvPicPr>
        <p:blipFill>
          <a:blip r:embed="rId2"/>
          <a:stretch/>
        </p:blipFill>
        <p:spPr>
          <a:xfrm>
            <a:off x="6693480" y="1847160"/>
            <a:ext cx="4854600" cy="389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Anatomy of sns.histplot()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3"/>
          <p:cNvSpPr/>
          <p:nvPr/>
        </p:nvSpPr>
        <p:spPr>
          <a:xfrm>
            <a:off x="548640" y="1691640"/>
            <a:ext cx="5028480" cy="2742480"/>
          </a:xfrm>
          <a:prstGeom prst="roundRect">
            <a:avLst>
              <a:gd name="adj" fmla="val 4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749880" y="2075760"/>
            <a:ext cx="4626000" cy="22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sns.histplot(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data["total_bill"],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bins=20,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kde=True,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color="color_name"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3" name="Table 0"/>
          <p:cNvGraphicFramePr/>
          <p:nvPr/>
        </p:nvGraphicFramePr>
        <p:xfrm>
          <a:off x="5806440" y="1691640"/>
          <a:ext cx="5851440" cy="2743200"/>
        </p:xfrm>
        <a:graphic>
          <a:graphicData uri="http://schemas.openxmlformats.org/drawingml/2006/table">
            <a:tbl>
              <a:tblPr/>
              <a:tblGrid>
                <a:gridCol w="1989720"/>
                <a:gridCol w="3862080"/>
              </a:tblGrid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data / 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The numerical column to plot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bins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Number of bars/intervals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kde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If True, overlays a smooth density curve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color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Fill color of the bars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4" name="Text 8"/>
          <p:cNvSpPr/>
          <p:nvPr/>
        </p:nvSpPr>
        <p:spPr>
          <a:xfrm>
            <a:off x="548640" y="4663440"/>
            <a:ext cx="111092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sns.displot() is the figure-level twin of histplot() — same idea, but it creates its own Figure and can facet with col=.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19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Distribution of Total Bill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3"/>
          <p:cNvSpPr/>
          <p:nvPr/>
        </p:nvSpPr>
        <p:spPr>
          <a:xfrm>
            <a:off x="548640" y="1691640"/>
            <a:ext cx="539424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7"/>
          <p:cNvSpPr/>
          <p:nvPr/>
        </p:nvSpPr>
        <p:spPr>
          <a:xfrm>
            <a:off x="749880" y="2075760"/>
            <a:ext cx="499176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sns.histplot(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tips["total_bill"],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bins=20,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kde=True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plt.title("Distribution of Total Bill")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plt.show()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# side by side comparison: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plt.subplot(1, 2, 1)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sns.histplot(tips["total_bill"], kde=True)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plt.subplot(1, 2, 2)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sns.histplot(tips["tip"], kde=True)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8"/>
          <p:cNvSpPr/>
          <p:nvPr/>
        </p:nvSpPr>
        <p:spPr>
          <a:xfrm>
            <a:off x="6172200" y="1691640"/>
            <a:ext cx="5485680" cy="242244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6" name="Image 1" descr="/home/claude/sns/charts/hist_kde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220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Shape 9"/>
          <p:cNvSpPr/>
          <p:nvPr/>
        </p:nvSpPr>
        <p:spPr>
          <a:xfrm>
            <a:off x="6172200" y="4251960"/>
            <a:ext cx="5485680" cy="150804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8" name="Image 2" descr="/home/claude/sns/charts/hist_side_by_side.png"/>
          <p:cNvPicPr/>
          <p:nvPr/>
        </p:nvPicPr>
        <p:blipFill>
          <a:blip r:embed="rId3"/>
          <a:stretch/>
        </p:blipFill>
        <p:spPr>
          <a:xfrm>
            <a:off x="6282000" y="4361760"/>
            <a:ext cx="5266080" cy="112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9" name="Text 10"/>
          <p:cNvSpPr/>
          <p:nvPr/>
        </p:nvSpPr>
        <p:spPr>
          <a:xfrm>
            <a:off x="6172200" y="548640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Two histplot() calls, side by side with plt.subplot().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1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kdeplot() &amp; rugplot() — Two Lightweight Views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5" name="Table 0"/>
          <p:cNvGraphicFramePr/>
          <p:nvPr/>
        </p:nvGraphicFramePr>
        <p:xfrm>
          <a:off x="548640" y="1691640"/>
          <a:ext cx="5394240" cy="1919520"/>
        </p:xfrm>
        <a:graphic>
          <a:graphicData uri="http://schemas.openxmlformats.org/drawingml/2006/table">
            <a:tbl>
              <a:tblPr/>
              <a:tblGrid>
                <a:gridCol w="1834200"/>
                <a:gridCol w="3560400"/>
              </a:tblGrid>
              <a:tr h="4798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4798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sns.kdeplot(data)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Just the smooth density curve, no bars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8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fill=True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Shades the area under the curve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8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sns.rugplot(data)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Draws a tiny tick mark for every single data point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6" name="Text 3"/>
          <p:cNvSpPr/>
          <p:nvPr/>
        </p:nvSpPr>
        <p:spPr>
          <a:xfrm>
            <a:off x="548640" y="3794760"/>
            <a:ext cx="5394240" cy="173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kdeplot() is useful when bars would be visual noise — e.g. comparing two overlapping distributions.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rugplot() is almost always paired with a histogram or KDE — it shows exactly where the raw data points sit, bar or curve aside.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1" descr="/home/claude/sns/charts/rugplot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63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5"/>
          <p:cNvSpPr/>
          <p:nvPr/>
        </p:nvSpPr>
        <p:spPr>
          <a:xfrm>
            <a:off x="6172200" y="54406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A rug plot under a histogram — every dot is one real bill.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6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jointplot() — Two Views in One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3"/>
          <p:cNvSpPr/>
          <p:nvPr/>
        </p:nvSpPr>
        <p:spPr>
          <a:xfrm>
            <a:off x="548640" y="1691640"/>
            <a:ext cx="4937040" cy="2742480"/>
          </a:xfrm>
          <a:prstGeom prst="roundRect">
            <a:avLst>
              <a:gd name="adj" fmla="val 4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7"/>
          <p:cNvSpPr/>
          <p:nvPr/>
        </p:nvSpPr>
        <p:spPr>
          <a:xfrm>
            <a:off x="749880" y="2075760"/>
            <a:ext cx="4534560" cy="22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sns.jointplot(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x="total_bill", y="tip",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data=tips,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kind="scatter"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# or: "kde", "hist",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#     "hex", "reg", "resid"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8"/>
          <p:cNvSpPr/>
          <p:nvPr/>
        </p:nvSpPr>
        <p:spPr>
          <a:xfrm>
            <a:off x="548640" y="4572000"/>
            <a:ext cx="49370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jointplot pairs a central scatter/density chart with a mini histogram of each variable on the margins — relationship and distribution, in one figure.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7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1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kind= swaps the center chart between scatter, KDE, histogram, hexbin, or a regression fit.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9"/>
          <p:cNvSpPr/>
          <p:nvPr/>
        </p:nvSpPr>
        <p:spPr>
          <a:xfrm>
            <a:off x="5623560" y="1691640"/>
            <a:ext cx="6034320" cy="484560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2" name="Image 1" descr="/home/claude/sns/charts/joint_scatter.png"/>
          <p:cNvPicPr/>
          <p:nvPr/>
        </p:nvPicPr>
        <p:blipFill>
          <a:blip r:embed="rId2"/>
          <a:stretch/>
        </p:blipFill>
        <p:spPr>
          <a:xfrm>
            <a:off x="5733360" y="1801440"/>
            <a:ext cx="5814720" cy="446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3" name="Text 10"/>
          <p:cNvSpPr/>
          <p:nvPr/>
        </p:nvSpPr>
        <p:spPr>
          <a:xfrm>
            <a:off x="5623560" y="6263640"/>
            <a:ext cx="60343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kind="scatter" — total_bill vs. tip, with marginal histograms.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1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pairplot() — Every Relationship, At Once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7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3"/>
          <p:cNvSpPr/>
          <p:nvPr/>
        </p:nvSpPr>
        <p:spPr>
          <a:xfrm>
            <a:off x="548640" y="1691640"/>
            <a:ext cx="4937040" cy="1828080"/>
          </a:xfrm>
          <a:prstGeom prst="roundRect">
            <a:avLst>
              <a:gd name="adj" fmla="val 6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7"/>
          <p:cNvSpPr/>
          <p:nvPr/>
        </p:nvSpPr>
        <p:spPr>
          <a:xfrm>
            <a:off x="749880" y="2075760"/>
            <a:ext cx="4534560" cy="12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sns.pairplot(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tips,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hue="sex",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    palette="rainbow"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1F5F9"/>
                </a:solidFill>
                <a:effectLst/>
                <a:uFillTx/>
                <a:latin typeface="Cantarell"/>
                <a:ea typeface="Consolas"/>
              </a:rPr>
              <a:t>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8"/>
          <p:cNvSpPr/>
          <p:nvPr/>
        </p:nvSpPr>
        <p:spPr>
          <a:xfrm>
            <a:off x="548640" y="3703320"/>
            <a:ext cx="4937040" cy="21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pairplot() draws a scatter plot for every pair of numeric columns, and a distribution curve on the diagonal.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hue= colors every point by a category — instantly showing whether groups separate.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is the single most-used function for scanning a whole dataset's relationships in one shot — a staple of early EDA.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9"/>
          <p:cNvSpPr/>
          <p:nvPr/>
        </p:nvSpPr>
        <p:spPr>
          <a:xfrm>
            <a:off x="5623560" y="1691640"/>
            <a:ext cx="6034320" cy="484560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6" name="Image 1" descr="/home/claude/sns/charts/pairplot_tips.png"/>
          <p:cNvPicPr/>
          <p:nvPr/>
        </p:nvPicPr>
        <p:blipFill>
          <a:blip r:embed="rId2"/>
          <a:stretch/>
        </p:blipFill>
        <p:spPr>
          <a:xfrm>
            <a:off x="5733360" y="1801440"/>
            <a:ext cx="5814720" cy="462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7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3 · DISTRIBUTION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Distribution Plots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Plot a histplot() of the tip column with 15 bins and kde=True.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Compare a histplot and a kdeplot of the same column, side by side, and describe what changed visually.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jointplot of total_bill vs. tip with kind="hex" and describe what the hex cells represent.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7"/>
          <p:cNvSpPr/>
          <p:nvPr/>
        </p:nvSpPr>
        <p:spPr>
          <a:xfrm>
            <a:off x="548640" y="48736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18"/>
          <p:cNvSpPr/>
          <p:nvPr/>
        </p:nvSpPr>
        <p:spPr>
          <a:xfrm>
            <a:off x="731520" y="51206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9"/>
          <p:cNvSpPr/>
          <p:nvPr/>
        </p:nvSpPr>
        <p:spPr>
          <a:xfrm>
            <a:off x="731520" y="51206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20"/>
          <p:cNvSpPr/>
          <p:nvPr/>
        </p:nvSpPr>
        <p:spPr>
          <a:xfrm>
            <a:off x="1234440" y="48736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Run pairplot() on the tips dataset with hue="time" and identify one pair of columns where lunch and dinner separate visually.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 21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2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4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5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Categorical Plots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Comparing a numerical variable across groups — boxplot, violinplot, barplot, countplot, and more.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25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What Is a Categorical Plot?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2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3"/>
          <p:cNvSpPr/>
          <p:nvPr/>
        </p:nvSpPr>
        <p:spPr>
          <a:xfrm>
            <a:off x="548640" y="1737360"/>
            <a:ext cx="580572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categorical plot compares a numerical variable across the groups of a categorical one — e.g. tip amount, broken down by day of the week.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is how you answer "does this differ across groups?" — one of the most common EDA questions.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Seaborn gives you several categorical plot types, each trading off between summary and detail — from a single line (bar) to every raw point (swarm).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section covers: boxplot, violinplot, barplot, countplot, stripplot, and swarmplot.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4"/>
          <p:cNvSpPr/>
          <p:nvPr/>
        </p:nvSpPr>
        <p:spPr>
          <a:xfrm>
            <a:off x="6583680" y="1737360"/>
            <a:ext cx="5074200" cy="4114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5" name="Image 1" descr="/home/claude/sns/charts/boxplot_tips.png"/>
          <p:cNvPicPr/>
          <p:nvPr/>
        </p:nvPicPr>
        <p:blipFill>
          <a:blip r:embed="rId2"/>
          <a:stretch/>
        </p:blipFill>
        <p:spPr>
          <a:xfrm>
            <a:off x="6693480" y="1847160"/>
            <a:ext cx="4854600" cy="389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Anatomy of sns.boxplot()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1691640"/>
            <a:ext cx="5028480" cy="237672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7"/>
          <p:cNvSpPr/>
          <p:nvPr/>
        </p:nvSpPr>
        <p:spPr>
          <a:xfrm>
            <a:off x="749880" y="2075760"/>
            <a:ext cx="4626000" cy="18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sns.boxplot(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x="tip",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y="day",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palette="Set2"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6" name="Table 0"/>
          <p:cNvGraphicFramePr/>
          <p:nvPr/>
        </p:nvGraphicFramePr>
        <p:xfrm>
          <a:off x="5806440" y="1691640"/>
          <a:ext cx="5851440" cy="2376000"/>
        </p:xfrm>
        <a:graphic>
          <a:graphicData uri="http://schemas.openxmlformats.org/drawingml/2006/table">
            <a:tbl>
              <a:tblPr/>
              <a:tblGrid>
                <a:gridCol w="1989720"/>
                <a:gridCol w="3862080"/>
              </a:tblGrid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x, 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One numeric column, one categorical column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The DataFrame to plot from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hue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Splits each box further by a second category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palette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Named or custom color set for the boxes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7" name="Text 8"/>
          <p:cNvSpPr/>
          <p:nvPr/>
        </p:nvSpPr>
        <p:spPr>
          <a:xfrm>
            <a:off x="548640" y="4297680"/>
            <a:ext cx="111092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Reading it: the box spans the middle 50% of values, the line is the median, whiskers show the typical range, and dots beyond them are outliers — same as in Matplotlib's boxplot, just DataFrame-native.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Tip Amount by Day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548640" y="1691640"/>
            <a:ext cx="5211360" cy="2742480"/>
          </a:xfrm>
          <a:prstGeom prst="roundRect">
            <a:avLst>
              <a:gd name="adj" fmla="val 4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7"/>
          <p:cNvSpPr/>
          <p:nvPr/>
        </p:nvSpPr>
        <p:spPr>
          <a:xfrm>
            <a:off x="749880" y="2075760"/>
            <a:ext cx="4808880" cy="22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sns.boxplot(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x="tip", y="day",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palette="Set2"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plt.title("Tip Amount by Day")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plt.show()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8"/>
          <p:cNvSpPr/>
          <p:nvPr/>
        </p:nvSpPr>
        <p:spPr>
          <a:xfrm>
            <a:off x="6035040" y="1691640"/>
            <a:ext cx="562284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9" name="Image 1" descr="/home/claude/sns/charts/boxplot_tips.png"/>
          <p:cNvPicPr/>
          <p:nvPr/>
        </p:nvPicPr>
        <p:blipFill>
          <a:blip r:embed="rId2"/>
          <a:stretch/>
        </p:blipFill>
        <p:spPr>
          <a:xfrm>
            <a:off x="6144840" y="1801440"/>
            <a:ext cx="5403240" cy="380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Anatomy of sns.violinplot()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3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"/>
          <p:cNvSpPr/>
          <p:nvPr/>
        </p:nvSpPr>
        <p:spPr>
          <a:xfrm>
            <a:off x="548640" y="1691640"/>
            <a:ext cx="5028480" cy="237672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7"/>
          <p:cNvSpPr/>
          <p:nvPr/>
        </p:nvSpPr>
        <p:spPr>
          <a:xfrm>
            <a:off x="749880" y="2075760"/>
            <a:ext cx="4626000" cy="18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sns.violinplot(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x="day",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y="total_bill",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palette="RdBu"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50" name="Table 0"/>
          <p:cNvGraphicFramePr/>
          <p:nvPr/>
        </p:nvGraphicFramePr>
        <p:xfrm>
          <a:off x="5806440" y="1691640"/>
          <a:ext cx="5851440" cy="2376000"/>
        </p:xfrm>
        <a:graphic>
          <a:graphicData uri="http://schemas.openxmlformats.org/drawingml/2006/table">
            <a:tbl>
              <a:tblPr/>
              <a:tblGrid>
                <a:gridCol w="1989720"/>
                <a:gridCol w="3862080"/>
              </a:tblGrid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x, 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Categorical column, numerical column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The DataFrame to plot from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palette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Color set across the violins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inner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What's drawn inside — quartiles, a mini box, or points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1" name="Text 8"/>
          <p:cNvSpPr/>
          <p:nvPr/>
        </p:nvSpPr>
        <p:spPr>
          <a:xfrm>
            <a:off x="548640" y="4297680"/>
            <a:ext cx="111092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violin is a boxplot's shape wrapped by a KDE curve mirrored on both sides — it shows the full distribution shape, not just five summary numbers.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29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Total Bill by Day — Full Shape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3"/>
          <p:cNvSpPr/>
          <p:nvPr/>
        </p:nvSpPr>
        <p:spPr>
          <a:xfrm>
            <a:off x="548640" y="1691640"/>
            <a:ext cx="5211360" cy="2742480"/>
          </a:xfrm>
          <a:prstGeom prst="roundRect">
            <a:avLst>
              <a:gd name="adj" fmla="val 4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7"/>
          <p:cNvSpPr/>
          <p:nvPr/>
        </p:nvSpPr>
        <p:spPr>
          <a:xfrm>
            <a:off x="749880" y="2075760"/>
            <a:ext cx="4808880" cy="22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sns.violinplot(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x="day", y="total_bill",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palette="RdBu"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plt.title("Total Bill by Day")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8"/>
          <p:cNvSpPr/>
          <p:nvPr/>
        </p:nvSpPr>
        <p:spPr>
          <a:xfrm>
            <a:off x="6035040" y="1691640"/>
            <a:ext cx="562284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1" descr="/home/claude/sns/charts/violinplot_tips.png"/>
          <p:cNvPicPr/>
          <p:nvPr/>
        </p:nvPicPr>
        <p:blipFill>
          <a:blip r:embed="rId2"/>
          <a:stretch/>
        </p:blipFill>
        <p:spPr>
          <a:xfrm>
            <a:off x="6144840" y="1801440"/>
            <a:ext cx="5403240" cy="380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barplot() &amp; countplot()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7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8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9" name="Table 0"/>
          <p:cNvGraphicFramePr/>
          <p:nvPr/>
        </p:nvGraphicFramePr>
        <p:xfrm>
          <a:off x="548640" y="1691640"/>
          <a:ext cx="11109240" cy="2102400"/>
        </p:xfrm>
        <a:graphic>
          <a:graphicData uri="http://schemas.openxmlformats.org/drawingml/2006/table">
            <a:tbl>
              <a:tblPr/>
              <a:tblGrid>
                <a:gridCol w="3777120"/>
                <a:gridCol w="7332480"/>
              </a:tblGrid>
              <a:tr h="5256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5256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sns.barplot(x, y, data, estimator=)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Shows a summary statistic (mean by default) per category, with a CI whisker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sns.countplot(x, data, hue=)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Counts how many rows fall into each category — no y= needed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estimator=np.sum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Swap the default mean for any statistic, e.g. total instead of average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0" name="Shape 3"/>
          <p:cNvSpPr/>
          <p:nvPr/>
        </p:nvSpPr>
        <p:spPr>
          <a:xfrm>
            <a:off x="548640" y="3977640"/>
            <a:ext cx="5394240" cy="2696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1" name="Image 1" descr="/home/claude/sns/charts/barplot.png"/>
          <p:cNvPicPr/>
          <p:nvPr/>
        </p:nvPicPr>
        <p:blipFill>
          <a:blip r:embed="rId2"/>
          <a:stretch/>
        </p:blipFill>
        <p:spPr>
          <a:xfrm>
            <a:off x="658440" y="4087440"/>
            <a:ext cx="5174640" cy="23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2" name="Text 4"/>
          <p:cNvSpPr/>
          <p:nvPr/>
        </p:nvSpPr>
        <p:spPr>
          <a:xfrm>
            <a:off x="548640" y="6400800"/>
            <a:ext cx="5394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barplot — average total_bill by sex, with CI.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5"/>
          <p:cNvSpPr/>
          <p:nvPr/>
        </p:nvSpPr>
        <p:spPr>
          <a:xfrm>
            <a:off x="6080760" y="3977640"/>
            <a:ext cx="5577120" cy="2696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2" descr="/home/claude/sns/charts/countplot.png"/>
          <p:cNvPicPr/>
          <p:nvPr/>
        </p:nvPicPr>
        <p:blipFill>
          <a:blip r:embed="rId3"/>
          <a:stretch/>
        </p:blipFill>
        <p:spPr>
          <a:xfrm>
            <a:off x="6190560" y="4087440"/>
            <a:ext cx="5357520" cy="231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6"/>
          <p:cNvSpPr/>
          <p:nvPr/>
        </p:nvSpPr>
        <p:spPr>
          <a:xfrm>
            <a:off x="6080760" y="6400800"/>
            <a:ext cx="55771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countplot — customers by sex &amp; smoker status.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7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stripplot() &amp; swarmplot() — Every Raw Point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0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1" name="Table 0"/>
          <p:cNvGraphicFramePr/>
          <p:nvPr/>
        </p:nvGraphicFramePr>
        <p:xfrm>
          <a:off x="548640" y="1691640"/>
          <a:ext cx="11109240" cy="1462320"/>
        </p:xfrm>
        <a:graphic>
          <a:graphicData uri="http://schemas.openxmlformats.org/drawingml/2006/table">
            <a:tbl>
              <a:tblPr/>
              <a:tblGrid>
                <a:gridCol w="3777120"/>
                <a:gridCol w="7332480"/>
              </a:tblGrid>
              <a:tr h="4874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4874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sns.stripplot(x, y, data)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Plots every point, jittered sideways so they don't stack exactly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4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sns.swarmplot(x, y, data)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Plots every point, spaced out so none overlap at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2" name="Shape 3"/>
          <p:cNvSpPr/>
          <p:nvPr/>
        </p:nvSpPr>
        <p:spPr>
          <a:xfrm>
            <a:off x="548640" y="3291840"/>
            <a:ext cx="11109240" cy="32911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1" descr="/home/claude/sns/charts/strip_vs_swarm.png"/>
          <p:cNvPicPr/>
          <p:nvPr/>
        </p:nvPicPr>
        <p:blipFill>
          <a:blip r:embed="rId2"/>
          <a:stretch/>
        </p:blipFill>
        <p:spPr>
          <a:xfrm>
            <a:off x="658440" y="3401640"/>
            <a:ext cx="10889640" cy="290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4"/>
          <p:cNvSpPr/>
          <p:nvPr/>
        </p:nvSpPr>
        <p:spPr>
          <a:xfrm>
            <a:off x="548640" y="6309360"/>
            <a:ext cx="111092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Same data, two ways of showing every individual tip.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Combining Violin &amp; Swarm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3"/>
          <p:cNvSpPr/>
          <p:nvPr/>
        </p:nvSpPr>
        <p:spPr>
          <a:xfrm>
            <a:off x="548640" y="1691640"/>
            <a:ext cx="5211360" cy="3108240"/>
          </a:xfrm>
          <a:prstGeom prst="roundRect">
            <a:avLst>
              <a:gd name="adj" fmla="val 3529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7"/>
          <p:cNvSpPr/>
          <p:nvPr/>
        </p:nvSpPr>
        <p:spPr>
          <a:xfrm>
            <a:off x="749880" y="2075760"/>
            <a:ext cx="4808880" cy="257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sns.violinplot(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x="day", y="total_bill",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 inner=None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sns.swarmplot(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x="day", y="total_bill",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 color=".2"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8"/>
          <p:cNvSpPr/>
          <p:nvPr/>
        </p:nvSpPr>
        <p:spPr>
          <a:xfrm>
            <a:off x="548640" y="4892040"/>
            <a:ext cx="521136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Two sns. calls, one after another, on the same Axes — Seaborn keeps drawing onto whatever's currently active, just like plt.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gives you the overall shape (violin) and the real data points (swarm) in one chart — the best of both.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9"/>
          <p:cNvSpPr/>
          <p:nvPr/>
        </p:nvSpPr>
        <p:spPr>
          <a:xfrm>
            <a:off x="6035040" y="1691640"/>
            <a:ext cx="5622840" cy="4571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1" descr="/home/claude/sns/charts/violin_swarm.png"/>
          <p:cNvPicPr/>
          <p:nvPr/>
        </p:nvPicPr>
        <p:blipFill>
          <a:blip r:embed="rId2"/>
          <a:stretch/>
        </p:blipFill>
        <p:spPr>
          <a:xfrm>
            <a:off x="6144840" y="1801440"/>
            <a:ext cx="5403240" cy="435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4 · CATEGORICAL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Categorical Plots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boxplot comparing total_bill across day, and identify which day has the widest spread.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violinplot of the same data and describe what you can see that the boxplot hid.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countplot of smoker, split by hue="time" — which combination is most common?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Shape 17"/>
          <p:cNvSpPr/>
          <p:nvPr/>
        </p:nvSpPr>
        <p:spPr>
          <a:xfrm>
            <a:off x="548640" y="48736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18"/>
          <p:cNvSpPr/>
          <p:nvPr/>
        </p:nvSpPr>
        <p:spPr>
          <a:xfrm>
            <a:off x="731520" y="51206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9"/>
          <p:cNvSpPr/>
          <p:nvPr/>
        </p:nvSpPr>
        <p:spPr>
          <a:xfrm>
            <a:off x="731520" y="51206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0"/>
          <p:cNvSpPr/>
          <p:nvPr/>
        </p:nvSpPr>
        <p:spPr>
          <a:xfrm>
            <a:off x="1234440" y="48736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Layer a swarmplot on top of a violinplot for the tip column, grouped by day.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0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1" name="Text 21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2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2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5 · RELATIONAL PLOTS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Relational Plots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Seeing how two numerical variables relate — with extra dimensions layered on through hue, size, and style.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35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5 · RELATIONAL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What Is a Relational Plot?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2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"/>
          <p:cNvSpPr/>
          <p:nvPr/>
        </p:nvSpPr>
        <p:spPr>
          <a:xfrm>
            <a:off x="548640" y="1737360"/>
            <a:ext cx="580572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relational plot shows how two numerical variables relate to each other — the same idea as a Matplotlib scatter plot, extended.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The upgrade: hue, size, and style let you encode 2–3 more variables on the exact same chart, without building separate panels.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sns.relplot() is the figure-level wrapper that can facet scatterplot/lineplot into a grid with col=/row=.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section covers: scatterplot and lineplot.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4"/>
          <p:cNvSpPr/>
          <p:nvPr/>
        </p:nvSpPr>
        <p:spPr>
          <a:xfrm>
            <a:off x="6583680" y="1737360"/>
            <a:ext cx="5074200" cy="4114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Image 1" descr="/home/claude/sns/charts/scatter_relational.png"/>
          <p:cNvPicPr/>
          <p:nvPr/>
        </p:nvPicPr>
        <p:blipFill>
          <a:blip r:embed="rId2"/>
          <a:stretch/>
        </p:blipFill>
        <p:spPr>
          <a:xfrm>
            <a:off x="6693480" y="1847160"/>
            <a:ext cx="4854600" cy="389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7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5 · RELATIONAL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Anatomy of sns.scatterplot()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0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91640"/>
            <a:ext cx="5028480" cy="2742480"/>
          </a:xfrm>
          <a:prstGeom prst="roundRect">
            <a:avLst>
              <a:gd name="adj" fmla="val 4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7"/>
          <p:cNvSpPr/>
          <p:nvPr/>
        </p:nvSpPr>
        <p:spPr>
          <a:xfrm>
            <a:off x="749880" y="2075760"/>
            <a:ext cx="4626000" cy="22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sns.scatterplot(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x="total_bill", y="tip",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hue="time",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size="size",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style="time",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47" name="Table 0"/>
          <p:cNvGraphicFramePr/>
          <p:nvPr/>
        </p:nvGraphicFramePr>
        <p:xfrm>
          <a:off x="5806440" y="1691640"/>
          <a:ext cx="5851440" cy="2743200"/>
        </p:xfrm>
        <a:graphic>
          <a:graphicData uri="http://schemas.openxmlformats.org/drawingml/2006/table">
            <a:tbl>
              <a:tblPr/>
              <a:tblGrid>
                <a:gridCol w="1989720"/>
                <a:gridCol w="3862080"/>
              </a:tblGrid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x, 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The two numerical columns being compared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hue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Colors points by a category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size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Scales point size by a numeric column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style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Changes marker shape by a category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8" name="Text 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T 5 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· 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REL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ATI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ON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AL 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PLO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Total Bill vs. Tip — Four Dimensions, One Chart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2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3"/>
          <p:cNvSpPr/>
          <p:nvPr/>
        </p:nvSpPr>
        <p:spPr>
          <a:xfrm>
            <a:off x="548640" y="1691640"/>
            <a:ext cx="539424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7"/>
          <p:cNvSpPr/>
          <p:nvPr/>
        </p:nvSpPr>
        <p:spPr>
          <a:xfrm>
            <a:off x="749880" y="2075760"/>
            <a:ext cx="499176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sns.scatterplot(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x="total_bill", y="tip",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hue="time", size="size",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style="time",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alpha=0.8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plt.title("Total Bill vs. Tip")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8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9" name="Image 1" descr="/home/claude/sns/charts/scatter_relational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63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Text 9"/>
          <p:cNvSpPr/>
          <p:nvPr/>
        </p:nvSpPr>
        <p:spPr>
          <a:xfrm>
            <a:off x="6172200" y="54406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x, y, color, and size — four variables at once.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5 · RELATIONAL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sns.lineplot() — Trends, With a Confidence Band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3"/>
          <p:cNvSpPr/>
          <p:nvPr/>
        </p:nvSpPr>
        <p:spPr>
          <a:xfrm>
            <a:off x="548640" y="1691640"/>
            <a:ext cx="5211360" cy="2193840"/>
          </a:xfrm>
          <a:prstGeom prst="roundRect">
            <a:avLst>
              <a:gd name="adj" fmla="val 5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7"/>
          <p:cNvSpPr/>
          <p:nvPr/>
        </p:nvSpPr>
        <p:spPr>
          <a:xfrm>
            <a:off x="749880" y="2075760"/>
            <a:ext cx="480888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sns.lineplot(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x="year",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y="passengers",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data=flights,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marker="o"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8"/>
          <p:cNvSpPr/>
          <p:nvPr/>
        </p:nvSpPr>
        <p:spPr>
          <a:xfrm>
            <a:off x="548640" y="4023360"/>
            <a:ext cx="521136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When multiple rows share the same X value, lineplot() automatically averages them and draws a confidence interval band around the line — a Matplotlib line chart can't do this on its own.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makes lineplot the default choice for time trends in a DataFrame with repeated measurements.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9"/>
          <p:cNvSpPr/>
          <p:nvPr/>
        </p:nvSpPr>
        <p:spPr>
          <a:xfrm>
            <a:off x="6035040" y="1691640"/>
            <a:ext cx="562284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3" name="Image 1" descr="/home/claude/sns/charts/lineplot_flights.png"/>
          <p:cNvPicPr/>
          <p:nvPr/>
        </p:nvPicPr>
        <p:blipFill>
          <a:blip r:embed="rId2"/>
          <a:stretch/>
        </p:blipFill>
        <p:spPr>
          <a:xfrm>
            <a:off x="6144840" y="1801440"/>
            <a:ext cx="5403240" cy="363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4" name="Text 10"/>
          <p:cNvSpPr/>
          <p:nvPr/>
        </p:nvSpPr>
        <p:spPr>
          <a:xfrm>
            <a:off x="6035040" y="5440680"/>
            <a:ext cx="56228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Airline passengers per year, with a shaded CI band.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1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39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5 · RELATIONAL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Relational Plots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scatterplot of tip vs. total_bill with hue="day".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Add size="size" to the same chart and describe what new information appears.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lineplot from the flights dataset showing passengers over year, and explain what the shaded band means.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7"/>
          <p:cNvSpPr/>
          <p:nvPr/>
        </p:nvSpPr>
        <p:spPr>
          <a:xfrm>
            <a:off x="548640" y="48736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18"/>
          <p:cNvSpPr/>
          <p:nvPr/>
        </p:nvSpPr>
        <p:spPr>
          <a:xfrm>
            <a:off x="731520" y="51206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9"/>
          <p:cNvSpPr/>
          <p:nvPr/>
        </p:nvSpPr>
        <p:spPr>
          <a:xfrm>
            <a:off x="731520" y="51206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20"/>
          <p:cNvSpPr/>
          <p:nvPr/>
        </p:nvSpPr>
        <p:spPr>
          <a:xfrm>
            <a:off x="1234440" y="48736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Try sns.relplot() with col="time" on the tips dataset — what does col= actually build?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7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21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6 · REGRESSION PLOTS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Regression Plots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Fitting and visualizing a trend line automatically — with a confidence band around the fit.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41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6 · REGRESSION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What Is a Regression Plot?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0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3"/>
          <p:cNvSpPr/>
          <p:nvPr/>
        </p:nvSpPr>
        <p:spPr>
          <a:xfrm>
            <a:off x="548640" y="1737360"/>
            <a:ext cx="580572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regression plot draws a scatter of two numerical variables, plus a fitted trend line straight through them.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The shaded band around the line is the confidence interval — how sure Seaborn is about where the true trend sits.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is one of the fastest ways to sanity-check "is there a relationship here at all?" before building any model.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section covers: regplot (axes-level) and lmplot (figure-level, with faceting and hue support).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Shape 4"/>
          <p:cNvSpPr/>
          <p:nvPr/>
        </p:nvSpPr>
        <p:spPr>
          <a:xfrm>
            <a:off x="6583680" y="1737360"/>
            <a:ext cx="5074200" cy="4114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3" name="Image 1" descr="/home/claude/sns/charts/regplot.png"/>
          <p:cNvPicPr/>
          <p:nvPr/>
        </p:nvPicPr>
        <p:blipFill>
          <a:blip r:embed="rId2"/>
          <a:stretch/>
        </p:blipFill>
        <p:spPr>
          <a:xfrm>
            <a:off x="6693480" y="1847160"/>
            <a:ext cx="4854600" cy="389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4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6 · REGRESSION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Anatomy of sns.regplot()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17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8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3"/>
          <p:cNvSpPr/>
          <p:nvPr/>
        </p:nvSpPr>
        <p:spPr>
          <a:xfrm>
            <a:off x="548640" y="1691640"/>
            <a:ext cx="5028480" cy="237672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7"/>
          <p:cNvSpPr/>
          <p:nvPr/>
        </p:nvSpPr>
        <p:spPr>
          <a:xfrm>
            <a:off x="749880" y="2075760"/>
            <a:ext cx="4626000" cy="18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sns.regplot(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x="total_bill",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y="tip",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scatter_kws={"alpha": 0.5}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4" name="Table 0"/>
          <p:cNvGraphicFramePr/>
          <p:nvPr/>
        </p:nvGraphicFramePr>
        <p:xfrm>
          <a:off x="5806440" y="1691640"/>
          <a:ext cx="5851440" cy="2376000"/>
        </p:xfrm>
        <a:graphic>
          <a:graphicData uri="http://schemas.openxmlformats.org/drawingml/2006/table">
            <a:tbl>
              <a:tblPr/>
              <a:tblGrid>
                <a:gridCol w="1989720"/>
                <a:gridCol w="3862080"/>
              </a:tblGrid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x, y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The two numerical columns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The DataFrame to plot from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scatter_kws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A dict of extra options passed to the scatter points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line_kws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A dict of extra options passed to the fit line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5" name="Text 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6 · REGRESSION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Reading a regplot() — Trend + Confidence Band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9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3"/>
          <p:cNvSpPr/>
          <p:nvPr/>
        </p:nvSpPr>
        <p:spPr>
          <a:xfrm>
            <a:off x="548640" y="1691640"/>
            <a:ext cx="539424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7"/>
          <p:cNvSpPr/>
          <p:nvPr/>
        </p:nvSpPr>
        <p:spPr>
          <a:xfrm>
            <a:off x="749880" y="2075760"/>
            <a:ext cx="499176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sns.regplot(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x="total_bill", y="tip",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scatter_kws={"alpha": 0.5},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line_kws={"color": "crimson"}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plt.title("Bill vs. Tip, with Trend")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Shape 8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6" name="Image 1" descr="/home/claude/sns/charts/regplot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63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7" name="Text 9"/>
          <p:cNvSpPr/>
          <p:nvPr/>
        </p:nvSpPr>
        <p:spPr>
          <a:xfrm>
            <a:off x="6172200" y="54406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The tighter the band, the more confident the fit.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6 · REGRESSION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sns.lmplot() — One Fit Per Group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2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3"/>
          <p:cNvSpPr/>
          <p:nvPr/>
        </p:nvSpPr>
        <p:spPr>
          <a:xfrm>
            <a:off x="548640" y="1691640"/>
            <a:ext cx="539424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7"/>
          <p:cNvSpPr/>
          <p:nvPr/>
        </p:nvSpPr>
        <p:spPr>
          <a:xfrm>
            <a:off x="749880" y="2075760"/>
            <a:ext cx="499176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sns.lmplot(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x="total_bill", y="tip",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data=tips,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hue="day",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palette="deep",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markers="o",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scatter_kws={"s": 50}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8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9" name="Image 1" descr="/home/claude/sns/charts/lmplot_hue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63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0" name="Text 9"/>
          <p:cNvSpPr/>
          <p:nvPr/>
        </p:nvSpPr>
        <p:spPr>
          <a:xfrm>
            <a:off x="6172200" y="54406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hue="day" fits a separate trend line per day.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6 · REGRESSION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Regression Plots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regplot of total_bill vs. tip, and describe whether the relationship looks strong or weak.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Rebuild it as an lmplot with hue="smoker" — do smokers and non-smokers </a:t>
            </a: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follow the same trend?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Explain in one sentence what would make the confidence band narrower.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0" name="Text 17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4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5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7 · MATRIX PLOTS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Matrix Plots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Turning a grid of numbers — usually a correlation matrix — into an instantly readable picture.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47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7 · MATRIX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What Is a Matrix Plot?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1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2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3"/>
          <p:cNvSpPr/>
          <p:nvPr/>
        </p:nvSpPr>
        <p:spPr>
          <a:xfrm>
            <a:off x="548640" y="1737360"/>
            <a:ext cx="580572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matrix plot colors every cell of a 2D grid of numbers by its value — the classic use case is a correlation matrix.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Reading it: darker (or more saturated) cells mean a stronger relationship; the diagonal is always 1.0, since every column perfectly correlates with itself.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turns a wall of numbers from df.corr() into something you can scan in two seconds.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00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section covers: heatmap and a quick look at clustermap.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Shape 4"/>
          <p:cNvSpPr/>
          <p:nvPr/>
        </p:nvSpPr>
        <p:spPr>
          <a:xfrm>
            <a:off x="6583680" y="1737360"/>
            <a:ext cx="5074200" cy="41140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5" name="Image 1" descr="/home/claude/sns/charts/heatmap_corr.png"/>
          <p:cNvPicPr/>
          <p:nvPr/>
        </p:nvPicPr>
        <p:blipFill>
          <a:blip r:embed="rId2"/>
          <a:stretch/>
        </p:blipFill>
        <p:spPr>
          <a:xfrm>
            <a:off x="6693480" y="1847160"/>
            <a:ext cx="4854600" cy="3894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6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7 · MATRIX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Anatomy of sns.heatmap()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0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Shape 3"/>
          <p:cNvSpPr/>
          <p:nvPr/>
        </p:nvSpPr>
        <p:spPr>
          <a:xfrm>
            <a:off x="548640" y="1691640"/>
            <a:ext cx="5028480" cy="237672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7"/>
          <p:cNvSpPr/>
          <p:nvPr/>
        </p:nvSpPr>
        <p:spPr>
          <a:xfrm>
            <a:off x="749880" y="2075760"/>
            <a:ext cx="4626000" cy="18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sns.heatmap(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data.corr(),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annot=True,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cmap="color_map",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linewidths=1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6" name="Table 0"/>
          <p:cNvGraphicFramePr/>
          <p:nvPr/>
        </p:nvGraphicFramePr>
        <p:xfrm>
          <a:off x="5806440" y="1691640"/>
          <a:ext cx="5851440" cy="2376000"/>
        </p:xfrm>
        <a:graphic>
          <a:graphicData uri="http://schemas.openxmlformats.org/drawingml/2006/table">
            <a:tbl>
              <a:tblPr/>
              <a:tblGrid>
                <a:gridCol w="1989720"/>
                <a:gridCol w="3862080"/>
              </a:tblGrid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A 2D grid of numbers — usually a correlation matrix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annot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If True, prints the number inside each cell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cmap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The colormap used to encode value → color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20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linewidths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Adds thin gaps between cells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7" name="Text 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49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A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R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T 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7 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· 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M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A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T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R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I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X 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L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O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T</a:t>
            </a: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 Correlation Heatmap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0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1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3"/>
          <p:cNvSpPr/>
          <p:nvPr/>
        </p:nvSpPr>
        <p:spPr>
          <a:xfrm>
            <a:off x="548640" y="1691640"/>
            <a:ext cx="539424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7"/>
          <p:cNvSpPr/>
          <p:nvPr/>
        </p:nvSpPr>
        <p:spPr>
          <a:xfrm>
            <a:off x="749880" y="2075760"/>
            <a:ext cx="499176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corr = tips[["total_bill",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"tip", "size"]].corr()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sns.heatmap(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corr,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annot=True,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cmap="Purples"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plt.title("Correlation Heatmap")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8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1" descr="/home/claude/sns/charts/heatmap_corr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80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7 · MATRIX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Reshaping Data for a Heatmap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2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3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Shape 3"/>
          <p:cNvSpPr/>
          <p:nvPr/>
        </p:nvSpPr>
        <p:spPr>
          <a:xfrm>
            <a:off x="548640" y="1691640"/>
            <a:ext cx="5394240" cy="4022640"/>
          </a:xfrm>
          <a:prstGeom prst="roundRect">
            <a:avLst>
              <a:gd name="adj" fmla="val 2727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7"/>
          <p:cNvSpPr/>
          <p:nvPr/>
        </p:nvSpPr>
        <p:spPr>
          <a:xfrm>
            <a:off x="749880" y="2075760"/>
            <a:ext cx="4991760" cy="34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flights = sns.load_dataset("flights")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pvt = flights.pivot_table(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values="passengers",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index="month",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columns="year"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sns.heatmap(pvt, cmap="Purples")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8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0" name="Image 1" descr="/home/claude/sns/charts/heatmap_flights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63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1" name="Text 9"/>
          <p:cNvSpPr/>
          <p:nvPr/>
        </p:nvSpPr>
        <p:spPr>
          <a:xfrm>
            <a:off x="6172200" y="54406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pivot_table() reshapes long data into a grid heatmap can read.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7 · MATRIX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A Quick Look: clustermap()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6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3"/>
          <p:cNvSpPr/>
          <p:nvPr/>
        </p:nvSpPr>
        <p:spPr>
          <a:xfrm>
            <a:off x="548640" y="1691640"/>
            <a:ext cx="5211360" cy="4571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8" name="Image 1" descr="/home/claude/sns/charts/clustermap.png"/>
          <p:cNvPicPr/>
          <p:nvPr/>
        </p:nvPicPr>
        <p:blipFill>
          <a:blip r:embed="rId2"/>
          <a:stretch/>
        </p:blipFill>
        <p:spPr>
          <a:xfrm>
            <a:off x="658440" y="1801440"/>
            <a:ext cx="4991760" cy="435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9" name="Text 4"/>
          <p:cNvSpPr/>
          <p:nvPr/>
        </p:nvSpPr>
        <p:spPr>
          <a:xfrm>
            <a:off x="6035040" y="1691640"/>
            <a:ext cx="5622840" cy="45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clustermap() draws the same heatmap, but reorders rows and columns to group similar ones together, with a small dendrogram (tree diagram) on the side.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You won't need this often as a beginner — but it's worth recognizing when you see it, since it's common in feature-correlation reports.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sns.clustermap(data.corr()) is literally a drop-in replacement for sns.heatmap(data.corr()).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7 · MATRIX PLOTS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Matrix Plots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correlation heatmap for any 3+ numeric columns of your choice, with annot=True.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Identify the strongest and weakest correlation pair in your heatmap.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pivot_table from any dataset and turn it into a heatmap.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4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9" name="Text 17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1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3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4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8 · STYLING &amp; PALETTES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Styling &amp; Palettes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Making a chart presentation-ready in one or two extra lines.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54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8 · STYLING &amp; PALETTES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sns.set_style() — Background &amp; Grid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0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1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2" name="Table 0"/>
          <p:cNvGraphicFramePr/>
          <p:nvPr/>
        </p:nvGraphicFramePr>
        <p:xfrm>
          <a:off x="548640" y="1691640"/>
          <a:ext cx="11109240" cy="3200400"/>
        </p:xfrm>
        <a:graphic>
          <a:graphicData uri="http://schemas.openxmlformats.org/drawingml/2006/table">
            <a:tbl>
              <a:tblPr/>
              <a:tblGrid>
                <a:gridCol w="3777120"/>
                <a:gridCol w="7332480"/>
              </a:tblGrid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"darkgrid"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Gray background, white grid lines (the default)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"whitegrid"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White background, gray grid lines — good for print/slides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"dark" / "white"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Same backgrounds, no grid lines at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"ticks"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White background with small axis tick marks, no grid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3" name="Text 3"/>
          <p:cNvSpPr/>
          <p:nvPr/>
        </p:nvSpPr>
        <p:spPr>
          <a:xfrm>
            <a:off x="548640" y="5120640"/>
            <a:ext cx="111092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Set it once, right after importing Seaborn: sns.set_style("whitegrid").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4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8 · STYLING &amp; PALETTES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sns.set_palette() — Choosing Colors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7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8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9" name="Table 0"/>
          <p:cNvGraphicFramePr/>
          <p:nvPr/>
        </p:nvGraphicFramePr>
        <p:xfrm>
          <a:off x="548640" y="1691640"/>
          <a:ext cx="11109240" cy="2468160"/>
        </p:xfrm>
        <a:graphic>
          <a:graphicData uri="http://schemas.openxmlformats.org/drawingml/2006/table">
            <a:tbl>
              <a:tblPr/>
              <a:tblGrid>
                <a:gridCol w="3777120"/>
                <a:gridCol w="7332480"/>
              </a:tblGrid>
              <a:tr h="6170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Parameter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lus Jakarta Sans"/>
                          <a:ea typeface="Plus Jakarta Sans"/>
                        </a:rPr>
                        <a:t>Meaning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5755A7"/>
                    </a:solidFill>
                  </a:tcPr>
                </a:tc>
              </a:tr>
              <a:tr h="6170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Sequential (e.g. "Blues", "Purples")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Light → dark, for one-directional numeric 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70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Diverging (e.g. "coolwarm", "RdBu")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Color → neutral → color, for data centered on zero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7040"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5755A7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Qualitative (e.g. "Set2", "deep", "rainbow")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1520" tIns="50760" rIns="10152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1B1B20"/>
                          </a:solidFill>
                          <a:effectLst/>
                          <a:uFillTx/>
                          <a:latin typeface="Hanken Grotesk"/>
                          <a:ea typeface="Hanken Grotesk"/>
                        </a:rPr>
                        <a:t>Distinct colors with no inherent order — for categories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1520" marR="101520" marT="50760" marB="50760">
                    <a:lnL w="9360">
                      <a:solidFill>
                        <a:srgbClr val="C8C5D3"/>
                      </a:solidFill>
                      <a:prstDash val="solid"/>
                    </a:lnL>
                    <a:lnR w="9360">
                      <a:solidFill>
                        <a:srgbClr val="C8C5D3"/>
                      </a:solidFill>
                      <a:prstDash val="solid"/>
                    </a:lnR>
                    <a:lnT w="9360">
                      <a:solidFill>
                        <a:srgbClr val="C8C5D3"/>
                      </a:solidFill>
                      <a:prstDash val="solid"/>
                    </a:lnT>
                    <a:lnB w="9360">
                      <a:solidFill>
                        <a:srgbClr val="C8C5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0" name="Shape 3"/>
          <p:cNvSpPr/>
          <p:nvPr/>
        </p:nvSpPr>
        <p:spPr>
          <a:xfrm>
            <a:off x="548640" y="4434840"/>
            <a:ext cx="11109240" cy="1553760"/>
          </a:xfrm>
          <a:prstGeom prst="roundRect">
            <a:avLst>
              <a:gd name="adj" fmla="val 7059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Shape 4"/>
          <p:cNvSpPr/>
          <p:nvPr/>
        </p:nvSpPr>
        <p:spPr>
          <a:xfrm>
            <a:off x="713160" y="45810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5"/>
          <p:cNvSpPr/>
          <p:nvPr/>
        </p:nvSpPr>
        <p:spPr>
          <a:xfrm>
            <a:off x="914400" y="45810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6"/>
          <p:cNvSpPr/>
          <p:nvPr/>
        </p:nvSpPr>
        <p:spPr>
          <a:xfrm>
            <a:off x="1115640" y="45810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7"/>
          <p:cNvSpPr/>
          <p:nvPr/>
        </p:nvSpPr>
        <p:spPr>
          <a:xfrm>
            <a:off x="749880" y="4818960"/>
            <a:ext cx="10706760" cy="10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sns.set_palette("deep")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# or per-chart, without changing the global default: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sns.boxplot(x="day", y="tip", data=tips, palette="Set2")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8 · STYLING &amp; PALETTES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Styling &amp; Palettes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Redraw any earlier chart with sns.set_style("ticks") and compare it to the default.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Pick a sequential palette and a qualitative palette, and explain which you'd use for a correlation heatmap vs. a bar chart split by category.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Set a global palette with sns.set_palette(), then override it on one chart using palette= directly.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3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4" name="Text 17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1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9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Seaborn for EDA &amp; Machine Learning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Switching to the titanic dataset — a real binary target, and the exact workflow you'll run before training any model.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58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New Dataset: titanic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6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3"/>
          <p:cNvSpPr/>
          <p:nvPr/>
        </p:nvSpPr>
        <p:spPr>
          <a:xfrm>
            <a:off x="548640" y="1691640"/>
            <a:ext cx="5211360" cy="2742480"/>
          </a:xfrm>
          <a:prstGeom prst="roundRect">
            <a:avLst>
              <a:gd name="adj" fmla="val 4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7"/>
          <p:cNvSpPr/>
          <p:nvPr/>
        </p:nvSpPr>
        <p:spPr>
          <a:xfrm>
            <a:off x="749880" y="2075760"/>
            <a:ext cx="4808880" cy="22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titanic = sns.load_dataset("titanic")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titanic.shape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# (891, 15)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titanic[["survived", "pclass",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"age", "fare"]].head()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8"/>
          <p:cNvSpPr/>
          <p:nvPr/>
        </p:nvSpPr>
        <p:spPr>
          <a:xfrm>
            <a:off x="6035040" y="1691640"/>
            <a:ext cx="562284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titanic has something tips doesn't: a real binary target column, survived — perfect for the class-balance and correlation workflows every ML project starts with.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3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Same sns. functions you already know — just a new, richer dataset.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9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59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Step 1 — Feature Screening with a Heatmap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6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7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Shape 3"/>
          <p:cNvSpPr/>
          <p:nvPr/>
        </p:nvSpPr>
        <p:spPr>
          <a:xfrm>
            <a:off x="548640" y="1691640"/>
            <a:ext cx="5211360" cy="2742480"/>
          </a:xfrm>
          <a:prstGeom prst="roundRect">
            <a:avLst>
              <a:gd name="adj" fmla="val 4000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7"/>
          <p:cNvSpPr/>
          <p:nvPr/>
        </p:nvSpPr>
        <p:spPr>
          <a:xfrm>
            <a:off x="749880" y="2075760"/>
            <a:ext cx="4808880" cy="221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num_cols = ["survived", "pclass",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"age", "sibsp", "parch", "fare"]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sns.heatmap(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titanic[num_cols].corr(),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annot=True, cmap="Purples"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8"/>
          <p:cNvSpPr/>
          <p:nvPr/>
        </p:nvSpPr>
        <p:spPr>
          <a:xfrm>
            <a:off x="6035040" y="1691640"/>
            <a:ext cx="5622840" cy="274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Before building any model, check which features actually relate to your target — here, survived.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fare and pclass stand out immediately — worth investigating further; sibsp and parch barely move the needle alone.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Shape 9"/>
          <p:cNvSpPr/>
          <p:nvPr/>
        </p:nvSpPr>
        <p:spPr>
          <a:xfrm>
            <a:off x="548640" y="4572000"/>
            <a:ext cx="5211360" cy="196524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5" name="Image 1" descr="/home/claude/sns/charts/titanic_heatmap.png"/>
          <p:cNvPicPr/>
          <p:nvPr/>
        </p:nvPicPr>
        <p:blipFill>
          <a:blip r:embed="rId2"/>
          <a:stretch/>
        </p:blipFill>
        <p:spPr>
          <a:xfrm>
            <a:off x="658440" y="4681800"/>
            <a:ext cx="4991760" cy="174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6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60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Step 2 — Checking Class Balance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9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0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Shape 3"/>
          <p:cNvSpPr/>
          <p:nvPr/>
        </p:nvSpPr>
        <p:spPr>
          <a:xfrm>
            <a:off x="548640" y="1691640"/>
            <a:ext cx="5394240" cy="237672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7"/>
          <p:cNvSpPr/>
          <p:nvPr/>
        </p:nvSpPr>
        <p:spPr>
          <a:xfrm>
            <a:off x="749880" y="2075760"/>
            <a:ext cx="4991760" cy="18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sns.countplot(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x="pclass",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hue="survived",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data=titanic,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palette=["#E07AB4", "#5755A7"]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8"/>
          <p:cNvSpPr/>
          <p:nvPr/>
        </p:nvSpPr>
        <p:spPr>
          <a:xfrm>
            <a:off x="548640" y="4206240"/>
            <a:ext cx="539424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quick countplot answers: is my target balanced, and does the class break down differently by group?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1st class passengers survived at a noticeably higher rate — a strong early signal for modeling.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Shape 9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8" name="Image 1" descr="/home/claude/sns/charts/titanic_countplot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80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Step 3 — Outlier &amp; Group Checks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2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3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3"/>
          <p:cNvSpPr/>
          <p:nvPr/>
        </p:nvSpPr>
        <p:spPr>
          <a:xfrm>
            <a:off x="548640" y="1691640"/>
            <a:ext cx="5394240" cy="2376720"/>
          </a:xfrm>
          <a:prstGeom prst="roundRect">
            <a:avLst>
              <a:gd name="adj" fmla="val 4615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 7"/>
          <p:cNvSpPr/>
          <p:nvPr/>
        </p:nvSpPr>
        <p:spPr>
          <a:xfrm>
            <a:off x="749880" y="2075760"/>
            <a:ext cx="4991760" cy="18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sns.boxplot(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x="pclass", y="age",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hue="survived",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data=titanic,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palette=["#E07AB4", "#5755A7"]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8"/>
          <p:cNvSpPr/>
          <p:nvPr/>
        </p:nvSpPr>
        <p:spPr>
          <a:xfrm>
            <a:off x="548640" y="4206240"/>
            <a:ext cx="53942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 boxplot per group, split by hue, is the fastest way to spot both outliers and whether a feature's spread differs meaningfully across your target.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Shape 9"/>
          <p:cNvSpPr/>
          <p:nvPr/>
        </p:nvSpPr>
        <p:spPr>
          <a:xfrm>
            <a:off x="6172200" y="1691640"/>
            <a:ext cx="5485680" cy="402264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1" name="Image 1" descr="/home/claude/sns/charts/titanic_boxplot.png"/>
          <p:cNvPicPr/>
          <p:nvPr/>
        </p:nvPicPr>
        <p:blipFill>
          <a:blip r:embed="rId2"/>
          <a:stretch/>
        </p:blipFill>
        <p:spPr>
          <a:xfrm>
            <a:off x="6282000" y="1801440"/>
            <a:ext cx="5266080" cy="380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2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Step 4 — Scanning Everything with pairplot()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6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Shape 3"/>
          <p:cNvSpPr/>
          <p:nvPr/>
        </p:nvSpPr>
        <p:spPr>
          <a:xfrm>
            <a:off x="548640" y="1691640"/>
            <a:ext cx="5028480" cy="2559600"/>
          </a:xfrm>
          <a:prstGeom prst="roundRect">
            <a:avLst>
              <a:gd name="adj" fmla="val 4286"/>
            </a:avLst>
          </a:prstGeom>
          <a:solidFill>
            <a:srgbClr val="0E1420"/>
          </a:solidFill>
          <a:ln w="9525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Shape 4"/>
          <p:cNvSpPr/>
          <p:nvPr/>
        </p:nvSpPr>
        <p:spPr>
          <a:xfrm>
            <a:off x="713160" y="1837800"/>
            <a:ext cx="99720" cy="99720"/>
          </a:xfrm>
          <a:prstGeom prst="ellipse">
            <a:avLst/>
          </a:prstGeom>
          <a:solidFill>
            <a:srgbClr val="F43F5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Shape 5"/>
          <p:cNvSpPr/>
          <p:nvPr/>
        </p:nvSpPr>
        <p:spPr>
          <a:xfrm>
            <a:off x="914400" y="1837800"/>
            <a:ext cx="99720" cy="99720"/>
          </a:xfrm>
          <a:prstGeom prst="ellipse">
            <a:avLst/>
          </a:prstGeom>
          <a:solidFill>
            <a:srgbClr val="F9C6F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Shape 6"/>
          <p:cNvSpPr/>
          <p:nvPr/>
        </p:nvSpPr>
        <p:spPr>
          <a:xfrm>
            <a:off x="1115640" y="1837800"/>
            <a:ext cx="99720" cy="99720"/>
          </a:xfrm>
          <a:prstGeom prst="ellipse">
            <a:avLst/>
          </a:prstGeom>
          <a:solidFill>
            <a:srgbClr val="2DD4B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040" tIns="26280" rIns="50040" bIns="26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7"/>
          <p:cNvSpPr/>
          <p:nvPr/>
        </p:nvSpPr>
        <p:spPr>
          <a:xfrm>
            <a:off x="749880" y="2075760"/>
            <a:ext cx="4626000" cy="20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sub = titanic[["survived", "age",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"fare", "pclass"]].dropna()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sns.pairplot(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sub, hue="survived",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    palette=["#E07AB4", "#5755A7"]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onsolas"/>
                <a:ea typeface="Consolas"/>
              </a:rPr>
              <a:t>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8"/>
          <p:cNvSpPr/>
          <p:nvPr/>
        </p:nvSpPr>
        <p:spPr>
          <a:xfrm>
            <a:off x="548640" y="4434840"/>
            <a:ext cx="50284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The same pairplot() from Part 3, now with a real ML target as hue — a fast way to see which feature pairs visually separate survivors from non-survivors.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Shape 9"/>
          <p:cNvSpPr/>
          <p:nvPr/>
        </p:nvSpPr>
        <p:spPr>
          <a:xfrm>
            <a:off x="5715000" y="1691640"/>
            <a:ext cx="5942880" cy="4708440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4" name="Image 1" descr="/home/claude/sns/charts/titanic_pairplot.png"/>
          <p:cNvPicPr/>
          <p:nvPr/>
        </p:nvPicPr>
        <p:blipFill>
          <a:blip r:embed="rId2"/>
          <a:stretch/>
        </p:blipFill>
        <p:spPr>
          <a:xfrm>
            <a:off x="5824800" y="1801440"/>
            <a:ext cx="5723280" cy="448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5" name="Text 10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The Workflow, Tied Together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9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3"/>
          <p:cNvSpPr/>
          <p:nvPr/>
        </p:nvSpPr>
        <p:spPr>
          <a:xfrm>
            <a:off x="548640" y="1737360"/>
            <a:ext cx="11109240" cy="42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1. Heatmap — which features even relate to the target?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2. Countplot — is the target balanced across groups?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3. Boxplot — where are the outliers, and do groups differ?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4. Pairplot — do any feature pairs visually separate the classes?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1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This four-step pass is almost always the first thing done to a new dataset before any model is trained — and it's now entirely built from tools you already know.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4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Shape 0"/>
          <p:cNvSpPr/>
          <p:nvPr/>
        </p:nvSpPr>
        <p:spPr>
          <a:xfrm>
            <a:off x="548640" y="502920"/>
            <a:ext cx="566280" cy="566280"/>
          </a:xfrm>
          <a:prstGeom prst="roundRect">
            <a:avLst>
              <a:gd name="adj" fmla="val 50000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Text 1"/>
          <p:cNvSpPr/>
          <p:nvPr/>
        </p:nvSpPr>
        <p:spPr>
          <a:xfrm>
            <a:off x="548640" y="502920"/>
            <a:ext cx="56628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231F71"/>
                </a:solidFill>
                <a:effectLst/>
                <a:uFillTx/>
                <a:latin typeface="Hanken Grotesk"/>
                <a:ea typeface="Hanken Grotesk"/>
              </a:rPr>
              <a:t>◎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2"/>
          <p:cNvSpPr/>
          <p:nvPr/>
        </p:nvSpPr>
        <p:spPr>
          <a:xfrm>
            <a:off x="1261800" y="502920"/>
            <a:ext cx="8228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9 · SEABORN FOR EDA &amp; ML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 3"/>
          <p:cNvSpPr/>
          <p:nvPr/>
        </p:nvSpPr>
        <p:spPr>
          <a:xfrm>
            <a:off x="1261800" y="777240"/>
            <a:ext cx="96004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Practice Set — Seaborn for EDA &amp; ML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4"/>
          <p:cNvSpPr/>
          <p:nvPr/>
        </p:nvSpPr>
        <p:spPr>
          <a:xfrm>
            <a:off x="548640" y="1417320"/>
            <a:ext cx="10514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474651"/>
                </a:solidFill>
                <a:effectLst/>
                <a:uFillTx/>
                <a:latin typeface="Hanken Grotesk"/>
                <a:ea typeface="Hanken Grotesk"/>
              </a:rPr>
              <a:t>Try these yourself first — no code shown, that's the point.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5"/>
          <p:cNvSpPr/>
          <p:nvPr/>
        </p:nvSpPr>
        <p:spPr>
          <a:xfrm>
            <a:off x="548640" y="19659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Shape 6"/>
          <p:cNvSpPr/>
          <p:nvPr/>
        </p:nvSpPr>
        <p:spPr>
          <a:xfrm>
            <a:off x="731520" y="22129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7"/>
          <p:cNvSpPr/>
          <p:nvPr/>
        </p:nvSpPr>
        <p:spPr>
          <a:xfrm>
            <a:off x="731520" y="22129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8"/>
          <p:cNvSpPr/>
          <p:nvPr/>
        </p:nvSpPr>
        <p:spPr>
          <a:xfrm>
            <a:off x="1234440" y="19659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correlation heatmap for titanic using different numeric columns than the example.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9"/>
          <p:cNvSpPr/>
          <p:nvPr/>
        </p:nvSpPr>
        <p:spPr>
          <a:xfrm>
            <a:off x="548640" y="29350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Shape 10"/>
          <p:cNvSpPr/>
          <p:nvPr/>
        </p:nvSpPr>
        <p:spPr>
          <a:xfrm>
            <a:off x="731520" y="31820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11"/>
          <p:cNvSpPr/>
          <p:nvPr/>
        </p:nvSpPr>
        <p:spPr>
          <a:xfrm>
            <a:off x="731520" y="31820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12"/>
          <p:cNvSpPr/>
          <p:nvPr/>
        </p:nvSpPr>
        <p:spPr>
          <a:xfrm>
            <a:off x="1234440" y="29350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countplot checking class balance for the sex column against survived.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13"/>
          <p:cNvSpPr/>
          <p:nvPr/>
        </p:nvSpPr>
        <p:spPr>
          <a:xfrm>
            <a:off x="548640" y="390456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14"/>
          <p:cNvSpPr/>
          <p:nvPr/>
        </p:nvSpPr>
        <p:spPr>
          <a:xfrm>
            <a:off x="731520" y="415152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15"/>
          <p:cNvSpPr/>
          <p:nvPr/>
        </p:nvSpPr>
        <p:spPr>
          <a:xfrm>
            <a:off x="731520" y="415152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16"/>
          <p:cNvSpPr/>
          <p:nvPr/>
        </p:nvSpPr>
        <p:spPr>
          <a:xfrm>
            <a:off x="1234440" y="390456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boxplot of fare by pclass, split by survived, and note anything unusual.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Shape 17"/>
          <p:cNvSpPr/>
          <p:nvPr/>
        </p:nvSpPr>
        <p:spPr>
          <a:xfrm>
            <a:off x="548640" y="4873680"/>
            <a:ext cx="11063520" cy="8406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C8C5D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Shape 18"/>
          <p:cNvSpPr/>
          <p:nvPr/>
        </p:nvSpPr>
        <p:spPr>
          <a:xfrm>
            <a:off x="731520" y="5120640"/>
            <a:ext cx="346680" cy="346680"/>
          </a:xfrm>
          <a:prstGeom prst="roundRect">
            <a:avLst>
              <a:gd name="adj" fmla="val 50000"/>
            </a:avLst>
          </a:prstGeom>
          <a:solidFill>
            <a:srgbClr val="BBED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19"/>
          <p:cNvSpPr/>
          <p:nvPr/>
        </p:nvSpPr>
        <p:spPr>
          <a:xfrm>
            <a:off x="731520" y="5120640"/>
            <a:ext cx="3466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2019"/>
                </a:solidFill>
                <a:effectLst/>
                <a:uFillTx/>
                <a:latin typeface="Bricolage Grotesque"/>
                <a:ea typeface="Bricolage Grotesque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20"/>
          <p:cNvSpPr/>
          <p:nvPr/>
        </p:nvSpPr>
        <p:spPr>
          <a:xfrm>
            <a:off x="1234440" y="4873680"/>
            <a:ext cx="10149120" cy="84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Run a pairplot on 3 columns of your choice from titanic, colored by survived.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3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4" name="Text 21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22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Shape 0"/>
          <p:cNvSpPr/>
          <p:nvPr/>
        </p:nvSpPr>
        <p:spPr>
          <a:xfrm>
            <a:off x="9692640" y="-1463040"/>
            <a:ext cx="3839760" cy="38397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7" name="Shape 1"/>
          <p:cNvSpPr/>
          <p:nvPr/>
        </p:nvSpPr>
        <p:spPr>
          <a:xfrm>
            <a:off x="-1280160" y="4754880"/>
            <a:ext cx="3108240" cy="3108240"/>
          </a:xfrm>
          <a:prstGeom prst="ellipse">
            <a:avLst/>
          </a:prstGeom>
          <a:solidFill>
            <a:srgbClr val="11362E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98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640080" y="548640"/>
            <a:ext cx="438120" cy="52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9" name="Text 2"/>
          <p:cNvSpPr/>
          <p:nvPr/>
        </p:nvSpPr>
        <p:spPr>
          <a:xfrm>
            <a:off x="640080" y="2331720"/>
            <a:ext cx="91432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PART 10 · MINI PROJECTS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3"/>
          <p:cNvSpPr/>
          <p:nvPr/>
        </p:nvSpPr>
        <p:spPr>
          <a:xfrm>
            <a:off x="640080" y="2743200"/>
            <a:ext cx="1033200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pc="-51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Put It All Together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4"/>
          <p:cNvSpPr/>
          <p:nvPr/>
        </p:nvSpPr>
        <p:spPr>
          <a:xfrm>
            <a:off x="640080" y="3977640"/>
            <a:ext cx="9691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Three small projects combining everything from Foundations to EDA &amp; ML — built end to end on real Seaborn datasets.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66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10 · MINI PROJECTS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Mini Project 1: Restaurant Tipping Report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6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Shape 3"/>
          <p:cNvSpPr/>
          <p:nvPr/>
        </p:nvSpPr>
        <p:spPr>
          <a:xfrm>
            <a:off x="548640" y="1737360"/>
            <a:ext cx="3062520" cy="3976920"/>
          </a:xfrm>
          <a:prstGeom prst="roundRect">
            <a:avLst>
              <a:gd name="adj" fmla="val 4179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Shape 4"/>
          <p:cNvSpPr/>
          <p:nvPr/>
        </p:nvSpPr>
        <p:spPr>
          <a:xfrm>
            <a:off x="1577520" y="2194560"/>
            <a:ext cx="1005120" cy="1005120"/>
          </a:xfrm>
          <a:prstGeom prst="ellipse">
            <a:avLst/>
          </a:prstGeom>
          <a:solidFill>
            <a:srgbClr val="231F71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5"/>
          <p:cNvSpPr/>
          <p:nvPr/>
        </p:nvSpPr>
        <p:spPr>
          <a:xfrm>
            <a:off x="1577520" y="2194560"/>
            <a:ext cx="100512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1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6"/>
          <p:cNvSpPr/>
          <p:nvPr/>
        </p:nvSpPr>
        <p:spPr>
          <a:xfrm>
            <a:off x="777240" y="4663440"/>
            <a:ext cx="26053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Distribution +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Categorical, combined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7"/>
          <p:cNvSpPr/>
          <p:nvPr/>
        </p:nvSpPr>
        <p:spPr>
          <a:xfrm>
            <a:off x="4069080" y="1783080"/>
            <a:ext cx="7588800" cy="39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1×2 subplot: a histplot of total_bill, and a boxplot of tip grouped by day.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Use sns. functions with ax= so both panels share one Figure.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Add a title and axis labels to each panel using Matplotlib's ax. methods.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Write one sentence per panel summarizing what it shows about tipping behavior.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10 · MINI PROJECTS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Mini Project 2: Titanic EDA Dashboard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6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Shape 3"/>
          <p:cNvSpPr/>
          <p:nvPr/>
        </p:nvSpPr>
        <p:spPr>
          <a:xfrm>
            <a:off x="548640" y="1737360"/>
            <a:ext cx="3062520" cy="3976920"/>
          </a:xfrm>
          <a:prstGeom prst="roundRect">
            <a:avLst>
              <a:gd name="adj" fmla="val 4179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Shape 4"/>
          <p:cNvSpPr/>
          <p:nvPr/>
        </p:nvSpPr>
        <p:spPr>
          <a:xfrm>
            <a:off x="1577520" y="2194560"/>
            <a:ext cx="1005120" cy="1005120"/>
          </a:xfrm>
          <a:prstGeom prst="ellipse">
            <a:avLst/>
          </a:prstGeom>
          <a:solidFill>
            <a:srgbClr val="231F71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5"/>
          <p:cNvSpPr/>
          <p:nvPr/>
        </p:nvSpPr>
        <p:spPr>
          <a:xfrm>
            <a:off x="1577520" y="2194560"/>
            <a:ext cx="100512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2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6"/>
          <p:cNvSpPr/>
          <p:nvPr/>
        </p:nvSpPr>
        <p:spPr>
          <a:xfrm>
            <a:off x="777240" y="4663440"/>
            <a:ext cx="26053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Heatmap + Countplot +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Boxplot + Pairplot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7"/>
          <p:cNvSpPr/>
          <p:nvPr/>
        </p:nvSpPr>
        <p:spPr>
          <a:xfrm>
            <a:off x="4069080" y="1783080"/>
            <a:ext cx="7588800" cy="39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2×2 grid: correlation heatmap, class-balance countplot, age boxplot by class/survival, and a small pairplot-style scatter.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Use hue="survived" consistently across every panel that supports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Call plt.tight_layout() so nothing overlaps.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Write a 2–3 sentence summary of what the dashboard suggests about who survived.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Text 0"/>
          <p:cNvSpPr/>
          <p:nvPr/>
        </p:nvSpPr>
        <p:spPr>
          <a:xfrm>
            <a:off x="548640" y="384120"/>
            <a:ext cx="914328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201" strike="noStrike">
                <a:solidFill>
                  <a:srgbClr val="5755A7"/>
                </a:solidFill>
                <a:effectLst/>
                <a:uFillTx/>
                <a:latin typeface="Plus Jakarta Sans"/>
                <a:ea typeface="Plus Jakarta Sans"/>
              </a:rPr>
              <a:t>PART 10 · MINI PROJECTS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1"/>
          <p:cNvSpPr/>
          <p:nvPr/>
        </p:nvSpPr>
        <p:spPr>
          <a:xfrm>
            <a:off x="548640" y="658440"/>
            <a:ext cx="969192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pc="-31" strike="noStrike">
                <a:solidFill>
                  <a:srgbClr val="1B1B20"/>
                </a:solidFill>
                <a:effectLst/>
                <a:uFillTx/>
                <a:latin typeface="Bricolage Grotesque"/>
                <a:ea typeface="Bricolage Grotesque"/>
              </a:rPr>
              <a:t>Mini Project 3: Bill vs. Tip, Fully Explained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5" name="Image 0" descr="/home/claude/sns/assets/logo_icon.png"/>
          <p:cNvPicPr/>
          <p:nvPr/>
        </p:nvPicPr>
        <p:blipFill>
          <a:blip r:embed="rId1"/>
          <a:stretch/>
        </p:blipFill>
        <p:spPr>
          <a:xfrm>
            <a:off x="11323080" y="320040"/>
            <a:ext cx="383400" cy="46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2"/>
          <p:cNvSpPr/>
          <p:nvPr/>
        </p:nvSpPr>
        <p:spPr>
          <a:xfrm>
            <a:off x="457200" y="6473880"/>
            <a:ext cx="5942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CodeByPaxto  ·  AI &amp; ML Playground  ·  Seaborn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3"/>
          <p:cNvSpPr/>
          <p:nvPr/>
        </p:nvSpPr>
        <p:spPr>
          <a:xfrm>
            <a:off x="548640" y="1737360"/>
            <a:ext cx="3062520" cy="3976920"/>
          </a:xfrm>
          <a:prstGeom prst="roundRect">
            <a:avLst>
              <a:gd name="adj" fmla="val 4179"/>
            </a:avLst>
          </a:prstGeom>
          <a:solidFill>
            <a:srgbClr val="8C8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Shape 4"/>
          <p:cNvSpPr/>
          <p:nvPr/>
        </p:nvSpPr>
        <p:spPr>
          <a:xfrm>
            <a:off x="1577520" y="2194560"/>
            <a:ext cx="1005120" cy="1005120"/>
          </a:xfrm>
          <a:prstGeom prst="ellipse">
            <a:avLst/>
          </a:prstGeom>
          <a:solidFill>
            <a:srgbClr val="231F71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5"/>
          <p:cNvSpPr/>
          <p:nvPr/>
        </p:nvSpPr>
        <p:spPr>
          <a:xfrm>
            <a:off x="1577520" y="2194560"/>
            <a:ext cx="100512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231F71"/>
                </a:solidFill>
                <a:effectLst/>
                <a:uFillTx/>
                <a:latin typeface="Bricolage Grotesque"/>
                <a:ea typeface="Bricolage Grotesque"/>
              </a:rPr>
              <a:t>3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6"/>
          <p:cNvSpPr/>
          <p:nvPr/>
        </p:nvSpPr>
        <p:spPr>
          <a:xfrm>
            <a:off x="777240" y="4663440"/>
            <a:ext cx="26053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Scatter + Regression +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31F71"/>
                </a:solidFill>
                <a:effectLst/>
                <a:uFillTx/>
                <a:latin typeface="Plus Jakarta Sans"/>
                <a:ea typeface="Plus Jakarta Sans"/>
              </a:rPr>
              <a:t>Categorical, layered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7"/>
          <p:cNvSpPr/>
          <p:nvPr/>
        </p:nvSpPr>
        <p:spPr>
          <a:xfrm>
            <a:off x="4069080" y="1783080"/>
            <a:ext cx="7588800" cy="39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Build a scatterplot of total_bill vs. tip with hue="time" and size="size".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Add a regplot (or lmplot with hue="day") showing the trend and confidence band.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Add a boxplot comparing tip percentage (tip / total_bill) across day.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599"/>
              </a:spcAft>
              <a:buClr>
                <a:srgbClr val="1B1B20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B1B20"/>
                </a:solidFill>
                <a:effectLst/>
                <a:uFillTx/>
                <a:latin typeface="Hanken Grotesk"/>
                <a:ea typeface="Hanken Grotesk"/>
              </a:rPr>
              <a:t>Combine all three into one Figure using plt.subplots(1, 3, figsize=(15, 5)).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8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69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Shape 0"/>
          <p:cNvSpPr/>
          <p:nvPr/>
        </p:nvSpPr>
        <p:spPr>
          <a:xfrm>
            <a:off x="-1828800" y="-2103120"/>
            <a:ext cx="4754160" cy="475416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Shape 1"/>
          <p:cNvSpPr/>
          <p:nvPr/>
        </p:nvSpPr>
        <p:spPr>
          <a:xfrm>
            <a:off x="9326880" y="4206240"/>
            <a:ext cx="4205520" cy="4205520"/>
          </a:xfrm>
          <a:prstGeom prst="ellipse">
            <a:avLst/>
          </a:prstGeom>
          <a:solidFill>
            <a:srgbClr val="11362E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2"/>
          <p:cNvSpPr/>
          <p:nvPr/>
        </p:nvSpPr>
        <p:spPr>
          <a:xfrm>
            <a:off x="4907160" y="1051560"/>
            <a:ext cx="2376720" cy="54000"/>
          </a:xfrm>
          <a:prstGeom prst="roundRect">
            <a:avLst>
              <a:gd name="adj" fmla="val 50000"/>
            </a:avLst>
          </a:prstGeom>
          <a:solidFill>
            <a:srgbClr val="818C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480" rIns="90000" bIns="-64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3"/>
          <p:cNvSpPr/>
          <p:nvPr/>
        </p:nvSpPr>
        <p:spPr>
          <a:xfrm>
            <a:off x="0" y="1234440"/>
            <a:ext cx="121910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2DD4BF"/>
                </a:solidFill>
                <a:effectLst/>
                <a:uFillTx/>
                <a:latin typeface="Plus Jakarta Sans"/>
                <a:ea typeface="Plus Jakarta Sans"/>
              </a:rPr>
              <a:t>MODULE 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4"/>
          <p:cNvSpPr/>
          <p:nvPr/>
        </p:nvSpPr>
        <p:spPr>
          <a:xfrm>
            <a:off x="1249560" y="1920240"/>
            <a:ext cx="9691920" cy="23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Seaborn didn't replace Matplotlib — it gave you a faster, statistically smarter way to ask questions of a DataFrame. That heatmap-countplot-boxplot-pairplot habit is exactly what you'll run on every dataset from here forward.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5"/>
          <p:cNvSpPr/>
          <p:nvPr/>
        </p:nvSpPr>
        <p:spPr>
          <a:xfrm>
            <a:off x="0" y="4526280"/>
            <a:ext cx="12191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94A3B8"/>
                </a:solidFill>
                <a:effectLst/>
                <a:uFillTx/>
                <a:latin typeface="Hanken Grotesk"/>
                <a:ea typeface="Hanken Grotesk"/>
              </a:rPr>
              <a:t>Next up: Data Analytics — real datasets, real questions, and the full EDA workflow.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6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70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Shape 0"/>
          <p:cNvSpPr/>
          <p:nvPr/>
        </p:nvSpPr>
        <p:spPr>
          <a:xfrm>
            <a:off x="-1828800" y="-1828800"/>
            <a:ext cx="4571280" cy="4571280"/>
          </a:xfrm>
          <a:prstGeom prst="ellipse">
            <a:avLst/>
          </a:prstGeom>
          <a:solidFill>
            <a:srgbClr val="262758">
              <a:alpha val="4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Shape 1"/>
          <p:cNvSpPr/>
          <p:nvPr/>
        </p:nvSpPr>
        <p:spPr>
          <a:xfrm>
            <a:off x="9601200" y="4114800"/>
            <a:ext cx="4114080" cy="4114080"/>
          </a:xfrm>
          <a:prstGeom prst="ellipse">
            <a:avLst/>
          </a:prstGeom>
          <a:solidFill>
            <a:srgbClr val="4C112D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2" name="Image 0" descr="/home/claude/sns/assets/logo_full.png"/>
          <p:cNvPicPr/>
          <p:nvPr/>
        </p:nvPicPr>
        <p:blipFill>
          <a:blip r:embed="rId1"/>
          <a:stretch/>
        </p:blipFill>
        <p:spPr>
          <a:xfrm>
            <a:off x="4632840" y="2286000"/>
            <a:ext cx="2925360" cy="95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3" name="Text 3"/>
          <p:cNvSpPr/>
          <p:nvPr/>
        </p:nvSpPr>
        <p:spPr>
          <a:xfrm>
            <a:off x="0" y="3429000"/>
            <a:ext cx="1219104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1F5F9"/>
                </a:solidFill>
                <a:effectLst/>
                <a:uFillTx/>
                <a:latin typeface="Bricolage Grotesque"/>
                <a:ea typeface="Bricolage Grotesque"/>
              </a:rPr>
              <a:t>Thank You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4"/>
          <p:cNvSpPr/>
          <p:nvPr/>
        </p:nvSpPr>
        <p:spPr>
          <a:xfrm>
            <a:off x="0" y="4160520"/>
            <a:ext cx="12191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Plus Jakarta Sans"/>
                <a:ea typeface="Plus Jakarta Sans"/>
              </a:rPr>
              <a:t>Seaborn · AI &amp; ML Playground · CodeByPaxto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5"/>
          <p:cNvSpPr/>
          <p:nvPr/>
        </p:nvSpPr>
        <p:spPr>
          <a:xfrm>
            <a:off x="11505960" y="6473880"/>
            <a:ext cx="502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74651"/>
                </a:solidFill>
                <a:effectLst/>
                <a:uFillTx/>
                <a:latin typeface="Plus Jakarta Sans"/>
                <a:ea typeface="Plus Jakarta Sans"/>
              </a:rPr>
              <a:t>71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842</TotalTime>
  <Application>LibreOffice/26.2.6.3$Linux_X86_64 LibreOffice_project/620$Build-3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2026-09-23T07:37:42Z</dcterms:created>
  <dc:creator>PptxGenJS</dc:creator>
  <dc:description/>
  <dc:language>en-US</dc:language>
  <cp:lastModifiedBy/>
  <dcterms:modified xsi:type="dcterms:W3CDTF">2026-10-02T09:55:25Z</dcterms:modified>
  <cp:revision>15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71</vt:i4>
  </property>
  <property fmtid="{D5CDD505-2E9C-101B-9397-08002B2CF9AE}" pid="3" name="PresentationFormat">
    <vt:lpwstr>On-screen Show (16:9)</vt:lpwstr>
  </property>
  <property fmtid="{D5CDD505-2E9C-101B-9397-08002B2CF9AE}" pid="4" name="Slides">
    <vt:i4>71</vt:i4>
  </property>
</Properties>
</file>