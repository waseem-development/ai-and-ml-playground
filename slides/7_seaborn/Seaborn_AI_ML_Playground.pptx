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55.xml" ContentType="application/vnd.openxmlformats-officedocument.presentationml.slide+xml"/>
  <Override PartName="/ppt/slides/slide54.xml" ContentType="application/vnd.openxmlformats-officedocument.presentationml.slide+xml"/>
  <Override PartName="/ppt/slides/slide53.xml" ContentType="application/vnd.openxmlformats-officedocument.presentationml.slide+xml"/>
  <Override PartName="/ppt/slides/slide45.xml" ContentType="application/vnd.openxmlformats-officedocument.presentationml.slide+xml"/>
  <Override PartName="/ppt/slides/slide44.xml" ContentType="application/vnd.openxmlformats-officedocument.presentationml.slide+xml"/>
  <Override PartName="/ppt/slides/slide43.xml" ContentType="application/vnd.openxmlformats-officedocument.presentationml.slide+xml"/>
  <Override PartName="/ppt/slides/slide42.xml" ContentType="application/vnd.openxmlformats-officedocument.presentationml.slide+xml"/>
  <Override PartName="/ppt/slides/slide17.xml" ContentType="application/vnd.openxmlformats-officedocument.presentationml.slide+xml"/>
  <Override PartName="/ppt/slides/slide40.xml" ContentType="application/vnd.openxmlformats-officedocument.presentationml.slide+xml"/>
  <Override PartName="/ppt/slides/slide8.xml" ContentType="application/vnd.openxmlformats-officedocument.presentationml.slide+xml"/>
  <Override PartName="/ppt/slides/slide46.xml" ContentType="application/vnd.openxmlformats-officedocument.presentationml.slide+xml"/>
  <Override PartName="/ppt/slides/slide27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66.xml" ContentType="application/vnd.openxmlformats-officedocument.presentationml.slide+xml"/>
  <Override PartName="/ppt/slides/slide41.xml" ContentType="application/vnd.openxmlformats-officedocument.presentationml.slide+xml"/>
  <Override PartName="/ppt/slides/slide23.xml" ContentType="application/vnd.openxmlformats-officedocument.presentationml.slide+xml"/>
  <Override PartName="/ppt/slides/slide7.xml" ContentType="application/vnd.openxmlformats-officedocument.presentationml.slide+xml"/>
  <Override PartName="/ppt/slides/slide58.xml" ContentType="application/vnd.openxmlformats-officedocument.presentationml.slide+xml"/>
  <Override PartName="/ppt/slides/slide15.xml" ContentType="application/vnd.openxmlformats-officedocument.presentationml.slide+xml"/>
  <Override PartName="/ppt/slides/slide65.xml" ContentType="application/vnd.openxmlformats-officedocument.presentationml.slide+xml"/>
  <Override PartName="/ppt/slides/slide16.xml" ContentType="application/vnd.openxmlformats-officedocument.presentationml.slide+xml"/>
  <Override PartName="/ppt/slides/slide47.xml" ContentType="application/vnd.openxmlformats-officedocument.presentationml.slide+xml"/>
  <Override PartName="/ppt/slides/slide61.xml" ContentType="application/vnd.openxmlformats-officedocument.presentationml.slide+xml"/>
  <Override PartName="/ppt/slides/slide14.xml" ContentType="application/vnd.openxmlformats-officedocument.presentationml.slide+xml"/>
  <Override PartName="/ppt/slides/slide12.xml" ContentType="application/vnd.openxmlformats-officedocument.presentationml.slide+xml"/>
  <Override PartName="/ppt/slides/slide28.xml" ContentType="application/vnd.openxmlformats-officedocument.presentationml.slide+xml"/>
  <Override PartName="/ppt/slides/slide70.xml" ContentType="application/vnd.openxmlformats-officedocument.presentationml.slide+xml"/>
  <Override PartName="/ppt/slides/slide37.xml" ContentType="application/vnd.openxmlformats-officedocument.presentationml.slide+xml"/>
  <Override PartName="/ppt/slides/slide69.xml" ContentType="application/vnd.openxmlformats-officedocument.presentationml.slide+xml"/>
  <Override PartName="/ppt/slides/slide29.xml" ContentType="application/vnd.openxmlformats-officedocument.presentationml.slide+xml"/>
  <Override PartName="/ppt/slides/slide10.xml" ContentType="application/vnd.openxmlformats-officedocument.presentationml.slide+xml"/>
  <Override PartName="/ppt/slides/slide71.xml" ContentType="application/vnd.openxmlformats-officedocument.presentationml.slide+xml"/>
  <Override PartName="/ppt/slides/slide35.xml" ContentType="application/vnd.openxmlformats-officedocument.presentationml.slide+xml"/>
  <Override PartName="/ppt/slides/slide64.xml" ContentType="application/vnd.openxmlformats-officedocument.presentationml.slide+xml"/>
  <Override PartName="/ppt/slides/slide63.xml" ContentType="application/vnd.openxmlformats-officedocument.presentationml.slide+xml"/>
  <Override PartName="/ppt/slides/slide67.xml" ContentType="application/vnd.openxmlformats-officedocument.presentationml.slide+xml"/>
  <Override PartName="/ppt/slides/slide62.xml" ContentType="application/vnd.openxmlformats-officedocument.presentationml.slide+xml"/>
  <Override PartName="/ppt/slides/slide48.xml" ContentType="application/vnd.openxmlformats-officedocument.presentationml.slide+xml"/>
  <Override PartName="/ppt/slides/slide31.xml" ContentType="application/vnd.openxmlformats-officedocument.presentationml.slide+xml"/>
  <Override PartName="/ppt/slides/slide6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13.xml" ContentType="application/vnd.openxmlformats-officedocument.presentationml.slide+xml"/>
  <Override PartName="/ppt/slides/slide20.xml" ContentType="application/vnd.openxmlformats-officedocument.presentationml.slide+xml"/>
  <Override PartName="/ppt/slides/slide57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18.xml" ContentType="application/vnd.openxmlformats-officedocument.presentationml.slide+xml"/>
  <Override PartName="/ppt/slides/slide4.xml" ContentType="application/vnd.openxmlformats-officedocument.presentationml.slide+xml"/>
  <Override PartName="/ppt/slides/slide49.xml" ContentType="application/vnd.openxmlformats-officedocument.presentationml.slide+xml"/>
  <Override PartName="/ppt/slides/slide68.xml" ContentType="application/vnd.openxmlformats-officedocument.presentationml.slide+xml"/>
  <Override PartName="/ppt/slides/slide21.xml" ContentType="application/vnd.openxmlformats-officedocument.presentationml.slide+xml"/>
  <Override PartName="/ppt/slides/slide26.xml" ContentType="application/vnd.openxmlformats-officedocument.presentationml.slide+xml"/>
  <Override PartName="/ppt/slides/slide19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5.xml" ContentType="application/vnd.openxmlformats-officedocument.presentationml.slide+xml"/>
  <Override PartName="/ppt/slides/slide59.xml" ContentType="application/vnd.openxmlformats-officedocument.presentationml.slide+xml"/>
  <Override PartName="/ppt/slides/slide56.xml" ContentType="application/vnd.openxmlformats-officedocument.presentationml.slide+xml"/>
  <Override PartName="/ppt/slides/slide50.xml" ContentType="application/vnd.openxmlformats-officedocument.presentationml.slide+xml"/>
  <Override PartName="/ppt/slides/slide24.xml" ContentType="application/vnd.openxmlformats-officedocument.presentationml.slide+xml"/>
  <Override PartName="/ppt/slides/slide52.xml" ContentType="application/vnd.openxmlformats-officedocument.presentationml.slide+xml"/>
  <Override PartName="/ppt/slides/slide30.xml" ContentType="application/vnd.openxmlformats-officedocument.presentationml.slide+xml"/>
  <Override PartName="/ppt/slides/slide39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9.xml" ContentType="application/vnd.openxmlformats-officedocument.presentationml.slide+xml"/>
  <Override PartName="/ppt/slides/slide34.xml" ContentType="application/vnd.openxmlformats-officedocument.presentationml.slide+xml"/>
  <Override PartName="/ppt/slides/slide36.xml" ContentType="application/vnd.openxmlformats-officedocument.presentationml.slide+xml"/>
  <Override PartName="/ppt/slides/slide38.xml" ContentType="application/vnd.openxmlformats-officedocument.presentationml.slide+xml"/>
  <Override PartName="/ppt/notesSlides/notesSlide46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ck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ed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it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 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</a:t>
            </a: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BBC3B6B-69DA-40C6-A9B6-4B062632378B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
</Relationships>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
</Relationships>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
</Relationships>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
</Relationships>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
</Relationships>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
</Relationships>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
</Relationships>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
</Relationships>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
</Relationships>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
</Relationships>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
</Relationships>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
</Relationships>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
</Relationships>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
</Relationships>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
</Relationships>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
</Relationships>
</file>

<file path=ppt/notesSlides/_rels/notesSlide33.xml.rels><?xml version="1.0" encoding="UTF-8"?>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
</Relationships>
</file>

<file path=ppt/notesSlides/_rels/notesSlide34.xml.rels><?xml version="1.0" encoding="UTF-8"?>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
</Relationships>
</file>

<file path=ppt/notesSlides/_rels/notesSlide35.xml.rels><?xml version="1.0" encoding="UTF-8"?>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
</Relationships>
</file>

<file path=ppt/notesSlides/_rels/notesSlide36.xml.rels><?xml version="1.0" encoding="UTF-8"?>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
</Relationships>
</file>

<file path=ppt/notesSlides/_rels/notesSlide37.xml.rels><?xml version="1.0" encoding="UTF-8"?>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
</Relationships>
</file>

<file path=ppt/notesSlides/_rels/notesSlide38.xml.rels><?xml version="1.0" encoding="UTF-8"?>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
</Relationships>
</file>

<file path=ppt/notesSlides/_rels/notesSlide39.xml.rels><?xml version="1.0" encoding="UTF-8"?>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
</Relationships>
</file>

<file path=ppt/notesSlides/_rels/notesSlide40.xml.rels><?xml version="1.0" encoding="UTF-8"?>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
</Relationships>
</file>

<file path=ppt/notesSlides/_rels/notesSlide41.xml.rels><?xml version="1.0" encoding="UTF-8"?>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
</Relationships>
</file>

<file path=ppt/notesSlides/_rels/notesSlide42.xml.rels><?xml version="1.0" encoding="UTF-8"?>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
</Relationships>
</file>

<file path=ppt/notesSlides/_rels/notesSlide43.xml.rels><?xml version="1.0" encoding="UTF-8"?>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
</Relationships>
</file>

<file path=ppt/notesSlides/_rels/notesSlide44.xml.rels><?xml version="1.0" encoding="UTF-8"?>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
</Relationships>
</file>

<file path=ppt/notesSlides/_rels/notesSlide45.xml.rels><?xml version="1.0" encoding="UTF-8"?>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
</Relationships>
</file>

<file path=ppt/notesSlides/_rels/notesSlide46.xml.rels><?xml version="1.0" encoding="UTF-8"?>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
</Relationships>
</file>

<file path=ppt/notesSlides/_rels/notesSlide47.xml.rels><?xml version="1.0" encoding="UTF-8"?>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
</Relationships>
</file>

<file path=ppt/notesSlides/_rels/notesSlide48.xml.rels><?xml version="1.0" encoding="UTF-8"?>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
</Relationships>
</file>

<file path=ppt/notesSlides/_rels/notesSlide49.xml.rels><?xml version="1.0" encoding="UTF-8"?>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
</Relationships>
</file>

<file path=ppt/notesSlides/_rels/notesSlide50.xml.rels><?xml version="1.0" encoding="UTF-8"?>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
</Relationships>
</file>

<file path=ppt/notesSlides/_rels/notesSlide51.xml.rels><?xml version="1.0" encoding="UTF-8"?>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
</Relationships>
</file>

<file path=ppt/notesSlides/_rels/notesSlide52.xml.rels><?xml version="1.0" encoding="UTF-8"?>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
</Relationships>
</file>

<file path=ppt/notesSlides/_rels/notesSlide53.xml.rels><?xml version="1.0" encoding="UTF-8"?>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
</Relationships>
</file>

<file path=ppt/notesSlides/_rels/notesSlide54.xml.rels><?xml version="1.0" encoding="UTF-8"?>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
</Relationships>
</file>

<file path=ppt/notesSlides/_rels/notesSlide55.xml.rels><?xml version="1.0" encoding="UTF-8"?>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
</Relationships>
</file>

<file path=ppt/notesSlides/_rels/notesSlide56.xml.rels><?xml version="1.0" encoding="UTF-8"?>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
</Relationships>
</file>

<file path=ppt/notesSlides/_rels/notesSlide57.xml.rels><?xml version="1.0" encoding="UTF-8"?>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
</Relationships>
</file>

<file path=ppt/notesSlides/_rels/notesSlide58.xml.rels><?xml version="1.0" encoding="UTF-8"?>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
</Relationships>
</file>

<file path=ppt/notesSlides/_rels/notesSlide59.xml.rels><?xml version="1.0" encoding="UTF-8"?>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
</Relationships>
</file>

<file path=ppt/notesSlides/_rels/notesSlide60.xml.rels><?xml version="1.0" encoding="UTF-8"?>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
</Relationships>
</file>

<file path=ppt/notesSlides/_rels/notesSlide61.xml.rels><?xml version="1.0" encoding="UTF-8"?>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
</Relationships>
</file>

<file path=ppt/notesSlides/_rels/notesSlide62.xml.rels><?xml version="1.0" encoding="UTF-8"?>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
</Relationships>
</file>

<file path=ppt/notesSlides/_rels/notesSlide63.xml.rels><?xml version="1.0" encoding="UTF-8"?>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
</Relationships>
</file>

<file path=ppt/notesSlides/_rels/notesSlide64.xml.rels><?xml version="1.0" encoding="UTF-8"?>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
</Relationships>
</file>

<file path=ppt/notesSlides/_rels/notesSlide65.xml.rels><?xml version="1.0" encoding="UTF-8"?>
<Relationships xmlns="http://schemas.openxmlformats.org/package/2006/relationships"><Relationship Id="rId1" Type="http://schemas.openxmlformats.org/officeDocument/2006/relationships/slide" Target="../slides/slide65.xml"/><Relationship Id="rId2" Type="http://schemas.openxmlformats.org/officeDocument/2006/relationships/notesMaster" Target="../notesMasters/notesMaster1.xml"/>
</Relationships>
</file>

<file path=ppt/notesSlides/_rels/notesSlide66.xml.rels><?xml version="1.0" encoding="UTF-8"?>
<Relationships xmlns="http://schemas.openxmlformats.org/package/2006/relationships"><Relationship Id="rId1" Type="http://schemas.openxmlformats.org/officeDocument/2006/relationships/slide" Target="../slides/slide66.xml"/><Relationship Id="rId2" Type="http://schemas.openxmlformats.org/officeDocument/2006/relationships/notesMaster" Target="../notesMasters/notesMaster1.xml"/>
</Relationships>
</file>

<file path=ppt/notesSlides/_rels/notesSlide67.xml.rels><?xml version="1.0" encoding="UTF-8"?>
<Relationships xmlns="http://schemas.openxmlformats.org/package/2006/relationships"><Relationship Id="rId1" Type="http://schemas.openxmlformats.org/officeDocument/2006/relationships/slide" Target="../slides/slide67.xml"/><Relationship Id="rId2" Type="http://schemas.openxmlformats.org/officeDocument/2006/relationships/notesMaster" Target="../notesMasters/notesMaster1.xml"/>
</Relationships>
</file>

<file path=ppt/notesSlides/_rels/notesSlide68.xml.rels><?xml version="1.0" encoding="UTF-8"?>
<Relationships xmlns="http://schemas.openxmlformats.org/package/2006/relationships"><Relationship Id="rId1" Type="http://schemas.openxmlformats.org/officeDocument/2006/relationships/slide" Target="../slides/slide68.xml"/><Relationship Id="rId2" Type="http://schemas.openxmlformats.org/officeDocument/2006/relationships/notesMaster" Target="../notesMasters/notesMaster1.xml"/>
</Relationships>
</file>

<file path=ppt/notesSlides/_rels/notesSlide69.xml.rels><?xml version="1.0" encoding="UTF-8"?>
<Relationships xmlns="http://schemas.openxmlformats.org/package/2006/relationships"><Relationship Id="rId1" Type="http://schemas.openxmlformats.org/officeDocument/2006/relationships/slide" Target="../slides/slide69.xml"/><Relationship Id="rId2" Type="http://schemas.openxmlformats.org/officeDocument/2006/relationships/notesMaster" Target="../notesMasters/notesMaster1.xml"/>
</Relationships>
</file>

<file path=ppt/notesSlides/_rels/notesSlide70.xml.rels><?xml version="1.0" encoding="UTF-8"?>
<Relationships xmlns="http://schemas.openxmlformats.org/package/2006/relationships"><Relationship Id="rId1" Type="http://schemas.openxmlformats.org/officeDocument/2006/relationships/slide" Target="../slides/slide70.xml"/><Relationship Id="rId2" Type="http://schemas.openxmlformats.org/officeDocument/2006/relationships/notesMaster" Target="../notesMasters/notesMaster1.xml"/>
</Relationships>
</file>

<file path=ppt/notesSlides/_rels/notesSlide71.xml.rels><?xml version="1.0" encoding="UTF-8"?>
<Relationships xmlns="http://schemas.openxmlformats.org/package/2006/relationships"><Relationship Id="rId1" Type="http://schemas.openxmlformats.org/officeDocument/2006/relationships/slide" Target="../slides/slide7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0655DF-5F62-4103-8843-6C55C170F33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AD4F9E6-0B17-460F-88D8-2590C9D1B0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BDD75D-B2D2-4115-9B6A-E2CCC7029C1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C119F45-52B4-49A7-ABB0-CE9F8AF14D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6FCAAB-E545-4004-9903-8D06D9331C5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0C7440A-3F6B-48C3-B53E-E8ED95039AF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1C72596-2179-403D-AAEA-4CE7B3C0709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6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0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12A6D9B-C1D6-4849-8AAC-1DBD962EAED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3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2813B5-3A2A-4C90-AEC9-BFE1E05C985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6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29B31C-A217-4A9B-BFF9-7A3905C778B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9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687DB8-61F0-4715-8A03-548AB087A3D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2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BDAA83-8796-43EB-B1D1-76EC6C4FEF6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5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9743DE-1783-4AA9-96F1-1920E28C886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8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8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2E8082-5117-49F9-98C2-B5D9C7D5C85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1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6E50B97-8FEC-4BBD-9D38-3577EFF3472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4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184257F-C798-477F-BACD-34269F6E5E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7" name="PlaceHolder 3"/>
          <p:cNvSpPr>
            <a:spLocks noGrp="1"/>
          </p:cNvSpPr>
          <p:nvPr>
            <p:ph type="sldNum" idx="2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04BC3A3-D0B4-41B2-A47D-4AD0968B405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9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0" name="PlaceHolder 3"/>
          <p:cNvSpPr>
            <a:spLocks noGrp="1"/>
          </p:cNvSpPr>
          <p:nvPr>
            <p:ph type="sldNum" idx="2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91A728D-C276-4E2D-8FD0-FEF03021038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3" name="PlaceHolder 3"/>
          <p:cNvSpPr>
            <a:spLocks noGrp="1"/>
          </p:cNvSpPr>
          <p:nvPr>
            <p:ph type="sldNum" idx="2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C2CB07D-7545-4ABE-91AA-F18A0B9B312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6" name="PlaceHolder 3"/>
          <p:cNvSpPr>
            <a:spLocks noGrp="1"/>
          </p:cNvSpPr>
          <p:nvPr>
            <p:ph type="sldNum" idx="2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6618475-E99A-440D-AFD8-4C5D1D070B4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9" name="PlaceHolder 3"/>
          <p:cNvSpPr>
            <a:spLocks noGrp="1"/>
          </p:cNvSpPr>
          <p:nvPr>
            <p:ph type="sldNum" idx="2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8EFBBAF-1304-4836-A29B-7453AA05AB8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2" name="PlaceHolder 3"/>
          <p:cNvSpPr>
            <a:spLocks noGrp="1"/>
          </p:cNvSpPr>
          <p:nvPr>
            <p:ph type="sldNum" idx="2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56D06B3-331B-4A7B-A355-0CB63239766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5" name="PlaceHolder 3"/>
          <p:cNvSpPr>
            <a:spLocks noGrp="1"/>
          </p:cNvSpPr>
          <p:nvPr>
            <p:ph type="sldNum" idx="2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A9EEC1-78B5-4495-996C-045CBA520738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1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8" name="PlaceHolder 3"/>
          <p:cNvSpPr>
            <a:spLocks noGrp="1"/>
          </p:cNvSpPr>
          <p:nvPr>
            <p:ph type="sldNum" idx="2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C453420-EFA5-4F8F-B861-877C26595BC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1" name="PlaceHolder 3"/>
          <p:cNvSpPr>
            <a:spLocks noGrp="1"/>
          </p:cNvSpPr>
          <p:nvPr>
            <p:ph type="sldNum" idx="2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AFE2F66-61C8-4279-84F6-45E280C3ED5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4" name="PlaceHolder 3"/>
          <p:cNvSpPr>
            <a:spLocks noGrp="1"/>
          </p:cNvSpPr>
          <p:nvPr>
            <p:ph type="sldNum" idx="2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541A65-D0F8-4241-9976-42DD3246A51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7" name="PlaceHolder 3"/>
          <p:cNvSpPr>
            <a:spLocks noGrp="1"/>
          </p:cNvSpPr>
          <p:nvPr>
            <p:ph type="sldNum" idx="3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0BE4DF0-16AD-4E56-A7B6-2C5C0539DF1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0" name="PlaceHolder 3"/>
          <p:cNvSpPr>
            <a:spLocks noGrp="1"/>
          </p:cNvSpPr>
          <p:nvPr>
            <p:ph type="sldNum" idx="3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0C8162B-2092-43B4-B5A5-CCB93E50DDE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3" name="PlaceHolder 3"/>
          <p:cNvSpPr>
            <a:spLocks noGrp="1"/>
          </p:cNvSpPr>
          <p:nvPr>
            <p:ph type="sldNum" idx="3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30F0BA0-866F-4EBF-A734-256FA98D65F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6" name="PlaceHolder 3"/>
          <p:cNvSpPr>
            <a:spLocks noGrp="1"/>
          </p:cNvSpPr>
          <p:nvPr>
            <p:ph type="sldNum" idx="3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123F609-0F5D-4BC5-B2D3-58BA84534B4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9" name="PlaceHolder 3"/>
          <p:cNvSpPr>
            <a:spLocks noGrp="1"/>
          </p:cNvSpPr>
          <p:nvPr>
            <p:ph type="sldNum" idx="3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C757FED-2A28-4B01-A2D2-A6B7C1B066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2" name="PlaceHolder 3"/>
          <p:cNvSpPr>
            <a:spLocks noGrp="1"/>
          </p:cNvSpPr>
          <p:nvPr>
            <p:ph type="sldNum" idx="3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A9FAECB-4831-46C0-882B-2C201EA8CDD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5" name="PlaceHolder 3"/>
          <p:cNvSpPr>
            <a:spLocks noGrp="1"/>
          </p:cNvSpPr>
          <p:nvPr>
            <p:ph type="sldNum" idx="3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7483473-84DF-4D66-8C89-85D097B18EE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8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45DA96-197C-423D-BAD5-0A21199B1DF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1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9D3C5F5-5475-4162-ACA9-9E8A6BF7F71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4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2FE6015-F61B-423A-A494-B47754EB4D5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7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8BF955D-FB65-44FB-AEE8-95BC8C07332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5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0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17DD94F-1712-4F76-8E17-F45118ADD6D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3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6C67078-3EAC-4E24-805B-AF9FF13DC6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6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E8752A-C5E7-4F91-A909-4C3C4CF0D64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9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A26EBB-DD02-47EF-B196-111B3F2BC86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2" name="PlaceHolder 3"/>
          <p:cNvSpPr>
            <a:spLocks noGrp="1"/>
          </p:cNvSpPr>
          <p:nvPr>
            <p:ph type="sldNum" idx="4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63A0EA1-8E44-4F74-9453-D9B64CE388D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5" name="PlaceHolder 3"/>
          <p:cNvSpPr>
            <a:spLocks noGrp="1"/>
          </p:cNvSpPr>
          <p:nvPr>
            <p:ph type="sldNum" idx="4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BC767F4-8FA0-4F60-85C4-EBB63ECF85F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8" name="PlaceHolder 3"/>
          <p:cNvSpPr>
            <a:spLocks noGrp="1"/>
          </p:cNvSpPr>
          <p:nvPr>
            <p:ph type="sldNum" idx="4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154E7422-2FE1-46E1-9D02-F33420D6F69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1" name="PlaceHolder 3"/>
          <p:cNvSpPr>
            <a:spLocks noGrp="1"/>
          </p:cNvSpPr>
          <p:nvPr>
            <p:ph type="sldNum" idx="4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1B73682-9E3E-4A9F-94FC-67B5323A190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4" name="PlaceHolder 3"/>
          <p:cNvSpPr>
            <a:spLocks noGrp="1"/>
          </p:cNvSpPr>
          <p:nvPr>
            <p:ph type="sldNum" idx="4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7DE794D-ABEE-4A57-B54E-D279729DC52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7" name="PlaceHolder 3"/>
          <p:cNvSpPr>
            <a:spLocks noGrp="1"/>
          </p:cNvSpPr>
          <p:nvPr>
            <p:ph type="sldNum" idx="5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83746D4-D118-42CB-91FB-AAEE217A49B9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8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0" name="PlaceHolder 3"/>
          <p:cNvSpPr>
            <a:spLocks noGrp="1"/>
          </p:cNvSpPr>
          <p:nvPr>
            <p:ph type="sldNum" idx="5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F8F5B66-0595-4AC3-B5B2-E1F123F1F5D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3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D1E81CF-4A42-4091-A140-325B049B6450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6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B6B9459-0809-4A70-830D-4C09271984A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9" name="PlaceHolder 3"/>
          <p:cNvSpPr>
            <a:spLocks noGrp="1"/>
          </p:cNvSpPr>
          <p:nvPr>
            <p:ph type="sldNum" idx="5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9BC1F15-EB97-4A8B-954A-3830270E7B2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2" name="PlaceHolder 3"/>
          <p:cNvSpPr>
            <a:spLocks noGrp="1"/>
          </p:cNvSpPr>
          <p:nvPr>
            <p:ph type="sldNum" idx="5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431BD7E-32B9-4F49-955F-52B2FA0D4C3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5" name="PlaceHolder 3"/>
          <p:cNvSpPr>
            <a:spLocks noGrp="1"/>
          </p:cNvSpPr>
          <p:nvPr>
            <p:ph type="sldNum" idx="5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2BA168E-5762-4A35-A081-DA3173F2D84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0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8" name="PlaceHolder 3"/>
          <p:cNvSpPr>
            <a:spLocks noGrp="1"/>
          </p:cNvSpPr>
          <p:nvPr>
            <p:ph type="sldNum" idx="5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418635D-E702-4D13-86B9-DD969A94730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1" name="PlaceHolder 3"/>
          <p:cNvSpPr>
            <a:spLocks noGrp="1"/>
          </p:cNvSpPr>
          <p:nvPr>
            <p:ph type="sldNum" idx="5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24FB2B8-2AC0-4A35-9E04-C7CE1569671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4" name="PlaceHolder 3"/>
          <p:cNvSpPr>
            <a:spLocks noGrp="1"/>
          </p:cNvSpPr>
          <p:nvPr>
            <p:ph type="sldNum" idx="5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2BAC963-B9C8-456A-9902-9F7220D791DE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7" name="PlaceHolder 3"/>
          <p:cNvSpPr>
            <a:spLocks noGrp="1"/>
          </p:cNvSpPr>
          <p:nvPr>
            <p:ph type="sldNum" idx="6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FD48FE5-ACBA-4304-864E-AAB967BB45F6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1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0" name="PlaceHolder 3"/>
          <p:cNvSpPr>
            <a:spLocks noGrp="1"/>
          </p:cNvSpPr>
          <p:nvPr>
            <p:ph type="sldNum" idx="6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A9753A5-FC21-4FE2-87F8-8453BE85E84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3" name="PlaceHolder 3"/>
          <p:cNvSpPr>
            <a:spLocks noGrp="1"/>
          </p:cNvSpPr>
          <p:nvPr>
            <p:ph type="sldNum" idx="6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ACBC02-8276-4A4A-977C-5C60B5D468D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6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5CC83A5-39CD-4804-A055-7932327A08A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9" name="PlaceHolder 3"/>
          <p:cNvSpPr>
            <a:spLocks noGrp="1"/>
          </p:cNvSpPr>
          <p:nvPr>
            <p:ph type="sldNum" idx="6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B9C20A1-A598-4127-93F7-0C015A7F570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2" name="PlaceHolder 3"/>
          <p:cNvSpPr>
            <a:spLocks noGrp="1"/>
          </p:cNvSpPr>
          <p:nvPr>
            <p:ph type="sldNum" idx="6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995C160-15FE-4C2C-BE21-7B9AD635573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5" name="PlaceHolder 3"/>
          <p:cNvSpPr>
            <a:spLocks noGrp="1"/>
          </p:cNvSpPr>
          <p:nvPr>
            <p:ph type="sldNum" idx="6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922F6AE-D570-4063-9EA8-E18DEBF9AEF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3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8" name="PlaceHolder 3"/>
          <p:cNvSpPr>
            <a:spLocks noGrp="1"/>
          </p:cNvSpPr>
          <p:nvPr>
            <p:ph type="sldNum" idx="6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3EAC00B-321D-473E-AC13-E8512CBC29C4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4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1" name="PlaceHolder 3"/>
          <p:cNvSpPr>
            <a:spLocks noGrp="1"/>
          </p:cNvSpPr>
          <p:nvPr>
            <p:ph type="sldNum" idx="6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941F6E5C-B1AC-4080-A5C0-F42EC8B07CE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4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4" name="PlaceHolder 3"/>
          <p:cNvSpPr>
            <a:spLocks noGrp="1"/>
          </p:cNvSpPr>
          <p:nvPr>
            <p:ph type="sldNum" idx="6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6B1338E-86AA-43A1-B9EB-33C0EEDA4D42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4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7" name="PlaceHolder 3"/>
          <p:cNvSpPr>
            <a:spLocks noGrp="1"/>
          </p:cNvSpPr>
          <p:nvPr>
            <p:ph type="sldNum" idx="7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C65A81-9F18-4DF4-B6B7-834525BF8E0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4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0" name="PlaceHolder 3"/>
          <p:cNvSpPr>
            <a:spLocks noGrp="1"/>
          </p:cNvSpPr>
          <p:nvPr>
            <p:ph type="sldNum" idx="7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4217078-B522-4F56-ABB0-0C7C3B2056D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5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3" name="PlaceHolder 3"/>
          <p:cNvSpPr>
            <a:spLocks noGrp="1"/>
          </p:cNvSpPr>
          <p:nvPr>
            <p:ph type="sldNum" idx="7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263CED7-2B72-406C-8618-67B3AB55864F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5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6" name="PlaceHolder 3"/>
          <p:cNvSpPr>
            <a:spLocks noGrp="1"/>
          </p:cNvSpPr>
          <p:nvPr>
            <p:ph type="sldNum" idx="7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3BD21D-08D8-4810-AD13-4011B40A74B1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5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59" name="PlaceHolder 3"/>
          <p:cNvSpPr>
            <a:spLocks noGrp="1"/>
          </p:cNvSpPr>
          <p:nvPr>
            <p:ph type="sldNum" idx="7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BE0C387-1EFE-493A-8173-6524A74C47DD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
</Relationships>
</file>

<file path=ppt/slides/_rels/slide2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
</Relationships>
</file>

<file path=ppt/slides/_rels/slide2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
</Relationships>
</file>

<file path=ppt/slides/_rels/slide2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
</Relationships>
</file>

<file path=ppt/slides/_rels/slide3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
</Relationships>
</file>

<file path=ppt/slides/_rels/slide3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
</Relationships>
</file>

<file path=ppt/slides/_rels/slide3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
</Relationships>
</file>

<file path=ppt/slides/_rels/slide3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
</Relationships>
</file>

<file path=ppt/slides/_rels/slide3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
</Relationships>
</file>

<file path=ppt/slides/_rels/slide3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
</Relationships>
</file>

<file path=ppt/slides/_rels/slide3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
</Relationships>
</file>

<file path=ppt/slides/_rels/slide3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
</Relationships>
</file>

<file path=ppt/slides/_rels/slide3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
</Relationships>
</file>

<file path=ppt/slides/_rels/slide3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9.xml"/>
</Relationships>
</file>

<file path=ppt/slides/_rels/slide4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
</Relationships>
</file>

<file path=ppt/slides/_rels/slide4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
</Relationships>
</file>

<file path=ppt/slides/_rels/slide4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
</Relationships>
</file>

<file path=ppt/slides/_rels/slide4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
</Relationships>
</file>

<file path=ppt/slides/_rels/slide4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4.xml"/>
</Relationships>
</file>

<file path=ppt/slides/_rels/slide4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7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5.xml"/>
</Relationships>
</file>

<file path=ppt/slides/_rels/slide4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
</Relationships>
</file>

<file path=ppt/slides/_rels/slide4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
</Relationships>
</file>

<file path=ppt/slides/_rels/slide4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8.xml"/>
</Relationships>
</file>

<file path=ppt/slides/_rels/slide4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
</Relationships>
</file>

<file path=ppt/slides/_rels/slide5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0.xml"/>
</Relationships>
</file>

<file path=ppt/slides/_rels/slide5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1.xml"/>
</Relationships>
</file>

<file path=ppt/slides/_rels/slide5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
</Relationships>
</file>

<file path=ppt/slides/_rels/slide5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
</Relationships>
</file>

<file path=ppt/slides/_rels/slide5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
</Relationships>
</file>

<file path=ppt/slides/_rels/slide5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
</Relationships>
</file>

<file path=ppt/slides/_rels/slide5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
</Relationships>
</file>

<file path=ppt/slides/_rels/slide5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
</Relationships>
</file>

<file path=ppt/slides/_rels/slide5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
</Relationships>
</file>

<file path=ppt/slides/_rels/slide5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
</Relationships>
</file>

<file path=ppt/slides/_rels/slide6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0.xml"/>
</Relationships>
</file>

<file path=ppt/slides/_rels/slide6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1.xml"/>
</Relationships>
</file>

<file path=ppt/slides/_rels/slide6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2.xml"/>
</Relationships>
</file>

<file path=ppt/slides/_rels/slide6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2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3.xml"/>
</Relationships>
</file>

<file path=ppt/slides/_rels/slide6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
</Relationships>
</file>

<file path=ppt/slides/_rels/slide6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
</Relationships>
</file>

<file path=ppt/slides/_rels/slide6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
</Relationships>
</file>

<file path=ppt/slides/_rels/slide6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
</Relationships>
</file>

<file path=ppt/slides/_rels/slide6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
</Relationships>
</file>

<file path=ppt/slides/_rels/slide6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
</Relationships>
</file>

<file path=ppt/slides/_rels/slide7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
</Relationships>
</file>

<file path=ppt/slides/_rels/slide71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8778240" y="-2194560"/>
            <a:ext cx="5486040" cy="548604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-2011680" y="4206240"/>
            <a:ext cx="4205880" cy="420588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5943600" y="5212080"/>
            <a:ext cx="1462680" cy="1462680"/>
          </a:xfrm>
          <a:prstGeom prst="ellipse">
            <a:avLst/>
          </a:prstGeom>
          <a:solidFill>
            <a:srgbClr val="4C112D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Shape 4"/>
          <p:cNvSpPr/>
          <p:nvPr/>
        </p:nvSpPr>
        <p:spPr>
          <a:xfrm>
            <a:off x="713160" y="2331720"/>
            <a:ext cx="4023000" cy="292320"/>
          </a:xfrm>
          <a:prstGeom prst="roundRect">
            <a:avLst>
              <a:gd name="adj" fmla="val 50000"/>
            </a:avLst>
          </a:prstGeom>
          <a:solidFill>
            <a:srgbClr val="26275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5"/>
          <p:cNvSpPr/>
          <p:nvPr/>
        </p:nvSpPr>
        <p:spPr>
          <a:xfrm>
            <a:off x="713160" y="2331720"/>
            <a:ext cx="40230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trike="noStrike">
                <a:solidFill>
                  <a:srgbClr val="E0E7FF"/>
                </a:solidFill>
                <a:effectLst/>
                <a:uFillTx/>
                <a:latin typeface="Plus Jakarta Sans"/>
                <a:ea typeface="Plus Jakarta Sans"/>
              </a:rPr>
              <a:t>AI &amp; ML PLAYGROUND  ·  MODULE 07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6"/>
          <p:cNvSpPr/>
          <p:nvPr/>
        </p:nvSpPr>
        <p:spPr>
          <a:xfrm>
            <a:off x="658440" y="2788920"/>
            <a:ext cx="9600840" cy="1462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6400" b="1" u="none" spc="-99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Seaborn</a:t>
            </a:r>
            <a:endParaRPr lang="en-US" sz="6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7"/>
          <p:cNvSpPr/>
          <p:nvPr/>
        </p:nvSpPr>
        <p:spPr>
          <a:xfrm>
            <a:off x="713160" y="416052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6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Statistical visualization, built on Matplotlib — the fast path from a DataFrame to real insight.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8"/>
          <p:cNvSpPr/>
          <p:nvPr/>
        </p:nvSpPr>
        <p:spPr>
          <a:xfrm>
            <a:off x="713160" y="5074920"/>
            <a:ext cx="2926080" cy="360"/>
          </a:xfrm>
          <a:prstGeom prst="line">
            <a:avLst/>
          </a:prstGeom>
          <a:ln w="12700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-44640" rIns="90000" bIns="-44640" anchor="t" anchorCtr="1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9"/>
          <p:cNvSpPr/>
          <p:nvPr/>
        </p:nvSpPr>
        <p:spPr>
          <a:xfrm>
            <a:off x="713160" y="5166360"/>
            <a:ext cx="4571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by CodeByPaxto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0" name=""/>
          <p:cNvPicPr/>
          <p:nvPr/>
        </p:nvPicPr>
        <p:blipFill>
          <a:blip r:embed="rId1"/>
          <a:stretch/>
        </p:blipFill>
        <p:spPr>
          <a:xfrm>
            <a:off x="691560" y="406800"/>
            <a:ext cx="3385440" cy="1128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640080" y="502920"/>
            <a:ext cx="402120" cy="482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Text 0"/>
          <p:cNvSpPr/>
          <p:nvPr/>
        </p:nvSpPr>
        <p:spPr>
          <a:xfrm>
            <a:off x="640080" y="118872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201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WHERE THIS FITS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1"/>
          <p:cNvSpPr/>
          <p:nvPr/>
        </p:nvSpPr>
        <p:spPr>
          <a:xfrm>
            <a:off x="640080" y="153612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0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The AI &amp; ML Playground Roadmap</a:t>
            </a:r>
            <a:endParaRPr lang="en-US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Shape 2"/>
          <p:cNvSpPr/>
          <p:nvPr/>
        </p:nvSpPr>
        <p:spPr>
          <a:xfrm>
            <a:off x="640080" y="3977640"/>
            <a:ext cx="1094760" cy="868320"/>
          </a:xfrm>
          <a:prstGeom prst="roundRect">
            <a:avLst>
              <a:gd name="adj" fmla="val 8421"/>
            </a:avLst>
          </a:prstGeom>
          <a:solidFill>
            <a:srgbClr val="162032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3"/>
          <p:cNvSpPr/>
          <p:nvPr/>
        </p:nvSpPr>
        <p:spPr>
          <a:xfrm>
            <a:off x="685800" y="3977640"/>
            <a:ext cx="1003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Python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4"/>
          <p:cNvSpPr/>
          <p:nvPr/>
        </p:nvSpPr>
        <p:spPr>
          <a:xfrm>
            <a:off x="1735200" y="3977640"/>
            <a:ext cx="173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→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5"/>
          <p:cNvSpPr/>
          <p:nvPr/>
        </p:nvSpPr>
        <p:spPr>
          <a:xfrm>
            <a:off x="1863360" y="3977640"/>
            <a:ext cx="1094760" cy="868320"/>
          </a:xfrm>
          <a:prstGeom prst="roundRect">
            <a:avLst>
              <a:gd name="adj" fmla="val 8421"/>
            </a:avLst>
          </a:prstGeom>
          <a:solidFill>
            <a:srgbClr val="162032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6"/>
          <p:cNvSpPr/>
          <p:nvPr/>
        </p:nvSpPr>
        <p:spPr>
          <a:xfrm>
            <a:off x="1909080" y="3977640"/>
            <a:ext cx="1003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Math for DS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7"/>
          <p:cNvSpPr/>
          <p:nvPr/>
        </p:nvSpPr>
        <p:spPr>
          <a:xfrm>
            <a:off x="2958480" y="3977640"/>
            <a:ext cx="173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→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8"/>
          <p:cNvSpPr/>
          <p:nvPr/>
        </p:nvSpPr>
        <p:spPr>
          <a:xfrm>
            <a:off x="3086640" y="3977640"/>
            <a:ext cx="1094760" cy="868320"/>
          </a:xfrm>
          <a:prstGeom prst="roundRect">
            <a:avLst>
              <a:gd name="adj" fmla="val 8421"/>
            </a:avLst>
          </a:prstGeom>
          <a:solidFill>
            <a:srgbClr val="162032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9"/>
          <p:cNvSpPr/>
          <p:nvPr/>
        </p:nvSpPr>
        <p:spPr>
          <a:xfrm>
            <a:off x="3132360" y="3977640"/>
            <a:ext cx="1003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Git &amp; GitHub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10"/>
          <p:cNvSpPr/>
          <p:nvPr/>
        </p:nvSpPr>
        <p:spPr>
          <a:xfrm>
            <a:off x="4181760" y="3977640"/>
            <a:ext cx="173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→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11"/>
          <p:cNvSpPr/>
          <p:nvPr/>
        </p:nvSpPr>
        <p:spPr>
          <a:xfrm>
            <a:off x="4309920" y="3977640"/>
            <a:ext cx="1094760" cy="868320"/>
          </a:xfrm>
          <a:prstGeom prst="roundRect">
            <a:avLst>
              <a:gd name="adj" fmla="val 8421"/>
            </a:avLst>
          </a:prstGeom>
          <a:solidFill>
            <a:srgbClr val="162032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2"/>
          <p:cNvSpPr/>
          <p:nvPr/>
        </p:nvSpPr>
        <p:spPr>
          <a:xfrm>
            <a:off x="4355640" y="3977640"/>
            <a:ext cx="1003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NumPy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13"/>
          <p:cNvSpPr/>
          <p:nvPr/>
        </p:nvSpPr>
        <p:spPr>
          <a:xfrm>
            <a:off x="5405040" y="3977640"/>
            <a:ext cx="173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→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4"/>
          <p:cNvSpPr/>
          <p:nvPr/>
        </p:nvSpPr>
        <p:spPr>
          <a:xfrm>
            <a:off x="5533200" y="3977640"/>
            <a:ext cx="1094760" cy="868320"/>
          </a:xfrm>
          <a:prstGeom prst="roundRect">
            <a:avLst>
              <a:gd name="adj" fmla="val 8421"/>
            </a:avLst>
          </a:prstGeom>
          <a:solidFill>
            <a:srgbClr val="162032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5"/>
          <p:cNvSpPr/>
          <p:nvPr/>
        </p:nvSpPr>
        <p:spPr>
          <a:xfrm>
            <a:off x="5578920" y="3977640"/>
            <a:ext cx="1003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Pandas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6"/>
          <p:cNvSpPr/>
          <p:nvPr/>
        </p:nvSpPr>
        <p:spPr>
          <a:xfrm>
            <a:off x="6628320" y="3977640"/>
            <a:ext cx="173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→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7"/>
          <p:cNvSpPr/>
          <p:nvPr/>
        </p:nvSpPr>
        <p:spPr>
          <a:xfrm>
            <a:off x="6756480" y="3977640"/>
            <a:ext cx="1094760" cy="868320"/>
          </a:xfrm>
          <a:prstGeom prst="roundRect">
            <a:avLst>
              <a:gd name="adj" fmla="val 8421"/>
            </a:avLst>
          </a:prstGeom>
          <a:solidFill>
            <a:srgbClr val="162032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8"/>
          <p:cNvSpPr/>
          <p:nvPr/>
        </p:nvSpPr>
        <p:spPr>
          <a:xfrm>
            <a:off x="6802200" y="3977640"/>
            <a:ext cx="1003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Matpl</a:t>
            </a: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otlib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9"/>
          <p:cNvSpPr/>
          <p:nvPr/>
        </p:nvSpPr>
        <p:spPr>
          <a:xfrm>
            <a:off x="7851600" y="3977640"/>
            <a:ext cx="173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→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20"/>
          <p:cNvSpPr/>
          <p:nvPr/>
        </p:nvSpPr>
        <p:spPr>
          <a:xfrm>
            <a:off x="7979760" y="3977640"/>
            <a:ext cx="1094760" cy="868320"/>
          </a:xfrm>
          <a:prstGeom prst="roundRect">
            <a:avLst>
              <a:gd name="adj" fmla="val 8421"/>
            </a:avLst>
          </a:prstGeom>
          <a:solidFill>
            <a:srgbClr val="818C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21"/>
          <p:cNvSpPr/>
          <p:nvPr/>
        </p:nvSpPr>
        <p:spPr>
          <a:xfrm>
            <a:off x="8025480" y="3977640"/>
            <a:ext cx="1003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0B0F17"/>
                </a:solidFill>
                <a:effectLst/>
                <a:uFillTx/>
                <a:latin typeface="Plus Jakarta Sans"/>
                <a:ea typeface="Plus Jakarta Sans"/>
              </a:rPr>
              <a:t>Seaborn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22"/>
          <p:cNvSpPr/>
          <p:nvPr/>
        </p:nvSpPr>
        <p:spPr>
          <a:xfrm>
            <a:off x="9074880" y="3977640"/>
            <a:ext cx="173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→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23"/>
          <p:cNvSpPr/>
          <p:nvPr/>
        </p:nvSpPr>
        <p:spPr>
          <a:xfrm>
            <a:off x="9203040" y="3977640"/>
            <a:ext cx="1094760" cy="868320"/>
          </a:xfrm>
          <a:prstGeom prst="roundRect">
            <a:avLst>
              <a:gd name="adj" fmla="val 8421"/>
            </a:avLst>
          </a:prstGeom>
          <a:solidFill>
            <a:srgbClr val="162032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4"/>
          <p:cNvSpPr/>
          <p:nvPr/>
        </p:nvSpPr>
        <p:spPr>
          <a:xfrm>
            <a:off x="9248760" y="3977640"/>
            <a:ext cx="1003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Data Analytics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5"/>
          <p:cNvSpPr/>
          <p:nvPr/>
        </p:nvSpPr>
        <p:spPr>
          <a:xfrm>
            <a:off x="10298160" y="3977640"/>
            <a:ext cx="1735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→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6"/>
          <p:cNvSpPr/>
          <p:nvPr/>
        </p:nvSpPr>
        <p:spPr>
          <a:xfrm>
            <a:off x="10426320" y="3977640"/>
            <a:ext cx="1094760" cy="868320"/>
          </a:xfrm>
          <a:prstGeom prst="roundRect">
            <a:avLst>
              <a:gd name="adj" fmla="val 8421"/>
            </a:avLst>
          </a:prstGeom>
          <a:solidFill>
            <a:srgbClr val="162032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7"/>
          <p:cNvSpPr/>
          <p:nvPr/>
        </p:nvSpPr>
        <p:spPr>
          <a:xfrm>
            <a:off x="10472040" y="3977640"/>
            <a:ext cx="1003320" cy="86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1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Supervised ML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8"/>
          <p:cNvSpPr/>
          <p:nvPr/>
        </p:nvSpPr>
        <p:spPr>
          <a:xfrm>
            <a:off x="640080" y="5212080"/>
            <a:ext cx="10240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3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You are here — Matplotlib gave you full control over drawing charts by hand. Seaborn builds on that same engine and adds statistical intelligence and DataFrame-native syntax, so the EDA work in Data Analytics goes faster.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1" name="Text 2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02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BEFORE WE START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If Matplotlib Exists, Why Seaborn?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3"/>
          <p:cNvSpPr/>
          <p:nvPr/>
        </p:nvSpPr>
        <p:spPr>
          <a:xfrm>
            <a:off x="548640" y="1691640"/>
            <a:ext cx="5211720" cy="40230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4"/>
          <p:cNvSpPr/>
          <p:nvPr/>
        </p:nvSpPr>
        <p:spPr>
          <a:xfrm>
            <a:off x="777240" y="1892880"/>
            <a:ext cx="1828440" cy="2923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5"/>
          <p:cNvSpPr/>
          <p:nvPr/>
        </p:nvSpPr>
        <p:spPr>
          <a:xfrm>
            <a:off x="777240" y="189288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MATPLOTLIB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6"/>
          <p:cNvSpPr/>
          <p:nvPr/>
        </p:nvSpPr>
        <p:spPr>
          <a:xfrm>
            <a:off x="777240" y="2377440"/>
            <a:ext cx="475452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engine — can draw anything, but you specify almost everything by hand.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Statistics (regression lines, confidence intervals, density curves) must be computed yourself.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Works with plain arrays and lists.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Shape 7"/>
          <p:cNvSpPr/>
          <p:nvPr/>
        </p:nvSpPr>
        <p:spPr>
          <a:xfrm>
            <a:off x="6217920" y="1691640"/>
            <a:ext cx="5211720" cy="4023000"/>
          </a:xfrm>
          <a:prstGeom prst="roundRect">
            <a:avLst>
              <a:gd name="adj" fmla="val 2727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8"/>
          <p:cNvSpPr/>
          <p:nvPr/>
        </p:nvSpPr>
        <p:spPr>
          <a:xfrm>
            <a:off x="6446520" y="1892880"/>
            <a:ext cx="1462680" cy="292320"/>
          </a:xfrm>
          <a:prstGeom prst="roundRect">
            <a:avLst>
              <a:gd name="adj" fmla="val 50000"/>
            </a:avLst>
          </a:prstGeom>
          <a:solidFill>
            <a:srgbClr val="26275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9"/>
          <p:cNvSpPr/>
          <p:nvPr/>
        </p:nvSpPr>
        <p:spPr>
          <a:xfrm>
            <a:off x="6446520" y="1892880"/>
            <a:ext cx="14626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E0E7FF"/>
                </a:solidFill>
                <a:effectLst/>
                <a:uFillTx/>
                <a:latin typeface="Plus Jakarta Sans"/>
                <a:ea typeface="Plus Jakarta Sans"/>
              </a:rPr>
              <a:t>SEABORN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0"/>
          <p:cNvSpPr/>
          <p:nvPr/>
        </p:nvSpPr>
        <p:spPr>
          <a:xfrm>
            <a:off x="6446520" y="2377440"/>
            <a:ext cx="4754520" cy="320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231F71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Built directly on top of Matplotlib — every Seaborn chart is secretly a Matplotlib Figure underneath.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231F71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Computes statistics automatically — regression lines, confidence bands, KDE curves, one function call.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231F71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Reads a Pandas DataFrame directly — pass column names (x=, y=, hue=) instead of slicing arrays by hand.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1"/>
          <p:cNvSpPr/>
          <p:nvPr/>
        </p:nvSpPr>
        <p:spPr>
          <a:xfrm>
            <a:off x="548640" y="5897880"/>
            <a:ext cx="11109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honest framing: Matplotlib is the foundation and the fine-tuning tool. Seaborn is the fast path for statistical, exploratory work — exactly what you'll do constantly in Data Analytics.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2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WHAT WE'RE COVERING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Today's Roadmap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3"/>
          <p:cNvSpPr/>
          <p:nvPr/>
        </p:nvSpPr>
        <p:spPr>
          <a:xfrm>
            <a:off x="548640" y="1737360"/>
            <a:ext cx="2111760" cy="17370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4"/>
          <p:cNvSpPr/>
          <p:nvPr/>
        </p:nvSpPr>
        <p:spPr>
          <a:xfrm>
            <a:off x="685800" y="1865520"/>
            <a:ext cx="1837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01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5"/>
          <p:cNvSpPr/>
          <p:nvPr/>
        </p:nvSpPr>
        <p:spPr>
          <a:xfrm>
            <a:off x="685800" y="2377440"/>
            <a:ext cx="18374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Foundations &amp; Terminology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6"/>
          <p:cNvSpPr/>
          <p:nvPr/>
        </p:nvSpPr>
        <p:spPr>
          <a:xfrm>
            <a:off x="2797920" y="1737360"/>
            <a:ext cx="2111760" cy="17370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7"/>
          <p:cNvSpPr/>
          <p:nvPr/>
        </p:nvSpPr>
        <p:spPr>
          <a:xfrm>
            <a:off x="2935080" y="1865520"/>
            <a:ext cx="1837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02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8"/>
          <p:cNvSpPr/>
          <p:nvPr/>
        </p:nvSpPr>
        <p:spPr>
          <a:xfrm>
            <a:off x="2935080" y="2377440"/>
            <a:ext cx="18374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Getting Started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9"/>
          <p:cNvSpPr/>
          <p:nvPr/>
        </p:nvSpPr>
        <p:spPr>
          <a:xfrm>
            <a:off x="5047560" y="1737360"/>
            <a:ext cx="2111760" cy="17370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0"/>
          <p:cNvSpPr/>
          <p:nvPr/>
        </p:nvSpPr>
        <p:spPr>
          <a:xfrm>
            <a:off x="5184720" y="1865520"/>
            <a:ext cx="1837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03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1"/>
          <p:cNvSpPr/>
          <p:nvPr/>
        </p:nvSpPr>
        <p:spPr>
          <a:xfrm>
            <a:off x="5184720" y="2377440"/>
            <a:ext cx="18374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Distribution Plots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2"/>
          <p:cNvSpPr/>
          <p:nvPr/>
        </p:nvSpPr>
        <p:spPr>
          <a:xfrm>
            <a:off x="7296840" y="1737360"/>
            <a:ext cx="2111760" cy="17370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3"/>
          <p:cNvSpPr/>
          <p:nvPr/>
        </p:nvSpPr>
        <p:spPr>
          <a:xfrm>
            <a:off x="7434000" y="1865520"/>
            <a:ext cx="1837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04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4"/>
          <p:cNvSpPr/>
          <p:nvPr/>
        </p:nvSpPr>
        <p:spPr>
          <a:xfrm>
            <a:off x="7434000" y="2377440"/>
            <a:ext cx="18374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Categorical Plots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15"/>
          <p:cNvSpPr/>
          <p:nvPr/>
        </p:nvSpPr>
        <p:spPr>
          <a:xfrm>
            <a:off x="9546480" y="1737360"/>
            <a:ext cx="2111760" cy="17370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 16"/>
          <p:cNvSpPr/>
          <p:nvPr/>
        </p:nvSpPr>
        <p:spPr>
          <a:xfrm>
            <a:off x="9683640" y="1865520"/>
            <a:ext cx="1837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05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7"/>
          <p:cNvSpPr/>
          <p:nvPr/>
        </p:nvSpPr>
        <p:spPr>
          <a:xfrm>
            <a:off x="9683640" y="2377440"/>
            <a:ext cx="18374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Relational Plots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Shape 18"/>
          <p:cNvSpPr/>
          <p:nvPr/>
        </p:nvSpPr>
        <p:spPr>
          <a:xfrm>
            <a:off x="548640" y="3620880"/>
            <a:ext cx="2111760" cy="17370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 19"/>
          <p:cNvSpPr/>
          <p:nvPr/>
        </p:nvSpPr>
        <p:spPr>
          <a:xfrm>
            <a:off x="685800" y="3749040"/>
            <a:ext cx="1837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06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20"/>
          <p:cNvSpPr/>
          <p:nvPr/>
        </p:nvSpPr>
        <p:spPr>
          <a:xfrm>
            <a:off x="685800" y="4260960"/>
            <a:ext cx="18374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Regression Plots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Shape 21"/>
          <p:cNvSpPr/>
          <p:nvPr/>
        </p:nvSpPr>
        <p:spPr>
          <a:xfrm>
            <a:off x="2797920" y="3620880"/>
            <a:ext cx="2111760" cy="17370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2"/>
          <p:cNvSpPr/>
          <p:nvPr/>
        </p:nvSpPr>
        <p:spPr>
          <a:xfrm>
            <a:off x="2935080" y="3749040"/>
            <a:ext cx="1837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07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23"/>
          <p:cNvSpPr/>
          <p:nvPr/>
        </p:nvSpPr>
        <p:spPr>
          <a:xfrm>
            <a:off x="2935080" y="4260960"/>
            <a:ext cx="18374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Matrix Plots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24"/>
          <p:cNvSpPr/>
          <p:nvPr/>
        </p:nvSpPr>
        <p:spPr>
          <a:xfrm>
            <a:off x="5047560" y="3620880"/>
            <a:ext cx="2111760" cy="17370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25"/>
          <p:cNvSpPr/>
          <p:nvPr/>
        </p:nvSpPr>
        <p:spPr>
          <a:xfrm>
            <a:off x="5184720" y="3749040"/>
            <a:ext cx="1837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08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26"/>
          <p:cNvSpPr/>
          <p:nvPr/>
        </p:nvSpPr>
        <p:spPr>
          <a:xfrm>
            <a:off x="5184720" y="4260960"/>
            <a:ext cx="18374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Styling &amp; Palettes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27"/>
          <p:cNvSpPr/>
          <p:nvPr/>
        </p:nvSpPr>
        <p:spPr>
          <a:xfrm>
            <a:off x="7296840" y="3620880"/>
            <a:ext cx="2111760" cy="17370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28"/>
          <p:cNvSpPr/>
          <p:nvPr/>
        </p:nvSpPr>
        <p:spPr>
          <a:xfrm>
            <a:off x="7434000" y="3749040"/>
            <a:ext cx="1837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09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29"/>
          <p:cNvSpPr/>
          <p:nvPr/>
        </p:nvSpPr>
        <p:spPr>
          <a:xfrm>
            <a:off x="7434000" y="4260960"/>
            <a:ext cx="18374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Seaborn for EDA &amp; ML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Shape 30"/>
          <p:cNvSpPr/>
          <p:nvPr/>
        </p:nvSpPr>
        <p:spPr>
          <a:xfrm>
            <a:off x="9546480" y="3620880"/>
            <a:ext cx="2111760" cy="173700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31"/>
          <p:cNvSpPr/>
          <p:nvPr/>
        </p:nvSpPr>
        <p:spPr>
          <a:xfrm>
            <a:off x="9683640" y="3749040"/>
            <a:ext cx="18374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trike="noStrike">
                <a:solidFill>
                  <a:srgbClr val="8C8AE0"/>
                </a:solidFill>
                <a:effectLst/>
                <a:uFillTx/>
                <a:latin typeface="Bricolage Grotesque"/>
                <a:ea typeface="Bricolage Grotesque"/>
              </a:rPr>
              <a:t>10</a:t>
            </a:r>
            <a:endParaRPr lang="en-US" sz="2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9" name="Text 32"/>
          <p:cNvSpPr/>
          <p:nvPr/>
        </p:nvSpPr>
        <p:spPr>
          <a:xfrm>
            <a:off x="9683640" y="4260960"/>
            <a:ext cx="1837440" cy="959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200" b="1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Mini Projects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33"/>
          <p:cNvSpPr/>
          <p:nvPr/>
        </p:nvSpPr>
        <p:spPr>
          <a:xfrm>
            <a:off x="548640" y="5486400"/>
            <a:ext cx="1106388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5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Running example: the tips dataset throughout — with a switch to titanic for the ML section.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34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04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5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 · FOUNDATIONS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Foundations &amp; Terminology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4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10 core terms that unlock how Seaborn thinks about data — and why it feels so different from plain Matplotlib.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05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 · 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Terms 1–4 · Reading Data &amp; Encodings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11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2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Shape 3"/>
          <p:cNvSpPr/>
          <p:nvPr/>
        </p:nvSpPr>
        <p:spPr>
          <a:xfrm>
            <a:off x="54864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4"/>
          <p:cNvSpPr/>
          <p:nvPr/>
        </p:nvSpPr>
        <p:spPr>
          <a:xfrm>
            <a:off x="71316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 5"/>
          <p:cNvSpPr/>
          <p:nvPr/>
        </p:nvSpPr>
        <p:spPr>
          <a:xfrm>
            <a:off x="71316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6"/>
          <p:cNvSpPr/>
          <p:nvPr/>
        </p:nvSpPr>
        <p:spPr>
          <a:xfrm>
            <a:off x="118872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DataFrame-Native Plotting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7"/>
          <p:cNvSpPr/>
          <p:nvPr/>
        </p:nvSpPr>
        <p:spPr>
          <a:xfrm>
            <a:off x="71316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Seaborn plots read straight from a Pandas DataFrame — you pass column names, not raw arrays.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8"/>
          <p:cNvSpPr/>
          <p:nvPr/>
        </p:nvSpPr>
        <p:spPr>
          <a:xfrm>
            <a:off x="337176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9"/>
          <p:cNvSpPr/>
          <p:nvPr/>
        </p:nvSpPr>
        <p:spPr>
          <a:xfrm>
            <a:off x="353628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10"/>
          <p:cNvSpPr/>
          <p:nvPr/>
        </p:nvSpPr>
        <p:spPr>
          <a:xfrm>
            <a:off x="353628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11"/>
          <p:cNvSpPr/>
          <p:nvPr/>
        </p:nvSpPr>
        <p:spPr>
          <a:xfrm>
            <a:off x="401184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hue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12"/>
          <p:cNvSpPr/>
          <p:nvPr/>
        </p:nvSpPr>
        <p:spPr>
          <a:xfrm>
            <a:off x="353628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 parameter that colors points/bars by a category, and adds the legend for you automatically.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3"/>
          <p:cNvSpPr/>
          <p:nvPr/>
        </p:nvSpPr>
        <p:spPr>
          <a:xfrm>
            <a:off x="619524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Shape 14"/>
          <p:cNvSpPr/>
          <p:nvPr/>
        </p:nvSpPr>
        <p:spPr>
          <a:xfrm>
            <a:off x="635976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5"/>
          <p:cNvSpPr/>
          <p:nvPr/>
        </p:nvSpPr>
        <p:spPr>
          <a:xfrm>
            <a:off x="635976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6"/>
          <p:cNvSpPr/>
          <p:nvPr/>
        </p:nvSpPr>
        <p:spPr>
          <a:xfrm>
            <a:off x="683532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size / style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7"/>
          <p:cNvSpPr/>
          <p:nvPr/>
        </p:nvSpPr>
        <p:spPr>
          <a:xfrm>
            <a:off x="635976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Parameters that scale point size or change marker/line style by category — extra dimensions on one chart.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Shape 18"/>
          <p:cNvSpPr/>
          <p:nvPr/>
        </p:nvSpPr>
        <p:spPr>
          <a:xfrm>
            <a:off x="9018360" y="1600200"/>
            <a:ext cx="2639880" cy="420588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Shape 19"/>
          <p:cNvSpPr/>
          <p:nvPr/>
        </p:nvSpPr>
        <p:spPr>
          <a:xfrm>
            <a:off x="918288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20"/>
          <p:cNvSpPr/>
          <p:nvPr/>
        </p:nvSpPr>
        <p:spPr>
          <a:xfrm>
            <a:off x="918288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 21"/>
          <p:cNvSpPr/>
          <p:nvPr/>
        </p:nvSpPr>
        <p:spPr>
          <a:xfrm>
            <a:off x="9658440" y="1746360"/>
            <a:ext cx="181692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Figure-Level Function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22"/>
          <p:cNvSpPr/>
          <p:nvPr/>
        </p:nvSpPr>
        <p:spPr>
          <a:xfrm>
            <a:off x="9182880" y="2221920"/>
            <a:ext cx="231084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 function that creates its own Figure and can build multiple panels at once — e.g. displot(), lmplot().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3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 · 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Terms 5–7 · How Seaborn Builds Charts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6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7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3"/>
          <p:cNvSpPr/>
          <p:nvPr/>
        </p:nvSpPr>
        <p:spPr>
          <a:xfrm>
            <a:off x="548640" y="1600200"/>
            <a:ext cx="3580920" cy="42058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Shape 4"/>
          <p:cNvSpPr/>
          <p:nvPr/>
        </p:nvSpPr>
        <p:spPr>
          <a:xfrm>
            <a:off x="71316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5"/>
          <p:cNvSpPr/>
          <p:nvPr/>
        </p:nvSpPr>
        <p:spPr>
          <a:xfrm>
            <a:off x="71316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5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6"/>
          <p:cNvSpPr/>
          <p:nvPr/>
        </p:nvSpPr>
        <p:spPr>
          <a:xfrm>
            <a:off x="1188720" y="1746360"/>
            <a:ext cx="275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Axes-Level Function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7"/>
          <p:cNvSpPr/>
          <p:nvPr/>
        </p:nvSpPr>
        <p:spPr>
          <a:xfrm>
            <a:off x="713160" y="2221920"/>
            <a:ext cx="325188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 </a:t>
            </a: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funct</a:t>
            </a: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ion </a:t>
            </a: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that </a:t>
            </a: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draw</a:t>
            </a: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s </a:t>
            </a: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onto </a:t>
            </a: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one </a:t>
            </a: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Axes </a:t>
            </a: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you </a:t>
            </a: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give </a:t>
            </a: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it — </a:t>
            </a: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e.g. </a:t>
            </a: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histp</a:t>
            </a: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lot(), </a:t>
            </a: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boxp</a:t>
            </a: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lot() </a:t>
            </a: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— </a:t>
            </a: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plays </a:t>
            </a: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nicel</a:t>
            </a: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y </a:t>
            </a: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with </a:t>
            </a: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plt.s</a:t>
            </a: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ubpl</a:t>
            </a: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ots().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8"/>
          <p:cNvSpPr/>
          <p:nvPr/>
        </p:nvSpPr>
        <p:spPr>
          <a:xfrm>
            <a:off x="4312800" y="1600200"/>
            <a:ext cx="3580920" cy="42058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Shape 9"/>
          <p:cNvSpPr/>
          <p:nvPr/>
        </p:nvSpPr>
        <p:spPr>
          <a:xfrm>
            <a:off x="447768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0"/>
          <p:cNvSpPr/>
          <p:nvPr/>
        </p:nvSpPr>
        <p:spPr>
          <a:xfrm>
            <a:off x="447768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6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1"/>
          <p:cNvSpPr/>
          <p:nvPr/>
        </p:nvSpPr>
        <p:spPr>
          <a:xfrm>
            <a:off x="4952880" y="1746360"/>
            <a:ext cx="275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Facet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 12"/>
          <p:cNvSpPr/>
          <p:nvPr/>
        </p:nvSpPr>
        <p:spPr>
          <a:xfrm>
            <a:off x="4477680" y="2221920"/>
            <a:ext cx="325188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 sub-plot created automatically by splitting data into a grid, based on a category (col=, row=).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13"/>
          <p:cNvSpPr/>
          <p:nvPr/>
        </p:nvSpPr>
        <p:spPr>
          <a:xfrm>
            <a:off x="8077320" y="1600200"/>
            <a:ext cx="3580920" cy="42058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14"/>
          <p:cNvSpPr/>
          <p:nvPr/>
        </p:nvSpPr>
        <p:spPr>
          <a:xfrm>
            <a:off x="824184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15"/>
          <p:cNvSpPr/>
          <p:nvPr/>
        </p:nvSpPr>
        <p:spPr>
          <a:xfrm>
            <a:off x="824184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7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16"/>
          <p:cNvSpPr/>
          <p:nvPr/>
        </p:nvSpPr>
        <p:spPr>
          <a:xfrm>
            <a:off x="8717400" y="1746360"/>
            <a:ext cx="275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Estimator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17"/>
          <p:cNvSpPr/>
          <p:nvPr/>
        </p:nvSpPr>
        <p:spPr>
          <a:xfrm>
            <a:off x="8241840" y="2221920"/>
            <a:ext cx="325188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statistic used to summarize a group of values — mean is the default; np.sum is common too.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1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 · 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Terms 8–10 · Statistics, Built In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56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7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Shape 3"/>
          <p:cNvSpPr/>
          <p:nvPr/>
        </p:nvSpPr>
        <p:spPr>
          <a:xfrm>
            <a:off x="548640" y="1600200"/>
            <a:ext cx="3580920" cy="42058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4"/>
          <p:cNvSpPr/>
          <p:nvPr/>
        </p:nvSpPr>
        <p:spPr>
          <a:xfrm>
            <a:off x="71316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5"/>
          <p:cNvSpPr/>
          <p:nvPr/>
        </p:nvSpPr>
        <p:spPr>
          <a:xfrm>
            <a:off x="71316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8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6"/>
          <p:cNvSpPr/>
          <p:nvPr/>
        </p:nvSpPr>
        <p:spPr>
          <a:xfrm>
            <a:off x="1188720" y="1746360"/>
            <a:ext cx="275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Confidence </a:t>
            </a:r>
            <a:r>
              <a:rPr lang="en-US" sz="135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Interval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7"/>
          <p:cNvSpPr/>
          <p:nvPr/>
        </p:nvSpPr>
        <p:spPr>
          <a:xfrm>
            <a:off x="713160" y="2221920"/>
            <a:ext cx="325188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The shaded band around a line/bar showing the plausible range for the true value.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Shape 8"/>
          <p:cNvSpPr/>
          <p:nvPr/>
        </p:nvSpPr>
        <p:spPr>
          <a:xfrm>
            <a:off x="4312800" y="1600200"/>
            <a:ext cx="3580920" cy="42058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9"/>
          <p:cNvSpPr/>
          <p:nvPr/>
        </p:nvSpPr>
        <p:spPr>
          <a:xfrm>
            <a:off x="447768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10"/>
          <p:cNvSpPr/>
          <p:nvPr/>
        </p:nvSpPr>
        <p:spPr>
          <a:xfrm>
            <a:off x="447768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9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11"/>
          <p:cNvSpPr/>
          <p:nvPr/>
        </p:nvSpPr>
        <p:spPr>
          <a:xfrm>
            <a:off x="4952880" y="1746360"/>
            <a:ext cx="275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KDE (Kernel Density Estimate)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12"/>
          <p:cNvSpPr/>
          <p:nvPr/>
        </p:nvSpPr>
        <p:spPr>
          <a:xfrm>
            <a:off x="4477680" y="2221920"/>
            <a:ext cx="325188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 smoothed curve estimating a variable's distribution — a smoother alternative to a histogram.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Shape 13"/>
          <p:cNvSpPr/>
          <p:nvPr/>
        </p:nvSpPr>
        <p:spPr>
          <a:xfrm>
            <a:off x="8077320" y="1600200"/>
            <a:ext cx="3580920" cy="42058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Shape 14"/>
          <p:cNvSpPr/>
          <p:nvPr/>
        </p:nvSpPr>
        <p:spPr>
          <a:xfrm>
            <a:off x="8241840" y="1764720"/>
            <a:ext cx="383760" cy="38376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15"/>
          <p:cNvSpPr/>
          <p:nvPr/>
        </p:nvSpPr>
        <p:spPr>
          <a:xfrm>
            <a:off x="8241840" y="1764720"/>
            <a:ext cx="38376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10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6"/>
          <p:cNvSpPr/>
          <p:nvPr/>
        </p:nvSpPr>
        <p:spPr>
          <a:xfrm>
            <a:off x="8717400" y="1746360"/>
            <a:ext cx="2757960" cy="42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5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Palette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7"/>
          <p:cNvSpPr/>
          <p:nvPr/>
        </p:nvSpPr>
        <p:spPr>
          <a:xfrm>
            <a:off x="8241840" y="2221920"/>
            <a:ext cx="3251880" cy="345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2000"/>
              </a:lnSpc>
              <a:tabLst>
                <a:tab pos="0" algn="l"/>
              </a:tabLst>
            </a:pP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A named or custom set of colors used to distinguish categories or encode </a:t>
            </a:r>
            <a:r>
              <a:rPr lang="en-US" sz="1050" b="0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values.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 · 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Figure-Level vs. Axes-Level — The #1 Thing to Get Right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6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7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Shape 3"/>
          <p:cNvSpPr/>
          <p:nvPr/>
        </p:nvSpPr>
        <p:spPr>
          <a:xfrm>
            <a:off x="548640" y="1691640"/>
            <a:ext cx="5211720" cy="3977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4"/>
          <p:cNvSpPr/>
          <p:nvPr/>
        </p:nvSpPr>
        <p:spPr>
          <a:xfrm>
            <a:off x="777240" y="1892880"/>
            <a:ext cx="1828440" cy="29232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5"/>
          <p:cNvSpPr/>
          <p:nvPr/>
        </p:nvSpPr>
        <p:spPr>
          <a:xfrm>
            <a:off x="777240" y="1892880"/>
            <a:ext cx="18284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002019"/>
                </a:solidFill>
                <a:effectLst/>
                <a:uFillTx/>
                <a:latin typeface="Plus Jakarta Sans"/>
                <a:ea typeface="Plus Jakarta Sans"/>
              </a:rPr>
              <a:t>AXES-LEVEL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Shape 6"/>
          <p:cNvSpPr/>
          <p:nvPr/>
        </p:nvSpPr>
        <p:spPr>
          <a:xfrm>
            <a:off x="777240" y="2377440"/>
            <a:ext cx="4754520" cy="1691280"/>
          </a:xfrm>
          <a:prstGeom prst="roundRect">
            <a:avLst>
              <a:gd name="adj" fmla="val 6486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7"/>
          <p:cNvSpPr/>
          <p:nvPr/>
        </p:nvSpPr>
        <p:spPr>
          <a:xfrm>
            <a:off x="941760" y="25236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3" name="Shape 8"/>
          <p:cNvSpPr/>
          <p:nvPr/>
        </p:nvSpPr>
        <p:spPr>
          <a:xfrm>
            <a:off x="1143000" y="25236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Shape 9"/>
          <p:cNvSpPr/>
          <p:nvPr/>
        </p:nvSpPr>
        <p:spPr>
          <a:xfrm>
            <a:off x="1344240" y="25236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10"/>
          <p:cNvSpPr/>
          <p:nvPr/>
        </p:nvSpPr>
        <p:spPr>
          <a:xfrm>
            <a:off x="978480" y="2761560"/>
            <a:ext cx="435204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fig, ax = plt.subplots()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sns.histplot(df["tip"], ax=ax)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sns.boxplot(x="day", y="tip",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data=df, ax=ax)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86" name="Text 11"/>
          <p:cNvSpPr/>
          <p:nvPr/>
        </p:nvSpPr>
        <p:spPr>
          <a:xfrm>
            <a:off x="777240" y="4206240"/>
            <a:ext cx="47545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Draws onto one Axes you already have.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Fits directly into plt.subplots() grids.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Examples: histplot, boxplot, scatterplot, heatmap.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Shape 12"/>
          <p:cNvSpPr/>
          <p:nvPr/>
        </p:nvSpPr>
        <p:spPr>
          <a:xfrm>
            <a:off x="6217920" y="1691640"/>
            <a:ext cx="5211720" cy="397728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13"/>
          <p:cNvSpPr/>
          <p:nvPr/>
        </p:nvSpPr>
        <p:spPr>
          <a:xfrm>
            <a:off x="6446520" y="1892880"/>
            <a:ext cx="1919880" cy="29232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4"/>
          <p:cNvSpPr/>
          <p:nvPr/>
        </p:nvSpPr>
        <p:spPr>
          <a:xfrm>
            <a:off x="6446520" y="189288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000" b="1" u="none" strike="noStrike">
                <a:solidFill>
                  <a:srgbClr val="231F71"/>
                </a:solidFill>
                <a:effectLst/>
                <a:uFillTx/>
                <a:latin typeface="Plus Jakarta Sans"/>
                <a:ea typeface="Plus Jakarta Sans"/>
              </a:rPr>
              <a:t>FIGURE-LEVEL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Shape 15"/>
          <p:cNvSpPr/>
          <p:nvPr/>
        </p:nvSpPr>
        <p:spPr>
          <a:xfrm>
            <a:off x="6446520" y="2377440"/>
            <a:ext cx="4754520" cy="1691280"/>
          </a:xfrm>
          <a:prstGeom prst="roundRect">
            <a:avLst>
              <a:gd name="adj" fmla="val 6486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1" name="Shape 16"/>
          <p:cNvSpPr/>
          <p:nvPr/>
        </p:nvSpPr>
        <p:spPr>
          <a:xfrm>
            <a:off x="6611040" y="25236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17"/>
          <p:cNvSpPr/>
          <p:nvPr/>
        </p:nvSpPr>
        <p:spPr>
          <a:xfrm>
            <a:off x="6812280" y="25236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18"/>
          <p:cNvSpPr/>
          <p:nvPr/>
        </p:nvSpPr>
        <p:spPr>
          <a:xfrm>
            <a:off x="7013520" y="25236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9"/>
          <p:cNvSpPr/>
          <p:nvPr/>
        </p:nvSpPr>
        <p:spPr>
          <a:xfrm>
            <a:off x="6647760" y="2761560"/>
            <a:ext cx="4352040" cy="1161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sns.displot(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df["tip"], kind="hist"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# creates its own Figure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195" name="Text 20"/>
          <p:cNvSpPr/>
          <p:nvPr/>
        </p:nvSpPr>
        <p:spPr>
          <a:xfrm>
            <a:off x="6446520" y="4206240"/>
            <a:ext cx="47545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Creates and owns its own Figure — no ax= needed.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Can facet into a grid with col=/row=.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Examples: displot, catplot, relplot, lmplot.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21"/>
          <p:cNvSpPr/>
          <p:nvPr/>
        </p:nvSpPr>
        <p:spPr>
          <a:xfrm>
            <a:off x="548640" y="5806440"/>
            <a:ext cx="111096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Rule of thumb: if you need it inside a Matplotlib subplot grid, reach for the axes-level version.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2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09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 · TERMINOLOGY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Foundations &amp; Terminology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In your own words, explain the difference between a figure-level and an axes-level function.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Name one parameter you'd add to a chart to encode a 3rd variable, and one for a 4th.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Explain what a confidence interval band is telling you when you see one around a line.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Shape 17"/>
          <p:cNvSpPr/>
          <p:nvPr/>
        </p:nvSpPr>
        <p:spPr>
          <a:xfrm>
            <a:off x="548640" y="48736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8"/>
          <p:cNvSpPr/>
          <p:nvPr/>
        </p:nvSpPr>
        <p:spPr>
          <a:xfrm>
            <a:off x="731520" y="51206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9"/>
          <p:cNvSpPr/>
          <p:nvPr/>
        </p:nvSpPr>
        <p:spPr>
          <a:xfrm>
            <a:off x="731520" y="5120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20"/>
          <p:cNvSpPr/>
          <p:nvPr/>
        </p:nvSpPr>
        <p:spPr>
          <a:xfrm>
            <a:off x="1234440" y="48736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List two things a Palette can be used for on a chart.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19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0" name="Text 2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22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3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224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5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2 · GETTING STARTED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Getting Started with Seaborn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Text 4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Installing, importing, loading a built-in dataset, and understanding how Seaborn sits on top of Matplotlib.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11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2 · GETTING STARTED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Installing, Importing &amp; Built-In Datasets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31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32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Shape 3"/>
          <p:cNvSpPr/>
          <p:nvPr/>
        </p:nvSpPr>
        <p:spPr>
          <a:xfrm>
            <a:off x="548640" y="169164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 7"/>
          <p:cNvSpPr/>
          <p:nvPr/>
        </p:nvSpPr>
        <p:spPr>
          <a:xfrm>
            <a:off x="749880" y="2075760"/>
            <a:ext cx="499212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# one-time install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pip install seaborn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seaborn as sns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matplotlib.pyplot as plt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# no downloading, no cleaning —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# just a ready DataFrame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tips = sns.load_dataset("tips")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tips.head()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38" name="Text 8"/>
          <p:cNvSpPr/>
          <p:nvPr/>
        </p:nvSpPr>
        <p:spPr>
          <a:xfrm>
            <a:off x="6172200" y="1691640"/>
            <a:ext cx="548604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Seaborn ships a small library of clean sample datasets — tips, titanic, flights, iris, and more.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sns.load_dataset("name") pulls one straight into a Pandas DataFrame — no downloading, no missing-value cleanup.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lets you focus entirely on visualization syntax while learning, instead of data wrangling.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We'll use tips as our running example, and switch to titanic for the ML section later.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2 · GETTING STARTED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1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sns.set_theme() — One Line, Better Defaults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2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4" name="Shape 3"/>
          <p:cNvSpPr/>
          <p:nvPr/>
        </p:nvSpPr>
        <p:spPr>
          <a:xfrm>
            <a:off x="548640" y="1691640"/>
            <a:ext cx="5211720" cy="3931560"/>
          </a:xfrm>
          <a:prstGeom prst="roundRect">
            <a:avLst>
              <a:gd name="adj" fmla="val 2791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5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6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7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 7"/>
          <p:cNvSpPr/>
          <p:nvPr/>
        </p:nvSpPr>
        <p:spPr>
          <a:xfrm>
            <a:off x="749880" y="2075760"/>
            <a:ext cx="4809240" cy="340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sns.set_theme(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style="whitegrid",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palette="deep"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# every chart from here on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# uses this look automatically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sns.histplot(tips["total_bill"])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plt.show()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49" name="Text 8"/>
          <p:cNvSpPr/>
          <p:nvPr/>
        </p:nvSpPr>
        <p:spPr>
          <a:xfrm>
            <a:off x="6035040" y="1691640"/>
            <a:ext cx="562320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Call this once, near the top of your notebook — it affects every chart drawn afterward.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style= controls the background/grid look (darkgrid, whitegrid, dark, white, ticks).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palette= sets the default color scheme for categories across every chart.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single line is most of why Seaborn charts look polished with almost no extra work.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2 · GETTING STARTED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Seaborn Layers on Top of Matplotlib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3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4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5" name="Shape 3"/>
          <p:cNvSpPr/>
          <p:nvPr/>
        </p:nvSpPr>
        <p:spPr>
          <a:xfrm>
            <a:off x="548640" y="1691640"/>
            <a:ext cx="548604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6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7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8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 7"/>
          <p:cNvSpPr/>
          <p:nvPr/>
        </p:nvSpPr>
        <p:spPr>
          <a:xfrm>
            <a:off x="749880" y="2075760"/>
            <a:ext cx="508356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fig, ax = plt.subplots(figsize=(6, 4))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# Seaborn draws the chart...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sns.boxplot(x="day", y="tip",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data=tips, ax=ax)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# ...Matplotlib fine-tunes it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ax.set_title("Tips by Day")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ax.set_xlabel("Day of Week")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plt.show()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60" name="Text 8"/>
          <p:cNvSpPr/>
          <p:nvPr/>
        </p:nvSpPr>
        <p:spPr>
          <a:xfrm>
            <a:off x="6309360" y="1691640"/>
            <a:ext cx="53488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Every Seaborn chart is secretly a Matplotlib Figure and Axes underneath.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Pass ax= to draw a Seaborn chart onto an Axes you created with plt.subplots() — this is how the two libraries cooperate.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Once drawn, everything from your Matplotlib module still works: ax.set_title(), ax.set_xlabel(), plt.savefig().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Think of it as: Seaborn draws the statistics, Matplotlib does the fine detailing.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1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2 · GETTING STARTED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Your First Seaborn Plot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64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65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6" name="Shape 3"/>
          <p:cNvSpPr/>
          <p:nvPr/>
        </p:nvSpPr>
        <p:spPr>
          <a:xfrm>
            <a:off x="548640" y="1691640"/>
            <a:ext cx="5211720" cy="3931560"/>
          </a:xfrm>
          <a:prstGeom prst="roundRect">
            <a:avLst>
              <a:gd name="adj" fmla="val 2791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9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 7"/>
          <p:cNvSpPr/>
          <p:nvPr/>
        </p:nvSpPr>
        <p:spPr>
          <a:xfrm>
            <a:off x="749880" y="2075760"/>
            <a:ext cx="4809240" cy="340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import seaborn as sns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tips = sns.load_dataset("tips")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sns.scatterplot(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x="total_bill",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y="tip",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data=tips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271" name="Shape 8"/>
          <p:cNvSpPr/>
          <p:nvPr/>
        </p:nvSpPr>
        <p:spPr>
          <a:xfrm>
            <a:off x="6035040" y="1691640"/>
            <a:ext cx="5623200" cy="393156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2" name="Image 1" descr="/home/claude/sns/charts/scatter_relational.png"/>
          <p:cNvPicPr/>
          <p:nvPr/>
        </p:nvPicPr>
        <p:blipFill>
          <a:blip r:embed="rId2"/>
          <a:stretch/>
        </p:blipFill>
        <p:spPr>
          <a:xfrm>
            <a:off x="6144840" y="1801440"/>
            <a:ext cx="5403600" cy="3547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3" name="Text 9"/>
          <p:cNvSpPr/>
          <p:nvPr/>
        </p:nvSpPr>
        <p:spPr>
          <a:xfrm>
            <a:off x="6035040" y="534924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Column names in, a finished chart out.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4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6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7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2 · GETTING STARTED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Getting Started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1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2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Load the tips dataset and print its shape and column names.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6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7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Call sns.set_theme() with a style of your choice, then plot any histogram and see the difference.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Create a Figure with plt.subplots() and draw a Seaborn chart onto it using ax=.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2" name="Shape 17"/>
          <p:cNvSpPr/>
          <p:nvPr/>
        </p:nvSpPr>
        <p:spPr>
          <a:xfrm>
            <a:off x="548640" y="48736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3" name="Shape 18"/>
          <p:cNvSpPr/>
          <p:nvPr/>
        </p:nvSpPr>
        <p:spPr>
          <a:xfrm>
            <a:off x="731520" y="51206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4" name="Text 19"/>
          <p:cNvSpPr/>
          <p:nvPr/>
        </p:nvSpPr>
        <p:spPr>
          <a:xfrm>
            <a:off x="731520" y="5120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5" name="Text 20"/>
          <p:cNvSpPr/>
          <p:nvPr/>
        </p:nvSpPr>
        <p:spPr>
          <a:xfrm>
            <a:off x="1234440" y="48736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Predict what sns.load_dataset("titanic") will contain before you check it — then check.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6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7" name="Text 2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8" name="Text 22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301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2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3 · DISTRIBUTION PLOTS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Distribution Plots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4" name="Text 4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Understanding how one quantitative variable is spread out — histograms, density curves, and multi-variable views, all built in.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17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 · DISTRIBUTION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7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a Distribution Plot?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8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9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 3"/>
          <p:cNvSpPr/>
          <p:nvPr/>
        </p:nvSpPr>
        <p:spPr>
          <a:xfrm>
            <a:off x="548640" y="1737360"/>
            <a:ext cx="580608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distribution plot shows how the values of one numerical column are spread out — where most values cluster, and where the outliers sit.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usually the very first thing you check about any new dataset, before anything else.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Seaborn's distribution tools go beyond the plain histogram from Matplotlib — adding smoothed curves (KDE) and relationship views in one line.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section covers: histplot / displot, kdeplot, rugplot, jointplot, and pairplot.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Shape 4"/>
          <p:cNvSpPr/>
          <p:nvPr/>
        </p:nvSpPr>
        <p:spPr>
          <a:xfrm>
            <a:off x="6583680" y="1737360"/>
            <a:ext cx="5074560" cy="41144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2" name="Image 1" descr="/home/claude/sns/charts/hist_kde.png"/>
          <p:cNvPicPr/>
          <p:nvPr/>
        </p:nvPicPr>
        <p:blipFill>
          <a:blip r:embed="rId2"/>
          <a:stretch/>
        </p:blipFill>
        <p:spPr>
          <a:xfrm>
            <a:off x="6693480" y="1847160"/>
            <a:ext cx="4854960" cy="389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3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 · DISTRIBUTION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5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Anatomy of sns.histplot()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6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7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Shape 3"/>
          <p:cNvSpPr/>
          <p:nvPr/>
        </p:nvSpPr>
        <p:spPr>
          <a:xfrm>
            <a:off x="548640" y="1691640"/>
            <a:ext cx="5028840" cy="2742840"/>
          </a:xfrm>
          <a:prstGeom prst="roundRect">
            <a:avLst>
              <a:gd name="adj" fmla="val 4000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9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1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 7"/>
          <p:cNvSpPr/>
          <p:nvPr/>
        </p:nvSpPr>
        <p:spPr>
          <a:xfrm>
            <a:off x="749880" y="2075760"/>
            <a:ext cx="4626360" cy="22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sns.histplot(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data["total_bill"],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bins=20,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kde=True,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color="color_name"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graphicFrame>
        <p:nvGraphicFramePr>
          <p:cNvPr id="323" name="Table 0"/>
          <p:cNvGraphicFramePr/>
          <p:nvPr/>
        </p:nvGraphicFramePr>
        <p:xfrm>
          <a:off x="5806440" y="1691640"/>
          <a:ext cx="5851800" cy="2743200"/>
        </p:xfrm>
        <a:graphic>
          <a:graphicData uri="http://schemas.openxmlformats.org/drawingml/2006/table">
            <a:tbl>
              <a:tblPr/>
              <a:tblGrid>
                <a:gridCol w="1989720"/>
                <a:gridCol w="3862080"/>
              </a:tblGrid>
              <a:tr h="548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548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data / x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The numerical column to plot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bins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Number of bars/intervals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kde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If True, overlays a smooth density curve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color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Fill color of the bars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4" name="Text 8"/>
          <p:cNvSpPr/>
          <p:nvPr/>
        </p:nvSpPr>
        <p:spPr>
          <a:xfrm>
            <a:off x="548640" y="4663440"/>
            <a:ext cx="1110960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sns.displot() is the figure-level twin of histplot() — same idea, but it creates its own Figure and can facet with col=.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19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 · DISTRIBUTION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7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Distribution of Total Bill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8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9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Shape 3"/>
          <p:cNvSpPr/>
          <p:nvPr/>
        </p:nvSpPr>
        <p:spPr>
          <a:xfrm>
            <a:off x="548640" y="169164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3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4" name="Text 7"/>
          <p:cNvSpPr/>
          <p:nvPr/>
        </p:nvSpPr>
        <p:spPr>
          <a:xfrm>
            <a:off x="749880" y="2075760"/>
            <a:ext cx="499212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sns.histplot(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tips["total_bill"],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bins=20,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kde=True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plt.title("Distribution of Total Bill")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plt.show()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# side by side comparison: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plt.subplot(1, 2, 1)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sns.histplot(tips["total_bill"], kde=True)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plt.subplot(1, 2, 2)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15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sns.histplot(tips["tip"], kde=True)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35" name="Shape 8"/>
          <p:cNvSpPr/>
          <p:nvPr/>
        </p:nvSpPr>
        <p:spPr>
          <a:xfrm>
            <a:off x="6172200" y="1691640"/>
            <a:ext cx="5486040" cy="2422800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6" name="Image 1" descr="/home/claude/sns/charts/hist_kde.png"/>
          <p:cNvPicPr/>
          <p:nvPr/>
        </p:nvPicPr>
        <p:blipFill>
          <a:blip r:embed="rId2"/>
          <a:stretch/>
        </p:blipFill>
        <p:spPr>
          <a:xfrm>
            <a:off x="6282000" y="1801440"/>
            <a:ext cx="5266440" cy="2203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7" name="Shape 9"/>
          <p:cNvSpPr/>
          <p:nvPr/>
        </p:nvSpPr>
        <p:spPr>
          <a:xfrm>
            <a:off x="6172200" y="4251960"/>
            <a:ext cx="5486040" cy="1508400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8" name="Image 2" descr="/home/claude/sns/charts/hist_side_by_side.png"/>
          <p:cNvPicPr/>
          <p:nvPr/>
        </p:nvPicPr>
        <p:blipFill>
          <a:blip r:embed="rId3"/>
          <a:stretch/>
        </p:blipFill>
        <p:spPr>
          <a:xfrm>
            <a:off x="6282000" y="4361760"/>
            <a:ext cx="5266440" cy="112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9" name="Text 10"/>
          <p:cNvSpPr/>
          <p:nvPr/>
        </p:nvSpPr>
        <p:spPr>
          <a:xfrm>
            <a:off x="6172200" y="548640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Two histplot() calls, side by side with plt.subplot().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 11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 · DISTRIBUTION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kdeplot() &amp; rugplot() — Two Lightweight Views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3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4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345" name="Table 0"/>
          <p:cNvGraphicFramePr/>
          <p:nvPr/>
        </p:nvGraphicFramePr>
        <p:xfrm>
          <a:off x="548640" y="1691640"/>
          <a:ext cx="5394600" cy="1919880"/>
        </p:xfrm>
        <a:graphic>
          <a:graphicData uri="http://schemas.openxmlformats.org/drawingml/2006/table">
            <a:tbl>
              <a:tblPr/>
              <a:tblGrid>
                <a:gridCol w="1834200"/>
                <a:gridCol w="3560400"/>
              </a:tblGrid>
              <a:tr h="47988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47988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sns.kdeplot(data)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Just the smooth density curve, no bars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988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fill=True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Shades the area under the curve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988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sns.rugplot(data)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Draws a tiny tick mark for every single data point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6" name="Text 3"/>
          <p:cNvSpPr/>
          <p:nvPr/>
        </p:nvSpPr>
        <p:spPr>
          <a:xfrm>
            <a:off x="548640" y="3794760"/>
            <a:ext cx="5394600" cy="173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kdeplot() is useful when bars would be visual noise — e.g. comparing two overlapping distributions.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rugplot() is almost always paired with a histogram or KDE — it shows exactly where the raw data points sit, bar or curve aside.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Shape 4"/>
          <p:cNvSpPr/>
          <p:nvPr/>
        </p:nvSpPr>
        <p:spPr>
          <a:xfrm>
            <a:off x="6172200" y="1691640"/>
            <a:ext cx="5486040" cy="40230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48" name="Image 1" descr="/home/claude/sns/charts/rugplot.png"/>
          <p:cNvPicPr/>
          <p:nvPr/>
        </p:nvPicPr>
        <p:blipFill>
          <a:blip r:embed="rId2"/>
          <a:stretch/>
        </p:blipFill>
        <p:spPr>
          <a:xfrm>
            <a:off x="6282000" y="1801440"/>
            <a:ext cx="5266440" cy="363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9" name="Text 5"/>
          <p:cNvSpPr/>
          <p:nvPr/>
        </p:nvSpPr>
        <p:spPr>
          <a:xfrm>
            <a:off x="6172200" y="544068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A rug plot under a histogram — every dot is one real bill.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Text 6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 · DISTRIBUTION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jointplot() — Two Views in One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3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Shape 3"/>
          <p:cNvSpPr/>
          <p:nvPr/>
        </p:nvSpPr>
        <p:spPr>
          <a:xfrm>
            <a:off x="548640" y="1691640"/>
            <a:ext cx="4937400" cy="2742840"/>
          </a:xfrm>
          <a:prstGeom prst="roundRect">
            <a:avLst>
              <a:gd name="adj" fmla="val 4000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6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7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Text 7"/>
          <p:cNvSpPr/>
          <p:nvPr/>
        </p:nvSpPr>
        <p:spPr>
          <a:xfrm>
            <a:off x="749880" y="2075760"/>
            <a:ext cx="4534920" cy="22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sns.jointplot(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x="total_bill", y="tip",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data=tips,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kind="scatter"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# or: "kde", "hist",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#     "hex", "reg", "resid"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60" name="Text 8"/>
          <p:cNvSpPr/>
          <p:nvPr/>
        </p:nvSpPr>
        <p:spPr>
          <a:xfrm>
            <a:off x="548640" y="4572000"/>
            <a:ext cx="49374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jointplot pairs a central scatter/density chart with a mini histogram of each variable on the margins — relationship and distribution, in one figure.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7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1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kind= swaps the center chart between scatter, KDE, histogram, hexbin, or a regression fit.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Shape 9"/>
          <p:cNvSpPr/>
          <p:nvPr/>
        </p:nvSpPr>
        <p:spPr>
          <a:xfrm>
            <a:off x="5623560" y="1691640"/>
            <a:ext cx="6034680" cy="484596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2" name="Image 1" descr="/home/claude/sns/charts/joint_scatter.png"/>
          <p:cNvPicPr/>
          <p:nvPr/>
        </p:nvPicPr>
        <p:blipFill>
          <a:blip r:embed="rId2"/>
          <a:stretch/>
        </p:blipFill>
        <p:spPr>
          <a:xfrm>
            <a:off x="5733360" y="1801440"/>
            <a:ext cx="5815080" cy="4461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3" name="Text 10"/>
          <p:cNvSpPr/>
          <p:nvPr/>
        </p:nvSpPr>
        <p:spPr>
          <a:xfrm>
            <a:off x="5623560" y="6263640"/>
            <a:ext cx="60346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kind="scatter" — total_bill vs. tip, with marginal histograms.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 11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 · DISTRIBUTION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6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pairplot() — Every Relationship, At Once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67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8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9" name="Shape 3"/>
          <p:cNvSpPr/>
          <p:nvPr/>
        </p:nvSpPr>
        <p:spPr>
          <a:xfrm>
            <a:off x="548640" y="1691640"/>
            <a:ext cx="4937400" cy="1828440"/>
          </a:xfrm>
          <a:prstGeom prst="roundRect">
            <a:avLst>
              <a:gd name="adj" fmla="val 6000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1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2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3" name="Text 7"/>
          <p:cNvSpPr/>
          <p:nvPr/>
        </p:nvSpPr>
        <p:spPr>
          <a:xfrm>
            <a:off x="749880" y="2075760"/>
            <a:ext cx="453492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sns.pairplot(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tips,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hue="sex",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    palette="rainbow"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F1F5F9"/>
                </a:solidFill>
                <a:effectLst/>
                <a:uFillTx/>
                <a:latin typeface="Cantarell"/>
                <a:ea typeface="Consolas"/>
              </a:rPr>
              <a:t>)</a:t>
            </a:r>
            <a:endParaRPr lang="en-US" sz="1500" b="0" u="none" strike="noStrike">
              <a:solidFill>
                <a:srgbClr val="000000"/>
              </a:solidFill>
              <a:effectLst/>
              <a:uFillTx/>
              <a:latin typeface="Cantarell"/>
            </a:endParaRPr>
          </a:p>
        </p:txBody>
      </p:sp>
      <p:sp>
        <p:nvSpPr>
          <p:cNvPr id="374" name="Text 8"/>
          <p:cNvSpPr/>
          <p:nvPr/>
        </p:nvSpPr>
        <p:spPr>
          <a:xfrm>
            <a:off x="548640" y="3703320"/>
            <a:ext cx="4937400" cy="2102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pairplot() draws a scatter plot for every pair of numeric columns, and a distribution curve on the diagonal.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hue= colors every point by a category — instantly showing whether groups separate.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the single most-used function for scanning a whole dataset's relationships in one shot — a staple of early EDA.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5" name="Shape 9"/>
          <p:cNvSpPr/>
          <p:nvPr/>
        </p:nvSpPr>
        <p:spPr>
          <a:xfrm>
            <a:off x="5623560" y="1691640"/>
            <a:ext cx="6034680" cy="4845960"/>
          </a:xfrm>
          <a:prstGeom prst="roundRect">
            <a:avLst>
              <a:gd name="adj" fmla="val 1887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6" name="Image 1" descr="/home/claude/sns/charts/pairplot_tips.png"/>
          <p:cNvPicPr/>
          <p:nvPr/>
        </p:nvPicPr>
        <p:blipFill>
          <a:blip r:embed="rId2"/>
          <a:stretch/>
        </p:blipFill>
        <p:spPr>
          <a:xfrm>
            <a:off x="5733360" y="1801440"/>
            <a:ext cx="5815080" cy="462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77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9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3 · DISTRIBUTION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Distribution Plots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2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3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4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Plot a histplot() of the tip column with 15 bins and kde=True.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7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8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Compare a histplot and a kdeplot of the same column, side by side, and describe what changed visually.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1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Build a jointplot of total_bill vs. tip with kind="hex" and describe what the hex cells represent.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Shape 17"/>
          <p:cNvSpPr/>
          <p:nvPr/>
        </p:nvSpPr>
        <p:spPr>
          <a:xfrm>
            <a:off x="548640" y="48736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Shape 18"/>
          <p:cNvSpPr/>
          <p:nvPr/>
        </p:nvSpPr>
        <p:spPr>
          <a:xfrm>
            <a:off x="731520" y="51206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 19"/>
          <p:cNvSpPr/>
          <p:nvPr/>
        </p:nvSpPr>
        <p:spPr>
          <a:xfrm>
            <a:off x="731520" y="5120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 20"/>
          <p:cNvSpPr/>
          <p:nvPr/>
        </p:nvSpPr>
        <p:spPr>
          <a:xfrm>
            <a:off x="1234440" y="48736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Run pairplot() on the tips dataset with hue="time" and identify one pair of columns where lunch and dinner separate visually.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99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0" name="Text 2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 22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404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05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4 · </a:t>
            </a: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CATEGORICA</a:t>
            </a: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L PLOTS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Categorical Plots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 4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Comparing a numerical variable across groups — boxplot, violinplot, barplot, countplot, and more.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8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25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4 · CATEGORICAL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0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a Categorical Plot?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1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2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3" name="Text 3"/>
          <p:cNvSpPr/>
          <p:nvPr/>
        </p:nvSpPr>
        <p:spPr>
          <a:xfrm>
            <a:off x="548640" y="1737360"/>
            <a:ext cx="580608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categorical plot compares a numerical variable across the groups of a categorical one — e.g. tip amount, broken down by day of the week.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how you answer "does this differ across groups?" — one of the most common EDA questions.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Seaborn gives you several categorical plot types, each trading off between summary and detail — from a single line (bar) to every raw point (swarm).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section covers: boxplot, violinplot, barplot, countplot, stripplot, and swarmplot.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4" name="Shape 4"/>
          <p:cNvSpPr/>
          <p:nvPr/>
        </p:nvSpPr>
        <p:spPr>
          <a:xfrm>
            <a:off x="6583680" y="1737360"/>
            <a:ext cx="5074560" cy="41144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5" name="Image 1" descr="/home/claude/sns/charts/boxplot_tips.png"/>
          <p:cNvPicPr/>
          <p:nvPr/>
        </p:nvPicPr>
        <p:blipFill>
          <a:blip r:embed="rId2"/>
          <a:stretch/>
        </p:blipFill>
        <p:spPr>
          <a:xfrm>
            <a:off x="6693480" y="1847160"/>
            <a:ext cx="4854960" cy="389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6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4 · CATEGORICAL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8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Anatomy of sns.boxplot()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9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0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Shape 3"/>
          <p:cNvSpPr/>
          <p:nvPr/>
        </p:nvSpPr>
        <p:spPr>
          <a:xfrm>
            <a:off x="548640" y="1691640"/>
            <a:ext cx="5028840" cy="2377080"/>
          </a:xfrm>
          <a:prstGeom prst="roundRect">
            <a:avLst>
              <a:gd name="adj" fmla="val 4615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2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23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 7"/>
          <p:cNvSpPr/>
          <p:nvPr/>
        </p:nvSpPr>
        <p:spPr>
          <a:xfrm>
            <a:off x="749880" y="2075760"/>
            <a:ext cx="4626360" cy="18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sns.boxplot(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x="tip",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y="day",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data=tips,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palette="Set2"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26" name="Table 0"/>
          <p:cNvGraphicFramePr/>
          <p:nvPr/>
        </p:nvGraphicFramePr>
        <p:xfrm>
          <a:off x="5806440" y="1691640"/>
          <a:ext cx="5851800" cy="2377080"/>
        </p:xfrm>
        <a:graphic>
          <a:graphicData uri="http://schemas.openxmlformats.org/drawingml/2006/table">
            <a:tbl>
              <a:tblPr/>
              <a:tblGrid>
                <a:gridCol w="1989720"/>
                <a:gridCol w="3862080"/>
              </a:tblGrid>
              <a:tr h="47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47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x, 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One numeric column, one categorical column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data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The DataFrame to plot from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hue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Splits each box further by a second category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palette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Named or custom color set for the boxes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27" name="Text 8"/>
          <p:cNvSpPr/>
          <p:nvPr/>
        </p:nvSpPr>
        <p:spPr>
          <a:xfrm>
            <a:off x="548640" y="4297680"/>
            <a:ext cx="111096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Reading it: the box spans the middle 50% of values, the line is the median, whiskers show the typical range, and dots beyond them are outliers — same as in Matplotlib's boxplot, just DataFrame-native.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8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4 · CATEGORICAL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0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Tip Amount by Day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1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32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Shape 3"/>
          <p:cNvSpPr/>
          <p:nvPr/>
        </p:nvSpPr>
        <p:spPr>
          <a:xfrm>
            <a:off x="548640" y="1691640"/>
            <a:ext cx="5211720" cy="2742840"/>
          </a:xfrm>
          <a:prstGeom prst="roundRect">
            <a:avLst>
              <a:gd name="adj" fmla="val 4000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4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5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6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7" name="Text 7"/>
          <p:cNvSpPr/>
          <p:nvPr/>
        </p:nvSpPr>
        <p:spPr>
          <a:xfrm>
            <a:off x="749880" y="2075760"/>
            <a:ext cx="4809240" cy="22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sns.boxplot(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x="tip", y="day",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data=tips,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palette="Set2"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plt.title("Tip Amount by Day")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plt.show()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8" name="Shape 8"/>
          <p:cNvSpPr/>
          <p:nvPr/>
        </p:nvSpPr>
        <p:spPr>
          <a:xfrm>
            <a:off x="6035040" y="1691640"/>
            <a:ext cx="5623200" cy="40230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9" name="Image 1" descr="/home/claude/sns/charts/boxplot_tips.png"/>
          <p:cNvPicPr/>
          <p:nvPr/>
        </p:nvPicPr>
        <p:blipFill>
          <a:blip r:embed="rId2"/>
          <a:stretch/>
        </p:blipFill>
        <p:spPr>
          <a:xfrm>
            <a:off x="6144840" y="1801440"/>
            <a:ext cx="5403600" cy="380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0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4 · CATEGORICAL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2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Anatomy </a:t>
            </a: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of </a:t>
            </a: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sns.violin</a:t>
            </a: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plot()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3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4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Shape 3"/>
          <p:cNvSpPr/>
          <p:nvPr/>
        </p:nvSpPr>
        <p:spPr>
          <a:xfrm>
            <a:off x="548640" y="1691640"/>
            <a:ext cx="5028840" cy="2377080"/>
          </a:xfrm>
          <a:prstGeom prst="roundRect">
            <a:avLst>
              <a:gd name="adj" fmla="val 4615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6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47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8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9" name="Text 7"/>
          <p:cNvSpPr/>
          <p:nvPr/>
        </p:nvSpPr>
        <p:spPr>
          <a:xfrm>
            <a:off x="749880" y="2075760"/>
            <a:ext cx="4626360" cy="18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sns.violinplot(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x="day",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y="total_bill",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data=tips,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palette="RdBu"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50" name="Table 0"/>
          <p:cNvGraphicFramePr/>
          <p:nvPr/>
        </p:nvGraphicFramePr>
        <p:xfrm>
          <a:off x="5806440" y="1691640"/>
          <a:ext cx="5851800" cy="2377080"/>
        </p:xfrm>
        <a:graphic>
          <a:graphicData uri="http://schemas.openxmlformats.org/drawingml/2006/table">
            <a:tbl>
              <a:tblPr/>
              <a:tblGrid>
                <a:gridCol w="1989720"/>
                <a:gridCol w="3862080"/>
              </a:tblGrid>
              <a:tr h="47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47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x, 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Categorical column, numerical column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data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The DataFrame to plot from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palette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Color set across the violins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inner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What's drawn inside — quartiles, a mini box, or points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51" name="Text 8"/>
          <p:cNvSpPr/>
          <p:nvPr/>
        </p:nvSpPr>
        <p:spPr>
          <a:xfrm>
            <a:off x="548640" y="4297680"/>
            <a:ext cx="1110960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violin is a boxplot's shape wrapped by a KDE curve mirrored on both sides — it shows the full distribution shape, not just five summary numbers.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2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29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4 · CATEGORICAL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4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Total Bill by Day — Full Shape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5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56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Shape 3"/>
          <p:cNvSpPr/>
          <p:nvPr/>
        </p:nvSpPr>
        <p:spPr>
          <a:xfrm>
            <a:off x="548640" y="1691640"/>
            <a:ext cx="5211720" cy="2742840"/>
          </a:xfrm>
          <a:prstGeom prst="roundRect">
            <a:avLst>
              <a:gd name="adj" fmla="val 4000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8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59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0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1" name="Text 7"/>
          <p:cNvSpPr/>
          <p:nvPr/>
        </p:nvSpPr>
        <p:spPr>
          <a:xfrm>
            <a:off x="749880" y="2075760"/>
            <a:ext cx="4809240" cy="22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sns.violinplot(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x="day", y="total_bill",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data=tips,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palette="RdBu"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plt.title("Total Bill by Day")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2" name="Shape 8"/>
          <p:cNvSpPr/>
          <p:nvPr/>
        </p:nvSpPr>
        <p:spPr>
          <a:xfrm>
            <a:off x="6035040" y="1691640"/>
            <a:ext cx="5623200" cy="40230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3" name="Image 1" descr="/home/claude/sns/charts/violinplot_tips.png"/>
          <p:cNvPicPr/>
          <p:nvPr/>
        </p:nvPicPr>
        <p:blipFill>
          <a:blip r:embed="rId2"/>
          <a:stretch/>
        </p:blipFill>
        <p:spPr>
          <a:xfrm>
            <a:off x="6144840" y="1801440"/>
            <a:ext cx="5403600" cy="380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4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4 · CATEGORICAL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6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barplot() &amp; countplot()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7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8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69" name="Table 0"/>
          <p:cNvGraphicFramePr/>
          <p:nvPr/>
        </p:nvGraphicFramePr>
        <p:xfrm>
          <a:off x="548640" y="1691640"/>
          <a:ext cx="11109600" cy="2102760"/>
        </p:xfrm>
        <a:graphic>
          <a:graphicData uri="http://schemas.openxmlformats.org/drawingml/2006/table">
            <a:tbl>
              <a:tblPr/>
              <a:tblGrid>
                <a:gridCol w="3777120"/>
                <a:gridCol w="7332480"/>
              </a:tblGrid>
              <a:tr h="525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525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sns.barplot(x, y, data, estimator=)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Shows a summary statistic (mean by default) per category, with a CI whisker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5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sns.countplot(x, data, hue=)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Counts how many rows fall into each category — no y= needed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256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estimator=np.sum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Swap the default mean for any statistic, e.g. total instead of average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70" name="Shape 3"/>
          <p:cNvSpPr/>
          <p:nvPr/>
        </p:nvSpPr>
        <p:spPr>
          <a:xfrm>
            <a:off x="548640" y="3977640"/>
            <a:ext cx="5394600" cy="26971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1" name="Image 1" descr="/home/claude/sns/charts/barplot.png"/>
          <p:cNvPicPr/>
          <p:nvPr/>
        </p:nvPicPr>
        <p:blipFill>
          <a:blip r:embed="rId2"/>
          <a:stretch/>
        </p:blipFill>
        <p:spPr>
          <a:xfrm>
            <a:off x="658440" y="4087440"/>
            <a:ext cx="5175000" cy="231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2" name="Text 4"/>
          <p:cNvSpPr/>
          <p:nvPr/>
        </p:nvSpPr>
        <p:spPr>
          <a:xfrm>
            <a:off x="548640" y="6400800"/>
            <a:ext cx="5394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barplot — average total_bill by sex, with CI.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3" name="Shape 5"/>
          <p:cNvSpPr/>
          <p:nvPr/>
        </p:nvSpPr>
        <p:spPr>
          <a:xfrm>
            <a:off x="6080760" y="3977640"/>
            <a:ext cx="5577480" cy="269712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4" name="Image 2" descr="/home/claude/sns/charts/countplot.png"/>
          <p:cNvPicPr/>
          <p:nvPr/>
        </p:nvPicPr>
        <p:blipFill>
          <a:blip r:embed="rId3"/>
          <a:stretch/>
        </p:blipFill>
        <p:spPr>
          <a:xfrm>
            <a:off x="6190560" y="4087440"/>
            <a:ext cx="5357880" cy="2313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75" name="Text 6"/>
          <p:cNvSpPr/>
          <p:nvPr/>
        </p:nvSpPr>
        <p:spPr>
          <a:xfrm>
            <a:off x="6080760" y="6400800"/>
            <a:ext cx="55774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countplot — customers by sex &amp; smoker status.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6" name="Text 7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4 · CATEGORICAL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8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stripplot() &amp; swarmplot() — Every Raw Point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79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0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81" name="Table 0"/>
          <p:cNvGraphicFramePr/>
          <p:nvPr/>
        </p:nvGraphicFramePr>
        <p:xfrm>
          <a:off x="548640" y="1691640"/>
          <a:ext cx="11109600" cy="1462680"/>
        </p:xfrm>
        <a:graphic>
          <a:graphicData uri="http://schemas.openxmlformats.org/drawingml/2006/table">
            <a:tbl>
              <a:tblPr/>
              <a:tblGrid>
                <a:gridCol w="3777120"/>
                <a:gridCol w="7332480"/>
              </a:tblGrid>
              <a:tr h="4874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4874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sns.stripplot(x, y, data)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Plots every point, jittered sideways so they don't stack exactly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874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sns.swarmplot(x, y, data)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Plots every point, spaced out so none overlap at all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2" name="Shape 3"/>
          <p:cNvSpPr/>
          <p:nvPr/>
        </p:nvSpPr>
        <p:spPr>
          <a:xfrm>
            <a:off x="548640" y="3291840"/>
            <a:ext cx="11109600" cy="329148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3" name="Image 1" descr="/home/claude/sns/charts/strip_vs_swarm.png"/>
          <p:cNvPicPr/>
          <p:nvPr/>
        </p:nvPicPr>
        <p:blipFill>
          <a:blip r:embed="rId2"/>
          <a:stretch/>
        </p:blipFill>
        <p:spPr>
          <a:xfrm>
            <a:off x="658440" y="3401640"/>
            <a:ext cx="10890000" cy="2907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4" name="Text 4"/>
          <p:cNvSpPr/>
          <p:nvPr/>
        </p:nvSpPr>
        <p:spPr>
          <a:xfrm>
            <a:off x="548640" y="6309360"/>
            <a:ext cx="111096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Same data, two ways of showing every individual tip.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5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4 · CATEGORICAL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7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Combining Violin &amp; Swarm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88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9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0" name="Shape 3"/>
          <p:cNvSpPr/>
          <p:nvPr/>
        </p:nvSpPr>
        <p:spPr>
          <a:xfrm>
            <a:off x="548640" y="1691640"/>
            <a:ext cx="5211720" cy="3108600"/>
          </a:xfrm>
          <a:prstGeom prst="roundRect">
            <a:avLst>
              <a:gd name="adj" fmla="val 3529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1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92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3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4" name="Text 7"/>
          <p:cNvSpPr/>
          <p:nvPr/>
        </p:nvSpPr>
        <p:spPr>
          <a:xfrm>
            <a:off x="749880" y="2075760"/>
            <a:ext cx="4809240" cy="257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sns.violinplot(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x="day", y="total_bill",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data=tips, inner=None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sns.swarmplot(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x="day", y="total_bill",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data=tips, color=".2"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5" name="Text 8"/>
          <p:cNvSpPr/>
          <p:nvPr/>
        </p:nvSpPr>
        <p:spPr>
          <a:xfrm>
            <a:off x="548640" y="4892040"/>
            <a:ext cx="521172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Two sns. calls, one after another, on the same Axes — Seaborn keeps drawing onto whatever's currently active, just like plt.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gives you the overall shape (violin) and the real data points (swarm) in one chart — the best of both.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6" name="Shape 9"/>
          <p:cNvSpPr/>
          <p:nvPr/>
        </p:nvSpPr>
        <p:spPr>
          <a:xfrm>
            <a:off x="6035040" y="1691640"/>
            <a:ext cx="5623200" cy="4571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97" name="Image 1" descr="/home/claude/sns/charts/violin_swarm.png"/>
          <p:cNvPicPr/>
          <p:nvPr/>
        </p:nvPicPr>
        <p:blipFill>
          <a:blip r:embed="rId2"/>
          <a:stretch/>
        </p:blipFill>
        <p:spPr>
          <a:xfrm>
            <a:off x="6144840" y="1801440"/>
            <a:ext cx="5403600" cy="4352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8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0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4 · CATEGORICAL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2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Categorical Plots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3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4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5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6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7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Build a boxplot comparing total_bill across day, and identify which day has the widest spread.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8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9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0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1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Build a violinplot of the same data and describe what you can see that the boxplot hid.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2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3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4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5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Build a countplot of smoker, split by hue="time" — which combination is most common?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6" name="Shape 17"/>
          <p:cNvSpPr/>
          <p:nvPr/>
        </p:nvSpPr>
        <p:spPr>
          <a:xfrm>
            <a:off x="548640" y="48736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7" name="Shape 18"/>
          <p:cNvSpPr/>
          <p:nvPr/>
        </p:nvSpPr>
        <p:spPr>
          <a:xfrm>
            <a:off x="731520" y="51206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8" name="Text 19"/>
          <p:cNvSpPr/>
          <p:nvPr/>
        </p:nvSpPr>
        <p:spPr>
          <a:xfrm>
            <a:off x="731520" y="5120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 20"/>
          <p:cNvSpPr/>
          <p:nvPr/>
        </p:nvSpPr>
        <p:spPr>
          <a:xfrm>
            <a:off x="1234440" y="48736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Layer a swarmplot on top of a violinplot for the tip column, grouped by day.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0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1" name="Text 2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2" name="Text 22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4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525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6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5 · RELATIONAL PLOTS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7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Relational Plots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8" name="Text 4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Seeing how two numerical variables relate — with extra dimensions layered on through hue, size, and style.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29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35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5 · RELATIONAL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1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a Relational Plot?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2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3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4" name="Text 3"/>
          <p:cNvSpPr/>
          <p:nvPr/>
        </p:nvSpPr>
        <p:spPr>
          <a:xfrm>
            <a:off x="548640" y="1737360"/>
            <a:ext cx="580608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relational plot shows how two numerical variables relate to each other — the same idea as a Matplotlib scatter plot, extended.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upgrade: hue, size, and style let you encode 2–3 more variables on the exact same chart, without building separate panels.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sns.relplot() is the figure-level wrapper that can facet scatterplot/lineplot into a grid with col=/row=.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section covers: scatterplot and lineplot.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5" name="Shape 4"/>
          <p:cNvSpPr/>
          <p:nvPr/>
        </p:nvSpPr>
        <p:spPr>
          <a:xfrm>
            <a:off x="6583680" y="1737360"/>
            <a:ext cx="5074560" cy="41144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6" name="Image 1" descr="/home/claude/sns/charts/scatter_relational.png"/>
          <p:cNvPicPr/>
          <p:nvPr/>
        </p:nvPicPr>
        <p:blipFill>
          <a:blip r:embed="rId2"/>
          <a:stretch/>
        </p:blipFill>
        <p:spPr>
          <a:xfrm>
            <a:off x="6693480" y="1847160"/>
            <a:ext cx="4854960" cy="389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37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5 · RELATIONAL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Anatomy of sns.scatterplot()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0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1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Shape 3"/>
          <p:cNvSpPr/>
          <p:nvPr/>
        </p:nvSpPr>
        <p:spPr>
          <a:xfrm>
            <a:off x="548640" y="1691640"/>
            <a:ext cx="5028840" cy="2742840"/>
          </a:xfrm>
          <a:prstGeom prst="roundRect">
            <a:avLst>
              <a:gd name="adj" fmla="val 4000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3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44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5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6" name="Text 7"/>
          <p:cNvSpPr/>
          <p:nvPr/>
        </p:nvSpPr>
        <p:spPr>
          <a:xfrm>
            <a:off x="749880" y="2075760"/>
            <a:ext cx="4626360" cy="22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sns.scatterplot(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x="total_bill", y="tip",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hue="time",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size="size",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style="time",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data=tips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47" name="Table 0"/>
          <p:cNvGraphicFramePr/>
          <p:nvPr/>
        </p:nvGraphicFramePr>
        <p:xfrm>
          <a:off x="5806440" y="1691640"/>
          <a:ext cx="5851800" cy="2743200"/>
        </p:xfrm>
        <a:graphic>
          <a:graphicData uri="http://schemas.openxmlformats.org/drawingml/2006/table">
            <a:tbl>
              <a:tblPr/>
              <a:tblGrid>
                <a:gridCol w="1989720"/>
                <a:gridCol w="3862080"/>
              </a:tblGrid>
              <a:tr h="548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548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x, 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The two numerical columns being compared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hue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Colors points by a category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size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Scales point size by a numeric column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style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Changes marker shape by a category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48" name="Text 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5 · RELATIONAL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0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Total Bill vs. Tip — Four Dimensions, One Chart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1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2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3" name="Shape 3"/>
          <p:cNvSpPr/>
          <p:nvPr/>
        </p:nvSpPr>
        <p:spPr>
          <a:xfrm>
            <a:off x="548640" y="169164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4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5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Text 7"/>
          <p:cNvSpPr/>
          <p:nvPr/>
        </p:nvSpPr>
        <p:spPr>
          <a:xfrm>
            <a:off x="749880" y="2075760"/>
            <a:ext cx="499212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sns.scatterplot(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x="total_bill", y="tip",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hue="time", size="size",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style="time",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data=tips,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alpha=0.8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plt.title("Total Bill vs. Tip")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8" name="Shape 8"/>
          <p:cNvSpPr/>
          <p:nvPr/>
        </p:nvSpPr>
        <p:spPr>
          <a:xfrm>
            <a:off x="6172200" y="1691640"/>
            <a:ext cx="5486040" cy="40230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9" name="Image 1" descr="/home/claude/sns/charts/scatter_relational.png"/>
          <p:cNvPicPr/>
          <p:nvPr/>
        </p:nvPicPr>
        <p:blipFill>
          <a:blip r:embed="rId2"/>
          <a:stretch/>
        </p:blipFill>
        <p:spPr>
          <a:xfrm>
            <a:off x="6282000" y="1801440"/>
            <a:ext cx="5266440" cy="363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0" name="Text 9"/>
          <p:cNvSpPr/>
          <p:nvPr/>
        </p:nvSpPr>
        <p:spPr>
          <a:xfrm>
            <a:off x="6172200" y="544068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x, y, color, and size — four variables at once.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1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5 · RELATIONAL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3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sns.lineplot() — Trends, With a Confidence Band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64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5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de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By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Pa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xt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o  ·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 AI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&amp;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ML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Pla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yg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ro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un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d  ·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Se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ab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or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6" name="Shape 3"/>
          <p:cNvSpPr/>
          <p:nvPr/>
        </p:nvSpPr>
        <p:spPr>
          <a:xfrm>
            <a:off x="548640" y="1691640"/>
            <a:ext cx="5211720" cy="2194200"/>
          </a:xfrm>
          <a:prstGeom prst="roundRect">
            <a:avLst>
              <a:gd name="adj" fmla="val 5000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7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8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0" name="Text 7"/>
          <p:cNvSpPr/>
          <p:nvPr/>
        </p:nvSpPr>
        <p:spPr>
          <a:xfrm>
            <a:off x="749880" y="2075760"/>
            <a:ext cx="4809240" cy="166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sns.lineplot(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x="year",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y="passengers",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data=flights,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marker="o"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1" name="Text 8"/>
          <p:cNvSpPr/>
          <p:nvPr/>
        </p:nvSpPr>
        <p:spPr>
          <a:xfrm>
            <a:off x="548640" y="4023360"/>
            <a:ext cx="521172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When multiple rows share the same X value, lineplot() automatically averages them and draws a confidence interval band around the line — a Matplotlib line chart can't do this on its own.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makes lineplot the default choice for time trends in a DataFrame with repeated measurements.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2" name="Shape 9"/>
          <p:cNvSpPr/>
          <p:nvPr/>
        </p:nvSpPr>
        <p:spPr>
          <a:xfrm>
            <a:off x="6035040" y="1691640"/>
            <a:ext cx="5623200" cy="40230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73" name="Image 1" descr="/home/claude/sns/charts/lineplot_flights.png"/>
          <p:cNvPicPr/>
          <p:nvPr/>
        </p:nvPicPr>
        <p:blipFill>
          <a:blip r:embed="rId2"/>
          <a:stretch/>
        </p:blipFill>
        <p:spPr>
          <a:xfrm>
            <a:off x="6144840" y="1801440"/>
            <a:ext cx="5403600" cy="363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74" name="Text 10"/>
          <p:cNvSpPr/>
          <p:nvPr/>
        </p:nvSpPr>
        <p:spPr>
          <a:xfrm>
            <a:off x="6035040" y="544068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Airline passengers per year, with a shaded CI band.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 11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39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5 · RELATIONAL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Relational Plots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4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Build a scatterplot of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tip vs. total_bill with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hue="day".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5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6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z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=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"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z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"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9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0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1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2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Build a lineplot from the flights dataset showing passengers over year, and explain what the shaded band means.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3" name="Shape 17"/>
          <p:cNvSpPr/>
          <p:nvPr/>
        </p:nvSpPr>
        <p:spPr>
          <a:xfrm>
            <a:off x="548640" y="48736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4" name="Shape 18"/>
          <p:cNvSpPr/>
          <p:nvPr/>
        </p:nvSpPr>
        <p:spPr>
          <a:xfrm>
            <a:off x="731520" y="51206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5" name="Text 19"/>
          <p:cNvSpPr/>
          <p:nvPr/>
        </p:nvSpPr>
        <p:spPr>
          <a:xfrm>
            <a:off x="731520" y="5120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6" name="Text 20"/>
          <p:cNvSpPr/>
          <p:nvPr/>
        </p:nvSpPr>
        <p:spPr>
          <a:xfrm>
            <a:off x="1234440" y="48736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Try sns.relplot() with col="time" on the tips dataset — what does col= actually build?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97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8" name="Text 2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9" name="Text 22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1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02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3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6 · REGRESSION PLOTS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4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Regression Plots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5" name="Text 4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Fitting and visualizing a trend line automatically — with a confidence band around the fit.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06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41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6 · REGRESSION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8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a Regression Plot?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09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0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Text 3"/>
          <p:cNvSpPr/>
          <p:nvPr/>
        </p:nvSpPr>
        <p:spPr>
          <a:xfrm>
            <a:off x="548640" y="1737360"/>
            <a:ext cx="580608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regression plot draws a scatter of two numerical variables, plus a fitted trend line straight through them.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shaded band around the line is the confidence interval — how sure Seaborn is about where the true trend sits.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is one of the fastest ways to sanity-check "is there a relationship here at all?" before building any model.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section covers: regplot (axes-level) and lmplot (figure-level, with faceting and hue support).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2" name="Shape 4"/>
          <p:cNvSpPr/>
          <p:nvPr/>
        </p:nvSpPr>
        <p:spPr>
          <a:xfrm>
            <a:off x="6583680" y="1737360"/>
            <a:ext cx="5074560" cy="41144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3" name="Image 1" descr="/home/claude/sns/charts/regplot.png"/>
          <p:cNvPicPr/>
          <p:nvPr/>
        </p:nvPicPr>
        <p:blipFill>
          <a:blip r:embed="rId2"/>
          <a:stretch/>
        </p:blipFill>
        <p:spPr>
          <a:xfrm>
            <a:off x="6693480" y="1847160"/>
            <a:ext cx="4854960" cy="389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4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6 · REGRESSION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6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Anatomy of sns.regplot()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17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8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9" name="Shape 3"/>
          <p:cNvSpPr/>
          <p:nvPr/>
        </p:nvSpPr>
        <p:spPr>
          <a:xfrm>
            <a:off x="548640" y="1691640"/>
            <a:ext cx="5028840" cy="2377080"/>
          </a:xfrm>
          <a:prstGeom prst="roundRect">
            <a:avLst>
              <a:gd name="adj" fmla="val 4615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0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1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3" name="Text 7"/>
          <p:cNvSpPr/>
          <p:nvPr/>
        </p:nvSpPr>
        <p:spPr>
          <a:xfrm>
            <a:off x="749880" y="2075760"/>
            <a:ext cx="4626360" cy="18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sns.regplot(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x="total_bill",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y="tip",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data=tips,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scatter_kws={"alpha": 0.5}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24" name="Table 0"/>
          <p:cNvGraphicFramePr/>
          <p:nvPr/>
        </p:nvGraphicFramePr>
        <p:xfrm>
          <a:off x="5806440" y="1691640"/>
          <a:ext cx="5851800" cy="2377080"/>
        </p:xfrm>
        <a:graphic>
          <a:graphicData uri="http://schemas.openxmlformats.org/drawingml/2006/table">
            <a:tbl>
              <a:tblPr/>
              <a:tblGrid>
                <a:gridCol w="1989720"/>
                <a:gridCol w="3862080"/>
              </a:tblGrid>
              <a:tr h="47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47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x, y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The two numerical columns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data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The DataFrame to plot from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scatter_kws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A dict of extra options passed to the scatter points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line_kws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A dict of extra options passed to the fit line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25" name="Text 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6 · REGRESSION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Reading a regplot() — Trend + Confidence Band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28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29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0" name="Shape 3"/>
          <p:cNvSpPr/>
          <p:nvPr/>
        </p:nvSpPr>
        <p:spPr>
          <a:xfrm>
            <a:off x="548640" y="169164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1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2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3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 7"/>
          <p:cNvSpPr/>
          <p:nvPr/>
        </p:nvSpPr>
        <p:spPr>
          <a:xfrm>
            <a:off x="749880" y="2075760"/>
            <a:ext cx="499212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sns.regplot(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x="total_bill", y="tip",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data=tips,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scatter_kws={"alpha": 0.5},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line_kws={"color": "crimson"}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plt.title("Bill vs. Tip, with Trend")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Shape 8"/>
          <p:cNvSpPr/>
          <p:nvPr/>
        </p:nvSpPr>
        <p:spPr>
          <a:xfrm>
            <a:off x="6172200" y="1691640"/>
            <a:ext cx="5486040" cy="40230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36" name="Image 1" descr="/home/claude/sns/charts/regplot.png"/>
          <p:cNvPicPr/>
          <p:nvPr/>
        </p:nvPicPr>
        <p:blipFill>
          <a:blip r:embed="rId2"/>
          <a:stretch/>
        </p:blipFill>
        <p:spPr>
          <a:xfrm>
            <a:off x="6282000" y="1801440"/>
            <a:ext cx="5266440" cy="363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37" name="Text 9"/>
          <p:cNvSpPr/>
          <p:nvPr/>
        </p:nvSpPr>
        <p:spPr>
          <a:xfrm>
            <a:off x="6172200" y="544068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The tighter the band, the more confident the fit.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8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6 · REGRESSION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0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sns.lmplot() — One Fit Per Group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1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2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3" name="Shape 3"/>
          <p:cNvSpPr/>
          <p:nvPr/>
        </p:nvSpPr>
        <p:spPr>
          <a:xfrm>
            <a:off x="548640" y="169164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4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5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6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7" name="Text 7"/>
          <p:cNvSpPr/>
          <p:nvPr/>
        </p:nvSpPr>
        <p:spPr>
          <a:xfrm>
            <a:off x="749880" y="2075760"/>
            <a:ext cx="499212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sns.lmplot(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x="total_bill", y="tip",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data=tips,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hue="day",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palette="deep",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markers="o",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scatter_kws={"s": 50}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8" name="Shape 8"/>
          <p:cNvSpPr/>
          <p:nvPr/>
        </p:nvSpPr>
        <p:spPr>
          <a:xfrm>
            <a:off x="6172200" y="1691640"/>
            <a:ext cx="5486040" cy="40230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9" name="Image 1" descr="/home/claude/sns/charts/lmplot_hue.png"/>
          <p:cNvPicPr/>
          <p:nvPr/>
        </p:nvPicPr>
        <p:blipFill>
          <a:blip r:embed="rId2"/>
          <a:stretch/>
        </p:blipFill>
        <p:spPr>
          <a:xfrm>
            <a:off x="6282000" y="1801440"/>
            <a:ext cx="5266440" cy="363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0" name="Text 9"/>
          <p:cNvSpPr/>
          <p:nvPr/>
        </p:nvSpPr>
        <p:spPr>
          <a:xfrm>
            <a:off x="6172200" y="544068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hue="day" fits a separate </a:t>
            </a: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trend line per day.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1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3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4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6 · REGRESSION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5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Regression Plots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6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7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0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Build a regplot of total_bill vs. tip, and describe whether the relationship looks strong or weak.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1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2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3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4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Rebuild it as an lmplot with hue="smoker" — do smokers and non-smokers follow the same trend?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5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6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7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8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Explain in one sentence what would make the confidence band narrower.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9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0" name="Text 17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1" name="Text 1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2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3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674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5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7 · MATRIX PLOTS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6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Matrix Plots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7" name="Text 4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Turning a grid of numbers — usually a correlation matrix — into an instantly readable picture.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8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47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7 · MATRIX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0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What Is a Matrix Plot?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1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2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3" name="Text 3"/>
          <p:cNvSpPr/>
          <p:nvPr/>
        </p:nvSpPr>
        <p:spPr>
          <a:xfrm>
            <a:off x="548640" y="1737360"/>
            <a:ext cx="5806080" cy="411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matrix plot colors every cell of a 2D grid of numbers by its value — the classic use case is a correlation matrix.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Reading it: darker (or more saturated) cells mean a stronger relationship; the diagonal is always 1.0, since every column perfectly correlates with itself.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turns a wall of numbers from df.corr() into something you can scan in two seconds.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00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section covers: heatmap and a quick look at clustermap.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4" name="Shape 4"/>
          <p:cNvSpPr/>
          <p:nvPr/>
        </p:nvSpPr>
        <p:spPr>
          <a:xfrm>
            <a:off x="6583680" y="1737360"/>
            <a:ext cx="5074560" cy="41144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5" name="Image 1" descr="/home/claude/sns/charts/heatmap_corr.png"/>
          <p:cNvPicPr/>
          <p:nvPr/>
        </p:nvPicPr>
        <p:blipFill>
          <a:blip r:embed="rId2"/>
          <a:stretch/>
        </p:blipFill>
        <p:spPr>
          <a:xfrm>
            <a:off x="6693480" y="1847160"/>
            <a:ext cx="4854960" cy="3894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6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7 · MATRIX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8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Anatomy of sns.heatmap()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9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90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1" name="Shape 3"/>
          <p:cNvSpPr/>
          <p:nvPr/>
        </p:nvSpPr>
        <p:spPr>
          <a:xfrm>
            <a:off x="548640" y="1691640"/>
            <a:ext cx="5028840" cy="2377080"/>
          </a:xfrm>
          <a:prstGeom prst="roundRect">
            <a:avLst>
              <a:gd name="adj" fmla="val 4615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2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3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4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5" name="Text 7"/>
          <p:cNvSpPr/>
          <p:nvPr/>
        </p:nvSpPr>
        <p:spPr>
          <a:xfrm>
            <a:off x="749880" y="2075760"/>
            <a:ext cx="4626360" cy="18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sns.heatmap(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data.corr(),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annot=True,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cmap="color_map",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linewidths=1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96" name="Table 0"/>
          <p:cNvGraphicFramePr/>
          <p:nvPr/>
        </p:nvGraphicFramePr>
        <p:xfrm>
          <a:off x="5806440" y="1691640"/>
          <a:ext cx="5851800" cy="2377080"/>
        </p:xfrm>
        <a:graphic>
          <a:graphicData uri="http://schemas.openxmlformats.org/drawingml/2006/table">
            <a:tbl>
              <a:tblPr/>
              <a:tblGrid>
                <a:gridCol w="1989720"/>
                <a:gridCol w="3862080"/>
              </a:tblGrid>
              <a:tr h="47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47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data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A 2D grid of numbers — usually a correlation matrix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annot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If True, prints the number inside each cell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cmap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The colormap used to encode value → color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linewidths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Adds thin gaps between cells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97" name="Text 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49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7 · MATRIX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9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 Correlation Heatmap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0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1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2" name="Shape 3"/>
          <p:cNvSpPr/>
          <p:nvPr/>
        </p:nvSpPr>
        <p:spPr>
          <a:xfrm>
            <a:off x="548640" y="169164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3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4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5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6" name="Text 7"/>
          <p:cNvSpPr/>
          <p:nvPr/>
        </p:nvSpPr>
        <p:spPr>
          <a:xfrm>
            <a:off x="749880" y="2075760"/>
            <a:ext cx="499212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corr = tips[["total_bill",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"tip", "size"]].corr()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sns.heatmap(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corr,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annot=True,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cmap="Purples"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plt.title("Correlation Heatmap")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7" name="Shape 8"/>
          <p:cNvSpPr/>
          <p:nvPr/>
        </p:nvSpPr>
        <p:spPr>
          <a:xfrm>
            <a:off x="6172200" y="1691640"/>
            <a:ext cx="5486040" cy="40230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08" name="Image 1" descr="/home/claude/sns/charts/heatmap_corr.png"/>
          <p:cNvPicPr/>
          <p:nvPr/>
        </p:nvPicPr>
        <p:blipFill>
          <a:blip r:embed="rId2"/>
          <a:stretch/>
        </p:blipFill>
        <p:spPr>
          <a:xfrm>
            <a:off x="6282000" y="1801440"/>
            <a:ext cx="5266440" cy="380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9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7 · MATRIX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1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Reshaping Data for a Heatmap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2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3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4" name="Shape 3"/>
          <p:cNvSpPr/>
          <p:nvPr/>
        </p:nvSpPr>
        <p:spPr>
          <a:xfrm>
            <a:off x="548640" y="1691640"/>
            <a:ext cx="5394600" cy="4023000"/>
          </a:xfrm>
          <a:prstGeom prst="roundRect">
            <a:avLst>
              <a:gd name="adj" fmla="val 2727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5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6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7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8" name="Text 7"/>
          <p:cNvSpPr/>
          <p:nvPr/>
        </p:nvSpPr>
        <p:spPr>
          <a:xfrm>
            <a:off x="749880" y="2075760"/>
            <a:ext cx="4992120" cy="3492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flights = sns.load_dataset("flights")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pvt = flights.pivot_table(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values="passengers",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index="month",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columns="year"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sns.heatmap(pvt, cmap="Purples")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9" name="Shape 8"/>
          <p:cNvSpPr/>
          <p:nvPr/>
        </p:nvSpPr>
        <p:spPr>
          <a:xfrm>
            <a:off x="6172200" y="1691640"/>
            <a:ext cx="5486040" cy="40230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0" name="Image 1" descr="/home/claude/sns/charts/heatmap_flights.png"/>
          <p:cNvPicPr/>
          <p:nvPr/>
        </p:nvPicPr>
        <p:blipFill>
          <a:blip r:embed="rId2"/>
          <a:stretch/>
        </p:blipFill>
        <p:spPr>
          <a:xfrm>
            <a:off x="6282000" y="1801440"/>
            <a:ext cx="5266440" cy="3638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1" name="Text 9"/>
          <p:cNvSpPr/>
          <p:nvPr/>
        </p:nvSpPr>
        <p:spPr>
          <a:xfrm>
            <a:off x="6172200" y="5440680"/>
            <a:ext cx="54860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i="1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pivot_table() reshapes long data into a grid heatmap can read.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2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7 · MATRIX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4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A Quick Look: clustermap()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5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6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7" name="Shape 3"/>
          <p:cNvSpPr/>
          <p:nvPr/>
        </p:nvSpPr>
        <p:spPr>
          <a:xfrm>
            <a:off x="548640" y="1691640"/>
            <a:ext cx="5211720" cy="457164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28" name="Image 1" descr="/home/claude/sns/charts/clustermap.png"/>
          <p:cNvPicPr/>
          <p:nvPr/>
        </p:nvPicPr>
        <p:blipFill>
          <a:blip r:embed="rId2"/>
          <a:stretch/>
        </p:blipFill>
        <p:spPr>
          <a:xfrm>
            <a:off x="658440" y="1801440"/>
            <a:ext cx="4992120" cy="43520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9" name="Text 4"/>
          <p:cNvSpPr/>
          <p:nvPr/>
        </p:nvSpPr>
        <p:spPr>
          <a:xfrm>
            <a:off x="6035040" y="1691640"/>
            <a:ext cx="5623200" cy="4571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clustermap() draws the same heatmap, but reorders rows and columns to group similar ones together, with a small dendrogram (tree diagram) on the side.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You won't need this often as a beginner — but it's worth recognizing when you see it, since it's common in feature-correlation reports.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sns.clustermap(data.corr()) is literally a drop-in replacement for sns.heatmap(data.corr()).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1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32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3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7 · MATRIX PLOTS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4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Matrix Plots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5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8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9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Build a correlation heatmap for any 3+ numeric columns of your choice, with annot=True.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0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1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2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3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Identify the strongest and weakest correlation pair in your heatmap.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5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6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7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Build a pivot_table from any dataset and turn it into a heatmap.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8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9" name="Text 17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0" name="Text 1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2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53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4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8 · STYLING &amp; PALETTES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5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Styling &amp; Palettes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6" name="Text 4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Making a chart presentation-ready in one or two extra lines.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7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54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8 · STYLING &amp; PALETTES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9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sns.set_style() — Background &amp; Grid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0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1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62" name="Table 0"/>
          <p:cNvGraphicFramePr/>
          <p:nvPr/>
        </p:nvGraphicFramePr>
        <p:xfrm>
          <a:off x="548640" y="1691640"/>
          <a:ext cx="11109600" cy="3200400"/>
        </p:xfrm>
        <a:graphic>
          <a:graphicData uri="http://schemas.openxmlformats.org/drawingml/2006/table">
            <a:tbl>
              <a:tblPr/>
              <a:tblGrid>
                <a:gridCol w="3777120"/>
                <a:gridCol w="7332480"/>
              </a:tblGrid>
              <a:tr h="64008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64008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"darkgrid"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Gray background, white grid lines (the default)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"whitegrid"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White background, gray grid lines — good for print/slides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"dark" / "white"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Same backgrounds, no grid lines at all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"ticks"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White background with small axis tick marks, no grid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63" name="Text 3"/>
          <p:cNvSpPr/>
          <p:nvPr/>
        </p:nvSpPr>
        <p:spPr>
          <a:xfrm>
            <a:off x="548640" y="5120640"/>
            <a:ext cx="1110960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Set it once, right after importing Seaborn: sns.set_style("whitegrid").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4" name="Text 4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8 · STYLING &amp; PALETTES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6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sns.set_palette() — Choosing Colors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7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68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769" name="Table 0"/>
          <p:cNvGraphicFramePr/>
          <p:nvPr/>
        </p:nvGraphicFramePr>
        <p:xfrm>
          <a:off x="548640" y="1691640"/>
          <a:ext cx="11109600" cy="2468520"/>
        </p:xfrm>
        <a:graphic>
          <a:graphicData uri="http://schemas.openxmlformats.org/drawingml/2006/table">
            <a:tbl>
              <a:tblPr/>
              <a:tblGrid>
                <a:gridCol w="3777120"/>
                <a:gridCol w="7332480"/>
              </a:tblGrid>
              <a:tr h="6170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Parameter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1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Plus Jakarta Sans"/>
                          <a:ea typeface="Plus Jakarta Sans"/>
                        </a:rPr>
                        <a:t>Meaning</a:t>
                      </a:r>
                      <a:endParaRPr lang="en-US" sz="1100" b="0" u="none" strike="noStrike">
                        <a:solidFill>
                          <a:srgbClr val="FFFFFF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5755A7"/>
                    </a:solidFill>
                  </a:tcPr>
                </a:tc>
              </a:tr>
              <a:tr h="6170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Sequential (e.g. "Blues", "Purples")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Light → dark, for one-directional numeric data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70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Diverging (e.g. "coolwarm", "RdBu")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Color → neutral → color, for data centered on zero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7040"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1" u="none" strike="noStrike">
                          <a:solidFill>
                            <a:srgbClr val="5755A7"/>
                          </a:solidFill>
                          <a:effectLst/>
                          <a:uFillTx/>
                          <a:latin typeface="Consolas"/>
                          <a:ea typeface="Consolas"/>
                        </a:rPr>
                        <a:t>Qualitative (e.g. "Set2", "deep", "rainbow")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101520" tIns="50760" rIns="101520" bIns="50760"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  <a:tabLst>
                          <a:tab pos="0" algn="l"/>
                        </a:tabLst>
                      </a:pPr>
                      <a:r>
                        <a:rPr lang="en-US" sz="1200" b="0" u="none" strike="noStrike">
                          <a:solidFill>
                            <a:srgbClr val="1B1B20"/>
                          </a:solidFill>
                          <a:effectLst/>
                          <a:uFillTx/>
                          <a:latin typeface="Hanken Grotesk"/>
                          <a:ea typeface="Hanken Grotesk"/>
                        </a:rPr>
                        <a:t>Distinct colors with no inherent order — for categories</a:t>
                      </a:r>
                      <a:endParaRPr lang="en-US" sz="12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101520" marR="101520" marT="50760" marB="50760">
                    <a:lnL w="9360">
                      <a:solidFill>
                        <a:srgbClr val="C8C5D3"/>
                      </a:solidFill>
                      <a:prstDash val="solid"/>
                    </a:lnL>
                    <a:lnR w="9360">
                      <a:solidFill>
                        <a:srgbClr val="C8C5D3"/>
                      </a:solidFill>
                      <a:prstDash val="solid"/>
                    </a:lnR>
                    <a:lnT w="9360">
                      <a:solidFill>
                        <a:srgbClr val="C8C5D3"/>
                      </a:solidFill>
                      <a:prstDash val="solid"/>
                    </a:lnT>
                    <a:lnB w="9360">
                      <a:solidFill>
                        <a:srgbClr val="C8C5D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70" name="Shape 3"/>
          <p:cNvSpPr/>
          <p:nvPr/>
        </p:nvSpPr>
        <p:spPr>
          <a:xfrm>
            <a:off x="548640" y="4434840"/>
            <a:ext cx="11109600" cy="1554120"/>
          </a:xfrm>
          <a:prstGeom prst="roundRect">
            <a:avLst>
              <a:gd name="adj" fmla="val 7059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1" name="Shape 4"/>
          <p:cNvSpPr/>
          <p:nvPr/>
        </p:nvSpPr>
        <p:spPr>
          <a:xfrm>
            <a:off x="713160" y="45810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2" name="Shape 5"/>
          <p:cNvSpPr/>
          <p:nvPr/>
        </p:nvSpPr>
        <p:spPr>
          <a:xfrm>
            <a:off x="914400" y="45810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3" name="Shape 6"/>
          <p:cNvSpPr/>
          <p:nvPr/>
        </p:nvSpPr>
        <p:spPr>
          <a:xfrm>
            <a:off x="1115640" y="45810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4" name="Text 7"/>
          <p:cNvSpPr/>
          <p:nvPr/>
        </p:nvSpPr>
        <p:spPr>
          <a:xfrm>
            <a:off x="749880" y="4818960"/>
            <a:ext cx="10707120" cy="102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sns.set_palette("deep")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# or per-chart, without changing the global default: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sns.boxplot(x="day", y="tip", data=tips, palette="Set2")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5" name="Text 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7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8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8 · STYLING &amp; PALETTES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9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Styling &amp; Palettes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0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1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2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3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Redraw any earlier chart with sns.set_style("ticks") and compare it to the default.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5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6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7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8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Pick a sequential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palette and a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qualitative palette,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and explain which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you'd use for a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correlation heatmap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vs. a bar chart split by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category.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9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0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1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2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Set a global palette with sns.set_palette(), then override it on one chart using palette= directly.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3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4" name="Text 17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5" name="Text 1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97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798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9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9 · SEABORN FOR EDA &amp; ML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0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Seaborn for EDA &amp; Machine Learning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1" name="Text 4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Switching to the titanic dataset — a real binary target, and the exact workflow you'll run before training any model.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2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58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9 · SEABORN FOR EDA &amp; ML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4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New Dataset: titanic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5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6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Shape 3"/>
          <p:cNvSpPr/>
          <p:nvPr/>
        </p:nvSpPr>
        <p:spPr>
          <a:xfrm>
            <a:off x="548640" y="1691640"/>
            <a:ext cx="5211720" cy="2742840"/>
          </a:xfrm>
          <a:prstGeom prst="roundRect">
            <a:avLst>
              <a:gd name="adj" fmla="val 4000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8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9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0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1" name="Text 7"/>
          <p:cNvSpPr/>
          <p:nvPr/>
        </p:nvSpPr>
        <p:spPr>
          <a:xfrm>
            <a:off x="749880" y="2075760"/>
            <a:ext cx="4809240" cy="22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titanic = sns.load_dataset("titanic")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titanic.shape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# (891, 15)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titanic[["survived", "pclass",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"age", "fare"]].head()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2" name="Text 8"/>
          <p:cNvSpPr/>
          <p:nvPr/>
        </p:nvSpPr>
        <p:spPr>
          <a:xfrm>
            <a:off x="6035040" y="1691640"/>
            <a:ext cx="562320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titanic has something tips doesn't: a real binary target column, survived — perfect for the class-balance and correlation workflows every ML project starts with.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3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3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Same sns. functions you already know — just a new, richer dataset.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3" name="Text 9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59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9 · SEABORN FOR EDA &amp; ML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5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Step 1 — Feature Screening with a Heatmap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6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7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8" name="Shape 3"/>
          <p:cNvSpPr/>
          <p:nvPr/>
        </p:nvSpPr>
        <p:spPr>
          <a:xfrm>
            <a:off x="548640" y="1691640"/>
            <a:ext cx="5211720" cy="2742840"/>
          </a:xfrm>
          <a:prstGeom prst="roundRect">
            <a:avLst>
              <a:gd name="adj" fmla="val 4000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19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0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1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2" name="Text 7"/>
          <p:cNvSpPr/>
          <p:nvPr/>
        </p:nvSpPr>
        <p:spPr>
          <a:xfrm>
            <a:off x="749880" y="2075760"/>
            <a:ext cx="4809240" cy="221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num_cols = ["survived", "pclass",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"age", "sibsp", "parch", "fare"]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sns.heatmap(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titanic[num_cols].corr(),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annot=True, cmap="Purples"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3" name="Text 8"/>
          <p:cNvSpPr/>
          <p:nvPr/>
        </p:nvSpPr>
        <p:spPr>
          <a:xfrm>
            <a:off x="6035040" y="1691640"/>
            <a:ext cx="5623200" cy="274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Before building any model, check which features actually relate to your target — here, survived.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fare and pclass stand out immediately — worth investigating further; sibsp and parch barely move the needle alone.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4" name="Shape 9"/>
          <p:cNvSpPr/>
          <p:nvPr/>
        </p:nvSpPr>
        <p:spPr>
          <a:xfrm>
            <a:off x="548640" y="4572000"/>
            <a:ext cx="5211720" cy="196560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5" name="Image 1" descr="/home/claude/sns/charts/titanic_heatmap.png"/>
          <p:cNvPicPr/>
          <p:nvPr/>
        </p:nvPicPr>
        <p:blipFill>
          <a:blip r:embed="rId2"/>
          <a:stretch/>
        </p:blipFill>
        <p:spPr>
          <a:xfrm>
            <a:off x="658440" y="4681800"/>
            <a:ext cx="4992120" cy="1746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6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9 · SEABORN FOR EDA &amp; ML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Step 2 — Checking Class Balance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29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0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1" name="Shape 3"/>
          <p:cNvSpPr/>
          <p:nvPr/>
        </p:nvSpPr>
        <p:spPr>
          <a:xfrm>
            <a:off x="548640" y="1691640"/>
            <a:ext cx="5394600" cy="2377080"/>
          </a:xfrm>
          <a:prstGeom prst="roundRect">
            <a:avLst>
              <a:gd name="adj" fmla="val 4615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2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33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4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5" name="Text 7"/>
          <p:cNvSpPr/>
          <p:nvPr/>
        </p:nvSpPr>
        <p:spPr>
          <a:xfrm>
            <a:off x="749880" y="2075760"/>
            <a:ext cx="4992120" cy="18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sns.countplot(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x="pclass",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hue="survived",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data=titanic,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palette=["#E07AB4", "#5755A7"]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6" name="Text 8"/>
          <p:cNvSpPr/>
          <p:nvPr/>
        </p:nvSpPr>
        <p:spPr>
          <a:xfrm>
            <a:off x="548640" y="4206240"/>
            <a:ext cx="53946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quick countplot answers: is my target balanced, and does the class break down differently by group?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1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1st class passengers survived at a noticeably higher rate — a strong early signal for modeling.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7" name="Shape 9"/>
          <p:cNvSpPr/>
          <p:nvPr/>
        </p:nvSpPr>
        <p:spPr>
          <a:xfrm>
            <a:off x="6172200" y="1691640"/>
            <a:ext cx="5486040" cy="40230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8" name="Image 1" descr="/home/claude/sns/charts/titanic_countplot.png"/>
          <p:cNvPicPr/>
          <p:nvPr/>
        </p:nvPicPr>
        <p:blipFill>
          <a:blip r:embed="rId2"/>
          <a:stretch/>
        </p:blipFill>
        <p:spPr>
          <a:xfrm>
            <a:off x="6282000" y="1801440"/>
            <a:ext cx="5266440" cy="380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9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61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9 · SEABORN FOR EDA &amp; ML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1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Step 3 — Outlier &amp; Group Checks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2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43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4" name="Shape 3"/>
          <p:cNvSpPr/>
          <p:nvPr/>
        </p:nvSpPr>
        <p:spPr>
          <a:xfrm>
            <a:off x="548640" y="1691640"/>
            <a:ext cx="5394600" cy="2377080"/>
          </a:xfrm>
          <a:prstGeom prst="roundRect">
            <a:avLst>
              <a:gd name="adj" fmla="val 4615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5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46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7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8" name="Text 7"/>
          <p:cNvSpPr/>
          <p:nvPr/>
        </p:nvSpPr>
        <p:spPr>
          <a:xfrm>
            <a:off x="749880" y="2075760"/>
            <a:ext cx="4992120" cy="184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sns.boxplot(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x="pclass", y="age",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hue="survived",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data=titanic,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palette=["#E07AB4", "#5755A7"]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9" name="Text 8"/>
          <p:cNvSpPr/>
          <p:nvPr/>
        </p:nvSpPr>
        <p:spPr>
          <a:xfrm>
            <a:off x="548640" y="4206240"/>
            <a:ext cx="539460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 boxplot per group, split by hue, is the fastest way to spot both outliers and whether a feature's spread differs meaningfully across your target.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0" name="Shape 9"/>
          <p:cNvSpPr/>
          <p:nvPr/>
        </p:nvSpPr>
        <p:spPr>
          <a:xfrm>
            <a:off x="6172200" y="1691640"/>
            <a:ext cx="5486040" cy="402300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1" name="Image 1" descr="/home/claude/sns/charts/titanic_boxplot.png"/>
          <p:cNvPicPr/>
          <p:nvPr/>
        </p:nvPicPr>
        <p:blipFill>
          <a:blip r:embed="rId2"/>
          <a:stretch/>
        </p:blipFill>
        <p:spPr>
          <a:xfrm>
            <a:off x="6282000" y="1801440"/>
            <a:ext cx="5266440" cy="38034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2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62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9 · SEABORN FOR EDA &amp; ML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4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Step 4 — Scanning Everything with pairplot()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55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6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</a:t>
            </a: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7" name="Shape 3"/>
          <p:cNvSpPr/>
          <p:nvPr/>
        </p:nvSpPr>
        <p:spPr>
          <a:xfrm>
            <a:off x="548640" y="1691640"/>
            <a:ext cx="5028840" cy="2559960"/>
          </a:xfrm>
          <a:prstGeom prst="roundRect">
            <a:avLst>
              <a:gd name="adj" fmla="val 4286"/>
            </a:avLst>
          </a:prstGeom>
          <a:solidFill>
            <a:srgbClr val="0E1420"/>
          </a:solidFill>
          <a:ln w="9525">
            <a:solidFill>
              <a:srgbClr val="1E293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8" name="Shape 4"/>
          <p:cNvSpPr/>
          <p:nvPr/>
        </p:nvSpPr>
        <p:spPr>
          <a:xfrm>
            <a:off x="713160" y="1837800"/>
            <a:ext cx="100080" cy="100080"/>
          </a:xfrm>
          <a:prstGeom prst="ellipse">
            <a:avLst/>
          </a:prstGeom>
          <a:solidFill>
            <a:srgbClr val="F43F5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59" name="Shape 5"/>
          <p:cNvSpPr/>
          <p:nvPr/>
        </p:nvSpPr>
        <p:spPr>
          <a:xfrm>
            <a:off x="914400" y="1837800"/>
            <a:ext cx="100080" cy="100080"/>
          </a:xfrm>
          <a:prstGeom prst="ellipse">
            <a:avLst/>
          </a:prstGeom>
          <a:solidFill>
            <a:srgbClr val="F9C6F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0" name="Shape 6"/>
          <p:cNvSpPr/>
          <p:nvPr/>
        </p:nvSpPr>
        <p:spPr>
          <a:xfrm>
            <a:off x="1115640" y="1837800"/>
            <a:ext cx="100080" cy="100080"/>
          </a:xfrm>
          <a:prstGeom prst="ellipse">
            <a:avLst/>
          </a:prstGeom>
          <a:solidFill>
            <a:srgbClr val="2DD4B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26280" rIns="90000" bIns="2628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Text 7"/>
          <p:cNvSpPr/>
          <p:nvPr/>
        </p:nvSpPr>
        <p:spPr>
          <a:xfrm>
            <a:off x="749880" y="2075760"/>
            <a:ext cx="4626360" cy="202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sub = titanic[["survived", "age",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"fare", "pclass"]].dropna()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sns.pairplot(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sub, hue="survived",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    palette=["#E07AB4", "#5755A7"]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8000"/>
              </a:lnSpc>
              <a:tabLst>
                <a:tab pos="0" algn="l"/>
              </a:tabLst>
            </a:pPr>
            <a:r>
              <a:rPr lang="en-US" sz="1250" b="0" u="none" strike="noStrike">
                <a:solidFill>
                  <a:srgbClr val="F1F5F9"/>
                </a:solidFill>
                <a:effectLst/>
                <a:uFillTx/>
                <a:latin typeface="Consolas"/>
                <a:ea typeface="Consolas"/>
              </a:rPr>
              <a:t>)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Text 8"/>
          <p:cNvSpPr/>
          <p:nvPr/>
        </p:nvSpPr>
        <p:spPr>
          <a:xfrm>
            <a:off x="548640" y="4434840"/>
            <a:ext cx="502884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001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2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The same pairplot() from Part 3, now with a real ML target as hue — a fast way to see which feature pairs visually separate survivors from non-survivors.</a:t>
            </a:r>
            <a:endParaRPr lang="en-US" sz="12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Shape 9"/>
          <p:cNvSpPr/>
          <p:nvPr/>
        </p:nvSpPr>
        <p:spPr>
          <a:xfrm>
            <a:off x="5715000" y="1691640"/>
            <a:ext cx="5943240" cy="4708800"/>
          </a:xfrm>
          <a:prstGeom prst="roundRect">
            <a:avLst>
              <a:gd name="adj" fmla="val 1942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4" name="Image 1" descr="/home/claude/sns/charts/titanic_pairplot.png"/>
          <p:cNvPicPr/>
          <p:nvPr/>
        </p:nvPicPr>
        <p:blipFill>
          <a:blip r:embed="rId2"/>
          <a:stretch/>
        </p:blipFill>
        <p:spPr>
          <a:xfrm>
            <a:off x="5824800" y="1801440"/>
            <a:ext cx="5723640" cy="4489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5" name="Text 10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63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9 · SEABORN FOR EDA &amp; ML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7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The Workflow, Tied Together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8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9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0" name="Text 3"/>
          <p:cNvSpPr/>
          <p:nvPr/>
        </p:nvSpPr>
        <p:spPr>
          <a:xfrm>
            <a:off x="548640" y="1737360"/>
            <a:ext cx="11109600" cy="4205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1. Heatmap — which features even relate to the target?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2. Countplot — is the target balanced across groups?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3. Boxplot — where are the outliers, and do groups differ?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4. Pairplot — do any feature pairs visually separate the classes?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6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This four-step pass is almost always the first thing done to a new dataset before any model is trained — and it's now entirely built from tools you already know.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1" name="Text 4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64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Shape 0"/>
          <p:cNvSpPr/>
          <p:nvPr/>
        </p:nvSpPr>
        <p:spPr>
          <a:xfrm>
            <a:off x="548640" y="502920"/>
            <a:ext cx="566640" cy="566640"/>
          </a:xfrm>
          <a:prstGeom prst="roundRect">
            <a:avLst>
              <a:gd name="adj" fmla="val 50000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3" name="Text 1"/>
          <p:cNvSpPr/>
          <p:nvPr/>
        </p:nvSpPr>
        <p:spPr>
          <a:xfrm>
            <a:off x="548640" y="502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0" u="none" strike="noStrike">
                <a:solidFill>
                  <a:srgbClr val="231F71"/>
                </a:solidFill>
                <a:effectLst/>
                <a:uFillTx/>
                <a:latin typeface="Hanken Grotesk"/>
                <a:ea typeface="Hanken Grotesk"/>
              </a:rPr>
              <a:t>◎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4" name="Text 2"/>
          <p:cNvSpPr/>
          <p:nvPr/>
        </p:nvSpPr>
        <p:spPr>
          <a:xfrm>
            <a:off x="1261800" y="502920"/>
            <a:ext cx="8229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9 · SEABORN FOR EDA &amp; ML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5" name="Text 3"/>
          <p:cNvSpPr/>
          <p:nvPr/>
        </p:nvSpPr>
        <p:spPr>
          <a:xfrm>
            <a:off x="1261800" y="777240"/>
            <a:ext cx="96008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300" b="1" u="none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Practice Set — Seaborn for EDA &amp; ML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6" name="Text 4"/>
          <p:cNvSpPr/>
          <p:nvPr/>
        </p:nvSpPr>
        <p:spPr>
          <a:xfrm>
            <a:off x="548640" y="1417320"/>
            <a:ext cx="10515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i="1" u="none" strike="noStrike">
                <a:solidFill>
                  <a:srgbClr val="474651"/>
                </a:solidFill>
                <a:effectLst/>
                <a:uFillTx/>
                <a:latin typeface="Hanken Grotesk"/>
                <a:ea typeface="Hanken Grotesk"/>
              </a:rPr>
              <a:t>Try these yourself first — no code shown, that's the point.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7" name="Shape 5"/>
          <p:cNvSpPr/>
          <p:nvPr/>
        </p:nvSpPr>
        <p:spPr>
          <a:xfrm>
            <a:off x="548640" y="19659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8" name="Shape 6"/>
          <p:cNvSpPr/>
          <p:nvPr/>
        </p:nvSpPr>
        <p:spPr>
          <a:xfrm>
            <a:off x="731520" y="22129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9" name="Text 7"/>
          <p:cNvSpPr/>
          <p:nvPr/>
        </p:nvSpPr>
        <p:spPr>
          <a:xfrm>
            <a:off x="731520" y="22129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0" name="Text 8"/>
          <p:cNvSpPr/>
          <p:nvPr/>
        </p:nvSpPr>
        <p:spPr>
          <a:xfrm>
            <a:off x="1234440" y="19659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Build a correlation heatmap for titanic using different numeric columns than the example.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1" name="Shape 9"/>
          <p:cNvSpPr/>
          <p:nvPr/>
        </p:nvSpPr>
        <p:spPr>
          <a:xfrm>
            <a:off x="548640" y="29350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2" name="Shape 10"/>
          <p:cNvSpPr/>
          <p:nvPr/>
        </p:nvSpPr>
        <p:spPr>
          <a:xfrm>
            <a:off x="731520" y="31820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3" name="Text 11"/>
          <p:cNvSpPr/>
          <p:nvPr/>
        </p:nvSpPr>
        <p:spPr>
          <a:xfrm>
            <a:off x="731520" y="31820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4" name="Text 12"/>
          <p:cNvSpPr/>
          <p:nvPr/>
        </p:nvSpPr>
        <p:spPr>
          <a:xfrm>
            <a:off x="1234440" y="29350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Build a countplot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checking class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balance for the sex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column against </a:t>
            </a: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survived.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5" name="Shape 13"/>
          <p:cNvSpPr/>
          <p:nvPr/>
        </p:nvSpPr>
        <p:spPr>
          <a:xfrm>
            <a:off x="548640" y="390456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6" name="Shape 14"/>
          <p:cNvSpPr/>
          <p:nvPr/>
        </p:nvSpPr>
        <p:spPr>
          <a:xfrm>
            <a:off x="731520" y="415152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Text 15"/>
          <p:cNvSpPr/>
          <p:nvPr/>
        </p:nvSpPr>
        <p:spPr>
          <a:xfrm>
            <a:off x="731520" y="41515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8" name="Text 16"/>
          <p:cNvSpPr/>
          <p:nvPr/>
        </p:nvSpPr>
        <p:spPr>
          <a:xfrm>
            <a:off x="1234440" y="390456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Build a boxplot of fare by pclass, split by survived, and note anything unusual.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9" name="Shape 17"/>
          <p:cNvSpPr/>
          <p:nvPr/>
        </p:nvSpPr>
        <p:spPr>
          <a:xfrm>
            <a:off x="548640" y="4873680"/>
            <a:ext cx="11063880" cy="840960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9525">
            <a:solidFill>
              <a:srgbClr val="C8C5D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0" name="Shape 18"/>
          <p:cNvSpPr/>
          <p:nvPr/>
        </p:nvSpPr>
        <p:spPr>
          <a:xfrm>
            <a:off x="731520" y="5120640"/>
            <a:ext cx="347040" cy="347040"/>
          </a:xfrm>
          <a:prstGeom prst="roundRect">
            <a:avLst>
              <a:gd name="adj" fmla="val 50000"/>
            </a:avLst>
          </a:prstGeom>
          <a:solidFill>
            <a:srgbClr val="BBEDD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1" name="Text 19"/>
          <p:cNvSpPr/>
          <p:nvPr/>
        </p:nvSpPr>
        <p:spPr>
          <a:xfrm>
            <a:off x="731520" y="51206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002019"/>
                </a:solidFill>
                <a:effectLst/>
                <a:uFillTx/>
                <a:latin typeface="Bricolage Grotesque"/>
                <a:ea typeface="Bricolage Grotesque"/>
              </a:rPr>
              <a:t>4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2" name="Text 20"/>
          <p:cNvSpPr/>
          <p:nvPr/>
        </p:nvSpPr>
        <p:spPr>
          <a:xfrm>
            <a:off x="1234440" y="4873680"/>
            <a:ext cx="10149480" cy="84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15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Run a pairplot on 3 columns of your choice from titanic, colored by survived.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3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4" name="Text 21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5" name="Text 22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65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6" name="Shape 0"/>
          <p:cNvSpPr/>
          <p:nvPr/>
        </p:nvSpPr>
        <p:spPr>
          <a:xfrm>
            <a:off x="9692640" y="-1463040"/>
            <a:ext cx="3840120" cy="38401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97" name="Shape 1"/>
          <p:cNvSpPr/>
          <p:nvPr/>
        </p:nvSpPr>
        <p:spPr>
          <a:xfrm>
            <a:off x="-1280160" y="4754880"/>
            <a:ext cx="3108600" cy="3108600"/>
          </a:xfrm>
          <a:prstGeom prst="ellipse">
            <a:avLst/>
          </a:prstGeom>
          <a:solidFill>
            <a:srgbClr val="11362E">
              <a:alpha val="5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898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640080" y="548640"/>
            <a:ext cx="438480" cy="5263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9" name="Text 2"/>
          <p:cNvSpPr/>
          <p:nvPr/>
        </p:nvSpPr>
        <p:spPr>
          <a:xfrm>
            <a:off x="640080" y="2331720"/>
            <a:ext cx="91436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PART 10 · MINI PROJECTS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0" name="Text 3"/>
          <p:cNvSpPr/>
          <p:nvPr/>
        </p:nvSpPr>
        <p:spPr>
          <a:xfrm>
            <a:off x="640080" y="2743200"/>
            <a:ext cx="10332360" cy="1371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pc="-51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Put It All Together</a:t>
            </a:r>
            <a:endParaRPr lang="en-US" sz="4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1" name="Text 4"/>
          <p:cNvSpPr/>
          <p:nvPr/>
        </p:nvSpPr>
        <p:spPr>
          <a:xfrm>
            <a:off x="640080" y="3977640"/>
            <a:ext cx="96922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Three small projects combining everything from Foundations to EDA &amp; ML — built end to end on real Seaborn datasets.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2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66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10 · MINI PROJECTS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4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Mini Project 1: Restaurant Tipping Report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5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06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7" name="Shape 3"/>
          <p:cNvSpPr/>
          <p:nvPr/>
        </p:nvSpPr>
        <p:spPr>
          <a:xfrm>
            <a:off x="548640" y="1737360"/>
            <a:ext cx="3062880" cy="3977280"/>
          </a:xfrm>
          <a:prstGeom prst="roundRect">
            <a:avLst>
              <a:gd name="adj" fmla="val 4179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8" name="Shape 4"/>
          <p:cNvSpPr/>
          <p:nvPr/>
        </p:nvSpPr>
        <p:spPr>
          <a:xfrm>
            <a:off x="1577520" y="2194560"/>
            <a:ext cx="1005480" cy="1005480"/>
          </a:xfrm>
          <a:prstGeom prst="ellipse">
            <a:avLst/>
          </a:prstGeom>
          <a:solidFill>
            <a:srgbClr val="231F71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9" name="Text 5"/>
          <p:cNvSpPr/>
          <p:nvPr/>
        </p:nvSpPr>
        <p:spPr>
          <a:xfrm>
            <a:off x="1577520" y="2194560"/>
            <a:ext cx="1005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1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0" name="Text 6"/>
          <p:cNvSpPr/>
          <p:nvPr/>
        </p:nvSpPr>
        <p:spPr>
          <a:xfrm>
            <a:off x="777240" y="4663440"/>
            <a:ext cx="2605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1F71"/>
                </a:solidFill>
                <a:effectLst/>
                <a:uFillTx/>
                <a:latin typeface="Plus Jakarta Sans"/>
                <a:ea typeface="Plus Jakarta Sans"/>
              </a:rPr>
              <a:t>Distribution +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1F71"/>
                </a:solidFill>
                <a:effectLst/>
                <a:uFillTx/>
                <a:latin typeface="Plus Jakarta Sans"/>
                <a:ea typeface="Plus Jakarta Sans"/>
              </a:rPr>
              <a:t>Categorical, combined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1" name="Text 7"/>
          <p:cNvSpPr/>
          <p:nvPr/>
        </p:nvSpPr>
        <p:spPr>
          <a:xfrm>
            <a:off x="4069080" y="1783080"/>
            <a:ext cx="758916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il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1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×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2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: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_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il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,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x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y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.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x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=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F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x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li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'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x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.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d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l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m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z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s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t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p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n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g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 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e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h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v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i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o</a:t>
            </a: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r.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2" name="Text 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67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3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10 · MINI PROJECTS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4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Mini Project 2: Titanic EDA Dashboard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5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6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7" name="Shape 3"/>
          <p:cNvSpPr/>
          <p:nvPr/>
        </p:nvSpPr>
        <p:spPr>
          <a:xfrm>
            <a:off x="548640" y="1737360"/>
            <a:ext cx="3062880" cy="3977280"/>
          </a:xfrm>
          <a:prstGeom prst="roundRect">
            <a:avLst>
              <a:gd name="adj" fmla="val 4179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8" name="Shape 4"/>
          <p:cNvSpPr/>
          <p:nvPr/>
        </p:nvSpPr>
        <p:spPr>
          <a:xfrm>
            <a:off x="1577520" y="2194560"/>
            <a:ext cx="1005480" cy="1005480"/>
          </a:xfrm>
          <a:prstGeom prst="ellipse">
            <a:avLst/>
          </a:prstGeom>
          <a:solidFill>
            <a:srgbClr val="231F71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19" name="Text 5"/>
          <p:cNvSpPr/>
          <p:nvPr/>
        </p:nvSpPr>
        <p:spPr>
          <a:xfrm>
            <a:off x="1577520" y="2194560"/>
            <a:ext cx="1005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2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0" name="Text 6"/>
          <p:cNvSpPr/>
          <p:nvPr/>
        </p:nvSpPr>
        <p:spPr>
          <a:xfrm>
            <a:off x="777240" y="4663440"/>
            <a:ext cx="2605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1F71"/>
                </a:solidFill>
                <a:effectLst/>
                <a:uFillTx/>
                <a:latin typeface="Plus Jakarta Sans"/>
                <a:ea typeface="Plus Jakarta Sans"/>
              </a:rPr>
              <a:t>Heatmap + Countplot +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1F71"/>
                </a:solidFill>
                <a:effectLst/>
                <a:uFillTx/>
                <a:latin typeface="Plus Jakarta Sans"/>
                <a:ea typeface="Plus Jakarta Sans"/>
              </a:rPr>
              <a:t>Boxplot + Pairplot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1" name="Text 7"/>
          <p:cNvSpPr/>
          <p:nvPr/>
        </p:nvSpPr>
        <p:spPr>
          <a:xfrm>
            <a:off x="4069080" y="1783080"/>
            <a:ext cx="758916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Build a 2×2 grid: correlation heatmap, class-balance countplot, age boxplot by class/survival, and a small pairplot-style scatter.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Use hue="survived" consistently across every panel that supports it.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Call plt.tight_layout() so nothing overlaps.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Write a 2–3 sentence summary of what the dashboard suggests about who survived.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2" name="Text 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68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C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Text 0"/>
          <p:cNvSpPr/>
          <p:nvPr/>
        </p:nvSpPr>
        <p:spPr>
          <a:xfrm>
            <a:off x="54864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100" b="1" u="none" spc="201" strike="noStrike">
                <a:solidFill>
                  <a:srgbClr val="5755A7"/>
                </a:solidFill>
                <a:effectLst/>
                <a:uFillTx/>
                <a:latin typeface="Plus Jakarta Sans"/>
                <a:ea typeface="Plus Jakarta Sans"/>
              </a:rPr>
              <a:t>PART 10 · MINI PROJECTS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4" name="Text 1"/>
          <p:cNvSpPr/>
          <p:nvPr/>
        </p:nvSpPr>
        <p:spPr>
          <a:xfrm>
            <a:off x="548640" y="658440"/>
            <a:ext cx="969228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600" b="1" u="none" spc="-31" strike="noStrike">
                <a:solidFill>
                  <a:srgbClr val="1B1B20"/>
                </a:solidFill>
                <a:effectLst/>
                <a:uFillTx/>
                <a:latin typeface="Bricolage Grotesque"/>
                <a:ea typeface="Bricolage Grotesque"/>
              </a:rPr>
              <a:t>Mini Project 3: Bill vs. Tip, Fully Explained</a:t>
            </a:r>
            <a:endParaRPr lang="en-US" sz="2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5" name="Image 0" descr="/home/claude/sns/assets/logo_icon.png"/>
          <p:cNvPicPr/>
          <p:nvPr/>
        </p:nvPicPr>
        <p:blipFill>
          <a:blip r:embed="rId1"/>
          <a:stretch/>
        </p:blipFill>
        <p:spPr>
          <a:xfrm>
            <a:off x="11323080" y="320040"/>
            <a:ext cx="383760" cy="460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6" name="Text 2"/>
          <p:cNvSpPr/>
          <p:nvPr/>
        </p:nvSpPr>
        <p:spPr>
          <a:xfrm>
            <a:off x="457200" y="6473880"/>
            <a:ext cx="59432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CodeByPaxto  ·  AI &amp; ML Playground  ·  Seaborn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7" name="Shape 3"/>
          <p:cNvSpPr/>
          <p:nvPr/>
        </p:nvSpPr>
        <p:spPr>
          <a:xfrm>
            <a:off x="548640" y="1737360"/>
            <a:ext cx="3062880" cy="3977280"/>
          </a:xfrm>
          <a:prstGeom prst="roundRect">
            <a:avLst>
              <a:gd name="adj" fmla="val 4179"/>
            </a:avLst>
          </a:prstGeom>
          <a:solidFill>
            <a:srgbClr val="8C8AE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8" name="Shape 4"/>
          <p:cNvSpPr/>
          <p:nvPr/>
        </p:nvSpPr>
        <p:spPr>
          <a:xfrm>
            <a:off x="1577520" y="2194560"/>
            <a:ext cx="1005480" cy="1005480"/>
          </a:xfrm>
          <a:prstGeom prst="ellipse">
            <a:avLst/>
          </a:prstGeom>
          <a:solidFill>
            <a:srgbClr val="231F71">
              <a:alpha val="22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29" name="Text 5"/>
          <p:cNvSpPr/>
          <p:nvPr/>
        </p:nvSpPr>
        <p:spPr>
          <a:xfrm>
            <a:off x="1577520" y="2194560"/>
            <a:ext cx="1005480" cy="1005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200" b="1" u="none" strike="noStrike">
                <a:solidFill>
                  <a:srgbClr val="231F71"/>
                </a:solidFill>
                <a:effectLst/>
                <a:uFillTx/>
                <a:latin typeface="Bricolage Grotesque"/>
                <a:ea typeface="Bricolage Grotesque"/>
              </a:rPr>
              <a:t>3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0" name="Text 6"/>
          <p:cNvSpPr/>
          <p:nvPr/>
        </p:nvSpPr>
        <p:spPr>
          <a:xfrm>
            <a:off x="777240" y="4663440"/>
            <a:ext cx="260568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1F71"/>
                </a:solidFill>
                <a:effectLst/>
                <a:uFillTx/>
                <a:latin typeface="Plus Jakarta Sans"/>
                <a:ea typeface="Plus Jakarta Sans"/>
              </a:rPr>
              <a:t>Scatter + Regression +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300" b="1" u="none" strike="noStrike">
                <a:solidFill>
                  <a:srgbClr val="231F71"/>
                </a:solidFill>
                <a:effectLst/>
                <a:uFillTx/>
                <a:latin typeface="Plus Jakarta Sans"/>
                <a:ea typeface="Plus Jakarta Sans"/>
              </a:rPr>
              <a:t>Categorical, layered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1" name="Text 7"/>
          <p:cNvSpPr/>
          <p:nvPr/>
        </p:nvSpPr>
        <p:spPr>
          <a:xfrm>
            <a:off x="4069080" y="1783080"/>
            <a:ext cx="7589160" cy="3977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Build a scatterplot of total_bill vs. tip with hue="time" and size="size".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Add a regplot (or lmplot with hue="day") showing the trend and confidence band.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Add a boxplot comparing tip percentage (tip / total_bill) across day.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28600" indent="-228600" defTabSz="914400">
              <a:lnSpc>
                <a:spcPct val="100000"/>
              </a:lnSpc>
              <a:spcAft>
                <a:spcPts val="1599"/>
              </a:spcAft>
              <a:buClr>
                <a:srgbClr val="1B1B20"/>
              </a:buClr>
              <a:buFont typeface="Symbol" charset="2"/>
              <a:buChar char=""/>
            </a:pPr>
            <a:r>
              <a:rPr lang="en-US" sz="1450" b="0" u="none" strike="noStrike">
                <a:solidFill>
                  <a:srgbClr val="1B1B20"/>
                </a:solidFill>
                <a:effectLst/>
                <a:uFillTx/>
                <a:latin typeface="Hanken Grotesk"/>
                <a:ea typeface="Hanken Grotesk"/>
              </a:rPr>
              <a:t>Combine all three into one Figure using plt.subplots(1, 3, figsize=(15, 5)).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2" name="Text 8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69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Shape 0"/>
          <p:cNvSpPr/>
          <p:nvPr/>
        </p:nvSpPr>
        <p:spPr>
          <a:xfrm>
            <a:off x="-1828800" y="-2103120"/>
            <a:ext cx="4754520" cy="475452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4" name="Shape 1"/>
          <p:cNvSpPr/>
          <p:nvPr/>
        </p:nvSpPr>
        <p:spPr>
          <a:xfrm>
            <a:off x="9326880" y="4206240"/>
            <a:ext cx="4205880" cy="4205880"/>
          </a:xfrm>
          <a:prstGeom prst="ellipse">
            <a:avLst/>
          </a:prstGeom>
          <a:solidFill>
            <a:srgbClr val="11362E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5" name="Shape 2"/>
          <p:cNvSpPr/>
          <p:nvPr/>
        </p:nvSpPr>
        <p:spPr>
          <a:xfrm>
            <a:off x="4907160" y="1051560"/>
            <a:ext cx="2377080" cy="54360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-6480" rIns="90000" bIns="-648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6" name="Text 3"/>
          <p:cNvSpPr/>
          <p:nvPr/>
        </p:nvSpPr>
        <p:spPr>
          <a:xfrm>
            <a:off x="0" y="1234440"/>
            <a:ext cx="12191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200" b="1" u="none" spc="300" strike="noStrike">
                <a:solidFill>
                  <a:srgbClr val="2DD4BF"/>
                </a:solidFill>
                <a:effectLst/>
                <a:uFillTx/>
                <a:latin typeface="Plus Jakarta Sans"/>
                <a:ea typeface="Plus Jakarta Sans"/>
              </a:rPr>
              <a:t>MODULE RECAP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7" name="Text 4"/>
          <p:cNvSpPr/>
          <p:nvPr/>
        </p:nvSpPr>
        <p:spPr>
          <a:xfrm>
            <a:off x="1249560" y="1920240"/>
            <a:ext cx="9692280" cy="237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25000"/>
              </a:lnSpc>
              <a:tabLst>
                <a:tab pos="0" algn="l"/>
              </a:tabLst>
            </a:pPr>
            <a:r>
              <a:rPr lang="en-US" sz="27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Seaborn didn't replace Matplotlib — it gave you a faster, statistically smarter way to ask questions of a DataFrame. That heatmap-countplot-boxplot-pairplot habit is exactly what you'll run on every dataset from here forward.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8" name="Text 5"/>
          <p:cNvSpPr/>
          <p:nvPr/>
        </p:nvSpPr>
        <p:spPr>
          <a:xfrm>
            <a:off x="0" y="4526280"/>
            <a:ext cx="1219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i="1" u="none" strike="noStrike">
                <a:solidFill>
                  <a:srgbClr val="94A3B8"/>
                </a:solidFill>
                <a:effectLst/>
                <a:uFillTx/>
                <a:latin typeface="Hanken Grotesk"/>
                <a:ea typeface="Hanken Grotesk"/>
              </a:rPr>
              <a:t>Next up: Data Analytics — real datasets, real questions, and the full EDA workflow.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39" name="Text 6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70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B0F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Shape 0"/>
          <p:cNvSpPr/>
          <p:nvPr/>
        </p:nvSpPr>
        <p:spPr>
          <a:xfrm>
            <a:off x="-1828800" y="-1828800"/>
            <a:ext cx="4571640" cy="4571640"/>
          </a:xfrm>
          <a:prstGeom prst="ellipse">
            <a:avLst/>
          </a:prstGeom>
          <a:solidFill>
            <a:srgbClr val="262758">
              <a:alpha val="4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1" name="Shape 1"/>
          <p:cNvSpPr/>
          <p:nvPr/>
        </p:nvSpPr>
        <p:spPr>
          <a:xfrm>
            <a:off x="9601200" y="4114800"/>
            <a:ext cx="4114440" cy="4114440"/>
          </a:xfrm>
          <a:prstGeom prst="ellipse">
            <a:avLst/>
          </a:prstGeom>
          <a:solidFill>
            <a:srgbClr val="4C112D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2" name="Shape 2"/>
          <p:cNvSpPr/>
          <p:nvPr/>
        </p:nvSpPr>
        <p:spPr>
          <a:xfrm>
            <a:off x="4495680" y="2167200"/>
            <a:ext cx="3200040" cy="1188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43" name="Image 0" descr="/home/claude/sns/assets/logo_full.png"/>
          <p:cNvPicPr/>
          <p:nvPr/>
        </p:nvPicPr>
        <p:blipFill>
          <a:blip r:embed="rId1"/>
          <a:stretch/>
        </p:blipFill>
        <p:spPr>
          <a:xfrm>
            <a:off x="4632840" y="2286000"/>
            <a:ext cx="2925720" cy="950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4" name="Text 3"/>
          <p:cNvSpPr/>
          <p:nvPr/>
        </p:nvSpPr>
        <p:spPr>
          <a:xfrm>
            <a:off x="0" y="3429000"/>
            <a:ext cx="1219140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F1F5F9"/>
                </a:solidFill>
                <a:effectLst/>
                <a:uFillTx/>
                <a:latin typeface="Bricolage Grotesque"/>
                <a:ea typeface="Bricolage Grotesque"/>
              </a:rPr>
              <a:t>Thank You</a:t>
            </a:r>
            <a:endParaRPr lang="en-US" sz="3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5" name="Text 4"/>
          <p:cNvSpPr/>
          <p:nvPr/>
        </p:nvSpPr>
        <p:spPr>
          <a:xfrm>
            <a:off x="0" y="4160520"/>
            <a:ext cx="121914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300" b="0" u="none" strike="noStrike">
                <a:solidFill>
                  <a:srgbClr val="94A3B8"/>
                </a:solidFill>
                <a:effectLst/>
                <a:uFillTx/>
                <a:latin typeface="Plus Jakarta Sans"/>
                <a:ea typeface="Plus Jakarta Sans"/>
              </a:rPr>
              <a:t>Seaborn · AI &amp; ML Playground · CodeByPaxto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6" name="Text 5"/>
          <p:cNvSpPr/>
          <p:nvPr/>
        </p:nvSpPr>
        <p:spPr>
          <a:xfrm>
            <a:off x="11505960" y="6473880"/>
            <a:ext cx="5025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00" b="0" u="none" strike="noStrike">
                <a:solidFill>
                  <a:srgbClr val="474651"/>
                </a:solidFill>
                <a:effectLst/>
                <a:uFillTx/>
                <a:latin typeface="Plus Jakarta Sans"/>
                <a:ea typeface="Plus Jakarta Sans"/>
              </a:rPr>
              <a:t>71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825</TotalTime>
  <Application>LibreOffice/26.2.6.3$Linux_X86_64 LibreOffice_project/620$Build-3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2026-09-23T07:37:42Z</dcterms:created>
  <dc:creator>PptxGenJS</dc:creator>
  <dc:description/>
  <dc:language>en-US</dc:language>
  <cp:lastModifiedBy/>
  <dcterms:modified xsi:type="dcterms:W3CDTF">2026-09-24T09:31:25Z</dcterms:modified>
  <cp:revision>12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71</vt:i4>
  </property>
  <property fmtid="{D5CDD505-2E9C-101B-9397-08002B2CF9AE}" pid="3" name="PresentationFormat">
    <vt:lpwstr>On-screen Show (16:9)</vt:lpwstr>
  </property>
  <property fmtid="{D5CDD505-2E9C-101B-9397-08002B2CF9AE}" pid="4" name="Slides">
    <vt:i4>71</vt:i4>
  </property>
</Properties>
</file>