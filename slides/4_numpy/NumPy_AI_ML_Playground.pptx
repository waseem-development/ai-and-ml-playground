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55.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61.xml" ContentType="application/vnd.openxmlformats-officedocument.presentationml.slide+xml"/>
  <Override PartName="/ppt/slides/slide2.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60.xml" ContentType="application/vnd.openxmlformats-officedocument.presentationml.slide+xml"/>
  <Override PartName="/ppt/slides/slide49.xml" ContentType="application/vnd.openxmlformats-officedocument.presentationml.slide+xml"/>
  <Override PartName="/ppt/slides/slide57.xml" ContentType="application/vnd.openxmlformats-officedocument.presentationml.slide+xml"/>
  <Override PartName="/ppt/slides/slide29.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1.xml" ContentType="application/vnd.openxmlformats-officedocument.presentationml.slide+xml"/>
  <Override PartName="/ppt/slides/slide37.xml" ContentType="application/vnd.openxmlformats-officedocument.presentationml.slide+xml"/>
  <Override PartName="/ppt/slides/slide48.xml" ContentType="application/vnd.openxmlformats-officedocument.presentationml.slide+xml"/>
  <Override PartName="/ppt/slides/slide31.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58.xml" ContentType="application/vnd.openxmlformats-officedocument.presentationml.slide+xml"/>
  <Override PartName="/ppt/slides/slide8.xml" ContentType="application/vnd.openxmlformats-officedocument.presentationml.slide+xml"/>
  <Override PartName="/ppt/slides/slide4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59.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38.xml" ContentType="application/vnd.openxmlformats-officedocument.presentationml.slide+xml"/>
  <Override PartName="/ppt/slides/slide44.xml" ContentType="application/vnd.openxmlformats-officedocument.presentationml.slide+xml"/>
  <Override PartName="/ppt/slides/slide56.xml" ContentType="application/vnd.openxmlformats-officedocument.presentationml.slide+xml"/>
  <Override PartName="/ppt/slides/slide24.xml" ContentType="application/vnd.openxmlformats-officedocument.presentationml.slide+xml"/>
  <Override PartName="/ppt/slides/slide50.xml" ContentType="application/vnd.openxmlformats-officedocument.presentationml.slide+xml"/>
  <Override PartName="/ppt/slides/slide53.xml" ContentType="application/vnd.openxmlformats-officedocument.presentationml.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41.xml" ContentType="application/vnd.openxmlformats-officedocument.presentationml.notesSlide+xml"/>
  <Override PartName="/ppt/notesSlides/notesSlide17.xml" ContentType="application/vnd.openxmlformats-officedocument.presentationml.notesSlide+xml"/>
  <Override PartName="/ppt/notesSlides/notesSlide5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32.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58.xml" ContentType="application/vnd.openxmlformats-officedocument.presentationml.notesSlide+xml"/>
  <Override PartName="/ppt/notesSlides/notesSlide46.xml" ContentType="application/vnd.openxmlformats-officedocument.presentationml.notesSlide+xml"/>
  <Override PartName="/ppt/notesSlides/notesSlide56.xml" ContentType="application/vnd.openxmlformats-officedocument.presentationml.notesSlide+xml"/>
  <Override PartName="/ppt/notesSlides/notesSlide61.xml" ContentType="application/vnd.openxmlformats-officedocument.presentationml.notesSlide+xml"/>
  <Override PartName="/ppt/notesSlides/notesSlide59.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28.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47.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48.xml" ContentType="application/vnd.openxmlformats-officedocument.presentationml.notesSlide+xml"/>
  <Override PartName="/ppt/notesSlides/notesSlide12.xml" ContentType="application/vnd.openxmlformats-officedocument.presentationml.notesSlide+xml"/>
  <Override PartName="/ppt/notesSlides/notesSlide49.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xml" ContentType="application/vnd.openxmlformats-officedocument.presentationml.notesSlide+xml"/>
  <Override PartName="/ppt/notesSlides/notesSlide33.xml" ContentType="application/vnd.openxmlformats-officedocument.presentationml.notesSlide+xml"/>
  <Override PartName="/ppt/notesSlides/notesSlide23.xml" ContentType="application/vnd.openxmlformats-officedocument.presentationml.notesSlide+xml"/>
  <Override PartName="/ppt/notesSlides/notesSlide51.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0.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24.xml" ContentType="application/vnd.openxmlformats-officedocument.presentationml.notesSlide+xml"/>
  <Override PartName="/ppt/notesSlides/notesSlide16.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11.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5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79836B4-5BC8-44CF-B5CD-6CC5C58751CB}"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 name="PlaceHolder 1"/>
          <p:cNvSpPr>
            <a:spLocks noGrp="1"/>
          </p:cNvSpPr>
          <p:nvPr>
            <p:ph type="sldImg"/>
          </p:nvPr>
        </p:nvSpPr>
        <p:spPr>
          <a:xfrm>
            <a:off x="685800" y="1143000"/>
            <a:ext cx="5486040" cy="3085920"/>
          </a:xfrm>
          <a:prstGeom prst="rect">
            <a:avLst/>
          </a:prstGeom>
          <a:ln w="0">
            <a:noFill/>
          </a:ln>
        </p:spPr>
      </p:sp>
      <p:sp>
        <p:nvSpPr>
          <p:cNvPr id="9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131DDB1-7837-421C-86A9-66242BC357B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 name="PlaceHolder 1"/>
          <p:cNvSpPr>
            <a:spLocks noGrp="1"/>
          </p:cNvSpPr>
          <p:nvPr>
            <p:ph type="sldImg"/>
          </p:nvPr>
        </p:nvSpPr>
        <p:spPr>
          <a:xfrm>
            <a:off x="685800" y="1143000"/>
            <a:ext cx="5486040" cy="3085920"/>
          </a:xfrm>
          <a:prstGeom prst="rect">
            <a:avLst/>
          </a:prstGeom>
          <a:ln w="0">
            <a:noFill/>
          </a:ln>
        </p:spPr>
      </p:sp>
      <p:sp>
        <p:nvSpPr>
          <p:cNvPr id="9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79AB61B-2C45-42D2-99EA-59E2B4ABA81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PlaceHolder 1"/>
          <p:cNvSpPr>
            <a:spLocks noGrp="1"/>
          </p:cNvSpPr>
          <p:nvPr>
            <p:ph type="sldImg"/>
          </p:nvPr>
        </p:nvSpPr>
        <p:spPr>
          <a:xfrm>
            <a:off x="685800" y="1143000"/>
            <a:ext cx="5486040" cy="3085920"/>
          </a:xfrm>
          <a:prstGeom prst="rect">
            <a:avLst/>
          </a:prstGeom>
          <a:ln w="0">
            <a:noFill/>
          </a:ln>
        </p:spPr>
      </p:sp>
      <p:sp>
        <p:nvSpPr>
          <p:cNvPr id="9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814261-82F2-4AB1-B935-1700D5D224B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9" name="PlaceHolder 1"/>
          <p:cNvSpPr>
            <a:spLocks noGrp="1"/>
          </p:cNvSpPr>
          <p:nvPr>
            <p:ph type="sldImg"/>
          </p:nvPr>
        </p:nvSpPr>
        <p:spPr>
          <a:xfrm>
            <a:off x="685800" y="1143000"/>
            <a:ext cx="5486040" cy="3085920"/>
          </a:xfrm>
          <a:prstGeom prst="rect">
            <a:avLst/>
          </a:prstGeom>
          <a:ln w="0">
            <a:noFill/>
          </a:ln>
        </p:spPr>
      </p:sp>
      <p:sp>
        <p:nvSpPr>
          <p:cNvPr id="9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3C479F-DE6E-417B-BB8C-5120B9DC6FC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 name="PlaceHolder 1"/>
          <p:cNvSpPr>
            <a:spLocks noGrp="1"/>
          </p:cNvSpPr>
          <p:nvPr>
            <p:ph type="sldImg"/>
          </p:nvPr>
        </p:nvSpPr>
        <p:spPr>
          <a:xfrm>
            <a:off x="685800" y="1143000"/>
            <a:ext cx="5486040" cy="3085920"/>
          </a:xfrm>
          <a:prstGeom prst="rect">
            <a:avLst/>
          </a:prstGeom>
          <a:ln w="0">
            <a:noFill/>
          </a:ln>
        </p:spPr>
      </p:sp>
      <p:sp>
        <p:nvSpPr>
          <p:cNvPr id="9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E8FA87-8D33-4DFC-ACCC-33C2258FE31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5" name="PlaceHolder 1"/>
          <p:cNvSpPr>
            <a:spLocks noGrp="1"/>
          </p:cNvSpPr>
          <p:nvPr>
            <p:ph type="sldImg"/>
          </p:nvPr>
        </p:nvSpPr>
        <p:spPr>
          <a:xfrm>
            <a:off x="685800" y="1143000"/>
            <a:ext cx="5486040" cy="3085920"/>
          </a:xfrm>
          <a:prstGeom prst="rect">
            <a:avLst/>
          </a:prstGeom>
          <a:ln w="0">
            <a:noFill/>
          </a:ln>
        </p:spPr>
      </p:sp>
      <p:sp>
        <p:nvSpPr>
          <p:cNvPr id="9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5A1A24-F475-4B3C-8181-C55E844BAFB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type="sldImg"/>
          </p:nvPr>
        </p:nvSpPr>
        <p:spPr>
          <a:xfrm>
            <a:off x="685800" y="1143000"/>
            <a:ext cx="5486040" cy="3085920"/>
          </a:xfrm>
          <a:prstGeom prst="rect">
            <a:avLst/>
          </a:prstGeom>
          <a:ln w="0">
            <a:noFill/>
          </a:ln>
        </p:spPr>
      </p:sp>
      <p:sp>
        <p:nvSpPr>
          <p:cNvPr id="9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706838-A975-45F4-B614-B8E324F1F71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1" name="PlaceHolder 1"/>
          <p:cNvSpPr>
            <a:spLocks noGrp="1"/>
          </p:cNvSpPr>
          <p:nvPr>
            <p:ph type="sldImg"/>
          </p:nvPr>
        </p:nvSpPr>
        <p:spPr>
          <a:xfrm>
            <a:off x="685800" y="1143000"/>
            <a:ext cx="5486040" cy="3085920"/>
          </a:xfrm>
          <a:prstGeom prst="rect">
            <a:avLst/>
          </a:prstGeom>
          <a:ln w="0">
            <a:noFill/>
          </a:ln>
        </p:spPr>
      </p:sp>
      <p:sp>
        <p:nvSpPr>
          <p:cNvPr id="9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584575-6DAA-40DD-8BC0-3DAFAC35E56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PlaceHolder 1"/>
          <p:cNvSpPr>
            <a:spLocks noGrp="1"/>
          </p:cNvSpPr>
          <p:nvPr>
            <p:ph type="sldImg"/>
          </p:nvPr>
        </p:nvSpPr>
        <p:spPr>
          <a:xfrm>
            <a:off x="685800" y="1143000"/>
            <a:ext cx="5486040" cy="3085920"/>
          </a:xfrm>
          <a:prstGeom prst="rect">
            <a:avLst/>
          </a:prstGeom>
          <a:ln w="0">
            <a:noFill/>
          </a:ln>
        </p:spPr>
      </p:sp>
      <p:sp>
        <p:nvSpPr>
          <p:cNvPr id="9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91B0A53-62DF-4ECF-85AB-691DB99D2C7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7" name="PlaceHolder 1"/>
          <p:cNvSpPr>
            <a:spLocks noGrp="1"/>
          </p:cNvSpPr>
          <p:nvPr>
            <p:ph type="sldImg"/>
          </p:nvPr>
        </p:nvSpPr>
        <p:spPr>
          <a:xfrm>
            <a:off x="685800" y="1143000"/>
            <a:ext cx="5486040" cy="3085920"/>
          </a:xfrm>
          <a:prstGeom prst="rect">
            <a:avLst/>
          </a:prstGeom>
          <a:ln w="0">
            <a:noFill/>
          </a:ln>
        </p:spPr>
      </p:sp>
      <p:sp>
        <p:nvSpPr>
          <p:cNvPr id="9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FE9ECD-C861-489F-BA4A-9274113DCD4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PlaceHolder 1"/>
          <p:cNvSpPr>
            <a:spLocks noGrp="1"/>
          </p:cNvSpPr>
          <p:nvPr>
            <p:ph type="sldImg"/>
          </p:nvPr>
        </p:nvSpPr>
        <p:spPr>
          <a:xfrm>
            <a:off x="685800" y="1143000"/>
            <a:ext cx="5486040" cy="3085920"/>
          </a:xfrm>
          <a:prstGeom prst="rect">
            <a:avLst/>
          </a:prstGeom>
          <a:ln w="0">
            <a:noFill/>
          </a:ln>
        </p:spPr>
      </p:sp>
      <p:sp>
        <p:nvSpPr>
          <p:cNvPr id="9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0F4999-DB3E-4755-9823-A085562C80D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 name="PlaceHolder 1"/>
          <p:cNvSpPr>
            <a:spLocks noGrp="1"/>
          </p:cNvSpPr>
          <p:nvPr>
            <p:ph type="sldImg"/>
          </p:nvPr>
        </p:nvSpPr>
        <p:spPr>
          <a:xfrm>
            <a:off x="685800" y="1143000"/>
            <a:ext cx="5486040" cy="3085920"/>
          </a:xfrm>
          <a:prstGeom prst="rect">
            <a:avLst/>
          </a:prstGeom>
          <a:ln w="0">
            <a:noFill/>
          </a:ln>
        </p:spPr>
      </p:sp>
      <p:sp>
        <p:nvSpPr>
          <p:cNvPr id="9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7AD9CB-0EDB-4AF2-9C80-5C9403CB02B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 name="PlaceHolder 1"/>
          <p:cNvSpPr>
            <a:spLocks noGrp="1"/>
          </p:cNvSpPr>
          <p:nvPr>
            <p:ph type="sldImg"/>
          </p:nvPr>
        </p:nvSpPr>
        <p:spPr>
          <a:xfrm>
            <a:off x="685800" y="1143000"/>
            <a:ext cx="5486040" cy="3085920"/>
          </a:xfrm>
          <a:prstGeom prst="rect">
            <a:avLst/>
          </a:prstGeom>
          <a:ln w="0">
            <a:noFill/>
          </a:ln>
        </p:spPr>
      </p:sp>
      <p:sp>
        <p:nvSpPr>
          <p:cNvPr id="9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2DFB850-E2CE-41B8-B2D9-C7A76FAED3C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9" name="PlaceHolder 1"/>
          <p:cNvSpPr>
            <a:spLocks noGrp="1"/>
          </p:cNvSpPr>
          <p:nvPr>
            <p:ph type="sldImg"/>
          </p:nvPr>
        </p:nvSpPr>
        <p:spPr>
          <a:xfrm>
            <a:off x="685800" y="1143000"/>
            <a:ext cx="5486040" cy="3085920"/>
          </a:xfrm>
          <a:prstGeom prst="rect">
            <a:avLst/>
          </a:prstGeom>
          <a:ln w="0">
            <a:noFill/>
          </a:ln>
        </p:spPr>
      </p:sp>
      <p:sp>
        <p:nvSpPr>
          <p:cNvPr id="9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A2E468-1AD2-416B-9581-D3D921C9926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 name="PlaceHolder 1"/>
          <p:cNvSpPr>
            <a:spLocks noGrp="1"/>
          </p:cNvSpPr>
          <p:nvPr>
            <p:ph type="sldImg"/>
          </p:nvPr>
        </p:nvSpPr>
        <p:spPr>
          <a:xfrm>
            <a:off x="685800" y="1143000"/>
            <a:ext cx="5486040" cy="3085920"/>
          </a:xfrm>
          <a:prstGeom prst="rect">
            <a:avLst/>
          </a:prstGeom>
          <a:ln w="0">
            <a:noFill/>
          </a:ln>
        </p:spPr>
      </p:sp>
      <p:sp>
        <p:nvSpPr>
          <p:cNvPr id="9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3960A96-A838-4B8A-B4CD-3ECD0E7E222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5" name="PlaceHolder 1"/>
          <p:cNvSpPr>
            <a:spLocks noGrp="1"/>
          </p:cNvSpPr>
          <p:nvPr>
            <p:ph type="sldImg"/>
          </p:nvPr>
        </p:nvSpPr>
        <p:spPr>
          <a:xfrm>
            <a:off x="685800" y="1143000"/>
            <a:ext cx="5486040" cy="3085920"/>
          </a:xfrm>
          <a:prstGeom prst="rect">
            <a:avLst/>
          </a:prstGeom>
          <a:ln w="0">
            <a:noFill/>
          </a:ln>
        </p:spPr>
      </p:sp>
      <p:sp>
        <p:nvSpPr>
          <p:cNvPr id="9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D17A24-E9AB-430E-B6BF-D2BA24B245F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8" name="PlaceHolder 1"/>
          <p:cNvSpPr>
            <a:spLocks noGrp="1"/>
          </p:cNvSpPr>
          <p:nvPr>
            <p:ph type="sldImg"/>
          </p:nvPr>
        </p:nvSpPr>
        <p:spPr>
          <a:xfrm>
            <a:off x="685800" y="1143000"/>
            <a:ext cx="5486040" cy="3085920"/>
          </a:xfrm>
          <a:prstGeom prst="rect">
            <a:avLst/>
          </a:prstGeom>
          <a:ln w="0">
            <a:noFill/>
          </a:ln>
        </p:spPr>
      </p:sp>
      <p:sp>
        <p:nvSpPr>
          <p:cNvPr id="9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76D04FE-8B07-4FD2-B39D-EE2FDB19A85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1" name="PlaceHolder 1"/>
          <p:cNvSpPr>
            <a:spLocks noGrp="1"/>
          </p:cNvSpPr>
          <p:nvPr>
            <p:ph type="sldImg"/>
          </p:nvPr>
        </p:nvSpPr>
        <p:spPr>
          <a:xfrm>
            <a:off x="685800" y="1143000"/>
            <a:ext cx="5486040" cy="3085920"/>
          </a:xfrm>
          <a:prstGeom prst="rect">
            <a:avLst/>
          </a:prstGeom>
          <a:ln w="0">
            <a:noFill/>
          </a:ln>
        </p:spPr>
      </p:sp>
      <p:sp>
        <p:nvSpPr>
          <p:cNvPr id="10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E2AFEA-C558-47D1-B364-E198206081A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 name="PlaceHolder 1"/>
          <p:cNvSpPr>
            <a:spLocks noGrp="1"/>
          </p:cNvSpPr>
          <p:nvPr>
            <p:ph type="sldImg"/>
          </p:nvPr>
        </p:nvSpPr>
        <p:spPr>
          <a:xfrm>
            <a:off x="685800" y="1143000"/>
            <a:ext cx="5486040" cy="3085920"/>
          </a:xfrm>
          <a:prstGeom prst="rect">
            <a:avLst/>
          </a:prstGeom>
          <a:ln w="0">
            <a:noFill/>
          </a:ln>
        </p:spPr>
      </p:sp>
      <p:sp>
        <p:nvSpPr>
          <p:cNvPr id="10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ADCE455-161D-4AFD-9A72-DF66B907D3C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7" name="PlaceHolder 1"/>
          <p:cNvSpPr>
            <a:spLocks noGrp="1"/>
          </p:cNvSpPr>
          <p:nvPr>
            <p:ph type="sldImg"/>
          </p:nvPr>
        </p:nvSpPr>
        <p:spPr>
          <a:xfrm>
            <a:off x="685800" y="1143000"/>
            <a:ext cx="5486040" cy="3085920"/>
          </a:xfrm>
          <a:prstGeom prst="rect">
            <a:avLst/>
          </a:prstGeom>
          <a:ln w="0">
            <a:noFill/>
          </a:ln>
        </p:spPr>
      </p:sp>
      <p:sp>
        <p:nvSpPr>
          <p:cNvPr id="10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272611-5259-4B1E-B6F2-42A06CB5A60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0" name="PlaceHolder 1"/>
          <p:cNvSpPr>
            <a:spLocks noGrp="1"/>
          </p:cNvSpPr>
          <p:nvPr>
            <p:ph type="sldImg"/>
          </p:nvPr>
        </p:nvSpPr>
        <p:spPr>
          <a:xfrm>
            <a:off x="685800" y="1143000"/>
            <a:ext cx="5486040" cy="3085920"/>
          </a:xfrm>
          <a:prstGeom prst="rect">
            <a:avLst/>
          </a:prstGeom>
          <a:ln w="0">
            <a:noFill/>
          </a:ln>
        </p:spPr>
      </p:sp>
      <p:sp>
        <p:nvSpPr>
          <p:cNvPr id="10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3AC53C-2B6C-40F1-8CD5-A54A737154C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 name="PlaceHolder 1"/>
          <p:cNvSpPr>
            <a:spLocks noGrp="1"/>
          </p:cNvSpPr>
          <p:nvPr>
            <p:ph type="sldImg"/>
          </p:nvPr>
        </p:nvSpPr>
        <p:spPr>
          <a:xfrm>
            <a:off x="685800" y="1143000"/>
            <a:ext cx="5486040" cy="3085920"/>
          </a:xfrm>
          <a:prstGeom prst="rect">
            <a:avLst/>
          </a:prstGeom>
          <a:ln w="0">
            <a:noFill/>
          </a:ln>
        </p:spPr>
      </p:sp>
      <p:sp>
        <p:nvSpPr>
          <p:cNvPr id="10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E67027-7541-46DC-A7F2-EC16C87E0D9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 name="PlaceHolder 1"/>
          <p:cNvSpPr>
            <a:spLocks noGrp="1"/>
          </p:cNvSpPr>
          <p:nvPr>
            <p:ph type="sldImg"/>
          </p:nvPr>
        </p:nvSpPr>
        <p:spPr>
          <a:xfrm>
            <a:off x="685800" y="1143000"/>
            <a:ext cx="5486040" cy="3085920"/>
          </a:xfrm>
          <a:prstGeom prst="rect">
            <a:avLst/>
          </a:prstGeom>
          <a:ln w="0">
            <a:noFill/>
          </a:ln>
        </p:spPr>
      </p:sp>
      <p:sp>
        <p:nvSpPr>
          <p:cNvPr id="10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E82026C-F1BA-44DF-94D2-958640DC239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 name="PlaceHolder 1"/>
          <p:cNvSpPr>
            <a:spLocks noGrp="1"/>
          </p:cNvSpPr>
          <p:nvPr>
            <p:ph type="sldImg"/>
          </p:nvPr>
        </p:nvSpPr>
        <p:spPr>
          <a:xfrm>
            <a:off x="685800" y="1143000"/>
            <a:ext cx="5486040" cy="3085920"/>
          </a:xfrm>
          <a:prstGeom prst="rect">
            <a:avLst/>
          </a:prstGeom>
          <a:ln w="0">
            <a:noFill/>
          </a:ln>
        </p:spPr>
      </p:sp>
      <p:sp>
        <p:nvSpPr>
          <p:cNvPr id="10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41650D-8867-4CAF-BFBF-5B0CFB57B44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2" name="PlaceHolder 1"/>
          <p:cNvSpPr>
            <a:spLocks noGrp="1"/>
          </p:cNvSpPr>
          <p:nvPr>
            <p:ph type="sldImg"/>
          </p:nvPr>
        </p:nvSpPr>
        <p:spPr>
          <a:xfrm>
            <a:off x="685800" y="1143000"/>
            <a:ext cx="5486040" cy="3085920"/>
          </a:xfrm>
          <a:prstGeom prst="rect">
            <a:avLst/>
          </a:prstGeom>
          <a:ln w="0">
            <a:noFill/>
          </a:ln>
        </p:spPr>
      </p:sp>
      <p:sp>
        <p:nvSpPr>
          <p:cNvPr id="10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F84C7C-85F4-4303-BD49-9372537E061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5" name="PlaceHolder 1"/>
          <p:cNvSpPr>
            <a:spLocks noGrp="1"/>
          </p:cNvSpPr>
          <p:nvPr>
            <p:ph type="sldImg"/>
          </p:nvPr>
        </p:nvSpPr>
        <p:spPr>
          <a:xfrm>
            <a:off x="685800" y="1143000"/>
            <a:ext cx="5486040" cy="3085920"/>
          </a:xfrm>
          <a:prstGeom prst="rect">
            <a:avLst/>
          </a:prstGeom>
          <a:ln w="0">
            <a:noFill/>
          </a:ln>
        </p:spPr>
      </p:sp>
      <p:sp>
        <p:nvSpPr>
          <p:cNvPr id="10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0EF2E6-C59E-4B39-A960-53FD1318ADB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8" name="PlaceHolder 1"/>
          <p:cNvSpPr>
            <a:spLocks noGrp="1"/>
          </p:cNvSpPr>
          <p:nvPr>
            <p:ph type="sldImg"/>
          </p:nvPr>
        </p:nvSpPr>
        <p:spPr>
          <a:xfrm>
            <a:off x="685800" y="1143000"/>
            <a:ext cx="5486040" cy="3085920"/>
          </a:xfrm>
          <a:prstGeom prst="rect">
            <a:avLst/>
          </a:prstGeom>
          <a:ln w="0">
            <a:noFill/>
          </a:ln>
        </p:spPr>
      </p:sp>
      <p:sp>
        <p:nvSpPr>
          <p:cNvPr id="10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9186B5-127A-45DF-B236-87D13297B97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1" name="PlaceHolder 1"/>
          <p:cNvSpPr>
            <a:spLocks noGrp="1"/>
          </p:cNvSpPr>
          <p:nvPr>
            <p:ph type="sldImg"/>
          </p:nvPr>
        </p:nvSpPr>
        <p:spPr>
          <a:xfrm>
            <a:off x="685800" y="1143000"/>
            <a:ext cx="5486040" cy="3085920"/>
          </a:xfrm>
          <a:prstGeom prst="rect">
            <a:avLst/>
          </a:prstGeom>
          <a:ln w="0">
            <a:noFill/>
          </a:ln>
        </p:spPr>
      </p:sp>
      <p:sp>
        <p:nvSpPr>
          <p:cNvPr id="10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D4CD904-B0B0-4D40-AC58-A2D62B7CEA3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 name="PlaceHolder 1"/>
          <p:cNvSpPr>
            <a:spLocks noGrp="1"/>
          </p:cNvSpPr>
          <p:nvPr>
            <p:ph type="sldImg"/>
          </p:nvPr>
        </p:nvSpPr>
        <p:spPr>
          <a:xfrm>
            <a:off x="685800" y="1143000"/>
            <a:ext cx="5486040" cy="3085920"/>
          </a:xfrm>
          <a:prstGeom prst="rect">
            <a:avLst/>
          </a:prstGeom>
          <a:ln w="0">
            <a:noFill/>
          </a:ln>
        </p:spPr>
      </p:sp>
      <p:sp>
        <p:nvSpPr>
          <p:cNvPr id="10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DDB9495-10E8-45E1-A5D9-EBA2B8130E1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 name="PlaceHolder 1"/>
          <p:cNvSpPr>
            <a:spLocks noGrp="1"/>
          </p:cNvSpPr>
          <p:nvPr>
            <p:ph type="sldImg"/>
          </p:nvPr>
        </p:nvSpPr>
        <p:spPr>
          <a:xfrm>
            <a:off x="685800" y="1143000"/>
            <a:ext cx="5486040" cy="3085920"/>
          </a:xfrm>
          <a:prstGeom prst="rect">
            <a:avLst/>
          </a:prstGeom>
          <a:ln w="0">
            <a:noFill/>
          </a:ln>
        </p:spPr>
      </p:sp>
      <p:sp>
        <p:nvSpPr>
          <p:cNvPr id="10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699D5B-A081-4B64-AE93-196587C1971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 name="PlaceHolder 1"/>
          <p:cNvSpPr>
            <a:spLocks noGrp="1"/>
          </p:cNvSpPr>
          <p:nvPr>
            <p:ph type="sldImg"/>
          </p:nvPr>
        </p:nvSpPr>
        <p:spPr>
          <a:xfrm>
            <a:off x="685800" y="1143000"/>
            <a:ext cx="5486040" cy="3085920"/>
          </a:xfrm>
          <a:prstGeom prst="rect">
            <a:avLst/>
          </a:prstGeom>
          <a:ln w="0">
            <a:noFill/>
          </a:ln>
        </p:spPr>
      </p:sp>
      <p:sp>
        <p:nvSpPr>
          <p:cNvPr id="10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E2777C-2A04-4D26-B700-830C8106289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 name="PlaceHolder 1"/>
          <p:cNvSpPr>
            <a:spLocks noGrp="1"/>
          </p:cNvSpPr>
          <p:nvPr>
            <p:ph type="sldImg"/>
          </p:nvPr>
        </p:nvSpPr>
        <p:spPr>
          <a:xfrm>
            <a:off x="685800" y="1143000"/>
            <a:ext cx="5486040" cy="3085920"/>
          </a:xfrm>
          <a:prstGeom prst="rect">
            <a:avLst/>
          </a:prstGeom>
          <a:ln w="0">
            <a:noFill/>
          </a:ln>
        </p:spPr>
      </p:sp>
      <p:sp>
        <p:nvSpPr>
          <p:cNvPr id="10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E08395-781F-4F7B-9BDC-8F3375FF161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 name="PlaceHolder 1"/>
          <p:cNvSpPr>
            <a:spLocks noGrp="1"/>
          </p:cNvSpPr>
          <p:nvPr>
            <p:ph type="sldImg"/>
          </p:nvPr>
        </p:nvSpPr>
        <p:spPr>
          <a:xfrm>
            <a:off x="685800" y="1143000"/>
            <a:ext cx="5486040" cy="3085920"/>
          </a:xfrm>
          <a:prstGeom prst="rect">
            <a:avLst/>
          </a:prstGeom>
          <a:ln w="0">
            <a:noFill/>
          </a:ln>
        </p:spPr>
      </p:sp>
      <p:sp>
        <p:nvSpPr>
          <p:cNvPr id="10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60368B-1B52-403B-9791-8612886C9D0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 name="PlaceHolder 1"/>
          <p:cNvSpPr>
            <a:spLocks noGrp="1"/>
          </p:cNvSpPr>
          <p:nvPr>
            <p:ph type="sldImg"/>
          </p:nvPr>
        </p:nvSpPr>
        <p:spPr>
          <a:xfrm>
            <a:off x="685800" y="1143000"/>
            <a:ext cx="5486040" cy="3085920"/>
          </a:xfrm>
          <a:prstGeom prst="rect">
            <a:avLst/>
          </a:prstGeom>
          <a:ln w="0">
            <a:noFill/>
          </a:ln>
        </p:spPr>
      </p:sp>
      <p:sp>
        <p:nvSpPr>
          <p:cNvPr id="10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1"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D04660-A2DE-4839-A30A-B487DAD0336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2" name="PlaceHolder 1"/>
          <p:cNvSpPr>
            <a:spLocks noGrp="1"/>
          </p:cNvSpPr>
          <p:nvPr>
            <p:ph type="sldImg"/>
          </p:nvPr>
        </p:nvSpPr>
        <p:spPr>
          <a:xfrm>
            <a:off x="685800" y="1143000"/>
            <a:ext cx="5486040" cy="3085920"/>
          </a:xfrm>
          <a:prstGeom prst="rect">
            <a:avLst/>
          </a:prstGeom>
          <a:ln w="0">
            <a:noFill/>
          </a:ln>
        </p:spPr>
      </p:sp>
      <p:sp>
        <p:nvSpPr>
          <p:cNvPr id="10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4"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6280F7B-B272-4835-99FC-A71A9F67470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5" name="PlaceHolder 1"/>
          <p:cNvSpPr>
            <a:spLocks noGrp="1"/>
          </p:cNvSpPr>
          <p:nvPr>
            <p:ph type="sldImg"/>
          </p:nvPr>
        </p:nvSpPr>
        <p:spPr>
          <a:xfrm>
            <a:off x="685800" y="1143000"/>
            <a:ext cx="5486040" cy="3085920"/>
          </a:xfrm>
          <a:prstGeom prst="rect">
            <a:avLst/>
          </a:prstGeom>
          <a:ln w="0">
            <a:noFill/>
          </a:ln>
        </p:spPr>
      </p:sp>
      <p:sp>
        <p:nvSpPr>
          <p:cNvPr id="10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7"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EDD946-C7DA-4AE7-A5E9-C6233EEF508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8" name="PlaceHolder 1"/>
          <p:cNvSpPr>
            <a:spLocks noGrp="1"/>
          </p:cNvSpPr>
          <p:nvPr>
            <p:ph type="sldImg"/>
          </p:nvPr>
        </p:nvSpPr>
        <p:spPr>
          <a:xfrm>
            <a:off x="685800" y="1143000"/>
            <a:ext cx="5486040" cy="3085920"/>
          </a:xfrm>
          <a:prstGeom prst="rect">
            <a:avLst/>
          </a:prstGeom>
          <a:ln w="0">
            <a:noFill/>
          </a:ln>
        </p:spPr>
      </p:sp>
      <p:sp>
        <p:nvSpPr>
          <p:cNvPr id="10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0B650D-1A80-4F4A-9F37-46651DC0FB4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 name="PlaceHolder 1"/>
          <p:cNvSpPr>
            <a:spLocks noGrp="1"/>
          </p:cNvSpPr>
          <p:nvPr>
            <p:ph type="sldImg"/>
          </p:nvPr>
        </p:nvSpPr>
        <p:spPr>
          <a:xfrm>
            <a:off x="685800" y="1143000"/>
            <a:ext cx="5486040" cy="3085920"/>
          </a:xfrm>
          <a:prstGeom prst="rect">
            <a:avLst/>
          </a:prstGeom>
          <a:ln w="0">
            <a:noFill/>
          </a:ln>
        </p:spPr>
      </p:sp>
      <p:sp>
        <p:nvSpPr>
          <p:cNvPr id="10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3FA5D9-8BDA-465E-AA50-8AEF45CC593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4" name="PlaceHolder 1"/>
          <p:cNvSpPr>
            <a:spLocks noGrp="1"/>
          </p:cNvSpPr>
          <p:nvPr>
            <p:ph type="sldImg"/>
          </p:nvPr>
        </p:nvSpPr>
        <p:spPr>
          <a:xfrm>
            <a:off x="685800" y="1143000"/>
            <a:ext cx="5486040" cy="3085920"/>
          </a:xfrm>
          <a:prstGeom prst="rect">
            <a:avLst/>
          </a:prstGeom>
          <a:ln w="0">
            <a:noFill/>
          </a:ln>
        </p:spPr>
      </p:sp>
      <p:sp>
        <p:nvSpPr>
          <p:cNvPr id="10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EA1740-8CAA-442A-ACC4-AC4A2561A17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7" name="PlaceHolder 1"/>
          <p:cNvSpPr>
            <a:spLocks noGrp="1"/>
          </p:cNvSpPr>
          <p:nvPr>
            <p:ph type="sldImg"/>
          </p:nvPr>
        </p:nvSpPr>
        <p:spPr>
          <a:xfrm>
            <a:off x="685800" y="1143000"/>
            <a:ext cx="5486040" cy="3085920"/>
          </a:xfrm>
          <a:prstGeom prst="rect">
            <a:avLst/>
          </a:prstGeom>
          <a:ln w="0">
            <a:noFill/>
          </a:ln>
        </p:spPr>
      </p:sp>
      <p:sp>
        <p:nvSpPr>
          <p:cNvPr id="10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0F9F93-ADFE-46CC-A6FD-BAE53A2688E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0" name="PlaceHolder 1"/>
          <p:cNvSpPr>
            <a:spLocks noGrp="1"/>
          </p:cNvSpPr>
          <p:nvPr>
            <p:ph type="sldImg"/>
          </p:nvPr>
        </p:nvSpPr>
        <p:spPr>
          <a:xfrm>
            <a:off x="685800" y="1143000"/>
            <a:ext cx="5486040" cy="3085920"/>
          </a:xfrm>
          <a:prstGeom prst="rect">
            <a:avLst/>
          </a:prstGeom>
          <a:ln w="0">
            <a:noFill/>
          </a:ln>
        </p:spPr>
      </p:sp>
      <p:sp>
        <p:nvSpPr>
          <p:cNvPr id="10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2ECF67-FFC8-49DE-950C-0F48D4A6740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PlaceHolder 1"/>
          <p:cNvSpPr>
            <a:spLocks noGrp="1"/>
          </p:cNvSpPr>
          <p:nvPr>
            <p:ph type="sldImg"/>
          </p:nvPr>
        </p:nvSpPr>
        <p:spPr>
          <a:xfrm>
            <a:off x="685800" y="1143000"/>
            <a:ext cx="5486040" cy="3085920"/>
          </a:xfrm>
          <a:prstGeom prst="rect">
            <a:avLst/>
          </a:prstGeom>
          <a:ln w="0">
            <a:noFill/>
          </a:ln>
        </p:spPr>
      </p:sp>
      <p:sp>
        <p:nvSpPr>
          <p:cNvPr id="10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BEB8E37-85F4-45A6-9448-AA5213CA3BD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6" name="PlaceHolder 1"/>
          <p:cNvSpPr>
            <a:spLocks noGrp="1"/>
          </p:cNvSpPr>
          <p:nvPr>
            <p:ph type="sldImg"/>
          </p:nvPr>
        </p:nvSpPr>
        <p:spPr>
          <a:xfrm>
            <a:off x="685800" y="1143000"/>
            <a:ext cx="5486040" cy="3085920"/>
          </a:xfrm>
          <a:prstGeom prst="rect">
            <a:avLst/>
          </a:prstGeom>
          <a:ln w="0">
            <a:noFill/>
          </a:ln>
        </p:spPr>
      </p:sp>
      <p:sp>
        <p:nvSpPr>
          <p:cNvPr id="10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8"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C05BB2-1EF5-466D-9634-EECD354C3A2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 name="PlaceHolder 1"/>
          <p:cNvSpPr>
            <a:spLocks noGrp="1"/>
          </p:cNvSpPr>
          <p:nvPr>
            <p:ph type="sldImg"/>
          </p:nvPr>
        </p:nvSpPr>
        <p:spPr>
          <a:xfrm>
            <a:off x="685800" y="1143000"/>
            <a:ext cx="5486040" cy="3085920"/>
          </a:xfrm>
          <a:prstGeom prst="rect">
            <a:avLst/>
          </a:prstGeom>
          <a:ln w="0">
            <a:noFill/>
          </a:ln>
        </p:spPr>
      </p:sp>
      <p:sp>
        <p:nvSpPr>
          <p:cNvPr id="10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EDCE95-DD54-4EEB-BDB6-811539FD456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2" name="PlaceHolder 1"/>
          <p:cNvSpPr>
            <a:spLocks noGrp="1"/>
          </p:cNvSpPr>
          <p:nvPr>
            <p:ph type="sldImg"/>
          </p:nvPr>
        </p:nvSpPr>
        <p:spPr>
          <a:xfrm>
            <a:off x="685800" y="1143000"/>
            <a:ext cx="5486040" cy="3085920"/>
          </a:xfrm>
          <a:prstGeom prst="rect">
            <a:avLst/>
          </a:prstGeom>
          <a:ln w="0">
            <a:noFill/>
          </a:ln>
        </p:spPr>
      </p:sp>
      <p:sp>
        <p:nvSpPr>
          <p:cNvPr id="10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124822-B3C6-4F15-9A30-D1EA5679880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 name="PlaceHolder 1"/>
          <p:cNvSpPr>
            <a:spLocks noGrp="1"/>
          </p:cNvSpPr>
          <p:nvPr>
            <p:ph type="sldImg"/>
          </p:nvPr>
        </p:nvSpPr>
        <p:spPr>
          <a:xfrm>
            <a:off x="685800" y="1143000"/>
            <a:ext cx="5486040" cy="3085920"/>
          </a:xfrm>
          <a:prstGeom prst="rect">
            <a:avLst/>
          </a:prstGeom>
          <a:ln w="0">
            <a:noFill/>
          </a:ln>
        </p:spPr>
      </p:sp>
      <p:sp>
        <p:nvSpPr>
          <p:cNvPr id="10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7"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CEDE58C-2989-4DCD-9654-B0296F0CA96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8" name="PlaceHolder 1"/>
          <p:cNvSpPr>
            <a:spLocks noGrp="1"/>
          </p:cNvSpPr>
          <p:nvPr>
            <p:ph type="sldImg"/>
          </p:nvPr>
        </p:nvSpPr>
        <p:spPr>
          <a:xfrm>
            <a:off x="685800" y="1143000"/>
            <a:ext cx="5486040" cy="3085920"/>
          </a:xfrm>
          <a:prstGeom prst="rect">
            <a:avLst/>
          </a:prstGeom>
          <a:ln w="0">
            <a:noFill/>
          </a:ln>
        </p:spPr>
      </p:sp>
      <p:sp>
        <p:nvSpPr>
          <p:cNvPr id="10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0"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60E45A-9E3A-4B86-8D89-7F54F93E546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 name="PlaceHolder 1"/>
          <p:cNvSpPr>
            <a:spLocks noGrp="1"/>
          </p:cNvSpPr>
          <p:nvPr>
            <p:ph type="sldImg"/>
          </p:nvPr>
        </p:nvSpPr>
        <p:spPr>
          <a:xfrm>
            <a:off x="685800" y="1143000"/>
            <a:ext cx="5486040" cy="3085920"/>
          </a:xfrm>
          <a:prstGeom prst="rect">
            <a:avLst/>
          </a:prstGeom>
          <a:ln w="0">
            <a:noFill/>
          </a:ln>
        </p:spPr>
      </p:sp>
      <p:sp>
        <p:nvSpPr>
          <p:cNvPr id="10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3"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4237E0-51A0-472A-AAEF-CD582D1E478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4" name="PlaceHolder 1"/>
          <p:cNvSpPr>
            <a:spLocks noGrp="1"/>
          </p:cNvSpPr>
          <p:nvPr>
            <p:ph type="sldImg"/>
          </p:nvPr>
        </p:nvSpPr>
        <p:spPr>
          <a:xfrm>
            <a:off x="685800" y="1143000"/>
            <a:ext cx="5486040" cy="3085920"/>
          </a:xfrm>
          <a:prstGeom prst="rect">
            <a:avLst/>
          </a:prstGeom>
          <a:ln w="0">
            <a:noFill/>
          </a:ln>
        </p:spPr>
      </p:sp>
      <p:sp>
        <p:nvSpPr>
          <p:cNvPr id="10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6"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A98687-15F3-49F0-A37A-F0D2D4FA2E2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 name="PlaceHolder 1"/>
          <p:cNvSpPr>
            <a:spLocks noGrp="1"/>
          </p:cNvSpPr>
          <p:nvPr>
            <p:ph type="sldImg"/>
          </p:nvPr>
        </p:nvSpPr>
        <p:spPr>
          <a:xfrm>
            <a:off x="685800" y="1143000"/>
            <a:ext cx="5486040" cy="3085920"/>
          </a:xfrm>
          <a:prstGeom prst="rect">
            <a:avLst/>
          </a:prstGeom>
          <a:ln w="0">
            <a:noFill/>
          </a:ln>
        </p:spPr>
      </p:sp>
      <p:sp>
        <p:nvSpPr>
          <p:cNvPr id="10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9"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0A1BEC-4743-4864-BE2B-9FB95142716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0" name="PlaceHolder 1"/>
          <p:cNvSpPr>
            <a:spLocks noGrp="1"/>
          </p:cNvSpPr>
          <p:nvPr>
            <p:ph type="sldImg"/>
          </p:nvPr>
        </p:nvSpPr>
        <p:spPr>
          <a:xfrm>
            <a:off x="685800" y="1143000"/>
            <a:ext cx="5486040" cy="3085920"/>
          </a:xfrm>
          <a:prstGeom prst="rect">
            <a:avLst/>
          </a:prstGeom>
          <a:ln w="0">
            <a:noFill/>
          </a:ln>
        </p:spPr>
      </p:sp>
      <p:sp>
        <p:nvSpPr>
          <p:cNvPr id="11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2"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B53639-017C-4B1E-B337-54500CEBF7D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 name="PlaceHolder 1"/>
          <p:cNvSpPr>
            <a:spLocks noGrp="1"/>
          </p:cNvSpPr>
          <p:nvPr>
            <p:ph type="sldImg"/>
          </p:nvPr>
        </p:nvSpPr>
        <p:spPr>
          <a:xfrm>
            <a:off x="685800" y="1143000"/>
            <a:ext cx="5486040" cy="3085920"/>
          </a:xfrm>
          <a:prstGeom prst="rect">
            <a:avLst/>
          </a:prstGeom>
          <a:ln w="0">
            <a:noFill/>
          </a:ln>
        </p:spPr>
      </p:sp>
      <p:sp>
        <p:nvSpPr>
          <p:cNvPr id="11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5"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0D9E6A-0AD8-4144-8AF0-2F184C39BD2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 name="PlaceHolder 1"/>
          <p:cNvSpPr>
            <a:spLocks noGrp="1"/>
          </p:cNvSpPr>
          <p:nvPr>
            <p:ph type="sldImg"/>
          </p:nvPr>
        </p:nvSpPr>
        <p:spPr>
          <a:xfrm>
            <a:off x="685800" y="1143000"/>
            <a:ext cx="5486040" cy="3085920"/>
          </a:xfrm>
          <a:prstGeom prst="rect">
            <a:avLst/>
          </a:prstGeom>
          <a:ln w="0">
            <a:noFill/>
          </a:ln>
        </p:spPr>
      </p:sp>
      <p:sp>
        <p:nvSpPr>
          <p:cNvPr id="11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8"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65F1D2-6983-4EA0-BDE4-8C4281AEF37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PlaceHolder 1"/>
          <p:cNvSpPr>
            <a:spLocks noGrp="1"/>
          </p:cNvSpPr>
          <p:nvPr>
            <p:ph type="sldImg"/>
          </p:nvPr>
        </p:nvSpPr>
        <p:spPr>
          <a:xfrm>
            <a:off x="685800" y="1143000"/>
            <a:ext cx="5486040" cy="3085920"/>
          </a:xfrm>
          <a:prstGeom prst="rect">
            <a:avLst/>
          </a:prstGeom>
          <a:ln w="0">
            <a:noFill/>
          </a:ln>
        </p:spPr>
      </p:sp>
      <p:sp>
        <p:nvSpPr>
          <p:cNvPr id="11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1"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9F0110-6F8E-4AD8-BE5B-323AF408FB1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 name="PlaceHolder 1"/>
          <p:cNvSpPr>
            <a:spLocks noGrp="1"/>
          </p:cNvSpPr>
          <p:nvPr>
            <p:ph type="sldImg"/>
          </p:nvPr>
        </p:nvSpPr>
        <p:spPr>
          <a:xfrm>
            <a:off x="685800" y="1143000"/>
            <a:ext cx="5486040" cy="3085920"/>
          </a:xfrm>
          <a:prstGeom prst="rect">
            <a:avLst/>
          </a:prstGeom>
          <a:ln w="0">
            <a:noFill/>
          </a:ln>
        </p:spPr>
      </p:sp>
      <p:sp>
        <p:nvSpPr>
          <p:cNvPr id="11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4"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F917C61-CB60-4E86-B43F-A223D916047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 name="PlaceHolder 1"/>
          <p:cNvSpPr>
            <a:spLocks noGrp="1"/>
          </p:cNvSpPr>
          <p:nvPr>
            <p:ph type="sldImg"/>
          </p:nvPr>
        </p:nvSpPr>
        <p:spPr>
          <a:xfrm>
            <a:off x="685800" y="1143000"/>
            <a:ext cx="5486040" cy="3085920"/>
          </a:xfrm>
          <a:prstGeom prst="rect">
            <a:avLst/>
          </a:prstGeom>
          <a:ln w="0">
            <a:noFill/>
          </a:ln>
        </p:spPr>
      </p:sp>
      <p:sp>
        <p:nvSpPr>
          <p:cNvPr id="11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7"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3F41F9-4E9A-406D-9C18-3A9A0567071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 name="PlaceHolder 1"/>
          <p:cNvSpPr>
            <a:spLocks noGrp="1"/>
          </p:cNvSpPr>
          <p:nvPr>
            <p:ph type="sldImg"/>
          </p:nvPr>
        </p:nvSpPr>
        <p:spPr>
          <a:xfrm>
            <a:off x="685800" y="1143000"/>
            <a:ext cx="5486040" cy="3085920"/>
          </a:xfrm>
          <a:prstGeom prst="rect">
            <a:avLst/>
          </a:prstGeom>
          <a:ln w="0">
            <a:noFill/>
          </a:ln>
        </p:spPr>
      </p:sp>
      <p:sp>
        <p:nvSpPr>
          <p:cNvPr id="11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0"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DC752C-8B9B-4FAF-B928-B914AFA4C09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 name="PlaceHolder 1"/>
          <p:cNvSpPr>
            <a:spLocks noGrp="1"/>
          </p:cNvSpPr>
          <p:nvPr>
            <p:ph type="sldImg"/>
          </p:nvPr>
        </p:nvSpPr>
        <p:spPr>
          <a:xfrm>
            <a:off x="685800" y="1143000"/>
            <a:ext cx="5486040" cy="3085920"/>
          </a:xfrm>
          <a:prstGeom prst="rect">
            <a:avLst/>
          </a:prstGeom>
          <a:ln w="0">
            <a:noFill/>
          </a:ln>
        </p:spPr>
      </p:sp>
      <p:sp>
        <p:nvSpPr>
          <p:cNvPr id="11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3"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BAEDD3-723B-4339-9C68-0202259B3ED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 name="PlaceHolder 1"/>
          <p:cNvSpPr>
            <a:spLocks noGrp="1"/>
          </p:cNvSpPr>
          <p:nvPr>
            <p:ph type="sldImg"/>
          </p:nvPr>
        </p:nvSpPr>
        <p:spPr>
          <a:xfrm>
            <a:off x="685800" y="1143000"/>
            <a:ext cx="5486040" cy="3085920"/>
          </a:xfrm>
          <a:prstGeom prst="rect">
            <a:avLst/>
          </a:prstGeom>
          <a:ln w="0">
            <a:noFill/>
          </a:ln>
        </p:spPr>
      </p:sp>
      <p:sp>
        <p:nvSpPr>
          <p:cNvPr id="11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6"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EAA846-0489-4BF6-881B-A53B9D1D10C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7" name="PlaceHolder 1"/>
          <p:cNvSpPr>
            <a:spLocks noGrp="1"/>
          </p:cNvSpPr>
          <p:nvPr>
            <p:ph type="sldImg"/>
          </p:nvPr>
        </p:nvSpPr>
        <p:spPr>
          <a:xfrm>
            <a:off x="685800" y="1143000"/>
            <a:ext cx="5486040" cy="3085920"/>
          </a:xfrm>
          <a:prstGeom prst="rect">
            <a:avLst/>
          </a:prstGeom>
          <a:ln w="0">
            <a:noFill/>
          </a:ln>
        </p:spPr>
      </p:sp>
      <p:sp>
        <p:nvSpPr>
          <p:cNvPr id="11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9"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E5ECEA-5348-4AF3-9E54-792C88A4251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PlaceHolder 1"/>
          <p:cNvSpPr>
            <a:spLocks noGrp="1"/>
          </p:cNvSpPr>
          <p:nvPr>
            <p:ph type="sldImg"/>
          </p:nvPr>
        </p:nvSpPr>
        <p:spPr>
          <a:xfrm>
            <a:off x="685800" y="1143000"/>
            <a:ext cx="5486040" cy="3085920"/>
          </a:xfrm>
          <a:prstGeom prst="rect">
            <a:avLst/>
          </a:prstGeom>
          <a:ln w="0">
            <a:noFill/>
          </a:ln>
        </p:spPr>
      </p:sp>
      <p:sp>
        <p:nvSpPr>
          <p:cNvPr id="11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32"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B737525-987B-452A-BC63-285F5C3E064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0" name="Shape 0"/>
          <p:cNvSpPr/>
          <p:nvPr/>
        </p:nvSpPr>
        <p:spPr>
          <a:xfrm>
            <a:off x="8778240" y="-2194560"/>
            <a:ext cx="5486040" cy="548604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2011680" y="4206240"/>
            <a:ext cx="4205880" cy="420588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Shape 2"/>
          <p:cNvSpPr/>
          <p:nvPr/>
        </p:nvSpPr>
        <p:spPr>
          <a:xfrm>
            <a:off x="5943600" y="5212080"/>
            <a:ext cx="1462680" cy="1462680"/>
          </a:xfrm>
          <a:prstGeom prst="ellipse">
            <a:avLst/>
          </a:prstGeom>
          <a:solidFill>
            <a:srgbClr val="4C112D">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 name="Image 0" descr="/home/claude/numpy_deck/assets/logo_full.png"/>
          <p:cNvPicPr/>
          <p:nvPr/>
        </p:nvPicPr>
        <p:blipFill>
          <a:blip r:embed="rId1"/>
          <a:stretch/>
        </p:blipFill>
        <p:spPr>
          <a:xfrm>
            <a:off x="685800" y="502920"/>
            <a:ext cx="2651400" cy="861840"/>
          </a:xfrm>
          <a:prstGeom prst="rect">
            <a:avLst/>
          </a:prstGeom>
          <a:noFill/>
          <a:ln w="0">
            <a:noFill/>
          </a:ln>
        </p:spPr>
      </p:pic>
      <p:sp>
        <p:nvSpPr>
          <p:cNvPr id="14" name="Shape 4"/>
          <p:cNvSpPr/>
          <p:nvPr/>
        </p:nvSpPr>
        <p:spPr>
          <a:xfrm>
            <a:off x="713160" y="2331720"/>
            <a:ext cx="3748680" cy="292320"/>
          </a:xfrm>
          <a:prstGeom prst="roundRect">
            <a:avLst>
              <a:gd name="adj" fmla="val 50000"/>
            </a:avLst>
          </a:prstGeom>
          <a:solidFill>
            <a:srgbClr val="26275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Text 5"/>
          <p:cNvSpPr/>
          <p:nvPr/>
        </p:nvSpPr>
        <p:spPr>
          <a:xfrm>
            <a:off x="713160" y="2331720"/>
            <a:ext cx="374868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E0E7FF"/>
                </a:solidFill>
                <a:effectLst/>
                <a:uFillTx/>
                <a:latin typeface="Plus Jakarta Sans"/>
                <a:ea typeface="Plus Jakarta Sans"/>
              </a:rPr>
              <a:t>AI &amp; ML PLAYGROUND  ·  MODULE 04</a:t>
            </a:r>
            <a:endParaRPr lang="en-US" sz="1100" b="0" u="none" strike="noStrike">
              <a:solidFill>
                <a:srgbClr val="FFFFFF"/>
              </a:solidFill>
              <a:effectLst/>
              <a:uFillTx/>
              <a:latin typeface="Arial"/>
            </a:endParaRPr>
          </a:p>
        </p:txBody>
      </p:sp>
      <p:sp>
        <p:nvSpPr>
          <p:cNvPr id="16" name="Text 6"/>
          <p:cNvSpPr/>
          <p:nvPr/>
        </p:nvSpPr>
        <p:spPr>
          <a:xfrm>
            <a:off x="658440" y="2788920"/>
            <a:ext cx="9600840" cy="1462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6400" b="1" u="none" spc="-99" strike="noStrike">
                <a:solidFill>
                  <a:srgbClr val="F1F5F9"/>
                </a:solidFill>
                <a:effectLst/>
                <a:uFillTx/>
                <a:latin typeface="Bricolage Grotesque"/>
                <a:ea typeface="Bricolage Grotesque"/>
              </a:rPr>
              <a:t>NumPy</a:t>
            </a:r>
            <a:endParaRPr lang="en-US" sz="6400" b="0" u="none" strike="noStrike">
              <a:solidFill>
                <a:srgbClr val="FFFFFF"/>
              </a:solidFill>
              <a:effectLst/>
              <a:uFillTx/>
              <a:latin typeface="Arial"/>
            </a:endParaRPr>
          </a:p>
        </p:txBody>
      </p:sp>
      <p:sp>
        <p:nvSpPr>
          <p:cNvPr id="17" name="Text 7"/>
          <p:cNvSpPr/>
          <p:nvPr/>
        </p:nvSpPr>
        <p:spPr>
          <a:xfrm>
            <a:off x="713160" y="4160520"/>
            <a:ext cx="8412120" cy="639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94A3B8"/>
                </a:solidFill>
                <a:effectLst/>
                <a:uFillTx/>
                <a:latin typeface="Hanken Grotesk"/>
                <a:ea typeface="Hanken Grotesk"/>
              </a:rPr>
              <a:t>Numerical computing in Python — the array engine every Data Science and ML tool is built on.</a:t>
            </a:r>
            <a:endParaRPr lang="en-US" sz="1600" b="0" u="none" strike="noStrike">
              <a:solidFill>
                <a:srgbClr val="FFFFFF"/>
              </a:solidFill>
              <a:effectLst/>
              <a:uFillTx/>
              <a:latin typeface="Arial"/>
            </a:endParaRPr>
          </a:p>
        </p:txBody>
      </p:sp>
      <p:sp>
        <p:nvSpPr>
          <p:cNvPr id="18" name="Shape 8"/>
          <p:cNvSpPr/>
          <p:nvPr/>
        </p:nvSpPr>
        <p:spPr>
          <a:xfrm>
            <a:off x="713160" y="5074920"/>
            <a:ext cx="2926080" cy="360"/>
          </a:xfrm>
          <a:prstGeom prst="line">
            <a:avLst/>
          </a:prstGeom>
          <a:ln w="12700">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9" name="Text 9"/>
          <p:cNvSpPr/>
          <p:nvPr/>
        </p:nvSpPr>
        <p:spPr>
          <a:xfrm>
            <a:off x="713160" y="5166360"/>
            <a:ext cx="45716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2DD4BF"/>
                </a:solidFill>
                <a:effectLst/>
                <a:uFillTx/>
                <a:latin typeface="Plus Jakarta Sans"/>
                <a:ea typeface="Plus Jakarta Sans"/>
              </a:rPr>
              <a:t>by CodeByPaxto</a:t>
            </a:r>
            <a:endParaRPr lang="en-US" sz="1300" b="0" u="none" strike="noStrike">
              <a:solidFill>
                <a:srgbClr val="FFFFFF"/>
              </a:solidFill>
              <a:effectLst/>
              <a:uFillTx/>
              <a:latin typeface="Arial"/>
            </a:endParaRPr>
          </a:p>
        </p:txBody>
      </p:sp>
      <p:sp>
        <p:nvSpPr>
          <p:cNvPr id="20"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pic>
        <p:nvPicPr>
          <p:cNvPr id="21" name="Image 0" descr="/home/claude/numpy_deck/assets/logo_icon.png"/>
          <p:cNvPicPr/>
          <p:nvPr/>
        </p:nvPicPr>
        <p:blipFill>
          <a:blip r:embed="rId1"/>
          <a:stretch/>
        </p:blipFill>
        <p:spPr>
          <a:xfrm>
            <a:off x="640080" y="502920"/>
            <a:ext cx="402120" cy="482400"/>
          </a:xfrm>
          <a:prstGeom prst="rect">
            <a:avLst/>
          </a:prstGeom>
          <a:noFill/>
          <a:ln w="0">
            <a:noFill/>
          </a:ln>
        </p:spPr>
      </p:pic>
      <p:sp>
        <p:nvSpPr>
          <p:cNvPr id="22" name="Text 0"/>
          <p:cNvSpPr/>
          <p:nvPr/>
        </p:nvSpPr>
        <p:spPr>
          <a:xfrm>
            <a:off x="640080" y="1188720"/>
            <a:ext cx="54860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2DD4BF"/>
                </a:solidFill>
                <a:effectLst/>
                <a:uFillTx/>
                <a:latin typeface="Plus Jakarta Sans"/>
                <a:ea typeface="Plus Jakarta Sans"/>
              </a:rPr>
              <a:t>WHERE THIS FITS</a:t>
            </a:r>
            <a:endParaRPr lang="en-US" sz="1200" b="0" u="none" strike="noStrike">
              <a:solidFill>
                <a:srgbClr val="FFFFFF"/>
              </a:solidFill>
              <a:effectLst/>
              <a:uFillTx/>
              <a:latin typeface="Arial"/>
            </a:endParaRPr>
          </a:p>
        </p:txBody>
      </p:sp>
      <p:sp>
        <p:nvSpPr>
          <p:cNvPr id="23" name="Text 1"/>
          <p:cNvSpPr/>
          <p:nvPr/>
        </p:nvSpPr>
        <p:spPr>
          <a:xfrm>
            <a:off x="640080" y="1536120"/>
            <a:ext cx="10058040" cy="639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1F5F9"/>
                </a:solidFill>
                <a:effectLst/>
                <a:uFillTx/>
                <a:latin typeface="Bricolage Grotesque"/>
                <a:ea typeface="Bricolage Grotesque"/>
              </a:rPr>
              <a:t>The AI &amp; ML Playground Roadmap</a:t>
            </a:r>
            <a:endParaRPr lang="en-US" sz="3000" b="0" u="none" strike="noStrike">
              <a:solidFill>
                <a:srgbClr val="FFFFFF"/>
              </a:solidFill>
              <a:effectLst/>
              <a:uFillTx/>
              <a:latin typeface="Arial"/>
            </a:endParaRPr>
          </a:p>
        </p:txBody>
      </p:sp>
      <p:sp>
        <p:nvSpPr>
          <p:cNvPr id="24" name="Shape 2"/>
          <p:cNvSpPr/>
          <p:nvPr/>
        </p:nvSpPr>
        <p:spPr>
          <a:xfrm>
            <a:off x="64008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 name="Text 3"/>
          <p:cNvSpPr/>
          <p:nvPr/>
        </p:nvSpPr>
        <p:spPr>
          <a:xfrm>
            <a:off x="68580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Python</a:t>
            </a:r>
            <a:endParaRPr lang="en-US" sz="950" b="0" u="none" strike="noStrike">
              <a:solidFill>
                <a:srgbClr val="FFFFFF"/>
              </a:solidFill>
              <a:effectLst/>
              <a:uFillTx/>
              <a:latin typeface="Arial"/>
            </a:endParaRPr>
          </a:p>
        </p:txBody>
      </p:sp>
      <p:sp>
        <p:nvSpPr>
          <p:cNvPr id="26" name="Text 4"/>
          <p:cNvSpPr/>
          <p:nvPr/>
        </p:nvSpPr>
        <p:spPr>
          <a:xfrm>
            <a:off x="173520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27" name="Shape 5"/>
          <p:cNvSpPr/>
          <p:nvPr/>
        </p:nvSpPr>
        <p:spPr>
          <a:xfrm>
            <a:off x="186336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Text 6"/>
          <p:cNvSpPr/>
          <p:nvPr/>
        </p:nvSpPr>
        <p:spPr>
          <a:xfrm>
            <a:off x="190908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Math for DS</a:t>
            </a:r>
            <a:endParaRPr lang="en-US" sz="950" b="0" u="none" strike="noStrike">
              <a:solidFill>
                <a:srgbClr val="FFFFFF"/>
              </a:solidFill>
              <a:effectLst/>
              <a:uFillTx/>
              <a:latin typeface="Arial"/>
            </a:endParaRPr>
          </a:p>
        </p:txBody>
      </p:sp>
      <p:sp>
        <p:nvSpPr>
          <p:cNvPr id="29" name="Text 7"/>
          <p:cNvSpPr/>
          <p:nvPr/>
        </p:nvSpPr>
        <p:spPr>
          <a:xfrm>
            <a:off x="295848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0" name="Shape 8"/>
          <p:cNvSpPr/>
          <p:nvPr/>
        </p:nvSpPr>
        <p:spPr>
          <a:xfrm>
            <a:off x="308664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 name="Text 9"/>
          <p:cNvSpPr/>
          <p:nvPr/>
        </p:nvSpPr>
        <p:spPr>
          <a:xfrm>
            <a:off x="313236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Git &amp; GitHub</a:t>
            </a:r>
            <a:endParaRPr lang="en-US" sz="950" b="0" u="none" strike="noStrike">
              <a:solidFill>
                <a:srgbClr val="FFFFFF"/>
              </a:solidFill>
              <a:effectLst/>
              <a:uFillTx/>
              <a:latin typeface="Arial"/>
            </a:endParaRPr>
          </a:p>
        </p:txBody>
      </p:sp>
      <p:sp>
        <p:nvSpPr>
          <p:cNvPr id="32" name="Text 10"/>
          <p:cNvSpPr/>
          <p:nvPr/>
        </p:nvSpPr>
        <p:spPr>
          <a:xfrm>
            <a:off x="418176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3" name="Shape 11"/>
          <p:cNvSpPr/>
          <p:nvPr/>
        </p:nvSpPr>
        <p:spPr>
          <a:xfrm>
            <a:off x="4309920" y="3977640"/>
            <a:ext cx="1094760" cy="868320"/>
          </a:xfrm>
          <a:prstGeom prst="roundRect">
            <a:avLst>
              <a:gd name="adj" fmla="val 8421"/>
            </a:avLst>
          </a:prstGeom>
          <a:solidFill>
            <a:srgbClr val="818CF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 name="Text 12"/>
          <p:cNvSpPr/>
          <p:nvPr/>
        </p:nvSpPr>
        <p:spPr>
          <a:xfrm>
            <a:off x="435564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B0F17"/>
                </a:solidFill>
                <a:effectLst/>
                <a:uFillTx/>
                <a:latin typeface="Plus Jakarta Sans"/>
                <a:ea typeface="Plus Jakarta Sans"/>
              </a:rPr>
              <a:t>NumPy</a:t>
            </a:r>
            <a:endParaRPr lang="en-US" sz="950" b="0" u="none" strike="noStrike">
              <a:solidFill>
                <a:srgbClr val="FFFFFF"/>
              </a:solidFill>
              <a:effectLst/>
              <a:uFillTx/>
              <a:latin typeface="Arial"/>
            </a:endParaRPr>
          </a:p>
        </p:txBody>
      </p:sp>
      <p:sp>
        <p:nvSpPr>
          <p:cNvPr id="35" name="Text 13"/>
          <p:cNvSpPr/>
          <p:nvPr/>
        </p:nvSpPr>
        <p:spPr>
          <a:xfrm>
            <a:off x="540504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6" name="Shape 14"/>
          <p:cNvSpPr/>
          <p:nvPr/>
        </p:nvSpPr>
        <p:spPr>
          <a:xfrm>
            <a:off x="553320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Text 15"/>
          <p:cNvSpPr/>
          <p:nvPr/>
        </p:nvSpPr>
        <p:spPr>
          <a:xfrm>
            <a:off x="557892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Pandas</a:t>
            </a:r>
            <a:endParaRPr lang="en-US" sz="950" b="0" u="none" strike="noStrike">
              <a:solidFill>
                <a:srgbClr val="FFFFFF"/>
              </a:solidFill>
              <a:effectLst/>
              <a:uFillTx/>
              <a:latin typeface="Arial"/>
            </a:endParaRPr>
          </a:p>
        </p:txBody>
      </p:sp>
      <p:sp>
        <p:nvSpPr>
          <p:cNvPr id="38" name="Text 16"/>
          <p:cNvSpPr/>
          <p:nvPr/>
        </p:nvSpPr>
        <p:spPr>
          <a:xfrm>
            <a:off x="662832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9" name="Shape 17"/>
          <p:cNvSpPr/>
          <p:nvPr/>
        </p:nvSpPr>
        <p:spPr>
          <a:xfrm>
            <a:off x="675648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 name="Text 18"/>
          <p:cNvSpPr/>
          <p:nvPr/>
        </p:nvSpPr>
        <p:spPr>
          <a:xfrm>
            <a:off x="680220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Matplotlib</a:t>
            </a:r>
            <a:endParaRPr lang="en-US" sz="950" b="0" u="none" strike="noStrike">
              <a:solidFill>
                <a:srgbClr val="FFFFFF"/>
              </a:solidFill>
              <a:effectLst/>
              <a:uFillTx/>
              <a:latin typeface="Arial"/>
            </a:endParaRPr>
          </a:p>
        </p:txBody>
      </p:sp>
      <p:sp>
        <p:nvSpPr>
          <p:cNvPr id="41" name="Text 19"/>
          <p:cNvSpPr/>
          <p:nvPr/>
        </p:nvSpPr>
        <p:spPr>
          <a:xfrm>
            <a:off x="785160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2" name="Shape 20"/>
          <p:cNvSpPr/>
          <p:nvPr/>
        </p:nvSpPr>
        <p:spPr>
          <a:xfrm>
            <a:off x="797976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 name="Text 21"/>
          <p:cNvSpPr/>
          <p:nvPr/>
        </p:nvSpPr>
        <p:spPr>
          <a:xfrm>
            <a:off x="802548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Seaborn</a:t>
            </a:r>
            <a:endParaRPr lang="en-US" sz="950" b="0" u="none" strike="noStrike">
              <a:solidFill>
                <a:srgbClr val="FFFFFF"/>
              </a:solidFill>
              <a:effectLst/>
              <a:uFillTx/>
              <a:latin typeface="Arial"/>
            </a:endParaRPr>
          </a:p>
        </p:txBody>
      </p:sp>
      <p:sp>
        <p:nvSpPr>
          <p:cNvPr id="44" name="Text 22"/>
          <p:cNvSpPr/>
          <p:nvPr/>
        </p:nvSpPr>
        <p:spPr>
          <a:xfrm>
            <a:off x="907488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5" name="Shape 23"/>
          <p:cNvSpPr/>
          <p:nvPr/>
        </p:nvSpPr>
        <p:spPr>
          <a:xfrm>
            <a:off x="920304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 name="Text 24"/>
          <p:cNvSpPr/>
          <p:nvPr/>
        </p:nvSpPr>
        <p:spPr>
          <a:xfrm>
            <a:off x="924876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Data Analytics</a:t>
            </a:r>
            <a:endParaRPr lang="en-US" sz="950" b="0" u="none" strike="noStrike">
              <a:solidFill>
                <a:srgbClr val="FFFFFF"/>
              </a:solidFill>
              <a:effectLst/>
              <a:uFillTx/>
              <a:latin typeface="Arial"/>
            </a:endParaRPr>
          </a:p>
        </p:txBody>
      </p:sp>
      <p:sp>
        <p:nvSpPr>
          <p:cNvPr id="47" name="Text 25"/>
          <p:cNvSpPr/>
          <p:nvPr/>
        </p:nvSpPr>
        <p:spPr>
          <a:xfrm>
            <a:off x="1029816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8" name="Shape 26"/>
          <p:cNvSpPr/>
          <p:nvPr/>
        </p:nvSpPr>
        <p:spPr>
          <a:xfrm>
            <a:off x="1042632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 name="Text 27"/>
          <p:cNvSpPr/>
          <p:nvPr/>
        </p:nvSpPr>
        <p:spPr>
          <a:xfrm>
            <a:off x="1047204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Supervised ML</a:t>
            </a:r>
            <a:endParaRPr lang="en-US" sz="950" b="0" u="none" strike="noStrike">
              <a:solidFill>
                <a:srgbClr val="FFFFFF"/>
              </a:solidFill>
              <a:effectLst/>
              <a:uFillTx/>
              <a:latin typeface="Arial"/>
            </a:endParaRPr>
          </a:p>
        </p:txBody>
      </p:sp>
      <p:sp>
        <p:nvSpPr>
          <p:cNvPr id="50" name="Text 28"/>
          <p:cNvSpPr/>
          <p:nvPr/>
        </p:nvSpPr>
        <p:spPr>
          <a:xfrm>
            <a:off x="640080" y="5212080"/>
            <a:ext cx="10240920" cy="914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400" b="0" u="none" strike="noStrike">
                <a:solidFill>
                  <a:srgbClr val="94A3B8"/>
                </a:solidFill>
                <a:effectLst/>
                <a:uFillTx/>
                <a:latin typeface="Hanken Grotesk"/>
                <a:ea typeface="Hanken Grotesk"/>
              </a:rPr>
              <a:t>You </a:t>
            </a:r>
            <a:r>
              <a:rPr lang="en-US" sz="1400" b="0" u="none" strike="noStrike">
                <a:solidFill>
                  <a:srgbClr val="94A3B8"/>
                </a:solidFill>
                <a:effectLst/>
                <a:uFillTx/>
                <a:latin typeface="Hanken Grotesk"/>
                <a:ea typeface="Hanken Grotesk"/>
              </a:rPr>
              <a:t>are </a:t>
            </a:r>
            <a:r>
              <a:rPr lang="en-US" sz="1400" b="0" u="none" strike="noStrike">
                <a:solidFill>
                  <a:srgbClr val="94A3B8"/>
                </a:solidFill>
                <a:effectLst/>
                <a:uFillTx/>
                <a:latin typeface="Hanken Grotesk"/>
                <a:ea typeface="Hanken Grotesk"/>
              </a:rPr>
              <a:t>her</a:t>
            </a:r>
            <a:r>
              <a:rPr lang="en-US" sz="1400" b="0" u="none" strike="noStrike">
                <a:solidFill>
                  <a:srgbClr val="94A3B8"/>
                </a:solidFill>
                <a:effectLst/>
                <a:uFillTx/>
                <a:latin typeface="Hanken Grotesk"/>
                <a:ea typeface="Hanken Grotesk"/>
              </a:rPr>
              <a:t>e — </a:t>
            </a:r>
            <a:r>
              <a:rPr lang="en-US" sz="1400" b="0" u="none" strike="noStrike">
                <a:solidFill>
                  <a:srgbClr val="94A3B8"/>
                </a:solidFill>
                <a:effectLst/>
                <a:uFillTx/>
                <a:latin typeface="Hanken Grotesk"/>
                <a:ea typeface="Hanken Grotesk"/>
              </a:rPr>
              <a:t>righ</a:t>
            </a:r>
            <a:r>
              <a:rPr lang="en-US" sz="1400" b="0" u="none" strike="noStrike">
                <a:solidFill>
                  <a:srgbClr val="94A3B8"/>
                </a:solidFill>
                <a:effectLst/>
                <a:uFillTx/>
                <a:latin typeface="Hanken Grotesk"/>
                <a:ea typeface="Hanken Grotesk"/>
              </a:rPr>
              <a:t>t </a:t>
            </a:r>
            <a:r>
              <a:rPr lang="en-US" sz="1400" b="0" u="none" strike="noStrike">
                <a:solidFill>
                  <a:srgbClr val="94A3B8"/>
                </a:solidFill>
                <a:effectLst/>
                <a:uFillTx/>
                <a:latin typeface="Hanken Grotesk"/>
                <a:ea typeface="Hanken Grotesk"/>
              </a:rPr>
              <a:t>afte</a:t>
            </a:r>
            <a:r>
              <a:rPr lang="en-US" sz="1400" b="0" u="none" strike="noStrike">
                <a:solidFill>
                  <a:srgbClr val="94A3B8"/>
                </a:solidFill>
                <a:effectLst/>
                <a:uFillTx/>
                <a:latin typeface="Hanken Grotesk"/>
                <a:ea typeface="Hanken Grotesk"/>
              </a:rPr>
              <a:t>r </a:t>
            </a:r>
            <a:r>
              <a:rPr lang="en-US" sz="1400" b="0" u="none" strike="noStrike">
                <a:solidFill>
                  <a:srgbClr val="94A3B8"/>
                </a:solidFill>
                <a:effectLst/>
                <a:uFillTx/>
                <a:latin typeface="Hanken Grotesk"/>
                <a:ea typeface="Hanken Grotesk"/>
              </a:rPr>
              <a:t>Git </a:t>
            </a:r>
            <a:r>
              <a:rPr lang="en-US" sz="1400" b="0" u="none" strike="noStrike">
                <a:solidFill>
                  <a:srgbClr val="94A3B8"/>
                </a:solidFill>
                <a:effectLst/>
                <a:uFillTx/>
                <a:latin typeface="Hanken Grotesk"/>
                <a:ea typeface="Hanken Grotesk"/>
              </a:rPr>
              <a:t>&amp; </a:t>
            </a:r>
            <a:r>
              <a:rPr lang="en-US" sz="1400" b="0" u="none" strike="noStrike">
                <a:solidFill>
                  <a:srgbClr val="94A3B8"/>
                </a:solidFill>
                <a:effectLst/>
                <a:uFillTx/>
                <a:latin typeface="Hanken Grotesk"/>
                <a:ea typeface="Hanken Grotesk"/>
              </a:rPr>
              <a:t>Git</a:t>
            </a:r>
            <a:r>
              <a:rPr lang="en-US" sz="1400" b="0" u="none" strike="noStrike">
                <a:solidFill>
                  <a:srgbClr val="94A3B8"/>
                </a:solidFill>
                <a:effectLst/>
                <a:uFillTx/>
                <a:latin typeface="Hanken Grotesk"/>
                <a:ea typeface="Hanken Grotesk"/>
              </a:rPr>
              <a:t>Hu</a:t>
            </a:r>
            <a:r>
              <a:rPr lang="en-US" sz="1400" b="0" u="none" strike="noStrike">
                <a:solidFill>
                  <a:srgbClr val="94A3B8"/>
                </a:solidFill>
                <a:effectLst/>
                <a:uFillTx/>
                <a:latin typeface="Hanken Grotesk"/>
                <a:ea typeface="Hanken Grotesk"/>
              </a:rPr>
              <a:t>b. </a:t>
            </a:r>
            <a:r>
              <a:rPr lang="en-US" sz="1400" b="0" u="none" strike="noStrike">
                <a:solidFill>
                  <a:srgbClr val="94A3B8"/>
                </a:solidFill>
                <a:effectLst/>
                <a:uFillTx/>
                <a:latin typeface="Hanken Grotesk"/>
                <a:ea typeface="Hanken Grotesk"/>
              </a:rPr>
              <a:t>Nu</a:t>
            </a:r>
            <a:r>
              <a:rPr lang="en-US" sz="1400" b="0" u="none" strike="noStrike">
                <a:solidFill>
                  <a:srgbClr val="94A3B8"/>
                </a:solidFill>
                <a:effectLst/>
                <a:uFillTx/>
                <a:latin typeface="Hanken Grotesk"/>
                <a:ea typeface="Hanken Grotesk"/>
              </a:rPr>
              <a:t>mP</a:t>
            </a:r>
            <a:r>
              <a:rPr lang="en-US" sz="1400" b="0" u="none" strike="noStrike">
                <a:solidFill>
                  <a:srgbClr val="94A3B8"/>
                </a:solidFill>
                <a:effectLst/>
                <a:uFillTx/>
                <a:latin typeface="Hanken Grotesk"/>
                <a:ea typeface="Hanken Grotesk"/>
              </a:rPr>
              <a:t>y is </a:t>
            </a:r>
            <a:r>
              <a:rPr lang="en-US" sz="1400" b="0" u="none" strike="noStrike">
                <a:solidFill>
                  <a:srgbClr val="94A3B8"/>
                </a:solidFill>
                <a:effectLst/>
                <a:uFillTx/>
                <a:latin typeface="Hanken Grotesk"/>
                <a:ea typeface="Hanken Grotesk"/>
              </a:rPr>
              <a:t>the </a:t>
            </a:r>
            <a:r>
              <a:rPr lang="en-US" sz="1400" b="0" u="none" strike="noStrike">
                <a:solidFill>
                  <a:srgbClr val="94A3B8"/>
                </a:solidFill>
                <a:effectLst/>
                <a:uFillTx/>
                <a:latin typeface="Hanken Grotesk"/>
                <a:ea typeface="Hanken Grotesk"/>
              </a:rPr>
              <a:t>fou</a:t>
            </a:r>
            <a:r>
              <a:rPr lang="en-US" sz="1400" b="0" u="none" strike="noStrike">
                <a:solidFill>
                  <a:srgbClr val="94A3B8"/>
                </a:solidFill>
                <a:effectLst/>
                <a:uFillTx/>
                <a:latin typeface="Hanken Grotesk"/>
                <a:ea typeface="Hanken Grotesk"/>
              </a:rPr>
              <a:t>nda</a:t>
            </a:r>
            <a:r>
              <a:rPr lang="en-US" sz="1400" b="0" u="none" strike="noStrike">
                <a:solidFill>
                  <a:srgbClr val="94A3B8"/>
                </a:solidFill>
                <a:effectLst/>
                <a:uFillTx/>
                <a:latin typeface="Hanken Grotesk"/>
                <a:ea typeface="Hanken Grotesk"/>
              </a:rPr>
              <a:t>tion </a:t>
            </a:r>
            <a:r>
              <a:rPr lang="en-US" sz="1400" b="0" u="none" strike="noStrike">
                <a:solidFill>
                  <a:srgbClr val="94A3B8"/>
                </a:solidFill>
                <a:effectLst/>
                <a:uFillTx/>
                <a:latin typeface="Hanken Grotesk"/>
                <a:ea typeface="Hanken Grotesk"/>
              </a:rPr>
              <a:t>Pan</a:t>
            </a:r>
            <a:r>
              <a:rPr lang="en-US" sz="1400" b="0" u="none" strike="noStrike">
                <a:solidFill>
                  <a:srgbClr val="94A3B8"/>
                </a:solidFill>
                <a:effectLst/>
                <a:uFillTx/>
                <a:latin typeface="Hanken Grotesk"/>
                <a:ea typeface="Hanken Grotesk"/>
              </a:rPr>
              <a:t>das, </a:t>
            </a:r>
            <a:r>
              <a:rPr lang="en-US" sz="1400" b="0" u="none" strike="noStrike">
                <a:solidFill>
                  <a:srgbClr val="94A3B8"/>
                </a:solidFill>
                <a:effectLst/>
                <a:uFillTx/>
                <a:latin typeface="Hanken Grotesk"/>
                <a:ea typeface="Hanken Grotesk"/>
              </a:rPr>
              <a:t>Mat</a:t>
            </a:r>
            <a:r>
              <a:rPr lang="en-US" sz="1400" b="0" u="none" strike="noStrike">
                <a:solidFill>
                  <a:srgbClr val="94A3B8"/>
                </a:solidFill>
                <a:effectLst/>
                <a:uFillTx/>
                <a:latin typeface="Hanken Grotesk"/>
                <a:ea typeface="Hanken Grotesk"/>
              </a:rPr>
              <a:t>plot</a:t>
            </a:r>
            <a:r>
              <a:rPr lang="en-US" sz="1400" b="0" u="none" strike="noStrike">
                <a:solidFill>
                  <a:srgbClr val="94A3B8"/>
                </a:solidFill>
                <a:effectLst/>
                <a:uFillTx/>
                <a:latin typeface="Hanken Grotesk"/>
                <a:ea typeface="Hanken Grotesk"/>
              </a:rPr>
              <a:t>lib, </a:t>
            </a:r>
            <a:r>
              <a:rPr lang="en-US" sz="1400" b="0" u="none" strike="noStrike">
                <a:solidFill>
                  <a:srgbClr val="94A3B8"/>
                </a:solidFill>
                <a:effectLst/>
                <a:uFillTx/>
                <a:latin typeface="Hanken Grotesk"/>
                <a:ea typeface="Hanken Grotesk"/>
              </a:rPr>
              <a:t>and </a:t>
            </a:r>
            <a:r>
              <a:rPr lang="en-US" sz="1400" b="0" u="none" strike="noStrike">
                <a:solidFill>
                  <a:srgbClr val="94A3B8"/>
                </a:solidFill>
                <a:effectLst/>
                <a:uFillTx/>
                <a:latin typeface="Hanken Grotesk"/>
                <a:ea typeface="Hanken Grotesk"/>
              </a:rPr>
              <a:t>Sea</a:t>
            </a:r>
            <a:r>
              <a:rPr lang="en-US" sz="1400" b="0" u="none" strike="noStrike">
                <a:solidFill>
                  <a:srgbClr val="94A3B8"/>
                </a:solidFill>
                <a:effectLst/>
                <a:uFillTx/>
                <a:latin typeface="Hanken Grotesk"/>
                <a:ea typeface="Hanken Grotesk"/>
              </a:rPr>
              <a:t>bor</a:t>
            </a:r>
            <a:r>
              <a:rPr lang="en-US" sz="1400" b="0" u="none" strike="noStrike">
                <a:solidFill>
                  <a:srgbClr val="94A3B8"/>
                </a:solidFill>
                <a:effectLst/>
                <a:uFillTx/>
                <a:latin typeface="Hanken Grotesk"/>
                <a:ea typeface="Hanken Grotesk"/>
              </a:rPr>
              <a:t>n </a:t>
            </a:r>
            <a:r>
              <a:rPr lang="en-US" sz="1400" b="0" u="none" strike="noStrike">
                <a:solidFill>
                  <a:srgbClr val="94A3B8"/>
                </a:solidFill>
                <a:effectLst/>
                <a:uFillTx/>
                <a:latin typeface="Hanken Grotesk"/>
                <a:ea typeface="Hanken Grotesk"/>
              </a:rPr>
              <a:t>are </a:t>
            </a:r>
            <a:r>
              <a:rPr lang="en-US" sz="1400" b="0" u="none" strike="noStrike">
                <a:solidFill>
                  <a:srgbClr val="94A3B8"/>
                </a:solidFill>
                <a:effectLst/>
                <a:uFillTx/>
                <a:latin typeface="Hanken Grotesk"/>
                <a:ea typeface="Hanken Grotesk"/>
              </a:rPr>
              <a:t>all </a:t>
            </a:r>
            <a:r>
              <a:rPr lang="en-US" sz="1400" b="0" u="none" strike="noStrike">
                <a:solidFill>
                  <a:srgbClr val="94A3B8"/>
                </a:solidFill>
                <a:effectLst/>
                <a:uFillTx/>
                <a:latin typeface="Hanken Grotesk"/>
                <a:ea typeface="Hanken Grotesk"/>
              </a:rPr>
              <a:t>buil</a:t>
            </a:r>
            <a:r>
              <a:rPr lang="en-US" sz="1400" b="0" u="none" strike="noStrike">
                <a:solidFill>
                  <a:srgbClr val="94A3B8"/>
                </a:solidFill>
                <a:effectLst/>
                <a:uFillTx/>
                <a:latin typeface="Hanken Grotesk"/>
                <a:ea typeface="Hanken Grotesk"/>
              </a:rPr>
              <a:t>t on </a:t>
            </a:r>
            <a:r>
              <a:rPr lang="en-US" sz="1400" b="0" u="none" strike="noStrike">
                <a:solidFill>
                  <a:srgbClr val="94A3B8"/>
                </a:solidFill>
                <a:effectLst/>
                <a:uFillTx/>
                <a:latin typeface="Hanken Grotesk"/>
                <a:ea typeface="Hanken Grotesk"/>
              </a:rPr>
              <a:t>top </a:t>
            </a:r>
            <a:r>
              <a:rPr lang="en-US" sz="1400" b="0" u="none" strike="noStrike">
                <a:solidFill>
                  <a:srgbClr val="94A3B8"/>
                </a:solidFill>
                <a:effectLst/>
                <a:uFillTx/>
                <a:latin typeface="Hanken Grotesk"/>
                <a:ea typeface="Hanken Grotesk"/>
              </a:rPr>
              <a:t>of; </a:t>
            </a:r>
            <a:r>
              <a:rPr lang="en-US" sz="1400" b="0" u="none" strike="noStrike">
                <a:solidFill>
                  <a:srgbClr val="94A3B8"/>
                </a:solidFill>
                <a:effectLst/>
                <a:uFillTx/>
                <a:latin typeface="Hanken Grotesk"/>
                <a:ea typeface="Hanken Grotesk"/>
              </a:rPr>
              <a:t>alm</a:t>
            </a:r>
            <a:r>
              <a:rPr lang="en-US" sz="1400" b="0" u="none" strike="noStrike">
                <a:solidFill>
                  <a:srgbClr val="94A3B8"/>
                </a:solidFill>
                <a:effectLst/>
                <a:uFillTx/>
                <a:latin typeface="Hanken Grotesk"/>
                <a:ea typeface="Hanken Grotesk"/>
              </a:rPr>
              <a:t>ost </a:t>
            </a:r>
            <a:r>
              <a:rPr lang="en-US" sz="1400" b="0" u="none" strike="noStrike">
                <a:solidFill>
                  <a:srgbClr val="94A3B8"/>
                </a:solidFill>
                <a:effectLst/>
                <a:uFillTx/>
                <a:latin typeface="Hanken Grotesk"/>
                <a:ea typeface="Hanken Grotesk"/>
              </a:rPr>
              <a:t>eve</a:t>
            </a:r>
            <a:r>
              <a:rPr lang="en-US" sz="1400" b="0" u="none" strike="noStrike">
                <a:solidFill>
                  <a:srgbClr val="94A3B8"/>
                </a:solidFill>
                <a:effectLst/>
                <a:uFillTx/>
                <a:latin typeface="Hanken Grotesk"/>
                <a:ea typeface="Hanken Grotesk"/>
              </a:rPr>
              <a:t>ry </a:t>
            </a:r>
            <a:r>
              <a:rPr lang="en-US" sz="1400" b="0" u="none" strike="noStrike">
                <a:solidFill>
                  <a:srgbClr val="94A3B8"/>
                </a:solidFill>
                <a:effectLst/>
                <a:uFillTx/>
                <a:latin typeface="Hanken Grotesk"/>
                <a:ea typeface="Hanken Grotesk"/>
              </a:rPr>
              <a:t>arra</a:t>
            </a:r>
            <a:r>
              <a:rPr lang="en-US" sz="1400" b="0" u="none" strike="noStrike">
                <a:solidFill>
                  <a:srgbClr val="94A3B8"/>
                </a:solidFill>
                <a:effectLst/>
                <a:uFillTx/>
                <a:latin typeface="Hanken Grotesk"/>
                <a:ea typeface="Hanken Grotesk"/>
              </a:rPr>
              <a:t>y </a:t>
            </a:r>
            <a:r>
              <a:rPr lang="en-US" sz="1400" b="0" u="none" strike="noStrike">
                <a:solidFill>
                  <a:srgbClr val="94A3B8"/>
                </a:solidFill>
                <a:effectLst/>
                <a:uFillTx/>
                <a:latin typeface="Hanken Grotesk"/>
                <a:ea typeface="Hanken Grotesk"/>
              </a:rPr>
              <a:t>ope</a:t>
            </a:r>
            <a:r>
              <a:rPr lang="en-US" sz="1400" b="0" u="none" strike="noStrike">
                <a:solidFill>
                  <a:srgbClr val="94A3B8"/>
                </a:solidFill>
                <a:effectLst/>
                <a:uFillTx/>
                <a:latin typeface="Hanken Grotesk"/>
                <a:ea typeface="Hanken Grotesk"/>
              </a:rPr>
              <a:t>rati</a:t>
            </a:r>
            <a:r>
              <a:rPr lang="en-US" sz="1400" b="0" u="none" strike="noStrike">
                <a:solidFill>
                  <a:srgbClr val="94A3B8"/>
                </a:solidFill>
                <a:effectLst/>
                <a:uFillTx/>
                <a:latin typeface="Hanken Grotesk"/>
                <a:ea typeface="Hanken Grotesk"/>
              </a:rPr>
              <a:t>on </a:t>
            </a:r>
            <a:r>
              <a:rPr lang="en-US" sz="1400" b="0" u="none" strike="noStrike">
                <a:solidFill>
                  <a:srgbClr val="94A3B8"/>
                </a:solidFill>
                <a:effectLst/>
                <a:uFillTx/>
                <a:latin typeface="Hanken Grotesk"/>
                <a:ea typeface="Hanken Grotesk"/>
              </a:rPr>
              <a:t>you</a:t>
            </a:r>
            <a:r>
              <a:rPr lang="en-US" sz="1400" b="0" u="none" strike="noStrike">
                <a:solidFill>
                  <a:srgbClr val="94A3B8"/>
                </a:solidFill>
                <a:effectLst/>
                <a:uFillTx/>
                <a:latin typeface="Hanken Grotesk"/>
                <a:ea typeface="Hanken Grotesk"/>
              </a:rPr>
              <a:t>'ll </a:t>
            </a:r>
            <a:r>
              <a:rPr lang="en-US" sz="1400" b="0" u="none" strike="noStrike">
                <a:solidFill>
                  <a:srgbClr val="94A3B8"/>
                </a:solidFill>
                <a:effectLst/>
                <a:uFillTx/>
                <a:latin typeface="Hanken Grotesk"/>
                <a:ea typeface="Hanken Grotesk"/>
              </a:rPr>
              <a:t>do </a:t>
            </a:r>
            <a:r>
              <a:rPr lang="en-US" sz="1400" b="0" u="none" strike="noStrike">
                <a:solidFill>
                  <a:srgbClr val="94A3B8"/>
                </a:solidFill>
                <a:effectLst/>
                <a:uFillTx/>
                <a:latin typeface="Hanken Grotesk"/>
                <a:ea typeface="Hanken Grotesk"/>
              </a:rPr>
              <a:t>for </a:t>
            </a:r>
            <a:r>
              <a:rPr lang="en-US" sz="1400" b="0" u="none" strike="noStrike">
                <a:solidFill>
                  <a:srgbClr val="94A3B8"/>
                </a:solidFill>
                <a:effectLst/>
                <a:uFillTx/>
                <a:latin typeface="Hanken Grotesk"/>
                <a:ea typeface="Hanken Grotesk"/>
              </a:rPr>
              <a:t>the </a:t>
            </a:r>
            <a:r>
              <a:rPr lang="en-US" sz="1400" b="0" u="none" strike="noStrike">
                <a:solidFill>
                  <a:srgbClr val="94A3B8"/>
                </a:solidFill>
                <a:effectLst/>
                <a:uFillTx/>
                <a:latin typeface="Hanken Grotesk"/>
                <a:ea typeface="Hanken Grotesk"/>
              </a:rPr>
              <a:t>rest </a:t>
            </a:r>
            <a:r>
              <a:rPr lang="en-US" sz="1400" b="0" u="none" strike="noStrike">
                <a:solidFill>
                  <a:srgbClr val="94A3B8"/>
                </a:solidFill>
                <a:effectLst/>
                <a:uFillTx/>
                <a:latin typeface="Hanken Grotesk"/>
                <a:ea typeface="Hanken Grotesk"/>
              </a:rPr>
              <a:t>of </a:t>
            </a:r>
            <a:r>
              <a:rPr lang="en-US" sz="1400" b="0" u="none" strike="noStrike">
                <a:solidFill>
                  <a:srgbClr val="94A3B8"/>
                </a:solidFill>
                <a:effectLst/>
                <a:uFillTx/>
                <a:latin typeface="Hanken Grotesk"/>
                <a:ea typeface="Hanken Grotesk"/>
              </a:rPr>
              <a:t>this </a:t>
            </a:r>
            <a:r>
              <a:rPr lang="en-US" sz="1400" b="0" u="none" strike="noStrike">
                <a:solidFill>
                  <a:srgbClr val="94A3B8"/>
                </a:solidFill>
                <a:effectLst/>
                <a:uFillTx/>
                <a:latin typeface="Hanken Grotesk"/>
                <a:ea typeface="Hanken Grotesk"/>
              </a:rPr>
              <a:t>cou</a:t>
            </a:r>
            <a:r>
              <a:rPr lang="en-US" sz="1400" b="0" u="none" strike="noStrike">
                <a:solidFill>
                  <a:srgbClr val="94A3B8"/>
                </a:solidFill>
                <a:effectLst/>
                <a:uFillTx/>
                <a:latin typeface="Hanken Grotesk"/>
                <a:ea typeface="Hanken Grotesk"/>
              </a:rPr>
              <a:t>rse </a:t>
            </a:r>
            <a:r>
              <a:rPr lang="en-US" sz="1400" b="0" u="none" strike="noStrike">
                <a:solidFill>
                  <a:srgbClr val="94A3B8"/>
                </a:solidFill>
                <a:effectLst/>
                <a:uFillTx/>
                <a:latin typeface="Hanken Grotesk"/>
                <a:ea typeface="Hanken Grotesk"/>
              </a:rPr>
              <a:t>trac</a:t>
            </a:r>
            <a:r>
              <a:rPr lang="en-US" sz="1400" b="0" u="none" strike="noStrike">
                <a:solidFill>
                  <a:srgbClr val="94A3B8"/>
                </a:solidFill>
                <a:effectLst/>
                <a:uFillTx/>
                <a:latin typeface="Hanken Grotesk"/>
                <a:ea typeface="Hanken Grotesk"/>
              </a:rPr>
              <a:t>es </a:t>
            </a:r>
            <a:r>
              <a:rPr lang="en-US" sz="1400" b="0" u="none" strike="noStrike">
                <a:solidFill>
                  <a:srgbClr val="94A3B8"/>
                </a:solidFill>
                <a:effectLst/>
                <a:uFillTx/>
                <a:latin typeface="Hanken Grotesk"/>
                <a:ea typeface="Hanken Grotesk"/>
              </a:rPr>
              <a:t>bac</a:t>
            </a:r>
            <a:r>
              <a:rPr lang="en-US" sz="1400" b="0" u="none" strike="noStrike">
                <a:solidFill>
                  <a:srgbClr val="94A3B8"/>
                </a:solidFill>
                <a:effectLst/>
                <a:uFillTx/>
                <a:latin typeface="Hanken Grotesk"/>
                <a:ea typeface="Hanken Grotesk"/>
              </a:rPr>
              <a:t>k to </a:t>
            </a:r>
            <a:r>
              <a:rPr lang="en-US" sz="1400" b="0" u="none" strike="noStrike">
                <a:solidFill>
                  <a:srgbClr val="94A3B8"/>
                </a:solidFill>
                <a:effectLst/>
                <a:uFillTx/>
                <a:latin typeface="Hanken Grotesk"/>
                <a:ea typeface="Hanken Grotesk"/>
              </a:rPr>
              <a:t>wh</a:t>
            </a:r>
            <a:r>
              <a:rPr lang="en-US" sz="1400" b="0" u="none" strike="noStrike">
                <a:solidFill>
                  <a:srgbClr val="94A3B8"/>
                </a:solidFill>
                <a:effectLst/>
                <a:uFillTx/>
                <a:latin typeface="Hanken Grotesk"/>
                <a:ea typeface="Hanken Grotesk"/>
              </a:rPr>
              <a:t>at </a:t>
            </a:r>
            <a:r>
              <a:rPr lang="en-US" sz="1400" b="0" u="none" strike="noStrike">
                <a:solidFill>
                  <a:srgbClr val="94A3B8"/>
                </a:solidFill>
                <a:effectLst/>
                <a:uFillTx/>
                <a:latin typeface="Hanken Grotesk"/>
                <a:ea typeface="Hanken Grotesk"/>
              </a:rPr>
              <a:t>you </a:t>
            </a:r>
            <a:r>
              <a:rPr lang="en-US" sz="1400" b="0" u="none" strike="noStrike">
                <a:solidFill>
                  <a:srgbClr val="94A3B8"/>
                </a:solidFill>
                <a:effectLst/>
                <a:uFillTx/>
                <a:latin typeface="Hanken Grotesk"/>
                <a:ea typeface="Hanken Grotesk"/>
              </a:rPr>
              <a:t>lear</a:t>
            </a:r>
            <a:r>
              <a:rPr lang="en-US" sz="1400" b="0" u="none" strike="noStrike">
                <a:solidFill>
                  <a:srgbClr val="94A3B8"/>
                </a:solidFill>
                <a:effectLst/>
                <a:uFillTx/>
                <a:latin typeface="Hanken Grotesk"/>
                <a:ea typeface="Hanken Grotesk"/>
              </a:rPr>
              <a:t>n </a:t>
            </a:r>
            <a:r>
              <a:rPr lang="en-US" sz="1400" b="0" u="none" strike="noStrike">
                <a:solidFill>
                  <a:srgbClr val="94A3B8"/>
                </a:solidFill>
                <a:effectLst/>
                <a:uFillTx/>
                <a:latin typeface="Hanken Grotesk"/>
                <a:ea typeface="Hanken Grotesk"/>
              </a:rPr>
              <a:t>her</a:t>
            </a:r>
            <a:r>
              <a:rPr lang="en-US" sz="1400" b="0" u="none" strike="noStrike">
                <a:solidFill>
                  <a:srgbClr val="94A3B8"/>
                </a:solidFill>
                <a:effectLst/>
                <a:uFillTx/>
                <a:latin typeface="Hanken Grotesk"/>
                <a:ea typeface="Hanken Grotesk"/>
              </a:rPr>
              <a:t>e.</a:t>
            </a:r>
            <a:endParaRPr lang="en-US" sz="1400" b="0" u="none" strike="noStrike">
              <a:solidFill>
                <a:srgbClr val="FFFFFF"/>
              </a:solidFill>
              <a:effectLst/>
              <a:uFillTx/>
              <a:latin typeface="Arial"/>
            </a:endParaRPr>
          </a:p>
        </p:txBody>
      </p:sp>
      <p:sp>
        <p:nvSpPr>
          <p:cNvPr id="51" name="Text 2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02</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BEFORE WE START</a:t>
            </a:r>
            <a:endParaRPr lang="en-US" sz="1100" b="0" u="none" strike="noStrike">
              <a:solidFill>
                <a:srgbClr val="000000"/>
              </a:solidFill>
              <a:effectLst/>
              <a:uFillTx/>
              <a:latin typeface="Arial"/>
            </a:endParaRPr>
          </a:p>
        </p:txBody>
      </p:sp>
      <p:sp>
        <p:nvSpPr>
          <p:cNvPr id="5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If Python Has Lists, Why NumPy?</a:t>
            </a:r>
            <a:endParaRPr lang="en-US" sz="2600" b="0" u="none" strike="noStrike">
              <a:solidFill>
                <a:srgbClr val="000000"/>
              </a:solidFill>
              <a:effectLst/>
              <a:uFillTx/>
              <a:latin typeface="Arial"/>
            </a:endParaRPr>
          </a:p>
        </p:txBody>
      </p:sp>
      <p:pic>
        <p:nvPicPr>
          <p:cNvPr id="54"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56" name="Shape 3"/>
          <p:cNvSpPr/>
          <p:nvPr/>
        </p:nvSpPr>
        <p:spPr>
          <a:xfrm>
            <a:off x="548640" y="1691640"/>
            <a:ext cx="5211720" cy="4023000"/>
          </a:xfrm>
          <a:prstGeom prst="roundRect">
            <a:avLst>
              <a:gd name="adj" fmla="val 2727"/>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Shape 4"/>
          <p:cNvSpPr/>
          <p:nvPr/>
        </p:nvSpPr>
        <p:spPr>
          <a:xfrm>
            <a:off x="777240" y="1892880"/>
            <a:ext cx="1828440" cy="29232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 name="Text 5"/>
          <p:cNvSpPr/>
          <p:nvPr/>
        </p:nvSpPr>
        <p:spPr>
          <a:xfrm>
            <a:off x="777240" y="1892880"/>
            <a:ext cx="182844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002019"/>
                </a:solidFill>
                <a:effectLst/>
                <a:uFillTx/>
                <a:latin typeface="Plus Jakarta Sans"/>
                <a:ea typeface="Plus Jakarta Sans"/>
              </a:rPr>
              <a:t>PYTHON LIST</a:t>
            </a:r>
            <a:endParaRPr lang="en-US" sz="1000" b="0" u="none" strike="noStrike">
              <a:solidFill>
                <a:srgbClr val="000000"/>
              </a:solidFill>
              <a:effectLst/>
              <a:uFillTx/>
              <a:latin typeface="Arial"/>
            </a:endParaRPr>
          </a:p>
        </p:txBody>
      </p:sp>
      <p:sp>
        <p:nvSpPr>
          <p:cNvPr id="59" name="Text 6"/>
          <p:cNvSpPr/>
          <p:nvPr/>
        </p:nvSpPr>
        <p:spPr>
          <a:xfrm>
            <a:off x="777240" y="2377440"/>
            <a:ext cx="4754520" cy="32000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Flexible — can hold mixed types in one list.</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Looping over a list to do math is slow — Python re-checks each element's type, one at a time.</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No built-in idea of "shape" — no easy way to treat data as a matrix or grid.</a:t>
            </a:r>
            <a:endParaRPr lang="en-US" sz="1250" b="0" u="none" strike="noStrike">
              <a:solidFill>
                <a:srgbClr val="000000"/>
              </a:solidFill>
              <a:effectLst/>
              <a:uFillTx/>
              <a:latin typeface="Arial"/>
            </a:endParaRPr>
          </a:p>
        </p:txBody>
      </p:sp>
      <p:sp>
        <p:nvSpPr>
          <p:cNvPr id="60" name="Shape 7"/>
          <p:cNvSpPr/>
          <p:nvPr/>
        </p:nvSpPr>
        <p:spPr>
          <a:xfrm>
            <a:off x="6217920" y="1691640"/>
            <a:ext cx="5211720" cy="4023000"/>
          </a:xfrm>
          <a:prstGeom prst="roundRect">
            <a:avLst>
              <a:gd name="adj" fmla="val 2727"/>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 name="Shape 8"/>
          <p:cNvSpPr/>
          <p:nvPr/>
        </p:nvSpPr>
        <p:spPr>
          <a:xfrm>
            <a:off x="6446520" y="1892880"/>
            <a:ext cx="1828440" cy="292320"/>
          </a:xfrm>
          <a:prstGeom prst="roundRect">
            <a:avLst>
              <a:gd name="adj" fmla="val 50000"/>
            </a:avLst>
          </a:prstGeom>
          <a:solidFill>
            <a:srgbClr val="26275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 name="Text 9"/>
          <p:cNvSpPr/>
          <p:nvPr/>
        </p:nvSpPr>
        <p:spPr>
          <a:xfrm>
            <a:off x="6446520" y="1892880"/>
            <a:ext cx="182844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E0E7FF"/>
                </a:solidFill>
                <a:effectLst/>
                <a:uFillTx/>
                <a:latin typeface="Plus Jakarta Sans"/>
                <a:ea typeface="Plus Jakarta Sans"/>
              </a:rPr>
              <a:t>NUMPY ARRAY</a:t>
            </a:r>
            <a:endParaRPr lang="en-US" sz="1000" b="0" u="none" strike="noStrike">
              <a:solidFill>
                <a:srgbClr val="000000"/>
              </a:solidFill>
              <a:effectLst/>
              <a:uFillTx/>
              <a:latin typeface="Arial"/>
            </a:endParaRPr>
          </a:p>
        </p:txBody>
      </p:sp>
      <p:sp>
        <p:nvSpPr>
          <p:cNvPr id="63" name="Text 10"/>
          <p:cNvSpPr/>
          <p:nvPr/>
        </p:nvSpPr>
        <p:spPr>
          <a:xfrm>
            <a:off x="6446520" y="2377440"/>
            <a:ext cx="4754520" cy="32000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Stores one fixed data type — this lets NumPy use fast, low-level compiled code underneath.</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Vectorized — apply an operation to an entire array at once, no explicit loop needed.</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Built-in shape, dimensions, and broadcasting — the natural way to represent vectors, matrices, and tensors.</a:t>
            </a:r>
            <a:endParaRPr lang="en-US" sz="1250" b="0" u="none" strike="noStrike">
              <a:solidFill>
                <a:srgbClr val="000000"/>
              </a:solidFill>
              <a:effectLst/>
              <a:uFillTx/>
              <a:latin typeface="Arial"/>
            </a:endParaRPr>
          </a:p>
        </p:txBody>
      </p:sp>
      <p:sp>
        <p:nvSpPr>
          <p:cNvPr id="64" name="Text 11"/>
          <p:cNvSpPr/>
          <p:nvPr/>
        </p:nvSpPr>
        <p:spPr>
          <a:xfrm>
            <a:off x="548640" y="5897880"/>
            <a:ext cx="1110960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i="1" u="none" strike="noStrike">
                <a:solidFill>
                  <a:srgbClr val="474651"/>
                </a:solidFill>
                <a:effectLst/>
                <a:uFillTx/>
                <a:latin typeface="Hanken Grotesk"/>
                <a:ea typeface="Hanken Grotesk"/>
              </a:rPr>
              <a:t>The honest framing: NumPy doesn't replace Python lists everywhere — but for any numerical work, it's dramatically faster and is the shared language every Data Science and ML library speaks.</a:t>
            </a:r>
            <a:endParaRPr lang="en-US" sz="1200" b="0" u="none" strike="noStrike">
              <a:solidFill>
                <a:srgbClr val="000000"/>
              </a:solidFill>
              <a:effectLst/>
              <a:uFillTx/>
              <a:latin typeface="Arial"/>
            </a:endParaRPr>
          </a:p>
        </p:txBody>
      </p:sp>
      <p:sp>
        <p:nvSpPr>
          <p:cNvPr id="65" name="Text 1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WHAT WE'RE COVERING</a:t>
            </a:r>
            <a:endParaRPr lang="en-US" sz="1100" b="0" u="none" strike="noStrike">
              <a:solidFill>
                <a:srgbClr val="000000"/>
              </a:solidFill>
              <a:effectLst/>
              <a:uFillTx/>
              <a:latin typeface="Arial"/>
            </a:endParaRPr>
          </a:p>
        </p:txBody>
      </p:sp>
      <p:sp>
        <p:nvSpPr>
          <p:cNvPr id="6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Today's Roadmap</a:t>
            </a:r>
            <a:endParaRPr lang="en-US" sz="2600" b="0" u="none" strike="noStrike">
              <a:solidFill>
                <a:srgbClr val="000000"/>
              </a:solidFill>
              <a:effectLst/>
              <a:uFillTx/>
              <a:latin typeface="Arial"/>
            </a:endParaRPr>
          </a:p>
        </p:txBody>
      </p:sp>
      <p:pic>
        <p:nvPicPr>
          <p:cNvPr id="68"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70" name="Shape 3"/>
          <p:cNvSpPr/>
          <p:nvPr/>
        </p:nvSpPr>
        <p:spPr>
          <a:xfrm>
            <a:off x="548640" y="16459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 name="Text 4"/>
          <p:cNvSpPr/>
          <p:nvPr/>
        </p:nvSpPr>
        <p:spPr>
          <a:xfrm>
            <a:off x="685800" y="17557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01</a:t>
            </a:r>
            <a:endParaRPr lang="en-US" sz="2000" b="0" u="none" strike="noStrike">
              <a:solidFill>
                <a:srgbClr val="000000"/>
              </a:solidFill>
              <a:effectLst/>
              <a:uFillTx/>
              <a:latin typeface="Arial"/>
            </a:endParaRPr>
          </a:p>
        </p:txBody>
      </p:sp>
      <p:sp>
        <p:nvSpPr>
          <p:cNvPr id="72" name="Text 5"/>
          <p:cNvSpPr/>
          <p:nvPr/>
        </p:nvSpPr>
        <p:spPr>
          <a:xfrm>
            <a:off x="685800" y="21945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Introduction to NumPy</a:t>
            </a:r>
            <a:endParaRPr lang="en-US" sz="1150" b="0" u="none" strike="noStrike">
              <a:solidFill>
                <a:srgbClr val="000000"/>
              </a:solidFill>
              <a:effectLst/>
              <a:uFillTx/>
              <a:latin typeface="Arial"/>
            </a:endParaRPr>
          </a:p>
        </p:txBody>
      </p:sp>
      <p:sp>
        <p:nvSpPr>
          <p:cNvPr id="73" name="Shape 6"/>
          <p:cNvSpPr/>
          <p:nvPr/>
        </p:nvSpPr>
        <p:spPr>
          <a:xfrm>
            <a:off x="3291840" y="16459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Text 7"/>
          <p:cNvSpPr/>
          <p:nvPr/>
        </p:nvSpPr>
        <p:spPr>
          <a:xfrm>
            <a:off x="3429000" y="17557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02</a:t>
            </a:r>
            <a:endParaRPr lang="en-US" sz="2000" b="0" u="none" strike="noStrike">
              <a:solidFill>
                <a:srgbClr val="000000"/>
              </a:solidFill>
              <a:effectLst/>
              <a:uFillTx/>
              <a:latin typeface="Arial"/>
            </a:endParaRPr>
          </a:p>
        </p:txBody>
      </p:sp>
      <p:sp>
        <p:nvSpPr>
          <p:cNvPr id="75" name="Text 8"/>
          <p:cNvSpPr/>
          <p:nvPr/>
        </p:nvSpPr>
        <p:spPr>
          <a:xfrm>
            <a:off x="3429000" y="21945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Foundations &amp; Terminology</a:t>
            </a:r>
            <a:endParaRPr lang="en-US" sz="1150" b="0" u="none" strike="noStrike">
              <a:solidFill>
                <a:srgbClr val="000000"/>
              </a:solidFill>
              <a:effectLst/>
              <a:uFillTx/>
              <a:latin typeface="Arial"/>
            </a:endParaRPr>
          </a:p>
        </p:txBody>
      </p:sp>
      <p:sp>
        <p:nvSpPr>
          <p:cNvPr id="76" name="Shape 9"/>
          <p:cNvSpPr/>
          <p:nvPr/>
        </p:nvSpPr>
        <p:spPr>
          <a:xfrm>
            <a:off x="6035040" y="16459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 name="Text 10"/>
          <p:cNvSpPr/>
          <p:nvPr/>
        </p:nvSpPr>
        <p:spPr>
          <a:xfrm>
            <a:off x="6172200" y="17557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03</a:t>
            </a:r>
            <a:endParaRPr lang="en-US" sz="2000" b="0" u="none" strike="noStrike">
              <a:solidFill>
                <a:srgbClr val="000000"/>
              </a:solidFill>
              <a:effectLst/>
              <a:uFillTx/>
              <a:latin typeface="Arial"/>
            </a:endParaRPr>
          </a:p>
        </p:txBody>
      </p:sp>
      <p:sp>
        <p:nvSpPr>
          <p:cNvPr id="78" name="Text 11"/>
          <p:cNvSpPr/>
          <p:nvPr/>
        </p:nvSpPr>
        <p:spPr>
          <a:xfrm>
            <a:off x="6172200" y="21945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Creating Arrays</a:t>
            </a:r>
            <a:endParaRPr lang="en-US" sz="1150" b="0" u="none" strike="noStrike">
              <a:solidFill>
                <a:srgbClr val="000000"/>
              </a:solidFill>
              <a:effectLst/>
              <a:uFillTx/>
              <a:latin typeface="Arial"/>
            </a:endParaRPr>
          </a:p>
        </p:txBody>
      </p:sp>
      <p:sp>
        <p:nvSpPr>
          <p:cNvPr id="79" name="Shape 12"/>
          <p:cNvSpPr/>
          <p:nvPr/>
        </p:nvSpPr>
        <p:spPr>
          <a:xfrm>
            <a:off x="8778240" y="16459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Text 13"/>
          <p:cNvSpPr/>
          <p:nvPr/>
        </p:nvSpPr>
        <p:spPr>
          <a:xfrm>
            <a:off x="8915400" y="17557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04</a:t>
            </a:r>
            <a:endParaRPr lang="en-US" sz="2000" b="0" u="none" strike="noStrike">
              <a:solidFill>
                <a:srgbClr val="000000"/>
              </a:solidFill>
              <a:effectLst/>
              <a:uFillTx/>
              <a:latin typeface="Arial"/>
            </a:endParaRPr>
          </a:p>
        </p:txBody>
      </p:sp>
      <p:sp>
        <p:nvSpPr>
          <p:cNvPr id="81" name="Text 14"/>
          <p:cNvSpPr/>
          <p:nvPr/>
        </p:nvSpPr>
        <p:spPr>
          <a:xfrm>
            <a:off x="8915400" y="21945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Array Properties</a:t>
            </a:r>
            <a:endParaRPr lang="en-US" sz="1150" b="0" u="none" strike="noStrike">
              <a:solidFill>
                <a:srgbClr val="000000"/>
              </a:solidFill>
              <a:effectLst/>
              <a:uFillTx/>
              <a:latin typeface="Arial"/>
            </a:endParaRPr>
          </a:p>
        </p:txBody>
      </p:sp>
      <p:sp>
        <p:nvSpPr>
          <p:cNvPr id="82" name="Shape 15"/>
          <p:cNvSpPr/>
          <p:nvPr/>
        </p:nvSpPr>
        <p:spPr>
          <a:xfrm>
            <a:off x="548640" y="330084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Text 16"/>
          <p:cNvSpPr/>
          <p:nvPr/>
        </p:nvSpPr>
        <p:spPr>
          <a:xfrm>
            <a:off x="685800" y="341064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05</a:t>
            </a:r>
            <a:endParaRPr lang="en-US" sz="2000" b="0" u="none" strike="noStrike">
              <a:solidFill>
                <a:srgbClr val="000000"/>
              </a:solidFill>
              <a:effectLst/>
              <a:uFillTx/>
              <a:latin typeface="Arial"/>
            </a:endParaRPr>
          </a:p>
        </p:txBody>
      </p:sp>
      <p:sp>
        <p:nvSpPr>
          <p:cNvPr id="84" name="Text 17"/>
          <p:cNvSpPr/>
          <p:nvPr/>
        </p:nvSpPr>
        <p:spPr>
          <a:xfrm>
            <a:off x="685800" y="384948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Indexing &amp; Slicing</a:t>
            </a:r>
            <a:endParaRPr lang="en-US" sz="1150" b="0" u="none" strike="noStrike">
              <a:solidFill>
                <a:srgbClr val="000000"/>
              </a:solidFill>
              <a:effectLst/>
              <a:uFillTx/>
              <a:latin typeface="Arial"/>
            </a:endParaRPr>
          </a:p>
        </p:txBody>
      </p:sp>
      <p:sp>
        <p:nvSpPr>
          <p:cNvPr id="85" name="Shape 18"/>
          <p:cNvSpPr/>
          <p:nvPr/>
        </p:nvSpPr>
        <p:spPr>
          <a:xfrm>
            <a:off x="3291840" y="330084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 name="Text 19"/>
          <p:cNvSpPr/>
          <p:nvPr/>
        </p:nvSpPr>
        <p:spPr>
          <a:xfrm>
            <a:off x="3429000" y="341064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06</a:t>
            </a:r>
            <a:endParaRPr lang="en-US" sz="2000" b="0" u="none" strike="noStrike">
              <a:solidFill>
                <a:srgbClr val="000000"/>
              </a:solidFill>
              <a:effectLst/>
              <a:uFillTx/>
              <a:latin typeface="Arial"/>
            </a:endParaRPr>
          </a:p>
        </p:txBody>
      </p:sp>
      <p:sp>
        <p:nvSpPr>
          <p:cNvPr id="87" name="Text 20"/>
          <p:cNvSpPr/>
          <p:nvPr/>
        </p:nvSpPr>
        <p:spPr>
          <a:xfrm>
            <a:off x="3429000" y="384948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Reshaping &amp; Manipulation</a:t>
            </a:r>
            <a:endParaRPr lang="en-US" sz="1150" b="0" u="none" strike="noStrike">
              <a:solidFill>
                <a:srgbClr val="000000"/>
              </a:solidFill>
              <a:effectLst/>
              <a:uFillTx/>
              <a:latin typeface="Arial"/>
            </a:endParaRPr>
          </a:p>
        </p:txBody>
      </p:sp>
      <p:sp>
        <p:nvSpPr>
          <p:cNvPr id="88" name="Shape 21"/>
          <p:cNvSpPr/>
          <p:nvPr/>
        </p:nvSpPr>
        <p:spPr>
          <a:xfrm>
            <a:off x="6035040" y="330084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 name="Text 22"/>
          <p:cNvSpPr/>
          <p:nvPr/>
        </p:nvSpPr>
        <p:spPr>
          <a:xfrm>
            <a:off x="6172200" y="341064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07</a:t>
            </a:r>
            <a:endParaRPr lang="en-US" sz="2000" b="0" u="none" strike="noStrike">
              <a:solidFill>
                <a:srgbClr val="000000"/>
              </a:solidFill>
              <a:effectLst/>
              <a:uFillTx/>
              <a:latin typeface="Arial"/>
            </a:endParaRPr>
          </a:p>
        </p:txBody>
      </p:sp>
      <p:sp>
        <p:nvSpPr>
          <p:cNvPr id="90" name="Text 23"/>
          <p:cNvSpPr/>
          <p:nvPr/>
        </p:nvSpPr>
        <p:spPr>
          <a:xfrm>
            <a:off x="6172200" y="384948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Array Modification</a:t>
            </a:r>
            <a:endParaRPr lang="en-US" sz="1150" b="0" u="none" strike="noStrike">
              <a:solidFill>
                <a:srgbClr val="000000"/>
              </a:solidFill>
              <a:effectLst/>
              <a:uFillTx/>
              <a:latin typeface="Arial"/>
            </a:endParaRPr>
          </a:p>
        </p:txBody>
      </p:sp>
      <p:sp>
        <p:nvSpPr>
          <p:cNvPr id="91" name="Shape 24"/>
          <p:cNvSpPr/>
          <p:nvPr/>
        </p:nvSpPr>
        <p:spPr>
          <a:xfrm>
            <a:off x="8778240" y="330084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 name="Text 25"/>
          <p:cNvSpPr/>
          <p:nvPr/>
        </p:nvSpPr>
        <p:spPr>
          <a:xfrm>
            <a:off x="8915400" y="341064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08</a:t>
            </a:r>
            <a:endParaRPr lang="en-US" sz="2000" b="0" u="none" strike="noStrike">
              <a:solidFill>
                <a:srgbClr val="000000"/>
              </a:solidFill>
              <a:effectLst/>
              <a:uFillTx/>
              <a:latin typeface="Arial"/>
            </a:endParaRPr>
          </a:p>
        </p:txBody>
      </p:sp>
      <p:sp>
        <p:nvSpPr>
          <p:cNvPr id="93" name="Text 26"/>
          <p:cNvSpPr/>
          <p:nvPr/>
        </p:nvSpPr>
        <p:spPr>
          <a:xfrm>
            <a:off x="8915400" y="384948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Operations, Broadcasting &amp; Vectorisation</a:t>
            </a:r>
            <a:endParaRPr lang="en-US" sz="1150" b="0" u="none" strike="noStrike">
              <a:solidFill>
                <a:srgbClr val="000000"/>
              </a:solidFill>
              <a:effectLst/>
              <a:uFillTx/>
              <a:latin typeface="Arial"/>
            </a:endParaRPr>
          </a:p>
        </p:txBody>
      </p:sp>
      <p:sp>
        <p:nvSpPr>
          <p:cNvPr id="94" name="Shape 27"/>
          <p:cNvSpPr/>
          <p:nvPr/>
        </p:nvSpPr>
        <p:spPr>
          <a:xfrm>
            <a:off x="548640" y="49561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5" name="Text 28"/>
          <p:cNvSpPr/>
          <p:nvPr/>
        </p:nvSpPr>
        <p:spPr>
          <a:xfrm>
            <a:off x="685800" y="50659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09</a:t>
            </a:r>
            <a:endParaRPr lang="en-US" sz="2000" b="0" u="none" strike="noStrike">
              <a:solidFill>
                <a:srgbClr val="000000"/>
              </a:solidFill>
              <a:effectLst/>
              <a:uFillTx/>
              <a:latin typeface="Arial"/>
            </a:endParaRPr>
          </a:p>
        </p:txBody>
      </p:sp>
      <p:sp>
        <p:nvSpPr>
          <p:cNvPr id="96" name="Text 29"/>
          <p:cNvSpPr/>
          <p:nvPr/>
        </p:nvSpPr>
        <p:spPr>
          <a:xfrm>
            <a:off x="685800" y="55047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Handling Missing Values</a:t>
            </a:r>
            <a:endParaRPr lang="en-US" sz="1150" b="0" u="none" strike="noStrike">
              <a:solidFill>
                <a:srgbClr val="000000"/>
              </a:solidFill>
              <a:effectLst/>
              <a:uFillTx/>
              <a:latin typeface="Arial"/>
            </a:endParaRPr>
          </a:p>
        </p:txBody>
      </p:sp>
      <p:sp>
        <p:nvSpPr>
          <p:cNvPr id="97" name="Shape 30"/>
          <p:cNvSpPr/>
          <p:nvPr/>
        </p:nvSpPr>
        <p:spPr>
          <a:xfrm>
            <a:off x="3291840" y="49561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Text 31"/>
          <p:cNvSpPr/>
          <p:nvPr/>
        </p:nvSpPr>
        <p:spPr>
          <a:xfrm>
            <a:off x="3429000" y="50659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10</a:t>
            </a:r>
            <a:endParaRPr lang="en-US" sz="2000" b="0" u="none" strike="noStrike">
              <a:solidFill>
                <a:srgbClr val="000000"/>
              </a:solidFill>
              <a:effectLst/>
              <a:uFillTx/>
              <a:latin typeface="Arial"/>
            </a:endParaRPr>
          </a:p>
        </p:txBody>
      </p:sp>
      <p:sp>
        <p:nvSpPr>
          <p:cNvPr id="99" name="Text 32"/>
          <p:cNvSpPr/>
          <p:nvPr/>
        </p:nvSpPr>
        <p:spPr>
          <a:xfrm>
            <a:off x="3429000" y="55047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NumPy with Real-World Data</a:t>
            </a:r>
            <a:endParaRPr lang="en-US" sz="1150" b="0" u="none" strike="noStrike">
              <a:solidFill>
                <a:srgbClr val="000000"/>
              </a:solidFill>
              <a:effectLst/>
              <a:uFillTx/>
              <a:latin typeface="Arial"/>
            </a:endParaRPr>
          </a:p>
        </p:txBody>
      </p:sp>
      <p:sp>
        <p:nvSpPr>
          <p:cNvPr id="100" name="Shape 33"/>
          <p:cNvSpPr/>
          <p:nvPr/>
        </p:nvSpPr>
        <p:spPr>
          <a:xfrm>
            <a:off x="6035040" y="49561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1" name="Text 34"/>
          <p:cNvSpPr/>
          <p:nvPr/>
        </p:nvSpPr>
        <p:spPr>
          <a:xfrm>
            <a:off x="6172200" y="50659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11</a:t>
            </a:r>
            <a:endParaRPr lang="en-US" sz="2000" b="0" u="none" strike="noStrike">
              <a:solidFill>
                <a:srgbClr val="000000"/>
              </a:solidFill>
              <a:effectLst/>
              <a:uFillTx/>
              <a:latin typeface="Arial"/>
            </a:endParaRPr>
          </a:p>
        </p:txBody>
      </p:sp>
      <p:sp>
        <p:nvSpPr>
          <p:cNvPr id="102" name="Text 35"/>
          <p:cNvSpPr/>
          <p:nvPr/>
        </p:nvSpPr>
        <p:spPr>
          <a:xfrm>
            <a:off x="6172200" y="55047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Bonus: Images as Arrays</a:t>
            </a:r>
            <a:endParaRPr lang="en-US" sz="1150" b="0" u="none" strike="noStrike">
              <a:solidFill>
                <a:srgbClr val="000000"/>
              </a:solidFill>
              <a:effectLst/>
              <a:uFillTx/>
              <a:latin typeface="Arial"/>
            </a:endParaRPr>
          </a:p>
        </p:txBody>
      </p:sp>
      <p:sp>
        <p:nvSpPr>
          <p:cNvPr id="103" name="Shape 36"/>
          <p:cNvSpPr/>
          <p:nvPr/>
        </p:nvSpPr>
        <p:spPr>
          <a:xfrm>
            <a:off x="8778240" y="49561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Text 37"/>
          <p:cNvSpPr/>
          <p:nvPr/>
        </p:nvSpPr>
        <p:spPr>
          <a:xfrm>
            <a:off x="8915400" y="50659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12</a:t>
            </a:r>
            <a:endParaRPr lang="en-US" sz="2000" b="0" u="none" strike="noStrike">
              <a:solidFill>
                <a:srgbClr val="000000"/>
              </a:solidFill>
              <a:effectLst/>
              <a:uFillTx/>
              <a:latin typeface="Arial"/>
            </a:endParaRPr>
          </a:p>
        </p:txBody>
      </p:sp>
      <p:sp>
        <p:nvSpPr>
          <p:cNvPr id="105" name="Text 38"/>
          <p:cNvSpPr/>
          <p:nvPr/>
        </p:nvSpPr>
        <p:spPr>
          <a:xfrm>
            <a:off x="8915400" y="55047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Mini Projects</a:t>
            </a:r>
            <a:endParaRPr lang="en-US" sz="1150" b="0" u="none" strike="noStrike">
              <a:solidFill>
                <a:srgbClr val="000000"/>
              </a:solidFill>
              <a:effectLst/>
              <a:uFillTx/>
              <a:latin typeface="Arial"/>
            </a:endParaRPr>
          </a:p>
        </p:txBody>
      </p:sp>
      <p:sp>
        <p:nvSpPr>
          <p:cNvPr id="106" name="Text 3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07"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8"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9"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110"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t>
            </a:r>
            <a:r>
              <a:rPr lang="en-US" sz="1400" b="1" u="none" spc="300" strike="noStrike">
                <a:solidFill>
                  <a:srgbClr val="2DD4BF"/>
                </a:solidFill>
                <a:effectLst/>
                <a:uFillTx/>
                <a:latin typeface="Plus Jakarta Sans"/>
                <a:ea typeface="Plus Jakarta Sans"/>
              </a:rPr>
              <a:t>A</a:t>
            </a:r>
            <a:r>
              <a:rPr lang="en-US" sz="1400" b="1" u="none" spc="300" strike="noStrike">
                <a:solidFill>
                  <a:srgbClr val="2DD4BF"/>
                </a:solidFill>
                <a:effectLst/>
                <a:uFillTx/>
                <a:latin typeface="Plus Jakarta Sans"/>
                <a:ea typeface="Plus Jakarta Sans"/>
              </a:rPr>
              <a:t>R</a:t>
            </a:r>
            <a:r>
              <a:rPr lang="en-US" sz="1400" b="1" u="none" spc="300" strike="noStrike">
                <a:solidFill>
                  <a:srgbClr val="2DD4BF"/>
                </a:solidFill>
                <a:effectLst/>
                <a:uFillTx/>
                <a:latin typeface="Plus Jakarta Sans"/>
                <a:ea typeface="Plus Jakarta Sans"/>
              </a:rPr>
              <a:t>T </a:t>
            </a:r>
            <a:r>
              <a:rPr lang="en-US" sz="1400" b="1" u="none" spc="300" strike="noStrike">
                <a:solidFill>
                  <a:srgbClr val="2DD4BF"/>
                </a:solidFill>
                <a:effectLst/>
                <a:uFillTx/>
                <a:latin typeface="Plus Jakarta Sans"/>
                <a:ea typeface="Plus Jakarta Sans"/>
              </a:rPr>
              <a:t>1 </a:t>
            </a:r>
            <a:r>
              <a:rPr lang="en-US" sz="1400" b="1" u="none" spc="300" strike="noStrike">
                <a:solidFill>
                  <a:srgbClr val="2DD4BF"/>
                </a:solidFill>
                <a:effectLst/>
                <a:uFillTx/>
                <a:latin typeface="Plus Jakarta Sans"/>
                <a:ea typeface="Plus Jakarta Sans"/>
              </a:rPr>
              <a:t>· </a:t>
            </a:r>
            <a:r>
              <a:rPr lang="en-US" sz="1400" b="1" u="none" spc="300" strike="noStrike">
                <a:solidFill>
                  <a:srgbClr val="2DD4BF"/>
                </a:solidFill>
                <a:effectLst/>
                <a:uFillTx/>
                <a:latin typeface="Plus Jakarta Sans"/>
                <a:ea typeface="Plus Jakarta Sans"/>
              </a:rPr>
              <a:t>I</a:t>
            </a:r>
            <a:r>
              <a:rPr lang="en-US" sz="1400" b="1" u="none" spc="300" strike="noStrike">
                <a:solidFill>
                  <a:srgbClr val="2DD4BF"/>
                </a:solidFill>
                <a:effectLst/>
                <a:uFillTx/>
                <a:latin typeface="Plus Jakarta Sans"/>
                <a:ea typeface="Plus Jakarta Sans"/>
              </a:rPr>
              <a:t>N</a:t>
            </a:r>
            <a:r>
              <a:rPr lang="en-US" sz="1400" b="1" u="none" spc="300" strike="noStrike">
                <a:solidFill>
                  <a:srgbClr val="2DD4BF"/>
                </a:solidFill>
                <a:effectLst/>
                <a:uFillTx/>
                <a:latin typeface="Plus Jakarta Sans"/>
                <a:ea typeface="Plus Jakarta Sans"/>
              </a:rPr>
              <a:t>T</a:t>
            </a:r>
            <a:r>
              <a:rPr lang="en-US" sz="1400" b="1" u="none" spc="300" strike="noStrike">
                <a:solidFill>
                  <a:srgbClr val="2DD4BF"/>
                </a:solidFill>
                <a:effectLst/>
                <a:uFillTx/>
                <a:latin typeface="Plus Jakarta Sans"/>
                <a:ea typeface="Plus Jakarta Sans"/>
              </a:rPr>
              <a:t>R</a:t>
            </a:r>
            <a:r>
              <a:rPr lang="en-US" sz="1400" b="1" u="none" spc="300" strike="noStrike">
                <a:solidFill>
                  <a:srgbClr val="2DD4BF"/>
                </a:solidFill>
                <a:effectLst/>
                <a:uFillTx/>
                <a:latin typeface="Plus Jakarta Sans"/>
                <a:ea typeface="Plus Jakarta Sans"/>
              </a:rPr>
              <a:t>O</a:t>
            </a:r>
            <a:r>
              <a:rPr lang="en-US" sz="1400" b="1" u="none" spc="300" strike="noStrike">
                <a:solidFill>
                  <a:srgbClr val="2DD4BF"/>
                </a:solidFill>
                <a:effectLst/>
                <a:uFillTx/>
                <a:latin typeface="Plus Jakarta Sans"/>
                <a:ea typeface="Plus Jakarta Sans"/>
              </a:rPr>
              <a:t>D</a:t>
            </a:r>
            <a:r>
              <a:rPr lang="en-US" sz="1400" b="1" u="none" spc="300" strike="noStrike">
                <a:solidFill>
                  <a:srgbClr val="2DD4BF"/>
                </a:solidFill>
                <a:effectLst/>
                <a:uFillTx/>
                <a:latin typeface="Plus Jakarta Sans"/>
                <a:ea typeface="Plus Jakarta Sans"/>
              </a:rPr>
              <a:t>U</a:t>
            </a:r>
            <a:r>
              <a:rPr lang="en-US" sz="1400" b="1" u="none" spc="300" strike="noStrike">
                <a:solidFill>
                  <a:srgbClr val="2DD4BF"/>
                </a:solidFill>
                <a:effectLst/>
                <a:uFillTx/>
                <a:latin typeface="Plus Jakarta Sans"/>
                <a:ea typeface="Plus Jakarta Sans"/>
              </a:rPr>
              <a:t>C</a:t>
            </a:r>
            <a:r>
              <a:rPr lang="en-US" sz="1400" b="1" u="none" spc="300" strike="noStrike">
                <a:solidFill>
                  <a:srgbClr val="2DD4BF"/>
                </a:solidFill>
                <a:effectLst/>
                <a:uFillTx/>
                <a:latin typeface="Plus Jakarta Sans"/>
                <a:ea typeface="Plus Jakarta Sans"/>
              </a:rPr>
              <a:t>T</a:t>
            </a:r>
            <a:r>
              <a:rPr lang="en-US" sz="1400" b="1" u="none" spc="300" strike="noStrike">
                <a:solidFill>
                  <a:srgbClr val="2DD4BF"/>
                </a:solidFill>
                <a:effectLst/>
                <a:uFillTx/>
                <a:latin typeface="Plus Jakarta Sans"/>
                <a:ea typeface="Plus Jakarta Sans"/>
              </a:rPr>
              <a:t>I</a:t>
            </a:r>
            <a:r>
              <a:rPr lang="en-US" sz="1400" b="1" u="none" spc="300" strike="noStrike">
                <a:solidFill>
                  <a:srgbClr val="2DD4BF"/>
                </a:solidFill>
                <a:effectLst/>
                <a:uFillTx/>
                <a:latin typeface="Plus Jakarta Sans"/>
                <a:ea typeface="Plus Jakarta Sans"/>
              </a:rPr>
              <a:t>O</a:t>
            </a:r>
            <a:r>
              <a:rPr lang="en-US" sz="1400" b="1" u="none" spc="300" strike="noStrike">
                <a:solidFill>
                  <a:srgbClr val="2DD4BF"/>
                </a:solidFill>
                <a:effectLst/>
                <a:uFillTx/>
                <a:latin typeface="Plus Jakarta Sans"/>
                <a:ea typeface="Plus Jakarta Sans"/>
              </a:rPr>
              <a:t>N</a:t>
            </a:r>
            <a:endParaRPr lang="en-US" sz="1400" b="0" u="none" strike="noStrike">
              <a:solidFill>
                <a:srgbClr val="FFFFFF"/>
              </a:solidFill>
              <a:effectLst/>
              <a:uFillTx/>
              <a:latin typeface="Arial"/>
            </a:endParaRPr>
          </a:p>
        </p:txBody>
      </p:sp>
      <p:sp>
        <p:nvSpPr>
          <p:cNvPr id="111"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Introduction to NumPy</a:t>
            </a:r>
            <a:endParaRPr lang="en-US" sz="4000" b="0" u="none" strike="noStrike">
              <a:solidFill>
                <a:srgbClr val="FFFFFF"/>
              </a:solidFill>
              <a:effectLst/>
              <a:uFillTx/>
              <a:latin typeface="Arial"/>
            </a:endParaRPr>
          </a:p>
        </p:txBody>
      </p:sp>
      <p:sp>
        <p:nvSpPr>
          <p:cNvPr id="112"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What it is, why it exists, and where it shows up across Data Science, AI, and ML.</a:t>
            </a:r>
            <a:endParaRPr lang="en-US" sz="1500" b="0" u="none" strike="noStrike">
              <a:solidFill>
                <a:srgbClr val="FFFFFF"/>
              </a:solidFill>
              <a:effectLst/>
              <a:uFillTx/>
              <a:latin typeface="Arial"/>
            </a:endParaRPr>
          </a:p>
        </p:txBody>
      </p:sp>
      <p:sp>
        <p:nvSpPr>
          <p:cNvPr id="113"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05</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1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What Is NumPy?</a:t>
            </a:r>
            <a:endParaRPr lang="en-US" sz="2600" b="0" u="none" strike="noStrike">
              <a:solidFill>
                <a:srgbClr val="000000"/>
              </a:solidFill>
              <a:effectLst/>
              <a:uFillTx/>
              <a:latin typeface="Arial"/>
            </a:endParaRPr>
          </a:p>
        </p:txBody>
      </p:sp>
      <p:pic>
        <p:nvPicPr>
          <p:cNvPr id="116"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1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118" name="Text 3"/>
          <p:cNvSpPr/>
          <p:nvPr/>
        </p:nvSpPr>
        <p:spPr>
          <a:xfrm>
            <a:off x="548640" y="1737360"/>
            <a:ext cx="11109600" cy="41144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NumPy (Numerical Python) is Python's core library for working with arrays — grids of numbers of any dimension.</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Its central object is the ndarray — an n-dimensional array that stores numbers far more efficiently than a Python list.</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Where you'll actually use it: cleaning and transforming data in Pandas, plotting in Matplotlib/Seaborn, and running the actual math behind every ML model — weights, gradients, and predictions are all NumPy arrays underneath.</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If Python is the language of this course, NumPy is the language every other library in it is written in.</a:t>
            </a:r>
            <a:endParaRPr lang="en-US" sz="1600" b="0" u="none" strike="noStrike">
              <a:solidFill>
                <a:srgbClr val="000000"/>
              </a:solidFill>
              <a:effectLst/>
              <a:uFillTx/>
              <a:latin typeface="Arial"/>
            </a:endParaRPr>
          </a:p>
        </p:txBody>
      </p:sp>
      <p:sp>
        <p:nvSpPr>
          <p:cNvPr id="119" name="Text 4"/>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Installing &amp; Importing</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one-time install</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pip install numpy</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every notebook / script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import numpy as np</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arr = np.array([1, 2,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print(arr)</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[1 2 3]</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np is the near-universal alias for NumPy — you'll see it in almost every Data Science codebase, so use it too.</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NumPy is a dependency of Pandas, Matplotlib, and most ML libraries — if you've installed those, NumPy is already there.</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Everything in this module builds from one object: the ndarray.</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31"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2"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133"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34"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Introduction to NumPy</a:t>
            </a:r>
            <a:endParaRPr lang="en-US" sz="2300" b="0" u="none" strike="noStrike">
              <a:solidFill>
                <a:srgbClr val="000000"/>
              </a:solidFill>
              <a:effectLst/>
              <a:uFillTx/>
              <a:latin typeface="Arial"/>
            </a:endParaRPr>
          </a:p>
        </p:txBody>
      </p:sp>
      <p:sp>
        <p:nvSpPr>
          <p:cNvPr id="135"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136"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39"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Install NumPy (if needed) and import it using the standard np alias.</a:t>
            </a:r>
            <a:endParaRPr lang="en-US" sz="1300" b="0" u="none" strike="noStrike">
              <a:solidFill>
                <a:srgbClr val="000000"/>
              </a:solidFill>
              <a:effectLst/>
              <a:uFillTx/>
              <a:latin typeface="Arial"/>
            </a:endParaRPr>
          </a:p>
        </p:txBody>
      </p:sp>
      <p:sp>
        <p:nvSpPr>
          <p:cNvPr id="140"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43"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NumPy array from a plain Python list of 5 numbers and print it.</a:t>
            </a:r>
            <a:endParaRPr lang="en-US" sz="1300" b="0" u="none" strike="noStrike">
              <a:solidFill>
                <a:srgbClr val="000000"/>
              </a:solidFill>
              <a:effectLst/>
              <a:uFillTx/>
              <a:latin typeface="Arial"/>
            </a:endParaRPr>
          </a:p>
        </p:txBody>
      </p:sp>
      <p:sp>
        <p:nvSpPr>
          <p:cNvPr id="144"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5"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6"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47"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 your own words, explain why NumPy is faster than a Python list for math operations.</a:t>
            </a:r>
            <a:endParaRPr lang="en-US" sz="1300" b="0" u="none" strike="noStrike">
              <a:solidFill>
                <a:srgbClr val="000000"/>
              </a:solidFill>
              <a:effectLst/>
              <a:uFillTx/>
              <a:latin typeface="Arial"/>
            </a:endParaRPr>
          </a:p>
        </p:txBody>
      </p:sp>
      <p:pic>
        <p:nvPicPr>
          <p:cNvPr id="148"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49" name="Text 17"/>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150" name="Text 1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51"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2"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53"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154"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2 · FOUNDATIONS</a:t>
            </a:r>
            <a:endParaRPr lang="en-US" sz="1400" b="0" u="none" strike="noStrike">
              <a:solidFill>
                <a:srgbClr val="FFFFFF"/>
              </a:solidFill>
              <a:effectLst/>
              <a:uFillTx/>
              <a:latin typeface="Arial"/>
            </a:endParaRPr>
          </a:p>
        </p:txBody>
      </p:sp>
      <p:sp>
        <p:nvSpPr>
          <p:cNvPr id="155"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Foundations &amp; Terminology</a:t>
            </a:r>
            <a:endParaRPr lang="en-US" sz="4000" b="0" u="none" strike="noStrike">
              <a:solidFill>
                <a:srgbClr val="FFFFFF"/>
              </a:solidFill>
              <a:effectLst/>
              <a:uFillTx/>
              <a:latin typeface="Arial"/>
            </a:endParaRPr>
          </a:p>
        </p:txBody>
      </p:sp>
      <p:sp>
        <p:nvSpPr>
          <p:cNvPr id="156"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12 core terms that unlock everything else in this module.</a:t>
            </a:r>
            <a:endParaRPr lang="en-US" sz="1500" b="0" u="none" strike="noStrike">
              <a:solidFill>
                <a:srgbClr val="FFFFFF"/>
              </a:solidFill>
              <a:effectLst/>
              <a:uFillTx/>
              <a:latin typeface="Arial"/>
            </a:endParaRPr>
          </a:p>
        </p:txBody>
      </p:sp>
      <p:sp>
        <p:nvSpPr>
          <p:cNvPr id="157"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09</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5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15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1–4 · The Core Object</a:t>
            </a:r>
            <a:endParaRPr lang="en-US" sz="2600" b="0" u="none" strike="noStrike">
              <a:solidFill>
                <a:srgbClr val="000000"/>
              </a:solidFill>
              <a:effectLst/>
              <a:uFillTx/>
              <a:latin typeface="Arial"/>
            </a:endParaRPr>
          </a:p>
        </p:txBody>
      </p:sp>
      <p:pic>
        <p:nvPicPr>
          <p:cNvPr id="16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6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a:t>
            </a:r>
            <a:r>
              <a:rPr lang="en-US" sz="900" b="0" u="none" strike="noStrike">
                <a:solidFill>
                  <a:srgbClr val="474651"/>
                </a:solidFill>
                <a:effectLst/>
                <a:uFillTx/>
                <a:latin typeface="Plus Jakarta Sans"/>
                <a:ea typeface="Plus Jakarta Sans"/>
              </a:rPr>
              <a:t>o  ·  AI &amp; ML </a:t>
            </a:r>
            <a:r>
              <a:rPr lang="en-US" sz="900" b="0" u="none" strike="noStrike">
                <a:solidFill>
                  <a:srgbClr val="474651"/>
                </a:solidFill>
                <a:effectLst/>
                <a:uFillTx/>
                <a:latin typeface="Plus Jakarta Sans"/>
                <a:ea typeface="Plus Jakarta Sans"/>
              </a:rPr>
              <a:t>Playground  </a:t>
            </a:r>
            <a:r>
              <a:rPr lang="en-US" sz="900" b="0" u="none" strike="noStrike">
                <a:solidFill>
                  <a:srgbClr val="474651"/>
                </a:solidFill>
                <a:effectLst/>
                <a:uFillTx/>
                <a:latin typeface="Plus Jakarta Sans"/>
                <a:ea typeface="Plus Jakarta Sans"/>
              </a:rPr>
              <a:t>·  NumPy</a:t>
            </a:r>
            <a:endParaRPr lang="en-US" sz="900" b="0" u="none" strike="noStrike">
              <a:solidFill>
                <a:srgbClr val="000000"/>
              </a:solidFill>
              <a:effectLst/>
              <a:uFillTx/>
              <a:latin typeface="Arial"/>
            </a:endParaRPr>
          </a:p>
        </p:txBody>
      </p:sp>
      <p:sp>
        <p:nvSpPr>
          <p:cNvPr id="162"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3"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a:t>
            </a:r>
            <a:endParaRPr lang="en-US" sz="1500" b="0" u="none" strike="noStrike">
              <a:solidFill>
                <a:srgbClr val="000000"/>
              </a:solidFill>
              <a:effectLst/>
              <a:uFillTx/>
              <a:latin typeface="Arial"/>
            </a:endParaRPr>
          </a:p>
        </p:txBody>
      </p:sp>
      <p:sp>
        <p:nvSpPr>
          <p:cNvPr id="165"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ndarray</a:t>
            </a:r>
            <a:endParaRPr lang="en-US" sz="1350" b="0" u="none" strike="noStrike">
              <a:solidFill>
                <a:srgbClr val="000000"/>
              </a:solidFill>
              <a:effectLst/>
              <a:uFillTx/>
              <a:latin typeface="Arial"/>
            </a:endParaRPr>
          </a:p>
        </p:txBody>
      </p:sp>
      <p:sp>
        <p:nvSpPr>
          <p:cNvPr id="166"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NumPy's core data structure — an n-dimensional array of a single data type.</a:t>
            </a:r>
            <a:endParaRPr lang="en-US" sz="1050" b="0" u="none" strike="noStrike">
              <a:solidFill>
                <a:srgbClr val="000000"/>
              </a:solidFill>
              <a:effectLst/>
              <a:uFillTx/>
              <a:latin typeface="Arial"/>
            </a:endParaRPr>
          </a:p>
        </p:txBody>
      </p:sp>
      <p:sp>
        <p:nvSpPr>
          <p:cNvPr id="167"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8"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9"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2</a:t>
            </a:r>
            <a:endParaRPr lang="en-US" sz="1500" b="0" u="none" strike="noStrike">
              <a:solidFill>
                <a:srgbClr val="000000"/>
              </a:solidFill>
              <a:effectLst/>
              <a:uFillTx/>
              <a:latin typeface="Arial"/>
            </a:endParaRPr>
          </a:p>
        </p:txBody>
      </p:sp>
      <p:sp>
        <p:nvSpPr>
          <p:cNvPr id="170"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Axis</a:t>
            </a:r>
            <a:endParaRPr lang="en-US" sz="1350" b="0" u="none" strike="noStrike">
              <a:solidFill>
                <a:srgbClr val="000000"/>
              </a:solidFill>
              <a:effectLst/>
              <a:uFillTx/>
              <a:latin typeface="Arial"/>
            </a:endParaRPr>
          </a:p>
        </p:txBody>
      </p:sp>
      <p:sp>
        <p:nvSpPr>
          <p:cNvPr id="171"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direction along which an operation happens — axis 0 is rows, axis 1 is columns.</a:t>
            </a:r>
            <a:endParaRPr lang="en-US" sz="1050" b="0" u="none" strike="noStrike">
              <a:solidFill>
                <a:srgbClr val="000000"/>
              </a:solidFill>
              <a:effectLst/>
              <a:uFillTx/>
              <a:latin typeface="Arial"/>
            </a:endParaRPr>
          </a:p>
        </p:txBody>
      </p:sp>
      <p:sp>
        <p:nvSpPr>
          <p:cNvPr id="172"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4"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3</a:t>
            </a:r>
            <a:endParaRPr lang="en-US" sz="1500" b="0" u="none" strike="noStrike">
              <a:solidFill>
                <a:srgbClr val="000000"/>
              </a:solidFill>
              <a:effectLst/>
              <a:uFillTx/>
              <a:latin typeface="Arial"/>
            </a:endParaRPr>
          </a:p>
        </p:txBody>
      </p:sp>
      <p:sp>
        <p:nvSpPr>
          <p:cNvPr id="175"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Shape</a:t>
            </a:r>
            <a:endParaRPr lang="en-US" sz="1350" b="0" u="none" strike="noStrike">
              <a:solidFill>
                <a:srgbClr val="000000"/>
              </a:solidFill>
              <a:effectLst/>
              <a:uFillTx/>
              <a:latin typeface="Arial"/>
            </a:endParaRPr>
          </a:p>
        </p:txBody>
      </p:sp>
      <p:sp>
        <p:nvSpPr>
          <p:cNvPr id="176"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tuple describing an array's size along each dimension, e.g. (3, 4).</a:t>
            </a:r>
            <a:endParaRPr lang="en-US" sz="1050" b="0" u="none" strike="noStrike">
              <a:solidFill>
                <a:srgbClr val="000000"/>
              </a:solidFill>
              <a:effectLst/>
              <a:uFillTx/>
              <a:latin typeface="Arial"/>
            </a:endParaRPr>
          </a:p>
        </p:txBody>
      </p:sp>
      <p:sp>
        <p:nvSpPr>
          <p:cNvPr id="177"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8"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9"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4</a:t>
            </a:r>
            <a:endParaRPr lang="en-US" sz="1500" b="0" u="none" strike="noStrike">
              <a:solidFill>
                <a:srgbClr val="000000"/>
              </a:solidFill>
              <a:effectLst/>
              <a:uFillTx/>
              <a:latin typeface="Arial"/>
            </a:endParaRPr>
          </a:p>
        </p:txBody>
      </p:sp>
      <p:sp>
        <p:nvSpPr>
          <p:cNvPr id="180"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dtype</a:t>
            </a:r>
            <a:endParaRPr lang="en-US" sz="1350" b="0" u="none" strike="noStrike">
              <a:solidFill>
                <a:srgbClr val="000000"/>
              </a:solidFill>
              <a:effectLst/>
              <a:uFillTx/>
              <a:latin typeface="Arial"/>
            </a:endParaRPr>
          </a:p>
        </p:txBody>
      </p:sp>
      <p:sp>
        <p:nvSpPr>
          <p:cNvPr id="181"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The data type shared by every element in an array, e.g. int64, float32.</a:t>
            </a:r>
            <a:endParaRPr lang="en-US" sz="1050" b="0" u="none" strike="noStrike">
              <a:solidFill>
                <a:srgbClr val="000000"/>
              </a:solidFill>
              <a:effectLst/>
              <a:uFillTx/>
              <a:latin typeface="Arial"/>
            </a:endParaRPr>
          </a:p>
        </p:txBody>
      </p:sp>
      <p:sp>
        <p:nvSpPr>
          <p:cNvPr id="182"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8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18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5–8 · Dimensions, Named</a:t>
            </a:r>
            <a:endParaRPr lang="en-US" sz="2600" b="0" u="none" strike="noStrike">
              <a:solidFill>
                <a:srgbClr val="000000"/>
              </a:solidFill>
              <a:effectLst/>
              <a:uFillTx/>
              <a:latin typeface="Arial"/>
            </a:endParaRPr>
          </a:p>
        </p:txBody>
      </p:sp>
      <p:pic>
        <p:nvPicPr>
          <p:cNvPr id="18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8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187"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8"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9"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5</a:t>
            </a:r>
            <a:endParaRPr lang="en-US" sz="1500" b="0" u="none" strike="noStrike">
              <a:solidFill>
                <a:srgbClr val="000000"/>
              </a:solidFill>
              <a:effectLst/>
              <a:uFillTx/>
              <a:latin typeface="Arial"/>
            </a:endParaRPr>
          </a:p>
        </p:txBody>
      </p:sp>
      <p:sp>
        <p:nvSpPr>
          <p:cNvPr id="190"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Vector</a:t>
            </a:r>
            <a:endParaRPr lang="en-US" sz="1350" b="0" u="none" strike="noStrike">
              <a:solidFill>
                <a:srgbClr val="000000"/>
              </a:solidFill>
              <a:effectLst/>
              <a:uFillTx/>
              <a:latin typeface="Arial"/>
            </a:endParaRPr>
          </a:p>
        </p:txBody>
      </p:sp>
      <p:sp>
        <p:nvSpPr>
          <p:cNvPr id="191"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1-dimensional array — a single row or column of numbers.</a:t>
            </a:r>
            <a:endParaRPr lang="en-US" sz="1050" b="0" u="none" strike="noStrike">
              <a:solidFill>
                <a:srgbClr val="000000"/>
              </a:solidFill>
              <a:effectLst/>
              <a:uFillTx/>
              <a:latin typeface="Arial"/>
            </a:endParaRPr>
          </a:p>
        </p:txBody>
      </p:sp>
      <p:sp>
        <p:nvSpPr>
          <p:cNvPr id="192"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3"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4"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6</a:t>
            </a:r>
            <a:endParaRPr lang="en-US" sz="1500" b="0" u="none" strike="noStrike">
              <a:solidFill>
                <a:srgbClr val="000000"/>
              </a:solidFill>
              <a:effectLst/>
              <a:uFillTx/>
              <a:latin typeface="Arial"/>
            </a:endParaRPr>
          </a:p>
        </p:txBody>
      </p:sp>
      <p:sp>
        <p:nvSpPr>
          <p:cNvPr id="195"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Matrix</a:t>
            </a:r>
            <a:endParaRPr lang="en-US" sz="1350" b="0" u="none" strike="noStrike">
              <a:solidFill>
                <a:srgbClr val="000000"/>
              </a:solidFill>
              <a:effectLst/>
              <a:uFillTx/>
              <a:latin typeface="Arial"/>
            </a:endParaRPr>
          </a:p>
        </p:txBody>
      </p:sp>
      <p:sp>
        <p:nvSpPr>
          <p:cNvPr id="196"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2-dimensional array — rows and columns, like a spreadsheet grid.</a:t>
            </a:r>
            <a:endParaRPr lang="en-US" sz="1050" b="0" u="none" strike="noStrike">
              <a:solidFill>
                <a:srgbClr val="000000"/>
              </a:solidFill>
              <a:effectLst/>
              <a:uFillTx/>
              <a:latin typeface="Arial"/>
            </a:endParaRPr>
          </a:p>
        </p:txBody>
      </p:sp>
      <p:sp>
        <p:nvSpPr>
          <p:cNvPr id="197"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9"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7</a:t>
            </a:r>
            <a:endParaRPr lang="en-US" sz="1500" b="0" u="none" strike="noStrike">
              <a:solidFill>
                <a:srgbClr val="000000"/>
              </a:solidFill>
              <a:effectLst/>
              <a:uFillTx/>
              <a:latin typeface="Arial"/>
            </a:endParaRPr>
          </a:p>
        </p:txBody>
      </p:sp>
      <p:sp>
        <p:nvSpPr>
          <p:cNvPr id="200"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Tensor</a:t>
            </a:r>
            <a:endParaRPr lang="en-US" sz="1350" b="0" u="none" strike="noStrike">
              <a:solidFill>
                <a:srgbClr val="000000"/>
              </a:solidFill>
              <a:effectLst/>
              <a:uFillTx/>
              <a:latin typeface="Arial"/>
            </a:endParaRPr>
          </a:p>
        </p:txBody>
      </p:sp>
      <p:sp>
        <p:nvSpPr>
          <p:cNvPr id="201"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An array with 3 or more dimensions — the general term ML frameworks use.</a:t>
            </a:r>
            <a:endParaRPr lang="en-US" sz="1050" b="0" u="none" strike="noStrike">
              <a:solidFill>
                <a:srgbClr val="000000"/>
              </a:solidFill>
              <a:effectLst/>
              <a:uFillTx/>
              <a:latin typeface="Arial"/>
            </a:endParaRPr>
          </a:p>
        </p:txBody>
      </p:sp>
      <p:sp>
        <p:nvSpPr>
          <p:cNvPr id="202"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4"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8</a:t>
            </a:r>
            <a:endParaRPr lang="en-US" sz="1500" b="0" u="none" strike="noStrike">
              <a:solidFill>
                <a:srgbClr val="000000"/>
              </a:solidFill>
              <a:effectLst/>
              <a:uFillTx/>
              <a:latin typeface="Arial"/>
            </a:endParaRPr>
          </a:p>
        </p:txBody>
      </p:sp>
      <p:sp>
        <p:nvSpPr>
          <p:cNvPr id="205"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Scalar</a:t>
            </a:r>
            <a:endParaRPr lang="en-US" sz="1350" b="0" u="none" strike="noStrike">
              <a:solidFill>
                <a:srgbClr val="000000"/>
              </a:solidFill>
              <a:effectLst/>
              <a:uFillTx/>
              <a:latin typeface="Arial"/>
            </a:endParaRPr>
          </a:p>
        </p:txBody>
      </p:sp>
      <p:sp>
        <p:nvSpPr>
          <p:cNvPr id="206"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single number — technically a 0-dimensional array.</a:t>
            </a:r>
            <a:endParaRPr lang="en-US" sz="1050" b="0" u="none" strike="noStrike">
              <a:solidFill>
                <a:srgbClr val="000000"/>
              </a:solidFill>
              <a:effectLst/>
              <a:uFillTx/>
              <a:latin typeface="Arial"/>
            </a:endParaRPr>
          </a:p>
        </p:txBody>
      </p:sp>
      <p:sp>
        <p:nvSpPr>
          <p:cNvPr id="207"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0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0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9–12 · How NumPy Operates</a:t>
            </a:r>
            <a:endParaRPr lang="en-US" sz="2600" b="0" u="none" strike="noStrike">
              <a:solidFill>
                <a:srgbClr val="000000"/>
              </a:solidFill>
              <a:effectLst/>
              <a:uFillTx/>
              <a:latin typeface="Arial"/>
            </a:endParaRPr>
          </a:p>
        </p:txBody>
      </p:sp>
      <p:pic>
        <p:nvPicPr>
          <p:cNvPr id="21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21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212"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3"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4"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9</a:t>
            </a:r>
            <a:endParaRPr lang="en-US" sz="1500" b="0" u="none" strike="noStrike">
              <a:solidFill>
                <a:srgbClr val="000000"/>
              </a:solidFill>
              <a:effectLst/>
              <a:uFillTx/>
              <a:latin typeface="Arial"/>
            </a:endParaRPr>
          </a:p>
        </p:txBody>
      </p:sp>
      <p:sp>
        <p:nvSpPr>
          <p:cNvPr id="215"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Broadcasting</a:t>
            </a:r>
            <a:endParaRPr lang="en-US" sz="1350" b="0" u="none" strike="noStrike">
              <a:solidFill>
                <a:srgbClr val="000000"/>
              </a:solidFill>
              <a:effectLst/>
              <a:uFillTx/>
              <a:latin typeface="Arial"/>
            </a:endParaRPr>
          </a:p>
        </p:txBody>
      </p:sp>
      <p:sp>
        <p:nvSpPr>
          <p:cNvPr id="216"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NumPy automatically stretching a smaller array to match a bigger one during an operation.</a:t>
            </a:r>
            <a:endParaRPr lang="en-US" sz="1050" b="0" u="none" strike="noStrike">
              <a:solidFill>
                <a:srgbClr val="000000"/>
              </a:solidFill>
              <a:effectLst/>
              <a:uFillTx/>
              <a:latin typeface="Arial"/>
            </a:endParaRPr>
          </a:p>
        </p:txBody>
      </p:sp>
      <p:sp>
        <p:nvSpPr>
          <p:cNvPr id="217"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8"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9"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10</a:t>
            </a:r>
            <a:endParaRPr lang="en-US" sz="1500" b="0" u="none" strike="noStrike">
              <a:solidFill>
                <a:srgbClr val="000000"/>
              </a:solidFill>
              <a:effectLst/>
              <a:uFillTx/>
              <a:latin typeface="Arial"/>
            </a:endParaRPr>
          </a:p>
        </p:txBody>
      </p:sp>
      <p:sp>
        <p:nvSpPr>
          <p:cNvPr id="220"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Vectorization</a:t>
            </a:r>
            <a:endParaRPr lang="en-US" sz="1350" b="0" u="none" strike="noStrike">
              <a:solidFill>
                <a:srgbClr val="000000"/>
              </a:solidFill>
              <a:effectLst/>
              <a:uFillTx/>
              <a:latin typeface="Arial"/>
            </a:endParaRPr>
          </a:p>
        </p:txBody>
      </p:sp>
      <p:sp>
        <p:nvSpPr>
          <p:cNvPr id="221"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Applying an operation to an entire array at once, instead of looping element by element.</a:t>
            </a:r>
            <a:endParaRPr lang="en-US" sz="1050" b="0" u="none" strike="noStrike">
              <a:solidFill>
                <a:srgbClr val="000000"/>
              </a:solidFill>
              <a:effectLst/>
              <a:uFillTx/>
              <a:latin typeface="Arial"/>
            </a:endParaRPr>
          </a:p>
        </p:txBody>
      </p:sp>
      <p:sp>
        <p:nvSpPr>
          <p:cNvPr id="222"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4"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11</a:t>
            </a:r>
            <a:endParaRPr lang="en-US" sz="1500" b="0" u="none" strike="noStrike">
              <a:solidFill>
                <a:srgbClr val="000000"/>
              </a:solidFill>
              <a:effectLst/>
              <a:uFillTx/>
              <a:latin typeface="Arial"/>
            </a:endParaRPr>
          </a:p>
        </p:txBody>
      </p:sp>
      <p:sp>
        <p:nvSpPr>
          <p:cNvPr id="225"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Indexing</a:t>
            </a:r>
            <a:endParaRPr lang="en-US" sz="1350" b="0" u="none" strike="noStrike">
              <a:solidFill>
                <a:srgbClr val="000000"/>
              </a:solidFill>
              <a:effectLst/>
              <a:uFillTx/>
              <a:latin typeface="Arial"/>
            </a:endParaRPr>
          </a:p>
        </p:txBody>
      </p:sp>
      <p:sp>
        <p:nvSpPr>
          <p:cNvPr id="226"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Accessing one specific element of an array by its position.</a:t>
            </a:r>
            <a:endParaRPr lang="en-US" sz="1050" b="0" u="none" strike="noStrike">
              <a:solidFill>
                <a:srgbClr val="000000"/>
              </a:solidFill>
              <a:effectLst/>
              <a:uFillTx/>
              <a:latin typeface="Arial"/>
            </a:endParaRPr>
          </a:p>
        </p:txBody>
      </p:sp>
      <p:sp>
        <p:nvSpPr>
          <p:cNvPr id="227"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8"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9"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12</a:t>
            </a:r>
            <a:endParaRPr lang="en-US" sz="1500" b="0" u="none" strike="noStrike">
              <a:solidFill>
                <a:srgbClr val="000000"/>
              </a:solidFill>
              <a:effectLst/>
              <a:uFillTx/>
              <a:latin typeface="Arial"/>
            </a:endParaRPr>
          </a:p>
        </p:txBody>
      </p:sp>
      <p:sp>
        <p:nvSpPr>
          <p:cNvPr id="230"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Slicing</a:t>
            </a:r>
            <a:endParaRPr lang="en-US" sz="1350" b="0" u="none" strike="noStrike">
              <a:solidFill>
                <a:srgbClr val="000000"/>
              </a:solidFill>
              <a:effectLst/>
              <a:uFillTx/>
              <a:latin typeface="Arial"/>
            </a:endParaRPr>
          </a:p>
        </p:txBody>
      </p:sp>
      <p:sp>
        <p:nvSpPr>
          <p:cNvPr id="231"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Accessing a range/subset of an array using start:stop:step.</a:t>
            </a:r>
            <a:endParaRPr lang="en-US" sz="1050" b="0" u="none" strike="noStrike">
              <a:solidFill>
                <a:srgbClr val="000000"/>
              </a:solidFill>
              <a:effectLst/>
              <a:uFillTx/>
              <a:latin typeface="Arial"/>
            </a:endParaRPr>
          </a:p>
        </p:txBody>
      </p:sp>
      <p:sp>
        <p:nvSpPr>
          <p:cNvPr id="232"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3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3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Vector, Matrix &amp; Tensor — Visualized</a:t>
            </a:r>
            <a:endParaRPr lang="en-US" sz="2600" b="0" u="none" strike="noStrike">
              <a:solidFill>
                <a:srgbClr val="000000"/>
              </a:solidFill>
              <a:effectLst/>
              <a:uFillTx/>
              <a:latin typeface="Arial"/>
            </a:endParaRPr>
          </a:p>
        </p:txBody>
      </p:sp>
      <p:pic>
        <p:nvPicPr>
          <p:cNvPr id="23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23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237" name="Text 3"/>
          <p:cNvSpPr/>
          <p:nvPr/>
        </p:nvSpPr>
        <p:spPr>
          <a:xfrm>
            <a:off x="822960" y="1645920"/>
            <a:ext cx="2742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5755A7"/>
                </a:solidFill>
                <a:effectLst/>
                <a:uFillTx/>
                <a:latin typeface="Bricolage Grotesque"/>
                <a:ea typeface="Bricolage Grotesque"/>
              </a:rPr>
              <a:t>Vector (1D)</a:t>
            </a:r>
            <a:endParaRPr lang="en-US" sz="1300" b="0" u="none" strike="noStrike">
              <a:solidFill>
                <a:srgbClr val="000000"/>
              </a:solidFill>
              <a:effectLst/>
              <a:uFillTx/>
              <a:latin typeface="Arial"/>
            </a:endParaRPr>
          </a:p>
        </p:txBody>
      </p:sp>
      <p:sp>
        <p:nvSpPr>
          <p:cNvPr id="238" name="Shape 4"/>
          <p:cNvSpPr/>
          <p:nvPr/>
        </p:nvSpPr>
        <p:spPr>
          <a:xfrm>
            <a:off x="82296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Text 5"/>
          <p:cNvSpPr/>
          <p:nvPr/>
        </p:nvSpPr>
        <p:spPr>
          <a:xfrm>
            <a:off x="82296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4</a:t>
            </a:r>
            <a:endParaRPr lang="en-US" sz="1300" b="0" u="none" strike="noStrike">
              <a:solidFill>
                <a:srgbClr val="000000"/>
              </a:solidFill>
              <a:effectLst/>
              <a:uFillTx/>
              <a:latin typeface="Arial"/>
            </a:endParaRPr>
          </a:p>
        </p:txBody>
      </p:sp>
      <p:sp>
        <p:nvSpPr>
          <p:cNvPr id="240" name="Shape 6"/>
          <p:cNvSpPr/>
          <p:nvPr/>
        </p:nvSpPr>
        <p:spPr>
          <a:xfrm>
            <a:off x="138996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1" name="Text 7"/>
          <p:cNvSpPr/>
          <p:nvPr/>
        </p:nvSpPr>
        <p:spPr>
          <a:xfrm>
            <a:off x="138996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8</a:t>
            </a:r>
            <a:endParaRPr lang="en-US" sz="1300" b="0" u="none" strike="noStrike">
              <a:solidFill>
                <a:srgbClr val="000000"/>
              </a:solidFill>
              <a:effectLst/>
              <a:uFillTx/>
              <a:latin typeface="Arial"/>
            </a:endParaRPr>
          </a:p>
        </p:txBody>
      </p:sp>
      <p:sp>
        <p:nvSpPr>
          <p:cNvPr id="242" name="Shape 8"/>
          <p:cNvSpPr/>
          <p:nvPr/>
        </p:nvSpPr>
        <p:spPr>
          <a:xfrm>
            <a:off x="195696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3" name="Text 9"/>
          <p:cNvSpPr/>
          <p:nvPr/>
        </p:nvSpPr>
        <p:spPr>
          <a:xfrm>
            <a:off x="195696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15</a:t>
            </a:r>
            <a:endParaRPr lang="en-US" sz="1300" b="0" u="none" strike="noStrike">
              <a:solidFill>
                <a:srgbClr val="000000"/>
              </a:solidFill>
              <a:effectLst/>
              <a:uFillTx/>
              <a:latin typeface="Arial"/>
            </a:endParaRPr>
          </a:p>
        </p:txBody>
      </p:sp>
      <p:sp>
        <p:nvSpPr>
          <p:cNvPr id="244" name="Shape 10"/>
          <p:cNvSpPr/>
          <p:nvPr/>
        </p:nvSpPr>
        <p:spPr>
          <a:xfrm>
            <a:off x="252360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Text 11"/>
          <p:cNvSpPr/>
          <p:nvPr/>
        </p:nvSpPr>
        <p:spPr>
          <a:xfrm>
            <a:off x="252360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16</a:t>
            </a:r>
            <a:endParaRPr lang="en-US" sz="1300" b="0" u="none" strike="noStrike">
              <a:solidFill>
                <a:srgbClr val="000000"/>
              </a:solidFill>
              <a:effectLst/>
              <a:uFillTx/>
              <a:latin typeface="Arial"/>
            </a:endParaRPr>
          </a:p>
        </p:txBody>
      </p:sp>
      <p:sp>
        <p:nvSpPr>
          <p:cNvPr id="246" name="Shape 12"/>
          <p:cNvSpPr/>
          <p:nvPr/>
        </p:nvSpPr>
        <p:spPr>
          <a:xfrm>
            <a:off x="309060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7" name="Text 13"/>
          <p:cNvSpPr/>
          <p:nvPr/>
        </p:nvSpPr>
        <p:spPr>
          <a:xfrm>
            <a:off x="309060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23</a:t>
            </a:r>
            <a:endParaRPr lang="en-US" sz="1300" b="0" u="none" strike="noStrike">
              <a:solidFill>
                <a:srgbClr val="000000"/>
              </a:solidFill>
              <a:effectLst/>
              <a:uFillTx/>
              <a:latin typeface="Arial"/>
            </a:endParaRPr>
          </a:p>
        </p:txBody>
      </p:sp>
      <p:sp>
        <p:nvSpPr>
          <p:cNvPr id="248" name="Text 14"/>
          <p:cNvSpPr/>
          <p:nvPr/>
        </p:nvSpPr>
        <p:spPr>
          <a:xfrm>
            <a:off x="822960" y="2926080"/>
            <a:ext cx="2742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BE185D"/>
                </a:solidFill>
                <a:effectLst/>
                <a:uFillTx/>
                <a:latin typeface="Bricolage Grotesque"/>
                <a:ea typeface="Bricolage Grotesque"/>
              </a:rPr>
              <a:t>Matrix (2D)</a:t>
            </a:r>
            <a:endParaRPr lang="en-US" sz="1300" b="0" u="none" strike="noStrike">
              <a:solidFill>
                <a:srgbClr val="000000"/>
              </a:solidFill>
              <a:effectLst/>
              <a:uFillTx/>
              <a:latin typeface="Arial"/>
            </a:endParaRPr>
          </a:p>
        </p:txBody>
      </p:sp>
      <p:sp>
        <p:nvSpPr>
          <p:cNvPr id="249" name="Shape 15"/>
          <p:cNvSpPr/>
          <p:nvPr/>
        </p:nvSpPr>
        <p:spPr>
          <a:xfrm>
            <a:off x="822960" y="338328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0" name="Text 16"/>
          <p:cNvSpPr/>
          <p:nvPr/>
        </p:nvSpPr>
        <p:spPr>
          <a:xfrm>
            <a:off x="822960" y="338328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1</a:t>
            </a:r>
            <a:endParaRPr lang="en-US" sz="1250" b="0" u="none" strike="noStrike">
              <a:solidFill>
                <a:srgbClr val="000000"/>
              </a:solidFill>
              <a:effectLst/>
              <a:uFillTx/>
              <a:latin typeface="Arial"/>
            </a:endParaRPr>
          </a:p>
        </p:txBody>
      </p:sp>
      <p:sp>
        <p:nvSpPr>
          <p:cNvPr id="251" name="Shape 17"/>
          <p:cNvSpPr/>
          <p:nvPr/>
        </p:nvSpPr>
        <p:spPr>
          <a:xfrm>
            <a:off x="1389960" y="338328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2" name="Text 18"/>
          <p:cNvSpPr/>
          <p:nvPr/>
        </p:nvSpPr>
        <p:spPr>
          <a:xfrm>
            <a:off x="1389960" y="338328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2</a:t>
            </a:r>
            <a:endParaRPr lang="en-US" sz="1250" b="0" u="none" strike="noStrike">
              <a:solidFill>
                <a:srgbClr val="000000"/>
              </a:solidFill>
              <a:effectLst/>
              <a:uFillTx/>
              <a:latin typeface="Arial"/>
            </a:endParaRPr>
          </a:p>
        </p:txBody>
      </p:sp>
      <p:sp>
        <p:nvSpPr>
          <p:cNvPr id="253" name="Shape 19"/>
          <p:cNvSpPr/>
          <p:nvPr/>
        </p:nvSpPr>
        <p:spPr>
          <a:xfrm>
            <a:off x="1956960" y="338328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4" name="Text 20"/>
          <p:cNvSpPr/>
          <p:nvPr/>
        </p:nvSpPr>
        <p:spPr>
          <a:xfrm>
            <a:off x="1956960" y="338328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3</a:t>
            </a:r>
            <a:endParaRPr lang="en-US" sz="1250" b="0" u="none" strike="noStrike">
              <a:solidFill>
                <a:srgbClr val="000000"/>
              </a:solidFill>
              <a:effectLst/>
              <a:uFillTx/>
              <a:latin typeface="Arial"/>
            </a:endParaRPr>
          </a:p>
        </p:txBody>
      </p:sp>
      <p:sp>
        <p:nvSpPr>
          <p:cNvPr id="255" name="Shape 21"/>
          <p:cNvSpPr/>
          <p:nvPr/>
        </p:nvSpPr>
        <p:spPr>
          <a:xfrm>
            <a:off x="822960" y="388620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6" name="Text 22"/>
          <p:cNvSpPr/>
          <p:nvPr/>
        </p:nvSpPr>
        <p:spPr>
          <a:xfrm>
            <a:off x="822960" y="388620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4</a:t>
            </a:r>
            <a:endParaRPr lang="en-US" sz="1250" b="0" u="none" strike="noStrike">
              <a:solidFill>
                <a:srgbClr val="000000"/>
              </a:solidFill>
              <a:effectLst/>
              <a:uFillTx/>
              <a:latin typeface="Arial"/>
            </a:endParaRPr>
          </a:p>
        </p:txBody>
      </p:sp>
      <p:sp>
        <p:nvSpPr>
          <p:cNvPr id="257" name="Shape 23"/>
          <p:cNvSpPr/>
          <p:nvPr/>
        </p:nvSpPr>
        <p:spPr>
          <a:xfrm>
            <a:off x="1389960" y="388620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Text 24"/>
          <p:cNvSpPr/>
          <p:nvPr/>
        </p:nvSpPr>
        <p:spPr>
          <a:xfrm>
            <a:off x="1389960" y="388620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5</a:t>
            </a:r>
            <a:endParaRPr lang="en-US" sz="1250" b="0" u="none" strike="noStrike">
              <a:solidFill>
                <a:srgbClr val="000000"/>
              </a:solidFill>
              <a:effectLst/>
              <a:uFillTx/>
              <a:latin typeface="Arial"/>
            </a:endParaRPr>
          </a:p>
        </p:txBody>
      </p:sp>
      <p:sp>
        <p:nvSpPr>
          <p:cNvPr id="259" name="Shape 25"/>
          <p:cNvSpPr/>
          <p:nvPr/>
        </p:nvSpPr>
        <p:spPr>
          <a:xfrm>
            <a:off x="1956960" y="388620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Text 26"/>
          <p:cNvSpPr/>
          <p:nvPr/>
        </p:nvSpPr>
        <p:spPr>
          <a:xfrm>
            <a:off x="1956960" y="388620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6</a:t>
            </a:r>
            <a:endParaRPr lang="en-US" sz="1250" b="0" u="none" strike="noStrike">
              <a:solidFill>
                <a:srgbClr val="000000"/>
              </a:solidFill>
              <a:effectLst/>
              <a:uFillTx/>
              <a:latin typeface="Arial"/>
            </a:endParaRPr>
          </a:p>
        </p:txBody>
      </p:sp>
      <p:sp>
        <p:nvSpPr>
          <p:cNvPr id="261" name="Shape 27"/>
          <p:cNvSpPr/>
          <p:nvPr/>
        </p:nvSpPr>
        <p:spPr>
          <a:xfrm>
            <a:off x="822960" y="4389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2" name="Text 28"/>
          <p:cNvSpPr/>
          <p:nvPr/>
        </p:nvSpPr>
        <p:spPr>
          <a:xfrm>
            <a:off x="822960" y="4389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7</a:t>
            </a:r>
            <a:endParaRPr lang="en-US" sz="1250" b="0" u="none" strike="noStrike">
              <a:solidFill>
                <a:srgbClr val="000000"/>
              </a:solidFill>
              <a:effectLst/>
              <a:uFillTx/>
              <a:latin typeface="Arial"/>
            </a:endParaRPr>
          </a:p>
        </p:txBody>
      </p:sp>
      <p:sp>
        <p:nvSpPr>
          <p:cNvPr id="263" name="Shape 29"/>
          <p:cNvSpPr/>
          <p:nvPr/>
        </p:nvSpPr>
        <p:spPr>
          <a:xfrm>
            <a:off x="1389960" y="4389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Text 30"/>
          <p:cNvSpPr/>
          <p:nvPr/>
        </p:nvSpPr>
        <p:spPr>
          <a:xfrm>
            <a:off x="1389960" y="4389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8</a:t>
            </a:r>
            <a:endParaRPr lang="en-US" sz="1250" b="0" u="none" strike="noStrike">
              <a:solidFill>
                <a:srgbClr val="000000"/>
              </a:solidFill>
              <a:effectLst/>
              <a:uFillTx/>
              <a:latin typeface="Arial"/>
            </a:endParaRPr>
          </a:p>
        </p:txBody>
      </p:sp>
      <p:sp>
        <p:nvSpPr>
          <p:cNvPr id="265" name="Shape 31"/>
          <p:cNvSpPr/>
          <p:nvPr/>
        </p:nvSpPr>
        <p:spPr>
          <a:xfrm>
            <a:off x="1956960" y="4389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6" name="Text 32"/>
          <p:cNvSpPr/>
          <p:nvPr/>
        </p:nvSpPr>
        <p:spPr>
          <a:xfrm>
            <a:off x="1956960" y="4389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9</a:t>
            </a:r>
            <a:endParaRPr lang="en-US" sz="1250" b="0" u="none" strike="noStrike">
              <a:solidFill>
                <a:srgbClr val="000000"/>
              </a:solidFill>
              <a:effectLst/>
              <a:uFillTx/>
              <a:latin typeface="Arial"/>
            </a:endParaRPr>
          </a:p>
        </p:txBody>
      </p:sp>
      <p:sp>
        <p:nvSpPr>
          <p:cNvPr id="267" name="Text 33"/>
          <p:cNvSpPr/>
          <p:nvPr/>
        </p:nvSpPr>
        <p:spPr>
          <a:xfrm>
            <a:off x="5120640" y="1645920"/>
            <a:ext cx="2742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386759"/>
                </a:solidFill>
                <a:effectLst/>
                <a:uFillTx/>
                <a:latin typeface="Bricolage Grotesque"/>
                <a:ea typeface="Bricolage Grotesque"/>
              </a:rPr>
              <a:t>Tensor (3D+)</a:t>
            </a:r>
            <a:endParaRPr lang="en-US" sz="1300" b="0" u="none" strike="noStrike">
              <a:solidFill>
                <a:srgbClr val="000000"/>
              </a:solidFill>
              <a:effectLst/>
              <a:uFillTx/>
              <a:latin typeface="Arial"/>
            </a:endParaRPr>
          </a:p>
        </p:txBody>
      </p:sp>
      <p:sp>
        <p:nvSpPr>
          <p:cNvPr id="268" name="Shape 34"/>
          <p:cNvSpPr/>
          <p:nvPr/>
        </p:nvSpPr>
        <p:spPr>
          <a:xfrm>
            <a:off x="5440680" y="242316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9" name="Text 35"/>
          <p:cNvSpPr/>
          <p:nvPr/>
        </p:nvSpPr>
        <p:spPr>
          <a:xfrm>
            <a:off x="5440680" y="242316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1</a:t>
            </a:r>
            <a:endParaRPr lang="en-US" sz="1250" b="0" u="none" strike="noStrike">
              <a:solidFill>
                <a:srgbClr val="000000"/>
              </a:solidFill>
              <a:effectLst/>
              <a:uFillTx/>
              <a:latin typeface="Arial"/>
            </a:endParaRPr>
          </a:p>
        </p:txBody>
      </p:sp>
      <p:sp>
        <p:nvSpPr>
          <p:cNvPr id="270" name="Shape 36"/>
          <p:cNvSpPr/>
          <p:nvPr/>
        </p:nvSpPr>
        <p:spPr>
          <a:xfrm>
            <a:off x="5970960" y="242316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1" name="Text 37"/>
          <p:cNvSpPr/>
          <p:nvPr/>
        </p:nvSpPr>
        <p:spPr>
          <a:xfrm>
            <a:off x="5970960" y="242316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2</a:t>
            </a:r>
            <a:endParaRPr lang="en-US" sz="1250" b="0" u="none" strike="noStrike">
              <a:solidFill>
                <a:srgbClr val="000000"/>
              </a:solidFill>
              <a:effectLst/>
              <a:uFillTx/>
              <a:latin typeface="Arial"/>
            </a:endParaRPr>
          </a:p>
        </p:txBody>
      </p:sp>
      <p:sp>
        <p:nvSpPr>
          <p:cNvPr id="272" name="Shape 38"/>
          <p:cNvSpPr/>
          <p:nvPr/>
        </p:nvSpPr>
        <p:spPr>
          <a:xfrm>
            <a:off x="5440680" y="289872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3" name="Text 39"/>
          <p:cNvSpPr/>
          <p:nvPr/>
        </p:nvSpPr>
        <p:spPr>
          <a:xfrm>
            <a:off x="5440680" y="289872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3</a:t>
            </a:r>
            <a:endParaRPr lang="en-US" sz="1250" b="0" u="none" strike="noStrike">
              <a:solidFill>
                <a:srgbClr val="000000"/>
              </a:solidFill>
              <a:effectLst/>
              <a:uFillTx/>
              <a:latin typeface="Arial"/>
            </a:endParaRPr>
          </a:p>
        </p:txBody>
      </p:sp>
      <p:sp>
        <p:nvSpPr>
          <p:cNvPr id="274" name="Shape 40"/>
          <p:cNvSpPr/>
          <p:nvPr/>
        </p:nvSpPr>
        <p:spPr>
          <a:xfrm>
            <a:off x="5970960" y="289872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5" name="Text 41"/>
          <p:cNvSpPr/>
          <p:nvPr/>
        </p:nvSpPr>
        <p:spPr>
          <a:xfrm>
            <a:off x="5970960" y="289872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4</a:t>
            </a:r>
            <a:endParaRPr lang="en-US" sz="1250" b="0" u="none" strike="noStrike">
              <a:solidFill>
                <a:srgbClr val="000000"/>
              </a:solidFill>
              <a:effectLst/>
              <a:uFillTx/>
              <a:latin typeface="Arial"/>
            </a:endParaRPr>
          </a:p>
        </p:txBody>
      </p:sp>
      <p:sp>
        <p:nvSpPr>
          <p:cNvPr id="276" name="Shape 42"/>
          <p:cNvSpPr/>
          <p:nvPr/>
        </p:nvSpPr>
        <p:spPr>
          <a:xfrm>
            <a:off x="5120640" y="210312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7" name="Text 43"/>
          <p:cNvSpPr/>
          <p:nvPr/>
        </p:nvSpPr>
        <p:spPr>
          <a:xfrm>
            <a:off x="5120640" y="210312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5</a:t>
            </a:r>
            <a:endParaRPr lang="en-US" sz="1250" b="0" u="none" strike="noStrike">
              <a:solidFill>
                <a:srgbClr val="000000"/>
              </a:solidFill>
              <a:effectLst/>
              <a:uFillTx/>
              <a:latin typeface="Arial"/>
            </a:endParaRPr>
          </a:p>
        </p:txBody>
      </p:sp>
      <p:sp>
        <p:nvSpPr>
          <p:cNvPr id="278" name="Shape 44"/>
          <p:cNvSpPr/>
          <p:nvPr/>
        </p:nvSpPr>
        <p:spPr>
          <a:xfrm>
            <a:off x="5650920" y="210312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9" name="Text 45"/>
          <p:cNvSpPr/>
          <p:nvPr/>
        </p:nvSpPr>
        <p:spPr>
          <a:xfrm>
            <a:off x="5650920" y="210312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6</a:t>
            </a:r>
            <a:endParaRPr lang="en-US" sz="1250" b="0" u="none" strike="noStrike">
              <a:solidFill>
                <a:srgbClr val="000000"/>
              </a:solidFill>
              <a:effectLst/>
              <a:uFillTx/>
              <a:latin typeface="Arial"/>
            </a:endParaRPr>
          </a:p>
        </p:txBody>
      </p:sp>
      <p:sp>
        <p:nvSpPr>
          <p:cNvPr id="280" name="Shape 46"/>
          <p:cNvSpPr/>
          <p:nvPr/>
        </p:nvSpPr>
        <p:spPr>
          <a:xfrm>
            <a:off x="5120640" y="257868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1" name="Text 47"/>
          <p:cNvSpPr/>
          <p:nvPr/>
        </p:nvSpPr>
        <p:spPr>
          <a:xfrm>
            <a:off x="5120640" y="257868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7</a:t>
            </a:r>
            <a:endParaRPr lang="en-US" sz="1250" b="0" u="none" strike="noStrike">
              <a:solidFill>
                <a:srgbClr val="000000"/>
              </a:solidFill>
              <a:effectLst/>
              <a:uFillTx/>
              <a:latin typeface="Arial"/>
            </a:endParaRPr>
          </a:p>
        </p:txBody>
      </p:sp>
      <p:sp>
        <p:nvSpPr>
          <p:cNvPr id="282" name="Shape 48"/>
          <p:cNvSpPr/>
          <p:nvPr/>
        </p:nvSpPr>
        <p:spPr>
          <a:xfrm>
            <a:off x="5650920" y="257868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3" name="Text 49"/>
          <p:cNvSpPr/>
          <p:nvPr/>
        </p:nvSpPr>
        <p:spPr>
          <a:xfrm>
            <a:off x="5650920" y="257868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8</a:t>
            </a:r>
            <a:endParaRPr lang="en-US" sz="1250" b="0" u="none" strike="noStrike">
              <a:solidFill>
                <a:srgbClr val="000000"/>
              </a:solidFill>
              <a:effectLst/>
              <a:uFillTx/>
              <a:latin typeface="Arial"/>
            </a:endParaRPr>
          </a:p>
        </p:txBody>
      </p:sp>
      <p:sp>
        <p:nvSpPr>
          <p:cNvPr id="284" name="Text 50"/>
          <p:cNvSpPr/>
          <p:nvPr/>
        </p:nvSpPr>
        <p:spPr>
          <a:xfrm>
            <a:off x="7955280" y="1920240"/>
            <a:ext cx="3702960" cy="3840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1B1B20"/>
              </a:buClr>
              <a:buFont typeface="Symbol" charset="2"/>
              <a:buChar char=""/>
            </a:pPr>
            <a:r>
              <a:rPr lang="en-US" sz="1150" b="0" u="none" strike="noStrike">
                <a:solidFill>
                  <a:srgbClr val="1B1B20"/>
                </a:solidFill>
                <a:effectLst/>
                <a:uFillTx/>
                <a:latin typeface="Hanken Grotesk"/>
                <a:ea typeface="Hanken Grotesk"/>
              </a:rPr>
              <a:t>A Vector is a 1D array — one row of numbers, like a single feature column.</a:t>
            </a:r>
            <a:endParaRPr lang="en-US" sz="11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150" b="0" u="none" strike="noStrike">
                <a:solidFill>
                  <a:srgbClr val="1B1B20"/>
                </a:solidFill>
                <a:effectLst/>
                <a:uFillTx/>
                <a:latin typeface="Hanken Grotesk"/>
                <a:ea typeface="Hanken Grotesk"/>
              </a:rPr>
              <a:t>A Matrix is a 2D array — rows and columns, like a spreadsheet or a grayscale image.</a:t>
            </a:r>
            <a:endParaRPr lang="en-US" sz="11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150" b="0" u="none" strike="noStrike">
                <a:solidFill>
                  <a:srgbClr val="1B1B20"/>
                </a:solidFill>
                <a:effectLst/>
                <a:uFillTx/>
                <a:latin typeface="Hanken Grotesk"/>
                <a:ea typeface="Hanken Grotesk"/>
              </a:rPr>
              <a:t>A Tensor is 3D or higher — stacked matrices, like a color image (height x width x channels) or a batch of them.</a:t>
            </a:r>
            <a:endParaRPr lang="en-US" sz="11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150" b="0" u="none" strike="noStrike">
                <a:solidFill>
                  <a:srgbClr val="1B1B20"/>
                </a:solidFill>
                <a:effectLst/>
                <a:uFillTx/>
                <a:latin typeface="Hanken Grotesk"/>
                <a:ea typeface="Hanken Grotesk"/>
              </a:rPr>
              <a:t>NumPy handles all three with the exact same ndarray object — only the shape changes.</a:t>
            </a:r>
            <a:endParaRPr lang="en-US" sz="1150" b="0" u="none" strike="noStrike">
              <a:solidFill>
                <a:srgbClr val="000000"/>
              </a:solidFill>
              <a:effectLst/>
              <a:uFillTx/>
              <a:latin typeface="Arial"/>
            </a:endParaRPr>
          </a:p>
        </p:txBody>
      </p:sp>
      <p:sp>
        <p:nvSpPr>
          <p:cNvPr id="285" name="Text 5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8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28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8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Foundations &amp; Terminology</a:t>
            </a:r>
            <a:endParaRPr lang="en-US" sz="2300" b="0" u="none" strike="noStrike">
              <a:solidFill>
                <a:srgbClr val="000000"/>
              </a:solidFill>
              <a:effectLst/>
              <a:uFillTx/>
              <a:latin typeface="Arial"/>
            </a:endParaRPr>
          </a:p>
        </p:txBody>
      </p:sp>
      <p:sp>
        <p:nvSpPr>
          <p:cNvPr id="29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29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29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 your own words, explain the difference between a vector, a matrix, and a tensor.</a:t>
            </a:r>
            <a:endParaRPr lang="en-US" sz="1300" b="0" u="none" strike="noStrike">
              <a:solidFill>
                <a:srgbClr val="000000"/>
              </a:solidFill>
              <a:effectLst/>
              <a:uFillTx/>
              <a:latin typeface="Arial"/>
            </a:endParaRPr>
          </a:p>
        </p:txBody>
      </p:sp>
      <p:sp>
        <p:nvSpPr>
          <p:cNvPr id="29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29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Name the axis number for rows and the axis number for columns in a 2D array.</a:t>
            </a:r>
            <a:endParaRPr lang="en-US" sz="1300" b="0" u="none" strike="noStrike">
              <a:solidFill>
                <a:srgbClr val="000000"/>
              </a:solidFill>
              <a:effectLst/>
              <a:uFillTx/>
              <a:latin typeface="Arial"/>
            </a:endParaRPr>
          </a:p>
        </p:txBody>
      </p:sp>
      <p:sp>
        <p:nvSpPr>
          <p:cNvPr id="29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0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Explain what broadcasting means, using a simple example (array + single number).</a:t>
            </a:r>
            <a:endParaRPr lang="en-US" sz="1300" b="0" u="none" strike="noStrike">
              <a:solidFill>
                <a:srgbClr val="000000"/>
              </a:solidFill>
              <a:effectLst/>
              <a:uFillTx/>
              <a:latin typeface="Arial"/>
            </a:endParaRPr>
          </a:p>
        </p:txBody>
      </p:sp>
      <p:sp>
        <p:nvSpPr>
          <p:cNvPr id="30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0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Explain why vectorization is usually faster than a Python for-loop.</a:t>
            </a:r>
            <a:endParaRPr lang="en-US" sz="1300" b="0" u="none" strike="noStrike">
              <a:solidFill>
                <a:srgbClr val="000000"/>
              </a:solidFill>
              <a:effectLst/>
              <a:uFillTx/>
              <a:latin typeface="Arial"/>
            </a:endParaRPr>
          </a:p>
        </p:txBody>
      </p:sp>
      <p:pic>
        <p:nvPicPr>
          <p:cNvPr id="307"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0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30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310"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1"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12"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313"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3 · CREATING ARRAYS</a:t>
            </a:r>
            <a:endParaRPr lang="en-US" sz="1400" b="0" u="none" strike="noStrike">
              <a:solidFill>
                <a:srgbClr val="FFFFFF"/>
              </a:solidFill>
              <a:effectLst/>
              <a:uFillTx/>
              <a:latin typeface="Arial"/>
            </a:endParaRPr>
          </a:p>
        </p:txBody>
      </p:sp>
      <p:sp>
        <p:nvSpPr>
          <p:cNvPr id="314"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Creating Arrays</a:t>
            </a:r>
            <a:endParaRPr lang="en-US" sz="4000" b="0" u="none" strike="noStrike">
              <a:solidFill>
                <a:srgbClr val="FFFFFF"/>
              </a:solidFill>
              <a:effectLst/>
              <a:uFillTx/>
              <a:latin typeface="Arial"/>
            </a:endParaRPr>
          </a:p>
        </p:txBody>
      </p:sp>
      <p:sp>
        <p:nvSpPr>
          <p:cNvPr id="315"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Every array starts somewhere — from a list, a shortcut function, or a range of values.</a:t>
            </a:r>
            <a:endParaRPr lang="en-US" sz="1500" b="0" u="none" strike="noStrike">
              <a:solidFill>
                <a:srgbClr val="FFFFFF"/>
              </a:solidFill>
              <a:effectLst/>
              <a:uFillTx/>
              <a:latin typeface="Arial"/>
            </a:endParaRPr>
          </a:p>
        </p:txBody>
      </p:sp>
      <p:sp>
        <p:nvSpPr>
          <p:cNvPr id="316"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15</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1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1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From a List — np.array()</a:t>
            </a:r>
            <a:endParaRPr lang="en-US" sz="2600" b="0" u="none" strike="noStrike">
              <a:solidFill>
                <a:srgbClr val="000000"/>
              </a:solidFill>
              <a:effectLst/>
              <a:uFillTx/>
              <a:latin typeface="Arial"/>
            </a:endParaRPr>
          </a:p>
        </p:txBody>
      </p:sp>
      <p:pic>
        <p:nvPicPr>
          <p:cNvPr id="31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2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321"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2"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23"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24"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25"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vector = np.array([1, 2, 3])</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print("Vector:", vector)</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matrix = np.array([</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[1, 2, 3],</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[4, 5, 6]</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print("Matrix:", matrix)</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tensor = np.array([</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[[1, 2], [3, 4]],</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[[5, 6], [7, 8]]</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print("Tensor:", tensor)</a:t>
            </a:r>
            <a:endParaRPr lang="en-US" sz="1250" b="0" u="none" strike="noStrike">
              <a:solidFill>
                <a:srgbClr val="000000"/>
              </a:solidFill>
              <a:effectLst/>
              <a:uFillTx/>
              <a:latin typeface="Cantarell"/>
            </a:endParaRPr>
          </a:p>
        </p:txBody>
      </p:sp>
      <p:sp>
        <p:nvSpPr>
          <p:cNvPr id="326"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np.array() converts a Python list (or list of lists) directly into an ndarray.</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 nesting depth of the list determines the dimensionality — one level for a vector, two for a matrix, three for a tensor.</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This is the most common way to create an array from data you already have.</a:t>
            </a:r>
            <a:endParaRPr lang="en-US" sz="1400" b="0" u="none" strike="noStrike">
              <a:solidFill>
                <a:srgbClr val="000000"/>
              </a:solidFill>
              <a:effectLst/>
              <a:uFillTx/>
              <a:latin typeface="Arial"/>
            </a:endParaRPr>
          </a:p>
        </p:txBody>
      </p:sp>
      <p:sp>
        <p:nvSpPr>
          <p:cNvPr id="327"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2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2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Shortcut Functions</a:t>
            </a:r>
            <a:endParaRPr lang="en-US" sz="2600" b="0" u="none" strike="noStrike">
              <a:solidFill>
                <a:srgbClr val="000000"/>
              </a:solidFill>
              <a:effectLst/>
              <a:uFillTx/>
              <a:latin typeface="Arial"/>
            </a:endParaRPr>
          </a:p>
        </p:txBody>
      </p:sp>
      <p:pic>
        <p:nvPicPr>
          <p:cNvPr id="33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3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graphicFrame>
        <p:nvGraphicFramePr>
          <p:cNvPr id="332" name="Table 0"/>
          <p:cNvGraphicFramePr/>
          <p:nvPr/>
        </p:nvGraphicFramePr>
        <p:xfrm>
          <a:off x="548640" y="1737360"/>
          <a:ext cx="11109600" cy="2468520"/>
        </p:xfrm>
        <a:graphic>
          <a:graphicData uri="http://schemas.openxmlformats.org/drawingml/2006/table">
            <a:tbl>
              <a:tblPr/>
              <a:tblGrid>
                <a:gridCol w="3999240"/>
                <a:gridCol w="7110360"/>
              </a:tblGrid>
              <a:tr h="4935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np.zeros((r, c))</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An array of the given shape, filled with 0s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np.ones((r, c))</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An array of the given shape, filled with 1s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np.full((r, c), value)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An array of the given shape, filled with any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np.eye(n)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An n × n identity matrix (1s on the diagonal)</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33" name="Shape 3"/>
          <p:cNvSpPr/>
          <p:nvPr/>
        </p:nvSpPr>
        <p:spPr>
          <a:xfrm>
            <a:off x="548640" y="4434840"/>
            <a:ext cx="11109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Shape 4"/>
          <p:cNvSpPr/>
          <p:nvPr/>
        </p:nvSpPr>
        <p:spPr>
          <a:xfrm>
            <a:off x="713160" y="45810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35" name="Shape 5"/>
          <p:cNvSpPr/>
          <p:nvPr/>
        </p:nvSpPr>
        <p:spPr>
          <a:xfrm>
            <a:off x="914400" y="45810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6" name="Shape 6"/>
          <p:cNvSpPr/>
          <p:nvPr/>
        </p:nvSpPr>
        <p:spPr>
          <a:xfrm>
            <a:off x="1115640" y="45810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7" name="Text 7"/>
          <p:cNvSpPr/>
          <p:nvPr/>
        </p:nvSpPr>
        <p:spPr>
          <a:xfrm>
            <a:off x="749880" y="481896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np.zeros((2, 3))      # 2x3 grid of 0s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np.ones((3, 3))       # 3x3 grid of 1s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np.full((2, 2), 7)    # 2x2 grid of 7s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np.eye(3)             # 3x3 identity matrix</a:t>
            </a:r>
            <a:endParaRPr lang="en-US" sz="1350" b="0" u="none" strike="noStrike">
              <a:solidFill>
                <a:srgbClr val="000000"/>
              </a:solidFill>
              <a:effectLst/>
              <a:uFillTx/>
              <a:latin typeface="Cantarell"/>
            </a:endParaRPr>
          </a:p>
        </p:txBody>
      </p:sp>
      <p:sp>
        <p:nvSpPr>
          <p:cNvPr id="33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39"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40"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Ranges — np.arange() &amp; np.linspace()</a:t>
            </a:r>
            <a:endParaRPr lang="en-US" sz="2600" b="0" u="none" strike="noStrike">
              <a:solidFill>
                <a:srgbClr val="000000"/>
              </a:solidFill>
              <a:effectLst/>
              <a:uFillTx/>
              <a:latin typeface="Arial"/>
            </a:endParaRPr>
          </a:p>
        </p:txBody>
      </p:sp>
      <p:pic>
        <p:nvPicPr>
          <p:cNvPr id="341"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42"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343" name="Shape 3"/>
          <p:cNvSpPr/>
          <p:nvPr/>
        </p:nvSpPr>
        <p:spPr>
          <a:xfrm>
            <a:off x="548640" y="1737360"/>
            <a:ext cx="5394600" cy="3291480"/>
          </a:xfrm>
          <a:prstGeom prst="roundRect">
            <a:avLst>
              <a:gd name="adj" fmla="val 3333"/>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4"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45"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46"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47" name="Text 7"/>
          <p:cNvSpPr/>
          <p:nvPr/>
        </p:nvSpPr>
        <p:spPr>
          <a:xfrm>
            <a:off x="749880" y="2121480"/>
            <a:ext cx="4992120" cy="27612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np.arange(0, 10, 2)</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[0 2 4 6 8]</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start, stop (excluded), step</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np.linspace(0, 1, 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[0.   0.25 0.5  0.75 1.  ]</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start, stop (included), count</a:t>
            </a:r>
            <a:endParaRPr lang="en-US" sz="1400" b="0" u="none" strike="noStrike">
              <a:solidFill>
                <a:srgbClr val="000000"/>
              </a:solidFill>
              <a:effectLst/>
              <a:uFillTx/>
              <a:latin typeface="Cantarell"/>
            </a:endParaRPr>
          </a:p>
        </p:txBody>
      </p:sp>
      <p:sp>
        <p:nvSpPr>
          <p:cNvPr id="348" name="Text 8"/>
          <p:cNvSpPr/>
          <p:nvPr/>
        </p:nvSpPr>
        <p:spPr>
          <a:xfrm>
            <a:off x="6172200" y="1737360"/>
            <a:ext cx="5486040" cy="34743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np.arange(start, stop, step) works like Python's range(), but returns an array — stop is excluded.</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np.linspace(start, stop, count) instead gives you an exact number of evenly spaced values, with stop included.</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Use arange when you care about the step size; use linspace when you care about how many points you want.</a:t>
            </a:r>
            <a:endParaRPr lang="en-US" sz="1350" b="0" u="none" strike="noStrike">
              <a:solidFill>
                <a:srgbClr val="000000"/>
              </a:solidFill>
              <a:effectLst/>
              <a:uFillTx/>
              <a:latin typeface="Arial"/>
            </a:endParaRPr>
          </a:p>
        </p:txBody>
      </p:sp>
      <p:sp>
        <p:nvSpPr>
          <p:cNvPr id="349"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5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5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Random Arrays — a Quick Reference</a:t>
            </a:r>
            <a:endParaRPr lang="en-US" sz="2600" b="0" u="none" strike="noStrike">
              <a:solidFill>
                <a:srgbClr val="000000"/>
              </a:solidFill>
              <a:effectLst/>
              <a:uFillTx/>
              <a:latin typeface="Arial"/>
            </a:endParaRPr>
          </a:p>
        </p:txBody>
      </p:sp>
      <p:pic>
        <p:nvPicPr>
          <p:cNvPr id="35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5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graphicFrame>
        <p:nvGraphicFramePr>
          <p:cNvPr id="354" name="Table 0"/>
          <p:cNvGraphicFramePr/>
          <p:nvPr/>
        </p:nvGraphicFramePr>
        <p:xfrm>
          <a:off x="548640" y="1737360"/>
          <a:ext cx="11109600" cy="2285640"/>
        </p:xfrm>
        <a:graphic>
          <a:graphicData uri="http://schemas.openxmlformats.org/drawingml/2006/table">
            <a:tbl>
              <a:tblPr/>
              <a:tblGrid>
                <a:gridCol w="3999240"/>
                <a:gridCol w="7110360"/>
              </a:tblGrid>
              <a:tr h="57132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np.random.rand(r, c)</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Random floats between 0 and 1, in the given shape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np.random.randint(low, high, size)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Random integers between low (included) and high (excluded)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np.random.seed(n)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Fixes the random generator so results are reproducible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55" name="Text 3"/>
          <p:cNvSpPr/>
          <p:nvPr/>
        </p:nvSpPr>
        <p:spPr>
          <a:xfrm>
            <a:off x="548640" y="4297680"/>
            <a:ext cx="11109600" cy="548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00" b="0" u="none" strike="noStrike">
                <a:solidFill>
                  <a:srgbClr val="1B1B20"/>
                </a:solidFill>
                <a:effectLst/>
                <a:uFillTx/>
                <a:latin typeface="Hanken Grotesk"/>
                <a:ea typeface="Hanken Grotesk"/>
              </a:rPr>
              <a:t>Useful for quickly generating sample data to </a:t>
            </a:r>
            <a:r>
              <a:rPr lang="en-US" sz="1300" b="0" u="none" strike="noStrike">
                <a:solidFill>
                  <a:srgbClr val="1B1B20"/>
                </a:solidFill>
                <a:effectLst/>
                <a:uFillTx/>
                <a:latin typeface="Hanken Grotesk"/>
                <a:ea typeface="Hanken Grotesk"/>
              </a:rPr>
              <a:t>practice with, or initializing values before </a:t>
            </a:r>
            <a:r>
              <a:rPr lang="en-US" sz="1300" b="0" u="none" strike="noStrike">
                <a:solidFill>
                  <a:srgbClr val="1B1B20"/>
                </a:solidFill>
                <a:effectLst/>
                <a:uFillTx/>
                <a:latin typeface="Hanken Grotesk"/>
                <a:ea typeface="Hanken Grotesk"/>
              </a:rPr>
              <a:t>training a model.</a:t>
            </a:r>
            <a:endParaRPr lang="en-US" sz="1300" b="0" u="none" strike="noStrike">
              <a:solidFill>
                <a:srgbClr val="000000"/>
              </a:solidFill>
              <a:effectLst/>
              <a:uFillTx/>
              <a:latin typeface="Arial"/>
            </a:endParaRPr>
          </a:p>
        </p:txBody>
      </p:sp>
      <p:sp>
        <p:nvSpPr>
          <p:cNvPr id="356" name="Text 4"/>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57"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8"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359"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60"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Creating Arrays</a:t>
            </a:r>
            <a:endParaRPr lang="en-US" sz="2300" b="0" u="none" strike="noStrike">
              <a:solidFill>
                <a:srgbClr val="000000"/>
              </a:solidFill>
              <a:effectLst/>
              <a:uFillTx/>
              <a:latin typeface="Arial"/>
            </a:endParaRPr>
          </a:p>
        </p:txBody>
      </p:sp>
      <p:sp>
        <p:nvSpPr>
          <p:cNvPr id="361"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362"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3"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4"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365"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1D array from a list of 6 numbers, and a 2D array from a nested list.</a:t>
            </a:r>
            <a:endParaRPr lang="en-US" sz="1300" b="0" u="none" strike="noStrike">
              <a:solidFill>
                <a:srgbClr val="000000"/>
              </a:solidFill>
              <a:effectLst/>
              <a:uFillTx/>
              <a:latin typeface="Arial"/>
            </a:endParaRPr>
          </a:p>
        </p:txBody>
      </p:sp>
      <p:sp>
        <p:nvSpPr>
          <p:cNvPr id="366"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7"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8"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369"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3x4 array of zeros, and a 4x4 identity matrix.</a:t>
            </a:r>
            <a:endParaRPr lang="en-US" sz="1300" b="0" u="none" strike="noStrike">
              <a:solidFill>
                <a:srgbClr val="000000"/>
              </a:solidFill>
              <a:effectLst/>
              <a:uFillTx/>
              <a:latin typeface="Arial"/>
            </a:endParaRPr>
          </a:p>
        </p:txBody>
      </p:sp>
      <p:sp>
        <p:nvSpPr>
          <p:cNvPr id="370"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1"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2"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73"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np.arange() to create the even numbers from 0 to 20.</a:t>
            </a:r>
            <a:endParaRPr lang="en-US" sz="1300" b="0" u="none" strike="noStrike">
              <a:solidFill>
                <a:srgbClr val="000000"/>
              </a:solidFill>
              <a:effectLst/>
              <a:uFillTx/>
              <a:latin typeface="Arial"/>
            </a:endParaRPr>
          </a:p>
        </p:txBody>
      </p:sp>
      <p:sp>
        <p:nvSpPr>
          <p:cNvPr id="374"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5"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6"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77"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np.linspace() to create 10 evenly spaced values between 0 and 100.</a:t>
            </a:r>
            <a:endParaRPr lang="en-US" sz="1300" b="0" u="none" strike="noStrike">
              <a:solidFill>
                <a:srgbClr val="000000"/>
              </a:solidFill>
              <a:effectLst/>
              <a:uFillTx/>
              <a:latin typeface="Arial"/>
            </a:endParaRPr>
          </a:p>
        </p:txBody>
      </p:sp>
      <p:pic>
        <p:nvPicPr>
          <p:cNvPr id="378"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79"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380"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381"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2"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83"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384"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4 · ARRAY PROPERTIES</a:t>
            </a:r>
            <a:endParaRPr lang="en-US" sz="1400" b="0" u="none" strike="noStrike">
              <a:solidFill>
                <a:srgbClr val="FFFFFF"/>
              </a:solidFill>
              <a:effectLst/>
              <a:uFillTx/>
              <a:latin typeface="Arial"/>
            </a:endParaRPr>
          </a:p>
        </p:txBody>
      </p:sp>
      <p:sp>
        <p:nvSpPr>
          <p:cNvPr id="385"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Array Properties</a:t>
            </a:r>
            <a:endParaRPr lang="en-US" sz="4000" b="0" u="none" strike="noStrike">
              <a:solidFill>
                <a:srgbClr val="FFFFFF"/>
              </a:solidFill>
              <a:effectLst/>
              <a:uFillTx/>
              <a:latin typeface="Arial"/>
            </a:endParaRPr>
          </a:p>
        </p:txBody>
      </p:sp>
      <p:sp>
        <p:nvSpPr>
          <p:cNvPr id="386"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Every array can tell you about itself — shape, type, and size, without writing any loops.</a:t>
            </a:r>
            <a:endParaRPr lang="en-US" sz="1500" b="0" u="none" strike="noStrike">
              <a:solidFill>
                <a:srgbClr val="FFFFFF"/>
              </a:solidFill>
              <a:effectLst/>
              <a:uFillTx/>
              <a:latin typeface="Arial"/>
            </a:endParaRPr>
          </a:p>
        </p:txBody>
      </p:sp>
      <p:sp>
        <p:nvSpPr>
          <p:cNvPr id="387"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21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8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ARRAY PROPERTIES</a:t>
            </a:r>
            <a:endParaRPr lang="en-US" sz="1100" b="0" u="none" strike="noStrike">
              <a:solidFill>
                <a:srgbClr val="000000"/>
              </a:solidFill>
              <a:effectLst/>
              <a:uFillTx/>
              <a:latin typeface="Arial"/>
            </a:endParaRPr>
          </a:p>
        </p:txBody>
      </p:sp>
      <p:sp>
        <p:nvSpPr>
          <p:cNvPr id="38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Reading an Array's Properties</a:t>
            </a:r>
            <a:endParaRPr lang="en-US" sz="2600" b="0" u="none" strike="noStrike">
              <a:solidFill>
                <a:srgbClr val="000000"/>
              </a:solidFill>
              <a:effectLst/>
              <a:uFillTx/>
              <a:latin typeface="Arial"/>
            </a:endParaRPr>
          </a:p>
        </p:txBody>
      </p:sp>
      <p:pic>
        <p:nvPicPr>
          <p:cNvPr id="39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9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graphicFrame>
        <p:nvGraphicFramePr>
          <p:cNvPr id="392" name="Table 0"/>
          <p:cNvGraphicFramePr/>
          <p:nvPr/>
        </p:nvGraphicFramePr>
        <p:xfrm>
          <a:off x="548640" y="1737360"/>
          <a:ext cx="11109600" cy="2834280"/>
        </p:xfrm>
        <a:graphic>
          <a:graphicData uri="http://schemas.openxmlformats.org/drawingml/2006/table">
            <a:tbl>
              <a:tblPr/>
              <a:tblGrid>
                <a:gridCol w="3999240"/>
                <a:gridCol w="7110360"/>
              </a:tblGrid>
              <a:tr h="47232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arr.shape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 tuple giving the size along each dimension</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arr.ndim</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number of dimensions (1 for vector, 2 for matrix, ...)</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arr.dtype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data type of every element, e.g. int64, float64</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arr.size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total number of elements in the array</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arr.itemsize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number of bytes each element takes up in memory</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93" name="Shape 3"/>
          <p:cNvSpPr/>
          <p:nvPr/>
        </p:nvSpPr>
        <p:spPr>
          <a:xfrm>
            <a:off x="548640" y="4709160"/>
            <a:ext cx="11109600" cy="1764720"/>
          </a:xfrm>
          <a:prstGeom prst="roundRect">
            <a:avLst>
              <a:gd name="adj" fmla="val 7742"/>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4" name="Shape 4"/>
          <p:cNvSpPr/>
          <p:nvPr/>
        </p:nvSpPr>
        <p:spPr>
          <a:xfrm>
            <a:off x="713160" y="48553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95" name="Shape 5"/>
          <p:cNvSpPr/>
          <p:nvPr/>
        </p:nvSpPr>
        <p:spPr>
          <a:xfrm>
            <a:off x="914400" y="48553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96" name="Shape 6"/>
          <p:cNvSpPr/>
          <p:nvPr/>
        </p:nvSpPr>
        <p:spPr>
          <a:xfrm>
            <a:off x="1115640" y="48553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97" name="Text 7"/>
          <p:cNvSpPr/>
          <p:nvPr/>
        </p:nvSpPr>
        <p:spPr>
          <a:xfrm>
            <a:off x="749880" y="5093280"/>
            <a:ext cx="10707120" cy="8866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matrix = np.array([[1, 2, 3], [4, 5, 6]])</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matrix.shape     # (2, 3)</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matrix.ndim      # 2</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matrix.dtype     # dtype('int64')</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matrix.size      # 6</a:t>
            </a:r>
            <a:endParaRPr lang="en-US" sz="1300" b="0" u="none" strike="noStrike">
              <a:solidFill>
                <a:srgbClr val="000000"/>
              </a:solidFill>
              <a:effectLst/>
              <a:uFillTx/>
              <a:latin typeface="Cantarell"/>
            </a:endParaRPr>
          </a:p>
        </p:txBody>
      </p:sp>
      <p:sp>
        <p:nvSpPr>
          <p:cNvPr id="39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99"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0"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401"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ARRAY PROPERTIES</a:t>
            </a:r>
            <a:endParaRPr lang="en-US" sz="1100" b="0" u="none" strike="noStrike">
              <a:solidFill>
                <a:srgbClr val="000000"/>
              </a:solidFill>
              <a:effectLst/>
              <a:uFillTx/>
              <a:latin typeface="Arial"/>
            </a:endParaRPr>
          </a:p>
        </p:txBody>
      </p:sp>
      <p:sp>
        <p:nvSpPr>
          <p:cNvPr id="402"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Array Properties</a:t>
            </a:r>
            <a:endParaRPr lang="en-US" sz="2300" b="0" u="none" strike="noStrike">
              <a:solidFill>
                <a:srgbClr val="000000"/>
              </a:solidFill>
              <a:effectLst/>
              <a:uFillTx/>
              <a:latin typeface="Arial"/>
            </a:endParaRPr>
          </a:p>
        </p:txBody>
      </p:sp>
      <p:sp>
        <p:nvSpPr>
          <p:cNvPr id="403"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404"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5"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6"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407"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3x4 array and print its shape, ndim, dtype, and size.</a:t>
            </a:r>
            <a:endParaRPr lang="en-US" sz="1300" b="0" u="none" strike="noStrike">
              <a:solidFill>
                <a:srgbClr val="000000"/>
              </a:solidFill>
              <a:effectLst/>
              <a:uFillTx/>
              <a:latin typeface="Arial"/>
            </a:endParaRPr>
          </a:p>
        </p:txBody>
      </p:sp>
      <p:sp>
        <p:nvSpPr>
          <p:cNvPr id="408"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9"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0"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411"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an array of floats and check its dtype — is it what you expected?</a:t>
            </a:r>
            <a:endParaRPr lang="en-US" sz="1300" b="0" u="none" strike="noStrike">
              <a:solidFill>
                <a:srgbClr val="000000"/>
              </a:solidFill>
              <a:effectLst/>
              <a:uFillTx/>
              <a:latin typeface="Arial"/>
            </a:endParaRPr>
          </a:p>
        </p:txBody>
      </p:sp>
      <p:sp>
        <p:nvSpPr>
          <p:cNvPr id="412"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3"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4"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415"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Explain what would change about .shape if you added one more row to a matrix.</a:t>
            </a:r>
            <a:endParaRPr lang="en-US" sz="1300" b="0" u="none" strike="noStrike">
              <a:solidFill>
                <a:srgbClr val="000000"/>
              </a:solidFill>
              <a:effectLst/>
              <a:uFillTx/>
              <a:latin typeface="Arial"/>
            </a:endParaRPr>
          </a:p>
        </p:txBody>
      </p:sp>
      <p:pic>
        <p:nvPicPr>
          <p:cNvPr id="416"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417" name="Text 17"/>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418" name="Text 1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419"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0"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21"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422"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5 · INDEXING &amp; SLICING</a:t>
            </a:r>
            <a:endParaRPr lang="en-US" sz="1400" b="0" u="none" strike="noStrike">
              <a:solidFill>
                <a:srgbClr val="FFFFFF"/>
              </a:solidFill>
              <a:effectLst/>
              <a:uFillTx/>
              <a:latin typeface="Arial"/>
            </a:endParaRPr>
          </a:p>
        </p:txBody>
      </p:sp>
      <p:sp>
        <p:nvSpPr>
          <p:cNvPr id="423"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Indexing &amp; Slicing</a:t>
            </a:r>
            <a:endParaRPr lang="en-US" sz="4000" b="0" u="none" strike="noStrike">
              <a:solidFill>
                <a:srgbClr val="FFFFFF"/>
              </a:solidFill>
              <a:effectLst/>
              <a:uFillTx/>
              <a:latin typeface="Arial"/>
            </a:endParaRPr>
          </a:p>
        </p:txBody>
      </p:sp>
      <p:sp>
        <p:nvSpPr>
          <p:cNvPr id="424"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Reaching into an array to grab exactly the elements you need.</a:t>
            </a:r>
            <a:endParaRPr lang="en-US" sz="1500" b="0" u="none" strike="noStrike">
              <a:solidFill>
                <a:srgbClr val="FFFFFF"/>
              </a:solidFill>
              <a:effectLst/>
              <a:uFillTx/>
              <a:latin typeface="Arial"/>
            </a:endParaRPr>
          </a:p>
        </p:txBody>
      </p:sp>
      <p:sp>
        <p:nvSpPr>
          <p:cNvPr id="425"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24</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2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INDEXING &amp; SLICING</a:t>
            </a:r>
            <a:endParaRPr lang="en-US" sz="1100" b="0" u="none" strike="noStrike">
              <a:solidFill>
                <a:srgbClr val="000000"/>
              </a:solidFill>
              <a:effectLst/>
              <a:uFillTx/>
              <a:latin typeface="Arial"/>
            </a:endParaRPr>
          </a:p>
        </p:txBody>
      </p:sp>
      <p:sp>
        <p:nvSpPr>
          <p:cNvPr id="42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Basic Indexing — One Element at a </a:t>
            </a:r>
            <a:r>
              <a:rPr lang="en-US" sz="2600" b="1" u="none" spc="-31" strike="noStrike">
                <a:solidFill>
                  <a:srgbClr val="1B1B20"/>
                </a:solidFill>
                <a:effectLst/>
                <a:uFillTx/>
                <a:latin typeface="Bricolage Grotesque"/>
                <a:ea typeface="Bricolage Grotesque"/>
              </a:rPr>
              <a:t>Time</a:t>
            </a:r>
            <a:endParaRPr lang="en-US" sz="2600" b="0" u="none" strike="noStrike">
              <a:solidFill>
                <a:srgbClr val="000000"/>
              </a:solidFill>
              <a:effectLst/>
              <a:uFillTx/>
              <a:latin typeface="Arial"/>
            </a:endParaRPr>
          </a:p>
        </p:txBody>
      </p:sp>
      <p:pic>
        <p:nvPicPr>
          <p:cNvPr id="428"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42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430" name="Text 3"/>
          <p:cNvSpPr/>
          <p:nvPr/>
        </p:nvSpPr>
        <p:spPr>
          <a:xfrm>
            <a:off x="548640" y="1645920"/>
            <a:ext cx="109724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B1B20"/>
                </a:solidFill>
                <a:effectLst/>
                <a:uFillTx/>
                <a:latin typeface="Consolas"/>
                <a:ea typeface="Consolas"/>
              </a:rPr>
              <a:t>arr = np.array([10, 20, 30, 40, 50])</a:t>
            </a:r>
            <a:endParaRPr lang="en-US" sz="1300" b="0" u="none" strike="noStrike">
              <a:solidFill>
                <a:srgbClr val="000000"/>
              </a:solidFill>
              <a:effectLst/>
              <a:uFillTx/>
              <a:latin typeface="Arial"/>
            </a:endParaRPr>
          </a:p>
        </p:txBody>
      </p:sp>
      <p:sp>
        <p:nvSpPr>
          <p:cNvPr id="431" name="Shape 4"/>
          <p:cNvSpPr/>
          <p:nvPr/>
        </p:nvSpPr>
        <p:spPr>
          <a:xfrm>
            <a:off x="54864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2" name="Text 5"/>
          <p:cNvSpPr/>
          <p:nvPr/>
        </p:nvSpPr>
        <p:spPr>
          <a:xfrm>
            <a:off x="54864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10</a:t>
            </a:r>
            <a:endParaRPr lang="en-US" sz="1300" b="0" u="none" strike="noStrike">
              <a:solidFill>
                <a:srgbClr val="000000"/>
              </a:solidFill>
              <a:effectLst/>
              <a:uFillTx/>
              <a:latin typeface="Arial"/>
            </a:endParaRPr>
          </a:p>
        </p:txBody>
      </p:sp>
      <p:sp>
        <p:nvSpPr>
          <p:cNvPr id="433" name="Text 6"/>
          <p:cNvSpPr/>
          <p:nvPr/>
        </p:nvSpPr>
        <p:spPr>
          <a:xfrm>
            <a:off x="54864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0</a:t>
            </a:r>
            <a:endParaRPr lang="en-US" sz="900" b="0" u="none" strike="noStrike">
              <a:solidFill>
                <a:srgbClr val="000000"/>
              </a:solidFill>
              <a:effectLst/>
              <a:uFillTx/>
              <a:latin typeface="Arial"/>
            </a:endParaRPr>
          </a:p>
        </p:txBody>
      </p:sp>
      <p:sp>
        <p:nvSpPr>
          <p:cNvPr id="434" name="Shape 7"/>
          <p:cNvSpPr/>
          <p:nvPr/>
        </p:nvSpPr>
        <p:spPr>
          <a:xfrm>
            <a:off x="141732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5" name="Text 8"/>
          <p:cNvSpPr/>
          <p:nvPr/>
        </p:nvSpPr>
        <p:spPr>
          <a:xfrm>
            <a:off x="141732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20</a:t>
            </a:r>
            <a:endParaRPr lang="en-US" sz="1300" b="0" u="none" strike="noStrike">
              <a:solidFill>
                <a:srgbClr val="000000"/>
              </a:solidFill>
              <a:effectLst/>
              <a:uFillTx/>
              <a:latin typeface="Arial"/>
            </a:endParaRPr>
          </a:p>
        </p:txBody>
      </p:sp>
      <p:sp>
        <p:nvSpPr>
          <p:cNvPr id="436" name="Text 9"/>
          <p:cNvSpPr/>
          <p:nvPr/>
        </p:nvSpPr>
        <p:spPr>
          <a:xfrm>
            <a:off x="141732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1</a:t>
            </a:r>
            <a:endParaRPr lang="en-US" sz="900" b="0" u="none" strike="noStrike">
              <a:solidFill>
                <a:srgbClr val="000000"/>
              </a:solidFill>
              <a:effectLst/>
              <a:uFillTx/>
              <a:latin typeface="Arial"/>
            </a:endParaRPr>
          </a:p>
        </p:txBody>
      </p:sp>
      <p:sp>
        <p:nvSpPr>
          <p:cNvPr id="437" name="Shape 10"/>
          <p:cNvSpPr/>
          <p:nvPr/>
        </p:nvSpPr>
        <p:spPr>
          <a:xfrm>
            <a:off x="2286000" y="2148840"/>
            <a:ext cx="868320" cy="639720"/>
          </a:xfrm>
          <a:prstGeom prst="rect">
            <a:avLst/>
          </a:prstGeom>
          <a:solidFill>
            <a:srgbClr val="E07AB4"/>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8" name="Text 11"/>
          <p:cNvSpPr/>
          <p:nvPr/>
        </p:nvSpPr>
        <p:spPr>
          <a:xfrm>
            <a:off x="228600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30</a:t>
            </a:r>
            <a:endParaRPr lang="en-US" sz="1300" b="0" u="none" strike="noStrike">
              <a:solidFill>
                <a:srgbClr val="000000"/>
              </a:solidFill>
              <a:effectLst/>
              <a:uFillTx/>
              <a:latin typeface="Arial"/>
            </a:endParaRPr>
          </a:p>
        </p:txBody>
      </p:sp>
      <p:sp>
        <p:nvSpPr>
          <p:cNvPr id="439" name="Text 12"/>
          <p:cNvSpPr/>
          <p:nvPr/>
        </p:nvSpPr>
        <p:spPr>
          <a:xfrm>
            <a:off x="228600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2</a:t>
            </a:r>
            <a:endParaRPr lang="en-US" sz="900" b="0" u="none" strike="noStrike">
              <a:solidFill>
                <a:srgbClr val="000000"/>
              </a:solidFill>
              <a:effectLst/>
              <a:uFillTx/>
              <a:latin typeface="Arial"/>
            </a:endParaRPr>
          </a:p>
        </p:txBody>
      </p:sp>
      <p:sp>
        <p:nvSpPr>
          <p:cNvPr id="440" name="Shape 13"/>
          <p:cNvSpPr/>
          <p:nvPr/>
        </p:nvSpPr>
        <p:spPr>
          <a:xfrm>
            <a:off x="315468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1" name="Text 14"/>
          <p:cNvSpPr/>
          <p:nvPr/>
        </p:nvSpPr>
        <p:spPr>
          <a:xfrm>
            <a:off x="315468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40</a:t>
            </a:r>
            <a:endParaRPr lang="en-US" sz="1300" b="0" u="none" strike="noStrike">
              <a:solidFill>
                <a:srgbClr val="000000"/>
              </a:solidFill>
              <a:effectLst/>
              <a:uFillTx/>
              <a:latin typeface="Arial"/>
            </a:endParaRPr>
          </a:p>
        </p:txBody>
      </p:sp>
      <p:sp>
        <p:nvSpPr>
          <p:cNvPr id="442" name="Text 15"/>
          <p:cNvSpPr/>
          <p:nvPr/>
        </p:nvSpPr>
        <p:spPr>
          <a:xfrm>
            <a:off x="315468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3</a:t>
            </a:r>
            <a:endParaRPr lang="en-US" sz="900" b="0" u="none" strike="noStrike">
              <a:solidFill>
                <a:srgbClr val="000000"/>
              </a:solidFill>
              <a:effectLst/>
              <a:uFillTx/>
              <a:latin typeface="Arial"/>
            </a:endParaRPr>
          </a:p>
        </p:txBody>
      </p:sp>
      <p:sp>
        <p:nvSpPr>
          <p:cNvPr id="443" name="Shape 16"/>
          <p:cNvSpPr/>
          <p:nvPr/>
        </p:nvSpPr>
        <p:spPr>
          <a:xfrm>
            <a:off x="402336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4" name="Text 17"/>
          <p:cNvSpPr/>
          <p:nvPr/>
        </p:nvSpPr>
        <p:spPr>
          <a:xfrm>
            <a:off x="402336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50</a:t>
            </a:r>
            <a:endParaRPr lang="en-US" sz="1300" b="0" u="none" strike="noStrike">
              <a:solidFill>
                <a:srgbClr val="000000"/>
              </a:solidFill>
              <a:effectLst/>
              <a:uFillTx/>
              <a:latin typeface="Arial"/>
            </a:endParaRPr>
          </a:p>
        </p:txBody>
      </p:sp>
      <p:sp>
        <p:nvSpPr>
          <p:cNvPr id="445" name="Text 18"/>
          <p:cNvSpPr/>
          <p:nvPr/>
        </p:nvSpPr>
        <p:spPr>
          <a:xfrm>
            <a:off x="402336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4</a:t>
            </a:r>
            <a:endParaRPr lang="en-US" sz="900" b="0" u="none" strike="noStrike">
              <a:solidFill>
                <a:srgbClr val="000000"/>
              </a:solidFill>
              <a:effectLst/>
              <a:uFillTx/>
              <a:latin typeface="Arial"/>
            </a:endParaRPr>
          </a:p>
        </p:txBody>
      </p:sp>
      <p:sp>
        <p:nvSpPr>
          <p:cNvPr id="446" name="Text 19"/>
          <p:cNvSpPr/>
          <p:nvPr/>
        </p:nvSpPr>
        <p:spPr>
          <a:xfrm>
            <a:off x="548640" y="3566160"/>
            <a:ext cx="11109600" cy="22856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arr[0] gets the first element — indexing starts at 0, not 1.</a:t>
            </a:r>
            <a:endParaRPr lang="en-US" sz="140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arr[2] → 30 — the highlighted cell above.</a:t>
            </a:r>
            <a:endParaRPr lang="en-US" sz="140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arr[-1] gets the last element — negative indices count backward from the end.</a:t>
            </a:r>
            <a:endParaRPr lang="en-US" sz="140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For a 2D array: matrix[row, col] — e.g. matrix[1, 2] gets row 1, column 2.</a:t>
            </a:r>
            <a:endParaRPr lang="en-US" sz="1400" b="0" u="none" strike="noStrike">
              <a:solidFill>
                <a:srgbClr val="000000"/>
              </a:solidFill>
              <a:effectLst/>
              <a:uFillTx/>
              <a:latin typeface="Arial"/>
            </a:endParaRPr>
          </a:p>
        </p:txBody>
      </p:sp>
      <p:sp>
        <p:nvSpPr>
          <p:cNvPr id="447" name="Text 2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4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INDEXING &amp; SLICING</a:t>
            </a:r>
            <a:endParaRPr lang="en-US" sz="1100" b="0" u="none" strike="noStrike">
              <a:solidFill>
                <a:srgbClr val="000000"/>
              </a:solidFill>
              <a:effectLst/>
              <a:uFillTx/>
              <a:latin typeface="Arial"/>
            </a:endParaRPr>
          </a:p>
        </p:txBody>
      </p:sp>
      <p:sp>
        <p:nvSpPr>
          <p:cNvPr id="44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Slicing — A Range of Elements</a:t>
            </a:r>
            <a:endParaRPr lang="en-US" sz="2600" b="0" u="none" strike="noStrike">
              <a:solidFill>
                <a:srgbClr val="000000"/>
              </a:solidFill>
              <a:effectLst/>
              <a:uFillTx/>
              <a:latin typeface="Arial"/>
            </a:endParaRPr>
          </a:p>
        </p:txBody>
      </p:sp>
      <p:pic>
        <p:nvPicPr>
          <p:cNvPr id="45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45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452" name="Text 3"/>
          <p:cNvSpPr/>
          <p:nvPr/>
        </p:nvSpPr>
        <p:spPr>
          <a:xfrm>
            <a:off x="548640" y="1645920"/>
            <a:ext cx="109724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B1B20"/>
                </a:solidFill>
                <a:effectLst/>
                <a:uFillTx/>
                <a:latin typeface="Consolas"/>
                <a:ea typeface="Consolas"/>
              </a:rPr>
              <a:t>arr = np.array([10, 20, 30, 40, 50])</a:t>
            </a:r>
            <a:endParaRPr lang="en-US" sz="1300" b="0" u="none" strike="noStrike">
              <a:solidFill>
                <a:srgbClr val="000000"/>
              </a:solidFill>
              <a:effectLst/>
              <a:uFillTx/>
              <a:latin typeface="Arial"/>
            </a:endParaRPr>
          </a:p>
        </p:txBody>
      </p:sp>
      <p:sp>
        <p:nvSpPr>
          <p:cNvPr id="453" name="Shape 4"/>
          <p:cNvSpPr/>
          <p:nvPr/>
        </p:nvSpPr>
        <p:spPr>
          <a:xfrm>
            <a:off x="54864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4" name="Text 5"/>
          <p:cNvSpPr/>
          <p:nvPr/>
        </p:nvSpPr>
        <p:spPr>
          <a:xfrm>
            <a:off x="54864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10</a:t>
            </a:r>
            <a:endParaRPr lang="en-US" sz="1300" b="0" u="none" strike="noStrike">
              <a:solidFill>
                <a:srgbClr val="000000"/>
              </a:solidFill>
              <a:effectLst/>
              <a:uFillTx/>
              <a:latin typeface="Arial"/>
            </a:endParaRPr>
          </a:p>
        </p:txBody>
      </p:sp>
      <p:sp>
        <p:nvSpPr>
          <p:cNvPr id="455" name="Text 6"/>
          <p:cNvSpPr/>
          <p:nvPr/>
        </p:nvSpPr>
        <p:spPr>
          <a:xfrm>
            <a:off x="54864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0</a:t>
            </a:r>
            <a:endParaRPr lang="en-US" sz="900" b="0" u="none" strike="noStrike">
              <a:solidFill>
                <a:srgbClr val="000000"/>
              </a:solidFill>
              <a:effectLst/>
              <a:uFillTx/>
              <a:latin typeface="Arial"/>
            </a:endParaRPr>
          </a:p>
        </p:txBody>
      </p:sp>
      <p:sp>
        <p:nvSpPr>
          <p:cNvPr id="456" name="Shape 7"/>
          <p:cNvSpPr/>
          <p:nvPr/>
        </p:nvSpPr>
        <p:spPr>
          <a:xfrm>
            <a:off x="1417320" y="2148840"/>
            <a:ext cx="868320" cy="639720"/>
          </a:xfrm>
          <a:prstGeom prst="rect">
            <a:avLst/>
          </a:prstGeom>
          <a:solidFill>
            <a:srgbClr val="E07AB4"/>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7" name="Text 8"/>
          <p:cNvSpPr/>
          <p:nvPr/>
        </p:nvSpPr>
        <p:spPr>
          <a:xfrm>
            <a:off x="141732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20</a:t>
            </a:r>
            <a:endParaRPr lang="en-US" sz="1300" b="0" u="none" strike="noStrike">
              <a:solidFill>
                <a:srgbClr val="000000"/>
              </a:solidFill>
              <a:effectLst/>
              <a:uFillTx/>
              <a:latin typeface="Arial"/>
            </a:endParaRPr>
          </a:p>
        </p:txBody>
      </p:sp>
      <p:sp>
        <p:nvSpPr>
          <p:cNvPr id="458" name="Text 9"/>
          <p:cNvSpPr/>
          <p:nvPr/>
        </p:nvSpPr>
        <p:spPr>
          <a:xfrm>
            <a:off x="141732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1</a:t>
            </a:r>
            <a:endParaRPr lang="en-US" sz="900" b="0" u="none" strike="noStrike">
              <a:solidFill>
                <a:srgbClr val="000000"/>
              </a:solidFill>
              <a:effectLst/>
              <a:uFillTx/>
              <a:latin typeface="Arial"/>
            </a:endParaRPr>
          </a:p>
        </p:txBody>
      </p:sp>
      <p:sp>
        <p:nvSpPr>
          <p:cNvPr id="459" name="Shape 10"/>
          <p:cNvSpPr/>
          <p:nvPr/>
        </p:nvSpPr>
        <p:spPr>
          <a:xfrm>
            <a:off x="2286000" y="2148840"/>
            <a:ext cx="868320" cy="639720"/>
          </a:xfrm>
          <a:prstGeom prst="rect">
            <a:avLst/>
          </a:prstGeom>
          <a:solidFill>
            <a:srgbClr val="E07AB4"/>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0" name="Text 11"/>
          <p:cNvSpPr/>
          <p:nvPr/>
        </p:nvSpPr>
        <p:spPr>
          <a:xfrm>
            <a:off x="228600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30</a:t>
            </a:r>
            <a:endParaRPr lang="en-US" sz="1300" b="0" u="none" strike="noStrike">
              <a:solidFill>
                <a:srgbClr val="000000"/>
              </a:solidFill>
              <a:effectLst/>
              <a:uFillTx/>
              <a:latin typeface="Arial"/>
            </a:endParaRPr>
          </a:p>
        </p:txBody>
      </p:sp>
      <p:sp>
        <p:nvSpPr>
          <p:cNvPr id="461" name="Text 12"/>
          <p:cNvSpPr/>
          <p:nvPr/>
        </p:nvSpPr>
        <p:spPr>
          <a:xfrm>
            <a:off x="228600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2</a:t>
            </a:r>
            <a:endParaRPr lang="en-US" sz="900" b="0" u="none" strike="noStrike">
              <a:solidFill>
                <a:srgbClr val="000000"/>
              </a:solidFill>
              <a:effectLst/>
              <a:uFillTx/>
              <a:latin typeface="Arial"/>
            </a:endParaRPr>
          </a:p>
        </p:txBody>
      </p:sp>
      <p:sp>
        <p:nvSpPr>
          <p:cNvPr id="462" name="Shape 13"/>
          <p:cNvSpPr/>
          <p:nvPr/>
        </p:nvSpPr>
        <p:spPr>
          <a:xfrm>
            <a:off x="3154680" y="2148840"/>
            <a:ext cx="868320" cy="639720"/>
          </a:xfrm>
          <a:prstGeom prst="rect">
            <a:avLst/>
          </a:prstGeom>
          <a:solidFill>
            <a:srgbClr val="E07AB4"/>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3" name="Text 14"/>
          <p:cNvSpPr/>
          <p:nvPr/>
        </p:nvSpPr>
        <p:spPr>
          <a:xfrm>
            <a:off x="315468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40</a:t>
            </a:r>
            <a:endParaRPr lang="en-US" sz="1300" b="0" u="none" strike="noStrike">
              <a:solidFill>
                <a:srgbClr val="000000"/>
              </a:solidFill>
              <a:effectLst/>
              <a:uFillTx/>
              <a:latin typeface="Arial"/>
            </a:endParaRPr>
          </a:p>
        </p:txBody>
      </p:sp>
      <p:sp>
        <p:nvSpPr>
          <p:cNvPr id="464" name="Text 15"/>
          <p:cNvSpPr/>
          <p:nvPr/>
        </p:nvSpPr>
        <p:spPr>
          <a:xfrm>
            <a:off x="315468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3</a:t>
            </a:r>
            <a:endParaRPr lang="en-US" sz="900" b="0" u="none" strike="noStrike">
              <a:solidFill>
                <a:srgbClr val="000000"/>
              </a:solidFill>
              <a:effectLst/>
              <a:uFillTx/>
              <a:latin typeface="Arial"/>
            </a:endParaRPr>
          </a:p>
        </p:txBody>
      </p:sp>
      <p:sp>
        <p:nvSpPr>
          <p:cNvPr id="465" name="Shape 16"/>
          <p:cNvSpPr/>
          <p:nvPr/>
        </p:nvSpPr>
        <p:spPr>
          <a:xfrm>
            <a:off x="402336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6" name="Text 17"/>
          <p:cNvSpPr/>
          <p:nvPr/>
        </p:nvSpPr>
        <p:spPr>
          <a:xfrm>
            <a:off x="402336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50</a:t>
            </a:r>
            <a:endParaRPr lang="en-US" sz="1300" b="0" u="none" strike="noStrike">
              <a:solidFill>
                <a:srgbClr val="000000"/>
              </a:solidFill>
              <a:effectLst/>
              <a:uFillTx/>
              <a:latin typeface="Arial"/>
            </a:endParaRPr>
          </a:p>
        </p:txBody>
      </p:sp>
      <p:sp>
        <p:nvSpPr>
          <p:cNvPr id="467" name="Text 18"/>
          <p:cNvSpPr/>
          <p:nvPr/>
        </p:nvSpPr>
        <p:spPr>
          <a:xfrm>
            <a:off x="402336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4</a:t>
            </a:r>
            <a:endParaRPr lang="en-US" sz="900" b="0" u="none" strike="noStrike">
              <a:solidFill>
                <a:srgbClr val="000000"/>
              </a:solidFill>
              <a:effectLst/>
              <a:uFillTx/>
              <a:latin typeface="Arial"/>
            </a:endParaRPr>
          </a:p>
        </p:txBody>
      </p:sp>
      <p:graphicFrame>
        <p:nvGraphicFramePr>
          <p:cNvPr id="468" name="Table 0"/>
          <p:cNvGraphicFramePr/>
          <p:nvPr/>
        </p:nvGraphicFramePr>
        <p:xfrm>
          <a:off x="548640" y="3566160"/>
          <a:ext cx="11109600" cy="2377080"/>
        </p:xfrm>
        <a:graphic>
          <a:graphicData uri="http://schemas.openxmlformats.org/drawingml/2006/table">
            <a:tbl>
              <a:tblPr/>
              <a:tblGrid>
                <a:gridCol w="3999240"/>
                <a:gridCol w="7110360"/>
              </a:tblGrid>
              <a:tr h="47520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7520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arr[1:4]</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Elements at index 1, 2, 3 — stop is excluded, gives [20 30 40]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520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arr[:3]</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Everything before index 3, gives [10 20 30]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520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arr[::2]</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Every 2nd element, gives [10 30 50]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520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arr[::-1]</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whole array, reversed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469" name="Text 1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7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INDEXING &amp; SLICING</a:t>
            </a:r>
            <a:endParaRPr lang="en-US" sz="1100" b="0" u="none" strike="noStrike">
              <a:solidFill>
                <a:srgbClr val="000000"/>
              </a:solidFill>
              <a:effectLst/>
              <a:uFillTx/>
              <a:latin typeface="Arial"/>
            </a:endParaRPr>
          </a:p>
        </p:txBody>
      </p:sp>
      <p:sp>
        <p:nvSpPr>
          <p:cNvPr id="47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Boolean Indexing — Filtering with a Condition</a:t>
            </a:r>
            <a:endParaRPr lang="en-US" sz="2600" b="0" u="none" strike="noStrike">
              <a:solidFill>
                <a:srgbClr val="000000"/>
              </a:solidFill>
              <a:effectLst/>
              <a:uFillTx/>
              <a:latin typeface="Arial"/>
            </a:endParaRPr>
          </a:p>
        </p:txBody>
      </p:sp>
      <p:pic>
        <p:nvPicPr>
          <p:cNvPr id="47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47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474"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A boolean mask lets you select every element that matches a condition — no loop needed.</a:t>
            </a:r>
            <a:endParaRPr lang="en-US" sz="1300" b="0" u="none" strike="noStrike">
              <a:solidFill>
                <a:srgbClr val="000000"/>
              </a:solidFill>
              <a:effectLst/>
              <a:uFillTx/>
              <a:latin typeface="Arial"/>
            </a:endParaRPr>
          </a:p>
        </p:txBody>
      </p:sp>
      <p:sp>
        <p:nvSpPr>
          <p:cNvPr id="475" name="Shape 4"/>
          <p:cNvSpPr/>
          <p:nvPr/>
        </p:nvSpPr>
        <p:spPr>
          <a:xfrm>
            <a:off x="548640" y="2057400"/>
            <a:ext cx="5394600" cy="3565800"/>
          </a:xfrm>
          <a:prstGeom prst="roundRect">
            <a:avLst>
              <a:gd name="adj" fmla="val 307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6"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477"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478"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479" name="Text 8"/>
          <p:cNvSpPr/>
          <p:nvPr/>
        </p:nvSpPr>
        <p:spPr>
          <a:xfrm>
            <a:off x="749880" y="2441520"/>
            <a:ext cx="4992120" cy="3035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scores = np.array([45, 62, 78, 91, 55, 88])</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mask = scores &gt;= 60</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print(mask)</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[False  True  True  True False  True]</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passing = scores[mask]</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print(passing)</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[62 78 91 88]</a:t>
            </a:r>
            <a:endParaRPr lang="en-US" sz="1250" b="0" u="none" strike="noStrike">
              <a:solidFill>
                <a:srgbClr val="000000"/>
              </a:solidFill>
              <a:effectLst/>
              <a:uFillTx/>
              <a:latin typeface="Cantarell"/>
            </a:endParaRPr>
          </a:p>
        </p:txBody>
      </p:sp>
      <p:sp>
        <p:nvSpPr>
          <p:cNvPr id="480"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81" name="Image 1" descr="/home/claude/numpy_deck/charts/missing_heatmap.png"/>
          <p:cNvPicPr/>
          <p:nvPr/>
        </p:nvPicPr>
        <p:blipFill>
          <a:blip r:embed="rId2"/>
          <a:stretch/>
        </p:blipFill>
        <p:spPr>
          <a:xfrm>
            <a:off x="6282000" y="2167200"/>
            <a:ext cx="5266440" cy="3071880"/>
          </a:xfrm>
          <a:prstGeom prst="rect">
            <a:avLst/>
          </a:prstGeom>
          <a:noFill/>
          <a:ln w="0">
            <a:noFill/>
          </a:ln>
        </p:spPr>
      </p:pic>
      <p:sp>
        <p:nvSpPr>
          <p:cNvPr id="482"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scores &gt;= </a:t>
            </a:r>
            <a:r>
              <a:rPr lang="en-US" sz="1150" b="0" i="1" u="none" strike="noStrike">
                <a:solidFill>
                  <a:srgbClr val="474651"/>
                </a:solidFill>
                <a:effectLst/>
                <a:uFillTx/>
                <a:latin typeface="Hanken Grotesk"/>
                <a:ea typeface="Hanken Grotesk"/>
              </a:rPr>
              <a:t>60 creates </a:t>
            </a:r>
            <a:r>
              <a:rPr lang="en-US" sz="1150" b="0" i="1" u="none" strike="noStrike">
                <a:solidFill>
                  <a:srgbClr val="474651"/>
                </a:solidFill>
                <a:effectLst/>
                <a:uFillTx/>
                <a:latin typeface="Hanken Grotesk"/>
                <a:ea typeface="Hanken Grotesk"/>
              </a:rPr>
              <a:t>an array </a:t>
            </a:r>
            <a:r>
              <a:rPr lang="en-US" sz="1150" b="0" i="1" u="none" strike="noStrike">
                <a:solidFill>
                  <a:srgbClr val="474651"/>
                </a:solidFill>
                <a:effectLst/>
                <a:uFillTx/>
                <a:latin typeface="Hanken Grotesk"/>
                <a:ea typeface="Hanken Grotesk"/>
              </a:rPr>
              <a:t>of </a:t>
            </a:r>
            <a:r>
              <a:rPr lang="en-US" sz="1150" b="0" i="1" u="none" strike="noStrike">
                <a:solidFill>
                  <a:srgbClr val="474651"/>
                </a:solidFill>
                <a:effectLst/>
                <a:uFillTx/>
                <a:latin typeface="Hanken Grotesk"/>
                <a:ea typeface="Hanken Grotesk"/>
              </a:rPr>
              <a:t>True/False </a:t>
            </a:r>
            <a:r>
              <a:rPr lang="en-US" sz="1150" b="0" i="1" u="none" strike="noStrike">
                <a:solidFill>
                  <a:srgbClr val="474651"/>
                </a:solidFill>
                <a:effectLst/>
                <a:uFillTx/>
                <a:latin typeface="Hanken Grotesk"/>
                <a:ea typeface="Hanken Grotesk"/>
              </a:rPr>
              <a:t>values the </a:t>
            </a:r>
            <a:r>
              <a:rPr lang="en-US" sz="1150" b="0" i="1" u="none" strike="noStrike">
                <a:solidFill>
                  <a:srgbClr val="474651"/>
                </a:solidFill>
                <a:effectLst/>
                <a:uFillTx/>
                <a:latin typeface="Hanken Grotesk"/>
                <a:ea typeface="Hanken Grotesk"/>
              </a:rPr>
              <a:t>same </a:t>
            </a:r>
            <a:r>
              <a:rPr lang="en-US" sz="1150" b="0" i="1" u="none" strike="noStrike">
                <a:solidFill>
                  <a:srgbClr val="474651"/>
                </a:solidFill>
                <a:effectLst/>
                <a:uFillTx/>
                <a:latin typeface="Hanken Grotesk"/>
                <a:ea typeface="Hanken Grotesk"/>
              </a:rPr>
              <a:t>shape as </a:t>
            </a:r>
            <a:r>
              <a:rPr lang="en-US" sz="1150" b="0" i="1" u="none" strike="noStrike">
                <a:solidFill>
                  <a:srgbClr val="474651"/>
                </a:solidFill>
                <a:effectLst/>
                <a:uFillTx/>
                <a:latin typeface="Hanken Grotesk"/>
                <a:ea typeface="Hanken Grotesk"/>
              </a:rPr>
              <a:t>scores — </a:t>
            </a:r>
            <a:r>
              <a:rPr lang="en-US" sz="1150" b="0" i="1" u="none" strike="noStrike">
                <a:solidFill>
                  <a:srgbClr val="474651"/>
                </a:solidFill>
                <a:effectLst/>
                <a:uFillTx/>
                <a:latin typeface="Hanken Grotesk"/>
                <a:ea typeface="Hanken Grotesk"/>
              </a:rPr>
              <a:t>using it as </a:t>
            </a:r>
            <a:r>
              <a:rPr lang="en-US" sz="1150" b="0" i="1" u="none" strike="noStrike">
                <a:solidFill>
                  <a:srgbClr val="474651"/>
                </a:solidFill>
                <a:effectLst/>
                <a:uFillTx/>
                <a:latin typeface="Hanken Grotesk"/>
                <a:ea typeface="Hanken Grotesk"/>
              </a:rPr>
              <a:t>an index </a:t>
            </a:r>
            <a:r>
              <a:rPr lang="en-US" sz="1150" b="0" i="1" u="none" strike="noStrike">
                <a:solidFill>
                  <a:srgbClr val="474651"/>
                </a:solidFill>
                <a:effectLst/>
                <a:uFillTx/>
                <a:latin typeface="Hanken Grotesk"/>
                <a:ea typeface="Hanken Grotesk"/>
              </a:rPr>
              <a:t>keeps only </a:t>
            </a:r>
            <a:r>
              <a:rPr lang="en-US" sz="1150" b="0" i="1" u="none" strike="noStrike">
                <a:solidFill>
                  <a:srgbClr val="474651"/>
                </a:solidFill>
                <a:effectLst/>
                <a:uFillTx/>
                <a:latin typeface="Hanken Grotesk"/>
                <a:ea typeface="Hanken Grotesk"/>
              </a:rPr>
              <a:t>the True </a:t>
            </a:r>
            <a:r>
              <a:rPr lang="en-US" sz="1150" b="0" i="1" u="none" strike="noStrike">
                <a:solidFill>
                  <a:srgbClr val="474651"/>
                </a:solidFill>
                <a:effectLst/>
                <a:uFillTx/>
                <a:latin typeface="Hanken Grotesk"/>
                <a:ea typeface="Hanken Grotesk"/>
              </a:rPr>
              <a:t>positions.</a:t>
            </a:r>
            <a:endParaRPr lang="en-US" sz="1150" b="0" u="none" strike="noStrike">
              <a:solidFill>
                <a:srgbClr val="000000"/>
              </a:solidFill>
              <a:effectLst/>
              <a:uFillTx/>
              <a:latin typeface="Arial"/>
            </a:endParaRPr>
          </a:p>
        </p:txBody>
      </p:sp>
      <p:sp>
        <p:nvSpPr>
          <p:cNvPr id="483"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84"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5"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486"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INDEXING &amp; SLICING</a:t>
            </a:r>
            <a:endParaRPr lang="en-US" sz="1100" b="0" u="none" strike="noStrike">
              <a:solidFill>
                <a:srgbClr val="000000"/>
              </a:solidFill>
              <a:effectLst/>
              <a:uFillTx/>
              <a:latin typeface="Arial"/>
            </a:endParaRPr>
          </a:p>
        </p:txBody>
      </p:sp>
      <p:sp>
        <p:nvSpPr>
          <p:cNvPr id="487"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Indexing &amp; Slicing</a:t>
            </a:r>
            <a:endParaRPr lang="en-US" sz="2300" b="0" u="none" strike="noStrike">
              <a:solidFill>
                <a:srgbClr val="000000"/>
              </a:solidFill>
              <a:effectLst/>
              <a:uFillTx/>
              <a:latin typeface="Arial"/>
            </a:endParaRPr>
          </a:p>
        </p:txBody>
      </p:sp>
      <p:sp>
        <p:nvSpPr>
          <p:cNvPr id="488"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489"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0"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1"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492"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1D array of 8 numbers and retrieve the 3rd and last elements.</a:t>
            </a:r>
            <a:endParaRPr lang="en-US" sz="1300" b="0" u="none" strike="noStrike">
              <a:solidFill>
                <a:srgbClr val="000000"/>
              </a:solidFill>
              <a:effectLst/>
              <a:uFillTx/>
              <a:latin typeface="Arial"/>
            </a:endParaRPr>
          </a:p>
        </p:txBody>
      </p:sp>
      <p:sp>
        <p:nvSpPr>
          <p:cNvPr id="493"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4"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5"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496"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Slice out the middle 4 elements of that array.</a:t>
            </a:r>
            <a:endParaRPr lang="en-US" sz="1300" b="0" u="none" strike="noStrike">
              <a:solidFill>
                <a:srgbClr val="000000"/>
              </a:solidFill>
              <a:effectLst/>
              <a:uFillTx/>
              <a:latin typeface="Arial"/>
            </a:endParaRPr>
          </a:p>
        </p:txBody>
      </p:sp>
      <p:sp>
        <p:nvSpPr>
          <p:cNvPr id="497"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8"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9"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500"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2D array and retrieve one full row and one full column.</a:t>
            </a:r>
            <a:endParaRPr lang="en-US" sz="1300" b="0" u="none" strike="noStrike">
              <a:solidFill>
                <a:srgbClr val="000000"/>
              </a:solidFill>
              <a:effectLst/>
              <a:uFillTx/>
              <a:latin typeface="Arial"/>
            </a:endParaRPr>
          </a:p>
        </p:txBody>
      </p:sp>
      <p:sp>
        <p:nvSpPr>
          <p:cNvPr id="501"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2"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3"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504"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boolean indexing to keep only the values greater than the array's mean.</a:t>
            </a:r>
            <a:endParaRPr lang="en-US" sz="1300" b="0" u="none" strike="noStrike">
              <a:solidFill>
                <a:srgbClr val="000000"/>
              </a:solidFill>
              <a:effectLst/>
              <a:uFillTx/>
              <a:latin typeface="Arial"/>
            </a:endParaRPr>
          </a:p>
        </p:txBody>
      </p:sp>
      <p:pic>
        <p:nvPicPr>
          <p:cNvPr id="50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06"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507"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28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508"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9"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10"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511"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6 · RESHAPING &amp; MANIPULATION</a:t>
            </a:r>
            <a:endParaRPr lang="en-US" sz="1400" b="0" u="none" strike="noStrike">
              <a:solidFill>
                <a:srgbClr val="FFFFFF"/>
              </a:solidFill>
              <a:effectLst/>
              <a:uFillTx/>
              <a:latin typeface="Arial"/>
            </a:endParaRPr>
          </a:p>
        </p:txBody>
      </p:sp>
      <p:sp>
        <p:nvSpPr>
          <p:cNvPr id="512"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Reshaping &amp; Manipulation</a:t>
            </a:r>
            <a:endParaRPr lang="en-US" sz="4000" b="0" u="none" strike="noStrike">
              <a:solidFill>
                <a:srgbClr val="FFFFFF"/>
              </a:solidFill>
              <a:effectLst/>
              <a:uFillTx/>
              <a:latin typeface="Arial"/>
            </a:endParaRPr>
          </a:p>
        </p:txBody>
      </p:sp>
      <p:sp>
        <p:nvSpPr>
          <p:cNvPr id="513"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Changing an array's shape without changing its data.</a:t>
            </a:r>
            <a:endParaRPr lang="en-US" sz="1500" b="0" u="none" strike="noStrike">
              <a:solidFill>
                <a:srgbClr val="FFFFFF"/>
              </a:solidFill>
              <a:effectLst/>
              <a:uFillTx/>
              <a:latin typeface="Arial"/>
            </a:endParaRPr>
          </a:p>
        </p:txBody>
      </p:sp>
      <p:sp>
        <p:nvSpPr>
          <p:cNvPr id="514"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29</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15"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RESHAPING &amp; MANIPULATION</a:t>
            </a:r>
            <a:endParaRPr lang="en-US" sz="1100" b="0" u="none" strike="noStrike">
              <a:solidFill>
                <a:srgbClr val="000000"/>
              </a:solidFill>
              <a:effectLst/>
              <a:uFillTx/>
              <a:latin typeface="Arial"/>
            </a:endParaRPr>
          </a:p>
        </p:txBody>
      </p:sp>
      <p:sp>
        <p:nvSpPr>
          <p:cNvPr id="516"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reshape() — Same Data, New Shape</a:t>
            </a:r>
            <a:endParaRPr lang="en-US" sz="2600" b="0" u="none" strike="noStrike">
              <a:solidFill>
                <a:srgbClr val="000000"/>
              </a:solidFill>
              <a:effectLst/>
              <a:uFillTx/>
              <a:latin typeface="Arial"/>
            </a:endParaRPr>
          </a:p>
        </p:txBody>
      </p:sp>
      <p:pic>
        <p:nvPicPr>
          <p:cNvPr id="517"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18"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519" name="Text 3"/>
          <p:cNvSpPr/>
          <p:nvPr/>
        </p:nvSpPr>
        <p:spPr>
          <a:xfrm>
            <a:off x="548640" y="1691640"/>
            <a:ext cx="109724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B1B20"/>
                </a:solidFill>
                <a:effectLst/>
                <a:uFillTx/>
                <a:latin typeface="Consolas"/>
                <a:ea typeface="Consolas"/>
              </a:rPr>
              <a:t>arr = np.arange(1, 7)   # [1 2 3 4 5 6]</a:t>
            </a:r>
            <a:endParaRPr lang="en-US" sz="1300" b="0" u="none" strike="noStrike">
              <a:solidFill>
                <a:srgbClr val="000000"/>
              </a:solidFill>
              <a:effectLst/>
              <a:uFillTx/>
              <a:latin typeface="Arial"/>
            </a:endParaRPr>
          </a:p>
        </p:txBody>
      </p:sp>
      <p:sp>
        <p:nvSpPr>
          <p:cNvPr id="520" name="Shape 4"/>
          <p:cNvSpPr/>
          <p:nvPr/>
        </p:nvSpPr>
        <p:spPr>
          <a:xfrm>
            <a:off x="54864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1" name="Text 5"/>
          <p:cNvSpPr/>
          <p:nvPr/>
        </p:nvSpPr>
        <p:spPr>
          <a:xfrm>
            <a:off x="54864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a:t>
            </a:r>
            <a:endParaRPr lang="en-US" sz="1300" b="0" u="none" strike="noStrike">
              <a:solidFill>
                <a:srgbClr val="000000"/>
              </a:solidFill>
              <a:effectLst/>
              <a:uFillTx/>
              <a:latin typeface="Arial"/>
            </a:endParaRPr>
          </a:p>
        </p:txBody>
      </p:sp>
      <p:sp>
        <p:nvSpPr>
          <p:cNvPr id="522" name="Shape 6"/>
          <p:cNvSpPr/>
          <p:nvPr/>
        </p:nvSpPr>
        <p:spPr>
          <a:xfrm>
            <a:off x="132588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3" name="Text 7"/>
          <p:cNvSpPr/>
          <p:nvPr/>
        </p:nvSpPr>
        <p:spPr>
          <a:xfrm>
            <a:off x="132588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2</a:t>
            </a:r>
            <a:endParaRPr lang="en-US" sz="1300" b="0" u="none" strike="noStrike">
              <a:solidFill>
                <a:srgbClr val="000000"/>
              </a:solidFill>
              <a:effectLst/>
              <a:uFillTx/>
              <a:latin typeface="Arial"/>
            </a:endParaRPr>
          </a:p>
        </p:txBody>
      </p:sp>
      <p:sp>
        <p:nvSpPr>
          <p:cNvPr id="524" name="Shape 8"/>
          <p:cNvSpPr/>
          <p:nvPr/>
        </p:nvSpPr>
        <p:spPr>
          <a:xfrm>
            <a:off x="210312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5" name="Text 9"/>
          <p:cNvSpPr/>
          <p:nvPr/>
        </p:nvSpPr>
        <p:spPr>
          <a:xfrm>
            <a:off x="210312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3</a:t>
            </a:r>
            <a:endParaRPr lang="en-US" sz="1300" b="0" u="none" strike="noStrike">
              <a:solidFill>
                <a:srgbClr val="000000"/>
              </a:solidFill>
              <a:effectLst/>
              <a:uFillTx/>
              <a:latin typeface="Arial"/>
            </a:endParaRPr>
          </a:p>
        </p:txBody>
      </p:sp>
      <p:sp>
        <p:nvSpPr>
          <p:cNvPr id="526" name="Shape 10"/>
          <p:cNvSpPr/>
          <p:nvPr/>
        </p:nvSpPr>
        <p:spPr>
          <a:xfrm>
            <a:off x="288036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7" name="Text 11"/>
          <p:cNvSpPr/>
          <p:nvPr/>
        </p:nvSpPr>
        <p:spPr>
          <a:xfrm>
            <a:off x="288036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4</a:t>
            </a:r>
            <a:endParaRPr lang="en-US" sz="1300" b="0" u="none" strike="noStrike">
              <a:solidFill>
                <a:srgbClr val="000000"/>
              </a:solidFill>
              <a:effectLst/>
              <a:uFillTx/>
              <a:latin typeface="Arial"/>
            </a:endParaRPr>
          </a:p>
        </p:txBody>
      </p:sp>
      <p:sp>
        <p:nvSpPr>
          <p:cNvPr id="528" name="Shape 12"/>
          <p:cNvSpPr/>
          <p:nvPr/>
        </p:nvSpPr>
        <p:spPr>
          <a:xfrm>
            <a:off x="365760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9" name="Text 13"/>
          <p:cNvSpPr/>
          <p:nvPr/>
        </p:nvSpPr>
        <p:spPr>
          <a:xfrm>
            <a:off x="365760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5</a:t>
            </a:r>
            <a:endParaRPr lang="en-US" sz="1300" b="0" u="none" strike="noStrike">
              <a:solidFill>
                <a:srgbClr val="000000"/>
              </a:solidFill>
              <a:effectLst/>
              <a:uFillTx/>
              <a:latin typeface="Arial"/>
            </a:endParaRPr>
          </a:p>
        </p:txBody>
      </p:sp>
      <p:sp>
        <p:nvSpPr>
          <p:cNvPr id="530" name="Shape 14"/>
          <p:cNvSpPr/>
          <p:nvPr/>
        </p:nvSpPr>
        <p:spPr>
          <a:xfrm>
            <a:off x="443484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1" name="Text 15"/>
          <p:cNvSpPr/>
          <p:nvPr/>
        </p:nvSpPr>
        <p:spPr>
          <a:xfrm>
            <a:off x="443484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6</a:t>
            </a:r>
            <a:endParaRPr lang="en-US" sz="1300" b="0" u="none" strike="noStrike">
              <a:solidFill>
                <a:srgbClr val="000000"/>
              </a:solidFill>
              <a:effectLst/>
              <a:uFillTx/>
              <a:latin typeface="Arial"/>
            </a:endParaRPr>
          </a:p>
        </p:txBody>
      </p:sp>
      <p:sp>
        <p:nvSpPr>
          <p:cNvPr id="532" name="Text 16"/>
          <p:cNvSpPr/>
          <p:nvPr/>
        </p:nvSpPr>
        <p:spPr>
          <a:xfrm>
            <a:off x="548640" y="2971800"/>
            <a:ext cx="3657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BE185D"/>
                </a:solidFill>
                <a:effectLst/>
                <a:uFillTx/>
                <a:latin typeface="Consolas"/>
                <a:ea typeface="Consolas"/>
              </a:rPr>
              <a:t>→  arr.reshape(2, 3)</a:t>
            </a:r>
            <a:endParaRPr lang="en-US" sz="1300" b="0" u="none" strike="noStrike">
              <a:solidFill>
                <a:srgbClr val="000000"/>
              </a:solidFill>
              <a:effectLst/>
              <a:uFillTx/>
              <a:latin typeface="Arial"/>
            </a:endParaRPr>
          </a:p>
        </p:txBody>
      </p:sp>
      <p:sp>
        <p:nvSpPr>
          <p:cNvPr id="533" name="Shape 17"/>
          <p:cNvSpPr/>
          <p:nvPr/>
        </p:nvSpPr>
        <p:spPr>
          <a:xfrm>
            <a:off x="548640" y="342900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4" name="Text 18"/>
          <p:cNvSpPr/>
          <p:nvPr/>
        </p:nvSpPr>
        <p:spPr>
          <a:xfrm>
            <a:off x="548640" y="342900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1</a:t>
            </a:r>
            <a:endParaRPr lang="en-US" sz="1250" b="0" u="none" strike="noStrike">
              <a:solidFill>
                <a:srgbClr val="000000"/>
              </a:solidFill>
              <a:effectLst/>
              <a:uFillTx/>
              <a:latin typeface="Arial"/>
            </a:endParaRPr>
          </a:p>
        </p:txBody>
      </p:sp>
      <p:sp>
        <p:nvSpPr>
          <p:cNvPr id="535" name="Shape 19"/>
          <p:cNvSpPr/>
          <p:nvPr/>
        </p:nvSpPr>
        <p:spPr>
          <a:xfrm>
            <a:off x="1325880" y="342900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6" name="Text 20"/>
          <p:cNvSpPr/>
          <p:nvPr/>
        </p:nvSpPr>
        <p:spPr>
          <a:xfrm>
            <a:off x="1325880" y="342900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2</a:t>
            </a:r>
            <a:endParaRPr lang="en-US" sz="1250" b="0" u="none" strike="noStrike">
              <a:solidFill>
                <a:srgbClr val="000000"/>
              </a:solidFill>
              <a:effectLst/>
              <a:uFillTx/>
              <a:latin typeface="Arial"/>
            </a:endParaRPr>
          </a:p>
        </p:txBody>
      </p:sp>
      <p:sp>
        <p:nvSpPr>
          <p:cNvPr id="537" name="Shape 21"/>
          <p:cNvSpPr/>
          <p:nvPr/>
        </p:nvSpPr>
        <p:spPr>
          <a:xfrm>
            <a:off x="2103120" y="342900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8" name="Text 22"/>
          <p:cNvSpPr/>
          <p:nvPr/>
        </p:nvSpPr>
        <p:spPr>
          <a:xfrm>
            <a:off x="2103120" y="342900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3</a:t>
            </a:r>
            <a:endParaRPr lang="en-US" sz="1250" b="0" u="none" strike="noStrike">
              <a:solidFill>
                <a:srgbClr val="000000"/>
              </a:solidFill>
              <a:effectLst/>
              <a:uFillTx/>
              <a:latin typeface="Arial"/>
            </a:endParaRPr>
          </a:p>
        </p:txBody>
      </p:sp>
      <p:sp>
        <p:nvSpPr>
          <p:cNvPr id="539" name="Shape 23"/>
          <p:cNvSpPr/>
          <p:nvPr/>
        </p:nvSpPr>
        <p:spPr>
          <a:xfrm>
            <a:off x="548640" y="402336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0" name="Text 24"/>
          <p:cNvSpPr/>
          <p:nvPr/>
        </p:nvSpPr>
        <p:spPr>
          <a:xfrm>
            <a:off x="548640" y="402336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4</a:t>
            </a:r>
            <a:endParaRPr lang="en-US" sz="1250" b="0" u="none" strike="noStrike">
              <a:solidFill>
                <a:srgbClr val="000000"/>
              </a:solidFill>
              <a:effectLst/>
              <a:uFillTx/>
              <a:latin typeface="Arial"/>
            </a:endParaRPr>
          </a:p>
        </p:txBody>
      </p:sp>
      <p:sp>
        <p:nvSpPr>
          <p:cNvPr id="541" name="Shape 25"/>
          <p:cNvSpPr/>
          <p:nvPr/>
        </p:nvSpPr>
        <p:spPr>
          <a:xfrm>
            <a:off x="1325880" y="402336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2" name="Text 26"/>
          <p:cNvSpPr/>
          <p:nvPr/>
        </p:nvSpPr>
        <p:spPr>
          <a:xfrm>
            <a:off x="1325880" y="402336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5</a:t>
            </a:r>
            <a:endParaRPr lang="en-US" sz="1250" b="0" u="none" strike="noStrike">
              <a:solidFill>
                <a:srgbClr val="000000"/>
              </a:solidFill>
              <a:effectLst/>
              <a:uFillTx/>
              <a:latin typeface="Arial"/>
            </a:endParaRPr>
          </a:p>
        </p:txBody>
      </p:sp>
      <p:sp>
        <p:nvSpPr>
          <p:cNvPr id="543" name="Shape 27"/>
          <p:cNvSpPr/>
          <p:nvPr/>
        </p:nvSpPr>
        <p:spPr>
          <a:xfrm>
            <a:off x="2103120" y="402336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4" name="Text 28"/>
          <p:cNvSpPr/>
          <p:nvPr/>
        </p:nvSpPr>
        <p:spPr>
          <a:xfrm>
            <a:off x="2103120" y="402336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6</a:t>
            </a:r>
            <a:endParaRPr lang="en-US" sz="1250" b="0" u="none" strike="noStrike">
              <a:solidFill>
                <a:srgbClr val="000000"/>
              </a:solidFill>
              <a:effectLst/>
              <a:uFillTx/>
              <a:latin typeface="Arial"/>
            </a:endParaRPr>
          </a:p>
        </p:txBody>
      </p:sp>
      <p:sp>
        <p:nvSpPr>
          <p:cNvPr id="545" name="Text 29"/>
          <p:cNvSpPr/>
          <p:nvPr/>
        </p:nvSpPr>
        <p:spPr>
          <a:xfrm>
            <a:off x="6309360" y="2103120"/>
            <a:ext cx="5348880" cy="36572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reshape() rearranges the same elements into a new shape — the total count must stay the same (6 = 2x3).</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Pass -1 for one dimension to let NumPy calculate it automatically: arr.reshape(2, -1).</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flatten() / ravel() do the reverse — collapse any array back down to 1D.</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.T (transpose) flips rows and columns for a 2D array.</a:t>
            </a:r>
            <a:endParaRPr lang="en-US" sz="1350" b="0" u="none" strike="noStrike">
              <a:solidFill>
                <a:srgbClr val="000000"/>
              </a:solidFill>
              <a:effectLst/>
              <a:uFillTx/>
              <a:latin typeface="Arial"/>
            </a:endParaRPr>
          </a:p>
        </p:txBody>
      </p:sp>
      <p:sp>
        <p:nvSpPr>
          <p:cNvPr id="546" name="Text 3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4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RESHAPING &amp; MANIPULATION</a:t>
            </a:r>
            <a:endParaRPr lang="en-US" sz="1100" b="0" u="none" strike="noStrike">
              <a:solidFill>
                <a:srgbClr val="000000"/>
              </a:solidFill>
              <a:effectLst/>
              <a:uFillTx/>
              <a:latin typeface="Arial"/>
            </a:endParaRPr>
          </a:p>
        </p:txBody>
      </p:sp>
      <p:sp>
        <p:nvSpPr>
          <p:cNvPr id="54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Joining Arrays Together</a:t>
            </a:r>
            <a:endParaRPr lang="en-US" sz="2600" b="0" u="none" strike="noStrike">
              <a:solidFill>
                <a:srgbClr val="000000"/>
              </a:solidFill>
              <a:effectLst/>
              <a:uFillTx/>
              <a:latin typeface="Arial"/>
            </a:endParaRPr>
          </a:p>
        </p:txBody>
      </p:sp>
      <p:pic>
        <p:nvPicPr>
          <p:cNvPr id="54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5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graphicFrame>
        <p:nvGraphicFramePr>
          <p:cNvPr id="551" name="Table 0"/>
          <p:cNvGraphicFramePr/>
          <p:nvPr/>
        </p:nvGraphicFramePr>
        <p:xfrm>
          <a:off x="548640" y="1737360"/>
          <a:ext cx="11109600" cy="2468520"/>
        </p:xfrm>
        <a:graphic>
          <a:graphicData uri="http://schemas.openxmlformats.org/drawingml/2006/table">
            <a:tbl>
              <a:tblPr/>
              <a:tblGrid>
                <a:gridCol w="3999240"/>
                <a:gridCol w="7110360"/>
              </a:tblGrid>
              <a:tr h="4935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np.concatenate([a, b])</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Joins arrays end to end along an existing axis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np.vstack([a, b])</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Stacks arrays on top of each other (new rows)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np.hstack([a, b])</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Stacks arrays side by side (new columns)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np.split(arr, 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Splits one array into n equal parts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552" name="Shape 3"/>
          <p:cNvSpPr/>
          <p:nvPr/>
        </p:nvSpPr>
        <p:spPr>
          <a:xfrm>
            <a:off x="548640" y="4434840"/>
            <a:ext cx="11109600" cy="196596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3" name="Shape 4"/>
          <p:cNvSpPr/>
          <p:nvPr/>
        </p:nvSpPr>
        <p:spPr>
          <a:xfrm>
            <a:off x="713160" y="45810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554" name="Shape 5"/>
          <p:cNvSpPr/>
          <p:nvPr/>
        </p:nvSpPr>
        <p:spPr>
          <a:xfrm>
            <a:off x="914400" y="45810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555" name="Shape 6"/>
          <p:cNvSpPr/>
          <p:nvPr/>
        </p:nvSpPr>
        <p:spPr>
          <a:xfrm>
            <a:off x="1115640" y="45810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556" name="Text 7"/>
          <p:cNvSpPr/>
          <p:nvPr/>
        </p:nvSpPr>
        <p:spPr>
          <a:xfrm>
            <a:off x="749880" y="481896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a = np.array([1, 2, 3])</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b = np.array([4, 5, 6])</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np.concatenate([a, b])  # [1 2 3 4 5 6]</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np.vstack([a, b])       # [[1 2 3] [4 5 6]]</a:t>
            </a:r>
            <a:endParaRPr lang="en-US" sz="1350" b="0" u="none" strike="noStrike">
              <a:solidFill>
                <a:srgbClr val="000000"/>
              </a:solidFill>
              <a:effectLst/>
              <a:uFillTx/>
              <a:latin typeface="Cantarell"/>
            </a:endParaRPr>
          </a:p>
        </p:txBody>
      </p:sp>
      <p:sp>
        <p:nvSpPr>
          <p:cNvPr id="557"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58"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9"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560"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RESHAPING &amp; MANIPULATION</a:t>
            </a:r>
            <a:endParaRPr lang="en-US" sz="1100" b="0" u="none" strike="noStrike">
              <a:solidFill>
                <a:srgbClr val="000000"/>
              </a:solidFill>
              <a:effectLst/>
              <a:uFillTx/>
              <a:latin typeface="Arial"/>
            </a:endParaRPr>
          </a:p>
        </p:txBody>
      </p:sp>
      <p:sp>
        <p:nvSpPr>
          <p:cNvPr id="561"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Reshaping &amp; Manipulation</a:t>
            </a:r>
            <a:endParaRPr lang="en-US" sz="2300" b="0" u="none" strike="noStrike">
              <a:solidFill>
                <a:srgbClr val="000000"/>
              </a:solidFill>
              <a:effectLst/>
              <a:uFillTx/>
              <a:latin typeface="Arial"/>
            </a:endParaRPr>
          </a:p>
        </p:txBody>
      </p:sp>
      <p:sp>
        <p:nvSpPr>
          <p:cNvPr id="562"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563"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4"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5"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566"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1D array of 12 numbers and reshape it into a 3x4 matrix.</a:t>
            </a:r>
            <a:endParaRPr lang="en-US" sz="1300" b="0" u="none" strike="noStrike">
              <a:solidFill>
                <a:srgbClr val="000000"/>
              </a:solidFill>
              <a:effectLst/>
              <a:uFillTx/>
              <a:latin typeface="Arial"/>
            </a:endParaRPr>
          </a:p>
        </p:txBody>
      </p:sp>
      <p:sp>
        <p:nvSpPr>
          <p:cNvPr id="567"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8"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9"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570"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Reshape that matrix into 2x6 instead, then flatten it back to 1D.</a:t>
            </a:r>
            <a:endParaRPr lang="en-US" sz="1300" b="0" u="none" strike="noStrike">
              <a:solidFill>
                <a:srgbClr val="000000"/>
              </a:solidFill>
              <a:effectLst/>
              <a:uFillTx/>
              <a:latin typeface="Arial"/>
            </a:endParaRPr>
          </a:p>
        </p:txBody>
      </p:sp>
      <p:sp>
        <p:nvSpPr>
          <p:cNvPr id="571"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2"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3"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574"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Transpose a 2x3 matrix and check its new shape.</a:t>
            </a:r>
            <a:endParaRPr lang="en-US" sz="1300" b="0" u="none" strike="noStrike">
              <a:solidFill>
                <a:srgbClr val="000000"/>
              </a:solidFill>
              <a:effectLst/>
              <a:uFillTx/>
              <a:latin typeface="Arial"/>
            </a:endParaRPr>
          </a:p>
        </p:txBody>
      </p:sp>
      <p:sp>
        <p:nvSpPr>
          <p:cNvPr id="575"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6"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7"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578"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Stack two 1D arrays vertically, then split the result back into two.</a:t>
            </a:r>
            <a:endParaRPr lang="en-US" sz="1300" b="0" u="none" strike="noStrike">
              <a:solidFill>
                <a:srgbClr val="000000"/>
              </a:solidFill>
              <a:effectLst/>
              <a:uFillTx/>
              <a:latin typeface="Arial"/>
            </a:endParaRPr>
          </a:p>
        </p:txBody>
      </p:sp>
      <p:pic>
        <p:nvPicPr>
          <p:cNvPr id="57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80"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a:t>
            </a:r>
            <a:r>
              <a:rPr lang="en-US" sz="900" b="0" u="none" strike="noStrike">
                <a:solidFill>
                  <a:srgbClr val="474651"/>
                </a:solidFill>
                <a:effectLst/>
                <a:uFillTx/>
                <a:latin typeface="Plus Jakarta Sans"/>
                <a:ea typeface="Plus Jakarta Sans"/>
              </a:rPr>
              <a:t>o  ·  AI &amp; ML </a:t>
            </a:r>
            <a:r>
              <a:rPr lang="en-US" sz="900" b="0" u="none" strike="noStrike">
                <a:solidFill>
                  <a:srgbClr val="474651"/>
                </a:solidFill>
                <a:effectLst/>
                <a:uFillTx/>
                <a:latin typeface="Plus Jakarta Sans"/>
                <a:ea typeface="Plus Jakarta Sans"/>
              </a:rPr>
              <a:t>Playground  </a:t>
            </a:r>
            <a:r>
              <a:rPr lang="en-US" sz="900" b="0" u="none" strike="noStrike">
                <a:solidFill>
                  <a:srgbClr val="474651"/>
                </a:solidFill>
                <a:effectLst/>
                <a:uFillTx/>
                <a:latin typeface="Plus Jakarta Sans"/>
                <a:ea typeface="Plus Jakarta Sans"/>
              </a:rPr>
              <a:t>·  NumPy</a:t>
            </a:r>
            <a:endParaRPr lang="en-US" sz="900" b="0" u="none" strike="noStrike">
              <a:solidFill>
                <a:srgbClr val="000000"/>
              </a:solidFill>
              <a:effectLst/>
              <a:uFillTx/>
              <a:latin typeface="Arial"/>
            </a:endParaRPr>
          </a:p>
        </p:txBody>
      </p:sp>
      <p:sp>
        <p:nvSpPr>
          <p:cNvPr id="581"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582"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3"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84"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585"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7 · ARRAY MODIFICATION</a:t>
            </a:r>
            <a:endParaRPr lang="en-US" sz="1400" b="0" u="none" strike="noStrike">
              <a:solidFill>
                <a:srgbClr val="FFFFFF"/>
              </a:solidFill>
              <a:effectLst/>
              <a:uFillTx/>
              <a:latin typeface="Arial"/>
            </a:endParaRPr>
          </a:p>
        </p:txBody>
      </p:sp>
      <p:sp>
        <p:nvSpPr>
          <p:cNvPr id="586"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Array Modification</a:t>
            </a:r>
            <a:endParaRPr lang="en-US" sz="4000" b="0" u="none" strike="noStrike">
              <a:solidFill>
                <a:srgbClr val="FFFFFF"/>
              </a:solidFill>
              <a:effectLst/>
              <a:uFillTx/>
              <a:latin typeface="Arial"/>
            </a:endParaRPr>
          </a:p>
        </p:txBody>
      </p:sp>
      <p:sp>
        <p:nvSpPr>
          <p:cNvPr id="587"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Adding, removing, and safely copying elements.</a:t>
            </a:r>
            <a:endParaRPr lang="en-US" sz="1500" b="0" u="none" strike="noStrike">
              <a:solidFill>
                <a:srgbClr val="FFFFFF"/>
              </a:solidFill>
              <a:effectLst/>
              <a:uFillTx/>
              <a:latin typeface="Arial"/>
            </a:endParaRPr>
          </a:p>
        </p:txBody>
      </p:sp>
      <p:sp>
        <p:nvSpPr>
          <p:cNvPr id="588"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33</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89"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7 · ARRAY MODIFICATION</a:t>
            </a:r>
            <a:endParaRPr lang="en-US" sz="1100" b="0" u="none" strike="noStrike">
              <a:solidFill>
                <a:srgbClr val="000000"/>
              </a:solidFill>
              <a:effectLst/>
              <a:uFillTx/>
              <a:latin typeface="Arial"/>
            </a:endParaRPr>
          </a:p>
        </p:txBody>
      </p:sp>
      <p:sp>
        <p:nvSpPr>
          <p:cNvPr id="590"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Adding &amp; Removing Elements</a:t>
            </a:r>
            <a:endParaRPr lang="en-US" sz="2600" b="0" u="none" strike="noStrike">
              <a:solidFill>
                <a:srgbClr val="000000"/>
              </a:solidFill>
              <a:effectLst/>
              <a:uFillTx/>
              <a:latin typeface="Arial"/>
            </a:endParaRPr>
          </a:p>
        </p:txBody>
      </p:sp>
      <p:pic>
        <p:nvPicPr>
          <p:cNvPr id="591"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92"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graphicFrame>
        <p:nvGraphicFramePr>
          <p:cNvPr id="593" name="Table 0"/>
          <p:cNvGraphicFramePr/>
          <p:nvPr/>
        </p:nvGraphicFramePr>
        <p:xfrm>
          <a:off x="548640" y="1737360"/>
          <a:ext cx="11109600" cy="2194560"/>
        </p:xfrm>
        <a:graphic>
          <a:graphicData uri="http://schemas.openxmlformats.org/drawingml/2006/table">
            <a:tbl>
              <a:tblPr/>
              <a:tblGrid>
                <a:gridCol w="3999240"/>
                <a:gridCol w="7110360"/>
              </a:tblGrid>
              <a:tr h="54864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np.append(arr, value)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Returns a new array with value added at the end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np.insert(arr, index, value)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Returns a new array with value inserted at index</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np.delete(arr, index)</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Returns a new array with the element at index removed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594" name="Shape 3"/>
          <p:cNvSpPr/>
          <p:nvPr/>
        </p:nvSpPr>
        <p:spPr>
          <a:xfrm>
            <a:off x="548640" y="4114800"/>
            <a:ext cx="11109600" cy="1737000"/>
          </a:xfrm>
          <a:prstGeom prst="roundRect">
            <a:avLst>
              <a:gd name="adj" fmla="val 6316"/>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5" name="Shape 4"/>
          <p:cNvSpPr/>
          <p:nvPr/>
        </p:nvSpPr>
        <p:spPr>
          <a:xfrm>
            <a:off x="713160" y="42609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596" name="Shape 5"/>
          <p:cNvSpPr/>
          <p:nvPr/>
        </p:nvSpPr>
        <p:spPr>
          <a:xfrm>
            <a:off x="914400" y="42609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597" name="Shape 6"/>
          <p:cNvSpPr/>
          <p:nvPr/>
        </p:nvSpPr>
        <p:spPr>
          <a:xfrm>
            <a:off x="1115640" y="42609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598" name="Text 7"/>
          <p:cNvSpPr/>
          <p:nvPr/>
        </p:nvSpPr>
        <p:spPr>
          <a:xfrm>
            <a:off x="749880" y="4498920"/>
            <a:ext cx="10707120" cy="1206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arr = np.array([10, 20, 30])</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np.append(arr, 40)        # [10 20 30 40]</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np.insert(arr, 1, 15)     # [10 15 20 30]</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np.delete(arr, 0)         # [20 30]</a:t>
            </a:r>
            <a:endParaRPr lang="en-US" sz="1350" b="0" u="none" strike="noStrike">
              <a:solidFill>
                <a:srgbClr val="000000"/>
              </a:solidFill>
              <a:effectLst/>
              <a:uFillTx/>
              <a:latin typeface="Cantarell"/>
            </a:endParaRPr>
          </a:p>
        </p:txBody>
      </p:sp>
      <p:sp>
        <p:nvSpPr>
          <p:cNvPr id="599"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0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7 · ARRAY MODIFICATION</a:t>
            </a:r>
            <a:endParaRPr lang="en-US" sz="1100" b="0" u="none" strike="noStrike">
              <a:solidFill>
                <a:srgbClr val="000000"/>
              </a:solidFill>
              <a:effectLst/>
              <a:uFillTx/>
              <a:latin typeface="Arial"/>
            </a:endParaRPr>
          </a:p>
        </p:txBody>
      </p:sp>
      <p:sp>
        <p:nvSpPr>
          <p:cNvPr id="60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Copy vs. View — An Important Gotcha</a:t>
            </a:r>
            <a:endParaRPr lang="en-US" sz="2600" b="0" u="none" strike="noStrike">
              <a:solidFill>
                <a:srgbClr val="000000"/>
              </a:solidFill>
              <a:effectLst/>
              <a:uFillTx/>
              <a:latin typeface="Arial"/>
            </a:endParaRPr>
          </a:p>
        </p:txBody>
      </p:sp>
      <p:pic>
        <p:nvPicPr>
          <p:cNvPr id="60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0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604" name="Text 3"/>
          <p:cNvSpPr/>
          <p:nvPr/>
        </p:nvSpPr>
        <p:spPr>
          <a:xfrm>
            <a:off x="548640" y="1737360"/>
            <a:ext cx="539460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500" b="0" u="none" strike="noStrike">
                <a:solidFill>
                  <a:srgbClr val="1B1B20"/>
                </a:solidFill>
                <a:effectLst/>
                <a:uFillTx/>
                <a:latin typeface="Hanken Grotesk"/>
                <a:ea typeface="Hanken Grotesk"/>
              </a:rPr>
              <a:t>Slicing a NumPy array does NOT copy it — it returns a view, which still points at the same underlying data.</a:t>
            </a:r>
            <a:endParaRPr lang="en-US" sz="15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500" b="0" u="none" strike="noStrike">
                <a:solidFill>
                  <a:srgbClr val="1B1B20"/>
                </a:solidFill>
                <a:effectLst/>
                <a:uFillTx/>
                <a:latin typeface="Hanken Grotesk"/>
                <a:ea typeface="Hanken Grotesk"/>
              </a:rPr>
              <a:t>Changing a view changes the original array too — a very common source of confusing bugs.</a:t>
            </a:r>
            <a:endParaRPr lang="en-US" sz="15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500" b="0" u="none" strike="noStrike">
                <a:solidFill>
                  <a:srgbClr val="1B1B20"/>
                </a:solidFill>
                <a:effectLst/>
                <a:uFillTx/>
                <a:latin typeface="Hanken Grotesk"/>
                <a:ea typeface="Hanken Grotesk"/>
              </a:rPr>
              <a:t>Call .copy() explicitly whenever you need an independent, separate array.</a:t>
            </a:r>
            <a:endParaRPr lang="en-US" sz="1500" b="0" u="none" strike="noStrike">
              <a:solidFill>
                <a:srgbClr val="000000"/>
              </a:solidFill>
              <a:effectLst/>
              <a:uFillTx/>
              <a:latin typeface="Arial"/>
            </a:endParaRPr>
          </a:p>
        </p:txBody>
      </p:sp>
      <p:sp>
        <p:nvSpPr>
          <p:cNvPr id="605" name="Shape 4"/>
          <p:cNvSpPr/>
          <p:nvPr/>
        </p:nvSpPr>
        <p:spPr>
          <a:xfrm>
            <a:off x="6172200" y="1737360"/>
            <a:ext cx="548604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6" name="Shape 5"/>
          <p:cNvSpPr/>
          <p:nvPr/>
        </p:nvSpPr>
        <p:spPr>
          <a:xfrm>
            <a:off x="633672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07" name="Shape 6"/>
          <p:cNvSpPr/>
          <p:nvPr/>
        </p:nvSpPr>
        <p:spPr>
          <a:xfrm>
            <a:off x="653796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08" name="Shape 7"/>
          <p:cNvSpPr/>
          <p:nvPr/>
        </p:nvSpPr>
        <p:spPr>
          <a:xfrm>
            <a:off x="673920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09" name="Text 8"/>
          <p:cNvSpPr/>
          <p:nvPr/>
        </p:nvSpPr>
        <p:spPr>
          <a:xfrm>
            <a:off x="6373440" y="2121480"/>
            <a:ext cx="508356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arr = np.array([1, 2, 3, 4])</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view = arr[1:3]</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view[0] = 99</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print(arr)</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[ 1 99  3  4]  &lt;- original changed!</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safe_copy = arr[1:3].copy()</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safe_copy[0] = 0</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print(arr)</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[ 1 99  3  4]  &lt;- unaffected</a:t>
            </a:r>
            <a:endParaRPr lang="en-US" sz="1250" b="0" u="none" strike="noStrike">
              <a:solidFill>
                <a:srgbClr val="000000"/>
              </a:solidFill>
              <a:effectLst/>
              <a:uFillTx/>
              <a:latin typeface="Cantarell"/>
            </a:endParaRPr>
          </a:p>
        </p:txBody>
      </p:sp>
      <p:sp>
        <p:nvSpPr>
          <p:cNvPr id="61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11"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2"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613"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7 · ARRAY MODIFICATION</a:t>
            </a:r>
            <a:endParaRPr lang="en-US" sz="1100" b="0" u="none" strike="noStrike">
              <a:solidFill>
                <a:srgbClr val="000000"/>
              </a:solidFill>
              <a:effectLst/>
              <a:uFillTx/>
              <a:latin typeface="Arial"/>
            </a:endParaRPr>
          </a:p>
        </p:txBody>
      </p:sp>
      <p:sp>
        <p:nvSpPr>
          <p:cNvPr id="614"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Array Modification</a:t>
            </a:r>
            <a:endParaRPr lang="en-US" sz="2300" b="0" u="none" strike="noStrike">
              <a:solidFill>
                <a:srgbClr val="000000"/>
              </a:solidFill>
              <a:effectLst/>
              <a:uFillTx/>
              <a:latin typeface="Arial"/>
            </a:endParaRPr>
          </a:p>
        </p:txBody>
      </p:sp>
      <p:sp>
        <p:nvSpPr>
          <p:cNvPr id="615"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616"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7"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8"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619"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Append 3 new values to the end of an existing array.</a:t>
            </a:r>
            <a:endParaRPr lang="en-US" sz="1300" b="0" u="none" strike="noStrike">
              <a:solidFill>
                <a:srgbClr val="000000"/>
              </a:solidFill>
              <a:effectLst/>
              <a:uFillTx/>
              <a:latin typeface="Arial"/>
            </a:endParaRPr>
          </a:p>
        </p:txBody>
      </p:sp>
      <p:sp>
        <p:nvSpPr>
          <p:cNvPr id="620"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1"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2"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623"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Insert a value in the middle of an array, then delete a different element.</a:t>
            </a:r>
            <a:endParaRPr lang="en-US" sz="1300" b="0" u="none" strike="noStrike">
              <a:solidFill>
                <a:srgbClr val="000000"/>
              </a:solidFill>
              <a:effectLst/>
              <a:uFillTx/>
              <a:latin typeface="Arial"/>
            </a:endParaRPr>
          </a:p>
        </p:txBody>
      </p:sp>
      <p:sp>
        <p:nvSpPr>
          <p:cNvPr id="624"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5"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6"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627"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slice of an array, modify it, and check whether the original array changed.</a:t>
            </a:r>
            <a:endParaRPr lang="en-US" sz="1300" b="0" u="none" strike="noStrike">
              <a:solidFill>
                <a:srgbClr val="000000"/>
              </a:solidFill>
              <a:effectLst/>
              <a:uFillTx/>
              <a:latin typeface="Arial"/>
            </a:endParaRPr>
          </a:p>
        </p:txBody>
      </p:sp>
      <p:sp>
        <p:nvSpPr>
          <p:cNvPr id="628"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9"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0"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631"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Repeat the previous task using .copy() this time, and compare the result.</a:t>
            </a:r>
            <a:endParaRPr lang="en-US" sz="1300" b="0" u="none" strike="noStrike">
              <a:solidFill>
                <a:srgbClr val="000000"/>
              </a:solidFill>
              <a:effectLst/>
              <a:uFillTx/>
              <a:latin typeface="Arial"/>
            </a:endParaRPr>
          </a:p>
        </p:txBody>
      </p:sp>
      <p:pic>
        <p:nvPicPr>
          <p:cNvPr id="63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33"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634"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635"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6"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37"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638"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8 · OPERATIONS &amp; BROADCASTING</a:t>
            </a:r>
            <a:endParaRPr lang="en-US" sz="1400" b="0" u="none" strike="noStrike">
              <a:solidFill>
                <a:srgbClr val="FFFFFF"/>
              </a:solidFill>
              <a:effectLst/>
              <a:uFillTx/>
              <a:latin typeface="Arial"/>
            </a:endParaRPr>
          </a:p>
        </p:txBody>
      </p:sp>
      <p:sp>
        <p:nvSpPr>
          <p:cNvPr id="639"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Operations, Broadcasting &amp; Vectorisation</a:t>
            </a:r>
            <a:endParaRPr lang="en-US" sz="4000" b="0" u="none" strike="noStrike">
              <a:solidFill>
                <a:srgbClr val="FFFFFF"/>
              </a:solidFill>
              <a:effectLst/>
              <a:uFillTx/>
              <a:latin typeface="Arial"/>
            </a:endParaRPr>
          </a:p>
        </p:txBody>
      </p:sp>
      <p:sp>
        <p:nvSpPr>
          <p:cNvPr id="640"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Where NumPy's real power shows up — fast math across whole arrays, with no explicit loops.</a:t>
            </a:r>
            <a:endParaRPr lang="en-US" sz="1500" b="0" u="none" strike="noStrike">
              <a:solidFill>
                <a:srgbClr val="FFFFFF"/>
              </a:solidFill>
              <a:effectLst/>
              <a:uFillTx/>
              <a:latin typeface="Arial"/>
            </a:endParaRPr>
          </a:p>
        </p:txBody>
      </p:sp>
      <p:sp>
        <p:nvSpPr>
          <p:cNvPr id="641"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37</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4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OPERATIONS</a:t>
            </a:r>
            <a:endParaRPr lang="en-US" sz="1100" b="0" u="none" strike="noStrike">
              <a:solidFill>
                <a:srgbClr val="000000"/>
              </a:solidFill>
              <a:effectLst/>
              <a:uFillTx/>
              <a:latin typeface="Arial"/>
            </a:endParaRPr>
          </a:p>
        </p:txBody>
      </p:sp>
      <p:sp>
        <p:nvSpPr>
          <p:cNvPr id="64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Element-Wise Arithmetic</a:t>
            </a:r>
            <a:endParaRPr lang="en-US" sz="2600" b="0" u="none" strike="noStrike">
              <a:solidFill>
                <a:srgbClr val="000000"/>
              </a:solidFill>
              <a:effectLst/>
              <a:uFillTx/>
              <a:latin typeface="Arial"/>
            </a:endParaRPr>
          </a:p>
        </p:txBody>
      </p:sp>
      <p:pic>
        <p:nvPicPr>
          <p:cNvPr id="644"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4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646" name="Shape 3"/>
          <p:cNvSpPr/>
          <p:nvPr/>
        </p:nvSpPr>
        <p:spPr>
          <a:xfrm>
            <a:off x="548640" y="1737360"/>
            <a:ext cx="5394600" cy="3840120"/>
          </a:xfrm>
          <a:prstGeom prst="roundRect">
            <a:avLst>
              <a:gd name="adj" fmla="val 285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7"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48"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49"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50" name="Text 7"/>
          <p:cNvSpPr/>
          <p:nvPr/>
        </p:nvSpPr>
        <p:spPr>
          <a:xfrm>
            <a:off x="749880" y="2121480"/>
            <a:ext cx="4992120" cy="3309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a = np.array([1, 2,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b = np.array([10, 20, 30])</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a + b   # [11 22 33]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a - b   # [-9 -18 -27]</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a * b   # [10 40 90]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b / a   # [10. 10. 10.]</a:t>
            </a:r>
            <a:endParaRPr lang="en-US" sz="1400" b="0" u="none" strike="noStrike">
              <a:solidFill>
                <a:srgbClr val="000000"/>
              </a:solidFill>
              <a:effectLst/>
              <a:uFillTx/>
              <a:latin typeface="Cantarell"/>
            </a:endParaRPr>
          </a:p>
        </p:txBody>
      </p:sp>
      <p:sp>
        <p:nvSpPr>
          <p:cNvPr id="651" name="Text 8"/>
          <p:cNvSpPr/>
          <p:nvPr/>
        </p:nvSpPr>
        <p:spPr>
          <a:xfrm>
            <a:off x="6172200" y="1737360"/>
            <a:ext cx="5486040" cy="3840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Standard math operators (+, -, *, /) work directly on arrays — no loop, no zip(), no list comprehension.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Each operation applies element by element: a[0]+b[0], a[1]+b[1], and so on.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 two arrays must have compatible shapes — which is exactly what broadcasting defines, next.</a:t>
            </a:r>
            <a:endParaRPr lang="en-US" sz="1400" b="0" u="none" strike="noStrike">
              <a:solidFill>
                <a:srgbClr val="000000"/>
              </a:solidFill>
              <a:effectLst/>
              <a:uFillTx/>
              <a:latin typeface="Arial"/>
            </a:endParaRPr>
          </a:p>
        </p:txBody>
      </p:sp>
      <p:sp>
        <p:nvSpPr>
          <p:cNvPr id="652"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5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a:t>
            </a:r>
            <a:r>
              <a:rPr lang="en-US" sz="1100" b="1" u="none" spc="201" strike="noStrike">
                <a:solidFill>
                  <a:srgbClr val="5755A7"/>
                </a:solidFill>
                <a:effectLst/>
                <a:uFillTx/>
                <a:latin typeface="Plus Jakarta Sans"/>
                <a:ea typeface="Plus Jakarta Sans"/>
              </a:rPr>
              <a:t>· </a:t>
            </a:r>
            <a:r>
              <a:rPr lang="en-US" sz="1100" b="1" u="none" spc="201" strike="noStrike">
                <a:solidFill>
                  <a:srgbClr val="5755A7"/>
                </a:solidFill>
                <a:effectLst/>
                <a:uFillTx/>
                <a:latin typeface="Plus Jakarta Sans"/>
                <a:ea typeface="Plus Jakarta Sans"/>
              </a:rPr>
              <a:t>VECTO</a:t>
            </a:r>
            <a:r>
              <a:rPr lang="en-US" sz="1100" b="1" u="none" spc="201" strike="noStrike">
                <a:solidFill>
                  <a:srgbClr val="5755A7"/>
                </a:solidFill>
                <a:effectLst/>
                <a:uFillTx/>
                <a:latin typeface="Plus Jakarta Sans"/>
                <a:ea typeface="Plus Jakarta Sans"/>
              </a:rPr>
              <a:t>RISATI</a:t>
            </a:r>
            <a:r>
              <a:rPr lang="en-US" sz="1100" b="1" u="none" spc="201" strike="noStrike">
                <a:solidFill>
                  <a:srgbClr val="5755A7"/>
                </a:solidFill>
                <a:effectLst/>
                <a:uFillTx/>
                <a:latin typeface="Plus Jakarta Sans"/>
                <a:ea typeface="Plus Jakarta Sans"/>
              </a:rPr>
              <a:t>ON</a:t>
            </a:r>
            <a:endParaRPr lang="en-US" sz="1100" b="0" u="none" strike="noStrike">
              <a:solidFill>
                <a:srgbClr val="000000"/>
              </a:solidFill>
              <a:effectLst/>
              <a:uFillTx/>
              <a:latin typeface="Arial"/>
            </a:endParaRPr>
          </a:p>
        </p:txBody>
      </p:sp>
      <p:sp>
        <p:nvSpPr>
          <p:cNvPr id="65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Why Vectorization Is Faster Than a Loop</a:t>
            </a:r>
            <a:endParaRPr lang="en-US" sz="2600" b="0" u="none" strike="noStrike">
              <a:solidFill>
                <a:srgbClr val="000000"/>
              </a:solidFill>
              <a:effectLst/>
              <a:uFillTx/>
              <a:latin typeface="Arial"/>
            </a:endParaRPr>
          </a:p>
        </p:txBody>
      </p:sp>
      <p:pic>
        <p:nvPicPr>
          <p:cNvPr id="65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5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657" name="Shape 3"/>
          <p:cNvSpPr/>
          <p:nvPr/>
        </p:nvSpPr>
        <p:spPr>
          <a:xfrm>
            <a:off x="548640" y="1737360"/>
            <a:ext cx="5394600" cy="3108600"/>
          </a:xfrm>
          <a:prstGeom prst="roundRect">
            <a:avLst>
              <a:gd name="adj" fmla="val 352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5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6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61" name="Text 7"/>
          <p:cNvSpPr/>
          <p:nvPr/>
        </p:nvSpPr>
        <p:spPr>
          <a:xfrm>
            <a:off x="749880" y="2121480"/>
            <a:ext cx="4992120" cy="257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slow - explicit Python loop</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result = []</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for i in range(len(a)):</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result.append(a[i] + b[i])</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fast - vectorized</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result = a + b</a:t>
            </a:r>
            <a:endParaRPr lang="en-US" sz="1350" b="0" u="none" strike="noStrike">
              <a:solidFill>
                <a:srgbClr val="000000"/>
              </a:solidFill>
              <a:effectLst/>
              <a:uFillTx/>
              <a:latin typeface="Cantarell"/>
            </a:endParaRPr>
          </a:p>
        </p:txBody>
      </p:sp>
      <p:sp>
        <p:nvSpPr>
          <p:cNvPr id="662"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3" name="Image 1" descr="/home/claude/numpy_deck/charts/speed_comparison.png"/>
          <p:cNvPicPr/>
          <p:nvPr/>
        </p:nvPicPr>
        <p:blipFill>
          <a:blip r:embed="rId2"/>
          <a:stretch/>
        </p:blipFill>
        <p:spPr>
          <a:xfrm>
            <a:off x="6282000" y="1847160"/>
            <a:ext cx="5266440" cy="3638880"/>
          </a:xfrm>
          <a:prstGeom prst="rect">
            <a:avLst/>
          </a:prstGeom>
          <a:noFill/>
          <a:ln w="0">
            <a:noFill/>
          </a:ln>
        </p:spPr>
      </p:pic>
      <p:sp>
        <p:nvSpPr>
          <p:cNvPr id="664" name="Text 9"/>
          <p:cNvSpPr/>
          <p:nvPr/>
        </p:nvSpPr>
        <p:spPr>
          <a:xfrm>
            <a:off x="6172200" y="5486400"/>
            <a:ext cx="548604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0" i="1" u="none" strike="noStrike">
                <a:solidFill>
                  <a:srgbClr val="474651"/>
                </a:solidFill>
                <a:effectLst/>
                <a:uFillTx/>
                <a:latin typeface="Plus Jakarta Sans"/>
                <a:ea typeface="Plus Jakarta Sans"/>
              </a:rPr>
              <a:t>Measured on this machine — your numbers will vary, but the gap holds.</a:t>
            </a:r>
            <a:endParaRPr lang="en-US" sz="950" b="0" u="none" strike="noStrike">
              <a:solidFill>
                <a:srgbClr val="000000"/>
              </a:solidFill>
              <a:effectLst/>
              <a:uFillTx/>
              <a:latin typeface="Arial"/>
            </a:endParaRPr>
          </a:p>
        </p:txBody>
      </p:sp>
      <p:sp>
        <p:nvSpPr>
          <p:cNvPr id="665" name="Text 10"/>
          <p:cNvSpPr/>
          <p:nvPr/>
        </p:nvSpPr>
        <p:spPr>
          <a:xfrm>
            <a:off x="548640" y="5029200"/>
            <a:ext cx="539460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474651"/>
                </a:solidFill>
                <a:effectLst/>
                <a:uFillTx/>
                <a:latin typeface="Hanken Grotesk"/>
                <a:ea typeface="Hanken Grotesk"/>
              </a:rPr>
              <a:t>The vectorized version runs the loop in fast, compiled C code under the hood — instead of Python's slower interpreted loop.</a:t>
            </a:r>
            <a:endParaRPr lang="en-US" sz="1250" b="0" u="none" strike="noStrike">
              <a:solidFill>
                <a:srgbClr val="000000"/>
              </a:solidFill>
              <a:effectLst/>
              <a:uFillTx/>
              <a:latin typeface="Arial"/>
            </a:endParaRPr>
          </a:p>
        </p:txBody>
      </p:sp>
      <p:sp>
        <p:nvSpPr>
          <p:cNvPr id="666"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39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6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BROADCASTING</a:t>
            </a:r>
            <a:endParaRPr lang="en-US" sz="1100" b="0" u="none" strike="noStrike">
              <a:solidFill>
                <a:srgbClr val="000000"/>
              </a:solidFill>
              <a:effectLst/>
              <a:uFillTx/>
              <a:latin typeface="Arial"/>
            </a:endParaRPr>
          </a:p>
        </p:txBody>
      </p:sp>
      <p:sp>
        <p:nvSpPr>
          <p:cNvPr id="66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Broadcasting — Different Shapes, Working Together</a:t>
            </a:r>
            <a:endParaRPr lang="en-US" sz="2600" b="0" u="none" strike="noStrike">
              <a:solidFill>
                <a:srgbClr val="000000"/>
              </a:solidFill>
              <a:effectLst/>
              <a:uFillTx/>
              <a:latin typeface="Arial"/>
            </a:endParaRPr>
          </a:p>
        </p:txBody>
      </p:sp>
      <p:pic>
        <p:nvPicPr>
          <p:cNvPr id="66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7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671" name="Text 3"/>
          <p:cNvSpPr/>
          <p:nvPr/>
        </p:nvSpPr>
        <p:spPr>
          <a:xfrm>
            <a:off x="822960" y="1508760"/>
            <a:ext cx="36572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5755A7"/>
                </a:solidFill>
                <a:effectLst/>
                <a:uFillTx/>
                <a:latin typeface="Bricolage Grotesque"/>
                <a:ea typeface="Bricolage Grotesque"/>
              </a:rPr>
              <a:t>array + scalar</a:t>
            </a:r>
            <a:endParaRPr lang="en-US" sz="1300" b="0" u="none" strike="noStrike">
              <a:solidFill>
                <a:srgbClr val="000000"/>
              </a:solidFill>
              <a:effectLst/>
              <a:uFillTx/>
              <a:latin typeface="Arial"/>
            </a:endParaRPr>
          </a:p>
        </p:txBody>
      </p:sp>
      <p:sp>
        <p:nvSpPr>
          <p:cNvPr id="672" name="Shape 4"/>
          <p:cNvSpPr/>
          <p:nvPr/>
        </p:nvSpPr>
        <p:spPr>
          <a:xfrm>
            <a:off x="822960" y="1920240"/>
            <a:ext cx="68544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3" name="Text 5"/>
          <p:cNvSpPr/>
          <p:nvPr/>
        </p:nvSpPr>
        <p:spPr>
          <a:xfrm>
            <a:off x="8229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a:t>
            </a:r>
            <a:endParaRPr lang="en-US" sz="1300" b="0" u="none" strike="noStrike">
              <a:solidFill>
                <a:srgbClr val="000000"/>
              </a:solidFill>
              <a:effectLst/>
              <a:uFillTx/>
              <a:latin typeface="Arial"/>
            </a:endParaRPr>
          </a:p>
        </p:txBody>
      </p:sp>
      <p:sp>
        <p:nvSpPr>
          <p:cNvPr id="674" name="Shape 6"/>
          <p:cNvSpPr/>
          <p:nvPr/>
        </p:nvSpPr>
        <p:spPr>
          <a:xfrm>
            <a:off x="1508760" y="1920240"/>
            <a:ext cx="68544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5" name="Text 7"/>
          <p:cNvSpPr/>
          <p:nvPr/>
        </p:nvSpPr>
        <p:spPr>
          <a:xfrm>
            <a:off x="15087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2</a:t>
            </a:r>
            <a:endParaRPr lang="en-US" sz="1300" b="0" u="none" strike="noStrike">
              <a:solidFill>
                <a:srgbClr val="000000"/>
              </a:solidFill>
              <a:effectLst/>
              <a:uFillTx/>
              <a:latin typeface="Arial"/>
            </a:endParaRPr>
          </a:p>
        </p:txBody>
      </p:sp>
      <p:sp>
        <p:nvSpPr>
          <p:cNvPr id="676" name="Shape 8"/>
          <p:cNvSpPr/>
          <p:nvPr/>
        </p:nvSpPr>
        <p:spPr>
          <a:xfrm>
            <a:off x="2194560" y="1920240"/>
            <a:ext cx="68544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7" name="Text 9"/>
          <p:cNvSpPr/>
          <p:nvPr/>
        </p:nvSpPr>
        <p:spPr>
          <a:xfrm>
            <a:off x="21945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3</a:t>
            </a:r>
            <a:endParaRPr lang="en-US" sz="1300" b="0" u="none" strike="noStrike">
              <a:solidFill>
                <a:srgbClr val="000000"/>
              </a:solidFill>
              <a:effectLst/>
              <a:uFillTx/>
              <a:latin typeface="Arial"/>
            </a:endParaRPr>
          </a:p>
        </p:txBody>
      </p:sp>
      <p:sp>
        <p:nvSpPr>
          <p:cNvPr id="678" name="Text 10"/>
          <p:cNvSpPr/>
          <p:nvPr/>
        </p:nvSpPr>
        <p:spPr>
          <a:xfrm>
            <a:off x="3017520" y="2011680"/>
            <a:ext cx="36540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800" b="1" u="none" strike="noStrike">
                <a:solidFill>
                  <a:srgbClr val="47465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679" name="Shape 11"/>
          <p:cNvSpPr/>
          <p:nvPr/>
        </p:nvSpPr>
        <p:spPr>
          <a:xfrm>
            <a:off x="3474720" y="1920240"/>
            <a:ext cx="685440" cy="594000"/>
          </a:xfrm>
          <a:prstGeom prst="rect">
            <a:avLst/>
          </a:prstGeom>
          <a:solidFill>
            <a:srgbClr val="BBEDDC"/>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0" name="Text 12"/>
          <p:cNvSpPr/>
          <p:nvPr/>
        </p:nvSpPr>
        <p:spPr>
          <a:xfrm>
            <a:off x="347472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10</a:t>
            </a:r>
            <a:endParaRPr lang="en-US" sz="1300" b="0" u="none" strike="noStrike">
              <a:solidFill>
                <a:srgbClr val="000000"/>
              </a:solidFill>
              <a:effectLst/>
              <a:uFillTx/>
              <a:latin typeface="Arial"/>
            </a:endParaRPr>
          </a:p>
        </p:txBody>
      </p:sp>
      <p:sp>
        <p:nvSpPr>
          <p:cNvPr id="681" name="Text 13"/>
          <p:cNvSpPr/>
          <p:nvPr/>
        </p:nvSpPr>
        <p:spPr>
          <a:xfrm>
            <a:off x="4297680" y="2011680"/>
            <a:ext cx="4568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800" b="1" u="none" strike="noStrike">
                <a:solidFill>
                  <a:srgbClr val="47465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682" name="Shape 14"/>
          <p:cNvSpPr/>
          <p:nvPr/>
        </p:nvSpPr>
        <p:spPr>
          <a:xfrm>
            <a:off x="4937760" y="1920240"/>
            <a:ext cx="685440" cy="594000"/>
          </a:xfrm>
          <a:prstGeom prst="rect">
            <a:avLst/>
          </a:prstGeom>
          <a:solidFill>
            <a:srgbClr val="8C8AE0"/>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3" name="Text 15"/>
          <p:cNvSpPr/>
          <p:nvPr/>
        </p:nvSpPr>
        <p:spPr>
          <a:xfrm>
            <a:off x="49377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11</a:t>
            </a:r>
            <a:endParaRPr lang="en-US" sz="1300" b="0" u="none" strike="noStrike">
              <a:solidFill>
                <a:srgbClr val="000000"/>
              </a:solidFill>
              <a:effectLst/>
              <a:uFillTx/>
              <a:latin typeface="Arial"/>
            </a:endParaRPr>
          </a:p>
        </p:txBody>
      </p:sp>
      <p:sp>
        <p:nvSpPr>
          <p:cNvPr id="684" name="Shape 16"/>
          <p:cNvSpPr/>
          <p:nvPr/>
        </p:nvSpPr>
        <p:spPr>
          <a:xfrm>
            <a:off x="5623560" y="1920240"/>
            <a:ext cx="685440" cy="594000"/>
          </a:xfrm>
          <a:prstGeom prst="rect">
            <a:avLst/>
          </a:prstGeom>
          <a:solidFill>
            <a:srgbClr val="8C8AE0"/>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5" name="Text 17"/>
          <p:cNvSpPr/>
          <p:nvPr/>
        </p:nvSpPr>
        <p:spPr>
          <a:xfrm>
            <a:off x="56235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12</a:t>
            </a:r>
            <a:endParaRPr lang="en-US" sz="1300" b="0" u="none" strike="noStrike">
              <a:solidFill>
                <a:srgbClr val="000000"/>
              </a:solidFill>
              <a:effectLst/>
              <a:uFillTx/>
              <a:latin typeface="Arial"/>
            </a:endParaRPr>
          </a:p>
        </p:txBody>
      </p:sp>
      <p:sp>
        <p:nvSpPr>
          <p:cNvPr id="686" name="Shape 18"/>
          <p:cNvSpPr/>
          <p:nvPr/>
        </p:nvSpPr>
        <p:spPr>
          <a:xfrm>
            <a:off x="6309360" y="1920240"/>
            <a:ext cx="685440" cy="594000"/>
          </a:xfrm>
          <a:prstGeom prst="rect">
            <a:avLst/>
          </a:prstGeom>
          <a:solidFill>
            <a:srgbClr val="8C8AE0"/>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7" name="Text 19"/>
          <p:cNvSpPr/>
          <p:nvPr/>
        </p:nvSpPr>
        <p:spPr>
          <a:xfrm>
            <a:off x="63093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13</a:t>
            </a:r>
            <a:endParaRPr lang="en-US" sz="1300" b="0" u="none" strike="noStrike">
              <a:solidFill>
                <a:srgbClr val="000000"/>
              </a:solidFill>
              <a:effectLst/>
              <a:uFillTx/>
              <a:latin typeface="Arial"/>
            </a:endParaRPr>
          </a:p>
        </p:txBody>
      </p:sp>
      <p:sp>
        <p:nvSpPr>
          <p:cNvPr id="688" name="Text 20"/>
          <p:cNvSpPr/>
          <p:nvPr/>
        </p:nvSpPr>
        <p:spPr>
          <a:xfrm>
            <a:off x="822960" y="3108960"/>
            <a:ext cx="10332360" cy="27428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10 is stretched to [10, 10, 10] behind the scenes, then added element-wise — you never see this step, NumPy just handles it.</a:t>
            </a:r>
            <a:endParaRPr lang="en-US" sz="13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This is why arr * 2 or arr + 5 work directly on a whole array without writing a loop.</a:t>
            </a:r>
            <a:endParaRPr lang="en-US" sz="13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The same idea works between a matrix and a 1D array too, as long as the shapes are compatible.</a:t>
            </a:r>
            <a:endParaRPr lang="en-US" sz="13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Rule of thumb: shapes are compatible if, comparing from the right, each dimension either matches or one of them is 1.</a:t>
            </a:r>
            <a:endParaRPr lang="en-US" sz="1350" b="0" u="none" strike="noStrike">
              <a:solidFill>
                <a:srgbClr val="000000"/>
              </a:solidFill>
              <a:effectLst/>
              <a:uFillTx/>
              <a:latin typeface="Arial"/>
            </a:endParaRPr>
          </a:p>
        </p:txBody>
      </p:sp>
      <p:sp>
        <p:nvSpPr>
          <p:cNvPr id="689" name="Text 2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9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AGGREGATE FUNCTIONS</a:t>
            </a:r>
            <a:endParaRPr lang="en-US" sz="1100" b="0" u="none" strike="noStrike">
              <a:solidFill>
                <a:srgbClr val="000000"/>
              </a:solidFill>
              <a:effectLst/>
              <a:uFillTx/>
              <a:latin typeface="Arial"/>
            </a:endParaRPr>
          </a:p>
        </p:txBody>
      </p:sp>
      <p:sp>
        <p:nvSpPr>
          <p:cNvPr id="69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Summarizing an Array</a:t>
            </a:r>
            <a:endParaRPr lang="en-US" sz="2600" b="0" u="none" strike="noStrike">
              <a:solidFill>
                <a:srgbClr val="000000"/>
              </a:solidFill>
              <a:effectLst/>
              <a:uFillTx/>
              <a:latin typeface="Arial"/>
            </a:endParaRPr>
          </a:p>
        </p:txBody>
      </p:sp>
      <p:pic>
        <p:nvPicPr>
          <p:cNvPr id="69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9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graphicFrame>
        <p:nvGraphicFramePr>
          <p:cNvPr id="694" name="Table 0"/>
          <p:cNvGraphicFramePr/>
          <p:nvPr/>
        </p:nvGraphicFramePr>
        <p:xfrm>
          <a:off x="548640" y="1737360"/>
          <a:ext cx="11109600" cy="3291480"/>
        </p:xfrm>
        <a:graphic>
          <a:graphicData uri="http://schemas.openxmlformats.org/drawingml/2006/table">
            <a:tbl>
              <a:tblPr/>
              <a:tblGrid>
                <a:gridCol w="3999240"/>
                <a:gridCol w="7110360"/>
              </a:tblGrid>
              <a:tr h="4701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arr.sum()</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Adds up every element</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arr.mean()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average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arr.std()</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standard deviation — how spread out the values are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arr.min() / arr.max()</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smallest / largest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arr.argmax() / arr.argmin()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index of the largest / smallest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axis=0 / axis=1</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Apply the function down columns / across rows, on a 2D array</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695" name="Text 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9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69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OPERATIONS &amp; BROADCASTING</a:t>
            </a:r>
            <a:endParaRPr lang="en-US" sz="1100" b="0" u="none" strike="noStrike">
              <a:solidFill>
                <a:srgbClr val="000000"/>
              </a:solidFill>
              <a:effectLst/>
              <a:uFillTx/>
              <a:latin typeface="Arial"/>
            </a:endParaRPr>
          </a:p>
        </p:txBody>
      </p:sp>
      <p:sp>
        <p:nvSpPr>
          <p:cNvPr id="69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Operations, Broadcasting &amp; Vectorisation</a:t>
            </a:r>
            <a:endParaRPr lang="en-US" sz="2300" b="0" u="none" strike="noStrike">
              <a:solidFill>
                <a:srgbClr val="000000"/>
              </a:solidFill>
              <a:effectLst/>
              <a:uFillTx/>
              <a:latin typeface="Arial"/>
            </a:endParaRPr>
          </a:p>
        </p:txBody>
      </p:sp>
      <p:sp>
        <p:nvSpPr>
          <p:cNvPr id="70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70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70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two same-sized arrays and compute their element-wise sum, difference, and product.</a:t>
            </a:r>
            <a:endParaRPr lang="en-US" sz="1300" b="0" u="none" strike="noStrike">
              <a:solidFill>
                <a:srgbClr val="000000"/>
              </a:solidFill>
              <a:effectLst/>
              <a:uFillTx/>
              <a:latin typeface="Arial"/>
            </a:endParaRPr>
          </a:p>
        </p:txBody>
      </p:sp>
      <p:sp>
        <p:nvSpPr>
          <p:cNvPr id="70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70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Add a single number to a whole array and explain what broadcasting did behind the scenes.</a:t>
            </a:r>
            <a:endParaRPr lang="en-US" sz="1300" b="0" u="none" strike="noStrike">
              <a:solidFill>
                <a:srgbClr val="000000"/>
              </a:solidFill>
              <a:effectLst/>
              <a:uFillTx/>
              <a:latin typeface="Arial"/>
            </a:endParaRPr>
          </a:p>
        </p:txBody>
      </p:sp>
      <p:sp>
        <p:nvSpPr>
          <p:cNvPr id="70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71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Compute the mean, std, min, and max of an array in one block of code.</a:t>
            </a:r>
            <a:endParaRPr lang="en-US" sz="1300" b="0" u="none" strike="noStrike">
              <a:solidFill>
                <a:srgbClr val="000000"/>
              </a:solidFill>
              <a:effectLst/>
              <a:uFillTx/>
              <a:latin typeface="Arial"/>
            </a:endParaRPr>
          </a:p>
        </p:txBody>
      </p:sp>
      <p:sp>
        <p:nvSpPr>
          <p:cNvPr id="71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71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For a 2D array, compute the sum once with axis=0 and once with axis=1, and explain the difference.</a:t>
            </a:r>
            <a:endParaRPr lang="en-US" sz="1300" b="0" u="none" strike="noStrike">
              <a:solidFill>
                <a:srgbClr val="000000"/>
              </a:solidFill>
              <a:effectLst/>
              <a:uFillTx/>
              <a:latin typeface="Arial"/>
            </a:endParaRPr>
          </a:p>
        </p:txBody>
      </p:sp>
      <p:pic>
        <p:nvPicPr>
          <p:cNvPr id="717"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1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71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720"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21"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22"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723"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9 · MISSING VALUES</a:t>
            </a:r>
            <a:endParaRPr lang="en-US" sz="1400" b="0" u="none" strike="noStrike">
              <a:solidFill>
                <a:srgbClr val="FFFFFF"/>
              </a:solidFill>
              <a:effectLst/>
              <a:uFillTx/>
              <a:latin typeface="Arial"/>
            </a:endParaRPr>
          </a:p>
        </p:txBody>
      </p:sp>
      <p:sp>
        <p:nvSpPr>
          <p:cNvPr id="724"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Handling Missing Values</a:t>
            </a:r>
            <a:endParaRPr lang="en-US" sz="4000" b="0" u="none" strike="noStrike">
              <a:solidFill>
                <a:srgbClr val="FFFFFF"/>
              </a:solidFill>
              <a:effectLst/>
              <a:uFillTx/>
              <a:latin typeface="Arial"/>
            </a:endParaRPr>
          </a:p>
        </p:txBody>
      </p:sp>
      <p:sp>
        <p:nvSpPr>
          <p:cNvPr id="725"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Real data is rarely </a:t>
            </a:r>
            <a:r>
              <a:rPr lang="en-US" sz="1500" b="0" u="none" strike="noStrike">
                <a:solidFill>
                  <a:srgbClr val="94A3B8"/>
                </a:solidFill>
                <a:effectLst/>
                <a:uFillTx/>
                <a:latin typeface="Hanken Grotesk"/>
                <a:ea typeface="Hanken Grotesk"/>
              </a:rPr>
              <a:t>complete — NumPy </a:t>
            </a:r>
            <a:r>
              <a:rPr lang="en-US" sz="1500" b="0" u="none" strike="noStrike">
                <a:solidFill>
                  <a:srgbClr val="94A3B8"/>
                </a:solidFill>
                <a:effectLst/>
                <a:uFillTx/>
                <a:latin typeface="Hanken Grotesk"/>
                <a:ea typeface="Hanken Grotesk"/>
              </a:rPr>
              <a:t>gives you the tools to </a:t>
            </a:r>
            <a:r>
              <a:rPr lang="en-US" sz="1500" b="0" u="none" strike="noStrike">
                <a:solidFill>
                  <a:srgbClr val="94A3B8"/>
                </a:solidFill>
                <a:effectLst/>
                <a:uFillTx/>
                <a:latin typeface="Hanken Grotesk"/>
                <a:ea typeface="Hanken Grotesk"/>
              </a:rPr>
              <a:t>find and deal with the </a:t>
            </a:r>
            <a:r>
              <a:rPr lang="en-US" sz="1500" b="0" u="none" strike="noStrike">
                <a:solidFill>
                  <a:srgbClr val="94A3B8"/>
                </a:solidFill>
                <a:effectLst/>
                <a:uFillTx/>
                <a:latin typeface="Hanken Grotesk"/>
                <a:ea typeface="Hanken Grotesk"/>
              </a:rPr>
              <a:t>gaps.</a:t>
            </a:r>
            <a:endParaRPr lang="en-US" sz="1500" b="0" u="none" strike="noStrike">
              <a:solidFill>
                <a:srgbClr val="FFFFFF"/>
              </a:solidFill>
              <a:effectLst/>
              <a:uFillTx/>
              <a:latin typeface="Arial"/>
            </a:endParaRPr>
          </a:p>
        </p:txBody>
      </p:sp>
      <p:sp>
        <p:nvSpPr>
          <p:cNvPr id="726"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43</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2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MISSING VALUES</a:t>
            </a:r>
            <a:endParaRPr lang="en-US" sz="1100" b="0" u="none" strike="noStrike">
              <a:solidFill>
                <a:srgbClr val="000000"/>
              </a:solidFill>
              <a:effectLst/>
              <a:uFillTx/>
              <a:latin typeface="Arial"/>
            </a:endParaRPr>
          </a:p>
        </p:txBody>
      </p:sp>
      <p:sp>
        <p:nvSpPr>
          <p:cNvPr id="72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np.nan — Representing "No Value"</a:t>
            </a:r>
            <a:endParaRPr lang="en-US" sz="2600" b="0" u="none" strike="noStrike">
              <a:solidFill>
                <a:srgbClr val="000000"/>
              </a:solidFill>
              <a:effectLst/>
              <a:uFillTx/>
              <a:latin typeface="Arial"/>
            </a:endParaRPr>
          </a:p>
        </p:txBody>
      </p:sp>
      <p:pic>
        <p:nvPicPr>
          <p:cNvPr id="72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3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731"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np.nan (Not a Number) is NumPy's placeholder for a missing numerical value — common in real, messy datasets.</a:t>
            </a:r>
            <a:endParaRPr lang="en-US" sz="1300" b="0" u="none" strike="noStrike">
              <a:solidFill>
                <a:srgbClr val="000000"/>
              </a:solidFill>
              <a:effectLst/>
              <a:uFillTx/>
              <a:latin typeface="Arial"/>
            </a:endParaRPr>
          </a:p>
        </p:txBody>
      </p:sp>
      <p:sp>
        <p:nvSpPr>
          <p:cNvPr id="732" name="Shape 4"/>
          <p:cNvSpPr/>
          <p:nvPr/>
        </p:nvSpPr>
        <p:spPr>
          <a:xfrm>
            <a:off x="548640" y="2057400"/>
            <a:ext cx="5394600" cy="3565800"/>
          </a:xfrm>
          <a:prstGeom prst="roundRect">
            <a:avLst>
              <a:gd name="adj" fmla="val 307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33"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734"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35"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36" name="Text 8"/>
          <p:cNvSpPr/>
          <p:nvPr/>
        </p:nvSpPr>
        <p:spPr>
          <a:xfrm>
            <a:off x="749880" y="2441520"/>
            <a:ext cx="4992120" cy="3035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data = np.array([72, 85, np.nan, 90, np.nan, 68])</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np.isnan(data)</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[False False  True False  True False]</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np.sum(np.isnan(data))</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2   &lt;- count of missing values</a:t>
            </a:r>
            <a:endParaRPr lang="en-US" sz="1250" b="0" u="none" strike="noStrike">
              <a:solidFill>
                <a:srgbClr val="000000"/>
              </a:solidFill>
              <a:effectLst/>
              <a:uFillTx/>
              <a:latin typeface="Cantarell"/>
            </a:endParaRPr>
          </a:p>
        </p:txBody>
      </p:sp>
      <p:sp>
        <p:nvSpPr>
          <p:cNvPr id="737"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38" name="Image 1" descr="/home/claude/numpy_deck/charts/missing_heatmap.png"/>
          <p:cNvPicPr/>
          <p:nvPr/>
        </p:nvPicPr>
        <p:blipFill>
          <a:blip r:embed="rId2"/>
          <a:stretch/>
        </p:blipFill>
        <p:spPr>
          <a:xfrm>
            <a:off x="6282000" y="2167200"/>
            <a:ext cx="5266440" cy="3071880"/>
          </a:xfrm>
          <a:prstGeom prst="rect">
            <a:avLst/>
          </a:prstGeom>
          <a:noFill/>
          <a:ln w="0">
            <a:noFill/>
          </a:ln>
        </p:spPr>
      </p:pic>
      <p:sp>
        <p:nvSpPr>
          <p:cNvPr id="739"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np.isnan() returns a boolean mask marking every NaN — combine it with boolean indexing (Part 5) to isolate or remove them.</a:t>
            </a:r>
            <a:endParaRPr lang="en-US" sz="1150" b="0" u="none" strike="noStrike">
              <a:solidFill>
                <a:srgbClr val="000000"/>
              </a:solidFill>
              <a:effectLst/>
              <a:uFillTx/>
              <a:latin typeface="Arial"/>
            </a:endParaRPr>
          </a:p>
        </p:txBody>
      </p:sp>
      <p:sp>
        <p:nvSpPr>
          <p:cNvPr id="740"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4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MISSING VALUES</a:t>
            </a:r>
            <a:endParaRPr lang="en-US" sz="1100" b="0" u="none" strike="noStrike">
              <a:solidFill>
                <a:srgbClr val="000000"/>
              </a:solidFill>
              <a:effectLst/>
              <a:uFillTx/>
              <a:latin typeface="Arial"/>
            </a:endParaRPr>
          </a:p>
        </p:txBody>
      </p:sp>
      <p:sp>
        <p:nvSpPr>
          <p:cNvPr id="74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Handling the Gaps</a:t>
            </a:r>
            <a:endParaRPr lang="en-US" sz="2600" b="0" u="none" strike="noStrike">
              <a:solidFill>
                <a:srgbClr val="000000"/>
              </a:solidFill>
              <a:effectLst/>
              <a:uFillTx/>
              <a:latin typeface="Arial"/>
            </a:endParaRPr>
          </a:p>
        </p:txBody>
      </p:sp>
      <p:pic>
        <p:nvPicPr>
          <p:cNvPr id="743"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4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graphicFrame>
        <p:nvGraphicFramePr>
          <p:cNvPr id="745" name="Table 0"/>
          <p:cNvGraphicFramePr/>
          <p:nvPr/>
        </p:nvGraphicFramePr>
        <p:xfrm>
          <a:off x="548640" y="1737360"/>
          <a:ext cx="11109600" cy="2559960"/>
        </p:xfrm>
        <a:graphic>
          <a:graphicData uri="http://schemas.openxmlformats.org/drawingml/2006/table">
            <a:tbl>
              <a:tblPr/>
              <a:tblGrid>
                <a:gridCol w="3999240"/>
                <a:gridCol w="7110360"/>
              </a:tblGrid>
              <a:tr h="51192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np.nanmean(arr)</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Average, ignoring NaN values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np.nanstd(arr) / np.nansum(arr)</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Standard deviation / sum, ignoring NaN values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arr[~np.isnan(arr)]</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Keeps only the non-missing values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np.where(np.isnan(arr), fill_value, arr)</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Replaces every NaN with a chosen fill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746" name="Shape 3"/>
          <p:cNvSpPr/>
          <p:nvPr/>
        </p:nvSpPr>
        <p:spPr>
          <a:xfrm>
            <a:off x="548640" y="4572000"/>
            <a:ext cx="11109600" cy="1828800"/>
          </a:xfrm>
          <a:prstGeom prst="roundRect">
            <a:avLst>
              <a:gd name="adj" fmla="val 75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7" name="Shape 4"/>
          <p:cNvSpPr/>
          <p:nvPr/>
        </p:nvSpPr>
        <p:spPr>
          <a:xfrm>
            <a:off x="713160" y="47181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748" name="Shape 5"/>
          <p:cNvSpPr/>
          <p:nvPr/>
        </p:nvSpPr>
        <p:spPr>
          <a:xfrm>
            <a:off x="914400" y="47181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49" name="Shape 6"/>
          <p:cNvSpPr/>
          <p:nvPr/>
        </p:nvSpPr>
        <p:spPr>
          <a:xfrm>
            <a:off x="1115640" y="47181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50" name="Text 7"/>
          <p:cNvSpPr/>
          <p:nvPr/>
        </p:nvSpPr>
        <p:spPr>
          <a:xfrm>
            <a:off x="749880" y="4956120"/>
            <a:ext cx="10707120" cy="9324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data = np.array([72, 85, np.nan, 90, np.nan, 68])</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clean_mean = np.nanmean(data)      # ignores NaNs</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filled = np.where(np.isnan(data), clean_mean, data)</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every NaN replaced with the mean</a:t>
            </a:r>
            <a:endParaRPr lang="en-US" sz="1300" b="0" u="none" strike="noStrike">
              <a:solidFill>
                <a:srgbClr val="000000"/>
              </a:solidFill>
              <a:effectLst/>
              <a:uFillTx/>
              <a:latin typeface="Cantarell"/>
            </a:endParaRPr>
          </a:p>
        </p:txBody>
      </p:sp>
      <p:sp>
        <p:nvSpPr>
          <p:cNvPr id="751"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52"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53"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754"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MISSING VALUES</a:t>
            </a:r>
            <a:endParaRPr lang="en-US" sz="1100" b="0" u="none" strike="noStrike">
              <a:solidFill>
                <a:srgbClr val="000000"/>
              </a:solidFill>
              <a:effectLst/>
              <a:uFillTx/>
              <a:latin typeface="Arial"/>
            </a:endParaRPr>
          </a:p>
        </p:txBody>
      </p:sp>
      <p:sp>
        <p:nvSpPr>
          <p:cNvPr id="755"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Handling Missing Values</a:t>
            </a:r>
            <a:endParaRPr lang="en-US" sz="2300" b="0" u="none" strike="noStrike">
              <a:solidFill>
                <a:srgbClr val="000000"/>
              </a:solidFill>
              <a:effectLst/>
              <a:uFillTx/>
              <a:latin typeface="Arial"/>
            </a:endParaRPr>
          </a:p>
        </p:txBody>
      </p:sp>
      <p:sp>
        <p:nvSpPr>
          <p:cNvPr id="756"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757"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8"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9"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760"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an array with a few np.nan values mixed in, and count how many there are.</a:t>
            </a:r>
            <a:endParaRPr lang="en-US" sz="1300" b="0" u="none" strike="noStrike">
              <a:solidFill>
                <a:srgbClr val="000000"/>
              </a:solidFill>
              <a:effectLst/>
              <a:uFillTx/>
              <a:latin typeface="Arial"/>
            </a:endParaRPr>
          </a:p>
        </p:txBody>
      </p:sp>
      <p:sp>
        <p:nvSpPr>
          <p:cNvPr id="761"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2"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3"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764"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Compute the mean of that array with and without ignoring NaN values, and compare.</a:t>
            </a:r>
            <a:endParaRPr lang="en-US" sz="1300" b="0" u="none" strike="noStrike">
              <a:solidFill>
                <a:srgbClr val="000000"/>
              </a:solidFill>
              <a:effectLst/>
              <a:uFillTx/>
              <a:latin typeface="Arial"/>
            </a:endParaRPr>
          </a:p>
        </p:txBody>
      </p:sp>
      <p:sp>
        <p:nvSpPr>
          <p:cNvPr id="765"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6"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7"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768"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Replace every NaN in the array with the column's mean using np.where().</a:t>
            </a:r>
            <a:endParaRPr lang="en-US" sz="1300" b="0" u="none" strike="noStrike">
              <a:solidFill>
                <a:srgbClr val="000000"/>
              </a:solidFill>
              <a:effectLst/>
              <a:uFillTx/>
              <a:latin typeface="Arial"/>
            </a:endParaRPr>
          </a:p>
        </p:txBody>
      </p:sp>
      <p:sp>
        <p:nvSpPr>
          <p:cNvPr id="769"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0"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1"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772"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Filter out the NaN values </a:t>
            </a:r>
            <a:r>
              <a:rPr lang="en-US" sz="1300" b="0" u="none" strike="noStrike">
                <a:solidFill>
                  <a:srgbClr val="1B1B20"/>
                </a:solidFill>
                <a:effectLst/>
                <a:uFillTx/>
                <a:latin typeface="Hanken Grotesk"/>
                <a:ea typeface="Hanken Grotesk"/>
              </a:rPr>
              <a:t>entirely and print only the </a:t>
            </a:r>
            <a:r>
              <a:rPr lang="en-US" sz="1300" b="0" u="none" strike="noStrike">
                <a:solidFill>
                  <a:srgbClr val="1B1B20"/>
                </a:solidFill>
                <a:effectLst/>
                <a:uFillTx/>
                <a:latin typeface="Hanken Grotesk"/>
                <a:ea typeface="Hanken Grotesk"/>
              </a:rPr>
              <a:t>valid numbers.</a:t>
            </a:r>
            <a:endParaRPr lang="en-US" sz="1300" b="0" u="none" strike="noStrike">
              <a:solidFill>
                <a:srgbClr val="000000"/>
              </a:solidFill>
              <a:effectLst/>
              <a:uFillTx/>
              <a:latin typeface="Arial"/>
            </a:endParaRPr>
          </a:p>
        </p:txBody>
      </p:sp>
      <p:pic>
        <p:nvPicPr>
          <p:cNvPr id="773"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74"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775"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776"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7"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78"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779"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10 · REAL-WORLD DATA</a:t>
            </a:r>
            <a:endParaRPr lang="en-US" sz="1400" b="0" u="none" strike="noStrike">
              <a:solidFill>
                <a:srgbClr val="FFFFFF"/>
              </a:solidFill>
              <a:effectLst/>
              <a:uFillTx/>
              <a:latin typeface="Arial"/>
            </a:endParaRPr>
          </a:p>
        </p:txBody>
      </p:sp>
      <p:sp>
        <p:nvSpPr>
          <p:cNvPr id="780"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NumPy with Real-World Data</a:t>
            </a:r>
            <a:endParaRPr lang="en-US" sz="4000" b="0" u="none" strike="noStrike">
              <a:solidFill>
                <a:srgbClr val="FFFFFF"/>
              </a:solidFill>
              <a:effectLst/>
              <a:uFillTx/>
              <a:latin typeface="Arial"/>
            </a:endParaRPr>
          </a:p>
        </p:txBody>
      </p:sp>
      <p:sp>
        <p:nvSpPr>
          <p:cNvPr id="781"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Bringing everything together on a small, realistic dataset — six students, five subjects.</a:t>
            </a:r>
            <a:endParaRPr lang="en-US" sz="1500" b="0" u="none" strike="noStrike">
              <a:solidFill>
                <a:srgbClr val="FFFFFF"/>
              </a:solidFill>
              <a:effectLst/>
              <a:uFillTx/>
              <a:latin typeface="Arial"/>
            </a:endParaRPr>
          </a:p>
        </p:txBody>
      </p:sp>
      <p:sp>
        <p:nvSpPr>
          <p:cNvPr id="782"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47</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8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REAL-WORLD DATA</a:t>
            </a:r>
            <a:endParaRPr lang="en-US" sz="1100" b="0" u="none" strike="noStrike">
              <a:solidFill>
                <a:srgbClr val="000000"/>
              </a:solidFill>
              <a:effectLst/>
              <a:uFillTx/>
              <a:latin typeface="Arial"/>
            </a:endParaRPr>
          </a:p>
        </p:txBody>
      </p:sp>
      <p:sp>
        <p:nvSpPr>
          <p:cNvPr id="78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The Dataset — Student Scores</a:t>
            </a:r>
            <a:endParaRPr lang="en-US" sz="2600" b="0" u="none" strike="noStrike">
              <a:solidFill>
                <a:srgbClr val="000000"/>
              </a:solidFill>
              <a:effectLst/>
              <a:uFillTx/>
              <a:latin typeface="Arial"/>
            </a:endParaRPr>
          </a:p>
        </p:txBody>
      </p:sp>
      <p:pic>
        <p:nvPicPr>
          <p:cNvPr id="78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8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787" name="Shape 3"/>
          <p:cNvSpPr/>
          <p:nvPr/>
        </p:nvSpPr>
        <p:spPr>
          <a:xfrm>
            <a:off x="548640" y="1737360"/>
            <a:ext cx="5394600" cy="4205880"/>
          </a:xfrm>
          <a:prstGeom prst="roundRect">
            <a:avLst>
              <a:gd name="adj" fmla="val 260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8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78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9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91" name="Text 7"/>
          <p:cNvSpPr/>
          <p:nvPr/>
        </p:nvSpPr>
        <p:spPr>
          <a:xfrm>
            <a:off x="749880" y="2121480"/>
            <a:ext cx="4992120" cy="3675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subjects = ["Math", "Physics", "Chemistry",</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"Biology", "English"]</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scores = np.array([</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[78, 85, 92, 88, 76],</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[65, 70, 60, 72, 80],</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[90, 88, 95, 91, 85],</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[55, 62, 58, 64, 70],</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[82, 79, 84, 88, 90],</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[70, 75, 68, 73, 77],</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scores.shape</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(6, 5)  &lt;- 6 students, 5 subjects</a:t>
            </a:r>
            <a:endParaRPr lang="en-US" sz="1300" b="0" u="none" strike="noStrike">
              <a:solidFill>
                <a:srgbClr val="000000"/>
              </a:solidFill>
              <a:effectLst/>
              <a:uFillTx/>
              <a:latin typeface="Cantarell"/>
            </a:endParaRPr>
          </a:p>
        </p:txBody>
      </p:sp>
      <p:sp>
        <p:nvSpPr>
          <p:cNvPr id="792" name="Text 8"/>
          <p:cNvSpPr/>
          <p:nvPr/>
        </p:nvSpPr>
        <p:spPr>
          <a:xfrm>
            <a:off x="6172200" y="1737360"/>
            <a:ext cx="5486040" cy="42058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Rows are students, columns are subjects — a 2D array is a completely natural fit for this kind of tabular data.</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This is exactly the shape of data you'll load into Pandas next module — NumPy is what's underneath it.</a:t>
            </a:r>
            <a:endParaRPr lang="en-US" sz="1400" b="0" u="none" strike="noStrike">
              <a:solidFill>
                <a:srgbClr val="000000"/>
              </a:solidFill>
              <a:effectLst/>
              <a:uFillTx/>
              <a:latin typeface="Arial"/>
            </a:endParaRPr>
          </a:p>
        </p:txBody>
      </p:sp>
      <p:sp>
        <p:nvSpPr>
          <p:cNvPr id="793"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9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REAL-WORLD DATA</a:t>
            </a:r>
            <a:endParaRPr lang="en-US" sz="1100" b="0" u="none" strike="noStrike">
              <a:solidFill>
                <a:srgbClr val="000000"/>
              </a:solidFill>
              <a:effectLst/>
              <a:uFillTx/>
              <a:latin typeface="Arial"/>
            </a:endParaRPr>
          </a:p>
        </p:txBody>
      </p:sp>
      <p:sp>
        <p:nvSpPr>
          <p:cNvPr id="79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Average Score per Subject — axis=0</a:t>
            </a:r>
            <a:endParaRPr lang="en-US" sz="2600" b="0" u="none" strike="noStrike">
              <a:solidFill>
                <a:srgbClr val="000000"/>
              </a:solidFill>
              <a:effectLst/>
              <a:uFillTx/>
              <a:latin typeface="Arial"/>
            </a:endParaRPr>
          </a:p>
        </p:txBody>
      </p:sp>
      <p:pic>
        <p:nvPicPr>
          <p:cNvPr id="796"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9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798" name="Shape 3"/>
          <p:cNvSpPr/>
          <p:nvPr/>
        </p:nvSpPr>
        <p:spPr>
          <a:xfrm>
            <a:off x="548640" y="1737360"/>
            <a:ext cx="5394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99"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00"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01"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02" name="Text 7"/>
          <p:cNvSpPr/>
          <p:nvPr/>
        </p:nvSpPr>
        <p:spPr>
          <a:xfrm>
            <a:off x="749880" y="2121480"/>
            <a:ext cx="4992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avg_per_subject = scores.mean(axis=0)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print(avg_per_subject)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[73.3 76.5 76.2 79.3 79.7]</a:t>
            </a:r>
            <a:endParaRPr lang="en-US" sz="1400" b="0" u="none" strike="noStrike">
              <a:solidFill>
                <a:srgbClr val="000000"/>
              </a:solidFill>
              <a:effectLst/>
              <a:uFillTx/>
              <a:latin typeface="Cantarell"/>
            </a:endParaRPr>
          </a:p>
        </p:txBody>
      </p:sp>
      <p:sp>
        <p:nvSpPr>
          <p:cNvPr id="803"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04" name="Image 1" descr="/home/claude/numpy_deck/charts/realworld_avg.png"/>
          <p:cNvPicPr/>
          <p:nvPr/>
        </p:nvPicPr>
        <p:blipFill>
          <a:blip r:embed="rId2"/>
          <a:stretch/>
        </p:blipFill>
        <p:spPr>
          <a:xfrm>
            <a:off x="6282000" y="1847160"/>
            <a:ext cx="5266440" cy="3803400"/>
          </a:xfrm>
          <a:prstGeom prst="rect">
            <a:avLst/>
          </a:prstGeom>
          <a:noFill/>
          <a:ln w="0">
            <a:noFill/>
          </a:ln>
        </p:spPr>
      </p:pic>
      <p:sp>
        <p:nvSpPr>
          <p:cNvPr id="805" name="Text 9"/>
          <p:cNvSpPr/>
          <p:nvPr/>
        </p:nvSpPr>
        <p:spPr>
          <a:xfrm>
            <a:off x="548640" y="3429000"/>
            <a:ext cx="5394600" cy="22856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50" b="0" u="none" strike="noStrike">
                <a:solidFill>
                  <a:srgbClr val="1B1B20"/>
                </a:solidFill>
                <a:effectLst/>
                <a:uFillTx/>
                <a:latin typeface="Hanken Grotesk"/>
                <a:ea typeface="Hanken Grotesk"/>
              </a:rPr>
              <a:t>axis=0 collapses down the rows — one average per column (subject).</a:t>
            </a:r>
            <a:endParaRPr lang="en-US" sz="1350" b="0" u="none" strike="noStrike">
              <a:solidFill>
                <a:srgbClr val="000000"/>
              </a:solidFill>
              <a:effectLst/>
              <a:uFillTx/>
              <a:latin typeface="Arial"/>
            </a:endParaRPr>
          </a:p>
        </p:txBody>
      </p:sp>
      <p:sp>
        <p:nvSpPr>
          <p:cNvPr id="806"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49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0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REAL-WORLD DATA</a:t>
            </a:r>
            <a:endParaRPr lang="en-US" sz="1100" b="0" u="none" strike="noStrike">
              <a:solidFill>
                <a:srgbClr val="000000"/>
              </a:solidFill>
              <a:effectLst/>
              <a:uFillTx/>
              <a:latin typeface="Arial"/>
            </a:endParaRPr>
          </a:p>
        </p:txBody>
      </p:sp>
      <p:sp>
        <p:nvSpPr>
          <p:cNvPr id="80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Average Score per Student — axis=1</a:t>
            </a:r>
            <a:endParaRPr lang="en-US" sz="2600" b="0" u="none" strike="noStrike">
              <a:solidFill>
                <a:srgbClr val="000000"/>
              </a:solidFill>
              <a:effectLst/>
              <a:uFillTx/>
              <a:latin typeface="Arial"/>
            </a:endParaRPr>
          </a:p>
        </p:txBody>
      </p:sp>
      <p:pic>
        <p:nvPicPr>
          <p:cNvPr id="80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1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811" name="Shape 3"/>
          <p:cNvSpPr/>
          <p:nvPr/>
        </p:nvSpPr>
        <p:spPr>
          <a:xfrm>
            <a:off x="548640" y="1737360"/>
            <a:ext cx="5394600" cy="2011320"/>
          </a:xfrm>
          <a:prstGeom prst="roundRect">
            <a:avLst>
              <a:gd name="adj" fmla="val 5455"/>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12"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13"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14"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15" name="Text 7"/>
          <p:cNvSpPr/>
          <p:nvPr/>
        </p:nvSpPr>
        <p:spPr>
          <a:xfrm>
            <a:off x="749880" y="2121480"/>
            <a:ext cx="4992120" cy="14810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avg_per_student = scores.mean(axis=1)</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print(avg_per_student)</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[83.8 69.4 89.8 61.8 84.6 72.6]</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top_student = np.argmax(avg_per_student)</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index 2 -&gt; highest average</a:t>
            </a:r>
            <a:endParaRPr lang="en-US" sz="1350" b="0" u="none" strike="noStrike">
              <a:solidFill>
                <a:srgbClr val="000000"/>
              </a:solidFill>
              <a:effectLst/>
              <a:uFillTx/>
              <a:latin typeface="Cantarell"/>
            </a:endParaRPr>
          </a:p>
        </p:txBody>
      </p:sp>
      <p:sp>
        <p:nvSpPr>
          <p:cNvPr id="816"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17" name="Image 1" descr="/home/claude/numpy_deck/charts/realworld_student_avg.png"/>
          <p:cNvPicPr/>
          <p:nvPr/>
        </p:nvPicPr>
        <p:blipFill>
          <a:blip r:embed="rId2"/>
          <a:stretch/>
        </p:blipFill>
        <p:spPr>
          <a:xfrm>
            <a:off x="6282000" y="1847160"/>
            <a:ext cx="5266440" cy="3803400"/>
          </a:xfrm>
          <a:prstGeom prst="rect">
            <a:avLst/>
          </a:prstGeom>
          <a:noFill/>
          <a:ln w="0">
            <a:noFill/>
          </a:ln>
        </p:spPr>
      </p:pic>
      <p:sp>
        <p:nvSpPr>
          <p:cNvPr id="818" name="Text 9"/>
          <p:cNvSpPr/>
          <p:nvPr/>
        </p:nvSpPr>
        <p:spPr>
          <a:xfrm>
            <a:off x="548640" y="3886200"/>
            <a:ext cx="5394600" cy="18284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50" b="0" u="none" strike="noStrike">
                <a:solidFill>
                  <a:srgbClr val="1B1B20"/>
                </a:solidFill>
                <a:effectLst/>
                <a:uFillTx/>
                <a:latin typeface="Hanken Grotesk"/>
                <a:ea typeface="Hanken Grotesk"/>
              </a:rPr>
              <a:t>axis=1 collapses across the columns — one average per row (student).</a:t>
            </a:r>
            <a:endParaRPr lang="en-US" sz="1350" b="0" u="none" strike="noStrike">
              <a:solidFill>
                <a:srgbClr val="000000"/>
              </a:solidFill>
              <a:effectLst/>
              <a:uFillTx/>
              <a:latin typeface="Arial"/>
            </a:endParaRPr>
          </a:p>
        </p:txBody>
      </p:sp>
      <p:sp>
        <p:nvSpPr>
          <p:cNvPr id="819"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20"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1"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822"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REAL-WORLD DATA</a:t>
            </a:r>
            <a:endParaRPr lang="en-US" sz="1100" b="0" u="none" strike="noStrike">
              <a:solidFill>
                <a:srgbClr val="000000"/>
              </a:solidFill>
              <a:effectLst/>
              <a:uFillTx/>
              <a:latin typeface="Arial"/>
            </a:endParaRPr>
          </a:p>
        </p:txBody>
      </p:sp>
      <p:sp>
        <p:nvSpPr>
          <p:cNvPr id="823"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NumPy with Real-World Data</a:t>
            </a:r>
            <a:endParaRPr lang="en-US" sz="2300" b="0" u="none" strike="noStrike">
              <a:solidFill>
                <a:srgbClr val="000000"/>
              </a:solidFill>
              <a:effectLst/>
              <a:uFillTx/>
              <a:latin typeface="Arial"/>
            </a:endParaRPr>
          </a:p>
        </p:txBody>
      </p:sp>
      <p:sp>
        <p:nvSpPr>
          <p:cNvPr id="824"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825"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6"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7"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828"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Build a 2D array representing 5 products' sales across 4 weeks.</a:t>
            </a:r>
            <a:endParaRPr lang="en-US" sz="1300" b="0" u="none" strike="noStrike">
              <a:solidFill>
                <a:srgbClr val="000000"/>
              </a:solidFill>
              <a:effectLst/>
              <a:uFillTx/>
              <a:latin typeface="Arial"/>
            </a:endParaRPr>
          </a:p>
        </p:txBody>
      </p:sp>
      <p:sp>
        <p:nvSpPr>
          <p:cNvPr id="829"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0"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1"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832"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Compute the average sales per week and the average sales per product.</a:t>
            </a:r>
            <a:endParaRPr lang="en-US" sz="1300" b="0" u="none" strike="noStrike">
              <a:solidFill>
                <a:srgbClr val="000000"/>
              </a:solidFill>
              <a:effectLst/>
              <a:uFillTx/>
              <a:latin typeface="Arial"/>
            </a:endParaRPr>
          </a:p>
        </p:txBody>
      </p:sp>
      <p:sp>
        <p:nvSpPr>
          <p:cNvPr id="833"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4"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5"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836"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Find which product had the single highest sales value, and in which week.</a:t>
            </a:r>
            <a:endParaRPr lang="en-US" sz="1300" b="0" u="none" strike="noStrike">
              <a:solidFill>
                <a:srgbClr val="000000"/>
              </a:solidFill>
              <a:effectLst/>
              <a:uFillTx/>
              <a:latin typeface="Arial"/>
            </a:endParaRPr>
          </a:p>
        </p:txBody>
      </p:sp>
      <p:sp>
        <p:nvSpPr>
          <p:cNvPr id="837"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8"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9"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840"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boolean indexing to find every product-week combination that sold above the overall average.</a:t>
            </a:r>
            <a:endParaRPr lang="en-US" sz="1300" b="0" u="none" strike="noStrike">
              <a:solidFill>
                <a:srgbClr val="000000"/>
              </a:solidFill>
              <a:effectLst/>
              <a:uFillTx/>
              <a:latin typeface="Arial"/>
            </a:endParaRPr>
          </a:p>
        </p:txBody>
      </p:sp>
      <p:pic>
        <p:nvPicPr>
          <p:cNvPr id="841"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42"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843"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844"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5"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46"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847"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11 · BONUS</a:t>
            </a:r>
            <a:endParaRPr lang="en-US" sz="1400" b="0" u="none" strike="noStrike">
              <a:solidFill>
                <a:srgbClr val="FFFFFF"/>
              </a:solidFill>
              <a:effectLst/>
              <a:uFillTx/>
              <a:latin typeface="Arial"/>
            </a:endParaRPr>
          </a:p>
        </p:txBody>
      </p:sp>
      <p:sp>
        <p:nvSpPr>
          <p:cNvPr id="848"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Images as NumPy Arrays</a:t>
            </a:r>
            <a:endParaRPr lang="en-US" sz="4000" b="0" u="none" strike="noStrike">
              <a:solidFill>
                <a:srgbClr val="FFFFFF"/>
              </a:solidFill>
              <a:effectLst/>
              <a:uFillTx/>
              <a:latin typeface="Arial"/>
            </a:endParaRPr>
          </a:p>
        </p:txBody>
      </p:sp>
      <p:sp>
        <p:nvSpPr>
          <p:cNvPr id="849"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A genuinely fun demo: every image is secretly just a grid of numbers.</a:t>
            </a:r>
            <a:endParaRPr lang="en-US" sz="1500" b="0" u="none" strike="noStrike">
              <a:solidFill>
                <a:srgbClr val="FFFFFF"/>
              </a:solidFill>
              <a:effectLst/>
              <a:uFillTx/>
              <a:latin typeface="Arial"/>
            </a:endParaRPr>
          </a:p>
        </p:txBody>
      </p:sp>
      <p:sp>
        <p:nvSpPr>
          <p:cNvPr id="850"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52</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5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IMAGES AS ARRAYS</a:t>
            </a:r>
            <a:endParaRPr lang="en-US" sz="1100" b="0" u="none" strike="noStrike">
              <a:solidFill>
                <a:srgbClr val="000000"/>
              </a:solidFill>
              <a:effectLst/>
              <a:uFillTx/>
              <a:latin typeface="Arial"/>
            </a:endParaRPr>
          </a:p>
        </p:txBody>
      </p:sp>
      <p:sp>
        <p:nvSpPr>
          <p:cNvPr id="85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 Picture Is Just a Matrix</a:t>
            </a:r>
            <a:endParaRPr lang="en-US" sz="2600" b="0" u="none" strike="noStrike">
              <a:solidFill>
                <a:srgbClr val="000000"/>
              </a:solidFill>
              <a:effectLst/>
              <a:uFillTx/>
              <a:latin typeface="Arial"/>
            </a:endParaRPr>
          </a:p>
        </p:txBody>
      </p:sp>
      <p:pic>
        <p:nvPicPr>
          <p:cNvPr id="853"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5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855" name="Text 3"/>
          <p:cNvSpPr/>
          <p:nvPr/>
        </p:nvSpPr>
        <p:spPr>
          <a:xfrm>
            <a:off x="548640" y="1737360"/>
            <a:ext cx="11109600" cy="27428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A grayscale image is a 2D array — one number per pixel, from 0 (black) to 255 (white).</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A color image is a 3D array (a tensor!) — height x width x 3, one layer each for Red, Green, and Blue.</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Once you see an image as an array, every NumPy tool you've learned today — indexing, slicing, arithmetic — becomes a way to edit it.</a:t>
            </a:r>
            <a:endParaRPr lang="en-US" sz="1600" b="0" u="none" strike="noStrike">
              <a:solidFill>
                <a:srgbClr val="000000"/>
              </a:solidFill>
              <a:effectLst/>
              <a:uFillTx/>
              <a:latin typeface="Arial"/>
            </a:endParaRPr>
          </a:p>
        </p:txBody>
      </p:sp>
      <p:sp>
        <p:nvSpPr>
          <p:cNvPr id="856" name="Shape 4"/>
          <p:cNvSpPr/>
          <p:nvPr/>
        </p:nvSpPr>
        <p:spPr>
          <a:xfrm>
            <a:off x="548640" y="3429000"/>
            <a:ext cx="11109600" cy="2743200"/>
          </a:xfrm>
          <a:prstGeom prst="roundRect">
            <a:avLst>
              <a:gd name="adj" fmla="val 75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7" name="Shape 5"/>
          <p:cNvSpPr/>
          <p:nvPr/>
        </p:nvSpPr>
        <p:spPr>
          <a:xfrm>
            <a:off x="713160" y="35661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58" name="Shape 6"/>
          <p:cNvSpPr/>
          <p:nvPr/>
        </p:nvSpPr>
        <p:spPr>
          <a:xfrm>
            <a:off x="914400" y="35661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59" name="Shape 7"/>
          <p:cNvSpPr/>
          <p:nvPr/>
        </p:nvSpPr>
        <p:spPr>
          <a:xfrm>
            <a:off x="1115640" y="35661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60" name="Text 8"/>
          <p:cNvSpPr/>
          <p:nvPr/>
        </p:nvSpPr>
        <p:spPr>
          <a:xfrm>
            <a:off x="722880" y="3886200"/>
            <a:ext cx="10707120" cy="9324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from PIL import Image</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import numpy as np</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img = Image.open("photo.png").convert("L")</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img_array = np.array(img)</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print(img_array.shape)   # (200, 200)</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print(img_array.dtype)   # uint8</a:t>
            </a:r>
            <a:endParaRPr lang="en-US" sz="1300" b="0" u="none" strike="noStrike">
              <a:solidFill>
                <a:srgbClr val="000000"/>
              </a:solidFill>
              <a:effectLst/>
              <a:uFillTx/>
              <a:latin typeface="Cantarell"/>
            </a:endParaRPr>
          </a:p>
        </p:txBody>
      </p:sp>
      <p:sp>
        <p:nvSpPr>
          <p:cNvPr id="861"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6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IMAGES AS ARRAYS</a:t>
            </a:r>
            <a:endParaRPr lang="en-US" sz="1100" b="0" u="none" strike="noStrike">
              <a:solidFill>
                <a:srgbClr val="000000"/>
              </a:solidFill>
              <a:effectLst/>
              <a:uFillTx/>
              <a:latin typeface="Arial"/>
            </a:endParaRPr>
          </a:p>
        </p:txBody>
      </p:sp>
      <p:sp>
        <p:nvSpPr>
          <p:cNvPr id="86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Dark Mode, in One Line</a:t>
            </a:r>
            <a:endParaRPr lang="en-US" sz="2600" b="0" u="none" strike="noStrike">
              <a:solidFill>
                <a:srgbClr val="000000"/>
              </a:solidFill>
              <a:effectLst/>
              <a:uFillTx/>
              <a:latin typeface="Arial"/>
            </a:endParaRPr>
          </a:p>
        </p:txBody>
      </p:sp>
      <p:pic>
        <p:nvPicPr>
          <p:cNvPr id="864"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6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866"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"Dark mode" for an image is just inverting every pixel value — a light background becomes dark, and vice versa.</a:t>
            </a:r>
            <a:endParaRPr lang="en-US" sz="1300" b="0" u="none" strike="noStrike">
              <a:solidFill>
                <a:srgbClr val="000000"/>
              </a:solidFill>
              <a:effectLst/>
              <a:uFillTx/>
              <a:latin typeface="Arial"/>
            </a:endParaRPr>
          </a:p>
        </p:txBody>
      </p:sp>
      <p:sp>
        <p:nvSpPr>
          <p:cNvPr id="867" name="Shape 4"/>
          <p:cNvSpPr/>
          <p:nvPr/>
        </p:nvSpPr>
        <p:spPr>
          <a:xfrm>
            <a:off x="548640" y="2057400"/>
            <a:ext cx="5394600" cy="3291480"/>
          </a:xfrm>
          <a:prstGeom prst="roundRect">
            <a:avLst>
              <a:gd name="adj" fmla="val 3333"/>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68"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69"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70"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71" name="Text 8"/>
          <p:cNvSpPr/>
          <p:nvPr/>
        </p:nvSpPr>
        <p:spPr>
          <a:xfrm>
            <a:off x="749880" y="2441520"/>
            <a:ext cx="4992120" cy="27612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img_array = np.array(image)</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every pixel is 0-255</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dark_array = 255 - img_array</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bright pixels become dark,</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dark pixels become bright</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dark_image = Image.fromarray(dark_array)</a:t>
            </a:r>
            <a:endParaRPr lang="en-US" sz="1250" b="0" u="none" strike="noStrike">
              <a:solidFill>
                <a:srgbClr val="000000"/>
              </a:solidFill>
              <a:effectLst/>
              <a:uFillTx/>
              <a:latin typeface="Cantarell"/>
            </a:endParaRPr>
          </a:p>
        </p:txBody>
      </p:sp>
      <p:sp>
        <p:nvSpPr>
          <p:cNvPr id="872"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73" name="Image 1" descr="/home/claude/numpy_deck/charts/image_dark_mode.png"/>
          <p:cNvPicPr/>
          <p:nvPr/>
        </p:nvPicPr>
        <p:blipFill>
          <a:blip r:embed="rId2"/>
          <a:stretch/>
        </p:blipFill>
        <p:spPr>
          <a:xfrm>
            <a:off x="6282000" y="2167200"/>
            <a:ext cx="5266440" cy="3071880"/>
          </a:xfrm>
          <a:prstGeom prst="rect">
            <a:avLst/>
          </a:prstGeom>
          <a:noFill/>
          <a:ln w="0">
            <a:noFill/>
          </a:ln>
        </p:spPr>
      </p:pic>
      <p:sp>
        <p:nvSpPr>
          <p:cNvPr id="874"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255 - img_array is a single broadcasted operation across every pixel — the exact same idea from Part 8, applied to a real image.</a:t>
            </a:r>
            <a:endParaRPr lang="en-US" sz="1150" b="0" u="none" strike="noStrike">
              <a:solidFill>
                <a:srgbClr val="000000"/>
              </a:solidFill>
              <a:effectLst/>
              <a:uFillTx/>
              <a:latin typeface="Arial"/>
            </a:endParaRPr>
          </a:p>
        </p:txBody>
      </p:sp>
      <p:sp>
        <p:nvSpPr>
          <p:cNvPr id="875"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7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7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87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IMAGES AS ARRAYS</a:t>
            </a:r>
            <a:endParaRPr lang="en-US" sz="1100" b="0" u="none" strike="noStrike">
              <a:solidFill>
                <a:srgbClr val="000000"/>
              </a:solidFill>
              <a:effectLst/>
              <a:uFillTx/>
              <a:latin typeface="Arial"/>
            </a:endParaRPr>
          </a:p>
        </p:txBody>
      </p:sp>
      <p:sp>
        <p:nvSpPr>
          <p:cNvPr id="87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Bonus: Images as NumPy Arrays</a:t>
            </a:r>
            <a:endParaRPr lang="en-US" sz="2300" b="0" u="none" strike="noStrike">
              <a:solidFill>
                <a:srgbClr val="000000"/>
              </a:solidFill>
              <a:effectLst/>
              <a:uFillTx/>
              <a:latin typeface="Arial"/>
            </a:endParaRPr>
          </a:p>
        </p:txBody>
      </p:sp>
      <p:sp>
        <p:nvSpPr>
          <p:cNvPr id="88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88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88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Load any image, convert it to grayscale, and print its shape and dtype.</a:t>
            </a:r>
            <a:endParaRPr lang="en-US" sz="1300" b="0" u="none" strike="noStrike">
              <a:solidFill>
                <a:srgbClr val="000000"/>
              </a:solidFill>
              <a:effectLst/>
              <a:uFillTx/>
              <a:latin typeface="Arial"/>
            </a:endParaRPr>
          </a:p>
        </p:txBody>
      </p:sp>
      <p:sp>
        <p:nvSpPr>
          <p:cNvPr id="88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88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Invert the image's pixel values to create a "dark mode" version.</a:t>
            </a:r>
            <a:endParaRPr lang="en-US" sz="1300" b="0" u="none" strike="noStrike">
              <a:solidFill>
                <a:srgbClr val="000000"/>
              </a:solidFill>
              <a:effectLst/>
              <a:uFillTx/>
              <a:latin typeface="Arial"/>
            </a:endParaRPr>
          </a:p>
        </p:txBody>
      </p:sp>
      <p:sp>
        <p:nvSpPr>
          <p:cNvPr id="88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89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Try slicing the array to keep only the top half of the image — what happens?</a:t>
            </a:r>
            <a:endParaRPr lang="en-US" sz="1300" b="0" u="none" strike="noStrike">
              <a:solidFill>
                <a:srgbClr val="000000"/>
              </a:solidFill>
              <a:effectLst/>
              <a:uFillTx/>
              <a:latin typeface="Arial"/>
            </a:endParaRPr>
          </a:p>
        </p:txBody>
      </p:sp>
      <p:sp>
        <p:nvSpPr>
          <p:cNvPr id="89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89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Try multiplying the array by 0.5 — what visual effect does that have, and why?</a:t>
            </a:r>
            <a:endParaRPr lang="en-US" sz="1300" b="0" u="none" strike="noStrike">
              <a:solidFill>
                <a:srgbClr val="000000"/>
              </a:solidFill>
              <a:effectLst/>
              <a:uFillTx/>
              <a:latin typeface="Arial"/>
            </a:endParaRPr>
          </a:p>
        </p:txBody>
      </p:sp>
      <p:pic>
        <p:nvPicPr>
          <p:cNvPr id="897"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9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89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900"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01"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02"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903"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12 · MINI PROJECTS</a:t>
            </a:r>
            <a:endParaRPr lang="en-US" sz="1400" b="0" u="none" strike="noStrike">
              <a:solidFill>
                <a:srgbClr val="FFFFFF"/>
              </a:solidFill>
              <a:effectLst/>
              <a:uFillTx/>
              <a:latin typeface="Arial"/>
            </a:endParaRPr>
          </a:p>
        </p:txBody>
      </p:sp>
      <p:sp>
        <p:nvSpPr>
          <p:cNvPr id="904"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Put It All Together</a:t>
            </a:r>
            <a:endParaRPr lang="en-US" sz="4000" b="0" u="none" strike="noStrike">
              <a:solidFill>
                <a:srgbClr val="FFFFFF"/>
              </a:solidFill>
              <a:effectLst/>
              <a:uFillTx/>
              <a:latin typeface="Arial"/>
            </a:endParaRPr>
          </a:p>
        </p:txBody>
      </p:sp>
      <p:sp>
        <p:nvSpPr>
          <p:cNvPr id="905"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Three small projects combining everything from Foundations to Real-World Data — built end to end with NumPy.</a:t>
            </a:r>
            <a:endParaRPr lang="en-US" sz="1500" b="0" u="none" strike="noStrike">
              <a:solidFill>
                <a:srgbClr val="FFFFFF"/>
              </a:solidFill>
              <a:effectLst/>
              <a:uFillTx/>
              <a:latin typeface="Arial"/>
            </a:endParaRPr>
          </a:p>
        </p:txBody>
      </p:sp>
      <p:sp>
        <p:nvSpPr>
          <p:cNvPr id="906"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56</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0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12 · MINI PROJECTS</a:t>
            </a:r>
            <a:endParaRPr lang="en-US" sz="1100" b="0" u="none" strike="noStrike">
              <a:solidFill>
                <a:srgbClr val="000000"/>
              </a:solidFill>
              <a:effectLst/>
              <a:uFillTx/>
              <a:latin typeface="Arial"/>
            </a:endParaRPr>
          </a:p>
        </p:txBody>
      </p:sp>
      <p:sp>
        <p:nvSpPr>
          <p:cNvPr id="90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a:t>
            </a:r>
            <a:r>
              <a:rPr lang="en-US" sz="2600" b="1" u="none" spc="-31" strike="noStrike">
                <a:solidFill>
                  <a:srgbClr val="1B1B20"/>
                </a:solidFill>
                <a:effectLst/>
                <a:uFillTx/>
                <a:latin typeface="Bricolage Grotesque"/>
                <a:ea typeface="Bricolage Grotesque"/>
              </a:rPr>
              <a:t>1: Student </a:t>
            </a:r>
            <a:r>
              <a:rPr lang="en-US" sz="2600" b="1" u="none" spc="-31" strike="noStrike">
                <a:solidFill>
                  <a:srgbClr val="1B1B20"/>
                </a:solidFill>
                <a:effectLst/>
                <a:uFillTx/>
                <a:latin typeface="Bricolage Grotesque"/>
                <a:ea typeface="Bricolage Grotesque"/>
              </a:rPr>
              <a:t>Grade Book</a:t>
            </a:r>
            <a:endParaRPr lang="en-US" sz="2600" b="0" u="none" strike="noStrike">
              <a:solidFill>
                <a:srgbClr val="000000"/>
              </a:solidFill>
              <a:effectLst/>
              <a:uFillTx/>
              <a:latin typeface="Arial"/>
            </a:endParaRPr>
          </a:p>
        </p:txBody>
      </p:sp>
      <p:pic>
        <p:nvPicPr>
          <p:cNvPr id="90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91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911"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2"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3"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1</a:t>
            </a:r>
            <a:endParaRPr lang="en-US" sz="4200" b="0" u="none" strike="noStrike">
              <a:solidFill>
                <a:srgbClr val="000000"/>
              </a:solidFill>
              <a:effectLst/>
              <a:uFillTx/>
              <a:latin typeface="Arial"/>
            </a:endParaRPr>
          </a:p>
        </p:txBody>
      </p:sp>
      <p:sp>
        <p:nvSpPr>
          <p:cNvPr id="914"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Indexing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Aggregate stats</a:t>
            </a:r>
            <a:endParaRPr lang="en-US" sz="1300" b="0" u="none" strike="noStrike">
              <a:solidFill>
                <a:srgbClr val="000000"/>
              </a:solidFill>
              <a:effectLst/>
              <a:uFillTx/>
              <a:latin typeface="Arial"/>
            </a:endParaRPr>
          </a:p>
        </p:txBody>
      </p:sp>
      <p:sp>
        <p:nvSpPr>
          <p:cNvPr id="915"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Build a 2D array of scores for 6 students across 4 subjects.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Use indexing and slicing to pull out one student's full record and one subject's scores for everyone.</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Compute each student's average (axis=1) and each subject's average (axis=0).</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Use argmax() to find the top-performing student, and boolean indexing to list every student scoring above 80 overall.</a:t>
            </a:r>
            <a:endParaRPr lang="en-US" sz="1450" b="0" u="none" strike="noStrike">
              <a:solidFill>
                <a:srgbClr val="000000"/>
              </a:solidFill>
              <a:effectLst/>
              <a:uFillTx/>
              <a:latin typeface="Arial"/>
            </a:endParaRPr>
          </a:p>
        </p:txBody>
      </p:sp>
      <p:sp>
        <p:nvSpPr>
          <p:cNvPr id="916"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1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12 · MINI PROJECTS</a:t>
            </a:r>
            <a:endParaRPr lang="en-US" sz="1100" b="0" u="none" strike="noStrike">
              <a:solidFill>
                <a:srgbClr val="000000"/>
              </a:solidFill>
              <a:effectLst/>
              <a:uFillTx/>
              <a:latin typeface="Arial"/>
            </a:endParaRPr>
          </a:p>
        </p:txBody>
      </p:sp>
      <p:sp>
        <p:nvSpPr>
          <p:cNvPr id="91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2: Sales Forecast Adjuster</a:t>
            </a:r>
            <a:endParaRPr lang="en-US" sz="2600" b="0" u="none" strike="noStrike">
              <a:solidFill>
                <a:srgbClr val="000000"/>
              </a:solidFill>
              <a:effectLst/>
              <a:uFillTx/>
              <a:latin typeface="Arial"/>
            </a:endParaRPr>
          </a:p>
        </p:txBody>
      </p:sp>
      <p:pic>
        <p:nvPicPr>
          <p:cNvPr id="91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92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921"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2"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3"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2</a:t>
            </a:r>
            <a:endParaRPr lang="en-US" sz="4200" b="0" u="none" strike="noStrike">
              <a:solidFill>
                <a:srgbClr val="000000"/>
              </a:solidFill>
              <a:effectLst/>
              <a:uFillTx/>
              <a:latin typeface="Arial"/>
            </a:endParaRPr>
          </a:p>
        </p:txBody>
      </p:sp>
      <p:sp>
        <p:nvSpPr>
          <p:cNvPr id="924"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Broadcasting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Vectorised operations</a:t>
            </a:r>
            <a:endParaRPr lang="en-US" sz="1300" b="0" u="none" strike="noStrike">
              <a:solidFill>
                <a:srgbClr val="000000"/>
              </a:solidFill>
              <a:effectLst/>
              <a:uFillTx/>
              <a:latin typeface="Arial"/>
            </a:endParaRPr>
          </a:p>
        </p:txBody>
      </p:sp>
      <p:sp>
        <p:nvSpPr>
          <p:cNvPr id="925"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Build a 2D array of weekly sales for 5 products over 6 weeks.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Apply a single broadcasted operation to increase every value by 10% (a projected price increase).</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Use reshape() or transpose() to view the data product-first instead of week-first.</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Compare the total runtime of a loop-based vs. vectorized version of the same calculation.</a:t>
            </a:r>
            <a:endParaRPr lang="en-US" sz="1450" b="0" u="none" strike="noStrike">
              <a:solidFill>
                <a:srgbClr val="000000"/>
              </a:solidFill>
              <a:effectLst/>
              <a:uFillTx/>
              <a:latin typeface="Arial"/>
            </a:endParaRPr>
          </a:p>
        </p:txBody>
      </p:sp>
      <p:sp>
        <p:nvSpPr>
          <p:cNvPr id="926"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2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12 · MINI PROJECTS</a:t>
            </a:r>
            <a:endParaRPr lang="en-US" sz="1100" b="0" u="none" strike="noStrike">
              <a:solidFill>
                <a:srgbClr val="000000"/>
              </a:solidFill>
              <a:effectLst/>
              <a:uFillTx/>
              <a:latin typeface="Arial"/>
            </a:endParaRPr>
          </a:p>
        </p:txBody>
      </p:sp>
      <p:sp>
        <p:nvSpPr>
          <p:cNvPr id="92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3: Sensor Data Cleaner</a:t>
            </a:r>
            <a:endParaRPr lang="en-US" sz="2600" b="0" u="none" strike="noStrike">
              <a:solidFill>
                <a:srgbClr val="000000"/>
              </a:solidFill>
              <a:effectLst/>
              <a:uFillTx/>
              <a:latin typeface="Arial"/>
            </a:endParaRPr>
          </a:p>
        </p:txBody>
      </p:sp>
      <p:pic>
        <p:nvPicPr>
          <p:cNvPr id="92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93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NumPy</a:t>
            </a:r>
            <a:endParaRPr lang="en-US" sz="900" b="0" u="none" strike="noStrike">
              <a:solidFill>
                <a:srgbClr val="000000"/>
              </a:solidFill>
              <a:effectLst/>
              <a:uFillTx/>
              <a:latin typeface="Arial"/>
            </a:endParaRPr>
          </a:p>
        </p:txBody>
      </p:sp>
      <p:sp>
        <p:nvSpPr>
          <p:cNvPr id="931"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2"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3"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3</a:t>
            </a:r>
            <a:endParaRPr lang="en-US" sz="4200" b="0" u="none" strike="noStrike">
              <a:solidFill>
                <a:srgbClr val="000000"/>
              </a:solidFill>
              <a:effectLst/>
              <a:uFillTx/>
              <a:latin typeface="Arial"/>
            </a:endParaRPr>
          </a:p>
        </p:txBody>
      </p:sp>
      <p:sp>
        <p:nvSpPr>
          <p:cNvPr id="934"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Missing values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Real-world cleanup</a:t>
            </a:r>
            <a:endParaRPr lang="en-US" sz="1300" b="0" u="none" strike="noStrike">
              <a:solidFill>
                <a:srgbClr val="000000"/>
              </a:solidFill>
              <a:effectLst/>
              <a:uFillTx/>
              <a:latin typeface="Arial"/>
            </a:endParaRPr>
          </a:p>
        </p:txBody>
      </p:sp>
      <p:sp>
        <p:nvSpPr>
          <p:cNvPr id="935"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Build a 1D array of 20 simulated temperature readings, with a few np.nan values mixed in.</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Detect and count the missing readings using np.isnan().</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Fill every missing reading with the array's mean using np.where().</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Report the cleaned array's mean, min, and max, and how many readings were originally missing.</a:t>
            </a:r>
            <a:endParaRPr lang="en-US" sz="1450" b="0" u="none" strike="noStrike">
              <a:solidFill>
                <a:srgbClr val="000000"/>
              </a:solidFill>
              <a:effectLst/>
              <a:uFillTx/>
              <a:latin typeface="Arial"/>
            </a:endParaRPr>
          </a:p>
        </p:txBody>
      </p:sp>
      <p:sp>
        <p:nvSpPr>
          <p:cNvPr id="936"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59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937" name="Shape 0"/>
          <p:cNvSpPr/>
          <p:nvPr/>
        </p:nvSpPr>
        <p:spPr>
          <a:xfrm>
            <a:off x="-1828800" y="-2103120"/>
            <a:ext cx="4754520" cy="47545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8" name="Shape 1"/>
          <p:cNvSpPr/>
          <p:nvPr/>
        </p:nvSpPr>
        <p:spPr>
          <a:xfrm>
            <a:off x="9326880" y="4206240"/>
            <a:ext cx="4205880" cy="4205880"/>
          </a:xfrm>
          <a:prstGeom prst="ellipse">
            <a:avLst/>
          </a:prstGeom>
          <a:solidFill>
            <a:srgbClr val="11362E">
              <a:alpha val="5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9" name="Shape 2"/>
          <p:cNvSpPr/>
          <p:nvPr/>
        </p:nvSpPr>
        <p:spPr>
          <a:xfrm>
            <a:off x="4907160" y="1051560"/>
            <a:ext cx="2377080" cy="54360"/>
          </a:xfrm>
          <a:prstGeom prst="roundRect">
            <a:avLst>
              <a:gd name="adj" fmla="val 50000"/>
            </a:avLst>
          </a:prstGeom>
          <a:solidFill>
            <a:srgbClr val="818CF8"/>
          </a:solidFill>
          <a:ln w="0">
            <a:noFill/>
          </a:ln>
        </p:spPr>
        <p:style>
          <a:lnRef idx="0"/>
          <a:fillRef idx="0"/>
          <a:effectRef idx="0"/>
          <a:fontRef idx="minor"/>
        </p:style>
        <p:txBody>
          <a:bodyPr lIns="90000" tIns="-6480" rIns="90000" bIns="-6480" anchor="t">
            <a:noAutofit/>
          </a:bodyPr>
          <a:p>
            <a:endParaRPr lang="en-US" sz="1800" b="0" u="none" strike="noStrike">
              <a:solidFill>
                <a:srgbClr val="FFFFFF"/>
              </a:solidFill>
              <a:effectLst/>
              <a:uFillTx/>
              <a:latin typeface="Arial"/>
            </a:endParaRPr>
          </a:p>
        </p:txBody>
      </p:sp>
      <p:sp>
        <p:nvSpPr>
          <p:cNvPr id="940" name="Text 3"/>
          <p:cNvSpPr/>
          <p:nvPr/>
        </p:nvSpPr>
        <p:spPr>
          <a:xfrm>
            <a:off x="0" y="1234440"/>
            <a:ext cx="12191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pc="300" strike="noStrike">
                <a:solidFill>
                  <a:srgbClr val="2DD4BF"/>
                </a:solidFill>
                <a:effectLst/>
                <a:uFillTx/>
                <a:latin typeface="Plus Jakarta Sans"/>
                <a:ea typeface="Plus Jakarta Sans"/>
              </a:rPr>
              <a:t>MODULE RECAP</a:t>
            </a:r>
            <a:endParaRPr lang="en-US" sz="1200" b="0" u="none" strike="noStrike">
              <a:solidFill>
                <a:srgbClr val="FFFFFF"/>
              </a:solidFill>
              <a:effectLst/>
              <a:uFillTx/>
              <a:latin typeface="Arial"/>
            </a:endParaRPr>
          </a:p>
        </p:txBody>
      </p:sp>
      <p:sp>
        <p:nvSpPr>
          <p:cNvPr id="941" name="Text 4"/>
          <p:cNvSpPr/>
          <p:nvPr/>
        </p:nvSpPr>
        <p:spPr>
          <a:xfrm>
            <a:off x="1249560" y="1920240"/>
            <a:ext cx="9692280" cy="2377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5000"/>
              </a:lnSpc>
              <a:tabLst>
                <a:tab pos="0" algn="l"/>
              </a:tabLst>
            </a:pPr>
            <a:r>
              <a:rPr lang="en-US" sz="2700" b="1" u="none" strike="noStrike">
                <a:solidFill>
                  <a:srgbClr val="F1F5F9"/>
                </a:solidFill>
                <a:effectLst/>
                <a:uFillTx/>
                <a:latin typeface="Bricolage Grotesque"/>
                <a:ea typeface="Bricolage Grotesque"/>
              </a:rPr>
              <a:t>Every array you sliced, reshaped, and broadcast today is the exact same object Pandas, Matplotlib, and every ML model you'll build later are quietly built on top of. You didn't just learn a library — you learned the language the rest of this course speaks.</a:t>
            </a:r>
            <a:endParaRPr lang="en-US" sz="2700" b="0" u="none" strike="noStrike">
              <a:solidFill>
                <a:srgbClr val="FFFFFF"/>
              </a:solidFill>
              <a:effectLst/>
              <a:uFillTx/>
              <a:latin typeface="Arial"/>
            </a:endParaRPr>
          </a:p>
        </p:txBody>
      </p:sp>
      <p:sp>
        <p:nvSpPr>
          <p:cNvPr id="942" name="Text 5"/>
          <p:cNvSpPr/>
          <p:nvPr/>
        </p:nvSpPr>
        <p:spPr>
          <a:xfrm>
            <a:off x="0" y="4526280"/>
            <a:ext cx="1219140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0" i="1" u="none" strike="noStrike">
                <a:solidFill>
                  <a:srgbClr val="94A3B8"/>
                </a:solidFill>
                <a:effectLst/>
                <a:uFillTx/>
                <a:latin typeface="Hanken Grotesk"/>
                <a:ea typeface="Hanken Grotesk"/>
              </a:rPr>
              <a:t>Next up: Pandas — structured, labeled data, built directly on the NumPy arrays you just learned.</a:t>
            </a:r>
            <a:endParaRPr lang="en-US" sz="1400" b="0" u="none" strike="noStrike">
              <a:solidFill>
                <a:srgbClr val="FFFFFF"/>
              </a:solidFill>
              <a:effectLst/>
              <a:uFillTx/>
              <a:latin typeface="Arial"/>
            </a:endParaRPr>
          </a:p>
        </p:txBody>
      </p:sp>
      <p:sp>
        <p:nvSpPr>
          <p:cNvPr id="943" name="Text 6"/>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60</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944" name="Shape 0"/>
          <p:cNvSpPr/>
          <p:nvPr/>
        </p:nvSpPr>
        <p:spPr>
          <a:xfrm>
            <a:off x="-1828800" y="-1828800"/>
            <a:ext cx="4571640" cy="457164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5" name="Shape 1"/>
          <p:cNvSpPr/>
          <p:nvPr/>
        </p:nvSpPr>
        <p:spPr>
          <a:xfrm>
            <a:off x="9601200" y="4114800"/>
            <a:ext cx="4114440" cy="4114440"/>
          </a:xfrm>
          <a:prstGeom prst="ellipse">
            <a:avLst/>
          </a:prstGeom>
          <a:solidFill>
            <a:srgbClr val="4C112D">
              <a:alpha val="5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46" name="Image 0" descr="/home/claude/numpy_deck/assets/logo_full.png"/>
          <p:cNvPicPr/>
          <p:nvPr/>
        </p:nvPicPr>
        <p:blipFill>
          <a:blip r:embed="rId1"/>
          <a:stretch/>
        </p:blipFill>
        <p:spPr>
          <a:xfrm>
            <a:off x="4632840" y="2286000"/>
            <a:ext cx="2925720" cy="950760"/>
          </a:xfrm>
          <a:prstGeom prst="rect">
            <a:avLst/>
          </a:prstGeom>
          <a:noFill/>
          <a:ln w="0">
            <a:noFill/>
          </a:ln>
        </p:spPr>
      </p:pic>
      <p:sp>
        <p:nvSpPr>
          <p:cNvPr id="947" name="Text 3"/>
          <p:cNvSpPr/>
          <p:nvPr/>
        </p:nvSpPr>
        <p:spPr>
          <a:xfrm>
            <a:off x="0" y="3429000"/>
            <a:ext cx="1219140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3600" b="1" u="none" strike="noStrike">
                <a:solidFill>
                  <a:srgbClr val="F1F5F9"/>
                </a:solidFill>
                <a:effectLst/>
                <a:uFillTx/>
                <a:latin typeface="Bricolage Grotesque"/>
                <a:ea typeface="Bricolage Grotesque"/>
              </a:rPr>
              <a:t>Thank You</a:t>
            </a:r>
            <a:endParaRPr lang="en-US" sz="3600" b="0" u="none" strike="noStrike">
              <a:solidFill>
                <a:srgbClr val="FFFFFF"/>
              </a:solidFill>
              <a:effectLst/>
              <a:uFillTx/>
              <a:latin typeface="Arial"/>
            </a:endParaRPr>
          </a:p>
        </p:txBody>
      </p:sp>
      <p:sp>
        <p:nvSpPr>
          <p:cNvPr id="948" name="Text 4"/>
          <p:cNvSpPr/>
          <p:nvPr/>
        </p:nvSpPr>
        <p:spPr>
          <a:xfrm>
            <a:off x="0" y="4160520"/>
            <a:ext cx="1219140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94A3B8"/>
                </a:solidFill>
                <a:effectLst/>
                <a:uFillTx/>
                <a:latin typeface="Plus Jakarta Sans"/>
                <a:ea typeface="Plus Jakarta Sans"/>
              </a:rPr>
              <a:t>NumPy · AI &amp; ML Playground · CodeByPaxto</a:t>
            </a:r>
            <a:endParaRPr lang="en-US" sz="1300" b="0" u="none" strike="noStrike">
              <a:solidFill>
                <a:srgbClr val="FFFFFF"/>
              </a:solidFill>
              <a:effectLst/>
              <a:uFillTx/>
              <a:latin typeface="Arial"/>
            </a:endParaRPr>
          </a:p>
        </p:txBody>
      </p:sp>
      <p:sp>
        <p:nvSpPr>
          <p:cNvPr id="949"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61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2026-09-24T22:30:17Z</dcterms:created>
  <dc:creator>PptxGenJS</dc:creator>
  <dc:description/>
  <dc:language>en-US</dc:language>
  <cp:lastModifiedBy/>
  <dcterms:modified xsi:type="dcterms:W3CDTF">2026-09-26T14:12:22Z</dcterms:modified>
  <cp:revision>8</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61</vt:i4>
  </property>
  <property fmtid="{D5CDD505-2E9C-101B-9397-08002B2CF9AE}" pid="3" name="PresentationFormat">
    <vt:lpwstr>On-screen Show (16:9)</vt:lpwstr>
  </property>
  <property fmtid="{D5CDD505-2E9C-101B-9397-08002B2CF9AE}" pid="4" name="Slides">
    <vt:i4>61</vt:i4>
  </property>
</Properties>
</file>