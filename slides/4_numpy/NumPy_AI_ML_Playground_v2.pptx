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317" r:id="rId66"/>
    <p:sldId id="263" r:id="rId11"/>
    <p:sldId id="264" r:id="rId12"/>
    <p:sldId id="265" r:id="rId13"/>
    <p:sldId id="266" r:id="rId14"/>
    <p:sldId id="267" r:id="rId15"/>
    <p:sldId id="268" r:id="rId16"/>
    <p:sldId id="318" r:id="rId67"/>
    <p:sldId id="319" r:id="rId68"/>
    <p:sldId id="320" r:id="rId69"/>
    <p:sldId id="321" r:id="rId70"/>
    <p:sldId id="269" r:id="rId17"/>
    <p:sldId id="270" r:id="rId18"/>
    <p:sldId id="271" r:id="rId19"/>
    <p:sldId id="272" r:id="rId20"/>
    <p:sldId id="273" r:id="rId21"/>
    <p:sldId id="274" r:id="rId22"/>
    <p:sldId id="322" r:id="rId71"/>
    <p:sldId id="323" r:id="rId72"/>
    <p:sldId id="324" r:id="rId73"/>
    <p:sldId id="275" r:id="rId23"/>
    <p:sldId id="276" r:id="rId24"/>
    <p:sldId id="277" r:id="rId25"/>
    <p:sldId id="326" r:id="rId75"/>
    <p:sldId id="327" r:id="rId76"/>
    <p:sldId id="328" r:id="rId77"/>
    <p:sldId id="329" r:id="rId78"/>
    <p:sldId id="325" r:id="rId74"/>
    <p:sldId id="279" r:id="rId27"/>
    <p:sldId id="280" r:id="rId28"/>
    <p:sldId id="281" r:id="rId29"/>
    <p:sldId id="282" r:id="rId30"/>
    <p:sldId id="330" r:id="rId79"/>
    <p:sldId id="331" r:id="rId80"/>
    <p:sldId id="332" r:id="rId81"/>
    <p:sldId id="283" r:id="rId31"/>
    <p:sldId id="284" r:id="rId32"/>
    <p:sldId id="285" r:id="rId33"/>
    <p:sldId id="286" r:id="rId34"/>
    <p:sldId id="333" r:id="rId82"/>
    <p:sldId id="287" r:id="rId35"/>
    <p:sldId id="288" r:id="rId36"/>
    <p:sldId id="289" r:id="rId37"/>
    <p:sldId id="290" r:id="rId38"/>
    <p:sldId id="291" r:id="rId39"/>
    <p:sldId id="292" r:id="rId40"/>
    <p:sldId id="293" r:id="rId41"/>
    <p:sldId id="334" r:id="rId83"/>
    <p:sldId id="294" r:id="rId42"/>
    <p:sldId id="295" r:id="rId43"/>
    <p:sldId id="296" r:id="rId44"/>
    <p:sldId id="297" r:id="rId45"/>
    <p:sldId id="335" r:id="rId84"/>
    <p:sldId id="336" r:id="rId85"/>
    <p:sldId id="337" r:id="rId86"/>
    <p:sldId id="338" r:id="rId87"/>
    <p:sldId id="339" r:id="rId88"/>
    <p:sldId id="298" r:id="rId46"/>
    <p:sldId id="299" r:id="rId47"/>
    <p:sldId id="300" r:id="rId48"/>
    <p:sldId id="301" r:id="rId49"/>
    <p:sldId id="302" r:id="rId50"/>
    <p:sldId id="303" r:id="rId51"/>
    <p:sldId id="304" r:id="rId52"/>
    <p:sldId id="305" r:id="rId53"/>
    <p:sldId id="306" r:id="rId54"/>
    <p:sldId id="307" r:id="rId55"/>
    <p:sldId id="308" r:id="rId56"/>
    <p:sldId id="309" r:id="rId57"/>
    <p:sldId id="340" r:id="rId89"/>
    <p:sldId id="341" r:id="rId90"/>
    <p:sldId id="310" r:id="rId58"/>
    <p:sldId id="311" r:id="rId59"/>
    <p:sldId id="312" r:id="rId60"/>
    <p:sldId id="313" r:id="rId61"/>
    <p:sldId id="314" r:id="rId62"/>
    <p:sldId id="315" r:id="rId63"/>
    <p:sldId id="316" r:id="rId6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presProps" Target="presProps.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79836B4-5BC8-44CF-B5CD-6CC5C58751CB}"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type="sldImg"/>
          </p:nvPr>
        </p:nvSpPr>
        <p:spPr>
          <a:xfrm>
            <a:off x="685800" y="1143000"/>
            <a:ext cx="5486040" cy="3085920"/>
          </a:xfrm>
          <a:prstGeom prst="rect">
            <a:avLst/>
          </a:prstGeom>
          <a:ln w="0">
            <a:noFill/>
          </a:ln>
        </p:spPr>
      </p:sp>
      <p:sp>
        <p:nvSpPr>
          <p:cNvPr id="9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2"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131DDB1-7837-421C-86A9-66242BC357B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ldImg"/>
          </p:nvPr>
        </p:nvSpPr>
        <p:spPr>
          <a:xfrm>
            <a:off x="685800" y="1143000"/>
            <a:ext cx="5486040" cy="3085920"/>
          </a:xfrm>
          <a:prstGeom prst="rect">
            <a:avLst/>
          </a:prstGeom>
          <a:ln w="0">
            <a:noFill/>
          </a:ln>
        </p:spPr>
      </p:sp>
      <p:sp>
        <p:nvSpPr>
          <p:cNvPr id="9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5"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79AB61B-2C45-42D2-99EA-59E2B4ABA81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PlaceHolder 1"/>
          <p:cNvSpPr>
            <a:spLocks noGrp="1"/>
          </p:cNvSpPr>
          <p:nvPr>
            <p:ph type="sldImg"/>
          </p:nvPr>
        </p:nvSpPr>
        <p:spPr>
          <a:xfrm>
            <a:off x="685800" y="1143000"/>
            <a:ext cx="5486040" cy="3085920"/>
          </a:xfrm>
          <a:prstGeom prst="rect">
            <a:avLst/>
          </a:prstGeom>
          <a:ln w="0">
            <a:noFill/>
          </a:ln>
        </p:spPr>
      </p:sp>
      <p:sp>
        <p:nvSpPr>
          <p:cNvPr id="9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8"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814261-82F2-4AB1-B935-1700D5D224B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 name="PlaceHolder 1"/>
          <p:cNvSpPr>
            <a:spLocks noGrp="1"/>
          </p:cNvSpPr>
          <p:nvPr>
            <p:ph type="sldImg"/>
          </p:nvPr>
        </p:nvSpPr>
        <p:spPr>
          <a:xfrm>
            <a:off x="685800" y="1143000"/>
            <a:ext cx="5486040" cy="3085920"/>
          </a:xfrm>
          <a:prstGeom prst="rect">
            <a:avLst/>
          </a:prstGeom>
          <a:ln w="0">
            <a:noFill/>
          </a:ln>
        </p:spPr>
      </p:sp>
      <p:sp>
        <p:nvSpPr>
          <p:cNvPr id="9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1"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3C479F-DE6E-417B-BB8C-5120B9DC6FC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sldImg"/>
          </p:nvPr>
        </p:nvSpPr>
        <p:spPr>
          <a:xfrm>
            <a:off x="685800" y="1143000"/>
            <a:ext cx="5486040" cy="3085920"/>
          </a:xfrm>
          <a:prstGeom prst="rect">
            <a:avLst/>
          </a:prstGeom>
          <a:ln w="0">
            <a:noFill/>
          </a:ln>
        </p:spPr>
      </p:sp>
      <p:sp>
        <p:nvSpPr>
          <p:cNvPr id="9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4"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E8FA87-8D33-4DFC-ACCC-33C2258FE31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PlaceHolder 1"/>
          <p:cNvSpPr>
            <a:spLocks noGrp="1"/>
          </p:cNvSpPr>
          <p:nvPr>
            <p:ph type="sldImg"/>
          </p:nvPr>
        </p:nvSpPr>
        <p:spPr>
          <a:xfrm>
            <a:off x="685800" y="1143000"/>
            <a:ext cx="5486040" cy="3085920"/>
          </a:xfrm>
          <a:prstGeom prst="rect">
            <a:avLst/>
          </a:prstGeom>
          <a:ln w="0">
            <a:noFill/>
          </a:ln>
        </p:spPr>
      </p:sp>
      <p:sp>
        <p:nvSpPr>
          <p:cNvPr id="9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7"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05A1A24-F475-4B3C-8181-C55E844BAFB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 name="PlaceHolder 1"/>
          <p:cNvSpPr>
            <a:spLocks noGrp="1"/>
          </p:cNvSpPr>
          <p:nvPr>
            <p:ph type="sldImg"/>
          </p:nvPr>
        </p:nvSpPr>
        <p:spPr>
          <a:xfrm>
            <a:off x="685800" y="1143000"/>
            <a:ext cx="5486040" cy="3085920"/>
          </a:xfrm>
          <a:prstGeom prst="rect">
            <a:avLst/>
          </a:prstGeom>
          <a:ln w="0">
            <a:noFill/>
          </a:ln>
        </p:spPr>
      </p:sp>
      <p:sp>
        <p:nvSpPr>
          <p:cNvPr id="9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0"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706838-A975-45F4-B614-B8E324F1F71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 name="PlaceHolder 1"/>
          <p:cNvSpPr>
            <a:spLocks noGrp="1"/>
          </p:cNvSpPr>
          <p:nvPr>
            <p:ph type="sldImg"/>
          </p:nvPr>
        </p:nvSpPr>
        <p:spPr>
          <a:xfrm>
            <a:off x="685800" y="1143000"/>
            <a:ext cx="5486040" cy="3085920"/>
          </a:xfrm>
          <a:prstGeom prst="rect">
            <a:avLst/>
          </a:prstGeom>
          <a:ln w="0">
            <a:noFill/>
          </a:ln>
        </p:spPr>
      </p:sp>
      <p:sp>
        <p:nvSpPr>
          <p:cNvPr id="9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3"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F584575-6DAA-40DD-8BC0-3DAFAC35E56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PlaceHolder 1"/>
          <p:cNvSpPr>
            <a:spLocks noGrp="1"/>
          </p:cNvSpPr>
          <p:nvPr>
            <p:ph type="sldImg"/>
          </p:nvPr>
        </p:nvSpPr>
        <p:spPr>
          <a:xfrm>
            <a:off x="685800" y="1143000"/>
            <a:ext cx="5486040" cy="3085920"/>
          </a:xfrm>
          <a:prstGeom prst="rect">
            <a:avLst/>
          </a:prstGeom>
          <a:ln w="0">
            <a:noFill/>
          </a:ln>
        </p:spPr>
      </p:sp>
      <p:sp>
        <p:nvSpPr>
          <p:cNvPr id="9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6"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91B0A53-62DF-4ECF-85AB-691DB99D2C7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PlaceHolder 1"/>
          <p:cNvSpPr>
            <a:spLocks noGrp="1"/>
          </p:cNvSpPr>
          <p:nvPr>
            <p:ph type="sldImg"/>
          </p:nvPr>
        </p:nvSpPr>
        <p:spPr>
          <a:xfrm>
            <a:off x="685800" y="1143000"/>
            <a:ext cx="5486040" cy="3085920"/>
          </a:xfrm>
          <a:prstGeom prst="rect">
            <a:avLst/>
          </a:prstGeom>
          <a:ln w="0">
            <a:noFill/>
          </a:ln>
        </p:spPr>
      </p:sp>
      <p:sp>
        <p:nvSpPr>
          <p:cNvPr id="9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9"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FE9ECD-C861-489F-BA4A-9274113DCD4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PlaceHolder 1"/>
          <p:cNvSpPr>
            <a:spLocks noGrp="1"/>
          </p:cNvSpPr>
          <p:nvPr>
            <p:ph type="sldImg"/>
          </p:nvPr>
        </p:nvSpPr>
        <p:spPr>
          <a:xfrm>
            <a:off x="685800" y="1143000"/>
            <a:ext cx="5486040" cy="3085920"/>
          </a:xfrm>
          <a:prstGeom prst="rect">
            <a:avLst/>
          </a:prstGeom>
          <a:ln w="0">
            <a:noFill/>
          </a:ln>
        </p:spPr>
      </p:sp>
      <p:sp>
        <p:nvSpPr>
          <p:cNvPr id="9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2"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50F4999-DB3E-4755-9823-A085562C80D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PlaceHolder 1"/>
          <p:cNvSpPr>
            <a:spLocks noGrp="1"/>
          </p:cNvSpPr>
          <p:nvPr>
            <p:ph type="sldImg"/>
          </p:nvPr>
        </p:nvSpPr>
        <p:spPr>
          <a:xfrm>
            <a:off x="685800" y="1143000"/>
            <a:ext cx="5486040" cy="3085920"/>
          </a:xfrm>
          <a:prstGeom prst="rect">
            <a:avLst/>
          </a:prstGeom>
          <a:ln w="0">
            <a:noFill/>
          </a:ln>
        </p:spPr>
      </p:sp>
      <p:sp>
        <p:nvSpPr>
          <p:cNvPr id="9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5"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7AD9CB-0EDB-4AF2-9C80-5C9403CB02B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PlaceHolder 1"/>
          <p:cNvSpPr>
            <a:spLocks noGrp="1"/>
          </p:cNvSpPr>
          <p:nvPr>
            <p:ph type="sldImg"/>
          </p:nvPr>
        </p:nvSpPr>
        <p:spPr>
          <a:xfrm>
            <a:off x="685800" y="1143000"/>
            <a:ext cx="5486040" cy="3085920"/>
          </a:xfrm>
          <a:prstGeom prst="rect">
            <a:avLst/>
          </a:prstGeom>
          <a:ln w="0">
            <a:noFill/>
          </a:ln>
        </p:spPr>
      </p:sp>
      <p:sp>
        <p:nvSpPr>
          <p:cNvPr id="9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8"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DFB850-E2CE-41B8-B2D9-C7A76FAED3C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 name="PlaceHolder 1"/>
          <p:cNvSpPr>
            <a:spLocks noGrp="1"/>
          </p:cNvSpPr>
          <p:nvPr>
            <p:ph type="sldImg"/>
          </p:nvPr>
        </p:nvSpPr>
        <p:spPr>
          <a:xfrm>
            <a:off x="685800" y="1143000"/>
            <a:ext cx="5486040" cy="3085920"/>
          </a:xfrm>
          <a:prstGeom prst="rect">
            <a:avLst/>
          </a:prstGeom>
          <a:ln w="0">
            <a:noFill/>
          </a:ln>
        </p:spPr>
      </p:sp>
      <p:sp>
        <p:nvSpPr>
          <p:cNvPr id="9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1"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EA2E468-1AD2-416B-9581-D3D921C9926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 name="PlaceHolder 1"/>
          <p:cNvSpPr>
            <a:spLocks noGrp="1"/>
          </p:cNvSpPr>
          <p:nvPr>
            <p:ph type="sldImg"/>
          </p:nvPr>
        </p:nvSpPr>
        <p:spPr>
          <a:xfrm>
            <a:off x="685800" y="1143000"/>
            <a:ext cx="5486040" cy="3085920"/>
          </a:xfrm>
          <a:prstGeom prst="rect">
            <a:avLst/>
          </a:prstGeom>
          <a:ln w="0">
            <a:noFill/>
          </a:ln>
        </p:spPr>
      </p:sp>
      <p:sp>
        <p:nvSpPr>
          <p:cNvPr id="9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4"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3960A96-A838-4B8A-B4CD-3ECD0E7E222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 name="PlaceHolder 1"/>
          <p:cNvSpPr>
            <a:spLocks noGrp="1"/>
          </p:cNvSpPr>
          <p:nvPr>
            <p:ph type="sldImg"/>
          </p:nvPr>
        </p:nvSpPr>
        <p:spPr>
          <a:xfrm>
            <a:off x="685800" y="1143000"/>
            <a:ext cx="5486040" cy="3085920"/>
          </a:xfrm>
          <a:prstGeom prst="rect">
            <a:avLst/>
          </a:prstGeom>
          <a:ln w="0">
            <a:noFill/>
          </a:ln>
        </p:spPr>
      </p:sp>
      <p:sp>
        <p:nvSpPr>
          <p:cNvPr id="9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7"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D17A24-E9AB-430E-B6BF-D2BA24B245F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 name="PlaceHolder 1"/>
          <p:cNvSpPr>
            <a:spLocks noGrp="1"/>
          </p:cNvSpPr>
          <p:nvPr>
            <p:ph type="sldImg"/>
          </p:nvPr>
        </p:nvSpPr>
        <p:spPr>
          <a:xfrm>
            <a:off x="685800" y="1143000"/>
            <a:ext cx="5486040" cy="3085920"/>
          </a:xfrm>
          <a:prstGeom prst="rect">
            <a:avLst/>
          </a:prstGeom>
          <a:ln w="0">
            <a:noFill/>
          </a:ln>
        </p:spPr>
      </p:sp>
      <p:sp>
        <p:nvSpPr>
          <p:cNvPr id="9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0"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76D04FE-8B07-4FD2-B39D-EE2FDB19A85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 name="PlaceHolder 1"/>
          <p:cNvSpPr>
            <a:spLocks noGrp="1"/>
          </p:cNvSpPr>
          <p:nvPr>
            <p:ph type="sldImg"/>
          </p:nvPr>
        </p:nvSpPr>
        <p:spPr>
          <a:xfrm>
            <a:off x="685800" y="1143000"/>
            <a:ext cx="5486040" cy="3085920"/>
          </a:xfrm>
          <a:prstGeom prst="rect">
            <a:avLst/>
          </a:prstGeom>
          <a:ln w="0">
            <a:noFill/>
          </a:ln>
        </p:spPr>
      </p:sp>
      <p:sp>
        <p:nvSpPr>
          <p:cNvPr id="10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3"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0E2AFEA-C558-47D1-B364-E198206081A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 name="PlaceHolder 1"/>
          <p:cNvSpPr>
            <a:spLocks noGrp="1"/>
          </p:cNvSpPr>
          <p:nvPr>
            <p:ph type="sldImg"/>
          </p:nvPr>
        </p:nvSpPr>
        <p:spPr>
          <a:xfrm>
            <a:off x="685800" y="1143000"/>
            <a:ext cx="5486040" cy="3085920"/>
          </a:xfrm>
          <a:prstGeom prst="rect">
            <a:avLst/>
          </a:prstGeom>
          <a:ln w="0">
            <a:noFill/>
          </a:ln>
        </p:spPr>
      </p:sp>
      <p:sp>
        <p:nvSpPr>
          <p:cNvPr id="10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6"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DCE455-161D-4AFD-9A72-DF66B907D3C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 name="PlaceHolder 1"/>
          <p:cNvSpPr>
            <a:spLocks noGrp="1"/>
          </p:cNvSpPr>
          <p:nvPr>
            <p:ph type="sldImg"/>
          </p:nvPr>
        </p:nvSpPr>
        <p:spPr>
          <a:xfrm>
            <a:off x="685800" y="1143000"/>
            <a:ext cx="5486040" cy="3085920"/>
          </a:xfrm>
          <a:prstGeom prst="rect">
            <a:avLst/>
          </a:prstGeom>
          <a:ln w="0">
            <a:noFill/>
          </a:ln>
        </p:spPr>
      </p:sp>
      <p:sp>
        <p:nvSpPr>
          <p:cNvPr id="10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9"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272611-5259-4B1E-B6F2-42A06CB5A60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 name="PlaceHolder 1"/>
          <p:cNvSpPr>
            <a:spLocks noGrp="1"/>
          </p:cNvSpPr>
          <p:nvPr>
            <p:ph type="sldImg"/>
          </p:nvPr>
        </p:nvSpPr>
        <p:spPr>
          <a:xfrm>
            <a:off x="685800" y="1143000"/>
            <a:ext cx="5486040" cy="3085920"/>
          </a:xfrm>
          <a:prstGeom prst="rect">
            <a:avLst/>
          </a:prstGeom>
          <a:ln w="0">
            <a:noFill/>
          </a:ln>
        </p:spPr>
      </p:sp>
      <p:sp>
        <p:nvSpPr>
          <p:cNvPr id="10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2"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3AC53C-2B6C-40F1-8CD5-A54A737154C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 name="PlaceHolder 1"/>
          <p:cNvSpPr>
            <a:spLocks noGrp="1"/>
          </p:cNvSpPr>
          <p:nvPr>
            <p:ph type="sldImg"/>
          </p:nvPr>
        </p:nvSpPr>
        <p:spPr>
          <a:xfrm>
            <a:off x="685800" y="1143000"/>
            <a:ext cx="5486040" cy="3085920"/>
          </a:xfrm>
          <a:prstGeom prst="rect">
            <a:avLst/>
          </a:prstGeom>
          <a:ln w="0">
            <a:noFill/>
          </a:ln>
        </p:spPr>
      </p:sp>
      <p:sp>
        <p:nvSpPr>
          <p:cNvPr id="10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5"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E67027-7541-46DC-A7F2-EC16C87E0D9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 name="PlaceHolder 1"/>
          <p:cNvSpPr>
            <a:spLocks noGrp="1"/>
          </p:cNvSpPr>
          <p:nvPr>
            <p:ph type="sldImg"/>
          </p:nvPr>
        </p:nvSpPr>
        <p:spPr>
          <a:xfrm>
            <a:off x="685800" y="1143000"/>
            <a:ext cx="5486040" cy="3085920"/>
          </a:xfrm>
          <a:prstGeom prst="rect">
            <a:avLst/>
          </a:prstGeom>
          <a:ln w="0">
            <a:noFill/>
          </a:ln>
        </p:spPr>
      </p:sp>
      <p:sp>
        <p:nvSpPr>
          <p:cNvPr id="102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1"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41650D-8867-4CAF-BFBF-5B0CFB57B44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PlaceHolder 1"/>
          <p:cNvSpPr>
            <a:spLocks noGrp="1"/>
          </p:cNvSpPr>
          <p:nvPr>
            <p:ph type="sldImg"/>
          </p:nvPr>
        </p:nvSpPr>
        <p:spPr>
          <a:xfrm>
            <a:off x="685800" y="1143000"/>
            <a:ext cx="5486040" cy="3085920"/>
          </a:xfrm>
          <a:prstGeom prst="rect">
            <a:avLst/>
          </a:prstGeom>
          <a:ln w="0">
            <a:noFill/>
          </a:ln>
        </p:spPr>
      </p:sp>
      <p:sp>
        <p:nvSpPr>
          <p:cNvPr id="102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4"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84C7C-85F4-4303-BD49-9372537E06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 name="PlaceHolder 1"/>
          <p:cNvSpPr>
            <a:spLocks noGrp="1"/>
          </p:cNvSpPr>
          <p:nvPr>
            <p:ph type="sldImg"/>
          </p:nvPr>
        </p:nvSpPr>
        <p:spPr>
          <a:xfrm>
            <a:off x="685800" y="1143000"/>
            <a:ext cx="5486040" cy="3085920"/>
          </a:xfrm>
          <a:prstGeom prst="rect">
            <a:avLst/>
          </a:prstGeom>
          <a:ln w="0">
            <a:noFill/>
          </a:ln>
        </p:spPr>
      </p:sp>
      <p:sp>
        <p:nvSpPr>
          <p:cNvPr id="102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7"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50EF2E6-C59E-4B39-A960-53FD1318ADBF}"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PlaceHolder 1"/>
          <p:cNvSpPr>
            <a:spLocks noGrp="1"/>
          </p:cNvSpPr>
          <p:nvPr>
            <p:ph type="sldImg"/>
          </p:nvPr>
        </p:nvSpPr>
        <p:spPr>
          <a:xfrm>
            <a:off x="685800" y="1143000"/>
            <a:ext cx="5486040" cy="3085920"/>
          </a:xfrm>
          <a:prstGeom prst="rect">
            <a:avLst/>
          </a:prstGeom>
          <a:ln w="0">
            <a:noFill/>
          </a:ln>
        </p:spPr>
      </p:sp>
      <p:sp>
        <p:nvSpPr>
          <p:cNvPr id="10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0"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9186B5-127A-45DF-B236-87D13297B97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 name="PlaceHolder 1"/>
          <p:cNvSpPr>
            <a:spLocks noGrp="1"/>
          </p:cNvSpPr>
          <p:nvPr>
            <p:ph type="sldImg"/>
          </p:nvPr>
        </p:nvSpPr>
        <p:spPr>
          <a:xfrm>
            <a:off x="685800" y="1143000"/>
            <a:ext cx="5486040" cy="3085920"/>
          </a:xfrm>
          <a:prstGeom prst="rect">
            <a:avLst/>
          </a:prstGeom>
          <a:ln w="0">
            <a:noFill/>
          </a:ln>
        </p:spPr>
      </p:sp>
      <p:sp>
        <p:nvSpPr>
          <p:cNvPr id="10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3"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4CD904-B0B0-4D40-AC58-A2D62B7CEA3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 name="PlaceHolder 1"/>
          <p:cNvSpPr>
            <a:spLocks noGrp="1"/>
          </p:cNvSpPr>
          <p:nvPr>
            <p:ph type="sldImg"/>
          </p:nvPr>
        </p:nvSpPr>
        <p:spPr>
          <a:xfrm>
            <a:off x="685800" y="1143000"/>
            <a:ext cx="5486040" cy="3085920"/>
          </a:xfrm>
          <a:prstGeom prst="rect">
            <a:avLst/>
          </a:prstGeom>
          <a:ln w="0">
            <a:noFill/>
          </a:ln>
        </p:spPr>
      </p:sp>
      <p:sp>
        <p:nvSpPr>
          <p:cNvPr id="10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6"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DDB9495-10E8-45E1-A5D9-EBA2B8130E1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PlaceHolder 1"/>
          <p:cNvSpPr>
            <a:spLocks noGrp="1"/>
          </p:cNvSpPr>
          <p:nvPr>
            <p:ph type="sldImg"/>
          </p:nvPr>
        </p:nvSpPr>
        <p:spPr>
          <a:xfrm>
            <a:off x="685800" y="1143000"/>
            <a:ext cx="5486040" cy="3085920"/>
          </a:xfrm>
          <a:prstGeom prst="rect">
            <a:avLst/>
          </a:prstGeom>
          <a:ln w="0">
            <a:noFill/>
          </a:ln>
        </p:spPr>
      </p:sp>
      <p:sp>
        <p:nvSpPr>
          <p:cNvPr id="10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9"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699D5B-A081-4B64-AE93-196587C1971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 name="PlaceHolder 1"/>
          <p:cNvSpPr>
            <a:spLocks noGrp="1"/>
          </p:cNvSpPr>
          <p:nvPr>
            <p:ph type="sldImg"/>
          </p:nvPr>
        </p:nvSpPr>
        <p:spPr>
          <a:xfrm>
            <a:off x="685800" y="1143000"/>
            <a:ext cx="5486040" cy="3085920"/>
          </a:xfrm>
          <a:prstGeom prst="rect">
            <a:avLst/>
          </a:prstGeom>
          <a:ln w="0">
            <a:noFill/>
          </a:ln>
        </p:spPr>
      </p:sp>
      <p:sp>
        <p:nvSpPr>
          <p:cNvPr id="10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2"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E2777C-2A04-4D26-B700-830C81062899}"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 name="PlaceHolder 1"/>
          <p:cNvSpPr>
            <a:spLocks noGrp="1"/>
          </p:cNvSpPr>
          <p:nvPr>
            <p:ph type="sldImg"/>
          </p:nvPr>
        </p:nvSpPr>
        <p:spPr>
          <a:xfrm>
            <a:off x="685800" y="1143000"/>
            <a:ext cx="5486040" cy="3085920"/>
          </a:xfrm>
          <a:prstGeom prst="rect">
            <a:avLst/>
          </a:prstGeom>
          <a:ln w="0">
            <a:noFill/>
          </a:ln>
        </p:spPr>
      </p:sp>
      <p:sp>
        <p:nvSpPr>
          <p:cNvPr id="10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5"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4E08395-781F-4F7B-9BDC-8F3375FF1615}"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 name="PlaceHolder 1"/>
          <p:cNvSpPr>
            <a:spLocks noGrp="1"/>
          </p:cNvSpPr>
          <p:nvPr>
            <p:ph type="sldImg"/>
          </p:nvPr>
        </p:nvSpPr>
        <p:spPr>
          <a:xfrm>
            <a:off x="685800" y="1143000"/>
            <a:ext cx="5486040" cy="3085920"/>
          </a:xfrm>
          <a:prstGeom prst="rect">
            <a:avLst/>
          </a:prstGeom>
          <a:ln w="0">
            <a:noFill/>
          </a:ln>
        </p:spPr>
      </p:sp>
      <p:sp>
        <p:nvSpPr>
          <p:cNvPr id="10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8"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60368B-1B52-403B-9791-8612886C9D07}"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 name="PlaceHolder 1"/>
          <p:cNvSpPr>
            <a:spLocks noGrp="1"/>
          </p:cNvSpPr>
          <p:nvPr>
            <p:ph type="sldImg"/>
          </p:nvPr>
        </p:nvSpPr>
        <p:spPr>
          <a:xfrm>
            <a:off x="685800" y="1143000"/>
            <a:ext cx="5486040" cy="3085920"/>
          </a:xfrm>
          <a:prstGeom prst="rect">
            <a:avLst/>
          </a:prstGeom>
          <a:ln w="0">
            <a:noFill/>
          </a:ln>
        </p:spPr>
      </p:sp>
      <p:sp>
        <p:nvSpPr>
          <p:cNvPr id="10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1"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FD04660-A2DE-4839-A30A-B487DAD0336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 name="PlaceHolder 1"/>
          <p:cNvSpPr>
            <a:spLocks noGrp="1"/>
          </p:cNvSpPr>
          <p:nvPr>
            <p:ph type="sldImg"/>
          </p:nvPr>
        </p:nvSpPr>
        <p:spPr>
          <a:xfrm>
            <a:off x="685800" y="1143000"/>
            <a:ext cx="5486040" cy="3085920"/>
          </a:xfrm>
          <a:prstGeom prst="rect">
            <a:avLst/>
          </a:prstGeom>
          <a:ln w="0">
            <a:noFill/>
          </a:ln>
        </p:spPr>
      </p:sp>
      <p:sp>
        <p:nvSpPr>
          <p:cNvPr id="10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4"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6280F7B-B272-4835-99FC-A71A9F6747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 name="PlaceHolder 1"/>
          <p:cNvSpPr>
            <a:spLocks noGrp="1"/>
          </p:cNvSpPr>
          <p:nvPr>
            <p:ph type="sldImg"/>
          </p:nvPr>
        </p:nvSpPr>
        <p:spPr>
          <a:xfrm>
            <a:off x="685800" y="1143000"/>
            <a:ext cx="5486040" cy="3085920"/>
          </a:xfrm>
          <a:prstGeom prst="rect">
            <a:avLst/>
          </a:prstGeom>
          <a:ln w="0">
            <a:noFill/>
          </a:ln>
        </p:spPr>
      </p:sp>
      <p:sp>
        <p:nvSpPr>
          <p:cNvPr id="10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7"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5EDD946-C7DA-4AE7-A5E9-C6233EEF508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 name="PlaceHolder 1"/>
          <p:cNvSpPr>
            <a:spLocks noGrp="1"/>
          </p:cNvSpPr>
          <p:nvPr>
            <p:ph type="sldImg"/>
          </p:nvPr>
        </p:nvSpPr>
        <p:spPr>
          <a:xfrm>
            <a:off x="685800" y="1143000"/>
            <a:ext cx="5486040" cy="3085920"/>
          </a:xfrm>
          <a:prstGeom prst="rect">
            <a:avLst/>
          </a:prstGeom>
          <a:ln w="0">
            <a:noFill/>
          </a:ln>
        </p:spPr>
      </p:sp>
      <p:sp>
        <p:nvSpPr>
          <p:cNvPr id="10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0"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0B650D-1A80-4F4A-9F37-46651DC0FB4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PlaceHolder 1"/>
          <p:cNvSpPr>
            <a:spLocks noGrp="1"/>
          </p:cNvSpPr>
          <p:nvPr>
            <p:ph type="sldImg"/>
          </p:nvPr>
        </p:nvSpPr>
        <p:spPr>
          <a:xfrm>
            <a:off x="685800" y="1143000"/>
            <a:ext cx="5486040" cy="3085920"/>
          </a:xfrm>
          <a:prstGeom prst="rect">
            <a:avLst/>
          </a:prstGeom>
          <a:ln w="0">
            <a:noFill/>
          </a:ln>
        </p:spPr>
      </p:sp>
      <p:sp>
        <p:nvSpPr>
          <p:cNvPr id="10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3"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73FA5D9-8BDA-465E-AA50-8AEF45CC593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 name="PlaceHolder 1"/>
          <p:cNvSpPr>
            <a:spLocks noGrp="1"/>
          </p:cNvSpPr>
          <p:nvPr>
            <p:ph type="sldImg"/>
          </p:nvPr>
        </p:nvSpPr>
        <p:spPr>
          <a:xfrm>
            <a:off x="685800" y="1143000"/>
            <a:ext cx="5486040" cy="3085920"/>
          </a:xfrm>
          <a:prstGeom prst="rect">
            <a:avLst/>
          </a:prstGeom>
          <a:ln w="0">
            <a:noFill/>
          </a:ln>
        </p:spPr>
      </p:sp>
      <p:sp>
        <p:nvSpPr>
          <p:cNvPr id="10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6"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BEA1740-8CAA-442A-ACC4-AC4A2561A17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 name="PlaceHolder 1"/>
          <p:cNvSpPr>
            <a:spLocks noGrp="1"/>
          </p:cNvSpPr>
          <p:nvPr>
            <p:ph type="sldImg"/>
          </p:nvPr>
        </p:nvSpPr>
        <p:spPr>
          <a:xfrm>
            <a:off x="685800" y="1143000"/>
            <a:ext cx="5486040" cy="3085920"/>
          </a:xfrm>
          <a:prstGeom prst="rect">
            <a:avLst/>
          </a:prstGeom>
          <a:ln w="0">
            <a:noFill/>
          </a:ln>
        </p:spPr>
      </p:sp>
      <p:sp>
        <p:nvSpPr>
          <p:cNvPr id="10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9"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0F9F93-ADFE-46CC-A6FD-BAE53A2688E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 name="PlaceHolder 1"/>
          <p:cNvSpPr>
            <a:spLocks noGrp="1"/>
          </p:cNvSpPr>
          <p:nvPr>
            <p:ph type="sldImg"/>
          </p:nvPr>
        </p:nvSpPr>
        <p:spPr>
          <a:xfrm>
            <a:off x="685800" y="1143000"/>
            <a:ext cx="5486040" cy="3085920"/>
          </a:xfrm>
          <a:prstGeom prst="rect">
            <a:avLst/>
          </a:prstGeom>
          <a:ln w="0">
            <a:noFill/>
          </a:ln>
        </p:spPr>
      </p:sp>
      <p:sp>
        <p:nvSpPr>
          <p:cNvPr id="10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2"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92ECF67-FFC8-49DE-950C-0F48D4A6740D}"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type="sldImg"/>
          </p:nvPr>
        </p:nvSpPr>
        <p:spPr>
          <a:xfrm>
            <a:off x="685800" y="1143000"/>
            <a:ext cx="5486040" cy="3085920"/>
          </a:xfrm>
          <a:prstGeom prst="rect">
            <a:avLst/>
          </a:prstGeom>
          <a:ln w="0">
            <a:noFill/>
          </a:ln>
        </p:spPr>
      </p:sp>
      <p:sp>
        <p:nvSpPr>
          <p:cNvPr id="10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5"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BEB8E37-85F4-45A6-9448-AA5213CA3BD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 name="PlaceHolder 1"/>
          <p:cNvSpPr>
            <a:spLocks noGrp="1"/>
          </p:cNvSpPr>
          <p:nvPr>
            <p:ph type="sldImg"/>
          </p:nvPr>
        </p:nvSpPr>
        <p:spPr>
          <a:xfrm>
            <a:off x="685800" y="1143000"/>
            <a:ext cx="5486040" cy="3085920"/>
          </a:xfrm>
          <a:prstGeom prst="rect">
            <a:avLst/>
          </a:prstGeom>
          <a:ln w="0">
            <a:noFill/>
          </a:ln>
        </p:spPr>
      </p:sp>
      <p:sp>
        <p:nvSpPr>
          <p:cNvPr id="10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8"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C05BB2-1EF5-466D-9634-EECD354C3A2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type="sldImg"/>
          </p:nvPr>
        </p:nvSpPr>
        <p:spPr>
          <a:xfrm>
            <a:off x="685800" y="1143000"/>
            <a:ext cx="5486040" cy="3085920"/>
          </a:xfrm>
          <a:prstGeom prst="rect">
            <a:avLst/>
          </a:prstGeom>
          <a:ln w="0">
            <a:noFill/>
          </a:ln>
        </p:spPr>
      </p:sp>
      <p:sp>
        <p:nvSpPr>
          <p:cNvPr id="10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1"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CEDCE95-DD54-4EEB-BDB6-811539FD456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 name="PlaceHolder 1"/>
          <p:cNvSpPr>
            <a:spLocks noGrp="1"/>
          </p:cNvSpPr>
          <p:nvPr>
            <p:ph type="sldImg"/>
          </p:nvPr>
        </p:nvSpPr>
        <p:spPr>
          <a:xfrm>
            <a:off x="685800" y="1143000"/>
            <a:ext cx="5486040" cy="3085920"/>
          </a:xfrm>
          <a:prstGeom prst="rect">
            <a:avLst/>
          </a:prstGeom>
          <a:ln w="0">
            <a:noFill/>
          </a:ln>
        </p:spPr>
      </p:sp>
      <p:sp>
        <p:nvSpPr>
          <p:cNvPr id="10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4"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124822-B3C6-4F15-9A30-D1EA5679880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type="sldImg"/>
          </p:nvPr>
        </p:nvSpPr>
        <p:spPr>
          <a:xfrm>
            <a:off x="685800" y="1143000"/>
            <a:ext cx="5486040" cy="3085920"/>
          </a:xfrm>
          <a:prstGeom prst="rect">
            <a:avLst/>
          </a:prstGeom>
          <a:ln w="0">
            <a:noFill/>
          </a:ln>
        </p:spPr>
      </p:sp>
      <p:sp>
        <p:nvSpPr>
          <p:cNvPr id="10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7"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CEDE58C-2989-4DCD-9654-B0296F0CA968}"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 name="PlaceHolder 1"/>
          <p:cNvSpPr>
            <a:spLocks noGrp="1"/>
          </p:cNvSpPr>
          <p:nvPr>
            <p:ph type="sldImg"/>
          </p:nvPr>
        </p:nvSpPr>
        <p:spPr>
          <a:xfrm>
            <a:off x="685800" y="1143000"/>
            <a:ext cx="5486040" cy="3085920"/>
          </a:xfrm>
          <a:prstGeom prst="rect">
            <a:avLst/>
          </a:prstGeom>
          <a:ln w="0">
            <a:noFill/>
          </a:ln>
        </p:spPr>
      </p:sp>
      <p:sp>
        <p:nvSpPr>
          <p:cNvPr id="10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0"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60E45A-9E3A-4B86-8D89-7F54F93E546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type="sldImg"/>
          </p:nvPr>
        </p:nvSpPr>
        <p:spPr>
          <a:xfrm>
            <a:off x="685800" y="1143000"/>
            <a:ext cx="5486040" cy="3085920"/>
          </a:xfrm>
          <a:prstGeom prst="rect">
            <a:avLst/>
          </a:prstGeom>
          <a:ln w="0">
            <a:noFill/>
          </a:ln>
        </p:spPr>
      </p:sp>
      <p:sp>
        <p:nvSpPr>
          <p:cNvPr id="10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3"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4237E0-51A0-472A-AAEF-CD582D1E478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 name="PlaceHolder 1"/>
          <p:cNvSpPr>
            <a:spLocks noGrp="1"/>
          </p:cNvSpPr>
          <p:nvPr>
            <p:ph type="sldImg"/>
          </p:nvPr>
        </p:nvSpPr>
        <p:spPr>
          <a:xfrm>
            <a:off x="685800" y="1143000"/>
            <a:ext cx="5486040" cy="3085920"/>
          </a:xfrm>
          <a:prstGeom prst="rect">
            <a:avLst/>
          </a:prstGeom>
          <a:ln w="0">
            <a:noFill/>
          </a:ln>
        </p:spPr>
      </p:sp>
      <p:sp>
        <p:nvSpPr>
          <p:cNvPr id="10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6"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DA98687-15F3-49F0-A37A-F0D2D4FA2E26}"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type="sldImg"/>
          </p:nvPr>
        </p:nvSpPr>
        <p:spPr>
          <a:xfrm>
            <a:off x="685800" y="1143000"/>
            <a:ext cx="5486040" cy="3085920"/>
          </a:xfrm>
          <a:prstGeom prst="rect">
            <a:avLst/>
          </a:prstGeom>
          <a:ln w="0">
            <a:noFill/>
          </a:ln>
        </p:spPr>
      </p:sp>
      <p:sp>
        <p:nvSpPr>
          <p:cNvPr id="10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9"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60A1BEC-4743-4864-BE2B-9FB95142716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 name="PlaceHolder 1"/>
          <p:cNvSpPr>
            <a:spLocks noGrp="1"/>
          </p:cNvSpPr>
          <p:nvPr>
            <p:ph type="sldImg"/>
          </p:nvPr>
        </p:nvSpPr>
        <p:spPr>
          <a:xfrm>
            <a:off x="685800" y="1143000"/>
            <a:ext cx="5486040" cy="3085920"/>
          </a:xfrm>
          <a:prstGeom prst="rect">
            <a:avLst/>
          </a:prstGeom>
          <a:ln w="0">
            <a:noFill/>
          </a:ln>
        </p:spPr>
      </p:sp>
      <p:sp>
        <p:nvSpPr>
          <p:cNvPr id="11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2"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2B53639-017C-4B1E-B337-54500CEBF7D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type="sldImg"/>
          </p:nvPr>
        </p:nvSpPr>
        <p:spPr>
          <a:xfrm>
            <a:off x="685800" y="1143000"/>
            <a:ext cx="5486040" cy="3085920"/>
          </a:xfrm>
          <a:prstGeom prst="rect">
            <a:avLst/>
          </a:prstGeom>
          <a:ln w="0">
            <a:noFill/>
          </a:ln>
        </p:spPr>
      </p:sp>
      <p:sp>
        <p:nvSpPr>
          <p:cNvPr id="11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5"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0D9E6A-0AD8-4144-8AF0-2F184C39BD2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PlaceHolder 1"/>
          <p:cNvSpPr>
            <a:spLocks noGrp="1"/>
          </p:cNvSpPr>
          <p:nvPr>
            <p:ph type="sldImg"/>
          </p:nvPr>
        </p:nvSpPr>
        <p:spPr>
          <a:xfrm>
            <a:off x="685800" y="1143000"/>
            <a:ext cx="5486040" cy="3085920"/>
          </a:xfrm>
          <a:prstGeom prst="rect">
            <a:avLst/>
          </a:prstGeom>
          <a:ln w="0">
            <a:noFill/>
          </a:ln>
        </p:spPr>
      </p:sp>
      <p:sp>
        <p:nvSpPr>
          <p:cNvPr id="11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8"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E65F1D2-6983-4EA0-BDE4-8C4281AEF37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sldImg"/>
          </p:nvPr>
        </p:nvSpPr>
        <p:spPr>
          <a:xfrm>
            <a:off x="685800" y="1143000"/>
            <a:ext cx="5486040" cy="3085920"/>
          </a:xfrm>
          <a:prstGeom prst="rect">
            <a:avLst/>
          </a:prstGeom>
          <a:ln w="0">
            <a:noFill/>
          </a:ln>
        </p:spPr>
      </p:sp>
      <p:sp>
        <p:nvSpPr>
          <p:cNvPr id="11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1"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89F0110-6F8E-4AD8-BE5B-323AF408FB1B}"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sldImg"/>
          </p:nvPr>
        </p:nvSpPr>
        <p:spPr>
          <a:xfrm>
            <a:off x="685800" y="1143000"/>
            <a:ext cx="5486040" cy="3085920"/>
          </a:xfrm>
          <a:prstGeom prst="rect">
            <a:avLst/>
          </a:prstGeom>
          <a:ln w="0">
            <a:noFill/>
          </a:ln>
        </p:spPr>
      </p:sp>
      <p:sp>
        <p:nvSpPr>
          <p:cNvPr id="11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4"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F917C61-CB60-4E86-B43F-A223D9160474}"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Img"/>
          </p:nvPr>
        </p:nvSpPr>
        <p:spPr>
          <a:xfrm>
            <a:off x="685800" y="1143000"/>
            <a:ext cx="5486040" cy="3085920"/>
          </a:xfrm>
          <a:prstGeom prst="rect">
            <a:avLst/>
          </a:prstGeom>
          <a:ln w="0">
            <a:noFill/>
          </a:ln>
        </p:spPr>
      </p:sp>
      <p:sp>
        <p:nvSpPr>
          <p:cNvPr id="11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7"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C3F41F9-4E9A-406D-9C18-3A9A05670712}"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sldImg"/>
          </p:nvPr>
        </p:nvSpPr>
        <p:spPr>
          <a:xfrm>
            <a:off x="685800" y="1143000"/>
            <a:ext cx="5486040" cy="3085920"/>
          </a:xfrm>
          <a:prstGeom prst="rect">
            <a:avLst/>
          </a:prstGeom>
          <a:ln w="0">
            <a:noFill/>
          </a:ln>
        </p:spPr>
      </p:sp>
      <p:sp>
        <p:nvSpPr>
          <p:cNvPr id="11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0"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DC752C-8B9B-4FAF-B928-B914AFA4C093}"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685800" y="1143000"/>
            <a:ext cx="5486040" cy="3085920"/>
          </a:xfrm>
          <a:prstGeom prst="rect">
            <a:avLst/>
          </a:prstGeom>
          <a:ln w="0">
            <a:noFill/>
          </a:ln>
        </p:spPr>
      </p:sp>
      <p:sp>
        <p:nvSpPr>
          <p:cNvPr id="11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3"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6BAEDD3-723B-4339-9C68-0202259B3ED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685800" y="1143000"/>
            <a:ext cx="5486040" cy="3085920"/>
          </a:xfrm>
          <a:prstGeom prst="rect">
            <a:avLst/>
          </a:prstGeom>
          <a:ln w="0">
            <a:noFill/>
          </a:ln>
        </p:spPr>
      </p:sp>
      <p:sp>
        <p:nvSpPr>
          <p:cNvPr id="11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6"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EAA846-0489-4BF6-881B-A53B9D1D10CA}"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685800" y="1143000"/>
            <a:ext cx="5486040" cy="3085920"/>
          </a:xfrm>
          <a:prstGeom prst="rect">
            <a:avLst/>
          </a:prstGeom>
          <a:ln w="0">
            <a:noFill/>
          </a:ln>
        </p:spPr>
      </p:sp>
      <p:sp>
        <p:nvSpPr>
          <p:cNvPr id="112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9"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E5ECEA-5348-4AF3-9E54-792C88A4251C}"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685800" y="1143000"/>
            <a:ext cx="5486040" cy="3085920"/>
          </a:xfrm>
          <a:prstGeom prst="rect">
            <a:avLst/>
          </a:prstGeom>
          <a:ln w="0">
            <a:noFill/>
          </a:ln>
        </p:spPr>
      </p:sp>
      <p:sp>
        <p:nvSpPr>
          <p:cNvPr id="113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2"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B737525-987B-452A-BC63-285F5C3E064E}"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 name="Shape 0"/>
          <p:cNvSpPr/>
          <p:nvPr/>
        </p:nvSpPr>
        <p:spPr>
          <a:xfrm>
            <a:off x="8778240" y="-2194560"/>
            <a:ext cx="5486040" cy="54860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Shape 1"/>
          <p:cNvSpPr/>
          <p:nvPr/>
        </p:nvSpPr>
        <p:spPr>
          <a:xfrm>
            <a:off x="-2011680" y="4206240"/>
            <a:ext cx="4205880" cy="420588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 name="Shape 2"/>
          <p:cNvSpPr/>
          <p:nvPr/>
        </p:nvSpPr>
        <p:spPr>
          <a:xfrm>
            <a:off x="5943600" y="5212080"/>
            <a:ext cx="1462680" cy="1462680"/>
          </a:xfrm>
          <a:prstGeom prst="ellipse">
            <a:avLst/>
          </a:prstGeom>
          <a:solidFill>
            <a:srgbClr val="4C112D">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3" name="Image 0" descr="/home/claude/numpy_deck/assets/logo_full.png"/>
          <p:cNvPicPr/>
          <p:nvPr/>
        </p:nvPicPr>
        <p:blipFill>
          <a:blip r:embed="rId1"/>
          <a:stretch/>
        </p:blipFill>
        <p:spPr>
          <a:xfrm>
            <a:off x="685800" y="502920"/>
            <a:ext cx="2651400" cy="861840"/>
          </a:xfrm>
          <a:prstGeom prst="rect">
            <a:avLst/>
          </a:prstGeom>
          <a:noFill/>
          <a:ln w="0">
            <a:noFill/>
          </a:ln>
        </p:spPr>
      </p:pic>
      <p:sp>
        <p:nvSpPr>
          <p:cNvPr id="14" name="Shape 4"/>
          <p:cNvSpPr/>
          <p:nvPr/>
        </p:nvSpPr>
        <p:spPr>
          <a:xfrm>
            <a:off x="713160" y="2331720"/>
            <a:ext cx="374868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 name="Text 5"/>
          <p:cNvSpPr/>
          <p:nvPr/>
        </p:nvSpPr>
        <p:spPr>
          <a:xfrm>
            <a:off x="713160" y="2331720"/>
            <a:ext cx="374868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E0E7FF"/>
                </a:solidFill>
                <a:effectLst/>
                <a:uFillTx/>
                <a:latin typeface="Plus Jakarta Sans"/>
                <a:ea typeface="Plus Jakarta Sans"/>
              </a:rPr>
              <a:t>AI &amp; ML PLAYGROUND  ·  MODULE 04</a:t>
            </a:r>
            <a:endParaRPr lang="en-US" sz="1100" b="0" u="none" strike="noStrike">
              <a:solidFill>
                <a:srgbClr val="FFFFFF"/>
              </a:solidFill>
              <a:effectLst/>
              <a:uFillTx/>
              <a:latin typeface="Arial"/>
            </a:endParaRPr>
          </a:p>
        </p:txBody>
      </p:sp>
      <p:sp>
        <p:nvSpPr>
          <p:cNvPr id="16" name="Text 6"/>
          <p:cNvSpPr/>
          <p:nvPr/>
        </p:nvSpPr>
        <p:spPr>
          <a:xfrm>
            <a:off x="658440" y="2788920"/>
            <a:ext cx="9600840" cy="1462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6400" b="1" u="none" spc="-99" strike="noStrike">
                <a:solidFill>
                  <a:srgbClr val="F1F5F9"/>
                </a:solidFill>
                <a:effectLst/>
                <a:uFillTx/>
                <a:latin typeface="Bricolage Grotesque"/>
                <a:ea typeface="Bricolage Grotesque"/>
              </a:rPr>
              <a:t>NumPy</a:t>
            </a:r>
            <a:endParaRPr lang="en-US" sz="6400" b="0" u="none" strike="noStrike">
              <a:solidFill>
                <a:srgbClr val="FFFFFF"/>
              </a:solidFill>
              <a:effectLst/>
              <a:uFillTx/>
              <a:latin typeface="Arial"/>
            </a:endParaRPr>
          </a:p>
        </p:txBody>
      </p:sp>
      <p:sp>
        <p:nvSpPr>
          <p:cNvPr id="17" name="Text 7"/>
          <p:cNvSpPr/>
          <p:nvPr/>
        </p:nvSpPr>
        <p:spPr>
          <a:xfrm>
            <a:off x="713160" y="4160520"/>
            <a:ext cx="841212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94A3B8"/>
                </a:solidFill>
                <a:effectLst/>
                <a:uFillTx/>
                <a:latin typeface="Hanken Grotesk"/>
                <a:ea typeface="Hanken Grotesk"/>
              </a:rPr>
              <a:t>Numerical computing in Python — the array engine every Data Science and ML tool is built on.</a:t>
            </a:r>
            <a:endParaRPr lang="en-US" sz="1600" b="0" u="none" strike="noStrike">
              <a:solidFill>
                <a:srgbClr val="FFFFFF"/>
              </a:solidFill>
              <a:effectLst/>
              <a:uFillTx/>
              <a:latin typeface="Arial"/>
            </a:endParaRPr>
          </a:p>
        </p:txBody>
      </p:sp>
      <p:sp>
        <p:nvSpPr>
          <p:cNvPr id="18" name="Shape 8"/>
          <p:cNvSpPr/>
          <p:nvPr/>
        </p:nvSpPr>
        <p:spPr>
          <a:xfrm>
            <a:off x="713160" y="5074920"/>
            <a:ext cx="2926080" cy="360"/>
          </a:xfrm>
          <a:prstGeom prst="line">
            <a:avLst/>
          </a:prstGeom>
          <a:ln w="12700">
            <a:solidFill>
              <a:srgbClr val="1E293B"/>
            </a:solidFill>
            <a:roun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19" name="Text 9"/>
          <p:cNvSpPr/>
          <p:nvPr/>
        </p:nvSpPr>
        <p:spPr>
          <a:xfrm>
            <a:off x="713160" y="5166360"/>
            <a:ext cx="45716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2DD4BF"/>
                </a:solidFill>
                <a:effectLst/>
                <a:uFillTx/>
                <a:latin typeface="Plus Jakarta Sans"/>
                <a:ea typeface="Plus Jakarta Sans"/>
              </a:rPr>
              <a:t xml:space="preserve">CodeByPaxto: The AI &amp; ML Playground  ·  Hafiz Waseem Ahmed (Paxto)</a:t>
            </a:r>
            <a:endParaRPr lang="en-US" sz="1300" b="0" u="none" strike="noStrike">
              <a:solidFill>
                <a:srgbClr val="FFFFFF"/>
              </a:solidFill>
              <a:effectLst/>
              <a:uFillTx/>
              <a:latin typeface="Arial"/>
            </a:endParaRPr>
          </a:p>
        </p:txBody>
      </p:sp>
      <p:sp>
        <p:nvSpPr>
          <p:cNvPr id="20"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01</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pic>
        <p:nvPicPr>
          <p:cNvPr id="21" name="Image 0" descr="/home/claude/numpy_deck/assets/logo_icon.png"/>
          <p:cNvPicPr/>
          <p:nvPr/>
        </p:nvPicPr>
        <p:blipFill>
          <a:blip r:embed="rId1"/>
          <a:stretch/>
        </p:blipFill>
        <p:spPr>
          <a:xfrm>
            <a:off x="640080" y="502920"/>
            <a:ext cx="402120" cy="482400"/>
          </a:xfrm>
          <a:prstGeom prst="rect">
            <a:avLst/>
          </a:prstGeom>
          <a:noFill/>
          <a:ln w="0">
            <a:noFill/>
          </a:ln>
        </p:spPr>
      </p:pic>
      <p:sp>
        <p:nvSpPr>
          <p:cNvPr id="22" name="Text 0"/>
          <p:cNvSpPr/>
          <p:nvPr/>
        </p:nvSpPr>
        <p:spPr>
          <a:xfrm>
            <a:off x="640080" y="1188720"/>
            <a:ext cx="54860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2DD4BF"/>
                </a:solidFill>
                <a:effectLst/>
                <a:uFillTx/>
                <a:latin typeface="Plus Jakarta Sans"/>
                <a:ea typeface="Plus Jakarta Sans"/>
              </a:rPr>
              <a:t>WHERE THIS FITS</a:t>
            </a:r>
            <a:endParaRPr lang="en-US" sz="1200" b="0" u="none" strike="noStrike">
              <a:solidFill>
                <a:srgbClr val="FFFFFF"/>
              </a:solidFill>
              <a:effectLst/>
              <a:uFillTx/>
              <a:latin typeface="Arial"/>
            </a:endParaRPr>
          </a:p>
        </p:txBody>
      </p:sp>
      <p:sp>
        <p:nvSpPr>
          <p:cNvPr id="23" name="Text 1"/>
          <p:cNvSpPr/>
          <p:nvPr/>
        </p:nvSpPr>
        <p:spPr>
          <a:xfrm>
            <a:off x="640080" y="1536120"/>
            <a:ext cx="1005804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1F5F9"/>
                </a:solidFill>
                <a:effectLst/>
                <a:uFillTx/>
                <a:latin typeface="Bricolage Grotesque"/>
                <a:ea typeface="Bricolage Grotesque"/>
              </a:rPr>
              <a:t>The AI &amp; ML Playground Roadmap</a:t>
            </a:r>
            <a:endParaRPr lang="en-US" sz="3000" b="0" u="none" strike="noStrike">
              <a:solidFill>
                <a:srgbClr val="FFFFFF"/>
              </a:solidFill>
              <a:effectLst/>
              <a:uFillTx/>
              <a:latin typeface="Arial"/>
            </a:endParaRPr>
          </a:p>
        </p:txBody>
      </p:sp>
      <p:sp>
        <p:nvSpPr>
          <p:cNvPr id="24" name="Shape 2"/>
          <p:cNvSpPr/>
          <p:nvPr/>
        </p:nvSpPr>
        <p:spPr>
          <a:xfrm>
            <a:off x="6400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 name="Text 3"/>
          <p:cNvSpPr/>
          <p:nvPr/>
        </p:nvSpPr>
        <p:spPr>
          <a:xfrm>
            <a:off x="6858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Python</a:t>
            </a:r>
            <a:endParaRPr lang="en-US" sz="950" b="0" u="none" strike="noStrike">
              <a:solidFill>
                <a:srgbClr val="FFFFFF"/>
              </a:solidFill>
              <a:effectLst/>
              <a:uFillTx/>
              <a:latin typeface="Arial"/>
            </a:endParaRPr>
          </a:p>
        </p:txBody>
      </p:sp>
      <p:sp>
        <p:nvSpPr>
          <p:cNvPr id="26" name="Text 4"/>
          <p:cNvSpPr/>
          <p:nvPr/>
        </p:nvSpPr>
        <p:spPr>
          <a:xfrm>
            <a:off x="17352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27" name="Shape 5"/>
          <p:cNvSpPr/>
          <p:nvPr/>
        </p:nvSpPr>
        <p:spPr>
          <a:xfrm>
            <a:off x="18633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Text 6"/>
          <p:cNvSpPr/>
          <p:nvPr/>
        </p:nvSpPr>
        <p:spPr>
          <a:xfrm>
            <a:off x="19090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Math for DS</a:t>
            </a:r>
            <a:endParaRPr lang="en-US" sz="950" b="0" u="none" strike="noStrike">
              <a:solidFill>
                <a:srgbClr val="FFFFFF"/>
              </a:solidFill>
              <a:effectLst/>
              <a:uFillTx/>
              <a:latin typeface="Arial"/>
            </a:endParaRPr>
          </a:p>
        </p:txBody>
      </p:sp>
      <p:sp>
        <p:nvSpPr>
          <p:cNvPr id="29" name="Text 7"/>
          <p:cNvSpPr/>
          <p:nvPr/>
        </p:nvSpPr>
        <p:spPr>
          <a:xfrm>
            <a:off x="29584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0" name="Shape 8"/>
          <p:cNvSpPr/>
          <p:nvPr/>
        </p:nvSpPr>
        <p:spPr>
          <a:xfrm>
            <a:off x="30866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Text 9"/>
          <p:cNvSpPr/>
          <p:nvPr/>
        </p:nvSpPr>
        <p:spPr>
          <a:xfrm>
            <a:off x="31323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Git &amp; GitHub</a:t>
            </a:r>
            <a:endParaRPr lang="en-US" sz="950" b="0" u="none" strike="noStrike">
              <a:solidFill>
                <a:srgbClr val="FFFFFF"/>
              </a:solidFill>
              <a:effectLst/>
              <a:uFillTx/>
              <a:latin typeface="Arial"/>
            </a:endParaRPr>
          </a:p>
        </p:txBody>
      </p:sp>
      <p:sp>
        <p:nvSpPr>
          <p:cNvPr id="32" name="Text 10"/>
          <p:cNvSpPr/>
          <p:nvPr/>
        </p:nvSpPr>
        <p:spPr>
          <a:xfrm>
            <a:off x="41817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3" name="Shape 11"/>
          <p:cNvSpPr/>
          <p:nvPr/>
        </p:nvSpPr>
        <p:spPr>
          <a:xfrm>
            <a:off x="4309920" y="3977640"/>
            <a:ext cx="1094760" cy="868320"/>
          </a:xfrm>
          <a:prstGeom prst="roundRect">
            <a:avLst>
              <a:gd name="adj" fmla="val 8421"/>
            </a:avLst>
          </a:prstGeom>
          <a:solidFill>
            <a:srgbClr val="818CF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 name="Text 12"/>
          <p:cNvSpPr/>
          <p:nvPr/>
        </p:nvSpPr>
        <p:spPr>
          <a:xfrm>
            <a:off x="43556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B0F17"/>
                </a:solidFill>
                <a:effectLst/>
                <a:uFillTx/>
                <a:latin typeface="Plus Jakarta Sans"/>
                <a:ea typeface="Plus Jakarta Sans"/>
              </a:rPr>
              <a:t>NumPy</a:t>
            </a:r>
            <a:endParaRPr lang="en-US" sz="950" b="0" u="none" strike="noStrike">
              <a:solidFill>
                <a:srgbClr val="FFFFFF"/>
              </a:solidFill>
              <a:effectLst/>
              <a:uFillTx/>
              <a:latin typeface="Arial"/>
            </a:endParaRPr>
          </a:p>
        </p:txBody>
      </p:sp>
      <p:sp>
        <p:nvSpPr>
          <p:cNvPr id="35" name="Text 13"/>
          <p:cNvSpPr/>
          <p:nvPr/>
        </p:nvSpPr>
        <p:spPr>
          <a:xfrm>
            <a:off x="540504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6" name="Shape 14"/>
          <p:cNvSpPr/>
          <p:nvPr/>
        </p:nvSpPr>
        <p:spPr>
          <a:xfrm>
            <a:off x="553320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Text 15"/>
          <p:cNvSpPr/>
          <p:nvPr/>
        </p:nvSpPr>
        <p:spPr>
          <a:xfrm>
            <a:off x="557892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Pandas</a:t>
            </a:r>
            <a:endParaRPr lang="en-US" sz="950" b="0" u="none" strike="noStrike">
              <a:solidFill>
                <a:srgbClr val="FFFFFF"/>
              </a:solidFill>
              <a:effectLst/>
              <a:uFillTx/>
              <a:latin typeface="Arial"/>
            </a:endParaRPr>
          </a:p>
        </p:txBody>
      </p:sp>
      <p:sp>
        <p:nvSpPr>
          <p:cNvPr id="38" name="Text 16"/>
          <p:cNvSpPr/>
          <p:nvPr/>
        </p:nvSpPr>
        <p:spPr>
          <a:xfrm>
            <a:off x="662832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39" name="Shape 17"/>
          <p:cNvSpPr/>
          <p:nvPr/>
        </p:nvSpPr>
        <p:spPr>
          <a:xfrm>
            <a:off x="675648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 name="Text 18"/>
          <p:cNvSpPr/>
          <p:nvPr/>
        </p:nvSpPr>
        <p:spPr>
          <a:xfrm>
            <a:off x="680220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Matplotlib</a:t>
            </a:r>
            <a:endParaRPr lang="en-US" sz="950" b="0" u="none" strike="noStrike">
              <a:solidFill>
                <a:srgbClr val="FFFFFF"/>
              </a:solidFill>
              <a:effectLst/>
              <a:uFillTx/>
              <a:latin typeface="Arial"/>
            </a:endParaRPr>
          </a:p>
        </p:txBody>
      </p:sp>
      <p:sp>
        <p:nvSpPr>
          <p:cNvPr id="41" name="Text 19"/>
          <p:cNvSpPr/>
          <p:nvPr/>
        </p:nvSpPr>
        <p:spPr>
          <a:xfrm>
            <a:off x="785160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2" name="Shape 20"/>
          <p:cNvSpPr/>
          <p:nvPr/>
        </p:nvSpPr>
        <p:spPr>
          <a:xfrm>
            <a:off x="797976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Text 21"/>
          <p:cNvSpPr/>
          <p:nvPr/>
        </p:nvSpPr>
        <p:spPr>
          <a:xfrm>
            <a:off x="802548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Seaborn</a:t>
            </a:r>
            <a:endParaRPr lang="en-US" sz="950" b="0" u="none" strike="noStrike">
              <a:solidFill>
                <a:srgbClr val="FFFFFF"/>
              </a:solidFill>
              <a:effectLst/>
              <a:uFillTx/>
              <a:latin typeface="Arial"/>
            </a:endParaRPr>
          </a:p>
        </p:txBody>
      </p:sp>
      <p:sp>
        <p:nvSpPr>
          <p:cNvPr id="44" name="Text 22"/>
          <p:cNvSpPr/>
          <p:nvPr/>
        </p:nvSpPr>
        <p:spPr>
          <a:xfrm>
            <a:off x="907488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5" name="Shape 23"/>
          <p:cNvSpPr/>
          <p:nvPr/>
        </p:nvSpPr>
        <p:spPr>
          <a:xfrm>
            <a:off x="920304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Text 24"/>
          <p:cNvSpPr/>
          <p:nvPr/>
        </p:nvSpPr>
        <p:spPr>
          <a:xfrm>
            <a:off x="924876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Data Analytics</a:t>
            </a:r>
            <a:endParaRPr lang="en-US" sz="950" b="0" u="none" strike="noStrike">
              <a:solidFill>
                <a:srgbClr val="FFFFFF"/>
              </a:solidFill>
              <a:effectLst/>
              <a:uFillTx/>
              <a:latin typeface="Arial"/>
            </a:endParaRPr>
          </a:p>
        </p:txBody>
      </p:sp>
      <p:sp>
        <p:nvSpPr>
          <p:cNvPr id="47" name="Text 25"/>
          <p:cNvSpPr/>
          <p:nvPr/>
        </p:nvSpPr>
        <p:spPr>
          <a:xfrm>
            <a:off x="10298160" y="3977640"/>
            <a:ext cx="1735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94A3B8"/>
                </a:solidFill>
                <a:effectLst/>
                <a:uFillTx/>
                <a:latin typeface="Hanken Grotesk"/>
                <a:ea typeface="Hanken Grotesk"/>
              </a:rPr>
              <a:t>→</a:t>
            </a:r>
            <a:endParaRPr lang="en-US" sz="1100" b="0" u="none" strike="noStrike">
              <a:solidFill>
                <a:srgbClr val="FFFFFF"/>
              </a:solidFill>
              <a:effectLst/>
              <a:uFillTx/>
              <a:latin typeface="Arial"/>
            </a:endParaRPr>
          </a:p>
        </p:txBody>
      </p:sp>
      <p:sp>
        <p:nvSpPr>
          <p:cNvPr id="48" name="Shape 26"/>
          <p:cNvSpPr/>
          <p:nvPr/>
        </p:nvSpPr>
        <p:spPr>
          <a:xfrm>
            <a:off x="10426320" y="3977640"/>
            <a:ext cx="1094760" cy="868320"/>
          </a:xfrm>
          <a:prstGeom prst="roundRect">
            <a:avLst>
              <a:gd name="adj" fmla="val 8421"/>
            </a:avLst>
          </a:prstGeom>
          <a:solidFill>
            <a:srgbClr val="162032"/>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9" name="Text 27"/>
          <p:cNvSpPr/>
          <p:nvPr/>
        </p:nvSpPr>
        <p:spPr>
          <a:xfrm>
            <a:off x="10472040" y="3977640"/>
            <a:ext cx="1003320" cy="868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94A3B8"/>
                </a:solidFill>
                <a:effectLst/>
                <a:uFillTx/>
                <a:latin typeface="Plus Jakarta Sans"/>
                <a:ea typeface="Plus Jakarta Sans"/>
              </a:rPr>
              <a:t>Supervised ML</a:t>
            </a:r>
            <a:endParaRPr lang="en-US" sz="950" b="0" u="none" strike="noStrike">
              <a:solidFill>
                <a:srgbClr val="FFFFFF"/>
              </a:solidFill>
              <a:effectLst/>
              <a:uFillTx/>
              <a:latin typeface="Arial"/>
            </a:endParaRPr>
          </a:p>
        </p:txBody>
      </p:sp>
      <p:sp>
        <p:nvSpPr>
          <p:cNvPr id="50" name="Text 28"/>
          <p:cNvSpPr/>
          <p:nvPr/>
        </p:nvSpPr>
        <p:spPr>
          <a:xfrm>
            <a:off x="640080" y="5212080"/>
            <a:ext cx="1024092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400" b="0" u="none" strike="noStrike">
                <a:solidFill>
                  <a:srgbClr val="94A3B8"/>
                </a:solidFill>
                <a:effectLst/>
                <a:uFillTx/>
                <a:latin typeface="Hanken Grotesk"/>
                <a:ea typeface="Hanken Grotesk"/>
              </a:rPr>
              <a:t>You </a:t>
            </a:r>
            <a:r>
              <a:rPr lang="en-US" sz="1400" b="0" u="none" strike="noStrike">
                <a:solidFill>
                  <a:srgbClr val="94A3B8"/>
                </a:solidFill>
                <a:effectLst/>
                <a:uFillTx/>
                <a:latin typeface="Hanken Grotesk"/>
                <a:ea typeface="Hanken Grotesk"/>
              </a:rPr>
              <a:t>are </a:t>
            </a:r>
            <a:r>
              <a:rPr lang="en-US" sz="1400" b="0" u="none" strike="noStrike">
                <a:solidFill>
                  <a:srgbClr val="94A3B8"/>
                </a:solidFill>
                <a:effectLst/>
                <a:uFillTx/>
                <a:latin typeface="Hanken Grotesk"/>
                <a:ea typeface="Hanken Grotesk"/>
              </a:rPr>
              <a:t>her</a:t>
            </a:r>
            <a:r>
              <a:rPr lang="en-US" sz="1400" b="0" u="none" strike="noStrike">
                <a:solidFill>
                  <a:srgbClr val="94A3B8"/>
                </a:solidFill>
                <a:effectLst/>
                <a:uFillTx/>
                <a:latin typeface="Hanken Grotesk"/>
                <a:ea typeface="Hanken Grotesk"/>
              </a:rPr>
              <a:t>e — </a:t>
            </a:r>
            <a:r>
              <a:rPr lang="en-US" sz="1400" b="0" u="none" strike="noStrike">
                <a:solidFill>
                  <a:srgbClr val="94A3B8"/>
                </a:solidFill>
                <a:effectLst/>
                <a:uFillTx/>
                <a:latin typeface="Hanken Grotesk"/>
                <a:ea typeface="Hanken Grotesk"/>
              </a:rPr>
              <a:t>righ</a:t>
            </a:r>
            <a:r>
              <a:rPr lang="en-US" sz="1400" b="0" u="none" strike="noStrike">
                <a:solidFill>
                  <a:srgbClr val="94A3B8"/>
                </a:solidFill>
                <a:effectLst/>
                <a:uFillTx/>
                <a:latin typeface="Hanken Grotesk"/>
                <a:ea typeface="Hanken Grotesk"/>
              </a:rPr>
              <a:t>t </a:t>
            </a:r>
            <a:r>
              <a:rPr lang="en-US" sz="1400" b="0" u="none" strike="noStrike">
                <a:solidFill>
                  <a:srgbClr val="94A3B8"/>
                </a:solidFill>
                <a:effectLst/>
                <a:uFillTx/>
                <a:latin typeface="Hanken Grotesk"/>
                <a:ea typeface="Hanken Grotesk"/>
              </a:rPr>
              <a:t>afte</a:t>
            </a:r>
            <a:r>
              <a:rPr lang="en-US" sz="1400" b="0" u="none" strike="noStrike">
                <a:solidFill>
                  <a:srgbClr val="94A3B8"/>
                </a:solidFill>
                <a:effectLst/>
                <a:uFillTx/>
                <a:latin typeface="Hanken Grotesk"/>
                <a:ea typeface="Hanken Grotesk"/>
              </a:rPr>
              <a:t>r </a:t>
            </a:r>
            <a:r>
              <a:rPr lang="en-US" sz="1400" b="0" u="none" strike="noStrike">
                <a:solidFill>
                  <a:srgbClr val="94A3B8"/>
                </a:solidFill>
                <a:effectLst/>
                <a:uFillTx/>
                <a:latin typeface="Hanken Grotesk"/>
                <a:ea typeface="Hanken Grotesk"/>
              </a:rPr>
              <a:t>Git </a:t>
            </a:r>
            <a:r>
              <a:rPr lang="en-US" sz="1400" b="0" u="none" strike="noStrike">
                <a:solidFill>
                  <a:srgbClr val="94A3B8"/>
                </a:solidFill>
                <a:effectLst/>
                <a:uFillTx/>
                <a:latin typeface="Hanken Grotesk"/>
                <a:ea typeface="Hanken Grotesk"/>
              </a:rPr>
              <a:t>&amp; </a:t>
            </a:r>
            <a:r>
              <a:rPr lang="en-US" sz="1400" b="0" u="none" strike="noStrike">
                <a:solidFill>
                  <a:srgbClr val="94A3B8"/>
                </a:solidFill>
                <a:effectLst/>
                <a:uFillTx/>
                <a:latin typeface="Hanken Grotesk"/>
                <a:ea typeface="Hanken Grotesk"/>
              </a:rPr>
              <a:t>Git</a:t>
            </a:r>
            <a:r>
              <a:rPr lang="en-US" sz="1400" b="0" u="none" strike="noStrike">
                <a:solidFill>
                  <a:srgbClr val="94A3B8"/>
                </a:solidFill>
                <a:effectLst/>
                <a:uFillTx/>
                <a:latin typeface="Hanken Grotesk"/>
                <a:ea typeface="Hanken Grotesk"/>
              </a:rPr>
              <a:t>Hu</a:t>
            </a:r>
            <a:r>
              <a:rPr lang="en-US" sz="1400" b="0" u="none" strike="noStrike">
                <a:solidFill>
                  <a:srgbClr val="94A3B8"/>
                </a:solidFill>
                <a:effectLst/>
                <a:uFillTx/>
                <a:latin typeface="Hanken Grotesk"/>
                <a:ea typeface="Hanken Grotesk"/>
              </a:rPr>
              <a:t>b. </a:t>
            </a:r>
            <a:r>
              <a:rPr lang="en-US" sz="1400" b="0" u="none" strike="noStrike">
                <a:solidFill>
                  <a:srgbClr val="94A3B8"/>
                </a:solidFill>
                <a:effectLst/>
                <a:uFillTx/>
                <a:latin typeface="Hanken Grotesk"/>
                <a:ea typeface="Hanken Grotesk"/>
              </a:rPr>
              <a:t>Nu</a:t>
            </a:r>
            <a:r>
              <a:rPr lang="en-US" sz="1400" b="0" u="none" strike="noStrike">
                <a:solidFill>
                  <a:srgbClr val="94A3B8"/>
                </a:solidFill>
                <a:effectLst/>
                <a:uFillTx/>
                <a:latin typeface="Hanken Grotesk"/>
                <a:ea typeface="Hanken Grotesk"/>
              </a:rPr>
              <a:t>mP</a:t>
            </a:r>
            <a:r>
              <a:rPr lang="en-US" sz="1400" b="0" u="none" strike="noStrike">
                <a:solidFill>
                  <a:srgbClr val="94A3B8"/>
                </a:solidFill>
                <a:effectLst/>
                <a:uFillTx/>
                <a:latin typeface="Hanken Grotesk"/>
                <a:ea typeface="Hanken Grotesk"/>
              </a:rPr>
              <a:t>y is </a:t>
            </a:r>
            <a:r>
              <a:rPr lang="en-US" sz="1400" b="0" u="none" strike="noStrike">
                <a:solidFill>
                  <a:srgbClr val="94A3B8"/>
                </a:solidFill>
                <a:effectLst/>
                <a:uFillTx/>
                <a:latin typeface="Hanken Grotesk"/>
                <a:ea typeface="Hanken Grotesk"/>
              </a:rPr>
              <a:t>the </a:t>
            </a:r>
            <a:r>
              <a:rPr lang="en-US" sz="1400" b="0" u="none" strike="noStrike">
                <a:solidFill>
                  <a:srgbClr val="94A3B8"/>
                </a:solidFill>
                <a:effectLst/>
                <a:uFillTx/>
                <a:latin typeface="Hanken Grotesk"/>
                <a:ea typeface="Hanken Grotesk"/>
              </a:rPr>
              <a:t>fou</a:t>
            </a:r>
            <a:r>
              <a:rPr lang="en-US" sz="1400" b="0" u="none" strike="noStrike">
                <a:solidFill>
                  <a:srgbClr val="94A3B8"/>
                </a:solidFill>
                <a:effectLst/>
                <a:uFillTx/>
                <a:latin typeface="Hanken Grotesk"/>
                <a:ea typeface="Hanken Grotesk"/>
              </a:rPr>
              <a:t>nda</a:t>
            </a:r>
            <a:r>
              <a:rPr lang="en-US" sz="1400" b="0" u="none" strike="noStrike">
                <a:solidFill>
                  <a:srgbClr val="94A3B8"/>
                </a:solidFill>
                <a:effectLst/>
                <a:uFillTx/>
                <a:latin typeface="Hanken Grotesk"/>
                <a:ea typeface="Hanken Grotesk"/>
              </a:rPr>
              <a:t>tion </a:t>
            </a:r>
            <a:r>
              <a:rPr lang="en-US" sz="1400" b="0" u="none" strike="noStrike">
                <a:solidFill>
                  <a:srgbClr val="94A3B8"/>
                </a:solidFill>
                <a:effectLst/>
                <a:uFillTx/>
                <a:latin typeface="Hanken Grotesk"/>
                <a:ea typeface="Hanken Grotesk"/>
              </a:rPr>
              <a:t>Pan</a:t>
            </a:r>
            <a:r>
              <a:rPr lang="en-US" sz="1400" b="0" u="none" strike="noStrike">
                <a:solidFill>
                  <a:srgbClr val="94A3B8"/>
                </a:solidFill>
                <a:effectLst/>
                <a:uFillTx/>
                <a:latin typeface="Hanken Grotesk"/>
                <a:ea typeface="Hanken Grotesk"/>
              </a:rPr>
              <a:t>das, </a:t>
            </a:r>
            <a:r>
              <a:rPr lang="en-US" sz="1400" b="0" u="none" strike="noStrike">
                <a:solidFill>
                  <a:srgbClr val="94A3B8"/>
                </a:solidFill>
                <a:effectLst/>
                <a:uFillTx/>
                <a:latin typeface="Hanken Grotesk"/>
                <a:ea typeface="Hanken Grotesk"/>
              </a:rPr>
              <a:t>Mat</a:t>
            </a:r>
            <a:r>
              <a:rPr lang="en-US" sz="1400" b="0" u="none" strike="noStrike">
                <a:solidFill>
                  <a:srgbClr val="94A3B8"/>
                </a:solidFill>
                <a:effectLst/>
                <a:uFillTx/>
                <a:latin typeface="Hanken Grotesk"/>
                <a:ea typeface="Hanken Grotesk"/>
              </a:rPr>
              <a:t>plot</a:t>
            </a:r>
            <a:r>
              <a:rPr lang="en-US" sz="1400" b="0" u="none" strike="noStrike">
                <a:solidFill>
                  <a:srgbClr val="94A3B8"/>
                </a:solidFill>
                <a:effectLst/>
                <a:uFillTx/>
                <a:latin typeface="Hanken Grotesk"/>
                <a:ea typeface="Hanken Grotesk"/>
              </a:rPr>
              <a:t>lib, </a:t>
            </a:r>
            <a:r>
              <a:rPr lang="en-US" sz="1400" b="0" u="none" strike="noStrike">
                <a:solidFill>
                  <a:srgbClr val="94A3B8"/>
                </a:solidFill>
                <a:effectLst/>
                <a:uFillTx/>
                <a:latin typeface="Hanken Grotesk"/>
                <a:ea typeface="Hanken Grotesk"/>
              </a:rPr>
              <a:t>and </a:t>
            </a:r>
            <a:r>
              <a:rPr lang="en-US" sz="1400" b="0" u="none" strike="noStrike">
                <a:solidFill>
                  <a:srgbClr val="94A3B8"/>
                </a:solidFill>
                <a:effectLst/>
                <a:uFillTx/>
                <a:latin typeface="Hanken Grotesk"/>
                <a:ea typeface="Hanken Grotesk"/>
              </a:rPr>
              <a:t>Sea</a:t>
            </a:r>
            <a:r>
              <a:rPr lang="en-US" sz="1400" b="0" u="none" strike="noStrike">
                <a:solidFill>
                  <a:srgbClr val="94A3B8"/>
                </a:solidFill>
                <a:effectLst/>
                <a:uFillTx/>
                <a:latin typeface="Hanken Grotesk"/>
                <a:ea typeface="Hanken Grotesk"/>
              </a:rPr>
              <a:t>bor</a:t>
            </a:r>
            <a:r>
              <a:rPr lang="en-US" sz="1400" b="0" u="none" strike="noStrike">
                <a:solidFill>
                  <a:srgbClr val="94A3B8"/>
                </a:solidFill>
                <a:effectLst/>
                <a:uFillTx/>
                <a:latin typeface="Hanken Grotesk"/>
                <a:ea typeface="Hanken Grotesk"/>
              </a:rPr>
              <a:t>n </a:t>
            </a:r>
            <a:r>
              <a:rPr lang="en-US" sz="1400" b="0" u="none" strike="noStrike">
                <a:solidFill>
                  <a:srgbClr val="94A3B8"/>
                </a:solidFill>
                <a:effectLst/>
                <a:uFillTx/>
                <a:latin typeface="Hanken Grotesk"/>
                <a:ea typeface="Hanken Grotesk"/>
              </a:rPr>
              <a:t>are </a:t>
            </a:r>
            <a:r>
              <a:rPr lang="en-US" sz="1400" b="0" u="none" strike="noStrike">
                <a:solidFill>
                  <a:srgbClr val="94A3B8"/>
                </a:solidFill>
                <a:effectLst/>
                <a:uFillTx/>
                <a:latin typeface="Hanken Grotesk"/>
                <a:ea typeface="Hanken Grotesk"/>
              </a:rPr>
              <a:t>all </a:t>
            </a:r>
            <a:r>
              <a:rPr lang="en-US" sz="1400" b="0" u="none" strike="noStrike">
                <a:solidFill>
                  <a:srgbClr val="94A3B8"/>
                </a:solidFill>
                <a:effectLst/>
                <a:uFillTx/>
                <a:latin typeface="Hanken Grotesk"/>
                <a:ea typeface="Hanken Grotesk"/>
              </a:rPr>
              <a:t>buil</a:t>
            </a:r>
            <a:r>
              <a:rPr lang="en-US" sz="1400" b="0" u="none" strike="noStrike">
                <a:solidFill>
                  <a:srgbClr val="94A3B8"/>
                </a:solidFill>
                <a:effectLst/>
                <a:uFillTx/>
                <a:latin typeface="Hanken Grotesk"/>
                <a:ea typeface="Hanken Grotesk"/>
              </a:rPr>
              <a:t>t on </a:t>
            </a:r>
            <a:r>
              <a:rPr lang="en-US" sz="1400" b="0" u="none" strike="noStrike">
                <a:solidFill>
                  <a:srgbClr val="94A3B8"/>
                </a:solidFill>
                <a:effectLst/>
                <a:uFillTx/>
                <a:latin typeface="Hanken Grotesk"/>
                <a:ea typeface="Hanken Grotesk"/>
              </a:rPr>
              <a:t>top </a:t>
            </a:r>
            <a:r>
              <a:rPr lang="en-US" sz="1400" b="0" u="none" strike="noStrike">
                <a:solidFill>
                  <a:srgbClr val="94A3B8"/>
                </a:solidFill>
                <a:effectLst/>
                <a:uFillTx/>
                <a:latin typeface="Hanken Grotesk"/>
                <a:ea typeface="Hanken Grotesk"/>
              </a:rPr>
              <a:t>of; </a:t>
            </a:r>
            <a:r>
              <a:rPr lang="en-US" sz="1400" b="0" u="none" strike="noStrike">
                <a:solidFill>
                  <a:srgbClr val="94A3B8"/>
                </a:solidFill>
                <a:effectLst/>
                <a:uFillTx/>
                <a:latin typeface="Hanken Grotesk"/>
                <a:ea typeface="Hanken Grotesk"/>
              </a:rPr>
              <a:t>alm</a:t>
            </a:r>
            <a:r>
              <a:rPr lang="en-US" sz="1400" b="0" u="none" strike="noStrike">
                <a:solidFill>
                  <a:srgbClr val="94A3B8"/>
                </a:solidFill>
                <a:effectLst/>
                <a:uFillTx/>
                <a:latin typeface="Hanken Grotesk"/>
                <a:ea typeface="Hanken Grotesk"/>
              </a:rPr>
              <a:t>ost </a:t>
            </a:r>
            <a:r>
              <a:rPr lang="en-US" sz="1400" b="0" u="none" strike="noStrike">
                <a:solidFill>
                  <a:srgbClr val="94A3B8"/>
                </a:solidFill>
                <a:effectLst/>
                <a:uFillTx/>
                <a:latin typeface="Hanken Grotesk"/>
                <a:ea typeface="Hanken Grotesk"/>
              </a:rPr>
              <a:t>eve</a:t>
            </a:r>
            <a:r>
              <a:rPr lang="en-US" sz="1400" b="0" u="none" strike="noStrike">
                <a:solidFill>
                  <a:srgbClr val="94A3B8"/>
                </a:solidFill>
                <a:effectLst/>
                <a:uFillTx/>
                <a:latin typeface="Hanken Grotesk"/>
                <a:ea typeface="Hanken Grotesk"/>
              </a:rPr>
              <a:t>ry </a:t>
            </a:r>
            <a:r>
              <a:rPr lang="en-US" sz="1400" b="0" u="none" strike="noStrike">
                <a:solidFill>
                  <a:srgbClr val="94A3B8"/>
                </a:solidFill>
                <a:effectLst/>
                <a:uFillTx/>
                <a:latin typeface="Hanken Grotesk"/>
                <a:ea typeface="Hanken Grotesk"/>
              </a:rPr>
              <a:t>arra</a:t>
            </a:r>
            <a:r>
              <a:rPr lang="en-US" sz="1400" b="0" u="none" strike="noStrike">
                <a:solidFill>
                  <a:srgbClr val="94A3B8"/>
                </a:solidFill>
                <a:effectLst/>
                <a:uFillTx/>
                <a:latin typeface="Hanken Grotesk"/>
                <a:ea typeface="Hanken Grotesk"/>
              </a:rPr>
              <a:t>y </a:t>
            </a:r>
            <a:r>
              <a:rPr lang="en-US" sz="1400" b="0" u="none" strike="noStrike">
                <a:solidFill>
                  <a:srgbClr val="94A3B8"/>
                </a:solidFill>
                <a:effectLst/>
                <a:uFillTx/>
                <a:latin typeface="Hanken Grotesk"/>
                <a:ea typeface="Hanken Grotesk"/>
              </a:rPr>
              <a:t>ope</a:t>
            </a:r>
            <a:r>
              <a:rPr lang="en-US" sz="1400" b="0" u="none" strike="noStrike">
                <a:solidFill>
                  <a:srgbClr val="94A3B8"/>
                </a:solidFill>
                <a:effectLst/>
                <a:uFillTx/>
                <a:latin typeface="Hanken Grotesk"/>
                <a:ea typeface="Hanken Grotesk"/>
              </a:rPr>
              <a:t>rati</a:t>
            </a:r>
            <a:r>
              <a:rPr lang="en-US" sz="1400" b="0" u="none" strike="noStrike">
                <a:solidFill>
                  <a:srgbClr val="94A3B8"/>
                </a:solidFill>
                <a:effectLst/>
                <a:uFillTx/>
                <a:latin typeface="Hanken Grotesk"/>
                <a:ea typeface="Hanken Grotesk"/>
              </a:rPr>
              <a:t>on </a:t>
            </a:r>
            <a:r>
              <a:rPr lang="en-US" sz="1400" b="0" u="none" strike="noStrike">
                <a:solidFill>
                  <a:srgbClr val="94A3B8"/>
                </a:solidFill>
                <a:effectLst/>
                <a:uFillTx/>
                <a:latin typeface="Hanken Grotesk"/>
                <a:ea typeface="Hanken Grotesk"/>
              </a:rPr>
              <a:t>you</a:t>
            </a:r>
            <a:r>
              <a:rPr lang="en-US" sz="1400" b="0" u="none" strike="noStrike">
                <a:solidFill>
                  <a:srgbClr val="94A3B8"/>
                </a:solidFill>
                <a:effectLst/>
                <a:uFillTx/>
                <a:latin typeface="Hanken Grotesk"/>
                <a:ea typeface="Hanken Grotesk"/>
              </a:rPr>
              <a:t>'ll </a:t>
            </a:r>
            <a:r>
              <a:rPr lang="en-US" sz="1400" b="0" u="none" strike="noStrike">
                <a:solidFill>
                  <a:srgbClr val="94A3B8"/>
                </a:solidFill>
                <a:effectLst/>
                <a:uFillTx/>
                <a:latin typeface="Hanken Grotesk"/>
                <a:ea typeface="Hanken Grotesk"/>
              </a:rPr>
              <a:t>do </a:t>
            </a:r>
            <a:r>
              <a:rPr lang="en-US" sz="1400" b="0" u="none" strike="noStrike">
                <a:solidFill>
                  <a:srgbClr val="94A3B8"/>
                </a:solidFill>
                <a:effectLst/>
                <a:uFillTx/>
                <a:latin typeface="Hanken Grotesk"/>
                <a:ea typeface="Hanken Grotesk"/>
              </a:rPr>
              <a:t>for </a:t>
            </a:r>
            <a:r>
              <a:rPr lang="en-US" sz="1400" b="0" u="none" strike="noStrike">
                <a:solidFill>
                  <a:srgbClr val="94A3B8"/>
                </a:solidFill>
                <a:effectLst/>
                <a:uFillTx/>
                <a:latin typeface="Hanken Grotesk"/>
                <a:ea typeface="Hanken Grotesk"/>
              </a:rPr>
              <a:t>the </a:t>
            </a:r>
            <a:r>
              <a:rPr lang="en-US" sz="1400" b="0" u="none" strike="noStrike">
                <a:solidFill>
                  <a:srgbClr val="94A3B8"/>
                </a:solidFill>
                <a:effectLst/>
                <a:uFillTx/>
                <a:latin typeface="Hanken Grotesk"/>
                <a:ea typeface="Hanken Grotesk"/>
              </a:rPr>
              <a:t>rest </a:t>
            </a:r>
            <a:r>
              <a:rPr lang="en-US" sz="1400" b="0" u="none" strike="noStrike">
                <a:solidFill>
                  <a:srgbClr val="94A3B8"/>
                </a:solidFill>
                <a:effectLst/>
                <a:uFillTx/>
                <a:latin typeface="Hanken Grotesk"/>
                <a:ea typeface="Hanken Grotesk"/>
              </a:rPr>
              <a:t>of </a:t>
            </a:r>
            <a:r>
              <a:rPr lang="en-US" sz="1400" b="0" u="none" strike="noStrike">
                <a:solidFill>
                  <a:srgbClr val="94A3B8"/>
                </a:solidFill>
                <a:effectLst/>
                <a:uFillTx/>
                <a:latin typeface="Hanken Grotesk"/>
                <a:ea typeface="Hanken Grotesk"/>
              </a:rPr>
              <a:t>this </a:t>
            </a:r>
            <a:r>
              <a:rPr lang="en-US" sz="1400" b="0" u="none" strike="noStrike">
                <a:solidFill>
                  <a:srgbClr val="94A3B8"/>
                </a:solidFill>
                <a:effectLst/>
                <a:uFillTx/>
                <a:latin typeface="Hanken Grotesk"/>
                <a:ea typeface="Hanken Grotesk"/>
              </a:rPr>
              <a:t>cou</a:t>
            </a:r>
            <a:r>
              <a:rPr lang="en-US" sz="1400" b="0" u="none" strike="noStrike">
                <a:solidFill>
                  <a:srgbClr val="94A3B8"/>
                </a:solidFill>
                <a:effectLst/>
                <a:uFillTx/>
                <a:latin typeface="Hanken Grotesk"/>
                <a:ea typeface="Hanken Grotesk"/>
              </a:rPr>
              <a:t>rse </a:t>
            </a:r>
            <a:r>
              <a:rPr lang="en-US" sz="1400" b="0" u="none" strike="noStrike">
                <a:solidFill>
                  <a:srgbClr val="94A3B8"/>
                </a:solidFill>
                <a:effectLst/>
                <a:uFillTx/>
                <a:latin typeface="Hanken Grotesk"/>
                <a:ea typeface="Hanken Grotesk"/>
              </a:rPr>
              <a:t>trac</a:t>
            </a:r>
            <a:r>
              <a:rPr lang="en-US" sz="1400" b="0" u="none" strike="noStrike">
                <a:solidFill>
                  <a:srgbClr val="94A3B8"/>
                </a:solidFill>
                <a:effectLst/>
                <a:uFillTx/>
                <a:latin typeface="Hanken Grotesk"/>
                <a:ea typeface="Hanken Grotesk"/>
              </a:rPr>
              <a:t>es </a:t>
            </a:r>
            <a:r>
              <a:rPr lang="en-US" sz="1400" b="0" u="none" strike="noStrike">
                <a:solidFill>
                  <a:srgbClr val="94A3B8"/>
                </a:solidFill>
                <a:effectLst/>
                <a:uFillTx/>
                <a:latin typeface="Hanken Grotesk"/>
                <a:ea typeface="Hanken Grotesk"/>
              </a:rPr>
              <a:t>bac</a:t>
            </a:r>
            <a:r>
              <a:rPr lang="en-US" sz="1400" b="0" u="none" strike="noStrike">
                <a:solidFill>
                  <a:srgbClr val="94A3B8"/>
                </a:solidFill>
                <a:effectLst/>
                <a:uFillTx/>
                <a:latin typeface="Hanken Grotesk"/>
                <a:ea typeface="Hanken Grotesk"/>
              </a:rPr>
              <a:t>k to </a:t>
            </a:r>
            <a:r>
              <a:rPr lang="en-US" sz="1400" b="0" u="none" strike="noStrike">
                <a:solidFill>
                  <a:srgbClr val="94A3B8"/>
                </a:solidFill>
                <a:effectLst/>
                <a:uFillTx/>
                <a:latin typeface="Hanken Grotesk"/>
                <a:ea typeface="Hanken Grotesk"/>
              </a:rPr>
              <a:t>wh</a:t>
            </a:r>
            <a:r>
              <a:rPr lang="en-US" sz="1400" b="0" u="none" strike="noStrike">
                <a:solidFill>
                  <a:srgbClr val="94A3B8"/>
                </a:solidFill>
                <a:effectLst/>
                <a:uFillTx/>
                <a:latin typeface="Hanken Grotesk"/>
                <a:ea typeface="Hanken Grotesk"/>
              </a:rPr>
              <a:t>at </a:t>
            </a:r>
            <a:r>
              <a:rPr lang="en-US" sz="1400" b="0" u="none" strike="noStrike">
                <a:solidFill>
                  <a:srgbClr val="94A3B8"/>
                </a:solidFill>
                <a:effectLst/>
                <a:uFillTx/>
                <a:latin typeface="Hanken Grotesk"/>
                <a:ea typeface="Hanken Grotesk"/>
              </a:rPr>
              <a:t>you </a:t>
            </a:r>
            <a:r>
              <a:rPr lang="en-US" sz="1400" b="0" u="none" strike="noStrike">
                <a:solidFill>
                  <a:srgbClr val="94A3B8"/>
                </a:solidFill>
                <a:effectLst/>
                <a:uFillTx/>
                <a:latin typeface="Hanken Grotesk"/>
                <a:ea typeface="Hanken Grotesk"/>
              </a:rPr>
              <a:t>lear</a:t>
            </a:r>
            <a:r>
              <a:rPr lang="en-US" sz="1400" b="0" u="none" strike="noStrike">
                <a:solidFill>
                  <a:srgbClr val="94A3B8"/>
                </a:solidFill>
                <a:effectLst/>
                <a:uFillTx/>
                <a:latin typeface="Hanken Grotesk"/>
                <a:ea typeface="Hanken Grotesk"/>
              </a:rPr>
              <a:t>n </a:t>
            </a:r>
            <a:r>
              <a:rPr lang="en-US" sz="1400" b="0" u="none" strike="noStrike">
                <a:solidFill>
                  <a:srgbClr val="94A3B8"/>
                </a:solidFill>
                <a:effectLst/>
                <a:uFillTx/>
                <a:latin typeface="Hanken Grotesk"/>
                <a:ea typeface="Hanken Grotesk"/>
              </a:rPr>
              <a:t>her</a:t>
            </a:r>
            <a:r>
              <a:rPr lang="en-US" sz="1400" b="0" u="none" strike="noStrike">
                <a:solidFill>
                  <a:srgbClr val="94A3B8"/>
                </a:solidFill>
                <a:effectLst/>
                <a:uFillTx/>
                <a:latin typeface="Hanken Grotesk"/>
                <a:ea typeface="Hanken Grotesk"/>
              </a:rPr>
              <a:t>e.</a:t>
            </a:r>
            <a:endParaRPr lang="en-US" sz="1400" b="0" u="none" strike="noStrike">
              <a:solidFill>
                <a:srgbClr val="FFFFFF"/>
              </a:solidFill>
              <a:effectLst/>
              <a:uFillTx/>
              <a:latin typeface="Arial"/>
            </a:endParaRPr>
          </a:p>
        </p:txBody>
      </p:sp>
      <p:sp>
        <p:nvSpPr>
          <p:cNvPr id="51" name="Text 2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02</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BEFORE WE START</a:t>
            </a:r>
            <a:endParaRPr lang="en-US" sz="1100" b="0" u="none" strike="noStrike">
              <a:solidFill>
                <a:srgbClr val="000000"/>
              </a:solidFill>
              <a:effectLst/>
              <a:uFillTx/>
              <a:latin typeface="Arial"/>
            </a:endParaRPr>
          </a:p>
        </p:txBody>
      </p:sp>
      <p:sp>
        <p:nvSpPr>
          <p:cNvPr id="5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If Python Has Lists, Why NumPy?</a:t>
            </a:r>
            <a:endParaRPr lang="en-US" sz="2600" b="0" u="none" strike="noStrike">
              <a:solidFill>
                <a:srgbClr val="000000"/>
              </a:solidFill>
              <a:effectLst/>
              <a:uFillTx/>
              <a:latin typeface="Arial"/>
            </a:endParaRPr>
          </a:p>
        </p:txBody>
      </p:sp>
      <p:pic>
        <p:nvPicPr>
          <p:cNvPr id="5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56" name="Shape 3"/>
          <p:cNvSpPr/>
          <p:nvPr/>
        </p:nvSpPr>
        <p:spPr>
          <a:xfrm>
            <a:off x="548640" y="1691640"/>
            <a:ext cx="5211720" cy="4023000"/>
          </a:xfrm>
          <a:prstGeom prst="roundRect">
            <a:avLst>
              <a:gd name="adj" fmla="val 2727"/>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Shape 4"/>
          <p:cNvSpPr/>
          <p:nvPr/>
        </p:nvSpPr>
        <p:spPr>
          <a:xfrm>
            <a:off x="777240" y="1892880"/>
            <a:ext cx="1828440" cy="29232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8" name="Text 5"/>
          <p:cNvSpPr/>
          <p:nvPr/>
        </p:nvSpPr>
        <p:spPr>
          <a:xfrm>
            <a:off x="777240" y="1892880"/>
            <a:ext cx="182844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002019"/>
                </a:solidFill>
                <a:effectLst/>
                <a:uFillTx/>
                <a:latin typeface="Plus Jakarta Sans"/>
                <a:ea typeface="Plus Jakarta Sans"/>
              </a:rPr>
              <a:t>PYTHON LIST</a:t>
            </a:r>
            <a:endParaRPr lang="en-US" sz="1000" b="0" u="none" strike="noStrike">
              <a:solidFill>
                <a:srgbClr val="000000"/>
              </a:solidFill>
              <a:effectLst/>
              <a:uFillTx/>
              <a:latin typeface="Arial"/>
            </a:endParaRPr>
          </a:p>
        </p:txBody>
      </p:sp>
      <p:sp>
        <p:nvSpPr>
          <p:cNvPr id="59" name="Text 6"/>
          <p:cNvSpPr/>
          <p:nvPr/>
        </p:nvSpPr>
        <p:spPr>
          <a:xfrm>
            <a:off x="77724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Flexible — can hold mixed types in one list.</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Looping over a list to do math is slow — Python re-checks each element's type, one at a time.</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250" b="0" u="none" strike="noStrike">
                <a:solidFill>
                  <a:srgbClr val="1B1B20"/>
                </a:solidFill>
                <a:effectLst/>
                <a:uFillTx/>
                <a:latin typeface="Hanken Grotesk"/>
                <a:ea typeface="Hanken Grotesk"/>
              </a:rPr>
              <a:t>No built-in idea of "shape" — no easy way to treat data as a matrix or grid.</a:t>
            </a:r>
            <a:endParaRPr lang="en-US" sz="1250" b="0" u="none" strike="noStrike">
              <a:solidFill>
                <a:srgbClr val="000000"/>
              </a:solidFill>
              <a:effectLst/>
              <a:uFillTx/>
              <a:latin typeface="Arial"/>
            </a:endParaRPr>
          </a:p>
        </p:txBody>
      </p:sp>
      <p:sp>
        <p:nvSpPr>
          <p:cNvPr id="60" name="Shape 7"/>
          <p:cNvSpPr/>
          <p:nvPr/>
        </p:nvSpPr>
        <p:spPr>
          <a:xfrm>
            <a:off x="6217920" y="1691640"/>
            <a:ext cx="5211720" cy="4023000"/>
          </a:xfrm>
          <a:prstGeom prst="roundRect">
            <a:avLst>
              <a:gd name="adj" fmla="val 2727"/>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Shape 8"/>
          <p:cNvSpPr/>
          <p:nvPr/>
        </p:nvSpPr>
        <p:spPr>
          <a:xfrm>
            <a:off x="6446520" y="1892880"/>
            <a:ext cx="1828440" cy="292320"/>
          </a:xfrm>
          <a:prstGeom prst="roundRect">
            <a:avLst>
              <a:gd name="adj" fmla="val 50000"/>
            </a:avLst>
          </a:prstGeom>
          <a:solidFill>
            <a:srgbClr val="262758"/>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2" name="Text 9"/>
          <p:cNvSpPr/>
          <p:nvPr/>
        </p:nvSpPr>
        <p:spPr>
          <a:xfrm>
            <a:off x="6446520" y="1892880"/>
            <a:ext cx="1828440" cy="2923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E0E7FF"/>
                </a:solidFill>
                <a:effectLst/>
                <a:uFillTx/>
                <a:latin typeface="Plus Jakarta Sans"/>
                <a:ea typeface="Plus Jakarta Sans"/>
              </a:rPr>
              <a:t>NUMPY ARRAY</a:t>
            </a:r>
            <a:endParaRPr lang="en-US" sz="1000" b="0" u="none" strike="noStrike">
              <a:solidFill>
                <a:srgbClr val="000000"/>
              </a:solidFill>
              <a:effectLst/>
              <a:uFillTx/>
              <a:latin typeface="Arial"/>
            </a:endParaRPr>
          </a:p>
        </p:txBody>
      </p:sp>
      <p:sp>
        <p:nvSpPr>
          <p:cNvPr id="63" name="Text 10"/>
          <p:cNvSpPr/>
          <p:nvPr/>
        </p:nvSpPr>
        <p:spPr>
          <a:xfrm>
            <a:off x="6446520" y="2377440"/>
            <a:ext cx="4754520" cy="32000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Stores one fixed data type — this lets NumPy use fast, low-level compiled code underneath.</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Vectorized — apply an operation to an entire array at once, no explicit loop needed.</a:t>
            </a:r>
            <a:endParaRPr lang="en-US" sz="1250" b="0" u="none" strike="noStrike">
              <a:solidFill>
                <a:srgbClr val="000000"/>
              </a:solidFill>
              <a:effectLst/>
              <a:uFillTx/>
              <a:latin typeface="Arial"/>
            </a:endParaRPr>
          </a:p>
          <a:p>
            <a:pPr marL="228600" indent="-228600" defTabSz="914400">
              <a:lnSpc>
                <a:spcPct val="100000"/>
              </a:lnSpc>
              <a:spcAft>
                <a:spcPts val="1199"/>
              </a:spcAft>
              <a:buClr>
                <a:srgbClr val="231F71"/>
              </a:buClr>
              <a:buFont typeface="Symbol" charset="2"/>
              <a:buChar char=""/>
            </a:pPr>
            <a:r>
              <a:rPr lang="en-US" sz="1250" b="0" u="none" strike="noStrike">
                <a:solidFill>
                  <a:srgbClr val="231F71"/>
                </a:solidFill>
                <a:effectLst/>
                <a:uFillTx/>
                <a:latin typeface="Hanken Grotesk"/>
                <a:ea typeface="Hanken Grotesk"/>
              </a:rPr>
              <a:t>Built-in shape, dimensions, and broadcasting — the natural way to represent vectors, matrices, and tensors.</a:t>
            </a:r>
            <a:endParaRPr lang="en-US" sz="1250" b="0" u="none" strike="noStrike">
              <a:solidFill>
                <a:srgbClr val="000000"/>
              </a:solidFill>
              <a:effectLst/>
              <a:uFillTx/>
              <a:latin typeface="Arial"/>
            </a:endParaRPr>
          </a:p>
        </p:txBody>
      </p:sp>
      <p:sp>
        <p:nvSpPr>
          <p:cNvPr id="64" name="Text 11"/>
          <p:cNvSpPr/>
          <p:nvPr/>
        </p:nvSpPr>
        <p:spPr>
          <a:xfrm>
            <a:off x="548640" y="5897880"/>
            <a:ext cx="111096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474651"/>
                </a:solidFill>
                <a:effectLst/>
                <a:uFillTx/>
                <a:latin typeface="Hanken Grotesk"/>
                <a:ea typeface="Hanken Grotesk"/>
              </a:rPr>
              <a:t>The honest framing: NumPy doesn't replace Python lists everywhere — but for any numerical work, it's dramatically faster and is the shared language every Data Science and ML library speaks.</a:t>
            </a:r>
            <a:endParaRPr lang="en-US" sz="1200" b="0" u="none" strike="noStrike">
              <a:solidFill>
                <a:srgbClr val="000000"/>
              </a:solidFill>
              <a:effectLst/>
              <a:uFillTx/>
              <a:latin typeface="Arial"/>
            </a:endParaRPr>
          </a:p>
        </p:txBody>
      </p:sp>
      <p:sp>
        <p:nvSpPr>
          <p:cNvPr id="65" name="Text 1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WHAT WE'RE COVERING</a:t>
            </a:r>
            <a:endParaRPr lang="en-US" sz="1100" b="0" u="none" strike="noStrike">
              <a:solidFill>
                <a:srgbClr val="000000"/>
              </a:solidFill>
              <a:effectLst/>
              <a:uFillTx/>
              <a:latin typeface="Arial"/>
            </a:endParaRPr>
          </a:p>
        </p:txBody>
      </p:sp>
      <p:sp>
        <p:nvSpPr>
          <p:cNvPr id="6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Today's Roadmap</a:t>
            </a:r>
            <a:endParaRPr lang="en-US" sz="2600" b="0" u="none" strike="noStrike">
              <a:solidFill>
                <a:srgbClr val="000000"/>
              </a:solidFill>
              <a:effectLst/>
              <a:uFillTx/>
              <a:latin typeface="Arial"/>
            </a:endParaRPr>
          </a:p>
        </p:txBody>
      </p:sp>
      <p:pic>
        <p:nvPicPr>
          <p:cNvPr id="6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0" name="Shape 3"/>
          <p:cNvSpPr/>
          <p:nvPr/>
        </p:nvSpPr>
        <p:spPr>
          <a:xfrm>
            <a:off x="5486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 name="Text 4"/>
          <p:cNvSpPr/>
          <p:nvPr/>
        </p:nvSpPr>
        <p:spPr>
          <a:xfrm>
            <a:off x="6858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01</a:t>
            </a:r>
            <a:endParaRPr lang="en-US" sz="2000" b="0" u="none" strike="noStrike">
              <a:solidFill>
                <a:srgbClr val="000000"/>
              </a:solidFill>
              <a:effectLst/>
              <a:uFillTx/>
              <a:latin typeface="Arial"/>
            </a:endParaRPr>
          </a:p>
        </p:txBody>
      </p:sp>
      <p:sp>
        <p:nvSpPr>
          <p:cNvPr id="72" name="Text 5"/>
          <p:cNvSpPr/>
          <p:nvPr/>
        </p:nvSpPr>
        <p:spPr>
          <a:xfrm>
            <a:off x="6858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Introduction to NumPy</a:t>
            </a:r>
            <a:endParaRPr lang="en-US" sz="1150" b="0" u="none" strike="noStrike">
              <a:solidFill>
                <a:srgbClr val="000000"/>
              </a:solidFill>
              <a:effectLst/>
              <a:uFillTx/>
              <a:latin typeface="Arial"/>
            </a:endParaRPr>
          </a:p>
        </p:txBody>
      </p:sp>
      <p:sp>
        <p:nvSpPr>
          <p:cNvPr id="73" name="Shape 6"/>
          <p:cNvSpPr/>
          <p:nvPr/>
        </p:nvSpPr>
        <p:spPr>
          <a:xfrm>
            <a:off x="32918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4" name="Text 7"/>
          <p:cNvSpPr/>
          <p:nvPr/>
        </p:nvSpPr>
        <p:spPr>
          <a:xfrm>
            <a:off x="34290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02</a:t>
            </a:r>
            <a:endParaRPr lang="en-US" sz="2000" b="0" u="none" strike="noStrike">
              <a:solidFill>
                <a:srgbClr val="000000"/>
              </a:solidFill>
              <a:effectLst/>
              <a:uFillTx/>
              <a:latin typeface="Arial"/>
            </a:endParaRPr>
          </a:p>
        </p:txBody>
      </p:sp>
      <p:sp>
        <p:nvSpPr>
          <p:cNvPr id="75" name="Text 8"/>
          <p:cNvSpPr/>
          <p:nvPr/>
        </p:nvSpPr>
        <p:spPr>
          <a:xfrm>
            <a:off x="34290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 xml:space="preserve">Foundations, Shapes &amp; Axes</a:t>
            </a:r>
            <a:endParaRPr lang="en-US" sz="1150" b="0" u="none" strike="noStrike">
              <a:solidFill>
                <a:srgbClr val="000000"/>
              </a:solidFill>
              <a:effectLst/>
              <a:uFillTx/>
              <a:latin typeface="Arial"/>
            </a:endParaRPr>
          </a:p>
        </p:txBody>
      </p:sp>
      <p:sp>
        <p:nvSpPr>
          <p:cNvPr id="76" name="Shape 9"/>
          <p:cNvSpPr/>
          <p:nvPr/>
        </p:nvSpPr>
        <p:spPr>
          <a:xfrm>
            <a:off x="60350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10"/>
          <p:cNvSpPr/>
          <p:nvPr/>
        </p:nvSpPr>
        <p:spPr>
          <a:xfrm>
            <a:off x="61722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03</a:t>
            </a:r>
            <a:endParaRPr lang="en-US" sz="2000" b="0" u="none" strike="noStrike">
              <a:solidFill>
                <a:srgbClr val="000000"/>
              </a:solidFill>
              <a:effectLst/>
              <a:uFillTx/>
              <a:latin typeface="Arial"/>
            </a:endParaRPr>
          </a:p>
        </p:txBody>
      </p:sp>
      <p:sp>
        <p:nvSpPr>
          <p:cNvPr id="78" name="Text 11"/>
          <p:cNvSpPr/>
          <p:nvPr/>
        </p:nvSpPr>
        <p:spPr>
          <a:xfrm>
            <a:off x="61722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 xml:space="preserve">Creating Arrays &amp; Random Data</a:t>
            </a:r>
            <a:endParaRPr lang="en-US" sz="1150" b="0" u="none" strike="noStrike">
              <a:solidFill>
                <a:srgbClr val="000000"/>
              </a:solidFill>
              <a:effectLst/>
              <a:uFillTx/>
              <a:latin typeface="Arial"/>
            </a:endParaRPr>
          </a:p>
        </p:txBody>
      </p:sp>
      <p:sp>
        <p:nvSpPr>
          <p:cNvPr id="79" name="Shape 12"/>
          <p:cNvSpPr/>
          <p:nvPr/>
        </p:nvSpPr>
        <p:spPr>
          <a:xfrm>
            <a:off x="8778240" y="16459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0" name="Text 13"/>
          <p:cNvSpPr/>
          <p:nvPr/>
        </p:nvSpPr>
        <p:spPr>
          <a:xfrm>
            <a:off x="8915400" y="17557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04</a:t>
            </a:r>
            <a:endParaRPr lang="en-US" sz="2000" b="0" u="none" strike="noStrike">
              <a:solidFill>
                <a:srgbClr val="000000"/>
              </a:solidFill>
              <a:effectLst/>
              <a:uFillTx/>
              <a:latin typeface="Arial"/>
            </a:endParaRPr>
          </a:p>
        </p:txBody>
      </p:sp>
      <p:sp>
        <p:nvSpPr>
          <p:cNvPr id="81" name="Text 14"/>
          <p:cNvSpPr/>
          <p:nvPr/>
        </p:nvSpPr>
        <p:spPr>
          <a:xfrm>
            <a:off x="8915400" y="21945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 xml:space="preserve">Array Properties &amp; Data Types</a:t>
            </a:r>
            <a:endParaRPr lang="en-US" sz="1150" b="0" u="none" strike="noStrike">
              <a:solidFill>
                <a:srgbClr val="000000"/>
              </a:solidFill>
              <a:effectLst/>
              <a:uFillTx/>
              <a:latin typeface="Arial"/>
            </a:endParaRPr>
          </a:p>
        </p:txBody>
      </p:sp>
      <p:sp>
        <p:nvSpPr>
          <p:cNvPr id="82" name="Shape 15"/>
          <p:cNvSpPr/>
          <p:nvPr/>
        </p:nvSpPr>
        <p:spPr>
          <a:xfrm>
            <a:off x="5486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 name="Text 16"/>
          <p:cNvSpPr/>
          <p:nvPr/>
        </p:nvSpPr>
        <p:spPr>
          <a:xfrm>
            <a:off x="6858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05</a:t>
            </a:r>
            <a:endParaRPr lang="en-US" sz="2000" b="0" u="none" strike="noStrike">
              <a:solidFill>
                <a:srgbClr val="000000"/>
              </a:solidFill>
              <a:effectLst/>
              <a:uFillTx/>
              <a:latin typeface="Arial"/>
            </a:endParaRPr>
          </a:p>
        </p:txBody>
      </p:sp>
      <p:sp>
        <p:nvSpPr>
          <p:cNvPr id="84" name="Text 17"/>
          <p:cNvSpPr/>
          <p:nvPr/>
        </p:nvSpPr>
        <p:spPr>
          <a:xfrm>
            <a:off x="6858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 xml:space="preserve">Indexing, Slicing &amp; where()</a:t>
            </a:r>
            <a:endParaRPr lang="en-US" sz="1150" b="0" u="none" strike="noStrike">
              <a:solidFill>
                <a:srgbClr val="000000"/>
              </a:solidFill>
              <a:effectLst/>
              <a:uFillTx/>
              <a:latin typeface="Arial"/>
            </a:endParaRPr>
          </a:p>
        </p:txBody>
      </p:sp>
      <p:sp>
        <p:nvSpPr>
          <p:cNvPr id="85" name="Shape 18"/>
          <p:cNvSpPr/>
          <p:nvPr/>
        </p:nvSpPr>
        <p:spPr>
          <a:xfrm>
            <a:off x="32918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6" name="Text 19"/>
          <p:cNvSpPr/>
          <p:nvPr/>
        </p:nvSpPr>
        <p:spPr>
          <a:xfrm>
            <a:off x="34290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06</a:t>
            </a:r>
            <a:endParaRPr lang="en-US" sz="2000" b="0" u="none" strike="noStrike">
              <a:solidFill>
                <a:srgbClr val="000000"/>
              </a:solidFill>
              <a:effectLst/>
              <a:uFillTx/>
              <a:latin typeface="Arial"/>
            </a:endParaRPr>
          </a:p>
        </p:txBody>
      </p:sp>
      <p:sp>
        <p:nvSpPr>
          <p:cNvPr id="87" name="Text 20"/>
          <p:cNvSpPr/>
          <p:nvPr/>
        </p:nvSpPr>
        <p:spPr>
          <a:xfrm>
            <a:off x="34290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 xml:space="preserve">Reshaping, Sorting &amp; Joining</a:t>
            </a:r>
            <a:endParaRPr lang="en-US" sz="1150" b="0" u="none" strike="noStrike">
              <a:solidFill>
                <a:srgbClr val="000000"/>
              </a:solidFill>
              <a:effectLst/>
              <a:uFillTx/>
              <a:latin typeface="Arial"/>
            </a:endParaRPr>
          </a:p>
        </p:txBody>
      </p:sp>
      <p:sp>
        <p:nvSpPr>
          <p:cNvPr id="88" name="Shape 21"/>
          <p:cNvSpPr/>
          <p:nvPr/>
        </p:nvSpPr>
        <p:spPr>
          <a:xfrm>
            <a:off x="60350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 name="Text 22"/>
          <p:cNvSpPr/>
          <p:nvPr/>
        </p:nvSpPr>
        <p:spPr>
          <a:xfrm>
            <a:off x="61722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07</a:t>
            </a:r>
            <a:endParaRPr lang="en-US" sz="2000" b="0" u="none" strike="noStrike">
              <a:solidFill>
                <a:srgbClr val="000000"/>
              </a:solidFill>
              <a:effectLst/>
              <a:uFillTx/>
              <a:latin typeface="Arial"/>
            </a:endParaRPr>
          </a:p>
        </p:txBody>
      </p:sp>
      <p:sp>
        <p:nvSpPr>
          <p:cNvPr id="90" name="Text 23"/>
          <p:cNvSpPr/>
          <p:nvPr/>
        </p:nvSpPr>
        <p:spPr>
          <a:xfrm>
            <a:off x="61722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Array Modification</a:t>
            </a:r>
            <a:endParaRPr lang="en-US" sz="1150" b="0" u="none" strike="noStrike">
              <a:solidFill>
                <a:srgbClr val="000000"/>
              </a:solidFill>
              <a:effectLst/>
              <a:uFillTx/>
              <a:latin typeface="Arial"/>
            </a:endParaRPr>
          </a:p>
        </p:txBody>
      </p:sp>
      <p:sp>
        <p:nvSpPr>
          <p:cNvPr id="91" name="Shape 24"/>
          <p:cNvSpPr/>
          <p:nvPr/>
        </p:nvSpPr>
        <p:spPr>
          <a:xfrm>
            <a:off x="8778240" y="330084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2" name="Text 25"/>
          <p:cNvSpPr/>
          <p:nvPr/>
        </p:nvSpPr>
        <p:spPr>
          <a:xfrm>
            <a:off x="8915400" y="341064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08</a:t>
            </a:r>
            <a:endParaRPr lang="en-US" sz="2000" b="0" u="none" strike="noStrike">
              <a:solidFill>
                <a:srgbClr val="000000"/>
              </a:solidFill>
              <a:effectLst/>
              <a:uFillTx/>
              <a:latin typeface="Arial"/>
            </a:endParaRPr>
          </a:p>
        </p:txBody>
      </p:sp>
      <p:sp>
        <p:nvSpPr>
          <p:cNvPr id="93" name="Text 26"/>
          <p:cNvSpPr/>
          <p:nvPr/>
        </p:nvSpPr>
        <p:spPr>
          <a:xfrm>
            <a:off x="8915400" y="384948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Operations, Broadcasting &amp; Vectorisation</a:t>
            </a:r>
            <a:endParaRPr lang="en-US" sz="1150" b="0" u="none" strike="noStrike">
              <a:solidFill>
                <a:srgbClr val="000000"/>
              </a:solidFill>
              <a:effectLst/>
              <a:uFillTx/>
              <a:latin typeface="Arial"/>
            </a:endParaRPr>
          </a:p>
        </p:txBody>
      </p:sp>
      <p:sp>
        <p:nvSpPr>
          <p:cNvPr id="94" name="Shape 27"/>
          <p:cNvSpPr/>
          <p:nvPr/>
        </p:nvSpPr>
        <p:spPr>
          <a:xfrm>
            <a:off x="5486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5" name="Text 28"/>
          <p:cNvSpPr/>
          <p:nvPr/>
        </p:nvSpPr>
        <p:spPr>
          <a:xfrm>
            <a:off x="6858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09</a:t>
            </a:r>
            <a:endParaRPr lang="en-US" sz="2000" b="0" u="none" strike="noStrike">
              <a:solidFill>
                <a:srgbClr val="000000"/>
              </a:solidFill>
              <a:effectLst/>
              <a:uFillTx/>
              <a:latin typeface="Arial"/>
            </a:endParaRPr>
          </a:p>
        </p:txBody>
      </p:sp>
      <p:sp>
        <p:nvSpPr>
          <p:cNvPr id="96" name="Text 29"/>
          <p:cNvSpPr/>
          <p:nvPr/>
        </p:nvSpPr>
        <p:spPr>
          <a:xfrm>
            <a:off x="6858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Handling Missing Values</a:t>
            </a:r>
            <a:endParaRPr lang="en-US" sz="1150" b="0" u="none" strike="noStrike">
              <a:solidFill>
                <a:srgbClr val="000000"/>
              </a:solidFill>
              <a:effectLst/>
              <a:uFillTx/>
              <a:latin typeface="Arial"/>
            </a:endParaRPr>
          </a:p>
        </p:txBody>
      </p:sp>
      <p:sp>
        <p:nvSpPr>
          <p:cNvPr id="97" name="Shape 30"/>
          <p:cNvSpPr/>
          <p:nvPr/>
        </p:nvSpPr>
        <p:spPr>
          <a:xfrm>
            <a:off x="32918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98" name="Text 31"/>
          <p:cNvSpPr/>
          <p:nvPr/>
        </p:nvSpPr>
        <p:spPr>
          <a:xfrm>
            <a:off x="34290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10</a:t>
            </a:r>
            <a:endParaRPr lang="en-US" sz="2000" b="0" u="none" strike="noStrike">
              <a:solidFill>
                <a:srgbClr val="000000"/>
              </a:solidFill>
              <a:effectLst/>
              <a:uFillTx/>
              <a:latin typeface="Arial"/>
            </a:endParaRPr>
          </a:p>
        </p:txBody>
      </p:sp>
      <p:sp>
        <p:nvSpPr>
          <p:cNvPr id="99" name="Text 32"/>
          <p:cNvSpPr/>
          <p:nvPr/>
        </p:nvSpPr>
        <p:spPr>
          <a:xfrm>
            <a:off x="34290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NumPy with Real-World Data</a:t>
            </a:r>
            <a:endParaRPr lang="en-US" sz="1150" b="0" u="none" strike="noStrike">
              <a:solidFill>
                <a:srgbClr val="000000"/>
              </a:solidFill>
              <a:effectLst/>
              <a:uFillTx/>
              <a:latin typeface="Arial"/>
            </a:endParaRPr>
          </a:p>
        </p:txBody>
      </p:sp>
      <p:sp>
        <p:nvSpPr>
          <p:cNvPr id="100" name="Shape 33"/>
          <p:cNvSpPr/>
          <p:nvPr/>
        </p:nvSpPr>
        <p:spPr>
          <a:xfrm>
            <a:off x="60350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1" name="Text 34"/>
          <p:cNvSpPr/>
          <p:nvPr/>
        </p:nvSpPr>
        <p:spPr>
          <a:xfrm>
            <a:off x="61722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11</a:t>
            </a:r>
            <a:endParaRPr lang="en-US" sz="2000" b="0" u="none" strike="noStrike">
              <a:solidFill>
                <a:srgbClr val="000000"/>
              </a:solidFill>
              <a:effectLst/>
              <a:uFillTx/>
              <a:latin typeface="Arial"/>
            </a:endParaRPr>
          </a:p>
        </p:txBody>
      </p:sp>
      <p:sp>
        <p:nvSpPr>
          <p:cNvPr id="102" name="Text 35"/>
          <p:cNvSpPr/>
          <p:nvPr/>
        </p:nvSpPr>
        <p:spPr>
          <a:xfrm>
            <a:off x="61722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Bonus: Images as Arrays</a:t>
            </a:r>
            <a:endParaRPr lang="en-US" sz="1150" b="0" u="none" strike="noStrike">
              <a:solidFill>
                <a:srgbClr val="000000"/>
              </a:solidFill>
              <a:effectLst/>
              <a:uFillTx/>
              <a:latin typeface="Arial"/>
            </a:endParaRPr>
          </a:p>
        </p:txBody>
      </p:sp>
      <p:sp>
        <p:nvSpPr>
          <p:cNvPr id="103" name="Shape 36"/>
          <p:cNvSpPr/>
          <p:nvPr/>
        </p:nvSpPr>
        <p:spPr>
          <a:xfrm>
            <a:off x="8778240" y="4956120"/>
            <a:ext cx="2605680" cy="1508400"/>
          </a:xfrm>
          <a:prstGeom prst="roundRect">
            <a:avLst>
              <a:gd name="adj" fmla="val 6061"/>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04" name="Text 37"/>
          <p:cNvSpPr/>
          <p:nvPr/>
        </p:nvSpPr>
        <p:spPr>
          <a:xfrm>
            <a:off x="8915400" y="5065920"/>
            <a:ext cx="233136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8C8AE0"/>
                </a:solidFill>
                <a:effectLst/>
                <a:uFillTx/>
                <a:latin typeface="Bricolage Grotesque"/>
                <a:ea typeface="Bricolage Grotesque"/>
              </a:rPr>
              <a:t>12</a:t>
            </a:r>
            <a:endParaRPr lang="en-US" sz="2000" b="0" u="none" strike="noStrike">
              <a:solidFill>
                <a:srgbClr val="000000"/>
              </a:solidFill>
              <a:effectLst/>
              <a:uFillTx/>
              <a:latin typeface="Arial"/>
            </a:endParaRPr>
          </a:p>
        </p:txBody>
      </p:sp>
      <p:sp>
        <p:nvSpPr>
          <p:cNvPr id="105" name="Text 38"/>
          <p:cNvSpPr/>
          <p:nvPr/>
        </p:nvSpPr>
        <p:spPr>
          <a:xfrm>
            <a:off x="8915400" y="5504760"/>
            <a:ext cx="2331360" cy="86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150" b="1" u="none" strike="noStrike">
                <a:solidFill>
                  <a:srgbClr val="1B1B20"/>
                </a:solidFill>
                <a:effectLst/>
                <a:uFillTx/>
                <a:latin typeface="Hanken Grotesk"/>
                <a:ea typeface="Hanken Grotesk"/>
              </a:rPr>
              <a:t>Mini Projects</a:t>
            </a:r>
            <a:endParaRPr lang="en-US" sz="1150" b="0" u="none" strike="noStrike">
              <a:solidFill>
                <a:srgbClr val="000000"/>
              </a:solidFill>
              <a:effectLst/>
              <a:uFillTx/>
              <a:latin typeface="Arial"/>
            </a:endParaRPr>
          </a:p>
        </p:txBody>
      </p:sp>
      <p:sp>
        <p:nvSpPr>
          <p:cNvPr id="106" name="Text 3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07"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09"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110"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t>
            </a:r>
            <a:r>
              <a:rPr lang="en-US" sz="1400" b="1" u="none" spc="300" strike="noStrike">
                <a:solidFill>
                  <a:srgbClr val="2DD4BF"/>
                </a:solidFill>
                <a:effectLst/>
                <a:uFillTx/>
                <a:latin typeface="Plus Jakarta Sans"/>
                <a:ea typeface="Plus Jakarta Sans"/>
              </a:rPr>
              <a:t>A</a:t>
            </a:r>
            <a:r>
              <a:rPr lang="en-US" sz="1400" b="1" u="none" spc="300" strike="noStrike">
                <a:solidFill>
                  <a:srgbClr val="2DD4BF"/>
                </a:solidFill>
                <a:effectLst/>
                <a:uFillTx/>
                <a:latin typeface="Plus Jakarta Sans"/>
                <a:ea typeface="Plus Jakarta Sans"/>
              </a:rPr>
              <a:t>R</a:t>
            </a:r>
            <a:r>
              <a:rPr lang="en-US" sz="1400" b="1" u="none" spc="300" strike="noStrike">
                <a:solidFill>
                  <a:srgbClr val="2DD4BF"/>
                </a:solidFill>
                <a:effectLst/>
                <a:uFillTx/>
                <a:latin typeface="Plus Jakarta Sans"/>
                <a:ea typeface="Plus Jakarta Sans"/>
              </a:rPr>
              <a:t>T </a:t>
            </a:r>
            <a:r>
              <a:rPr lang="en-US" sz="1400" b="1" u="none" spc="300" strike="noStrike">
                <a:solidFill>
                  <a:srgbClr val="2DD4BF"/>
                </a:solidFill>
                <a:effectLst/>
                <a:uFillTx/>
                <a:latin typeface="Plus Jakarta Sans"/>
                <a:ea typeface="Plus Jakarta Sans"/>
              </a:rPr>
              <a:t>1 </a:t>
            </a:r>
            <a:r>
              <a:rPr lang="en-US" sz="1400" b="1" u="none" spc="300" strike="noStrike">
                <a:solidFill>
                  <a:srgbClr val="2DD4BF"/>
                </a:solidFill>
                <a:effectLst/>
                <a:uFillTx/>
                <a:latin typeface="Plus Jakarta Sans"/>
                <a:ea typeface="Plus Jakarta Sans"/>
              </a:rPr>
              <a:t>· </a:t>
            </a:r>
            <a:r>
              <a:rPr lang="en-US" sz="1400" b="1" u="none" spc="300" strike="noStrike">
                <a:solidFill>
                  <a:srgbClr val="2DD4BF"/>
                </a:solidFill>
                <a:effectLst/>
                <a:uFillTx/>
                <a:latin typeface="Plus Jakarta Sans"/>
                <a:ea typeface="Plus Jakarta Sans"/>
              </a:rPr>
              <a:t>I</a:t>
            </a:r>
            <a:r>
              <a:rPr lang="en-US" sz="1400" b="1" u="none" spc="300" strike="noStrike">
                <a:solidFill>
                  <a:srgbClr val="2DD4BF"/>
                </a:solidFill>
                <a:effectLst/>
                <a:uFillTx/>
                <a:latin typeface="Plus Jakarta Sans"/>
                <a:ea typeface="Plus Jakarta Sans"/>
              </a:rPr>
              <a:t>N</a:t>
            </a:r>
            <a:r>
              <a:rPr lang="en-US" sz="1400" b="1" u="none" spc="300" strike="noStrike">
                <a:solidFill>
                  <a:srgbClr val="2DD4BF"/>
                </a:solidFill>
                <a:effectLst/>
                <a:uFillTx/>
                <a:latin typeface="Plus Jakarta Sans"/>
                <a:ea typeface="Plus Jakarta Sans"/>
              </a:rPr>
              <a:t>T</a:t>
            </a:r>
            <a:r>
              <a:rPr lang="en-US" sz="1400" b="1" u="none" spc="300" strike="noStrike">
                <a:solidFill>
                  <a:srgbClr val="2DD4BF"/>
                </a:solidFill>
                <a:effectLst/>
                <a:uFillTx/>
                <a:latin typeface="Plus Jakarta Sans"/>
                <a:ea typeface="Plus Jakarta Sans"/>
              </a:rPr>
              <a:t>R</a:t>
            </a:r>
            <a:r>
              <a:rPr lang="en-US" sz="1400" b="1" u="none" spc="300" strike="noStrike">
                <a:solidFill>
                  <a:srgbClr val="2DD4BF"/>
                </a:solidFill>
                <a:effectLst/>
                <a:uFillTx/>
                <a:latin typeface="Plus Jakarta Sans"/>
                <a:ea typeface="Plus Jakarta Sans"/>
              </a:rPr>
              <a:t>O</a:t>
            </a:r>
            <a:r>
              <a:rPr lang="en-US" sz="1400" b="1" u="none" spc="300" strike="noStrike">
                <a:solidFill>
                  <a:srgbClr val="2DD4BF"/>
                </a:solidFill>
                <a:effectLst/>
                <a:uFillTx/>
                <a:latin typeface="Plus Jakarta Sans"/>
                <a:ea typeface="Plus Jakarta Sans"/>
              </a:rPr>
              <a:t>D</a:t>
            </a:r>
            <a:r>
              <a:rPr lang="en-US" sz="1400" b="1" u="none" spc="300" strike="noStrike">
                <a:solidFill>
                  <a:srgbClr val="2DD4BF"/>
                </a:solidFill>
                <a:effectLst/>
                <a:uFillTx/>
                <a:latin typeface="Plus Jakarta Sans"/>
                <a:ea typeface="Plus Jakarta Sans"/>
              </a:rPr>
              <a:t>U</a:t>
            </a:r>
            <a:r>
              <a:rPr lang="en-US" sz="1400" b="1" u="none" spc="300" strike="noStrike">
                <a:solidFill>
                  <a:srgbClr val="2DD4BF"/>
                </a:solidFill>
                <a:effectLst/>
                <a:uFillTx/>
                <a:latin typeface="Plus Jakarta Sans"/>
                <a:ea typeface="Plus Jakarta Sans"/>
              </a:rPr>
              <a:t>C</a:t>
            </a:r>
            <a:r>
              <a:rPr lang="en-US" sz="1400" b="1" u="none" spc="300" strike="noStrike">
                <a:solidFill>
                  <a:srgbClr val="2DD4BF"/>
                </a:solidFill>
                <a:effectLst/>
                <a:uFillTx/>
                <a:latin typeface="Plus Jakarta Sans"/>
                <a:ea typeface="Plus Jakarta Sans"/>
              </a:rPr>
              <a:t>T</a:t>
            </a:r>
            <a:r>
              <a:rPr lang="en-US" sz="1400" b="1" u="none" spc="300" strike="noStrike">
                <a:solidFill>
                  <a:srgbClr val="2DD4BF"/>
                </a:solidFill>
                <a:effectLst/>
                <a:uFillTx/>
                <a:latin typeface="Plus Jakarta Sans"/>
                <a:ea typeface="Plus Jakarta Sans"/>
              </a:rPr>
              <a:t>I</a:t>
            </a:r>
            <a:r>
              <a:rPr lang="en-US" sz="1400" b="1" u="none" spc="300" strike="noStrike">
                <a:solidFill>
                  <a:srgbClr val="2DD4BF"/>
                </a:solidFill>
                <a:effectLst/>
                <a:uFillTx/>
                <a:latin typeface="Plus Jakarta Sans"/>
                <a:ea typeface="Plus Jakarta Sans"/>
              </a:rPr>
              <a:t>O</a:t>
            </a:r>
            <a:r>
              <a:rPr lang="en-US" sz="1400" b="1" u="none" spc="300" strike="noStrike">
                <a:solidFill>
                  <a:srgbClr val="2DD4BF"/>
                </a:solidFill>
                <a:effectLst/>
                <a:uFillTx/>
                <a:latin typeface="Plus Jakarta Sans"/>
                <a:ea typeface="Plus Jakarta Sans"/>
              </a:rPr>
              <a:t>N</a:t>
            </a:r>
            <a:endParaRPr lang="en-US" sz="1400" b="0" u="none" strike="noStrike">
              <a:solidFill>
                <a:srgbClr val="FFFFFF"/>
              </a:solidFill>
              <a:effectLst/>
              <a:uFillTx/>
              <a:latin typeface="Arial"/>
            </a:endParaRPr>
          </a:p>
        </p:txBody>
      </p:sp>
      <p:sp>
        <p:nvSpPr>
          <p:cNvPr id="111"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Introduction to NumPy</a:t>
            </a:r>
            <a:endParaRPr lang="en-US" sz="4000" b="0" u="none" strike="noStrike">
              <a:solidFill>
                <a:srgbClr val="FFFFFF"/>
              </a:solidFill>
              <a:effectLst/>
              <a:uFillTx/>
              <a:latin typeface="Arial"/>
            </a:endParaRPr>
          </a:p>
        </p:txBody>
      </p:sp>
      <p:sp>
        <p:nvSpPr>
          <p:cNvPr id="112"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What it is, why it exists, and where it shows up across Data Science, AI, and ML.</a:t>
            </a:r>
            <a:endParaRPr lang="en-US" sz="1500" b="0" u="none" strike="noStrike">
              <a:solidFill>
                <a:srgbClr val="FFFFFF"/>
              </a:solidFill>
              <a:effectLst/>
              <a:uFillTx/>
              <a:latin typeface="Arial"/>
            </a:endParaRPr>
          </a:p>
        </p:txBody>
      </p:sp>
      <p:sp>
        <p:nvSpPr>
          <p:cNvPr id="113"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05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1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1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What Is NumPy?</a:t>
            </a:r>
            <a:endParaRPr lang="en-US" sz="2600" b="0" u="none" strike="noStrike">
              <a:solidFill>
                <a:srgbClr val="000000"/>
              </a:solidFill>
              <a:effectLst/>
              <a:uFillTx/>
              <a:latin typeface="Arial"/>
            </a:endParaRPr>
          </a:p>
        </p:txBody>
      </p:sp>
      <p:pic>
        <p:nvPicPr>
          <p:cNvPr id="116"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1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18" name="Text 3"/>
          <p:cNvSpPr/>
          <p:nvPr/>
        </p:nvSpPr>
        <p:spPr>
          <a:xfrm>
            <a:off x="548640" y="1737360"/>
            <a:ext cx="11109600" cy="4114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NumPy (Numerical Python) is Python's core library for working with arrays — grids of numbers of any dimension.</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Its central object is the ndarray — an n-dimensional array that stores numbers far more efficiently than a Python list.</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Where you'll actually use it: cleaning and transforming data in Pandas, plotting in Matplotlib/Seaborn, and running the actual math behind every ML model — weights, gradients, and predictions are all NumPy arrays underneath.</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If Python is the language of this course, NumPy is the language every other library in it is written in.</a:t>
            </a:r>
            <a:endParaRPr lang="en-US" sz="1600" b="0" u="none" strike="noStrike">
              <a:solidFill>
                <a:srgbClr val="000000"/>
              </a:solidFill>
              <a:effectLst/>
              <a:uFillTx/>
              <a:latin typeface="Arial"/>
            </a:endParaRPr>
          </a:p>
        </p:txBody>
      </p:sp>
      <p:sp>
        <p:nvSpPr>
          <p:cNvPr id="119"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Installing &amp; Importing</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one-time install</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pip install numpy</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every notebook / script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import numpy as np</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arr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print(arr)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[1 2 3]</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np is the near-universal alias for NumPy — you'll see it in almost every Data Science codebase, so use it too.</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NumPy is a dependency of Pandas, Matplotlib, and most ML libraries — if you've installed those, NumPy is already there.</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Everything in this module builds from one object: the ndarray.</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31"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2"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133"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 · INTRODUCTION</a:t>
            </a:r>
            <a:endParaRPr lang="en-US" sz="1100" b="0" u="none" strike="noStrike">
              <a:solidFill>
                <a:srgbClr val="000000"/>
              </a:solidFill>
              <a:effectLst/>
              <a:uFillTx/>
              <a:latin typeface="Arial"/>
            </a:endParaRPr>
          </a:p>
        </p:txBody>
      </p:sp>
      <p:sp>
        <p:nvSpPr>
          <p:cNvPr id="134"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Introduction to NumPy</a:t>
            </a:r>
            <a:endParaRPr lang="en-US" sz="2300" b="0" u="none" strike="noStrike">
              <a:solidFill>
                <a:srgbClr val="000000"/>
              </a:solidFill>
              <a:effectLst/>
              <a:uFillTx/>
              <a:latin typeface="Arial"/>
            </a:endParaRPr>
          </a:p>
        </p:txBody>
      </p:sp>
      <p:sp>
        <p:nvSpPr>
          <p:cNvPr id="135"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136"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7"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8"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139"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Install NumPy (if needed), import it as np, and print np.__version__.</a:t>
            </a:r>
            <a:endParaRPr lang="en-US" sz="1300" b="0" u="none" strike="noStrike">
              <a:solidFill>
                <a:srgbClr val="000000"/>
              </a:solidFill>
              <a:effectLst/>
              <a:uFillTx/>
              <a:latin typeface="Arial"/>
            </a:endParaRPr>
          </a:p>
        </p:txBody>
      </p:sp>
      <p:sp>
        <p:nvSpPr>
          <p:cNvPr id="140"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2"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143"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NumPy array from a plain Python list of 5 numbers and print it.</a:t>
            </a:r>
            <a:endParaRPr lang="en-US" sz="1300" b="0" u="none" strike="noStrike">
              <a:solidFill>
                <a:srgbClr val="000000"/>
              </a:solidFill>
              <a:effectLst/>
              <a:uFillTx/>
              <a:latin typeface="Arial"/>
            </a:endParaRPr>
          </a:p>
        </p:txBody>
      </p:sp>
      <p:sp>
        <p:nvSpPr>
          <p:cNvPr id="144"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5"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6"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147"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why NumPy is faster than a Python list for math operations.</a:t>
            </a:r>
            <a:endParaRPr lang="en-US" sz="1300" b="0" u="none" strike="noStrike">
              <a:solidFill>
                <a:srgbClr val="000000"/>
              </a:solidFill>
              <a:effectLst/>
              <a:uFillTx/>
              <a:latin typeface="Arial"/>
            </a:endParaRPr>
          </a:p>
        </p:txBody>
      </p:sp>
      <p:pic>
        <p:nvPicPr>
          <p:cNvPr id="14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49" name="Text 17"/>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50" name="Text 1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151"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2"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153"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154"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2 · FOUNDATIONS</a:t>
            </a:r>
            <a:endParaRPr lang="en-US" sz="1400" b="0" u="none" strike="noStrike">
              <a:solidFill>
                <a:srgbClr val="FFFFFF"/>
              </a:solidFill>
              <a:effectLst/>
              <a:uFillTx/>
              <a:latin typeface="Arial"/>
            </a:endParaRPr>
          </a:p>
        </p:txBody>
      </p:sp>
      <p:sp>
        <p:nvSpPr>
          <p:cNvPr id="155"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Foundations &amp; Terminology</a:t>
            </a:r>
            <a:endParaRPr lang="en-US" sz="4000" b="0" u="none" strike="noStrike">
              <a:solidFill>
                <a:srgbClr val="FFFFFF"/>
              </a:solidFill>
              <a:effectLst/>
              <a:uFillTx/>
              <a:latin typeface="Arial"/>
            </a:endParaRPr>
          </a:p>
        </p:txBody>
      </p:sp>
      <p:sp>
        <p:nvSpPr>
          <p:cNvPr id="156"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 xml:space="preserve">12 core terms, plus how to read shapes and axes.</a:t>
            </a:r>
            <a:endParaRPr lang="en-US" sz="1500" b="0" u="none" strike="noStrike">
              <a:solidFill>
                <a:srgbClr val="FFFFFF"/>
              </a:solidFill>
              <a:effectLst/>
              <a:uFillTx/>
              <a:latin typeface="Arial"/>
            </a:endParaRPr>
          </a:p>
        </p:txBody>
      </p:sp>
      <p:sp>
        <p:nvSpPr>
          <p:cNvPr id="157"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10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5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5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1–4 · The Core Object</a:t>
            </a:r>
            <a:endParaRPr lang="en-US" sz="2600" b="0" u="none" strike="noStrike">
              <a:solidFill>
                <a:srgbClr val="000000"/>
              </a:solidFill>
              <a:effectLst/>
              <a:uFillTx/>
              <a:latin typeface="Arial"/>
            </a:endParaRPr>
          </a:p>
        </p:txBody>
      </p:sp>
      <p:pic>
        <p:nvPicPr>
          <p:cNvPr id="16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6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62"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3"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a:t>
            </a:r>
            <a:endParaRPr lang="en-US" sz="1500" b="0" u="none" strike="noStrike">
              <a:solidFill>
                <a:srgbClr val="000000"/>
              </a:solidFill>
              <a:effectLst/>
              <a:uFillTx/>
              <a:latin typeface="Arial"/>
            </a:endParaRPr>
          </a:p>
        </p:txBody>
      </p:sp>
      <p:sp>
        <p:nvSpPr>
          <p:cNvPr id="165"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ndarray</a:t>
            </a:r>
            <a:endParaRPr lang="en-US" sz="1350" b="0" u="none" strike="noStrike">
              <a:solidFill>
                <a:srgbClr val="000000"/>
              </a:solidFill>
              <a:effectLst/>
              <a:uFillTx/>
              <a:latin typeface="Arial"/>
            </a:endParaRPr>
          </a:p>
        </p:txBody>
      </p:sp>
      <p:sp>
        <p:nvSpPr>
          <p:cNvPr id="166"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NumPy's core data structure — an n-dimensional array of a single data type.</a:t>
            </a:r>
            <a:endParaRPr lang="en-US" sz="1050" b="0" u="none" strike="noStrike">
              <a:solidFill>
                <a:srgbClr val="000000"/>
              </a:solidFill>
              <a:effectLst/>
              <a:uFillTx/>
              <a:latin typeface="Arial"/>
            </a:endParaRPr>
          </a:p>
        </p:txBody>
      </p:sp>
      <p:sp>
        <p:nvSpPr>
          <p:cNvPr id="167"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8"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2</a:t>
            </a:r>
            <a:endParaRPr lang="en-US" sz="1500" b="0" u="none" strike="noStrike">
              <a:solidFill>
                <a:srgbClr val="000000"/>
              </a:solidFill>
              <a:effectLst/>
              <a:uFillTx/>
              <a:latin typeface="Arial"/>
            </a:endParaRPr>
          </a:p>
        </p:txBody>
      </p:sp>
      <p:sp>
        <p:nvSpPr>
          <p:cNvPr id="170"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Axis</a:t>
            </a:r>
            <a:endParaRPr lang="en-US" sz="1350" b="0" u="none" strike="noStrike">
              <a:solidFill>
                <a:srgbClr val="000000"/>
              </a:solidFill>
              <a:effectLst/>
              <a:uFillTx/>
              <a:latin typeface="Arial"/>
            </a:endParaRPr>
          </a:p>
        </p:txBody>
      </p:sp>
      <p:sp>
        <p:nvSpPr>
          <p:cNvPr id="171"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direction along which an operation happens — axis 0 is rows, axis 1 is columns.</a:t>
            </a:r>
            <a:endParaRPr lang="en-US" sz="1050" b="0" u="none" strike="noStrike">
              <a:solidFill>
                <a:srgbClr val="000000"/>
              </a:solidFill>
              <a:effectLst/>
              <a:uFillTx/>
              <a:latin typeface="Arial"/>
            </a:endParaRPr>
          </a:p>
        </p:txBody>
      </p:sp>
      <p:sp>
        <p:nvSpPr>
          <p:cNvPr id="172"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3"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3</a:t>
            </a:r>
            <a:endParaRPr lang="en-US" sz="1500" b="0" u="none" strike="noStrike">
              <a:solidFill>
                <a:srgbClr val="000000"/>
              </a:solidFill>
              <a:effectLst/>
              <a:uFillTx/>
              <a:latin typeface="Arial"/>
            </a:endParaRPr>
          </a:p>
        </p:txBody>
      </p:sp>
      <p:sp>
        <p:nvSpPr>
          <p:cNvPr id="175"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Shape</a:t>
            </a:r>
            <a:endParaRPr lang="en-US" sz="1350" b="0" u="none" strike="noStrike">
              <a:solidFill>
                <a:srgbClr val="000000"/>
              </a:solidFill>
              <a:effectLst/>
              <a:uFillTx/>
              <a:latin typeface="Arial"/>
            </a:endParaRPr>
          </a:p>
        </p:txBody>
      </p:sp>
      <p:sp>
        <p:nvSpPr>
          <p:cNvPr id="176"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tuple describing an array's size along each dimension, e.g. (3, 4).</a:t>
            </a:r>
            <a:endParaRPr lang="en-US" sz="1050" b="0" u="none" strike="noStrike">
              <a:solidFill>
                <a:srgbClr val="000000"/>
              </a:solidFill>
              <a:effectLst/>
              <a:uFillTx/>
              <a:latin typeface="Arial"/>
            </a:endParaRPr>
          </a:p>
        </p:txBody>
      </p:sp>
      <p:sp>
        <p:nvSpPr>
          <p:cNvPr id="177"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8"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9"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4</a:t>
            </a:r>
            <a:endParaRPr lang="en-US" sz="1500" b="0" u="none" strike="noStrike">
              <a:solidFill>
                <a:srgbClr val="000000"/>
              </a:solidFill>
              <a:effectLst/>
              <a:uFillTx/>
              <a:latin typeface="Arial"/>
            </a:endParaRPr>
          </a:p>
        </p:txBody>
      </p:sp>
      <p:sp>
        <p:nvSpPr>
          <p:cNvPr id="180"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dtype</a:t>
            </a:r>
            <a:endParaRPr lang="en-US" sz="1350" b="0" u="none" strike="noStrike">
              <a:solidFill>
                <a:srgbClr val="000000"/>
              </a:solidFill>
              <a:effectLst/>
              <a:uFillTx/>
              <a:latin typeface="Arial"/>
            </a:endParaRPr>
          </a:p>
        </p:txBody>
      </p:sp>
      <p:sp>
        <p:nvSpPr>
          <p:cNvPr id="181"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The data type shared by every element in an array, e.g. int64, float32.</a:t>
            </a:r>
            <a:endParaRPr lang="en-US" sz="1050" b="0" u="none" strike="noStrike">
              <a:solidFill>
                <a:srgbClr val="000000"/>
              </a:solidFill>
              <a:effectLst/>
              <a:uFillTx/>
              <a:latin typeface="Arial"/>
            </a:endParaRPr>
          </a:p>
        </p:txBody>
      </p:sp>
      <p:sp>
        <p:nvSpPr>
          <p:cNvPr id="182"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18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18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5–8 · Dimensions, Named</a:t>
            </a:r>
            <a:endParaRPr lang="en-US" sz="2600" b="0" u="none" strike="noStrike">
              <a:solidFill>
                <a:srgbClr val="000000"/>
              </a:solidFill>
              <a:effectLst/>
              <a:uFillTx/>
              <a:latin typeface="Arial"/>
            </a:endParaRPr>
          </a:p>
        </p:txBody>
      </p:sp>
      <p:pic>
        <p:nvPicPr>
          <p:cNvPr id="18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18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87"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8"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5</a:t>
            </a:r>
            <a:endParaRPr lang="en-US" sz="1500" b="0" u="none" strike="noStrike">
              <a:solidFill>
                <a:srgbClr val="000000"/>
              </a:solidFill>
              <a:effectLst/>
              <a:uFillTx/>
              <a:latin typeface="Arial"/>
            </a:endParaRPr>
          </a:p>
        </p:txBody>
      </p:sp>
      <p:sp>
        <p:nvSpPr>
          <p:cNvPr id="190"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Vector</a:t>
            </a:r>
            <a:endParaRPr lang="en-US" sz="1350" b="0" u="none" strike="noStrike">
              <a:solidFill>
                <a:srgbClr val="000000"/>
              </a:solidFill>
              <a:effectLst/>
              <a:uFillTx/>
              <a:latin typeface="Arial"/>
            </a:endParaRPr>
          </a:p>
        </p:txBody>
      </p:sp>
      <p:sp>
        <p:nvSpPr>
          <p:cNvPr id="191"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1-dimensional array — a single row or column of numbers.</a:t>
            </a:r>
            <a:endParaRPr lang="en-US" sz="1050" b="0" u="none" strike="noStrike">
              <a:solidFill>
                <a:srgbClr val="000000"/>
              </a:solidFill>
              <a:effectLst/>
              <a:uFillTx/>
              <a:latin typeface="Arial"/>
            </a:endParaRPr>
          </a:p>
        </p:txBody>
      </p:sp>
      <p:sp>
        <p:nvSpPr>
          <p:cNvPr id="192"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4"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6</a:t>
            </a:r>
            <a:endParaRPr lang="en-US" sz="1500" b="0" u="none" strike="noStrike">
              <a:solidFill>
                <a:srgbClr val="000000"/>
              </a:solidFill>
              <a:effectLst/>
              <a:uFillTx/>
              <a:latin typeface="Arial"/>
            </a:endParaRPr>
          </a:p>
        </p:txBody>
      </p:sp>
      <p:sp>
        <p:nvSpPr>
          <p:cNvPr id="195"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Matrix</a:t>
            </a:r>
            <a:endParaRPr lang="en-US" sz="1350" b="0" u="none" strike="noStrike">
              <a:solidFill>
                <a:srgbClr val="000000"/>
              </a:solidFill>
              <a:effectLst/>
              <a:uFillTx/>
              <a:latin typeface="Arial"/>
            </a:endParaRPr>
          </a:p>
        </p:txBody>
      </p:sp>
      <p:sp>
        <p:nvSpPr>
          <p:cNvPr id="196"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2-dimensional array — rows and columns, like a spreadsheet grid.</a:t>
            </a:r>
            <a:endParaRPr lang="en-US" sz="1050" b="0" u="none" strike="noStrike">
              <a:solidFill>
                <a:srgbClr val="000000"/>
              </a:solidFill>
              <a:effectLst/>
              <a:uFillTx/>
              <a:latin typeface="Arial"/>
            </a:endParaRPr>
          </a:p>
        </p:txBody>
      </p:sp>
      <p:sp>
        <p:nvSpPr>
          <p:cNvPr id="197"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8"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9"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7</a:t>
            </a:r>
            <a:endParaRPr lang="en-US" sz="1500" b="0" u="none" strike="noStrike">
              <a:solidFill>
                <a:srgbClr val="000000"/>
              </a:solidFill>
              <a:effectLst/>
              <a:uFillTx/>
              <a:latin typeface="Arial"/>
            </a:endParaRPr>
          </a:p>
        </p:txBody>
      </p:sp>
      <p:sp>
        <p:nvSpPr>
          <p:cNvPr id="200"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Tensor</a:t>
            </a:r>
            <a:endParaRPr lang="en-US" sz="1350" b="0" u="none" strike="noStrike">
              <a:solidFill>
                <a:srgbClr val="000000"/>
              </a:solidFill>
              <a:effectLst/>
              <a:uFillTx/>
              <a:latin typeface="Arial"/>
            </a:endParaRPr>
          </a:p>
        </p:txBody>
      </p:sp>
      <p:sp>
        <p:nvSpPr>
          <p:cNvPr id="201"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An array with 3 or more dimensions — the general term ML frameworks use.</a:t>
            </a:r>
            <a:endParaRPr lang="en-US" sz="1050" b="0" u="none" strike="noStrike">
              <a:solidFill>
                <a:srgbClr val="000000"/>
              </a:solidFill>
              <a:effectLst/>
              <a:uFillTx/>
              <a:latin typeface="Arial"/>
            </a:endParaRPr>
          </a:p>
        </p:txBody>
      </p:sp>
      <p:sp>
        <p:nvSpPr>
          <p:cNvPr id="202"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4"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8</a:t>
            </a:r>
            <a:endParaRPr lang="en-US" sz="1500" b="0" u="none" strike="noStrike">
              <a:solidFill>
                <a:srgbClr val="000000"/>
              </a:solidFill>
              <a:effectLst/>
              <a:uFillTx/>
              <a:latin typeface="Arial"/>
            </a:endParaRPr>
          </a:p>
        </p:txBody>
      </p:sp>
      <p:sp>
        <p:nvSpPr>
          <p:cNvPr id="205"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Scalar</a:t>
            </a:r>
            <a:endParaRPr lang="en-US" sz="1350" b="0" u="none" strike="noStrike">
              <a:solidFill>
                <a:srgbClr val="000000"/>
              </a:solidFill>
              <a:effectLst/>
              <a:uFillTx/>
              <a:latin typeface="Arial"/>
            </a:endParaRPr>
          </a:p>
        </p:txBody>
      </p:sp>
      <p:sp>
        <p:nvSpPr>
          <p:cNvPr id="206"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 single number — technically a 0-dimensional array.</a:t>
            </a:r>
            <a:endParaRPr lang="en-US" sz="1050" b="0" u="none" strike="noStrike">
              <a:solidFill>
                <a:srgbClr val="000000"/>
              </a:solidFill>
              <a:effectLst/>
              <a:uFillTx/>
              <a:latin typeface="Arial"/>
            </a:endParaRPr>
          </a:p>
        </p:txBody>
      </p:sp>
      <p:sp>
        <p:nvSpPr>
          <p:cNvPr id="207"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0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0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Terms 9–12 · How NumPy Operates</a:t>
            </a:r>
            <a:endParaRPr lang="en-US" sz="2600" b="0" u="none" strike="noStrike">
              <a:solidFill>
                <a:srgbClr val="000000"/>
              </a:solidFill>
              <a:effectLst/>
              <a:uFillTx/>
              <a:latin typeface="Arial"/>
            </a:endParaRPr>
          </a:p>
        </p:txBody>
      </p:sp>
      <p:pic>
        <p:nvPicPr>
          <p:cNvPr id="21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21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212" name="Shape 3"/>
          <p:cNvSpPr/>
          <p:nvPr/>
        </p:nvSpPr>
        <p:spPr>
          <a:xfrm>
            <a:off x="5486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3" name="Shape 4"/>
          <p:cNvSpPr/>
          <p:nvPr/>
        </p:nvSpPr>
        <p:spPr>
          <a:xfrm>
            <a:off x="7131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4" name="Text 5"/>
          <p:cNvSpPr/>
          <p:nvPr/>
        </p:nvSpPr>
        <p:spPr>
          <a:xfrm>
            <a:off x="7131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9</a:t>
            </a:r>
            <a:endParaRPr lang="en-US" sz="1500" b="0" u="none" strike="noStrike">
              <a:solidFill>
                <a:srgbClr val="000000"/>
              </a:solidFill>
              <a:effectLst/>
              <a:uFillTx/>
              <a:latin typeface="Arial"/>
            </a:endParaRPr>
          </a:p>
        </p:txBody>
      </p:sp>
      <p:sp>
        <p:nvSpPr>
          <p:cNvPr id="215" name="Text 6"/>
          <p:cNvSpPr/>
          <p:nvPr/>
        </p:nvSpPr>
        <p:spPr>
          <a:xfrm>
            <a:off x="11887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Broadcasting</a:t>
            </a:r>
            <a:endParaRPr lang="en-US" sz="1350" b="0" u="none" strike="noStrike">
              <a:solidFill>
                <a:srgbClr val="000000"/>
              </a:solidFill>
              <a:effectLst/>
              <a:uFillTx/>
              <a:latin typeface="Arial"/>
            </a:endParaRPr>
          </a:p>
        </p:txBody>
      </p:sp>
      <p:sp>
        <p:nvSpPr>
          <p:cNvPr id="216" name="Text 7"/>
          <p:cNvSpPr/>
          <p:nvPr/>
        </p:nvSpPr>
        <p:spPr>
          <a:xfrm>
            <a:off x="7131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NumPy automatically stretching a smaller array to match a bigger one during an operation.</a:t>
            </a:r>
            <a:endParaRPr lang="en-US" sz="1050" b="0" u="none" strike="noStrike">
              <a:solidFill>
                <a:srgbClr val="000000"/>
              </a:solidFill>
              <a:effectLst/>
              <a:uFillTx/>
              <a:latin typeface="Arial"/>
            </a:endParaRPr>
          </a:p>
        </p:txBody>
      </p:sp>
      <p:sp>
        <p:nvSpPr>
          <p:cNvPr id="217" name="Shape 8"/>
          <p:cNvSpPr/>
          <p:nvPr/>
        </p:nvSpPr>
        <p:spPr>
          <a:xfrm>
            <a:off x="33717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8" name="Shape 9"/>
          <p:cNvSpPr/>
          <p:nvPr/>
        </p:nvSpPr>
        <p:spPr>
          <a:xfrm>
            <a:off x="35362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9" name="Text 10"/>
          <p:cNvSpPr/>
          <p:nvPr/>
        </p:nvSpPr>
        <p:spPr>
          <a:xfrm>
            <a:off x="35362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10</a:t>
            </a:r>
            <a:endParaRPr lang="en-US" sz="1500" b="0" u="none" strike="noStrike">
              <a:solidFill>
                <a:srgbClr val="000000"/>
              </a:solidFill>
              <a:effectLst/>
              <a:uFillTx/>
              <a:latin typeface="Arial"/>
            </a:endParaRPr>
          </a:p>
        </p:txBody>
      </p:sp>
      <p:sp>
        <p:nvSpPr>
          <p:cNvPr id="220" name="Text 11"/>
          <p:cNvSpPr/>
          <p:nvPr/>
        </p:nvSpPr>
        <p:spPr>
          <a:xfrm>
            <a:off x="40118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Vectorization</a:t>
            </a:r>
            <a:endParaRPr lang="en-US" sz="1350" b="0" u="none" strike="noStrike">
              <a:solidFill>
                <a:srgbClr val="000000"/>
              </a:solidFill>
              <a:effectLst/>
              <a:uFillTx/>
              <a:latin typeface="Arial"/>
            </a:endParaRPr>
          </a:p>
        </p:txBody>
      </p:sp>
      <p:sp>
        <p:nvSpPr>
          <p:cNvPr id="221" name="Text 12"/>
          <p:cNvSpPr/>
          <p:nvPr/>
        </p:nvSpPr>
        <p:spPr>
          <a:xfrm>
            <a:off x="35362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Applying an operation to an entire array at once, instead of looping element by element.</a:t>
            </a:r>
            <a:endParaRPr lang="en-US" sz="1050" b="0" u="none" strike="noStrike">
              <a:solidFill>
                <a:srgbClr val="000000"/>
              </a:solidFill>
              <a:effectLst/>
              <a:uFillTx/>
              <a:latin typeface="Arial"/>
            </a:endParaRPr>
          </a:p>
        </p:txBody>
      </p:sp>
      <p:sp>
        <p:nvSpPr>
          <p:cNvPr id="222" name="Shape 13"/>
          <p:cNvSpPr/>
          <p:nvPr/>
        </p:nvSpPr>
        <p:spPr>
          <a:xfrm>
            <a:off x="619524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Shape 14"/>
          <p:cNvSpPr/>
          <p:nvPr/>
        </p:nvSpPr>
        <p:spPr>
          <a:xfrm>
            <a:off x="635976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Text 15"/>
          <p:cNvSpPr/>
          <p:nvPr/>
        </p:nvSpPr>
        <p:spPr>
          <a:xfrm>
            <a:off x="635976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11</a:t>
            </a:r>
            <a:endParaRPr lang="en-US" sz="1500" b="0" u="none" strike="noStrike">
              <a:solidFill>
                <a:srgbClr val="000000"/>
              </a:solidFill>
              <a:effectLst/>
              <a:uFillTx/>
              <a:latin typeface="Arial"/>
            </a:endParaRPr>
          </a:p>
        </p:txBody>
      </p:sp>
      <p:sp>
        <p:nvSpPr>
          <p:cNvPr id="225" name="Text 16"/>
          <p:cNvSpPr/>
          <p:nvPr/>
        </p:nvSpPr>
        <p:spPr>
          <a:xfrm>
            <a:off x="683532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Indexing</a:t>
            </a:r>
            <a:endParaRPr lang="en-US" sz="1350" b="0" u="none" strike="noStrike">
              <a:solidFill>
                <a:srgbClr val="000000"/>
              </a:solidFill>
              <a:effectLst/>
              <a:uFillTx/>
              <a:latin typeface="Arial"/>
            </a:endParaRPr>
          </a:p>
        </p:txBody>
      </p:sp>
      <p:sp>
        <p:nvSpPr>
          <p:cNvPr id="226" name="Text 17"/>
          <p:cNvSpPr/>
          <p:nvPr/>
        </p:nvSpPr>
        <p:spPr>
          <a:xfrm>
            <a:off x="635976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Accessing one specific element of an array by its position.</a:t>
            </a:r>
            <a:endParaRPr lang="en-US" sz="1050" b="0" u="none" strike="noStrike">
              <a:solidFill>
                <a:srgbClr val="000000"/>
              </a:solidFill>
              <a:effectLst/>
              <a:uFillTx/>
              <a:latin typeface="Arial"/>
            </a:endParaRPr>
          </a:p>
        </p:txBody>
      </p:sp>
      <p:sp>
        <p:nvSpPr>
          <p:cNvPr id="227" name="Shape 18"/>
          <p:cNvSpPr/>
          <p:nvPr/>
        </p:nvSpPr>
        <p:spPr>
          <a:xfrm>
            <a:off x="9018360" y="1600200"/>
            <a:ext cx="2639880" cy="4205880"/>
          </a:xfrm>
          <a:prstGeom prst="roundRect">
            <a:avLst>
              <a:gd name="adj" fmla="val 346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8" name="Shape 19"/>
          <p:cNvSpPr/>
          <p:nvPr/>
        </p:nvSpPr>
        <p:spPr>
          <a:xfrm>
            <a:off x="9182880" y="1764720"/>
            <a:ext cx="383760" cy="38376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9" name="Text 20"/>
          <p:cNvSpPr/>
          <p:nvPr/>
        </p:nvSpPr>
        <p:spPr>
          <a:xfrm>
            <a:off x="9182880" y="176472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231F71"/>
                </a:solidFill>
                <a:effectLst/>
                <a:uFillTx/>
                <a:latin typeface="Bricolage Grotesque"/>
                <a:ea typeface="Bricolage Grotesque"/>
              </a:rPr>
              <a:t>12</a:t>
            </a:r>
            <a:endParaRPr lang="en-US" sz="1500" b="0" u="none" strike="noStrike">
              <a:solidFill>
                <a:srgbClr val="000000"/>
              </a:solidFill>
              <a:effectLst/>
              <a:uFillTx/>
              <a:latin typeface="Arial"/>
            </a:endParaRPr>
          </a:p>
        </p:txBody>
      </p:sp>
      <p:sp>
        <p:nvSpPr>
          <p:cNvPr id="230" name="Text 21"/>
          <p:cNvSpPr/>
          <p:nvPr/>
        </p:nvSpPr>
        <p:spPr>
          <a:xfrm>
            <a:off x="9658440" y="1746360"/>
            <a:ext cx="1816920" cy="420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50" b="1" u="none" strike="noStrike">
                <a:solidFill>
                  <a:srgbClr val="1B1B20"/>
                </a:solidFill>
                <a:effectLst/>
                <a:uFillTx/>
                <a:latin typeface="Bricolage Grotesque"/>
                <a:ea typeface="Bricolage Grotesque"/>
              </a:rPr>
              <a:t>Slicing</a:t>
            </a:r>
            <a:endParaRPr lang="en-US" sz="1350" b="0" u="none" strike="noStrike">
              <a:solidFill>
                <a:srgbClr val="000000"/>
              </a:solidFill>
              <a:effectLst/>
              <a:uFillTx/>
              <a:latin typeface="Arial"/>
            </a:endParaRPr>
          </a:p>
        </p:txBody>
      </p:sp>
      <p:sp>
        <p:nvSpPr>
          <p:cNvPr id="231" name="Text 22"/>
          <p:cNvSpPr/>
          <p:nvPr/>
        </p:nvSpPr>
        <p:spPr>
          <a:xfrm>
            <a:off x="9182880" y="2221920"/>
            <a:ext cx="2310840" cy="3456000"/>
          </a:xfrm>
          <a:prstGeom prst="rect">
            <a:avLst/>
          </a:prstGeom>
          <a:noFill/>
          <a:ln w="0">
            <a:noFill/>
          </a:ln>
        </p:spPr>
        <p:style>
          <a:lnRef idx="0"/>
          <a:fillRef idx="0"/>
          <a:effectRef idx="0"/>
          <a:fontRef idx="minor"/>
        </p:style>
        <p:txBody>
          <a:bodyPr lIns="90000" tIns="45000" rIns="90000" bIns="45000" anchor="t">
            <a:noAutofit/>
          </a:bodyPr>
          <a:p>
            <a:pPr defTabSz="914400">
              <a:lnSpc>
                <a:spcPct val="112000"/>
              </a:lnSpc>
              <a:tabLst>
                <a:tab pos="0" algn="l"/>
              </a:tabLst>
            </a:pPr>
            <a:r>
              <a:rPr lang="en-US" sz="1050" b="0" u="none" strike="noStrike">
                <a:solidFill>
                  <a:srgbClr val="474651"/>
                </a:solidFill>
                <a:effectLst/>
                <a:uFillTx/>
                <a:latin typeface="Hanken Grotesk"/>
                <a:ea typeface="Hanken Grotesk"/>
              </a:rPr>
              <a:t>Accessing a range/subset of an array using start:stop:step.</a:t>
            </a:r>
            <a:endParaRPr lang="en-US" sz="1050" b="0" u="none" strike="noStrike">
              <a:solidFill>
                <a:srgbClr val="000000"/>
              </a:solidFill>
              <a:effectLst/>
              <a:uFillTx/>
              <a:latin typeface="Arial"/>
            </a:endParaRPr>
          </a:p>
        </p:txBody>
      </p:sp>
      <p:sp>
        <p:nvSpPr>
          <p:cNvPr id="232" name="Text 2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3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3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Vector, Matrix &amp; Tensor — Visualized</a:t>
            </a:r>
            <a:endParaRPr lang="en-US" sz="2600" b="0" u="none" strike="noStrike">
              <a:solidFill>
                <a:srgbClr val="000000"/>
              </a:solidFill>
              <a:effectLst/>
              <a:uFillTx/>
              <a:latin typeface="Arial"/>
            </a:endParaRPr>
          </a:p>
        </p:txBody>
      </p:sp>
      <p:pic>
        <p:nvPicPr>
          <p:cNvPr id="23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23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237" name="Text 3"/>
          <p:cNvSpPr/>
          <p:nvPr/>
        </p:nvSpPr>
        <p:spPr>
          <a:xfrm>
            <a:off x="822960" y="164592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5755A7"/>
                </a:solidFill>
                <a:effectLst/>
                <a:uFillTx/>
                <a:latin typeface="Bricolage Grotesque"/>
                <a:ea typeface="Bricolage Grotesque"/>
              </a:rPr>
              <a:t>Vector (1D)</a:t>
            </a:r>
            <a:endParaRPr lang="en-US" sz="1300" b="0" u="none" strike="noStrike">
              <a:solidFill>
                <a:srgbClr val="000000"/>
              </a:solidFill>
              <a:effectLst/>
              <a:uFillTx/>
              <a:latin typeface="Arial"/>
            </a:endParaRPr>
          </a:p>
        </p:txBody>
      </p:sp>
      <p:sp>
        <p:nvSpPr>
          <p:cNvPr id="238" name="Shape 4"/>
          <p:cNvSpPr/>
          <p:nvPr/>
        </p:nvSpPr>
        <p:spPr>
          <a:xfrm>
            <a:off x="822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5"/>
          <p:cNvSpPr/>
          <p:nvPr/>
        </p:nvSpPr>
        <p:spPr>
          <a:xfrm>
            <a:off x="822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a:t>
            </a:r>
            <a:endParaRPr lang="en-US" sz="1300" b="0" u="none" strike="noStrike">
              <a:solidFill>
                <a:srgbClr val="000000"/>
              </a:solidFill>
              <a:effectLst/>
              <a:uFillTx/>
              <a:latin typeface="Arial"/>
            </a:endParaRPr>
          </a:p>
        </p:txBody>
      </p:sp>
      <p:sp>
        <p:nvSpPr>
          <p:cNvPr id="240" name="Shape 6"/>
          <p:cNvSpPr/>
          <p:nvPr/>
        </p:nvSpPr>
        <p:spPr>
          <a:xfrm>
            <a:off x="1389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7"/>
          <p:cNvSpPr/>
          <p:nvPr/>
        </p:nvSpPr>
        <p:spPr>
          <a:xfrm>
            <a:off x="1389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8</a:t>
            </a:r>
            <a:endParaRPr lang="en-US" sz="1300" b="0" u="none" strike="noStrike">
              <a:solidFill>
                <a:srgbClr val="000000"/>
              </a:solidFill>
              <a:effectLst/>
              <a:uFillTx/>
              <a:latin typeface="Arial"/>
            </a:endParaRPr>
          </a:p>
        </p:txBody>
      </p:sp>
      <p:sp>
        <p:nvSpPr>
          <p:cNvPr id="242" name="Shape 8"/>
          <p:cNvSpPr/>
          <p:nvPr/>
        </p:nvSpPr>
        <p:spPr>
          <a:xfrm>
            <a:off x="195696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Text 9"/>
          <p:cNvSpPr/>
          <p:nvPr/>
        </p:nvSpPr>
        <p:spPr>
          <a:xfrm>
            <a:off x="195696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15</a:t>
            </a:r>
            <a:endParaRPr lang="en-US" sz="1300" b="0" u="none" strike="noStrike">
              <a:solidFill>
                <a:srgbClr val="000000"/>
              </a:solidFill>
              <a:effectLst/>
              <a:uFillTx/>
              <a:latin typeface="Arial"/>
            </a:endParaRPr>
          </a:p>
        </p:txBody>
      </p:sp>
      <p:sp>
        <p:nvSpPr>
          <p:cNvPr id="244" name="Shape 10"/>
          <p:cNvSpPr/>
          <p:nvPr/>
        </p:nvSpPr>
        <p:spPr>
          <a:xfrm>
            <a:off x="252360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11"/>
          <p:cNvSpPr/>
          <p:nvPr/>
        </p:nvSpPr>
        <p:spPr>
          <a:xfrm>
            <a:off x="252360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16</a:t>
            </a:r>
            <a:endParaRPr lang="en-US" sz="1300" b="0" u="none" strike="noStrike">
              <a:solidFill>
                <a:srgbClr val="000000"/>
              </a:solidFill>
              <a:effectLst/>
              <a:uFillTx/>
              <a:latin typeface="Arial"/>
            </a:endParaRPr>
          </a:p>
        </p:txBody>
      </p:sp>
      <p:sp>
        <p:nvSpPr>
          <p:cNvPr id="246" name="Shape 12"/>
          <p:cNvSpPr/>
          <p:nvPr/>
        </p:nvSpPr>
        <p:spPr>
          <a:xfrm>
            <a:off x="3090600" y="2103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7" name="Text 13"/>
          <p:cNvSpPr/>
          <p:nvPr/>
        </p:nvSpPr>
        <p:spPr>
          <a:xfrm>
            <a:off x="3090600" y="2103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23</a:t>
            </a:r>
            <a:endParaRPr lang="en-US" sz="1300" b="0" u="none" strike="noStrike">
              <a:solidFill>
                <a:srgbClr val="000000"/>
              </a:solidFill>
              <a:effectLst/>
              <a:uFillTx/>
              <a:latin typeface="Arial"/>
            </a:endParaRPr>
          </a:p>
        </p:txBody>
      </p:sp>
      <p:sp>
        <p:nvSpPr>
          <p:cNvPr id="248" name="Text 14"/>
          <p:cNvSpPr/>
          <p:nvPr/>
        </p:nvSpPr>
        <p:spPr>
          <a:xfrm>
            <a:off x="822960" y="292608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BE185D"/>
                </a:solidFill>
                <a:effectLst/>
                <a:uFillTx/>
                <a:latin typeface="Bricolage Grotesque"/>
                <a:ea typeface="Bricolage Grotesque"/>
              </a:rPr>
              <a:t>Matrix (2D)</a:t>
            </a:r>
            <a:endParaRPr lang="en-US" sz="1300" b="0" u="none" strike="noStrike">
              <a:solidFill>
                <a:srgbClr val="000000"/>
              </a:solidFill>
              <a:effectLst/>
              <a:uFillTx/>
              <a:latin typeface="Arial"/>
            </a:endParaRPr>
          </a:p>
        </p:txBody>
      </p:sp>
      <p:sp>
        <p:nvSpPr>
          <p:cNvPr id="249" name="Shape 15"/>
          <p:cNvSpPr/>
          <p:nvPr/>
        </p:nvSpPr>
        <p:spPr>
          <a:xfrm>
            <a:off x="822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0" name="Text 16"/>
          <p:cNvSpPr/>
          <p:nvPr/>
        </p:nvSpPr>
        <p:spPr>
          <a:xfrm>
            <a:off x="822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251" name="Shape 17"/>
          <p:cNvSpPr/>
          <p:nvPr/>
        </p:nvSpPr>
        <p:spPr>
          <a:xfrm>
            <a:off x="1389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2" name="Text 18"/>
          <p:cNvSpPr/>
          <p:nvPr/>
        </p:nvSpPr>
        <p:spPr>
          <a:xfrm>
            <a:off x="1389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253" name="Shape 19"/>
          <p:cNvSpPr/>
          <p:nvPr/>
        </p:nvSpPr>
        <p:spPr>
          <a:xfrm>
            <a:off x="1956960" y="338328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4" name="Text 20"/>
          <p:cNvSpPr/>
          <p:nvPr/>
        </p:nvSpPr>
        <p:spPr>
          <a:xfrm>
            <a:off x="1956960" y="338328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255" name="Shape 21"/>
          <p:cNvSpPr/>
          <p:nvPr/>
        </p:nvSpPr>
        <p:spPr>
          <a:xfrm>
            <a:off x="822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6" name="Text 22"/>
          <p:cNvSpPr/>
          <p:nvPr/>
        </p:nvSpPr>
        <p:spPr>
          <a:xfrm>
            <a:off x="822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257" name="Shape 23"/>
          <p:cNvSpPr/>
          <p:nvPr/>
        </p:nvSpPr>
        <p:spPr>
          <a:xfrm>
            <a:off x="1389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8" name="Text 24"/>
          <p:cNvSpPr/>
          <p:nvPr/>
        </p:nvSpPr>
        <p:spPr>
          <a:xfrm>
            <a:off x="1389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259" name="Shape 25"/>
          <p:cNvSpPr/>
          <p:nvPr/>
        </p:nvSpPr>
        <p:spPr>
          <a:xfrm>
            <a:off x="1956960" y="388620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Text 26"/>
          <p:cNvSpPr/>
          <p:nvPr/>
        </p:nvSpPr>
        <p:spPr>
          <a:xfrm>
            <a:off x="1956960" y="388620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261" name="Shape 27"/>
          <p:cNvSpPr/>
          <p:nvPr/>
        </p:nvSpPr>
        <p:spPr>
          <a:xfrm>
            <a:off x="822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2" name="Text 28"/>
          <p:cNvSpPr/>
          <p:nvPr/>
        </p:nvSpPr>
        <p:spPr>
          <a:xfrm>
            <a:off x="822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7</a:t>
            </a:r>
            <a:endParaRPr lang="en-US" sz="1250" b="0" u="none" strike="noStrike">
              <a:solidFill>
                <a:srgbClr val="000000"/>
              </a:solidFill>
              <a:effectLst/>
              <a:uFillTx/>
              <a:latin typeface="Arial"/>
            </a:endParaRPr>
          </a:p>
        </p:txBody>
      </p:sp>
      <p:sp>
        <p:nvSpPr>
          <p:cNvPr id="263" name="Shape 29"/>
          <p:cNvSpPr/>
          <p:nvPr/>
        </p:nvSpPr>
        <p:spPr>
          <a:xfrm>
            <a:off x="1389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4" name="Text 30"/>
          <p:cNvSpPr/>
          <p:nvPr/>
        </p:nvSpPr>
        <p:spPr>
          <a:xfrm>
            <a:off x="1389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8</a:t>
            </a:r>
            <a:endParaRPr lang="en-US" sz="1250" b="0" u="none" strike="noStrike">
              <a:solidFill>
                <a:srgbClr val="000000"/>
              </a:solidFill>
              <a:effectLst/>
              <a:uFillTx/>
              <a:latin typeface="Arial"/>
            </a:endParaRPr>
          </a:p>
        </p:txBody>
      </p:sp>
      <p:sp>
        <p:nvSpPr>
          <p:cNvPr id="265" name="Shape 31"/>
          <p:cNvSpPr/>
          <p:nvPr/>
        </p:nvSpPr>
        <p:spPr>
          <a:xfrm>
            <a:off x="1956960" y="4389120"/>
            <a:ext cx="566640" cy="50256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32"/>
          <p:cNvSpPr/>
          <p:nvPr/>
        </p:nvSpPr>
        <p:spPr>
          <a:xfrm>
            <a:off x="1956960" y="4389120"/>
            <a:ext cx="566640" cy="502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9</a:t>
            </a:r>
            <a:endParaRPr lang="en-US" sz="1250" b="0" u="none" strike="noStrike">
              <a:solidFill>
                <a:srgbClr val="000000"/>
              </a:solidFill>
              <a:effectLst/>
              <a:uFillTx/>
              <a:latin typeface="Arial"/>
            </a:endParaRPr>
          </a:p>
        </p:txBody>
      </p:sp>
      <p:sp>
        <p:nvSpPr>
          <p:cNvPr id="267" name="Text 33"/>
          <p:cNvSpPr/>
          <p:nvPr/>
        </p:nvSpPr>
        <p:spPr>
          <a:xfrm>
            <a:off x="5120640" y="1645920"/>
            <a:ext cx="2742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386759"/>
                </a:solidFill>
                <a:effectLst/>
                <a:uFillTx/>
                <a:latin typeface="Bricolage Grotesque"/>
                <a:ea typeface="Bricolage Grotesque"/>
              </a:rPr>
              <a:t>Tensor (3D+)</a:t>
            </a:r>
            <a:endParaRPr lang="en-US" sz="1300" b="0" u="none" strike="noStrike">
              <a:solidFill>
                <a:srgbClr val="000000"/>
              </a:solidFill>
              <a:effectLst/>
              <a:uFillTx/>
              <a:latin typeface="Arial"/>
            </a:endParaRPr>
          </a:p>
        </p:txBody>
      </p:sp>
      <p:sp>
        <p:nvSpPr>
          <p:cNvPr id="268" name="Shape 34"/>
          <p:cNvSpPr/>
          <p:nvPr/>
        </p:nvSpPr>
        <p:spPr>
          <a:xfrm>
            <a:off x="5440680" y="242316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9" name="Text 35"/>
          <p:cNvSpPr/>
          <p:nvPr/>
        </p:nvSpPr>
        <p:spPr>
          <a:xfrm>
            <a:off x="5440680" y="242316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270" name="Shape 36"/>
          <p:cNvSpPr/>
          <p:nvPr/>
        </p:nvSpPr>
        <p:spPr>
          <a:xfrm>
            <a:off x="5970960" y="242316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1" name="Text 37"/>
          <p:cNvSpPr/>
          <p:nvPr/>
        </p:nvSpPr>
        <p:spPr>
          <a:xfrm>
            <a:off x="5970960" y="242316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272" name="Shape 38"/>
          <p:cNvSpPr/>
          <p:nvPr/>
        </p:nvSpPr>
        <p:spPr>
          <a:xfrm>
            <a:off x="5440680" y="28987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3" name="Text 39"/>
          <p:cNvSpPr/>
          <p:nvPr/>
        </p:nvSpPr>
        <p:spPr>
          <a:xfrm>
            <a:off x="5440680" y="28987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274" name="Shape 40"/>
          <p:cNvSpPr/>
          <p:nvPr/>
        </p:nvSpPr>
        <p:spPr>
          <a:xfrm>
            <a:off x="5970960" y="28987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5" name="Text 41"/>
          <p:cNvSpPr/>
          <p:nvPr/>
        </p:nvSpPr>
        <p:spPr>
          <a:xfrm>
            <a:off x="5970960" y="28987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276" name="Shape 42"/>
          <p:cNvSpPr/>
          <p:nvPr/>
        </p:nvSpPr>
        <p:spPr>
          <a:xfrm>
            <a:off x="5120640" y="21031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Text 43"/>
          <p:cNvSpPr/>
          <p:nvPr/>
        </p:nvSpPr>
        <p:spPr>
          <a:xfrm>
            <a:off x="5120640" y="21031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278" name="Shape 44"/>
          <p:cNvSpPr/>
          <p:nvPr/>
        </p:nvSpPr>
        <p:spPr>
          <a:xfrm>
            <a:off x="5650920" y="210312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9" name="Text 45"/>
          <p:cNvSpPr/>
          <p:nvPr/>
        </p:nvSpPr>
        <p:spPr>
          <a:xfrm>
            <a:off x="5650920" y="210312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280" name="Shape 46"/>
          <p:cNvSpPr/>
          <p:nvPr/>
        </p:nvSpPr>
        <p:spPr>
          <a:xfrm>
            <a:off x="5120640" y="257868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47"/>
          <p:cNvSpPr/>
          <p:nvPr/>
        </p:nvSpPr>
        <p:spPr>
          <a:xfrm>
            <a:off x="5120640" y="257868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7</a:t>
            </a:r>
            <a:endParaRPr lang="en-US" sz="1250" b="0" u="none" strike="noStrike">
              <a:solidFill>
                <a:srgbClr val="000000"/>
              </a:solidFill>
              <a:effectLst/>
              <a:uFillTx/>
              <a:latin typeface="Arial"/>
            </a:endParaRPr>
          </a:p>
        </p:txBody>
      </p:sp>
      <p:sp>
        <p:nvSpPr>
          <p:cNvPr id="282" name="Shape 48"/>
          <p:cNvSpPr/>
          <p:nvPr/>
        </p:nvSpPr>
        <p:spPr>
          <a:xfrm>
            <a:off x="5650920" y="2578680"/>
            <a:ext cx="529920" cy="4752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3" name="Text 49"/>
          <p:cNvSpPr/>
          <p:nvPr/>
        </p:nvSpPr>
        <p:spPr>
          <a:xfrm>
            <a:off x="5650920" y="2578680"/>
            <a:ext cx="529920" cy="475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8</a:t>
            </a:r>
            <a:endParaRPr lang="en-US" sz="1250" b="0" u="none" strike="noStrike">
              <a:solidFill>
                <a:srgbClr val="000000"/>
              </a:solidFill>
              <a:effectLst/>
              <a:uFillTx/>
              <a:latin typeface="Arial"/>
            </a:endParaRPr>
          </a:p>
        </p:txBody>
      </p:sp>
      <p:sp>
        <p:nvSpPr>
          <p:cNvPr id="284" name="Text 50"/>
          <p:cNvSpPr/>
          <p:nvPr/>
        </p:nvSpPr>
        <p:spPr>
          <a:xfrm>
            <a:off x="7955280" y="1920240"/>
            <a:ext cx="370296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Vector is a 1D array — one row of numbers, like a single feature column.</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Matrix is a 2D array — rows and columns, like a spreadsheet or a grayscale image.</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A Tensor is 3D or higher — stacked matrices, like a color image (height x width x channels) or a batch of them.</a:t>
            </a:r>
            <a:endParaRPr lang="en-US" sz="11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150" b="0" u="none" strike="noStrike">
                <a:solidFill>
                  <a:srgbClr val="1B1B20"/>
                </a:solidFill>
                <a:effectLst/>
                <a:uFillTx/>
                <a:latin typeface="Hanken Grotesk"/>
                <a:ea typeface="Hanken Grotesk"/>
              </a:rPr>
              <a:t>NumPy handles all three with the exact same ndarray object — only the shape changes.</a:t>
            </a:r>
            <a:endParaRPr lang="en-US" sz="1150" b="0" u="none" strike="noStrike">
              <a:solidFill>
                <a:srgbClr val="000000"/>
              </a:solidFill>
              <a:effectLst/>
              <a:uFillTx/>
              <a:latin typeface="Arial"/>
            </a:endParaRPr>
          </a:p>
        </p:txBody>
      </p:sp>
      <p:sp>
        <p:nvSpPr>
          <p:cNvPr id="285" name="Text 5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28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2 · TERMINOLOGY</a:t>
            </a:r>
            <a:endParaRPr lang="en-US" sz="1100" b="0" u="none" strike="noStrike">
              <a:solidFill>
                <a:srgbClr val="000000"/>
              </a:solidFill>
              <a:effectLst/>
              <a:uFillTx/>
              <a:latin typeface="Arial"/>
            </a:endParaRPr>
          </a:p>
        </p:txBody>
      </p:sp>
      <p:sp>
        <p:nvSpPr>
          <p:cNvPr id="28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Foundations &amp; Terminology</a:t>
            </a:r>
            <a:endParaRPr lang="en-US" sz="2300" b="0" u="none" strike="noStrike">
              <a:solidFill>
                <a:srgbClr val="000000"/>
              </a:solidFill>
              <a:effectLst/>
              <a:uFillTx/>
              <a:latin typeface="Arial"/>
            </a:endParaRPr>
          </a:p>
        </p:txBody>
      </p:sp>
      <p:sp>
        <p:nvSpPr>
          <p:cNvPr id="29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 your own words, explain the difference between a vector, a matrix, and a tensor.</a:t>
            </a:r>
            <a:endParaRPr lang="en-US" sz="1300" b="0" u="none" strike="noStrike">
              <a:solidFill>
                <a:srgbClr val="000000"/>
              </a:solidFill>
              <a:effectLst/>
              <a:uFillTx/>
              <a:latin typeface="Arial"/>
            </a:endParaRPr>
          </a:p>
        </p:txBody>
      </p:sp>
      <p:sp>
        <p:nvSpPr>
          <p:cNvPr id="29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Name the axis number for rows and the axis number for columns in a 2D array.</a:t>
            </a:r>
            <a:endParaRPr lang="en-US" sz="1300" b="0" u="none" strike="noStrike">
              <a:solidFill>
                <a:srgbClr val="000000"/>
              </a:solidFill>
              <a:effectLst/>
              <a:uFillTx/>
              <a:latin typeface="Arial"/>
            </a:endParaRPr>
          </a:p>
        </p:txBody>
      </p:sp>
      <p:sp>
        <p:nvSpPr>
          <p:cNvPr id="29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what broadcasting means, using a simple example (array + single number).</a:t>
            </a:r>
            <a:endParaRPr lang="en-US" sz="1300" b="0" u="none" strike="noStrike">
              <a:solidFill>
                <a:srgbClr val="000000"/>
              </a:solidFill>
              <a:effectLst/>
              <a:uFillTx/>
              <a:latin typeface="Arial"/>
            </a:endParaRPr>
          </a:p>
        </p:txBody>
      </p:sp>
      <p:sp>
        <p:nvSpPr>
          <p:cNvPr id="30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Explain why vectorization is usually faster than a Python for-loop.</a:t>
            </a:r>
            <a:endParaRPr lang="en-US" sz="1300" b="0" u="none" strike="noStrike">
              <a:solidFill>
                <a:srgbClr val="000000"/>
              </a:solidFill>
              <a:effectLst/>
              <a:uFillTx/>
              <a:latin typeface="Arial"/>
            </a:endParaRPr>
          </a:p>
        </p:txBody>
      </p:sp>
      <p:pic>
        <p:nvPicPr>
          <p:cNvPr id="30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0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0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31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1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31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3 · CREATING ARRAYS</a:t>
            </a:r>
            <a:endParaRPr lang="en-US" sz="1400" b="0" u="none" strike="noStrike">
              <a:solidFill>
                <a:srgbClr val="FFFFFF"/>
              </a:solidFill>
              <a:effectLst/>
              <a:uFillTx/>
              <a:latin typeface="Arial"/>
            </a:endParaRPr>
          </a:p>
        </p:txBody>
      </p:sp>
      <p:sp>
        <p:nvSpPr>
          <p:cNvPr id="31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Creating Arrays</a:t>
            </a:r>
            <a:endParaRPr lang="en-US" sz="4000" b="0" u="none" strike="noStrike">
              <a:solidFill>
                <a:srgbClr val="FFFFFF"/>
              </a:solidFill>
              <a:effectLst/>
              <a:uFillTx/>
              <a:latin typeface="Arial"/>
            </a:endParaRPr>
          </a:p>
        </p:txBody>
      </p:sp>
      <p:sp>
        <p:nvSpPr>
          <p:cNvPr id="31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Every array starts somewhere — from a list, a shortcut function, or a range of values.</a:t>
            </a:r>
            <a:endParaRPr lang="en-US" sz="1500" b="0" u="none" strike="noStrike">
              <a:solidFill>
                <a:srgbClr val="FFFFFF"/>
              </a:solidFill>
              <a:effectLst/>
              <a:uFillTx/>
              <a:latin typeface="Arial"/>
            </a:endParaRPr>
          </a:p>
        </p:txBody>
      </p:sp>
      <p:sp>
        <p:nvSpPr>
          <p:cNvPr id="31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20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1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1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From a List — np.array()</a:t>
            </a:r>
            <a:endParaRPr lang="en-US" sz="2600" b="0" u="none" strike="noStrike">
              <a:solidFill>
                <a:srgbClr val="000000"/>
              </a:solidFill>
              <a:effectLst/>
              <a:uFillTx/>
              <a:latin typeface="Arial"/>
            </a:endParaRPr>
          </a:p>
        </p:txBody>
      </p:sp>
      <p:pic>
        <p:nvPicPr>
          <p:cNvPr id="31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2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21" name="Shape 3"/>
          <p:cNvSpPr/>
          <p:nvPr/>
        </p:nvSpPr>
        <p:spPr>
          <a:xfrm>
            <a:off x="548640" y="1737360"/>
            <a:ext cx="539460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2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2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25" name="Text 7"/>
          <p:cNvSpPr/>
          <p:nvPr/>
        </p:nvSpPr>
        <p:spPr>
          <a:xfrm>
            <a:off x="749880" y="2121480"/>
            <a:ext cx="499212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vector = np.array([1, 2, 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print("Vector:", vector)</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matrix = np.array([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[1, 2, 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[4, 5, 6]</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print("Matrix:", matrix)</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tensor = np.array([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[[1, 2], [3, 4]],</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[[5, 6], [7, 8]]</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print("Tensor:", tensor)</a:t>
            </a:r>
            <a:endParaRPr lang="en-US" sz="1250" b="0" u="none" strike="noStrike">
              <a:solidFill>
                <a:srgbClr val="000000"/>
              </a:solidFill>
              <a:effectLst/>
              <a:uFillTx/>
              <a:latin typeface="Cantarell"/>
            </a:endParaRPr>
          </a:p>
        </p:txBody>
      </p:sp>
      <p:sp>
        <p:nvSpPr>
          <p:cNvPr id="326" name="Text 8"/>
          <p:cNvSpPr/>
          <p:nvPr/>
        </p:nvSpPr>
        <p:spPr>
          <a:xfrm>
            <a:off x="6172200" y="1737360"/>
            <a:ext cx="548604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np.array() converts a Python list (or list of lists) directly into an ndarray.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nesting depth of the list determines the dimensionality — one level for a vector, two for a matrix, three for a tensor.</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This is the most common way to create an array from data you already have.</a:t>
            </a:r>
            <a:endParaRPr lang="en-US" sz="1400" b="0" u="none" strike="noStrike">
              <a:solidFill>
                <a:srgbClr val="000000"/>
              </a:solidFill>
              <a:effectLst/>
              <a:uFillTx/>
              <a:latin typeface="Arial"/>
            </a:endParaRPr>
          </a:p>
        </p:txBody>
      </p:sp>
      <p:sp>
        <p:nvSpPr>
          <p:cNvPr id="327"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Shortcut Functions</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np.zeros((r,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0s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np.ones((r,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1s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np.full((r, c),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array of the given shape, filled with any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np.eye(n)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An n × n identity matrix (1s on the diagonal)</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np.zeros((2, 3))      # 2x3 grid of 0s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np.ones((3, 3))       # 3x3 grid of 1s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np.full((2, 2), 7)    # 2x2 grid of 7s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np.eye(3)             # 3x3 identity matrix</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3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4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Ranges — np.arange() &amp; np.linspace()</a:t>
            </a:r>
            <a:endParaRPr lang="en-US" sz="2600" b="0" u="none" strike="noStrike">
              <a:solidFill>
                <a:srgbClr val="000000"/>
              </a:solidFill>
              <a:effectLst/>
              <a:uFillTx/>
              <a:latin typeface="Arial"/>
            </a:endParaRPr>
          </a:p>
        </p:txBody>
      </p:sp>
      <p:pic>
        <p:nvPicPr>
          <p:cNvPr id="34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4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43" name="Shape 3"/>
          <p:cNvSpPr/>
          <p:nvPr/>
        </p:nvSpPr>
        <p:spPr>
          <a:xfrm>
            <a:off x="548640" y="1737360"/>
            <a:ext cx="5394600" cy="3291480"/>
          </a:xfrm>
          <a:prstGeom prst="roundRect">
            <a:avLst>
              <a:gd name="adj" fmla="val 3333"/>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4"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45"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46"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47" name="Text 7"/>
          <p:cNvSpPr/>
          <p:nvPr/>
        </p:nvSpPr>
        <p:spPr>
          <a:xfrm>
            <a:off x="749880" y="2121480"/>
            <a:ext cx="4992120" cy="2761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np.arange(0, 10, 2)</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[0 2 4 6 8]</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start, stop (excluded), step</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np.linspace(0, 1,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[0.   0.25 0.5  0.75 1.  ]</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start, stop (included), count</a:t>
            </a:r>
            <a:endParaRPr lang="en-US" sz="1400" b="0" u="none" strike="noStrike">
              <a:solidFill>
                <a:srgbClr val="000000"/>
              </a:solidFill>
              <a:effectLst/>
              <a:uFillTx/>
              <a:latin typeface="Cantarell"/>
            </a:endParaRPr>
          </a:p>
        </p:txBody>
      </p:sp>
      <p:sp>
        <p:nvSpPr>
          <p:cNvPr id="348" name="Text 8"/>
          <p:cNvSpPr/>
          <p:nvPr/>
        </p:nvSpPr>
        <p:spPr>
          <a:xfrm>
            <a:off x="6172200" y="1737360"/>
            <a:ext cx="5486040" cy="34743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np.arange(start, stop, step) works like Python's range(), but returns an array — stop is excluded.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np.linspace(start, stop, count) instead gives you an exact number of evenly spaced values, with stop included.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Use arange when you care about the step size; use linspace when you care about how many points you want.</a:t>
            </a:r>
            <a:endParaRPr lang="en-US" sz="1350" b="0" u="none" strike="noStrike">
              <a:solidFill>
                <a:srgbClr val="000000"/>
              </a:solidFill>
              <a:effectLst/>
              <a:uFillTx/>
              <a:latin typeface="Arial"/>
            </a:endParaRPr>
          </a:p>
        </p:txBody>
      </p:sp>
      <p:sp>
        <p:nvSpPr>
          <p:cNvPr id="349"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5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5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Random Arrays — a Quick Reference</a:t>
            </a:r>
            <a:endParaRPr lang="en-US" sz="2600" b="0" u="none" strike="noStrike">
              <a:solidFill>
                <a:srgbClr val="000000"/>
              </a:solidFill>
              <a:effectLst/>
              <a:uFillTx/>
              <a:latin typeface="Arial"/>
            </a:endParaRPr>
          </a:p>
        </p:txBody>
      </p:sp>
      <p:pic>
        <p:nvPicPr>
          <p:cNvPr id="35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5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54" name="Table 0"/>
          <p:cNvGraphicFramePr/>
          <p:nvPr/>
        </p:nvGraphicFramePr>
        <p:xfrm>
          <a:off x="548640" y="1737360"/>
          <a:ext cx="11109600" cy="2285640"/>
        </p:xfrm>
        <a:graphic>
          <a:graphicData uri="http://schemas.openxmlformats.org/drawingml/2006/table">
            <a:tbl>
              <a:tblPr/>
              <a:tblGrid>
                <a:gridCol w="3999240"/>
                <a:gridCol w="7110360"/>
              </a:tblGrid>
              <a:tr h="5713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np.random.rand(r, c)</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Random floats between 0 and 1, in the given shape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np.random.randint(low, high, 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Random integers between low (included) and high (excluded)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71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np.random.seed(n)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Fixes the random generator so results are reproducible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55" name="Text 3"/>
          <p:cNvSpPr/>
          <p:nvPr/>
        </p:nvSpPr>
        <p:spPr>
          <a:xfrm>
            <a:off x="548640" y="4297680"/>
            <a:ext cx="11109600" cy="548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00" b="0" u="none" strike="noStrike">
                <a:solidFill>
                  <a:srgbClr val="1B1B20"/>
                </a:solidFill>
                <a:effectLst/>
                <a:uFillTx/>
                <a:latin typeface="Hanken Grotesk"/>
                <a:ea typeface="Hanken Grotesk"/>
              </a:rPr>
              <a:t>Useful for quickly generating sample data to </a:t>
            </a:r>
            <a:r>
              <a:rPr lang="en-US" sz="1300" b="0" u="none" strike="noStrike">
                <a:solidFill>
                  <a:srgbClr val="1B1B20"/>
                </a:solidFill>
                <a:effectLst/>
                <a:uFillTx/>
                <a:latin typeface="Hanken Grotesk"/>
                <a:ea typeface="Hanken Grotesk"/>
              </a:rPr>
              <a:t>practice with, or initializing values before </a:t>
            </a:r>
            <a:r>
              <a:rPr lang="en-US" sz="1300" b="0" u="none" strike="noStrike">
                <a:solidFill>
                  <a:srgbClr val="1B1B20"/>
                </a:solidFill>
                <a:effectLst/>
                <a:uFillTx/>
                <a:latin typeface="Hanken Grotesk"/>
                <a:ea typeface="Hanken Grotesk"/>
              </a:rPr>
              <a:t>training a model.</a:t>
            </a:r>
            <a:endParaRPr lang="en-US" sz="1300" b="0" u="none" strike="noStrike">
              <a:solidFill>
                <a:srgbClr val="000000"/>
              </a:solidFill>
              <a:effectLst/>
              <a:uFillTx/>
              <a:latin typeface="Arial"/>
            </a:endParaRPr>
          </a:p>
        </p:txBody>
      </p:sp>
      <p:sp>
        <p:nvSpPr>
          <p:cNvPr id="356" name="Text 4"/>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57"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8"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359"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3 · CREATING ARRAYS</a:t>
            </a:r>
            <a:endParaRPr lang="en-US" sz="1100" b="0" u="none" strike="noStrike">
              <a:solidFill>
                <a:srgbClr val="000000"/>
              </a:solidFill>
              <a:effectLst/>
              <a:uFillTx/>
              <a:latin typeface="Arial"/>
            </a:endParaRPr>
          </a:p>
        </p:txBody>
      </p:sp>
      <p:sp>
        <p:nvSpPr>
          <p:cNvPr id="360"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Creating Arrays</a:t>
            </a:r>
            <a:endParaRPr lang="en-US" sz="2300" b="0" u="none" strike="noStrike">
              <a:solidFill>
                <a:srgbClr val="000000"/>
              </a:solidFill>
              <a:effectLst/>
              <a:uFillTx/>
              <a:latin typeface="Arial"/>
            </a:endParaRPr>
          </a:p>
        </p:txBody>
      </p:sp>
      <p:sp>
        <p:nvSpPr>
          <p:cNvPr id="361"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362"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3"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4"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365"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from a list of 6 numbers, and a 2D array from a nested list.</a:t>
            </a:r>
            <a:endParaRPr lang="en-US" sz="1300" b="0" u="none" strike="noStrike">
              <a:solidFill>
                <a:srgbClr val="000000"/>
              </a:solidFill>
              <a:effectLst/>
              <a:uFillTx/>
              <a:latin typeface="Arial"/>
            </a:endParaRPr>
          </a:p>
        </p:txBody>
      </p:sp>
      <p:sp>
        <p:nvSpPr>
          <p:cNvPr id="366"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7"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8"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369"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a 3x4 array of zeros, a 4x4 identity matrix, and a ones_like() copy of an existing array.</a:t>
            </a:r>
            <a:endParaRPr lang="en-US" sz="1300" b="0" u="none" strike="noStrike">
              <a:solidFill>
                <a:srgbClr val="000000"/>
              </a:solidFill>
              <a:effectLst/>
              <a:uFillTx/>
              <a:latin typeface="Arial"/>
            </a:endParaRPr>
          </a:p>
        </p:txBody>
      </p:sp>
      <p:sp>
        <p:nvSpPr>
          <p:cNvPr id="370"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2"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73"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Use np.arange() for the even numbers from 0 to 20, and np.linspace() for 10 evenly spaced values between 0 and 100.</a:t>
            </a:r>
            <a:endParaRPr lang="en-US" sz="1300" b="0" u="none" strike="noStrike">
              <a:solidFill>
                <a:srgbClr val="000000"/>
              </a:solidFill>
              <a:effectLst/>
              <a:uFillTx/>
              <a:latin typeface="Arial"/>
            </a:endParaRPr>
          </a:p>
        </p:txBody>
      </p:sp>
      <p:sp>
        <p:nvSpPr>
          <p:cNvPr id="374"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5"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77"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Use randint(), rand() and choice() with size=(3, 5), and draw 1,000 values with normal(loc=..., scale=...).</a:t>
            </a:r>
            <a:endParaRPr lang="en-US" sz="1300" b="0" u="none" strike="noStrike">
              <a:solidFill>
                <a:srgbClr val="000000"/>
              </a:solidFill>
              <a:effectLst/>
              <a:uFillTx/>
              <a:latin typeface="Arial"/>
            </a:endParaRPr>
          </a:p>
        </p:txBody>
      </p:sp>
      <p:pic>
        <p:nvPicPr>
          <p:cNvPr id="37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79"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80"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381"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2"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383"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384"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4 · ARRAY PROPERTIES</a:t>
            </a:r>
            <a:endParaRPr lang="en-US" sz="1400" b="0" u="none" strike="noStrike">
              <a:solidFill>
                <a:srgbClr val="FFFFFF"/>
              </a:solidFill>
              <a:effectLst/>
              <a:uFillTx/>
              <a:latin typeface="Arial"/>
            </a:endParaRPr>
          </a:p>
        </p:txBody>
      </p:sp>
      <p:sp>
        <p:nvSpPr>
          <p:cNvPr id="385"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Array Properties</a:t>
            </a:r>
            <a:endParaRPr lang="en-US" sz="4000" b="0" u="none" strike="noStrike">
              <a:solidFill>
                <a:srgbClr val="FFFFFF"/>
              </a:solidFill>
              <a:effectLst/>
              <a:uFillTx/>
              <a:latin typeface="Arial"/>
            </a:endParaRPr>
          </a:p>
        </p:txBody>
      </p:sp>
      <p:sp>
        <p:nvSpPr>
          <p:cNvPr id="386"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 xml:space="preserve">Shape, data type, and memory — without writing any loops.</a:t>
            </a:r>
            <a:endParaRPr lang="en-US" sz="1500" b="0" u="none" strike="noStrike">
              <a:solidFill>
                <a:srgbClr val="FFFFFF"/>
              </a:solidFill>
              <a:effectLst/>
              <a:uFillTx/>
              <a:latin typeface="Arial"/>
            </a:endParaRPr>
          </a:p>
        </p:txBody>
      </p:sp>
      <p:sp>
        <p:nvSpPr>
          <p:cNvPr id="387"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29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38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4 · ARRAY PROPERTIES</a:t>
            </a:r>
            <a:endParaRPr lang="en-US" sz="1100" b="0" u="none" strike="noStrike">
              <a:solidFill>
                <a:srgbClr val="000000"/>
              </a:solidFill>
              <a:effectLst/>
              <a:uFillTx/>
              <a:latin typeface="Arial"/>
            </a:endParaRPr>
          </a:p>
        </p:txBody>
      </p:sp>
      <p:sp>
        <p:nvSpPr>
          <p:cNvPr id="38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Reading an Array's Properties</a:t>
            </a:r>
            <a:endParaRPr lang="en-US" sz="2600" b="0" u="none" strike="noStrike">
              <a:solidFill>
                <a:srgbClr val="000000"/>
              </a:solidFill>
              <a:effectLst/>
              <a:uFillTx/>
              <a:latin typeface="Arial"/>
            </a:endParaRPr>
          </a:p>
        </p:txBody>
      </p:sp>
      <p:pic>
        <p:nvPicPr>
          <p:cNvPr id="39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39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92" name="Table 0"/>
          <p:cNvGraphicFramePr/>
          <p:nvPr/>
        </p:nvGraphicFramePr>
        <p:xfrm>
          <a:off x="548640" y="1737360"/>
          <a:ext cx="11109600" cy="2834280"/>
        </p:xfrm>
        <a:graphic>
          <a:graphicData uri="http://schemas.openxmlformats.org/drawingml/2006/table">
            <a:tbl>
              <a:tblPr/>
              <a:tblGrid>
                <a:gridCol w="3999240"/>
                <a:gridCol w="7110360"/>
              </a:tblGrid>
              <a:tr h="4723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arr.shape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 tuple giving the size along each dimension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arr.ndim</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number of dimensions (1 for vector, 2 for matrix, ...)</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arr.dtype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data type of every element, e.g. int64, float64</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total number of elements in the array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23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arr.itemsize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number of bytes each element takes up in memory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93" name="Shape 3"/>
          <p:cNvSpPr/>
          <p:nvPr/>
        </p:nvSpPr>
        <p:spPr>
          <a:xfrm>
            <a:off x="548640" y="4709160"/>
            <a:ext cx="11109600" cy="1764720"/>
          </a:xfrm>
          <a:prstGeom prst="roundRect">
            <a:avLst>
              <a:gd name="adj" fmla="val 7742"/>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4" name="Shape 4"/>
          <p:cNvSpPr/>
          <p:nvPr/>
        </p:nvSpPr>
        <p:spPr>
          <a:xfrm>
            <a:off x="713160" y="48553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95" name="Shape 5"/>
          <p:cNvSpPr/>
          <p:nvPr/>
        </p:nvSpPr>
        <p:spPr>
          <a:xfrm>
            <a:off x="914400" y="48553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96" name="Shape 6"/>
          <p:cNvSpPr/>
          <p:nvPr/>
        </p:nvSpPr>
        <p:spPr>
          <a:xfrm>
            <a:off x="1115640" y="48553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97" name="Text 7"/>
          <p:cNvSpPr/>
          <p:nvPr/>
        </p:nvSpPr>
        <p:spPr>
          <a:xfrm>
            <a:off x="749880" y="5093280"/>
            <a:ext cx="10707120" cy="8866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matrix = np.array([[1, 2, 3], [4, 5, 6]])</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matrix.shape     # (2, 3)</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matrix.ndim      # 2</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matrix.dtype     # dtype('int64')</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matrix.size      # 6</a:t>
            </a:r>
            <a:endParaRPr lang="en-US" sz="1300" b="0" u="none" strike="noStrike">
              <a:solidFill>
                <a:srgbClr val="000000"/>
              </a:solidFill>
              <a:effectLst/>
              <a:uFillTx/>
              <a:latin typeface="Cantarell"/>
            </a:endParaRPr>
          </a:p>
        </p:txBody>
      </p:sp>
      <p:sp>
        <p:nvSpPr>
          <p:cNvPr id="39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419"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0"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421"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422"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5 · INDEXING &amp; SLICING</a:t>
            </a:r>
            <a:endParaRPr lang="en-US" sz="1400" b="0" u="none" strike="noStrike">
              <a:solidFill>
                <a:srgbClr val="FFFFFF"/>
              </a:solidFill>
              <a:effectLst/>
              <a:uFillTx/>
              <a:latin typeface="Arial"/>
            </a:endParaRPr>
          </a:p>
        </p:txBody>
      </p:sp>
      <p:sp>
        <p:nvSpPr>
          <p:cNvPr id="423"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Indexing &amp; Slicing</a:t>
            </a:r>
            <a:endParaRPr lang="en-US" sz="4000" b="0" u="none" strike="noStrike">
              <a:solidFill>
                <a:srgbClr val="FFFFFF"/>
              </a:solidFill>
              <a:effectLst/>
              <a:uFillTx/>
              <a:latin typeface="Arial"/>
            </a:endParaRPr>
          </a:p>
        </p:txBody>
      </p:sp>
      <p:sp>
        <p:nvSpPr>
          <p:cNvPr id="424"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Reaching into an array to grab exactly the elements you need.</a:t>
            </a:r>
            <a:endParaRPr lang="en-US" sz="1500" b="0" u="none" strike="noStrike">
              <a:solidFill>
                <a:srgbClr val="FFFFFF"/>
              </a:solidFill>
              <a:effectLst/>
              <a:uFillTx/>
              <a:latin typeface="Arial"/>
            </a:endParaRPr>
          </a:p>
        </p:txBody>
      </p:sp>
      <p:sp>
        <p:nvSpPr>
          <p:cNvPr id="425"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36</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26"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27"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Basic Indexing — One Element at a </a:t>
            </a:r>
            <a:r>
              <a:rPr lang="en-US" sz="2600" b="1" u="none" spc="-31" strike="noStrike">
                <a:solidFill>
                  <a:srgbClr val="1B1B20"/>
                </a:solidFill>
                <a:effectLst/>
                <a:uFillTx/>
                <a:latin typeface="Bricolage Grotesque"/>
                <a:ea typeface="Bricolage Grotesque"/>
              </a:rPr>
              <a:t>Time</a:t>
            </a:r>
            <a:endParaRPr lang="en-US" sz="2600" b="0" u="none" strike="noStrike">
              <a:solidFill>
                <a:srgbClr val="000000"/>
              </a:solidFill>
              <a:effectLst/>
              <a:uFillTx/>
              <a:latin typeface="Arial"/>
            </a:endParaRPr>
          </a:p>
        </p:txBody>
      </p:sp>
      <p:pic>
        <p:nvPicPr>
          <p:cNvPr id="428"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29"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430" name="Text 3"/>
          <p:cNvSpPr/>
          <p:nvPr/>
        </p:nvSpPr>
        <p:spPr>
          <a:xfrm>
            <a:off x="548640" y="164592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np.array([10, 20, 30, 40, 50])</a:t>
            </a:r>
            <a:endParaRPr lang="en-US" sz="1300" b="0" u="none" strike="noStrike">
              <a:solidFill>
                <a:srgbClr val="000000"/>
              </a:solidFill>
              <a:effectLst/>
              <a:uFillTx/>
              <a:latin typeface="Arial"/>
            </a:endParaRPr>
          </a:p>
        </p:txBody>
      </p:sp>
      <p:sp>
        <p:nvSpPr>
          <p:cNvPr id="431" name="Shape 4"/>
          <p:cNvSpPr/>
          <p:nvPr/>
        </p:nvSpPr>
        <p:spPr>
          <a:xfrm>
            <a:off x="54864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2" name="Text 5"/>
          <p:cNvSpPr/>
          <p:nvPr/>
        </p:nvSpPr>
        <p:spPr>
          <a:xfrm>
            <a:off x="54864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10</a:t>
            </a:r>
            <a:endParaRPr lang="en-US" sz="1300" b="0" u="none" strike="noStrike">
              <a:solidFill>
                <a:srgbClr val="000000"/>
              </a:solidFill>
              <a:effectLst/>
              <a:uFillTx/>
              <a:latin typeface="Arial"/>
            </a:endParaRPr>
          </a:p>
        </p:txBody>
      </p:sp>
      <p:sp>
        <p:nvSpPr>
          <p:cNvPr id="433" name="Text 6"/>
          <p:cNvSpPr/>
          <p:nvPr/>
        </p:nvSpPr>
        <p:spPr>
          <a:xfrm>
            <a:off x="54864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0</a:t>
            </a:r>
            <a:endParaRPr lang="en-US" sz="900" b="0" u="none" strike="noStrike">
              <a:solidFill>
                <a:srgbClr val="000000"/>
              </a:solidFill>
              <a:effectLst/>
              <a:uFillTx/>
              <a:latin typeface="Arial"/>
            </a:endParaRPr>
          </a:p>
        </p:txBody>
      </p:sp>
      <p:sp>
        <p:nvSpPr>
          <p:cNvPr id="434" name="Shape 7"/>
          <p:cNvSpPr/>
          <p:nvPr/>
        </p:nvSpPr>
        <p:spPr>
          <a:xfrm>
            <a:off x="141732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5" name="Text 8"/>
          <p:cNvSpPr/>
          <p:nvPr/>
        </p:nvSpPr>
        <p:spPr>
          <a:xfrm>
            <a:off x="141732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20</a:t>
            </a:r>
            <a:endParaRPr lang="en-US" sz="1300" b="0" u="none" strike="noStrike">
              <a:solidFill>
                <a:srgbClr val="000000"/>
              </a:solidFill>
              <a:effectLst/>
              <a:uFillTx/>
              <a:latin typeface="Arial"/>
            </a:endParaRPr>
          </a:p>
        </p:txBody>
      </p:sp>
      <p:sp>
        <p:nvSpPr>
          <p:cNvPr id="436" name="Text 9"/>
          <p:cNvSpPr/>
          <p:nvPr/>
        </p:nvSpPr>
        <p:spPr>
          <a:xfrm>
            <a:off x="141732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1</a:t>
            </a:r>
            <a:endParaRPr lang="en-US" sz="900" b="0" u="none" strike="noStrike">
              <a:solidFill>
                <a:srgbClr val="000000"/>
              </a:solidFill>
              <a:effectLst/>
              <a:uFillTx/>
              <a:latin typeface="Arial"/>
            </a:endParaRPr>
          </a:p>
        </p:txBody>
      </p:sp>
      <p:sp>
        <p:nvSpPr>
          <p:cNvPr id="437" name="Shape 10"/>
          <p:cNvSpPr/>
          <p:nvPr/>
        </p:nvSpPr>
        <p:spPr>
          <a:xfrm>
            <a:off x="228600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8" name="Text 11"/>
          <p:cNvSpPr/>
          <p:nvPr/>
        </p:nvSpPr>
        <p:spPr>
          <a:xfrm>
            <a:off x="228600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30</a:t>
            </a:r>
            <a:endParaRPr lang="en-US" sz="1300" b="0" u="none" strike="noStrike">
              <a:solidFill>
                <a:srgbClr val="000000"/>
              </a:solidFill>
              <a:effectLst/>
              <a:uFillTx/>
              <a:latin typeface="Arial"/>
            </a:endParaRPr>
          </a:p>
        </p:txBody>
      </p:sp>
      <p:sp>
        <p:nvSpPr>
          <p:cNvPr id="439" name="Text 12"/>
          <p:cNvSpPr/>
          <p:nvPr/>
        </p:nvSpPr>
        <p:spPr>
          <a:xfrm>
            <a:off x="228600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2</a:t>
            </a:r>
            <a:endParaRPr lang="en-US" sz="900" b="0" u="none" strike="noStrike">
              <a:solidFill>
                <a:srgbClr val="000000"/>
              </a:solidFill>
              <a:effectLst/>
              <a:uFillTx/>
              <a:latin typeface="Arial"/>
            </a:endParaRPr>
          </a:p>
        </p:txBody>
      </p:sp>
      <p:sp>
        <p:nvSpPr>
          <p:cNvPr id="440" name="Shape 13"/>
          <p:cNvSpPr/>
          <p:nvPr/>
        </p:nvSpPr>
        <p:spPr>
          <a:xfrm>
            <a:off x="315468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1" name="Text 14"/>
          <p:cNvSpPr/>
          <p:nvPr/>
        </p:nvSpPr>
        <p:spPr>
          <a:xfrm>
            <a:off x="315468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40</a:t>
            </a:r>
            <a:endParaRPr lang="en-US" sz="1300" b="0" u="none" strike="noStrike">
              <a:solidFill>
                <a:srgbClr val="000000"/>
              </a:solidFill>
              <a:effectLst/>
              <a:uFillTx/>
              <a:latin typeface="Arial"/>
            </a:endParaRPr>
          </a:p>
        </p:txBody>
      </p:sp>
      <p:sp>
        <p:nvSpPr>
          <p:cNvPr id="442" name="Text 15"/>
          <p:cNvSpPr/>
          <p:nvPr/>
        </p:nvSpPr>
        <p:spPr>
          <a:xfrm>
            <a:off x="315468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3</a:t>
            </a:r>
            <a:endParaRPr lang="en-US" sz="900" b="0" u="none" strike="noStrike">
              <a:solidFill>
                <a:srgbClr val="000000"/>
              </a:solidFill>
              <a:effectLst/>
              <a:uFillTx/>
              <a:latin typeface="Arial"/>
            </a:endParaRPr>
          </a:p>
        </p:txBody>
      </p:sp>
      <p:sp>
        <p:nvSpPr>
          <p:cNvPr id="443" name="Shape 16"/>
          <p:cNvSpPr/>
          <p:nvPr/>
        </p:nvSpPr>
        <p:spPr>
          <a:xfrm>
            <a:off x="402336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44" name="Text 17"/>
          <p:cNvSpPr/>
          <p:nvPr/>
        </p:nvSpPr>
        <p:spPr>
          <a:xfrm>
            <a:off x="402336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50</a:t>
            </a:r>
            <a:endParaRPr lang="en-US" sz="1300" b="0" u="none" strike="noStrike">
              <a:solidFill>
                <a:srgbClr val="000000"/>
              </a:solidFill>
              <a:effectLst/>
              <a:uFillTx/>
              <a:latin typeface="Arial"/>
            </a:endParaRPr>
          </a:p>
        </p:txBody>
      </p:sp>
      <p:sp>
        <p:nvSpPr>
          <p:cNvPr id="445" name="Text 18"/>
          <p:cNvSpPr/>
          <p:nvPr/>
        </p:nvSpPr>
        <p:spPr>
          <a:xfrm>
            <a:off x="402336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4</a:t>
            </a:r>
            <a:endParaRPr lang="en-US" sz="900" b="0" u="none" strike="noStrike">
              <a:solidFill>
                <a:srgbClr val="000000"/>
              </a:solidFill>
              <a:effectLst/>
              <a:uFillTx/>
              <a:latin typeface="Arial"/>
            </a:endParaRPr>
          </a:p>
        </p:txBody>
      </p:sp>
      <p:sp>
        <p:nvSpPr>
          <p:cNvPr id="446" name="Text 19"/>
          <p:cNvSpPr/>
          <p:nvPr/>
        </p:nvSpPr>
        <p:spPr>
          <a:xfrm>
            <a:off x="548640" y="3566160"/>
            <a:ext cx="11109600" cy="22856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arr[0] gets the first element — indexing starts at 0, not 1.</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arr[2] → 30 — the highlighted cell above.</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arr[-1] gets the last element — negative indices count backward from the end.</a:t>
            </a:r>
            <a:endParaRPr lang="en-US" sz="140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400" b="0" u="none" strike="noStrike">
                <a:solidFill>
                  <a:srgbClr val="1B1B20"/>
                </a:solidFill>
                <a:effectLst/>
                <a:uFillTx/>
                <a:latin typeface="Hanken Grotesk"/>
                <a:ea typeface="Hanken Grotesk"/>
              </a:rPr>
              <a:t>For a 2D array: matrix[row, col] — e.g. matrix[1, 2] gets row 1, column 2.</a:t>
            </a:r>
            <a:endParaRPr lang="en-US" sz="1400" b="0" u="none" strike="noStrike">
              <a:solidFill>
                <a:srgbClr val="000000"/>
              </a:solidFill>
              <a:effectLst/>
              <a:uFillTx/>
              <a:latin typeface="Arial"/>
            </a:endParaRPr>
          </a:p>
        </p:txBody>
      </p:sp>
      <p:sp>
        <p:nvSpPr>
          <p:cNvPr id="447" name="Text 2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4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4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Slicing — A Range of Elements</a:t>
            </a:r>
            <a:endParaRPr lang="en-US" sz="2600" b="0" u="none" strike="noStrike">
              <a:solidFill>
                <a:srgbClr val="000000"/>
              </a:solidFill>
              <a:effectLst/>
              <a:uFillTx/>
              <a:latin typeface="Arial"/>
            </a:endParaRPr>
          </a:p>
        </p:txBody>
      </p:sp>
      <p:pic>
        <p:nvPicPr>
          <p:cNvPr id="450"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5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452" name="Text 3"/>
          <p:cNvSpPr/>
          <p:nvPr/>
        </p:nvSpPr>
        <p:spPr>
          <a:xfrm>
            <a:off x="548640" y="164592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np.array([10, 20, 30, 40, 50])</a:t>
            </a:r>
            <a:endParaRPr lang="en-US" sz="1300" b="0" u="none" strike="noStrike">
              <a:solidFill>
                <a:srgbClr val="000000"/>
              </a:solidFill>
              <a:effectLst/>
              <a:uFillTx/>
              <a:latin typeface="Arial"/>
            </a:endParaRPr>
          </a:p>
        </p:txBody>
      </p:sp>
      <p:sp>
        <p:nvSpPr>
          <p:cNvPr id="453" name="Shape 4"/>
          <p:cNvSpPr/>
          <p:nvPr/>
        </p:nvSpPr>
        <p:spPr>
          <a:xfrm>
            <a:off x="54864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Text 5"/>
          <p:cNvSpPr/>
          <p:nvPr/>
        </p:nvSpPr>
        <p:spPr>
          <a:xfrm>
            <a:off x="54864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10</a:t>
            </a:r>
            <a:endParaRPr lang="en-US" sz="1300" b="0" u="none" strike="noStrike">
              <a:solidFill>
                <a:srgbClr val="000000"/>
              </a:solidFill>
              <a:effectLst/>
              <a:uFillTx/>
              <a:latin typeface="Arial"/>
            </a:endParaRPr>
          </a:p>
        </p:txBody>
      </p:sp>
      <p:sp>
        <p:nvSpPr>
          <p:cNvPr id="455" name="Text 6"/>
          <p:cNvSpPr/>
          <p:nvPr/>
        </p:nvSpPr>
        <p:spPr>
          <a:xfrm>
            <a:off x="54864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0</a:t>
            </a:r>
            <a:endParaRPr lang="en-US" sz="900" b="0" u="none" strike="noStrike">
              <a:solidFill>
                <a:srgbClr val="000000"/>
              </a:solidFill>
              <a:effectLst/>
              <a:uFillTx/>
              <a:latin typeface="Arial"/>
            </a:endParaRPr>
          </a:p>
        </p:txBody>
      </p:sp>
      <p:sp>
        <p:nvSpPr>
          <p:cNvPr id="456" name="Shape 7"/>
          <p:cNvSpPr/>
          <p:nvPr/>
        </p:nvSpPr>
        <p:spPr>
          <a:xfrm>
            <a:off x="141732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7" name="Text 8"/>
          <p:cNvSpPr/>
          <p:nvPr/>
        </p:nvSpPr>
        <p:spPr>
          <a:xfrm>
            <a:off x="141732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20</a:t>
            </a:r>
            <a:endParaRPr lang="en-US" sz="1300" b="0" u="none" strike="noStrike">
              <a:solidFill>
                <a:srgbClr val="000000"/>
              </a:solidFill>
              <a:effectLst/>
              <a:uFillTx/>
              <a:latin typeface="Arial"/>
            </a:endParaRPr>
          </a:p>
        </p:txBody>
      </p:sp>
      <p:sp>
        <p:nvSpPr>
          <p:cNvPr id="458" name="Text 9"/>
          <p:cNvSpPr/>
          <p:nvPr/>
        </p:nvSpPr>
        <p:spPr>
          <a:xfrm>
            <a:off x="141732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1</a:t>
            </a:r>
            <a:endParaRPr lang="en-US" sz="900" b="0" u="none" strike="noStrike">
              <a:solidFill>
                <a:srgbClr val="000000"/>
              </a:solidFill>
              <a:effectLst/>
              <a:uFillTx/>
              <a:latin typeface="Arial"/>
            </a:endParaRPr>
          </a:p>
        </p:txBody>
      </p:sp>
      <p:sp>
        <p:nvSpPr>
          <p:cNvPr id="459" name="Shape 10"/>
          <p:cNvSpPr/>
          <p:nvPr/>
        </p:nvSpPr>
        <p:spPr>
          <a:xfrm>
            <a:off x="228600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0" name="Text 11"/>
          <p:cNvSpPr/>
          <p:nvPr/>
        </p:nvSpPr>
        <p:spPr>
          <a:xfrm>
            <a:off x="228600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30</a:t>
            </a:r>
            <a:endParaRPr lang="en-US" sz="1300" b="0" u="none" strike="noStrike">
              <a:solidFill>
                <a:srgbClr val="000000"/>
              </a:solidFill>
              <a:effectLst/>
              <a:uFillTx/>
              <a:latin typeface="Arial"/>
            </a:endParaRPr>
          </a:p>
        </p:txBody>
      </p:sp>
      <p:sp>
        <p:nvSpPr>
          <p:cNvPr id="461" name="Text 12"/>
          <p:cNvSpPr/>
          <p:nvPr/>
        </p:nvSpPr>
        <p:spPr>
          <a:xfrm>
            <a:off x="228600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2</a:t>
            </a:r>
            <a:endParaRPr lang="en-US" sz="900" b="0" u="none" strike="noStrike">
              <a:solidFill>
                <a:srgbClr val="000000"/>
              </a:solidFill>
              <a:effectLst/>
              <a:uFillTx/>
              <a:latin typeface="Arial"/>
            </a:endParaRPr>
          </a:p>
        </p:txBody>
      </p:sp>
      <p:sp>
        <p:nvSpPr>
          <p:cNvPr id="462" name="Shape 13"/>
          <p:cNvSpPr/>
          <p:nvPr/>
        </p:nvSpPr>
        <p:spPr>
          <a:xfrm>
            <a:off x="3154680" y="2148840"/>
            <a:ext cx="868320" cy="639720"/>
          </a:xfrm>
          <a:prstGeom prst="rect">
            <a:avLst/>
          </a:prstGeom>
          <a:solidFill>
            <a:srgbClr val="E07AB4"/>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3" name="Text 14"/>
          <p:cNvSpPr/>
          <p:nvPr/>
        </p:nvSpPr>
        <p:spPr>
          <a:xfrm>
            <a:off x="315468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40</a:t>
            </a:r>
            <a:endParaRPr lang="en-US" sz="1300" b="0" u="none" strike="noStrike">
              <a:solidFill>
                <a:srgbClr val="000000"/>
              </a:solidFill>
              <a:effectLst/>
              <a:uFillTx/>
              <a:latin typeface="Arial"/>
            </a:endParaRPr>
          </a:p>
        </p:txBody>
      </p:sp>
      <p:sp>
        <p:nvSpPr>
          <p:cNvPr id="464" name="Text 15"/>
          <p:cNvSpPr/>
          <p:nvPr/>
        </p:nvSpPr>
        <p:spPr>
          <a:xfrm>
            <a:off x="315468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3</a:t>
            </a:r>
            <a:endParaRPr lang="en-US" sz="900" b="0" u="none" strike="noStrike">
              <a:solidFill>
                <a:srgbClr val="000000"/>
              </a:solidFill>
              <a:effectLst/>
              <a:uFillTx/>
              <a:latin typeface="Arial"/>
            </a:endParaRPr>
          </a:p>
        </p:txBody>
      </p:sp>
      <p:sp>
        <p:nvSpPr>
          <p:cNvPr id="465" name="Shape 16"/>
          <p:cNvSpPr/>
          <p:nvPr/>
        </p:nvSpPr>
        <p:spPr>
          <a:xfrm>
            <a:off x="4023360" y="2148840"/>
            <a:ext cx="868320" cy="63972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6" name="Text 17"/>
          <p:cNvSpPr/>
          <p:nvPr/>
        </p:nvSpPr>
        <p:spPr>
          <a:xfrm>
            <a:off x="4023360" y="2148840"/>
            <a:ext cx="868320" cy="63972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50</a:t>
            </a:r>
            <a:endParaRPr lang="en-US" sz="1300" b="0" u="none" strike="noStrike">
              <a:solidFill>
                <a:srgbClr val="000000"/>
              </a:solidFill>
              <a:effectLst/>
              <a:uFillTx/>
              <a:latin typeface="Arial"/>
            </a:endParaRPr>
          </a:p>
        </p:txBody>
      </p:sp>
      <p:sp>
        <p:nvSpPr>
          <p:cNvPr id="467" name="Text 18"/>
          <p:cNvSpPr/>
          <p:nvPr/>
        </p:nvSpPr>
        <p:spPr>
          <a:xfrm>
            <a:off x="4023360" y="2825640"/>
            <a:ext cx="868320" cy="2282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474651"/>
                </a:solidFill>
                <a:effectLst/>
                <a:uFillTx/>
                <a:latin typeface="Plus Jakarta Sans"/>
                <a:ea typeface="Plus Jakarta Sans"/>
              </a:rPr>
              <a:t>4</a:t>
            </a:r>
            <a:endParaRPr lang="en-US" sz="900" b="0" u="none" strike="noStrike">
              <a:solidFill>
                <a:srgbClr val="000000"/>
              </a:solidFill>
              <a:effectLst/>
              <a:uFillTx/>
              <a:latin typeface="Arial"/>
            </a:endParaRPr>
          </a:p>
        </p:txBody>
      </p:sp>
      <p:graphicFrame>
        <p:nvGraphicFramePr>
          <p:cNvPr id="468" name="Table 0"/>
          <p:cNvGraphicFramePr/>
          <p:nvPr/>
        </p:nvGraphicFramePr>
        <p:xfrm>
          <a:off x="548640" y="3566160"/>
          <a:ext cx="11109600" cy="2377080"/>
        </p:xfrm>
        <a:graphic>
          <a:graphicData uri="http://schemas.openxmlformats.org/drawingml/2006/table">
            <a:tbl>
              <a:tblPr/>
              <a:tblGrid>
                <a:gridCol w="3999240"/>
                <a:gridCol w="7110360"/>
              </a:tblGrid>
              <a:tr h="47520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arr[1:4]</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Elements at index 1, 2, 3 — stop is excluded, gives [20 30 40]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Everything before index 3, gives [10 20 30]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Every 2nd element, gives [10 30 50]</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520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arr[::-1]</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whole array, reversed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469" name="Text 1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7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7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Boolean Indexing — Filtering with a Condition</a:t>
            </a:r>
            <a:endParaRPr lang="en-US" sz="2600" b="0" u="none" strike="noStrike">
              <a:solidFill>
                <a:srgbClr val="000000"/>
              </a:solidFill>
              <a:effectLst/>
              <a:uFillTx/>
              <a:latin typeface="Arial"/>
            </a:endParaRPr>
          </a:p>
        </p:txBody>
      </p:sp>
      <p:pic>
        <p:nvPicPr>
          <p:cNvPr id="47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47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474"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A boolean mask lets you select every element that matches a condition — no loop needed.</a:t>
            </a:r>
            <a:endParaRPr lang="en-US" sz="1300" b="0" u="none" strike="noStrike">
              <a:solidFill>
                <a:srgbClr val="000000"/>
              </a:solidFill>
              <a:effectLst/>
              <a:uFillTx/>
              <a:latin typeface="Arial"/>
            </a:endParaRPr>
          </a:p>
        </p:txBody>
      </p:sp>
      <p:sp>
        <p:nvSpPr>
          <p:cNvPr id="475"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76"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477"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78"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479"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scores = np.array([45, 62, 78, 91, 55, 88])</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mask = scores &gt;= 60</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print(mask)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[False  True  True  True False  True]</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passing = scores[mask]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print(passing)</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[62 78 91 88]</a:t>
            </a:r>
            <a:endParaRPr lang="en-US" sz="1250" b="0" u="none" strike="noStrike">
              <a:solidFill>
                <a:srgbClr val="000000"/>
              </a:solidFill>
              <a:effectLst/>
              <a:uFillTx/>
              <a:latin typeface="Cantarell"/>
            </a:endParaRPr>
          </a:p>
        </p:txBody>
      </p:sp>
      <p:sp>
        <p:nvSpPr>
          <p:cNvPr id="480"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81" name="Image 1" descr="/home/claude/numpy_deck/charts/missing_heatmap.png"/>
          <p:cNvPicPr/>
          <p:nvPr/>
        </p:nvPicPr>
        <p:blipFill>
          <a:blip r:embed="rId2"/>
          <a:stretch/>
        </p:blipFill>
        <p:spPr>
          <a:xfrm>
            <a:off x="6282000" y="2167200"/>
            <a:ext cx="5266440" cy="3071880"/>
          </a:xfrm>
          <a:prstGeom prst="rect">
            <a:avLst/>
          </a:prstGeom>
          <a:noFill/>
          <a:ln w="0">
            <a:noFill/>
          </a:ln>
        </p:spPr>
      </p:pic>
      <p:sp>
        <p:nvSpPr>
          <p:cNvPr id="482"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scores &gt;= </a:t>
            </a:r>
            <a:r>
              <a:rPr lang="en-US" sz="1150" b="0" i="1" u="none" strike="noStrike">
                <a:solidFill>
                  <a:srgbClr val="474651"/>
                </a:solidFill>
                <a:effectLst/>
                <a:uFillTx/>
                <a:latin typeface="Hanken Grotesk"/>
                <a:ea typeface="Hanken Grotesk"/>
              </a:rPr>
              <a:t>60 creates </a:t>
            </a:r>
            <a:r>
              <a:rPr lang="en-US" sz="1150" b="0" i="1" u="none" strike="noStrike">
                <a:solidFill>
                  <a:srgbClr val="474651"/>
                </a:solidFill>
                <a:effectLst/>
                <a:uFillTx/>
                <a:latin typeface="Hanken Grotesk"/>
                <a:ea typeface="Hanken Grotesk"/>
              </a:rPr>
              <a:t>an array </a:t>
            </a:r>
            <a:r>
              <a:rPr lang="en-US" sz="1150" b="0" i="1" u="none" strike="noStrike">
                <a:solidFill>
                  <a:srgbClr val="474651"/>
                </a:solidFill>
                <a:effectLst/>
                <a:uFillTx/>
                <a:latin typeface="Hanken Grotesk"/>
                <a:ea typeface="Hanken Grotesk"/>
              </a:rPr>
              <a:t>of </a:t>
            </a:r>
            <a:r>
              <a:rPr lang="en-US" sz="1150" b="0" i="1" u="none" strike="noStrike">
                <a:solidFill>
                  <a:srgbClr val="474651"/>
                </a:solidFill>
                <a:effectLst/>
                <a:uFillTx/>
                <a:latin typeface="Hanken Grotesk"/>
                <a:ea typeface="Hanken Grotesk"/>
              </a:rPr>
              <a:t>True/False </a:t>
            </a:r>
            <a:r>
              <a:rPr lang="en-US" sz="1150" b="0" i="1" u="none" strike="noStrike">
                <a:solidFill>
                  <a:srgbClr val="474651"/>
                </a:solidFill>
                <a:effectLst/>
                <a:uFillTx/>
                <a:latin typeface="Hanken Grotesk"/>
                <a:ea typeface="Hanken Grotesk"/>
              </a:rPr>
              <a:t>values the </a:t>
            </a:r>
            <a:r>
              <a:rPr lang="en-US" sz="1150" b="0" i="1" u="none" strike="noStrike">
                <a:solidFill>
                  <a:srgbClr val="474651"/>
                </a:solidFill>
                <a:effectLst/>
                <a:uFillTx/>
                <a:latin typeface="Hanken Grotesk"/>
                <a:ea typeface="Hanken Grotesk"/>
              </a:rPr>
              <a:t>same </a:t>
            </a:r>
            <a:r>
              <a:rPr lang="en-US" sz="1150" b="0" i="1" u="none" strike="noStrike">
                <a:solidFill>
                  <a:srgbClr val="474651"/>
                </a:solidFill>
                <a:effectLst/>
                <a:uFillTx/>
                <a:latin typeface="Hanken Grotesk"/>
                <a:ea typeface="Hanken Grotesk"/>
              </a:rPr>
              <a:t>shape as </a:t>
            </a:r>
            <a:r>
              <a:rPr lang="en-US" sz="1150" b="0" i="1" u="none" strike="noStrike">
                <a:solidFill>
                  <a:srgbClr val="474651"/>
                </a:solidFill>
                <a:effectLst/>
                <a:uFillTx/>
                <a:latin typeface="Hanken Grotesk"/>
                <a:ea typeface="Hanken Grotesk"/>
              </a:rPr>
              <a:t>scores — </a:t>
            </a:r>
            <a:r>
              <a:rPr lang="en-US" sz="1150" b="0" i="1" u="none" strike="noStrike">
                <a:solidFill>
                  <a:srgbClr val="474651"/>
                </a:solidFill>
                <a:effectLst/>
                <a:uFillTx/>
                <a:latin typeface="Hanken Grotesk"/>
                <a:ea typeface="Hanken Grotesk"/>
              </a:rPr>
              <a:t>using it as </a:t>
            </a:r>
            <a:r>
              <a:rPr lang="en-US" sz="1150" b="0" i="1" u="none" strike="noStrike">
                <a:solidFill>
                  <a:srgbClr val="474651"/>
                </a:solidFill>
                <a:effectLst/>
                <a:uFillTx/>
                <a:latin typeface="Hanken Grotesk"/>
                <a:ea typeface="Hanken Grotesk"/>
              </a:rPr>
              <a:t>an index </a:t>
            </a:r>
            <a:r>
              <a:rPr lang="en-US" sz="1150" b="0" i="1" u="none" strike="noStrike">
                <a:solidFill>
                  <a:srgbClr val="474651"/>
                </a:solidFill>
                <a:effectLst/>
                <a:uFillTx/>
                <a:latin typeface="Hanken Grotesk"/>
                <a:ea typeface="Hanken Grotesk"/>
              </a:rPr>
              <a:t>keeps only </a:t>
            </a:r>
            <a:r>
              <a:rPr lang="en-US" sz="1150" b="0" i="1" u="none" strike="noStrike">
                <a:solidFill>
                  <a:srgbClr val="474651"/>
                </a:solidFill>
                <a:effectLst/>
                <a:uFillTx/>
                <a:latin typeface="Hanken Grotesk"/>
                <a:ea typeface="Hanken Grotesk"/>
              </a:rPr>
              <a:t>the True </a:t>
            </a:r>
            <a:r>
              <a:rPr lang="en-US" sz="1150" b="0" i="1" u="none" strike="noStrike">
                <a:solidFill>
                  <a:srgbClr val="474651"/>
                </a:solidFill>
                <a:effectLst/>
                <a:uFillTx/>
                <a:latin typeface="Hanken Grotesk"/>
                <a:ea typeface="Hanken Grotesk"/>
              </a:rPr>
              <a:t>positions.</a:t>
            </a:r>
            <a:endParaRPr lang="en-US" sz="1150" b="0" u="none" strike="noStrike">
              <a:solidFill>
                <a:srgbClr val="000000"/>
              </a:solidFill>
              <a:effectLst/>
              <a:uFillTx/>
              <a:latin typeface="Arial"/>
            </a:endParaRPr>
          </a:p>
        </p:txBody>
      </p:sp>
      <p:sp>
        <p:nvSpPr>
          <p:cNvPr id="483"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484"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85"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486"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5 · INDEXING &amp; SLICING</a:t>
            </a:r>
            <a:endParaRPr lang="en-US" sz="1100" b="0" u="none" strike="noStrike">
              <a:solidFill>
                <a:srgbClr val="000000"/>
              </a:solidFill>
              <a:effectLst/>
              <a:uFillTx/>
              <a:latin typeface="Arial"/>
            </a:endParaRPr>
          </a:p>
        </p:txBody>
      </p:sp>
      <p:sp>
        <p:nvSpPr>
          <p:cNvPr id="487"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Indexing &amp; Slicing</a:t>
            </a:r>
            <a:endParaRPr lang="en-US" sz="2300" b="0" u="none" strike="noStrike">
              <a:solidFill>
                <a:srgbClr val="000000"/>
              </a:solidFill>
              <a:effectLst/>
              <a:uFillTx/>
              <a:latin typeface="Arial"/>
            </a:endParaRPr>
          </a:p>
        </p:txBody>
      </p:sp>
      <p:sp>
        <p:nvSpPr>
          <p:cNvPr id="488"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489"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0"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1"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492"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of 8 numbers and retrieve the 3rd and last elements.</a:t>
            </a:r>
            <a:endParaRPr lang="en-US" sz="1300" b="0" u="none" strike="noStrike">
              <a:solidFill>
                <a:srgbClr val="000000"/>
              </a:solidFill>
              <a:effectLst/>
              <a:uFillTx/>
              <a:latin typeface="Arial"/>
            </a:endParaRPr>
          </a:p>
        </p:txBody>
      </p:sp>
      <p:sp>
        <p:nvSpPr>
          <p:cNvPr id="493"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4"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5"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496"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Slice out the middle 4 elements of that array.</a:t>
            </a:r>
            <a:endParaRPr lang="en-US" sz="1300" b="0" u="none" strike="noStrike">
              <a:solidFill>
                <a:srgbClr val="000000"/>
              </a:solidFill>
              <a:effectLst/>
              <a:uFillTx/>
              <a:latin typeface="Arial"/>
            </a:endParaRPr>
          </a:p>
        </p:txBody>
      </p:sp>
      <p:sp>
        <p:nvSpPr>
          <p:cNvPr id="497"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8"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9"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00"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a 2D array, retrieve one full row and one full column, and index a 3D array with arr[0, 1, 2].</a:t>
            </a:r>
            <a:endParaRPr lang="en-US" sz="1300" b="0" u="none" strike="noStrike">
              <a:solidFill>
                <a:srgbClr val="000000"/>
              </a:solidFill>
              <a:effectLst/>
              <a:uFillTx/>
              <a:latin typeface="Arial"/>
            </a:endParaRPr>
          </a:p>
        </p:txBody>
      </p:sp>
      <p:sp>
        <p:nvSpPr>
          <p:cNvPr id="501"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2"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03"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04"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Use a boolean mask to keep values above the mean, then np.where() to replace values above a limit.</a:t>
            </a:r>
            <a:endParaRPr lang="en-US" sz="1300" b="0" u="none" strike="noStrike">
              <a:solidFill>
                <a:srgbClr val="000000"/>
              </a:solidFill>
              <a:effectLst/>
              <a:uFillTx/>
              <a:latin typeface="Arial"/>
            </a:endParaRPr>
          </a:p>
        </p:txBody>
      </p:sp>
      <p:pic>
        <p:nvPicPr>
          <p:cNvPr id="50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06"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507"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508"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09"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10"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511"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6 · RESHAPING &amp; MANIPULATION</a:t>
            </a:r>
            <a:endParaRPr lang="en-US" sz="1400" b="0" u="none" strike="noStrike">
              <a:solidFill>
                <a:srgbClr val="FFFFFF"/>
              </a:solidFill>
              <a:effectLst/>
              <a:uFillTx/>
              <a:latin typeface="Arial"/>
            </a:endParaRPr>
          </a:p>
        </p:txBody>
      </p:sp>
      <p:sp>
        <p:nvSpPr>
          <p:cNvPr id="512"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Reshaping &amp; Manipulation</a:t>
            </a:r>
            <a:endParaRPr lang="en-US" sz="4000" b="0" u="none" strike="noStrike">
              <a:solidFill>
                <a:srgbClr val="FFFFFF"/>
              </a:solidFill>
              <a:effectLst/>
              <a:uFillTx/>
              <a:latin typeface="Arial"/>
            </a:endParaRPr>
          </a:p>
        </p:txBody>
      </p:sp>
      <p:sp>
        <p:nvSpPr>
          <p:cNvPr id="513"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Changing an array's shape without changing its data.</a:t>
            </a:r>
            <a:endParaRPr lang="en-US" sz="1500" b="0" u="none" strike="noStrike">
              <a:solidFill>
                <a:srgbClr val="FFFFFF"/>
              </a:solidFill>
              <a:effectLst/>
              <a:uFillTx/>
              <a:latin typeface="Arial"/>
            </a:endParaRPr>
          </a:p>
        </p:txBody>
      </p:sp>
      <p:sp>
        <p:nvSpPr>
          <p:cNvPr id="514"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44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15"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16"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reshape() — Same Data, New Shape</a:t>
            </a:r>
            <a:endParaRPr lang="en-US" sz="2600" b="0" u="none" strike="noStrike">
              <a:solidFill>
                <a:srgbClr val="000000"/>
              </a:solidFill>
              <a:effectLst/>
              <a:uFillTx/>
              <a:latin typeface="Arial"/>
            </a:endParaRPr>
          </a:p>
        </p:txBody>
      </p:sp>
      <p:pic>
        <p:nvPicPr>
          <p:cNvPr id="51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18"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519" name="Text 3"/>
          <p:cNvSpPr/>
          <p:nvPr/>
        </p:nvSpPr>
        <p:spPr>
          <a:xfrm>
            <a:off x="548640" y="1691640"/>
            <a:ext cx="10972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1B1B20"/>
                </a:solidFill>
                <a:effectLst/>
                <a:uFillTx/>
                <a:latin typeface="Consolas"/>
                <a:ea typeface="Consolas"/>
              </a:rPr>
              <a:t>arr = np.arange(1, 7)   # [1 2 3 4 5 6]</a:t>
            </a:r>
            <a:endParaRPr lang="en-US" sz="1300" b="0" u="none" strike="noStrike">
              <a:solidFill>
                <a:srgbClr val="000000"/>
              </a:solidFill>
              <a:effectLst/>
              <a:uFillTx/>
              <a:latin typeface="Arial"/>
            </a:endParaRPr>
          </a:p>
        </p:txBody>
      </p:sp>
      <p:sp>
        <p:nvSpPr>
          <p:cNvPr id="520" name="Shape 4"/>
          <p:cNvSpPr/>
          <p:nvPr/>
        </p:nvSpPr>
        <p:spPr>
          <a:xfrm>
            <a:off x="54864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1" name="Text 5"/>
          <p:cNvSpPr/>
          <p:nvPr/>
        </p:nvSpPr>
        <p:spPr>
          <a:xfrm>
            <a:off x="54864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a:t>
            </a:r>
            <a:endParaRPr lang="en-US" sz="1300" b="0" u="none" strike="noStrike">
              <a:solidFill>
                <a:srgbClr val="000000"/>
              </a:solidFill>
              <a:effectLst/>
              <a:uFillTx/>
              <a:latin typeface="Arial"/>
            </a:endParaRPr>
          </a:p>
        </p:txBody>
      </p:sp>
      <p:sp>
        <p:nvSpPr>
          <p:cNvPr id="522" name="Shape 6"/>
          <p:cNvSpPr/>
          <p:nvPr/>
        </p:nvSpPr>
        <p:spPr>
          <a:xfrm>
            <a:off x="132588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3" name="Text 7"/>
          <p:cNvSpPr/>
          <p:nvPr/>
        </p:nvSpPr>
        <p:spPr>
          <a:xfrm>
            <a:off x="132588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a:t>
            </a:r>
            <a:endParaRPr lang="en-US" sz="1300" b="0" u="none" strike="noStrike">
              <a:solidFill>
                <a:srgbClr val="000000"/>
              </a:solidFill>
              <a:effectLst/>
              <a:uFillTx/>
              <a:latin typeface="Arial"/>
            </a:endParaRPr>
          </a:p>
        </p:txBody>
      </p:sp>
      <p:sp>
        <p:nvSpPr>
          <p:cNvPr id="524" name="Shape 8"/>
          <p:cNvSpPr/>
          <p:nvPr/>
        </p:nvSpPr>
        <p:spPr>
          <a:xfrm>
            <a:off x="210312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5" name="Text 9"/>
          <p:cNvSpPr/>
          <p:nvPr/>
        </p:nvSpPr>
        <p:spPr>
          <a:xfrm>
            <a:off x="210312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3</a:t>
            </a:r>
            <a:endParaRPr lang="en-US" sz="1300" b="0" u="none" strike="noStrike">
              <a:solidFill>
                <a:srgbClr val="000000"/>
              </a:solidFill>
              <a:effectLst/>
              <a:uFillTx/>
              <a:latin typeface="Arial"/>
            </a:endParaRPr>
          </a:p>
        </p:txBody>
      </p:sp>
      <p:sp>
        <p:nvSpPr>
          <p:cNvPr id="526" name="Shape 10"/>
          <p:cNvSpPr/>
          <p:nvPr/>
        </p:nvSpPr>
        <p:spPr>
          <a:xfrm>
            <a:off x="288036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7" name="Text 11"/>
          <p:cNvSpPr/>
          <p:nvPr/>
        </p:nvSpPr>
        <p:spPr>
          <a:xfrm>
            <a:off x="288036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4</a:t>
            </a:r>
            <a:endParaRPr lang="en-US" sz="1300" b="0" u="none" strike="noStrike">
              <a:solidFill>
                <a:srgbClr val="000000"/>
              </a:solidFill>
              <a:effectLst/>
              <a:uFillTx/>
              <a:latin typeface="Arial"/>
            </a:endParaRPr>
          </a:p>
        </p:txBody>
      </p:sp>
      <p:sp>
        <p:nvSpPr>
          <p:cNvPr id="528" name="Shape 12"/>
          <p:cNvSpPr/>
          <p:nvPr/>
        </p:nvSpPr>
        <p:spPr>
          <a:xfrm>
            <a:off x="365760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9" name="Text 13"/>
          <p:cNvSpPr/>
          <p:nvPr/>
        </p:nvSpPr>
        <p:spPr>
          <a:xfrm>
            <a:off x="365760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5</a:t>
            </a:r>
            <a:endParaRPr lang="en-US" sz="1300" b="0" u="none" strike="noStrike">
              <a:solidFill>
                <a:srgbClr val="000000"/>
              </a:solidFill>
              <a:effectLst/>
              <a:uFillTx/>
              <a:latin typeface="Arial"/>
            </a:endParaRPr>
          </a:p>
        </p:txBody>
      </p:sp>
      <p:sp>
        <p:nvSpPr>
          <p:cNvPr id="530" name="Shape 14"/>
          <p:cNvSpPr/>
          <p:nvPr/>
        </p:nvSpPr>
        <p:spPr>
          <a:xfrm>
            <a:off x="4434840" y="214884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1" name="Text 15"/>
          <p:cNvSpPr/>
          <p:nvPr/>
        </p:nvSpPr>
        <p:spPr>
          <a:xfrm>
            <a:off x="4434840" y="214884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6</a:t>
            </a:r>
            <a:endParaRPr lang="en-US" sz="1300" b="0" u="none" strike="noStrike">
              <a:solidFill>
                <a:srgbClr val="000000"/>
              </a:solidFill>
              <a:effectLst/>
              <a:uFillTx/>
              <a:latin typeface="Arial"/>
            </a:endParaRPr>
          </a:p>
        </p:txBody>
      </p:sp>
      <p:sp>
        <p:nvSpPr>
          <p:cNvPr id="532" name="Text 16"/>
          <p:cNvSpPr/>
          <p:nvPr/>
        </p:nvSpPr>
        <p:spPr>
          <a:xfrm>
            <a:off x="548640" y="2971800"/>
            <a:ext cx="3657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BE185D"/>
                </a:solidFill>
                <a:effectLst/>
                <a:uFillTx/>
                <a:latin typeface="Consolas"/>
                <a:ea typeface="Consolas"/>
              </a:rPr>
              <a:t>→  arr.reshape(2, 3)</a:t>
            </a:r>
            <a:endParaRPr lang="en-US" sz="1300" b="0" u="none" strike="noStrike">
              <a:solidFill>
                <a:srgbClr val="000000"/>
              </a:solidFill>
              <a:effectLst/>
              <a:uFillTx/>
              <a:latin typeface="Arial"/>
            </a:endParaRPr>
          </a:p>
        </p:txBody>
      </p:sp>
      <p:sp>
        <p:nvSpPr>
          <p:cNvPr id="533" name="Shape 17"/>
          <p:cNvSpPr/>
          <p:nvPr/>
        </p:nvSpPr>
        <p:spPr>
          <a:xfrm>
            <a:off x="54864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4" name="Text 18"/>
          <p:cNvSpPr/>
          <p:nvPr/>
        </p:nvSpPr>
        <p:spPr>
          <a:xfrm>
            <a:off x="54864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1</a:t>
            </a:r>
            <a:endParaRPr lang="en-US" sz="1250" b="0" u="none" strike="noStrike">
              <a:solidFill>
                <a:srgbClr val="000000"/>
              </a:solidFill>
              <a:effectLst/>
              <a:uFillTx/>
              <a:latin typeface="Arial"/>
            </a:endParaRPr>
          </a:p>
        </p:txBody>
      </p:sp>
      <p:sp>
        <p:nvSpPr>
          <p:cNvPr id="535" name="Shape 19"/>
          <p:cNvSpPr/>
          <p:nvPr/>
        </p:nvSpPr>
        <p:spPr>
          <a:xfrm>
            <a:off x="132588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6" name="Text 20"/>
          <p:cNvSpPr/>
          <p:nvPr/>
        </p:nvSpPr>
        <p:spPr>
          <a:xfrm>
            <a:off x="132588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2</a:t>
            </a:r>
            <a:endParaRPr lang="en-US" sz="1250" b="0" u="none" strike="noStrike">
              <a:solidFill>
                <a:srgbClr val="000000"/>
              </a:solidFill>
              <a:effectLst/>
              <a:uFillTx/>
              <a:latin typeface="Arial"/>
            </a:endParaRPr>
          </a:p>
        </p:txBody>
      </p:sp>
      <p:sp>
        <p:nvSpPr>
          <p:cNvPr id="537" name="Shape 21"/>
          <p:cNvSpPr/>
          <p:nvPr/>
        </p:nvSpPr>
        <p:spPr>
          <a:xfrm>
            <a:off x="2103120" y="342900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38" name="Text 22"/>
          <p:cNvSpPr/>
          <p:nvPr/>
        </p:nvSpPr>
        <p:spPr>
          <a:xfrm>
            <a:off x="2103120" y="342900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3</a:t>
            </a:r>
            <a:endParaRPr lang="en-US" sz="1250" b="0" u="none" strike="noStrike">
              <a:solidFill>
                <a:srgbClr val="000000"/>
              </a:solidFill>
              <a:effectLst/>
              <a:uFillTx/>
              <a:latin typeface="Arial"/>
            </a:endParaRPr>
          </a:p>
        </p:txBody>
      </p:sp>
      <p:sp>
        <p:nvSpPr>
          <p:cNvPr id="539" name="Shape 23"/>
          <p:cNvSpPr/>
          <p:nvPr/>
        </p:nvSpPr>
        <p:spPr>
          <a:xfrm>
            <a:off x="54864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0" name="Text 24"/>
          <p:cNvSpPr/>
          <p:nvPr/>
        </p:nvSpPr>
        <p:spPr>
          <a:xfrm>
            <a:off x="54864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4</a:t>
            </a:r>
            <a:endParaRPr lang="en-US" sz="1250" b="0" u="none" strike="noStrike">
              <a:solidFill>
                <a:srgbClr val="000000"/>
              </a:solidFill>
              <a:effectLst/>
              <a:uFillTx/>
              <a:latin typeface="Arial"/>
            </a:endParaRPr>
          </a:p>
        </p:txBody>
      </p:sp>
      <p:sp>
        <p:nvSpPr>
          <p:cNvPr id="541" name="Shape 25"/>
          <p:cNvSpPr/>
          <p:nvPr/>
        </p:nvSpPr>
        <p:spPr>
          <a:xfrm>
            <a:off x="132588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2" name="Text 26"/>
          <p:cNvSpPr/>
          <p:nvPr/>
        </p:nvSpPr>
        <p:spPr>
          <a:xfrm>
            <a:off x="132588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5</a:t>
            </a:r>
            <a:endParaRPr lang="en-US" sz="1250" b="0" u="none" strike="noStrike">
              <a:solidFill>
                <a:srgbClr val="000000"/>
              </a:solidFill>
              <a:effectLst/>
              <a:uFillTx/>
              <a:latin typeface="Arial"/>
            </a:endParaRPr>
          </a:p>
        </p:txBody>
      </p:sp>
      <p:sp>
        <p:nvSpPr>
          <p:cNvPr id="543" name="Shape 27"/>
          <p:cNvSpPr/>
          <p:nvPr/>
        </p:nvSpPr>
        <p:spPr>
          <a:xfrm>
            <a:off x="2103120" y="4023360"/>
            <a:ext cx="77688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44" name="Text 28"/>
          <p:cNvSpPr/>
          <p:nvPr/>
        </p:nvSpPr>
        <p:spPr>
          <a:xfrm>
            <a:off x="2103120" y="4023360"/>
            <a:ext cx="7768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1B1B20"/>
                </a:solidFill>
                <a:effectLst/>
                <a:uFillTx/>
                <a:latin typeface="Consolas"/>
                <a:ea typeface="Consolas"/>
              </a:rPr>
              <a:t>6</a:t>
            </a:r>
            <a:endParaRPr lang="en-US" sz="1250" b="0" u="none" strike="noStrike">
              <a:solidFill>
                <a:srgbClr val="000000"/>
              </a:solidFill>
              <a:effectLst/>
              <a:uFillTx/>
              <a:latin typeface="Arial"/>
            </a:endParaRPr>
          </a:p>
        </p:txBody>
      </p:sp>
      <p:sp>
        <p:nvSpPr>
          <p:cNvPr id="545" name="Text 29"/>
          <p:cNvSpPr/>
          <p:nvPr/>
        </p:nvSpPr>
        <p:spPr>
          <a:xfrm>
            <a:off x="6309360" y="2103120"/>
            <a:ext cx="5348880" cy="36572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reshape() rearranges the same elements into a new shape — the total count must stay the same (6 = 2x3).</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Pass -1 for one dimension to let NumPy calculate it automatically: arr.reshape(2, -1).</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flatten() / ravel() do the reverse — collapse any array back down to 1D.</a:t>
            </a:r>
            <a:endParaRPr lang="en-US" sz="1350" b="0" u="none" strike="noStrike">
              <a:solidFill>
                <a:srgbClr val="000000"/>
              </a:solidFill>
              <a:effectLst/>
              <a:uFillTx/>
              <a:latin typeface="Arial"/>
            </a:endParaRPr>
          </a:p>
          <a:p>
            <a:pPr marL="228600" indent="-228600" defTabSz="914400">
              <a:lnSpc>
                <a:spcPct val="100000"/>
              </a:lnSpc>
              <a:spcAft>
                <a:spcPts val="1301"/>
              </a:spcAft>
              <a:buClr>
                <a:srgbClr val="1B1B20"/>
              </a:buClr>
              <a:buFont typeface="Symbol" charset="2"/>
              <a:buChar char=""/>
            </a:pPr>
            <a:r>
              <a:rPr lang="en-US" sz="1350" b="0" u="none" strike="noStrike">
                <a:solidFill>
                  <a:srgbClr val="1B1B20"/>
                </a:solidFill>
                <a:effectLst/>
                <a:uFillTx/>
                <a:latin typeface="Hanken Grotesk"/>
                <a:ea typeface="Hanken Grotesk"/>
              </a:rPr>
              <a:t>.T (transpose) flips rows and columns for a 2D array.</a:t>
            </a:r>
            <a:endParaRPr lang="en-US" sz="1350" b="0" u="none" strike="noStrike">
              <a:solidFill>
                <a:srgbClr val="000000"/>
              </a:solidFill>
              <a:effectLst/>
              <a:uFillTx/>
              <a:latin typeface="Arial"/>
            </a:endParaRPr>
          </a:p>
        </p:txBody>
      </p:sp>
      <p:sp>
        <p:nvSpPr>
          <p:cNvPr id="546" name="Text 3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4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4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Joining Arrays Together</a:t>
            </a:r>
            <a:endParaRPr lang="en-US" sz="2600" b="0" u="none" strike="noStrike">
              <a:solidFill>
                <a:srgbClr val="000000"/>
              </a:solidFill>
              <a:effectLst/>
              <a:uFillTx/>
              <a:latin typeface="Arial"/>
            </a:endParaRPr>
          </a:p>
        </p:txBody>
      </p:sp>
      <p:pic>
        <p:nvPicPr>
          <p:cNvPr id="54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5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551"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np.concatenate([a,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Joins arrays end to end along an existing axis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np.vstack([a,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Stacks arrays on top of each other (new rows)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np.hstack([a, b])</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Stacks arrays side by side (new columns)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np.split(arr, 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Splits one array into n equal parts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52" name="Shape 3"/>
          <p:cNvSpPr/>
          <p:nvPr/>
        </p:nvSpPr>
        <p:spPr>
          <a:xfrm>
            <a:off x="548640" y="4434840"/>
            <a:ext cx="11109600" cy="196596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3"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554"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55"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56"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 = np.array([1, 2, 3])</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b = np.array([4, 5, 6])</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np.concatenate([a, b])  # [1 2 3 4 5 6]</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np.vstack([a, b])       # [[1 2 3] [4 5 6]]</a:t>
            </a:r>
            <a:endParaRPr lang="en-US" sz="1350" b="0" u="none" strike="noStrike">
              <a:solidFill>
                <a:srgbClr val="000000"/>
              </a:solidFill>
              <a:effectLst/>
              <a:uFillTx/>
              <a:latin typeface="Cantarell"/>
            </a:endParaRPr>
          </a:p>
        </p:txBody>
      </p:sp>
      <p:sp>
        <p:nvSpPr>
          <p:cNvPr id="557"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58"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9"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560"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6 · RESHAPING &amp; MANIPULATION</a:t>
            </a:r>
            <a:endParaRPr lang="en-US" sz="1100" b="0" u="none" strike="noStrike">
              <a:solidFill>
                <a:srgbClr val="000000"/>
              </a:solidFill>
              <a:effectLst/>
              <a:uFillTx/>
              <a:latin typeface="Arial"/>
            </a:endParaRPr>
          </a:p>
        </p:txBody>
      </p:sp>
      <p:sp>
        <p:nvSpPr>
          <p:cNvPr id="561"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Reshaping &amp; Manipulation</a:t>
            </a:r>
            <a:endParaRPr lang="en-US" sz="2300" b="0" u="none" strike="noStrike">
              <a:solidFill>
                <a:srgbClr val="000000"/>
              </a:solidFill>
              <a:effectLst/>
              <a:uFillTx/>
              <a:latin typeface="Arial"/>
            </a:endParaRPr>
          </a:p>
        </p:txBody>
      </p:sp>
      <p:sp>
        <p:nvSpPr>
          <p:cNvPr id="562"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563"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4"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5"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566"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1D array of 12 numbers and reshape it into a 3x4 matrix.</a:t>
            </a:r>
            <a:endParaRPr lang="en-US" sz="1300" b="0" u="none" strike="noStrike">
              <a:solidFill>
                <a:srgbClr val="000000"/>
              </a:solidFill>
              <a:effectLst/>
              <a:uFillTx/>
              <a:latin typeface="Arial"/>
            </a:endParaRPr>
          </a:p>
        </p:txBody>
      </p:sp>
      <p:sp>
        <p:nvSpPr>
          <p:cNvPr id="567"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8"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69"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570"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Reshape that matrix into 2x6 instead, then flatten it back to 1D.</a:t>
            </a:r>
            <a:endParaRPr lang="en-US" sz="1300" b="0" u="none" strike="noStrike">
              <a:solidFill>
                <a:srgbClr val="000000"/>
              </a:solidFill>
              <a:effectLst/>
              <a:uFillTx/>
              <a:latin typeface="Arial"/>
            </a:endParaRPr>
          </a:p>
        </p:txBody>
      </p:sp>
      <p:sp>
        <p:nvSpPr>
          <p:cNvPr id="571"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2"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3"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574"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Transpose a 2x3 matrix and check its new shape, then sort a 2D array with axis=0 and with axis=1.</a:t>
            </a:r>
            <a:endParaRPr lang="en-US" sz="1300" b="0" u="none" strike="noStrike">
              <a:solidFill>
                <a:srgbClr val="000000"/>
              </a:solidFill>
              <a:effectLst/>
              <a:uFillTx/>
              <a:latin typeface="Arial"/>
            </a:endParaRPr>
          </a:p>
        </p:txBody>
      </p:sp>
      <p:sp>
        <p:nvSpPr>
          <p:cNvPr id="575"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6"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7"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578"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Stack two 1D arrays vertically, then split the result back into two.</a:t>
            </a:r>
            <a:endParaRPr lang="en-US" sz="1300" b="0" u="none" strike="noStrike">
              <a:solidFill>
                <a:srgbClr val="000000"/>
              </a:solidFill>
              <a:effectLst/>
              <a:uFillTx/>
              <a:latin typeface="Arial"/>
            </a:endParaRPr>
          </a:p>
        </p:txBody>
      </p:sp>
      <p:pic>
        <p:nvPicPr>
          <p:cNvPr id="57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80"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581"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582"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3"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584"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585"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7 · ARRAY MODIFICATION</a:t>
            </a:r>
            <a:endParaRPr lang="en-US" sz="1400" b="0" u="none" strike="noStrike">
              <a:solidFill>
                <a:srgbClr val="FFFFFF"/>
              </a:solidFill>
              <a:effectLst/>
              <a:uFillTx/>
              <a:latin typeface="Arial"/>
            </a:endParaRPr>
          </a:p>
        </p:txBody>
      </p:sp>
      <p:sp>
        <p:nvSpPr>
          <p:cNvPr id="586"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Array Modification</a:t>
            </a:r>
            <a:endParaRPr lang="en-US" sz="4000" b="0" u="none" strike="noStrike">
              <a:solidFill>
                <a:srgbClr val="FFFFFF"/>
              </a:solidFill>
              <a:effectLst/>
              <a:uFillTx/>
              <a:latin typeface="Arial"/>
            </a:endParaRPr>
          </a:p>
        </p:txBody>
      </p:sp>
      <p:sp>
        <p:nvSpPr>
          <p:cNvPr id="587"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Adding, removing, and safely copying elements.</a:t>
            </a:r>
            <a:endParaRPr lang="en-US" sz="1500" b="0" u="none" strike="noStrike">
              <a:solidFill>
                <a:srgbClr val="FFFFFF"/>
              </a:solidFill>
              <a:effectLst/>
              <a:uFillTx/>
              <a:latin typeface="Arial"/>
            </a:endParaRPr>
          </a:p>
        </p:txBody>
      </p:sp>
      <p:sp>
        <p:nvSpPr>
          <p:cNvPr id="588"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49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589"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590"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Adding &amp; Removing Elements</a:t>
            </a:r>
            <a:endParaRPr lang="en-US" sz="2600" b="0" u="none" strike="noStrike">
              <a:solidFill>
                <a:srgbClr val="000000"/>
              </a:solidFill>
              <a:effectLst/>
              <a:uFillTx/>
              <a:latin typeface="Arial"/>
            </a:endParaRPr>
          </a:p>
        </p:txBody>
      </p:sp>
      <p:pic>
        <p:nvPicPr>
          <p:cNvPr id="59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592"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593" name="Table 0"/>
          <p:cNvGraphicFramePr/>
          <p:nvPr/>
        </p:nvGraphicFramePr>
        <p:xfrm>
          <a:off x="548640" y="1737360"/>
          <a:ext cx="11109600" cy="2194560"/>
        </p:xfrm>
        <a:graphic>
          <a:graphicData uri="http://schemas.openxmlformats.org/drawingml/2006/table">
            <a:tbl>
              <a:tblPr/>
              <a:tblGrid>
                <a:gridCol w="3999240"/>
                <a:gridCol w="7110360"/>
              </a:tblGrid>
              <a:tr h="54864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np.append(arr,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value added at the end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np.insert(arr, index, value)</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value inserted at index</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4864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np.delete(arr, index)</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Returns a new array with the element at index removed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594" name="Shape 3"/>
          <p:cNvSpPr/>
          <p:nvPr/>
        </p:nvSpPr>
        <p:spPr>
          <a:xfrm>
            <a:off x="548640" y="4114800"/>
            <a:ext cx="11109600" cy="1737000"/>
          </a:xfrm>
          <a:prstGeom prst="roundRect">
            <a:avLst>
              <a:gd name="adj" fmla="val 6316"/>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5" name="Shape 4"/>
          <p:cNvSpPr/>
          <p:nvPr/>
        </p:nvSpPr>
        <p:spPr>
          <a:xfrm>
            <a:off x="713160" y="42609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596" name="Shape 5"/>
          <p:cNvSpPr/>
          <p:nvPr/>
        </p:nvSpPr>
        <p:spPr>
          <a:xfrm>
            <a:off x="914400" y="42609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97" name="Shape 6"/>
          <p:cNvSpPr/>
          <p:nvPr/>
        </p:nvSpPr>
        <p:spPr>
          <a:xfrm>
            <a:off x="1115640" y="42609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598" name="Text 7"/>
          <p:cNvSpPr/>
          <p:nvPr/>
        </p:nvSpPr>
        <p:spPr>
          <a:xfrm>
            <a:off x="749880" y="4498920"/>
            <a:ext cx="10707120" cy="1206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arr = np.array([10, 20, 30])</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np.append(arr, 40)        # [10 20 30 40]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np.insert(arr, 1, 15)     # [10 15 20 30]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np.delete(arr, 0)         # [20 30]</a:t>
            </a:r>
            <a:endParaRPr lang="en-US" sz="1350" b="0" u="none" strike="noStrike">
              <a:solidFill>
                <a:srgbClr val="000000"/>
              </a:solidFill>
              <a:effectLst/>
              <a:uFillTx/>
              <a:latin typeface="Cantarell"/>
            </a:endParaRPr>
          </a:p>
        </p:txBody>
      </p:sp>
      <p:sp>
        <p:nvSpPr>
          <p:cNvPr id="599"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0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60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Copy vs. View — An Important Gotcha</a:t>
            </a:r>
            <a:endParaRPr lang="en-US" sz="2600" b="0" u="none" strike="noStrike">
              <a:solidFill>
                <a:srgbClr val="000000"/>
              </a:solidFill>
              <a:effectLst/>
              <a:uFillTx/>
              <a:latin typeface="Arial"/>
            </a:endParaRPr>
          </a:p>
        </p:txBody>
      </p:sp>
      <p:pic>
        <p:nvPicPr>
          <p:cNvPr id="60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0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04" name="Text 3"/>
          <p:cNvSpPr/>
          <p:nvPr/>
        </p:nvSpPr>
        <p:spPr>
          <a:xfrm>
            <a:off x="548640" y="1737360"/>
            <a:ext cx="5394600" cy="402300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Slicing a NumPy array does NOT copy it — it returns a view, which still points at the same underlying data.</a:t>
            </a:r>
            <a:endParaRPr lang="en-US" sz="15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Changing a view changes the original array too — a very common source of confusing bugs.</a:t>
            </a:r>
            <a:endParaRPr lang="en-US" sz="15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500" b="0" u="none" strike="noStrike">
                <a:solidFill>
                  <a:srgbClr val="1B1B20"/>
                </a:solidFill>
                <a:effectLst/>
                <a:uFillTx/>
                <a:latin typeface="Hanken Grotesk"/>
                <a:ea typeface="Hanken Grotesk"/>
              </a:rPr>
              <a:t>Call .copy() explicitly whenever you need an independent, separate array.</a:t>
            </a:r>
            <a:endParaRPr lang="en-US" sz="1500" b="0" u="none" strike="noStrike">
              <a:solidFill>
                <a:srgbClr val="000000"/>
              </a:solidFill>
              <a:effectLst/>
              <a:uFillTx/>
              <a:latin typeface="Arial"/>
            </a:endParaRPr>
          </a:p>
        </p:txBody>
      </p:sp>
      <p:sp>
        <p:nvSpPr>
          <p:cNvPr id="605" name="Shape 4"/>
          <p:cNvSpPr/>
          <p:nvPr/>
        </p:nvSpPr>
        <p:spPr>
          <a:xfrm>
            <a:off x="6172200" y="1737360"/>
            <a:ext cx="5486040" cy="4023000"/>
          </a:xfrm>
          <a:prstGeom prst="roundRect">
            <a:avLst>
              <a:gd name="adj" fmla="val 272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06" name="Shape 5"/>
          <p:cNvSpPr/>
          <p:nvPr/>
        </p:nvSpPr>
        <p:spPr>
          <a:xfrm>
            <a:off x="633672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07" name="Shape 6"/>
          <p:cNvSpPr/>
          <p:nvPr/>
        </p:nvSpPr>
        <p:spPr>
          <a:xfrm>
            <a:off x="653796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08" name="Shape 7"/>
          <p:cNvSpPr/>
          <p:nvPr/>
        </p:nvSpPr>
        <p:spPr>
          <a:xfrm>
            <a:off x="673920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09" name="Text 8"/>
          <p:cNvSpPr/>
          <p:nvPr/>
        </p:nvSpPr>
        <p:spPr>
          <a:xfrm>
            <a:off x="6373440" y="2121480"/>
            <a:ext cx="5083560" cy="34927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arr = np.array([1, 2, 3, 4])</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view = arr[1:3]</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view[0] = 99</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print(arr)</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[ 1 99  3  4]  &lt;- original changed!</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safe_copy = arr[1:3].copy()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safe_copy[0] = 0</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print(arr)</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[ 1 99  3  4]  &lt;- unaffected</a:t>
            </a:r>
            <a:endParaRPr lang="en-US" sz="1250" b="0" u="none" strike="noStrike">
              <a:solidFill>
                <a:srgbClr val="000000"/>
              </a:solidFill>
              <a:effectLst/>
              <a:uFillTx/>
              <a:latin typeface="Cantarell"/>
            </a:endParaRPr>
          </a:p>
        </p:txBody>
      </p:sp>
      <p:sp>
        <p:nvSpPr>
          <p:cNvPr id="61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11"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2"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613"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7 · ARRAY MODIFICATION</a:t>
            </a:r>
            <a:endParaRPr lang="en-US" sz="1100" b="0" u="none" strike="noStrike">
              <a:solidFill>
                <a:srgbClr val="000000"/>
              </a:solidFill>
              <a:effectLst/>
              <a:uFillTx/>
              <a:latin typeface="Arial"/>
            </a:endParaRPr>
          </a:p>
        </p:txBody>
      </p:sp>
      <p:sp>
        <p:nvSpPr>
          <p:cNvPr id="614"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Array Modification</a:t>
            </a:r>
            <a:endParaRPr lang="en-US" sz="2300" b="0" u="none" strike="noStrike">
              <a:solidFill>
                <a:srgbClr val="000000"/>
              </a:solidFill>
              <a:effectLst/>
              <a:uFillTx/>
              <a:latin typeface="Arial"/>
            </a:endParaRPr>
          </a:p>
        </p:txBody>
      </p:sp>
      <p:sp>
        <p:nvSpPr>
          <p:cNvPr id="615"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616"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7"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18"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619"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Append 3 new values to the end of an existing array.</a:t>
            </a:r>
            <a:endParaRPr lang="en-US" sz="1300" b="0" u="none" strike="noStrike">
              <a:solidFill>
                <a:srgbClr val="000000"/>
              </a:solidFill>
              <a:effectLst/>
              <a:uFillTx/>
              <a:latin typeface="Arial"/>
            </a:endParaRPr>
          </a:p>
        </p:txBody>
      </p:sp>
      <p:sp>
        <p:nvSpPr>
          <p:cNvPr id="620"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1"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2"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623"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Insert a value in the middle of an array, then delete a different element.</a:t>
            </a:r>
            <a:endParaRPr lang="en-US" sz="1300" b="0" u="none" strike="noStrike">
              <a:solidFill>
                <a:srgbClr val="000000"/>
              </a:solidFill>
              <a:effectLst/>
              <a:uFillTx/>
              <a:latin typeface="Arial"/>
            </a:endParaRPr>
          </a:p>
        </p:txBody>
      </p:sp>
      <p:sp>
        <p:nvSpPr>
          <p:cNvPr id="624"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5"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6"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627"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 slice of an array, modify it, and check whether the original array changed.</a:t>
            </a:r>
            <a:endParaRPr lang="en-US" sz="1300" b="0" u="none" strike="noStrike">
              <a:solidFill>
                <a:srgbClr val="000000"/>
              </a:solidFill>
              <a:effectLst/>
              <a:uFillTx/>
              <a:latin typeface="Arial"/>
            </a:endParaRPr>
          </a:p>
        </p:txBody>
      </p:sp>
      <p:sp>
        <p:nvSpPr>
          <p:cNvPr id="628"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9"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30"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631"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Repeat the previous task using .copy() this time, and compare the result.</a:t>
            </a:r>
            <a:endParaRPr lang="en-US" sz="1300" b="0" u="none" strike="noStrike">
              <a:solidFill>
                <a:srgbClr val="000000"/>
              </a:solidFill>
              <a:effectLst/>
              <a:uFillTx/>
              <a:latin typeface="Arial"/>
            </a:endParaRPr>
          </a:p>
        </p:txBody>
      </p:sp>
      <p:pic>
        <p:nvPicPr>
          <p:cNvPr id="63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33"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34"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635"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6"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637"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638"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8 · OPERATIONS &amp; BROADCASTING</a:t>
            </a:r>
            <a:endParaRPr lang="en-US" sz="1400" b="0" u="none" strike="noStrike">
              <a:solidFill>
                <a:srgbClr val="FFFFFF"/>
              </a:solidFill>
              <a:effectLst/>
              <a:uFillTx/>
              <a:latin typeface="Arial"/>
            </a:endParaRPr>
          </a:p>
        </p:txBody>
      </p:sp>
      <p:sp>
        <p:nvSpPr>
          <p:cNvPr id="639"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Operations, Broadcasting &amp; Vectorisation</a:t>
            </a:r>
            <a:endParaRPr lang="en-US" sz="4000" b="0" u="none" strike="noStrike">
              <a:solidFill>
                <a:srgbClr val="FFFFFF"/>
              </a:solidFill>
              <a:effectLst/>
              <a:uFillTx/>
              <a:latin typeface="Arial"/>
            </a:endParaRPr>
          </a:p>
        </p:txBody>
      </p:sp>
      <p:sp>
        <p:nvSpPr>
          <p:cNvPr id="640"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Where NumPy's real power shows up — fast math across whole arrays, with no explicit loops.</a:t>
            </a:r>
            <a:endParaRPr lang="en-US" sz="1500" b="0" u="none" strike="noStrike">
              <a:solidFill>
                <a:srgbClr val="FFFFFF"/>
              </a:solidFill>
              <a:effectLst/>
              <a:uFillTx/>
              <a:latin typeface="Arial"/>
            </a:endParaRPr>
          </a:p>
        </p:txBody>
      </p:sp>
      <p:sp>
        <p:nvSpPr>
          <p:cNvPr id="641"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53</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4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OPERATIONS</a:t>
            </a:r>
            <a:endParaRPr lang="en-US" sz="1100" b="0" u="none" strike="noStrike">
              <a:solidFill>
                <a:srgbClr val="000000"/>
              </a:solidFill>
              <a:effectLst/>
              <a:uFillTx/>
              <a:latin typeface="Arial"/>
            </a:endParaRPr>
          </a:p>
        </p:txBody>
      </p:sp>
      <p:sp>
        <p:nvSpPr>
          <p:cNvPr id="64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Element-Wise Arithmetic</a:t>
            </a:r>
            <a:endParaRPr lang="en-US" sz="2600" b="0" u="none" strike="noStrike">
              <a:solidFill>
                <a:srgbClr val="000000"/>
              </a:solidFill>
              <a:effectLst/>
              <a:uFillTx/>
              <a:latin typeface="Arial"/>
            </a:endParaRPr>
          </a:p>
        </p:txBody>
      </p:sp>
      <p:pic>
        <p:nvPicPr>
          <p:cNvPr id="64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4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46" name="Shape 3"/>
          <p:cNvSpPr/>
          <p:nvPr/>
        </p:nvSpPr>
        <p:spPr>
          <a:xfrm>
            <a:off x="548640" y="1737360"/>
            <a:ext cx="5394600" cy="3840120"/>
          </a:xfrm>
          <a:prstGeom prst="roundRect">
            <a:avLst>
              <a:gd name="adj" fmla="val 285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7"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48"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49"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50" name="Text 7"/>
          <p:cNvSpPr/>
          <p:nvPr/>
        </p:nvSpPr>
        <p:spPr>
          <a:xfrm>
            <a:off x="749880" y="2121480"/>
            <a:ext cx="4992120" cy="3309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a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b = np.array([10, 20, 30])</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[11 22 33]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[-9 -18 -27]</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a * b   # [10 40 90]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b / a   # [10. 10. 10.]</a:t>
            </a:r>
            <a:endParaRPr lang="en-US" sz="1400" b="0" u="none" strike="noStrike">
              <a:solidFill>
                <a:srgbClr val="000000"/>
              </a:solidFill>
              <a:effectLst/>
              <a:uFillTx/>
              <a:latin typeface="Cantarell"/>
            </a:endParaRPr>
          </a:p>
        </p:txBody>
      </p:sp>
      <p:sp>
        <p:nvSpPr>
          <p:cNvPr id="651" name="Text 8"/>
          <p:cNvSpPr/>
          <p:nvPr/>
        </p:nvSpPr>
        <p:spPr>
          <a:xfrm>
            <a:off x="6172200" y="1737360"/>
            <a:ext cx="5486040" cy="384012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Standard math operators (+, -, *, /) work directly on arrays — no loop, no zip(), no list comprehension.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Each operation applies element by element: a[0]+b[0], a[1]+b[1], and so on.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The two arrays must have compatible shapes — which is exactly what broadcasting defines, next.</a:t>
            </a:r>
            <a:endParaRPr lang="en-US" sz="1400" b="0" u="none" strike="noStrike">
              <a:solidFill>
                <a:srgbClr val="000000"/>
              </a:solidFill>
              <a:effectLst/>
              <a:uFillTx/>
              <a:latin typeface="Arial"/>
            </a:endParaRPr>
          </a:p>
        </p:txBody>
      </p:sp>
      <p:sp>
        <p:nvSpPr>
          <p:cNvPr id="652"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54</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5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a:t>
            </a:r>
            <a:r>
              <a:rPr lang="en-US" sz="1100" b="1" u="none" spc="201" strike="noStrike">
                <a:solidFill>
                  <a:srgbClr val="5755A7"/>
                </a:solidFill>
                <a:effectLst/>
                <a:uFillTx/>
                <a:latin typeface="Plus Jakarta Sans"/>
                <a:ea typeface="Plus Jakarta Sans"/>
              </a:rPr>
              <a:t>· </a:t>
            </a:r>
            <a:r>
              <a:rPr lang="en-US" sz="1100" b="1" u="none" spc="201" strike="noStrike">
                <a:solidFill>
                  <a:srgbClr val="5755A7"/>
                </a:solidFill>
                <a:effectLst/>
                <a:uFillTx/>
                <a:latin typeface="Plus Jakarta Sans"/>
                <a:ea typeface="Plus Jakarta Sans"/>
              </a:rPr>
              <a:t>VECTO</a:t>
            </a:r>
            <a:r>
              <a:rPr lang="en-US" sz="1100" b="1" u="none" spc="201" strike="noStrike">
                <a:solidFill>
                  <a:srgbClr val="5755A7"/>
                </a:solidFill>
                <a:effectLst/>
                <a:uFillTx/>
                <a:latin typeface="Plus Jakarta Sans"/>
                <a:ea typeface="Plus Jakarta Sans"/>
              </a:rPr>
              <a:t>RISATI</a:t>
            </a:r>
            <a:r>
              <a:rPr lang="en-US" sz="1100" b="1" u="none" spc="201" strike="noStrike">
                <a:solidFill>
                  <a:srgbClr val="5755A7"/>
                </a:solidFill>
                <a:effectLst/>
                <a:uFillTx/>
                <a:latin typeface="Plus Jakarta Sans"/>
                <a:ea typeface="Plus Jakarta Sans"/>
              </a:rPr>
              <a:t>ON</a:t>
            </a:r>
            <a:endParaRPr lang="en-US" sz="1100" b="0" u="none" strike="noStrike">
              <a:solidFill>
                <a:srgbClr val="000000"/>
              </a:solidFill>
              <a:effectLst/>
              <a:uFillTx/>
              <a:latin typeface="Arial"/>
            </a:endParaRPr>
          </a:p>
        </p:txBody>
      </p:sp>
      <p:sp>
        <p:nvSpPr>
          <p:cNvPr id="65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Why Vectorization Is Faster Than a Loop</a:t>
            </a:r>
            <a:endParaRPr lang="en-US" sz="2600" b="0" u="none" strike="noStrike">
              <a:solidFill>
                <a:srgbClr val="000000"/>
              </a:solidFill>
              <a:effectLst/>
              <a:uFillTx/>
              <a:latin typeface="Arial"/>
            </a:endParaRPr>
          </a:p>
        </p:txBody>
      </p:sp>
      <p:pic>
        <p:nvPicPr>
          <p:cNvPr id="65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5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57"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5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1"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slow - explicit Python loop</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result = []</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for i in range(len(a)):</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result.append(a[i] + b[i])</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fast - vectorized</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result = a + b</a:t>
            </a:r>
            <a:endParaRPr lang="en-US" sz="1350" b="0" u="none" strike="noStrike">
              <a:solidFill>
                <a:srgbClr val="000000"/>
              </a:solidFill>
              <a:effectLst/>
              <a:uFillTx/>
              <a:latin typeface="Cantarell"/>
            </a:endParaRPr>
          </a:p>
        </p:txBody>
      </p:sp>
      <p:sp>
        <p:nvSpPr>
          <p:cNvPr id="662"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3" name="Image 1" descr="/home/claude/numpy_deck/charts/speed_comparison.png"/>
          <p:cNvPicPr/>
          <p:nvPr/>
        </p:nvPicPr>
        <p:blipFill>
          <a:blip r:embed="rId2"/>
          <a:stretch/>
        </p:blipFill>
        <p:spPr>
          <a:xfrm>
            <a:off x="6282000" y="1847160"/>
            <a:ext cx="5266440" cy="3638880"/>
          </a:xfrm>
          <a:prstGeom prst="rect">
            <a:avLst/>
          </a:prstGeom>
          <a:noFill/>
          <a:ln w="0">
            <a:noFill/>
          </a:ln>
        </p:spPr>
      </p:pic>
      <p:sp>
        <p:nvSpPr>
          <p:cNvPr id="664"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Measured on this machine — your numbers will vary, but the gap holds.</a:t>
            </a:r>
            <a:endParaRPr lang="en-US" sz="950" b="0" u="none" strike="noStrike">
              <a:solidFill>
                <a:srgbClr val="000000"/>
              </a:solidFill>
              <a:effectLst/>
              <a:uFillTx/>
              <a:latin typeface="Arial"/>
            </a:endParaRPr>
          </a:p>
        </p:txBody>
      </p:sp>
      <p:sp>
        <p:nvSpPr>
          <p:cNvPr id="665" name="Text 10"/>
          <p:cNvSpPr/>
          <p:nvPr/>
        </p:nvSpPr>
        <p:spPr>
          <a:xfrm>
            <a:off x="548640" y="5029200"/>
            <a:ext cx="539460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474651"/>
                </a:solidFill>
                <a:effectLst/>
                <a:uFillTx/>
                <a:latin typeface="Hanken Grotesk"/>
                <a:ea typeface="Hanken Grotesk"/>
              </a:rPr>
              <a:t>The vectorized version runs the loop in fast, compiled C code under the hood — instead of Python's slower interpreted loop.</a:t>
            </a:r>
            <a:endParaRPr lang="en-US" sz="1250" b="0" u="none" strike="noStrike">
              <a:solidFill>
                <a:srgbClr val="000000"/>
              </a:solidFill>
              <a:effectLst/>
              <a:uFillTx/>
              <a:latin typeface="Arial"/>
            </a:endParaRPr>
          </a:p>
        </p:txBody>
      </p:sp>
      <p:sp>
        <p:nvSpPr>
          <p:cNvPr id="666"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6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BROADCASTING</a:t>
            </a:r>
            <a:endParaRPr lang="en-US" sz="1100" b="0" u="none" strike="noStrike">
              <a:solidFill>
                <a:srgbClr val="000000"/>
              </a:solidFill>
              <a:effectLst/>
              <a:uFillTx/>
              <a:latin typeface="Arial"/>
            </a:endParaRPr>
          </a:p>
        </p:txBody>
      </p:sp>
      <p:sp>
        <p:nvSpPr>
          <p:cNvPr id="66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Broadcasting — Different Shapes, Working Together</a:t>
            </a:r>
            <a:endParaRPr lang="en-US" sz="2600" b="0" u="none" strike="noStrike">
              <a:solidFill>
                <a:srgbClr val="000000"/>
              </a:solidFill>
              <a:effectLst/>
              <a:uFillTx/>
              <a:latin typeface="Arial"/>
            </a:endParaRPr>
          </a:p>
        </p:txBody>
      </p:sp>
      <p:pic>
        <p:nvPicPr>
          <p:cNvPr id="66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7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71" name="Text 3"/>
          <p:cNvSpPr/>
          <p:nvPr/>
        </p:nvSpPr>
        <p:spPr>
          <a:xfrm>
            <a:off x="822960" y="1508760"/>
            <a:ext cx="36572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5755A7"/>
                </a:solidFill>
                <a:effectLst/>
                <a:uFillTx/>
                <a:latin typeface="Bricolage Grotesque"/>
                <a:ea typeface="Bricolage Grotesque"/>
              </a:rPr>
              <a:t>array + scalar</a:t>
            </a:r>
            <a:endParaRPr lang="en-US" sz="1300" b="0" u="none" strike="noStrike">
              <a:solidFill>
                <a:srgbClr val="000000"/>
              </a:solidFill>
              <a:effectLst/>
              <a:uFillTx/>
              <a:latin typeface="Arial"/>
            </a:endParaRPr>
          </a:p>
        </p:txBody>
      </p:sp>
      <p:sp>
        <p:nvSpPr>
          <p:cNvPr id="672" name="Shape 4"/>
          <p:cNvSpPr/>
          <p:nvPr/>
        </p:nvSpPr>
        <p:spPr>
          <a:xfrm>
            <a:off x="8229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3" name="Text 5"/>
          <p:cNvSpPr/>
          <p:nvPr/>
        </p:nvSpPr>
        <p:spPr>
          <a:xfrm>
            <a:off x="8229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1</a:t>
            </a:r>
            <a:endParaRPr lang="en-US" sz="1300" b="0" u="none" strike="noStrike">
              <a:solidFill>
                <a:srgbClr val="000000"/>
              </a:solidFill>
              <a:effectLst/>
              <a:uFillTx/>
              <a:latin typeface="Arial"/>
            </a:endParaRPr>
          </a:p>
        </p:txBody>
      </p:sp>
      <p:sp>
        <p:nvSpPr>
          <p:cNvPr id="674" name="Shape 6"/>
          <p:cNvSpPr/>
          <p:nvPr/>
        </p:nvSpPr>
        <p:spPr>
          <a:xfrm>
            <a:off x="15087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5" name="Text 7"/>
          <p:cNvSpPr/>
          <p:nvPr/>
        </p:nvSpPr>
        <p:spPr>
          <a:xfrm>
            <a:off x="15087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2</a:t>
            </a:r>
            <a:endParaRPr lang="en-US" sz="1300" b="0" u="none" strike="noStrike">
              <a:solidFill>
                <a:srgbClr val="000000"/>
              </a:solidFill>
              <a:effectLst/>
              <a:uFillTx/>
              <a:latin typeface="Arial"/>
            </a:endParaRPr>
          </a:p>
        </p:txBody>
      </p:sp>
      <p:sp>
        <p:nvSpPr>
          <p:cNvPr id="676" name="Shape 8"/>
          <p:cNvSpPr/>
          <p:nvPr/>
        </p:nvSpPr>
        <p:spPr>
          <a:xfrm>
            <a:off x="2194560" y="1920240"/>
            <a:ext cx="685440" cy="594000"/>
          </a:xfrm>
          <a:prstGeom prst="rect">
            <a:avLst/>
          </a:prstGeom>
          <a:solidFill>
            <a:srgbClr val="FFFFFF"/>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77" name="Text 9"/>
          <p:cNvSpPr/>
          <p:nvPr/>
        </p:nvSpPr>
        <p:spPr>
          <a:xfrm>
            <a:off x="21945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1B1B20"/>
                </a:solidFill>
                <a:effectLst/>
                <a:uFillTx/>
                <a:latin typeface="Consolas"/>
                <a:ea typeface="Consolas"/>
              </a:rPr>
              <a:t>3</a:t>
            </a:r>
            <a:endParaRPr lang="en-US" sz="1300" b="0" u="none" strike="noStrike">
              <a:solidFill>
                <a:srgbClr val="000000"/>
              </a:solidFill>
              <a:effectLst/>
              <a:uFillTx/>
              <a:latin typeface="Arial"/>
            </a:endParaRPr>
          </a:p>
        </p:txBody>
      </p:sp>
      <p:sp>
        <p:nvSpPr>
          <p:cNvPr id="678" name="Text 10"/>
          <p:cNvSpPr/>
          <p:nvPr/>
        </p:nvSpPr>
        <p:spPr>
          <a:xfrm>
            <a:off x="3017520" y="2011680"/>
            <a:ext cx="3654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1" u="none" strike="noStrike">
                <a:solidFill>
                  <a:srgbClr val="47465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679" name="Shape 11"/>
          <p:cNvSpPr/>
          <p:nvPr/>
        </p:nvSpPr>
        <p:spPr>
          <a:xfrm>
            <a:off x="3474720" y="1920240"/>
            <a:ext cx="685440" cy="594000"/>
          </a:xfrm>
          <a:prstGeom prst="rect">
            <a:avLst/>
          </a:prstGeom>
          <a:solidFill>
            <a:srgbClr val="BBEDDC"/>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80" name="Text 12"/>
          <p:cNvSpPr/>
          <p:nvPr/>
        </p:nvSpPr>
        <p:spPr>
          <a:xfrm>
            <a:off x="347472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10</a:t>
            </a:r>
            <a:endParaRPr lang="en-US" sz="1300" b="0" u="none" strike="noStrike">
              <a:solidFill>
                <a:srgbClr val="000000"/>
              </a:solidFill>
              <a:effectLst/>
              <a:uFillTx/>
              <a:latin typeface="Arial"/>
            </a:endParaRPr>
          </a:p>
        </p:txBody>
      </p:sp>
      <p:sp>
        <p:nvSpPr>
          <p:cNvPr id="681" name="Text 13"/>
          <p:cNvSpPr/>
          <p:nvPr/>
        </p:nvSpPr>
        <p:spPr>
          <a:xfrm>
            <a:off x="4297680" y="2011680"/>
            <a:ext cx="4568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800" b="1" u="none" strike="noStrike">
                <a:solidFill>
                  <a:srgbClr val="474651"/>
                </a:solidFill>
                <a:effectLst/>
                <a:uFillTx/>
                <a:latin typeface="Bricolage Grotesque"/>
                <a:ea typeface="Bricolage Grotesque"/>
              </a:rPr>
              <a:t>→</a:t>
            </a:r>
            <a:endParaRPr lang="en-US" sz="1800" b="0" u="none" strike="noStrike">
              <a:solidFill>
                <a:srgbClr val="000000"/>
              </a:solidFill>
              <a:effectLst/>
              <a:uFillTx/>
              <a:latin typeface="Arial"/>
            </a:endParaRPr>
          </a:p>
        </p:txBody>
      </p:sp>
      <p:sp>
        <p:nvSpPr>
          <p:cNvPr id="682" name="Shape 14"/>
          <p:cNvSpPr/>
          <p:nvPr/>
        </p:nvSpPr>
        <p:spPr>
          <a:xfrm>
            <a:off x="49377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3" name="Text 15"/>
          <p:cNvSpPr/>
          <p:nvPr/>
        </p:nvSpPr>
        <p:spPr>
          <a:xfrm>
            <a:off x="49377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11</a:t>
            </a:r>
            <a:endParaRPr lang="en-US" sz="1300" b="0" u="none" strike="noStrike">
              <a:solidFill>
                <a:srgbClr val="000000"/>
              </a:solidFill>
              <a:effectLst/>
              <a:uFillTx/>
              <a:latin typeface="Arial"/>
            </a:endParaRPr>
          </a:p>
        </p:txBody>
      </p:sp>
      <p:sp>
        <p:nvSpPr>
          <p:cNvPr id="684" name="Shape 16"/>
          <p:cNvSpPr/>
          <p:nvPr/>
        </p:nvSpPr>
        <p:spPr>
          <a:xfrm>
            <a:off x="56235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5" name="Text 17"/>
          <p:cNvSpPr/>
          <p:nvPr/>
        </p:nvSpPr>
        <p:spPr>
          <a:xfrm>
            <a:off x="56235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12</a:t>
            </a:r>
            <a:endParaRPr lang="en-US" sz="1300" b="0" u="none" strike="noStrike">
              <a:solidFill>
                <a:srgbClr val="000000"/>
              </a:solidFill>
              <a:effectLst/>
              <a:uFillTx/>
              <a:latin typeface="Arial"/>
            </a:endParaRPr>
          </a:p>
        </p:txBody>
      </p:sp>
      <p:sp>
        <p:nvSpPr>
          <p:cNvPr id="686" name="Shape 18"/>
          <p:cNvSpPr/>
          <p:nvPr/>
        </p:nvSpPr>
        <p:spPr>
          <a:xfrm>
            <a:off x="6309360" y="1920240"/>
            <a:ext cx="685440" cy="594000"/>
          </a:xfrm>
          <a:prstGeom prst="rect">
            <a:avLst/>
          </a:prstGeom>
          <a:solidFill>
            <a:srgbClr val="8C8AE0"/>
          </a:solidFill>
          <a:ln w="12700">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87" name="Text 19"/>
          <p:cNvSpPr/>
          <p:nvPr/>
        </p:nvSpPr>
        <p:spPr>
          <a:xfrm>
            <a:off x="6309360" y="1920240"/>
            <a:ext cx="68544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2F0523"/>
                </a:solidFill>
                <a:effectLst/>
                <a:uFillTx/>
                <a:latin typeface="Consolas"/>
                <a:ea typeface="Consolas"/>
              </a:rPr>
              <a:t>13</a:t>
            </a:r>
            <a:endParaRPr lang="en-US" sz="1300" b="0" u="none" strike="noStrike">
              <a:solidFill>
                <a:srgbClr val="000000"/>
              </a:solidFill>
              <a:effectLst/>
              <a:uFillTx/>
              <a:latin typeface="Arial"/>
            </a:endParaRPr>
          </a:p>
        </p:txBody>
      </p:sp>
      <p:sp>
        <p:nvSpPr>
          <p:cNvPr id="688" name="Text 20"/>
          <p:cNvSpPr/>
          <p:nvPr/>
        </p:nvSpPr>
        <p:spPr>
          <a:xfrm>
            <a:off x="822960" y="3108960"/>
            <a:ext cx="10332360" cy="27428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10 is stretched to [10, 10, 10] behind the scenes, then added element-wise — you never see this step, NumPy just handles it.</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This is why arr * 2 or arr + 5 work directly on a whole array without writing a loop.</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The same idea works between a matrix and a 1D array too, as long as the shapes are compatible.</a:t>
            </a:r>
            <a:endParaRPr lang="en-US" sz="1350" b="0" u="none" strike="noStrike">
              <a:solidFill>
                <a:srgbClr val="000000"/>
              </a:solidFill>
              <a:effectLst/>
              <a:uFillTx/>
              <a:latin typeface="Arial"/>
            </a:endParaRPr>
          </a:p>
          <a:p>
            <a:pPr marL="228600" indent="-228600" defTabSz="914400">
              <a:lnSpc>
                <a:spcPct val="100000"/>
              </a:lnSpc>
              <a:spcAft>
                <a:spcPts val="1199"/>
              </a:spcAft>
              <a:buClr>
                <a:srgbClr val="1B1B20"/>
              </a:buClr>
              <a:buFont typeface="Symbol" charset="2"/>
              <a:buChar char=""/>
            </a:pPr>
            <a:r>
              <a:rPr lang="en-US" sz="1350" b="0" u="none" strike="noStrike">
                <a:solidFill>
                  <a:srgbClr val="1B1B20"/>
                </a:solidFill>
                <a:effectLst/>
                <a:uFillTx/>
                <a:latin typeface="Hanken Grotesk"/>
                <a:ea typeface="Hanken Grotesk"/>
              </a:rPr>
              <a:t>Rule of thumb: shapes are compatible if, comparing from the right, each dimension either matches or one of them is 1.</a:t>
            </a:r>
            <a:endParaRPr lang="en-US" sz="1350" b="0" u="none" strike="noStrike">
              <a:solidFill>
                <a:srgbClr val="000000"/>
              </a:solidFill>
              <a:effectLst/>
              <a:uFillTx/>
              <a:latin typeface="Arial"/>
            </a:endParaRPr>
          </a:p>
        </p:txBody>
      </p:sp>
      <p:sp>
        <p:nvSpPr>
          <p:cNvPr id="689" name="Text 2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AGGREGATE FUNCTIONS</a:t>
            </a:r>
            <a:endParaRPr lang="en-US" sz="1100" b="0" u="none" strike="noStrike">
              <a:solidFill>
                <a:srgbClr val="000000"/>
              </a:solidFill>
              <a:effectLst/>
              <a:uFillTx/>
              <a:latin typeface="Arial"/>
            </a:endParaRPr>
          </a:p>
        </p:txBody>
      </p:sp>
      <p:sp>
        <p:nvSpPr>
          <p:cNvPr id="69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Summarizing an Array</a:t>
            </a:r>
            <a:endParaRPr lang="en-US" sz="2600" b="0" u="none" strike="noStrike">
              <a:solidFill>
                <a:srgbClr val="000000"/>
              </a:solidFill>
              <a:effectLst/>
              <a:uFillTx/>
              <a:latin typeface="Arial"/>
            </a:endParaRPr>
          </a:p>
        </p:txBody>
      </p:sp>
      <p:pic>
        <p:nvPicPr>
          <p:cNvPr id="692"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69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694" name="Table 0"/>
          <p:cNvGraphicFramePr/>
          <p:nvPr/>
        </p:nvGraphicFramePr>
        <p:xfrm>
          <a:off x="548640" y="1737360"/>
          <a:ext cx="11109600" cy="3291480"/>
        </p:xfrm>
        <a:graphic>
          <a:graphicData uri="http://schemas.openxmlformats.org/drawingml/2006/table">
            <a:tbl>
              <a:tblPr/>
              <a:tblGrid>
                <a:gridCol w="3999240"/>
                <a:gridCol w="7110360"/>
              </a:tblGrid>
              <a:tr h="4701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arr.sum()</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Adds up every element</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arr.mean()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average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arr.std()</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standard deviation — how spread out the values are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arr.min() / arr.max()</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smallest / largest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arr.argmax() / arr.argmin()</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The index of the largest / smallest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701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axis=0 / axis=1</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Apply the function down columns / across rows, on a 2D array</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695" name="Text 3"/>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69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9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69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8 · OPERATIONS &amp; BROADCASTING</a:t>
            </a:r>
            <a:endParaRPr lang="en-US" sz="1100" b="0" u="none" strike="noStrike">
              <a:solidFill>
                <a:srgbClr val="000000"/>
              </a:solidFill>
              <a:effectLst/>
              <a:uFillTx/>
              <a:latin typeface="Arial"/>
            </a:endParaRPr>
          </a:p>
        </p:txBody>
      </p:sp>
      <p:sp>
        <p:nvSpPr>
          <p:cNvPr id="69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Operations, Broadcasting &amp; Vectorisation</a:t>
            </a:r>
            <a:endParaRPr lang="en-US" sz="2300" b="0" u="none" strike="noStrike">
              <a:solidFill>
                <a:srgbClr val="000000"/>
              </a:solidFill>
              <a:effectLst/>
              <a:uFillTx/>
              <a:latin typeface="Arial"/>
            </a:endParaRPr>
          </a:p>
        </p:txBody>
      </p:sp>
      <p:sp>
        <p:nvSpPr>
          <p:cNvPr id="70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70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0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two same-sized arrays and compute their element-wise sum, difference, and product.</a:t>
            </a:r>
            <a:endParaRPr lang="en-US" sz="1300" b="0" u="none" strike="noStrike">
              <a:solidFill>
                <a:srgbClr val="000000"/>
              </a:solidFill>
              <a:effectLst/>
              <a:uFillTx/>
              <a:latin typeface="Arial"/>
            </a:endParaRPr>
          </a:p>
        </p:txBody>
      </p:sp>
      <p:sp>
        <p:nvSpPr>
          <p:cNvPr id="70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0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0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Add a single number to a whole array and explain what broadcasting did behind the scenes.</a:t>
            </a:r>
            <a:endParaRPr lang="en-US" sz="1300" b="0" u="none" strike="noStrike">
              <a:solidFill>
                <a:srgbClr val="000000"/>
              </a:solidFill>
              <a:effectLst/>
              <a:uFillTx/>
              <a:latin typeface="Arial"/>
            </a:endParaRPr>
          </a:p>
        </p:txBody>
      </p:sp>
      <p:sp>
        <p:nvSpPr>
          <p:cNvPr id="70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1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mean, std, min, and max of an array in one block of code.</a:t>
            </a:r>
            <a:endParaRPr lang="en-US" sz="1300" b="0" u="none" strike="noStrike">
              <a:solidFill>
                <a:srgbClr val="000000"/>
              </a:solidFill>
              <a:effectLst/>
              <a:uFillTx/>
              <a:latin typeface="Arial"/>
            </a:endParaRPr>
          </a:p>
        </p:txBody>
      </p:sp>
      <p:sp>
        <p:nvSpPr>
          <p:cNvPr id="71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1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1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For a 2D array, compute the sum once with axis=0 and once with axis=1, and explain the difference.</a:t>
            </a:r>
            <a:endParaRPr lang="en-US" sz="1300" b="0" u="none" strike="noStrike">
              <a:solidFill>
                <a:srgbClr val="000000"/>
              </a:solidFill>
              <a:effectLst/>
              <a:uFillTx/>
              <a:latin typeface="Arial"/>
            </a:endParaRPr>
          </a:p>
        </p:txBody>
      </p:sp>
      <p:pic>
        <p:nvPicPr>
          <p:cNvPr id="71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1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1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2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2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2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72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9 · MISSING VALUES</a:t>
            </a:r>
            <a:endParaRPr lang="en-US" sz="1400" b="0" u="none" strike="noStrike">
              <a:solidFill>
                <a:srgbClr val="FFFFFF"/>
              </a:solidFill>
              <a:effectLst/>
              <a:uFillTx/>
              <a:latin typeface="Arial"/>
            </a:endParaRPr>
          </a:p>
        </p:txBody>
      </p:sp>
      <p:sp>
        <p:nvSpPr>
          <p:cNvPr id="72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Handling Missing Values</a:t>
            </a:r>
            <a:endParaRPr lang="en-US" sz="4000" b="0" u="none" strike="noStrike">
              <a:solidFill>
                <a:srgbClr val="FFFFFF"/>
              </a:solidFill>
              <a:effectLst/>
              <a:uFillTx/>
              <a:latin typeface="Arial"/>
            </a:endParaRPr>
          </a:p>
        </p:txBody>
      </p:sp>
      <p:sp>
        <p:nvSpPr>
          <p:cNvPr id="72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Real data is rarely </a:t>
            </a:r>
            <a:r>
              <a:rPr lang="en-US" sz="1500" b="0" u="none" strike="noStrike">
                <a:solidFill>
                  <a:srgbClr val="94A3B8"/>
                </a:solidFill>
                <a:effectLst/>
                <a:uFillTx/>
                <a:latin typeface="Hanken Grotesk"/>
                <a:ea typeface="Hanken Grotesk"/>
              </a:rPr>
              <a:t>complete — NumPy </a:t>
            </a:r>
            <a:r>
              <a:rPr lang="en-US" sz="1500" b="0" u="none" strike="noStrike">
                <a:solidFill>
                  <a:srgbClr val="94A3B8"/>
                </a:solidFill>
                <a:effectLst/>
                <a:uFillTx/>
                <a:latin typeface="Hanken Grotesk"/>
                <a:ea typeface="Hanken Grotesk"/>
              </a:rPr>
              <a:t>gives you the tools to </a:t>
            </a:r>
            <a:r>
              <a:rPr lang="en-US" sz="1500" b="0" u="none" strike="noStrike">
                <a:solidFill>
                  <a:srgbClr val="94A3B8"/>
                </a:solidFill>
                <a:effectLst/>
                <a:uFillTx/>
                <a:latin typeface="Hanken Grotesk"/>
                <a:ea typeface="Hanken Grotesk"/>
              </a:rPr>
              <a:t>find and deal with the </a:t>
            </a:r>
            <a:r>
              <a:rPr lang="en-US" sz="1500" b="0" u="none" strike="noStrike">
                <a:solidFill>
                  <a:srgbClr val="94A3B8"/>
                </a:solidFill>
                <a:effectLst/>
                <a:uFillTx/>
                <a:latin typeface="Hanken Grotesk"/>
                <a:ea typeface="Hanken Grotesk"/>
              </a:rPr>
              <a:t>gaps.</a:t>
            </a:r>
            <a:endParaRPr lang="en-US" sz="1500" b="0" u="none" strike="noStrike">
              <a:solidFill>
                <a:srgbClr val="FFFFFF"/>
              </a:solidFill>
              <a:effectLst/>
              <a:uFillTx/>
              <a:latin typeface="Arial"/>
            </a:endParaRPr>
          </a:p>
        </p:txBody>
      </p:sp>
      <p:sp>
        <p:nvSpPr>
          <p:cNvPr id="72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65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2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2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np.nan — Representing "No Value"</a:t>
            </a:r>
            <a:endParaRPr lang="en-US" sz="2600" b="0" u="none" strike="noStrike">
              <a:solidFill>
                <a:srgbClr val="000000"/>
              </a:solidFill>
              <a:effectLst/>
              <a:uFillTx/>
              <a:latin typeface="Arial"/>
            </a:endParaRPr>
          </a:p>
        </p:txBody>
      </p:sp>
      <p:pic>
        <p:nvPicPr>
          <p:cNvPr id="72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3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31"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np.nan (Not a Number) is NumPy's placeholder for a missing numerical value — common in real, messy datasets.</a:t>
            </a:r>
            <a:endParaRPr lang="en-US" sz="1300" b="0" u="none" strike="noStrike">
              <a:solidFill>
                <a:srgbClr val="000000"/>
              </a:solidFill>
              <a:effectLst/>
              <a:uFillTx/>
              <a:latin typeface="Arial"/>
            </a:endParaRPr>
          </a:p>
        </p:txBody>
      </p:sp>
      <p:sp>
        <p:nvSpPr>
          <p:cNvPr id="732" name="Shape 4"/>
          <p:cNvSpPr/>
          <p:nvPr/>
        </p:nvSpPr>
        <p:spPr>
          <a:xfrm>
            <a:off x="548640" y="2057400"/>
            <a:ext cx="5394600" cy="3565800"/>
          </a:xfrm>
          <a:prstGeom prst="roundRect">
            <a:avLst>
              <a:gd name="adj" fmla="val 3077"/>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33"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34"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35"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36" name="Text 8"/>
          <p:cNvSpPr/>
          <p:nvPr/>
        </p:nvSpPr>
        <p:spPr>
          <a:xfrm>
            <a:off x="749880" y="2441520"/>
            <a:ext cx="4992120" cy="30355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data = np.array([72, 85, np.nan, 90, np.nan, 68])</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np.isnan(data)</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[False False  True False  True False]</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np.sum(np.isnan(data))</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2   &lt;- count of missing values</a:t>
            </a:r>
            <a:endParaRPr lang="en-US" sz="1250" b="0" u="none" strike="noStrike">
              <a:solidFill>
                <a:srgbClr val="000000"/>
              </a:solidFill>
              <a:effectLst/>
              <a:uFillTx/>
              <a:latin typeface="Cantarell"/>
            </a:endParaRPr>
          </a:p>
        </p:txBody>
      </p:sp>
      <p:sp>
        <p:nvSpPr>
          <p:cNvPr id="737"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738" name="Image 1" descr="/home/claude/numpy_deck/charts/missing_heatmap.png"/>
          <p:cNvPicPr/>
          <p:nvPr/>
        </p:nvPicPr>
        <p:blipFill>
          <a:blip r:embed="rId2"/>
          <a:stretch/>
        </p:blipFill>
        <p:spPr>
          <a:xfrm>
            <a:off x="6282000" y="2167200"/>
            <a:ext cx="5266440" cy="3071880"/>
          </a:xfrm>
          <a:prstGeom prst="rect">
            <a:avLst/>
          </a:prstGeom>
          <a:noFill/>
          <a:ln w="0">
            <a:noFill/>
          </a:ln>
        </p:spPr>
      </p:pic>
      <p:sp>
        <p:nvSpPr>
          <p:cNvPr id="739"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np.isnan() returns a boolean mask marking every NaN — combine it with boolean indexing (Part 5) to isolate or remove them.</a:t>
            </a:r>
            <a:endParaRPr lang="en-US" sz="1150" b="0" u="none" strike="noStrike">
              <a:solidFill>
                <a:srgbClr val="000000"/>
              </a:solidFill>
              <a:effectLst/>
              <a:uFillTx/>
              <a:latin typeface="Arial"/>
            </a:endParaRPr>
          </a:p>
        </p:txBody>
      </p:sp>
      <p:sp>
        <p:nvSpPr>
          <p:cNvPr id="740"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4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4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Handling the Gaps</a:t>
            </a:r>
            <a:endParaRPr lang="en-US" sz="2600" b="0" u="none" strike="noStrike">
              <a:solidFill>
                <a:srgbClr val="000000"/>
              </a:solidFill>
              <a:effectLst/>
              <a:uFillTx/>
              <a:latin typeface="Arial"/>
            </a:endParaRPr>
          </a:p>
        </p:txBody>
      </p:sp>
      <p:pic>
        <p:nvPicPr>
          <p:cNvPr id="74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4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745" name="Table 0"/>
          <p:cNvGraphicFramePr/>
          <p:nvPr/>
        </p:nvGraphicFramePr>
        <p:xfrm>
          <a:off x="548640" y="1737360"/>
          <a:ext cx="11109600" cy="2559960"/>
        </p:xfrm>
        <a:graphic>
          <a:graphicData uri="http://schemas.openxmlformats.org/drawingml/2006/table">
            <a:tbl>
              <a:tblPr/>
              <a:tblGrid>
                <a:gridCol w="3999240"/>
                <a:gridCol w="7110360"/>
              </a:tblGrid>
              <a:tr h="51192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Function / Attribute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Meaning</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np.nanmean(arr)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Average, ignoring NaN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np.nanstd(arr) / np.nansum(arr)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Standard deviation / sum, ignoring NaN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arr[~np.isnan(arr)]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Keeps only the non-missing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51192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np.where(np.isnan(arr), fill_value, arr)</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Replaces every NaN with a chosen fill value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746" name="Shape 3"/>
          <p:cNvSpPr/>
          <p:nvPr/>
        </p:nvSpPr>
        <p:spPr>
          <a:xfrm>
            <a:off x="548640" y="4572000"/>
            <a:ext cx="11109600" cy="1828800"/>
          </a:xfrm>
          <a:prstGeom prst="roundRect">
            <a:avLst>
              <a:gd name="adj" fmla="val 75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7" name="Shape 4"/>
          <p:cNvSpPr/>
          <p:nvPr/>
        </p:nvSpPr>
        <p:spPr>
          <a:xfrm>
            <a:off x="713160" y="4718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48" name="Shape 5"/>
          <p:cNvSpPr/>
          <p:nvPr/>
        </p:nvSpPr>
        <p:spPr>
          <a:xfrm>
            <a:off x="914400" y="4718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49" name="Shape 6"/>
          <p:cNvSpPr/>
          <p:nvPr/>
        </p:nvSpPr>
        <p:spPr>
          <a:xfrm>
            <a:off x="1115640" y="4718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50" name="Text 7"/>
          <p:cNvSpPr/>
          <p:nvPr/>
        </p:nvSpPr>
        <p:spPr>
          <a:xfrm>
            <a:off x="749880" y="4956120"/>
            <a:ext cx="10707120" cy="932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data = np.array([72, 85, np.nan, 90, np.nan, 68])</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clean_mean = np.nanmean(data)      # ignores NaNs</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filled = np.where(np.isnan(data), clean_mean, data)</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every NaN replaced with the mean</a:t>
            </a:r>
            <a:endParaRPr lang="en-US" sz="1300" b="0" u="none" strike="noStrike">
              <a:solidFill>
                <a:srgbClr val="000000"/>
              </a:solidFill>
              <a:effectLst/>
              <a:uFillTx/>
              <a:latin typeface="Cantarell"/>
            </a:endParaRPr>
          </a:p>
        </p:txBody>
      </p:sp>
      <p:sp>
        <p:nvSpPr>
          <p:cNvPr id="751"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67</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52"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3"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754"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9 · MISSING VALUES</a:t>
            </a:r>
            <a:endParaRPr lang="en-US" sz="1100" b="0" u="none" strike="noStrike">
              <a:solidFill>
                <a:srgbClr val="000000"/>
              </a:solidFill>
              <a:effectLst/>
              <a:uFillTx/>
              <a:latin typeface="Arial"/>
            </a:endParaRPr>
          </a:p>
        </p:txBody>
      </p:sp>
      <p:sp>
        <p:nvSpPr>
          <p:cNvPr id="755"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Handling Missing Values</a:t>
            </a:r>
            <a:endParaRPr lang="en-US" sz="2300" b="0" u="none" strike="noStrike">
              <a:solidFill>
                <a:srgbClr val="000000"/>
              </a:solidFill>
              <a:effectLst/>
              <a:uFillTx/>
              <a:latin typeface="Arial"/>
            </a:endParaRPr>
          </a:p>
        </p:txBody>
      </p:sp>
      <p:sp>
        <p:nvSpPr>
          <p:cNvPr id="756"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757"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8"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59"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760"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Create an array with a few np.nan values mixed in, and count how many there are.</a:t>
            </a:r>
            <a:endParaRPr lang="en-US" sz="1300" b="0" u="none" strike="noStrike">
              <a:solidFill>
                <a:srgbClr val="000000"/>
              </a:solidFill>
              <a:effectLst/>
              <a:uFillTx/>
              <a:latin typeface="Arial"/>
            </a:endParaRPr>
          </a:p>
        </p:txBody>
      </p:sp>
      <p:sp>
        <p:nvSpPr>
          <p:cNvPr id="761"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2"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3"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764"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mean of that array with and without ignoring NaN values, and compare.</a:t>
            </a:r>
            <a:endParaRPr lang="en-US" sz="1300" b="0" u="none" strike="noStrike">
              <a:solidFill>
                <a:srgbClr val="000000"/>
              </a:solidFill>
              <a:effectLst/>
              <a:uFillTx/>
              <a:latin typeface="Arial"/>
            </a:endParaRPr>
          </a:p>
        </p:txBody>
      </p:sp>
      <p:sp>
        <p:nvSpPr>
          <p:cNvPr id="765"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6"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67"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768"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Replace every NaN in the array with the column's mean using np.where().</a:t>
            </a:r>
            <a:endParaRPr lang="en-US" sz="1300" b="0" u="none" strike="noStrike">
              <a:solidFill>
                <a:srgbClr val="000000"/>
              </a:solidFill>
              <a:effectLst/>
              <a:uFillTx/>
              <a:latin typeface="Arial"/>
            </a:endParaRPr>
          </a:p>
        </p:txBody>
      </p:sp>
      <p:sp>
        <p:nvSpPr>
          <p:cNvPr id="769"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0"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1"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772"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Filter out the NaN values </a:t>
            </a:r>
            <a:r>
              <a:rPr lang="en-US" sz="1300" b="0" u="none" strike="noStrike">
                <a:solidFill>
                  <a:srgbClr val="1B1B20"/>
                </a:solidFill>
                <a:effectLst/>
                <a:uFillTx/>
                <a:latin typeface="Hanken Grotesk"/>
                <a:ea typeface="Hanken Grotesk"/>
              </a:rPr>
              <a:t>entirely and print only the </a:t>
            </a:r>
            <a:r>
              <a:rPr lang="en-US" sz="1300" b="0" u="none" strike="noStrike">
                <a:solidFill>
                  <a:srgbClr val="1B1B20"/>
                </a:solidFill>
                <a:effectLst/>
                <a:uFillTx/>
                <a:latin typeface="Hanken Grotesk"/>
                <a:ea typeface="Hanken Grotesk"/>
              </a:rPr>
              <a:t>valid numbers.</a:t>
            </a:r>
            <a:endParaRPr lang="en-US" sz="1300" b="0" u="none" strike="noStrike">
              <a:solidFill>
                <a:srgbClr val="000000"/>
              </a:solidFill>
              <a:effectLst/>
              <a:uFillTx/>
              <a:latin typeface="Arial"/>
            </a:endParaRPr>
          </a:p>
        </p:txBody>
      </p:sp>
      <p:pic>
        <p:nvPicPr>
          <p:cNvPr id="77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74"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75"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68</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776"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77"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778"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779"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10 · REAL-WORLD DATA</a:t>
            </a:r>
            <a:endParaRPr lang="en-US" sz="1400" b="0" u="none" strike="noStrike">
              <a:solidFill>
                <a:srgbClr val="FFFFFF"/>
              </a:solidFill>
              <a:effectLst/>
              <a:uFillTx/>
              <a:latin typeface="Arial"/>
            </a:endParaRPr>
          </a:p>
        </p:txBody>
      </p:sp>
      <p:sp>
        <p:nvSpPr>
          <p:cNvPr id="780"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NumPy with Real-World Data</a:t>
            </a:r>
            <a:endParaRPr lang="en-US" sz="4000" b="0" u="none" strike="noStrike">
              <a:solidFill>
                <a:srgbClr val="FFFFFF"/>
              </a:solidFill>
              <a:effectLst/>
              <a:uFillTx/>
              <a:latin typeface="Arial"/>
            </a:endParaRPr>
          </a:p>
        </p:txBody>
      </p:sp>
      <p:sp>
        <p:nvSpPr>
          <p:cNvPr id="781"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Bringing everything together on a small, realistic dataset — six students, five subjects.</a:t>
            </a:r>
            <a:endParaRPr lang="en-US" sz="1500" b="0" u="none" strike="noStrike">
              <a:solidFill>
                <a:srgbClr val="FFFFFF"/>
              </a:solidFill>
              <a:effectLst/>
              <a:uFillTx/>
              <a:latin typeface="Arial"/>
            </a:endParaRPr>
          </a:p>
        </p:txBody>
      </p:sp>
      <p:sp>
        <p:nvSpPr>
          <p:cNvPr id="782"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69</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8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78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The Dataset — Student Scores</a:t>
            </a:r>
            <a:endParaRPr lang="en-US" sz="2600" b="0" u="none" strike="noStrike">
              <a:solidFill>
                <a:srgbClr val="000000"/>
              </a:solidFill>
              <a:effectLst/>
              <a:uFillTx/>
              <a:latin typeface="Arial"/>
            </a:endParaRPr>
          </a:p>
        </p:txBody>
      </p:sp>
      <p:pic>
        <p:nvPicPr>
          <p:cNvPr id="785"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8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87" name="Shape 3"/>
          <p:cNvSpPr/>
          <p:nvPr/>
        </p:nvSpPr>
        <p:spPr>
          <a:xfrm>
            <a:off x="548640" y="1737360"/>
            <a:ext cx="5394600" cy="4205880"/>
          </a:xfrm>
          <a:prstGeom prst="roundRect">
            <a:avLst>
              <a:gd name="adj" fmla="val 260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8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78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9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791" name="Text 7"/>
          <p:cNvSpPr/>
          <p:nvPr/>
        </p:nvSpPr>
        <p:spPr>
          <a:xfrm>
            <a:off x="749880" y="2121480"/>
            <a:ext cx="4992120" cy="36756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subjects = ["Math", "Physics", "Chemistry",</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"Biology", "English"]</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scores = np.array([</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[78, 85, 92, 88, 76],</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[65, 70, 60, 72, 80],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[90, 88, 95, 91, 85],</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[55, 62, 58, 64, 70],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[82, 79, 84, 88, 90],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[70, 75, 68, 73, 77],</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scores.shape</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 (6, 5)  &lt;- 6 students, 5 subjects</a:t>
            </a:r>
            <a:endParaRPr lang="en-US" sz="1300" b="0" u="none" strike="noStrike">
              <a:solidFill>
                <a:srgbClr val="000000"/>
              </a:solidFill>
              <a:effectLst/>
              <a:uFillTx/>
              <a:latin typeface="Cantarell"/>
            </a:endParaRPr>
          </a:p>
        </p:txBody>
      </p:sp>
      <p:sp>
        <p:nvSpPr>
          <p:cNvPr id="792" name="Text 8"/>
          <p:cNvSpPr/>
          <p:nvPr/>
        </p:nvSpPr>
        <p:spPr>
          <a:xfrm>
            <a:off x="6172200" y="1737360"/>
            <a:ext cx="5486040" cy="42058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Rows are students, columns are subjects — a 2D array is a completely natural fit for this kind of tabular data.</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This is exactly the shape of data you'll load into Pandas next module — NumPy is what's underneath it.</a:t>
            </a:r>
            <a:endParaRPr lang="en-US" sz="1400" b="0" u="none" strike="noStrike">
              <a:solidFill>
                <a:srgbClr val="000000"/>
              </a:solidFill>
              <a:effectLst/>
              <a:uFillTx/>
              <a:latin typeface="Arial"/>
            </a:endParaRPr>
          </a:p>
        </p:txBody>
      </p:sp>
      <p:sp>
        <p:nvSpPr>
          <p:cNvPr id="793"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70</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794"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795"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Average Score per Subject — axis=0</a:t>
            </a:r>
            <a:endParaRPr lang="en-US" sz="2600" b="0" u="none" strike="noStrike">
              <a:solidFill>
                <a:srgbClr val="000000"/>
              </a:solidFill>
              <a:effectLst/>
              <a:uFillTx/>
              <a:latin typeface="Arial"/>
            </a:endParaRPr>
          </a:p>
        </p:txBody>
      </p:sp>
      <p:pic>
        <p:nvPicPr>
          <p:cNvPr id="796"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797"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798" name="Shape 3"/>
          <p:cNvSpPr/>
          <p:nvPr/>
        </p:nvSpPr>
        <p:spPr>
          <a:xfrm>
            <a:off x="548640" y="1737360"/>
            <a:ext cx="5394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99"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00"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01"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02" name="Text 7"/>
          <p:cNvSpPr/>
          <p:nvPr/>
        </p:nvSpPr>
        <p:spPr>
          <a:xfrm>
            <a:off x="749880" y="2121480"/>
            <a:ext cx="4992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avg_per_subject = scores.mean(axis=0)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print(avg_per_subject)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[73.3 76.5 76.2 79.3 79.7]</a:t>
            </a:r>
            <a:endParaRPr lang="en-US" sz="1400" b="0" u="none" strike="noStrike">
              <a:solidFill>
                <a:srgbClr val="000000"/>
              </a:solidFill>
              <a:effectLst/>
              <a:uFillTx/>
              <a:latin typeface="Cantarell"/>
            </a:endParaRPr>
          </a:p>
        </p:txBody>
      </p:sp>
      <p:sp>
        <p:nvSpPr>
          <p:cNvPr id="803"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04" name="Image 1" descr="/home/claude/numpy_deck/charts/realworld_avg.png"/>
          <p:cNvPicPr/>
          <p:nvPr/>
        </p:nvPicPr>
        <p:blipFill>
          <a:blip r:embed="rId2"/>
          <a:stretch/>
        </p:blipFill>
        <p:spPr>
          <a:xfrm>
            <a:off x="6282000" y="1847160"/>
            <a:ext cx="5266440" cy="3803400"/>
          </a:xfrm>
          <a:prstGeom prst="rect">
            <a:avLst/>
          </a:prstGeom>
          <a:noFill/>
          <a:ln w="0">
            <a:noFill/>
          </a:ln>
        </p:spPr>
      </p:pic>
      <p:sp>
        <p:nvSpPr>
          <p:cNvPr id="805" name="Text 9"/>
          <p:cNvSpPr/>
          <p:nvPr/>
        </p:nvSpPr>
        <p:spPr>
          <a:xfrm>
            <a:off x="548640" y="3429000"/>
            <a:ext cx="5394600" cy="22856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50" b="0" u="none" strike="noStrike">
                <a:solidFill>
                  <a:srgbClr val="1B1B20"/>
                </a:solidFill>
                <a:effectLst/>
                <a:uFillTx/>
                <a:latin typeface="Hanken Grotesk"/>
                <a:ea typeface="Hanken Grotesk"/>
              </a:rPr>
              <a:t>axis=0 collapses down the rows — one average per column (subject).</a:t>
            </a:r>
            <a:endParaRPr lang="en-US" sz="1350" b="0" u="none" strike="noStrike">
              <a:solidFill>
                <a:srgbClr val="000000"/>
              </a:solidFill>
              <a:effectLst/>
              <a:uFillTx/>
              <a:latin typeface="Arial"/>
            </a:endParaRPr>
          </a:p>
        </p:txBody>
      </p:sp>
      <p:sp>
        <p:nvSpPr>
          <p:cNvPr id="806"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0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80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Average Score per Student — axis=1</a:t>
            </a:r>
            <a:endParaRPr lang="en-US" sz="2600" b="0" u="none" strike="noStrike">
              <a:solidFill>
                <a:srgbClr val="000000"/>
              </a:solidFill>
              <a:effectLst/>
              <a:uFillTx/>
              <a:latin typeface="Arial"/>
            </a:endParaRPr>
          </a:p>
        </p:txBody>
      </p:sp>
      <p:pic>
        <p:nvPicPr>
          <p:cNvPr id="80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1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811" name="Shape 3"/>
          <p:cNvSpPr/>
          <p:nvPr/>
        </p:nvSpPr>
        <p:spPr>
          <a:xfrm>
            <a:off x="548640" y="1737360"/>
            <a:ext cx="5394600" cy="2011320"/>
          </a:xfrm>
          <a:prstGeom prst="roundRect">
            <a:avLst>
              <a:gd name="adj" fmla="val 5455"/>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12"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13"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14"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15" name="Text 7"/>
          <p:cNvSpPr/>
          <p:nvPr/>
        </p:nvSpPr>
        <p:spPr>
          <a:xfrm>
            <a:off x="749880" y="2121480"/>
            <a:ext cx="4992120" cy="14810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avg_per_student = scores.mean(axis=1)</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print(avg_per_student)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[83.8 69.4 89.8 61.8 84.6 72.6]</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top_student = np.argmax(avg_per_student)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index 2 -&gt; highest average</a:t>
            </a:r>
            <a:endParaRPr lang="en-US" sz="1350" b="0" u="none" strike="noStrike">
              <a:solidFill>
                <a:srgbClr val="000000"/>
              </a:solidFill>
              <a:effectLst/>
              <a:uFillTx/>
              <a:latin typeface="Cantarell"/>
            </a:endParaRPr>
          </a:p>
        </p:txBody>
      </p:sp>
      <p:sp>
        <p:nvSpPr>
          <p:cNvPr id="816"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17" name="Image 1" descr="/home/claude/numpy_deck/charts/realworld_student_avg.png"/>
          <p:cNvPicPr/>
          <p:nvPr/>
        </p:nvPicPr>
        <p:blipFill>
          <a:blip r:embed="rId2"/>
          <a:stretch/>
        </p:blipFill>
        <p:spPr>
          <a:xfrm>
            <a:off x="6282000" y="1847160"/>
            <a:ext cx="5266440" cy="3803400"/>
          </a:xfrm>
          <a:prstGeom prst="rect">
            <a:avLst/>
          </a:prstGeom>
          <a:noFill/>
          <a:ln w="0">
            <a:noFill/>
          </a:ln>
        </p:spPr>
      </p:pic>
      <p:sp>
        <p:nvSpPr>
          <p:cNvPr id="818" name="Text 9"/>
          <p:cNvSpPr/>
          <p:nvPr/>
        </p:nvSpPr>
        <p:spPr>
          <a:xfrm>
            <a:off x="548640" y="3886200"/>
            <a:ext cx="5394600" cy="18284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001"/>
              </a:spcAft>
              <a:buClr>
                <a:srgbClr val="1B1B20"/>
              </a:buClr>
              <a:buFont typeface="Symbol" charset="2"/>
              <a:buChar char=""/>
            </a:pPr>
            <a:r>
              <a:rPr lang="en-US" sz="1350" b="0" u="none" strike="noStrike">
                <a:solidFill>
                  <a:srgbClr val="1B1B20"/>
                </a:solidFill>
                <a:effectLst/>
                <a:uFillTx/>
                <a:latin typeface="Hanken Grotesk"/>
                <a:ea typeface="Hanken Grotesk"/>
              </a:rPr>
              <a:t>axis=1 collapses across the columns — one average per row (student).</a:t>
            </a:r>
            <a:endParaRPr lang="en-US" sz="1350" b="0" u="none" strike="noStrike">
              <a:solidFill>
                <a:srgbClr val="000000"/>
              </a:solidFill>
              <a:effectLst/>
              <a:uFillTx/>
              <a:latin typeface="Arial"/>
            </a:endParaRPr>
          </a:p>
        </p:txBody>
      </p:sp>
      <p:sp>
        <p:nvSpPr>
          <p:cNvPr id="819" name="Text 10"/>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20"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1"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822"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10 · REAL-WORLD DATA</a:t>
            </a:r>
            <a:endParaRPr lang="en-US" sz="1100" b="0" u="none" strike="noStrike">
              <a:solidFill>
                <a:srgbClr val="000000"/>
              </a:solidFill>
              <a:effectLst/>
              <a:uFillTx/>
              <a:latin typeface="Arial"/>
            </a:endParaRPr>
          </a:p>
        </p:txBody>
      </p:sp>
      <p:sp>
        <p:nvSpPr>
          <p:cNvPr id="823"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NumPy with Real-World Data</a:t>
            </a:r>
            <a:endParaRPr lang="en-US" sz="2300" b="0" u="none" strike="noStrike">
              <a:solidFill>
                <a:srgbClr val="000000"/>
              </a:solidFill>
              <a:effectLst/>
              <a:uFillTx/>
              <a:latin typeface="Arial"/>
            </a:endParaRPr>
          </a:p>
        </p:txBody>
      </p:sp>
      <p:sp>
        <p:nvSpPr>
          <p:cNvPr id="824"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825"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6"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27"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828"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Build a 2D array representing 5 products' sales across 4 weeks.</a:t>
            </a:r>
            <a:endParaRPr lang="en-US" sz="1300" b="0" u="none" strike="noStrike">
              <a:solidFill>
                <a:srgbClr val="000000"/>
              </a:solidFill>
              <a:effectLst/>
              <a:uFillTx/>
              <a:latin typeface="Arial"/>
            </a:endParaRPr>
          </a:p>
        </p:txBody>
      </p:sp>
      <p:sp>
        <p:nvSpPr>
          <p:cNvPr id="829"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0"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1"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832"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Compute the average sales per week and the average sales per product.</a:t>
            </a:r>
            <a:endParaRPr lang="en-US" sz="1300" b="0" u="none" strike="noStrike">
              <a:solidFill>
                <a:srgbClr val="000000"/>
              </a:solidFill>
              <a:effectLst/>
              <a:uFillTx/>
              <a:latin typeface="Arial"/>
            </a:endParaRPr>
          </a:p>
        </p:txBody>
      </p:sp>
      <p:sp>
        <p:nvSpPr>
          <p:cNvPr id="833"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4"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5"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836"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Find which product had the single highest sales value, and in which week.</a:t>
            </a:r>
            <a:endParaRPr lang="en-US" sz="1300" b="0" u="none" strike="noStrike">
              <a:solidFill>
                <a:srgbClr val="000000"/>
              </a:solidFill>
              <a:effectLst/>
              <a:uFillTx/>
              <a:latin typeface="Arial"/>
            </a:endParaRPr>
          </a:p>
        </p:txBody>
      </p:sp>
      <p:sp>
        <p:nvSpPr>
          <p:cNvPr id="837"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8"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39"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840"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Use boolean indexing to find every product-week combination that sold above the overall average.</a:t>
            </a:r>
            <a:endParaRPr lang="en-US" sz="1300" b="0" u="none" strike="noStrike">
              <a:solidFill>
                <a:srgbClr val="000000"/>
              </a:solidFill>
              <a:effectLst/>
              <a:uFillTx/>
              <a:latin typeface="Arial"/>
            </a:endParaRPr>
          </a:p>
        </p:txBody>
      </p:sp>
      <p:pic>
        <p:nvPicPr>
          <p:cNvPr id="841"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42"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843"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844"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45"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846"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847"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11 · BONUS</a:t>
            </a:r>
            <a:endParaRPr lang="en-US" sz="1400" b="0" u="none" strike="noStrike">
              <a:solidFill>
                <a:srgbClr val="FFFFFF"/>
              </a:solidFill>
              <a:effectLst/>
              <a:uFillTx/>
              <a:latin typeface="Arial"/>
            </a:endParaRPr>
          </a:p>
        </p:txBody>
      </p:sp>
      <p:sp>
        <p:nvSpPr>
          <p:cNvPr id="848"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Images as NumPy Arrays</a:t>
            </a:r>
            <a:endParaRPr lang="en-US" sz="4000" b="0" u="none" strike="noStrike">
              <a:solidFill>
                <a:srgbClr val="FFFFFF"/>
              </a:solidFill>
              <a:effectLst/>
              <a:uFillTx/>
              <a:latin typeface="Arial"/>
            </a:endParaRPr>
          </a:p>
        </p:txBody>
      </p:sp>
      <p:sp>
        <p:nvSpPr>
          <p:cNvPr id="849"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A genuinely fun demo: every image is secretly just a grid of numbers.</a:t>
            </a:r>
            <a:endParaRPr lang="en-US" sz="1500" b="0" u="none" strike="noStrike">
              <a:solidFill>
                <a:srgbClr val="FFFFFF"/>
              </a:solidFill>
              <a:effectLst/>
              <a:uFillTx/>
              <a:latin typeface="Arial"/>
            </a:endParaRPr>
          </a:p>
        </p:txBody>
      </p:sp>
      <p:sp>
        <p:nvSpPr>
          <p:cNvPr id="850"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74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51"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52"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A Picture Is Just a Matrix</a:t>
            </a:r>
            <a:endParaRPr lang="en-US" sz="2600" b="0" u="none" strike="noStrike">
              <a:solidFill>
                <a:srgbClr val="000000"/>
              </a:solidFill>
              <a:effectLst/>
              <a:uFillTx/>
              <a:latin typeface="Arial"/>
            </a:endParaRPr>
          </a:p>
        </p:txBody>
      </p:sp>
      <p:pic>
        <p:nvPicPr>
          <p:cNvPr id="853"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54"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855" name="Text 3"/>
          <p:cNvSpPr/>
          <p:nvPr/>
        </p:nvSpPr>
        <p:spPr>
          <a:xfrm>
            <a:off x="548640" y="1737360"/>
            <a:ext cx="11109600" cy="274284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A grayscale image is a 2D array — one number per pixel, from 0 (black) to 255 (white).</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A color image is a 3D array (a tensor!) — height x width x 3, one layer each for Red, Green, and Blue.</a:t>
            </a:r>
            <a:endParaRPr lang="en-US" sz="160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600" b="0" u="none" strike="noStrike">
                <a:solidFill>
                  <a:srgbClr val="1B1B20"/>
                </a:solidFill>
                <a:effectLst/>
                <a:uFillTx/>
                <a:latin typeface="Hanken Grotesk"/>
                <a:ea typeface="Hanken Grotesk"/>
              </a:rPr>
              <a:t>Once you see an image as an array, every NumPy tool you've learned today — indexing, slicing, arithmetic — becomes a way to edit it.</a:t>
            </a:r>
            <a:endParaRPr lang="en-US" sz="1600" b="0" u="none" strike="noStrike">
              <a:solidFill>
                <a:srgbClr val="000000"/>
              </a:solidFill>
              <a:effectLst/>
              <a:uFillTx/>
              <a:latin typeface="Arial"/>
            </a:endParaRPr>
          </a:p>
        </p:txBody>
      </p:sp>
      <p:sp>
        <p:nvSpPr>
          <p:cNvPr id="856" name="Shape 4"/>
          <p:cNvSpPr/>
          <p:nvPr/>
        </p:nvSpPr>
        <p:spPr>
          <a:xfrm>
            <a:off x="548640" y="3429000"/>
            <a:ext cx="11109600" cy="2743200"/>
          </a:xfrm>
          <a:prstGeom prst="roundRect">
            <a:avLst>
              <a:gd name="adj" fmla="val 7500"/>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57" name="Shape 5"/>
          <p:cNvSpPr/>
          <p:nvPr/>
        </p:nvSpPr>
        <p:spPr>
          <a:xfrm>
            <a:off x="713160" y="35661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58" name="Shape 6"/>
          <p:cNvSpPr/>
          <p:nvPr/>
        </p:nvSpPr>
        <p:spPr>
          <a:xfrm>
            <a:off x="914400" y="35661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59" name="Shape 7"/>
          <p:cNvSpPr/>
          <p:nvPr/>
        </p:nvSpPr>
        <p:spPr>
          <a:xfrm>
            <a:off x="1115640" y="35661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60" name="Text 8"/>
          <p:cNvSpPr/>
          <p:nvPr/>
        </p:nvSpPr>
        <p:spPr>
          <a:xfrm>
            <a:off x="722880" y="3886200"/>
            <a:ext cx="10707120" cy="9324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00" b="0" u="none" strike="noStrike">
                <a:solidFill>
                  <a:srgbClr val="F1F5F9"/>
                </a:solidFill>
                <a:effectLst/>
                <a:uFillTx/>
                <a:latin typeface="Cantarell"/>
                <a:ea typeface="Consolas"/>
              </a:rPr>
              <a:t>from PIL import Image</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import numpy as np</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img = Image.open("photo.png").convert("L")</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img_array = np.array(img)</a:t>
            </a:r>
            <a:endParaRPr lang="en-US" sz="1300" b="0" u="none" strike="noStrike">
              <a:solidFill>
                <a:srgbClr val="000000"/>
              </a:solidFill>
              <a:effectLst/>
              <a:uFillTx/>
              <a:latin typeface="Cantarell"/>
            </a:endParaRPr>
          </a:p>
          <a:p>
            <a:pPr defTabSz="914400">
              <a:lnSpc>
                <a:spcPct val="118000"/>
              </a:lnSpc>
              <a:tabLst>
                <a:tab pos="0" algn="l"/>
              </a:tabLst>
            </a:pP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print(img_array.shape)   # (200, 200)</a:t>
            </a:r>
            <a:endParaRPr lang="en-US" sz="1300" b="0" u="none" strike="noStrike">
              <a:solidFill>
                <a:srgbClr val="000000"/>
              </a:solidFill>
              <a:effectLst/>
              <a:uFillTx/>
              <a:latin typeface="Cantarell"/>
            </a:endParaRPr>
          </a:p>
          <a:p>
            <a:pPr defTabSz="914400">
              <a:lnSpc>
                <a:spcPct val="118000"/>
              </a:lnSpc>
              <a:tabLst>
                <a:tab pos="0" algn="l"/>
              </a:tabLst>
            </a:pPr>
            <a:r>
              <a:rPr lang="en-US" sz="1300" b="0" u="none" strike="noStrike">
                <a:solidFill>
                  <a:srgbClr val="F1F5F9"/>
                </a:solidFill>
                <a:effectLst/>
                <a:uFillTx/>
                <a:latin typeface="Cantarell"/>
                <a:ea typeface="Consolas"/>
              </a:rPr>
              <a:t>print(img_array.dtype)   # uint8</a:t>
            </a:r>
            <a:endParaRPr lang="en-US" sz="1300" b="0" u="none" strike="noStrike">
              <a:solidFill>
                <a:srgbClr val="000000"/>
              </a:solidFill>
              <a:effectLst/>
              <a:uFillTx/>
              <a:latin typeface="Cantarell"/>
            </a:endParaRPr>
          </a:p>
        </p:txBody>
      </p:sp>
      <p:sp>
        <p:nvSpPr>
          <p:cNvPr id="861"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75</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62"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63"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Dark Mode, in One Line</a:t>
            </a:r>
            <a:endParaRPr lang="en-US" sz="2600" b="0" u="none" strike="noStrike">
              <a:solidFill>
                <a:srgbClr val="000000"/>
              </a:solidFill>
              <a:effectLst/>
              <a:uFillTx/>
              <a:latin typeface="Arial"/>
            </a:endParaRPr>
          </a:p>
        </p:txBody>
      </p:sp>
      <p:pic>
        <p:nvPicPr>
          <p:cNvPr id="864"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65"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866" name="Text 3"/>
          <p:cNvSpPr/>
          <p:nvPr/>
        </p:nvSpPr>
        <p:spPr>
          <a:xfrm>
            <a:off x="548640" y="1417320"/>
            <a:ext cx="1106388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"Dark mode" for an image is just inverting every pixel value — a light background becomes dark, and vice versa.</a:t>
            </a:r>
            <a:endParaRPr lang="en-US" sz="1300" b="0" u="none" strike="noStrike">
              <a:solidFill>
                <a:srgbClr val="000000"/>
              </a:solidFill>
              <a:effectLst/>
              <a:uFillTx/>
              <a:latin typeface="Arial"/>
            </a:endParaRPr>
          </a:p>
        </p:txBody>
      </p:sp>
      <p:sp>
        <p:nvSpPr>
          <p:cNvPr id="867" name="Shape 4"/>
          <p:cNvSpPr/>
          <p:nvPr/>
        </p:nvSpPr>
        <p:spPr>
          <a:xfrm>
            <a:off x="548640" y="2057400"/>
            <a:ext cx="5394600" cy="3291480"/>
          </a:xfrm>
          <a:prstGeom prst="roundRect">
            <a:avLst>
              <a:gd name="adj" fmla="val 3333"/>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68" name="Shape 5"/>
          <p:cNvSpPr/>
          <p:nvPr/>
        </p:nvSpPr>
        <p:spPr>
          <a:xfrm>
            <a:off x="713160" y="220356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869" name="Shape 6"/>
          <p:cNvSpPr/>
          <p:nvPr/>
        </p:nvSpPr>
        <p:spPr>
          <a:xfrm>
            <a:off x="914400" y="220356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70" name="Shape 7"/>
          <p:cNvSpPr/>
          <p:nvPr/>
        </p:nvSpPr>
        <p:spPr>
          <a:xfrm>
            <a:off x="1115640" y="220356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871" name="Text 8"/>
          <p:cNvSpPr/>
          <p:nvPr/>
        </p:nvSpPr>
        <p:spPr>
          <a:xfrm>
            <a:off x="749880" y="2441520"/>
            <a:ext cx="4992120" cy="276120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250" b="0" u="none" strike="noStrike">
                <a:solidFill>
                  <a:srgbClr val="F1F5F9"/>
                </a:solidFill>
                <a:effectLst/>
                <a:uFillTx/>
                <a:latin typeface="Cantarell"/>
                <a:ea typeface="Consolas"/>
              </a:rPr>
              <a:t>img_array = np.array(image)</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every pixel is 0-255</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dark_array = 255 - img_array</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bright pixels become dark,</a:t>
            </a: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 dark pixels become bright</a:t>
            </a:r>
            <a:endParaRPr lang="en-US" sz="1250" b="0" u="none" strike="noStrike">
              <a:solidFill>
                <a:srgbClr val="000000"/>
              </a:solidFill>
              <a:effectLst/>
              <a:uFillTx/>
              <a:latin typeface="Cantarell"/>
            </a:endParaRPr>
          </a:p>
          <a:p>
            <a:pPr defTabSz="914400">
              <a:lnSpc>
                <a:spcPct val="118000"/>
              </a:lnSpc>
              <a:tabLst>
                <a:tab pos="0" algn="l"/>
              </a:tabLst>
            </a:pPr>
            <a:endParaRPr lang="en-US" sz="1250" b="0" u="none" strike="noStrike">
              <a:solidFill>
                <a:srgbClr val="000000"/>
              </a:solidFill>
              <a:effectLst/>
              <a:uFillTx/>
              <a:latin typeface="Cantarell"/>
            </a:endParaRPr>
          </a:p>
          <a:p>
            <a:pPr defTabSz="914400">
              <a:lnSpc>
                <a:spcPct val="118000"/>
              </a:lnSpc>
              <a:tabLst>
                <a:tab pos="0" algn="l"/>
              </a:tabLst>
            </a:pPr>
            <a:r>
              <a:rPr lang="en-US" sz="1250" b="0" u="none" strike="noStrike">
                <a:solidFill>
                  <a:srgbClr val="F1F5F9"/>
                </a:solidFill>
                <a:effectLst/>
                <a:uFillTx/>
                <a:latin typeface="Cantarell"/>
                <a:ea typeface="Consolas"/>
              </a:rPr>
              <a:t>dark_image = Image.fromarray(dark_array)</a:t>
            </a:r>
            <a:endParaRPr lang="en-US" sz="1250" b="0" u="none" strike="noStrike">
              <a:solidFill>
                <a:srgbClr val="000000"/>
              </a:solidFill>
              <a:effectLst/>
              <a:uFillTx/>
              <a:latin typeface="Cantarell"/>
            </a:endParaRPr>
          </a:p>
        </p:txBody>
      </p:sp>
      <p:sp>
        <p:nvSpPr>
          <p:cNvPr id="872" name="Shape 9"/>
          <p:cNvSpPr/>
          <p:nvPr/>
        </p:nvSpPr>
        <p:spPr>
          <a:xfrm>
            <a:off x="6172200" y="2057400"/>
            <a:ext cx="5486040" cy="3291480"/>
          </a:xfrm>
          <a:prstGeom prst="roundRect">
            <a:avLst>
              <a:gd name="adj" fmla="val 2778"/>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873" name="Image 1" descr="/home/claude/numpy_deck/charts/image_dark_mode.png"/>
          <p:cNvPicPr/>
          <p:nvPr/>
        </p:nvPicPr>
        <p:blipFill>
          <a:blip r:embed="rId2"/>
          <a:stretch/>
        </p:blipFill>
        <p:spPr>
          <a:xfrm>
            <a:off x="6282000" y="2167200"/>
            <a:ext cx="5266440" cy="3071880"/>
          </a:xfrm>
          <a:prstGeom prst="rect">
            <a:avLst/>
          </a:prstGeom>
          <a:noFill/>
          <a:ln w="0">
            <a:noFill/>
          </a:ln>
        </p:spPr>
      </p:pic>
      <p:sp>
        <p:nvSpPr>
          <p:cNvPr id="874" name="Text 10"/>
          <p:cNvSpPr/>
          <p:nvPr/>
        </p:nvSpPr>
        <p:spPr>
          <a:xfrm>
            <a:off x="6172200" y="5440680"/>
            <a:ext cx="548604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i="1" u="none" strike="noStrike">
                <a:solidFill>
                  <a:srgbClr val="474651"/>
                </a:solidFill>
                <a:effectLst/>
                <a:uFillTx/>
                <a:latin typeface="Hanken Grotesk"/>
                <a:ea typeface="Hanken Grotesk"/>
              </a:rPr>
              <a:t>255 - img_array is a single broadcasted operation across every pixel — the exact same idea from Part 8, applied to a real image.</a:t>
            </a:r>
            <a:endParaRPr lang="en-US" sz="1150" b="0" u="none" strike="noStrike">
              <a:solidFill>
                <a:srgbClr val="000000"/>
              </a:solidFill>
              <a:effectLst/>
              <a:uFillTx/>
              <a:latin typeface="Arial"/>
            </a:endParaRPr>
          </a:p>
        </p:txBody>
      </p:sp>
      <p:sp>
        <p:nvSpPr>
          <p:cNvPr id="875"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76</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87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7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87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11 · IMAGES AS ARRAYS</a:t>
            </a:r>
            <a:endParaRPr lang="en-US" sz="1100" b="0" u="none" strike="noStrike">
              <a:solidFill>
                <a:srgbClr val="000000"/>
              </a:solidFill>
              <a:effectLst/>
              <a:uFillTx/>
              <a:latin typeface="Arial"/>
            </a:endParaRPr>
          </a:p>
        </p:txBody>
      </p:sp>
      <p:sp>
        <p:nvSpPr>
          <p:cNvPr id="87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Practice Set — Bonus: Images as NumPy Arrays</a:t>
            </a:r>
            <a:endParaRPr lang="en-US" sz="2300" b="0" u="none" strike="noStrike">
              <a:solidFill>
                <a:srgbClr val="000000"/>
              </a:solidFill>
              <a:effectLst/>
              <a:uFillTx/>
              <a:latin typeface="Arial"/>
            </a:endParaRPr>
          </a:p>
        </p:txBody>
      </p:sp>
      <p:sp>
        <p:nvSpPr>
          <p:cNvPr id="88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88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88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Load any image, convert it to grayscale, and print its shape and dtype.</a:t>
            </a:r>
            <a:endParaRPr lang="en-US" sz="1300" b="0" u="none" strike="noStrike">
              <a:solidFill>
                <a:srgbClr val="000000"/>
              </a:solidFill>
              <a:effectLst/>
              <a:uFillTx/>
              <a:latin typeface="Arial"/>
            </a:endParaRPr>
          </a:p>
        </p:txBody>
      </p:sp>
      <p:sp>
        <p:nvSpPr>
          <p:cNvPr id="88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8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88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Invert the image's pixel values to create a "dark mode" version.</a:t>
            </a:r>
            <a:endParaRPr lang="en-US" sz="1300" b="0" u="none" strike="noStrike">
              <a:solidFill>
                <a:srgbClr val="000000"/>
              </a:solidFill>
              <a:effectLst/>
              <a:uFillTx/>
              <a:latin typeface="Arial"/>
            </a:endParaRPr>
          </a:p>
        </p:txBody>
      </p:sp>
      <p:sp>
        <p:nvSpPr>
          <p:cNvPr id="88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89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Slice the array to keep only the top half of the image, and extract one color channel with img[:, :, 0].</a:t>
            </a:r>
            <a:endParaRPr lang="en-US" sz="1300" b="0" u="none" strike="noStrike">
              <a:solidFill>
                <a:srgbClr val="000000"/>
              </a:solidFill>
              <a:effectLst/>
              <a:uFillTx/>
              <a:latin typeface="Arial"/>
            </a:endParaRPr>
          </a:p>
        </p:txBody>
      </p:sp>
      <p:sp>
        <p:nvSpPr>
          <p:cNvPr id="89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89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89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Try multiplying the array by 0.5 — what visual effect does that have, and why?</a:t>
            </a:r>
            <a:endParaRPr lang="en-US" sz="1300" b="0" u="none" strike="noStrike">
              <a:solidFill>
                <a:srgbClr val="000000"/>
              </a:solidFill>
              <a:effectLst/>
              <a:uFillTx/>
              <a:latin typeface="Arial"/>
            </a:endParaRPr>
          </a:p>
        </p:txBody>
      </p:sp>
      <p:pic>
        <p:nvPicPr>
          <p:cNvPr id="897"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89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89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79</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00" name="Shape 0"/>
          <p:cNvSpPr/>
          <p:nvPr/>
        </p:nvSpPr>
        <p:spPr>
          <a:xfrm>
            <a:off x="9692640" y="-1463040"/>
            <a:ext cx="3840120" cy="38401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01" name="Shape 1"/>
          <p:cNvSpPr/>
          <p:nvPr/>
        </p:nvSpPr>
        <p:spPr>
          <a:xfrm>
            <a:off x="-1280160" y="4754880"/>
            <a:ext cx="3108600" cy="3108600"/>
          </a:xfrm>
          <a:prstGeom prst="ellipse">
            <a:avLst/>
          </a:prstGeom>
          <a:solidFill>
            <a:srgbClr val="11362E">
              <a:alpha val="5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02" name="Image 0" descr="/home/claude/numpy_deck/assets/logo_icon.png"/>
          <p:cNvPicPr/>
          <p:nvPr/>
        </p:nvPicPr>
        <p:blipFill>
          <a:blip r:embed="rId1"/>
          <a:stretch/>
        </p:blipFill>
        <p:spPr>
          <a:xfrm>
            <a:off x="640080" y="548640"/>
            <a:ext cx="438480" cy="526320"/>
          </a:xfrm>
          <a:prstGeom prst="rect">
            <a:avLst/>
          </a:prstGeom>
          <a:noFill/>
          <a:ln w="0">
            <a:noFill/>
          </a:ln>
        </p:spPr>
      </p:pic>
      <p:sp>
        <p:nvSpPr>
          <p:cNvPr id="903" name="Text 2"/>
          <p:cNvSpPr/>
          <p:nvPr/>
        </p:nvSpPr>
        <p:spPr>
          <a:xfrm>
            <a:off x="640080" y="2331720"/>
            <a:ext cx="914364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300" strike="noStrike">
                <a:solidFill>
                  <a:srgbClr val="2DD4BF"/>
                </a:solidFill>
                <a:effectLst/>
                <a:uFillTx/>
                <a:latin typeface="Plus Jakarta Sans"/>
                <a:ea typeface="Plus Jakarta Sans"/>
              </a:rPr>
              <a:t>PART 12 · MINI PROJECTS</a:t>
            </a:r>
            <a:endParaRPr lang="en-US" sz="1400" b="0" u="none" strike="noStrike">
              <a:solidFill>
                <a:srgbClr val="FFFFFF"/>
              </a:solidFill>
              <a:effectLst/>
              <a:uFillTx/>
              <a:latin typeface="Arial"/>
            </a:endParaRPr>
          </a:p>
        </p:txBody>
      </p:sp>
      <p:sp>
        <p:nvSpPr>
          <p:cNvPr id="904" name="Text 3"/>
          <p:cNvSpPr/>
          <p:nvPr/>
        </p:nvSpPr>
        <p:spPr>
          <a:xfrm>
            <a:off x="640080" y="2743200"/>
            <a:ext cx="1033236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000" b="1" u="none" spc="-51" strike="noStrike">
                <a:solidFill>
                  <a:srgbClr val="F1F5F9"/>
                </a:solidFill>
                <a:effectLst/>
                <a:uFillTx/>
                <a:latin typeface="Bricolage Grotesque"/>
                <a:ea typeface="Bricolage Grotesque"/>
              </a:rPr>
              <a:t>Put It All Together</a:t>
            </a:r>
            <a:endParaRPr lang="en-US" sz="4000" b="0" u="none" strike="noStrike">
              <a:solidFill>
                <a:srgbClr val="FFFFFF"/>
              </a:solidFill>
              <a:effectLst/>
              <a:uFillTx/>
              <a:latin typeface="Arial"/>
            </a:endParaRPr>
          </a:p>
        </p:txBody>
      </p:sp>
      <p:sp>
        <p:nvSpPr>
          <p:cNvPr id="905" name="Text 4"/>
          <p:cNvSpPr/>
          <p:nvPr/>
        </p:nvSpPr>
        <p:spPr>
          <a:xfrm>
            <a:off x="640080" y="3977640"/>
            <a:ext cx="969228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94A3B8"/>
                </a:solidFill>
                <a:effectLst/>
                <a:uFillTx/>
                <a:latin typeface="Hanken Grotesk"/>
                <a:ea typeface="Hanken Grotesk"/>
              </a:rPr>
              <a:t>Three small projects combining everything from Foundations to Real-World Data — built end to end with NumPy.</a:t>
            </a:r>
            <a:endParaRPr lang="en-US" sz="1500" b="0" u="none" strike="noStrike">
              <a:solidFill>
                <a:srgbClr val="FFFFFF"/>
              </a:solidFill>
              <a:effectLst/>
              <a:uFillTx/>
              <a:latin typeface="Arial"/>
            </a:endParaRPr>
          </a:p>
        </p:txBody>
      </p:sp>
      <p:sp>
        <p:nvSpPr>
          <p:cNvPr id="906"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94A3B8"/>
                </a:solidFill>
                <a:effectLst/>
                <a:uFillTx/>
                <a:latin typeface="Plus Jakarta Sans"/>
                <a:ea typeface="Plus Jakarta Sans"/>
              </a:rPr>
              <a:t xml:space="preserve">80</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0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0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a:t>
            </a:r>
            <a:r>
              <a:rPr lang="en-US" sz="2600" b="1" u="none" spc="-31" strike="noStrike">
                <a:solidFill>
                  <a:srgbClr val="1B1B20"/>
                </a:solidFill>
                <a:effectLst/>
                <a:uFillTx/>
                <a:latin typeface="Bricolage Grotesque"/>
                <a:ea typeface="Bricolage Grotesque"/>
              </a:rPr>
              <a:t>1: Student </a:t>
            </a:r>
            <a:r>
              <a:rPr lang="en-US" sz="2600" b="1" u="none" spc="-31" strike="noStrike">
                <a:solidFill>
                  <a:srgbClr val="1B1B20"/>
                </a:solidFill>
                <a:effectLst/>
                <a:uFillTx/>
                <a:latin typeface="Bricolage Grotesque"/>
                <a:ea typeface="Bricolage Grotesque"/>
              </a:rPr>
              <a:t>Grade Book</a:t>
            </a:r>
            <a:endParaRPr lang="en-US" sz="2600" b="0" u="none" strike="noStrike">
              <a:solidFill>
                <a:srgbClr val="000000"/>
              </a:solidFill>
              <a:effectLst/>
              <a:uFillTx/>
              <a:latin typeface="Arial"/>
            </a:endParaRPr>
          </a:p>
        </p:txBody>
      </p:sp>
      <p:pic>
        <p:nvPicPr>
          <p:cNvPr id="90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1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91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1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1</a:t>
            </a:r>
            <a:endParaRPr lang="en-US" sz="4200" b="0" u="none" strike="noStrike">
              <a:solidFill>
                <a:srgbClr val="000000"/>
              </a:solidFill>
              <a:effectLst/>
              <a:uFillTx/>
              <a:latin typeface="Arial"/>
            </a:endParaRPr>
          </a:p>
        </p:txBody>
      </p:sp>
      <p:sp>
        <p:nvSpPr>
          <p:cNvPr id="91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Indexing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Aggregate stats</a:t>
            </a:r>
            <a:endParaRPr lang="en-US" sz="1300" b="0" u="none" strike="noStrike">
              <a:solidFill>
                <a:srgbClr val="000000"/>
              </a:solidFill>
              <a:effectLst/>
              <a:uFillTx/>
              <a:latin typeface="Arial"/>
            </a:endParaRPr>
          </a:p>
        </p:txBody>
      </p:sp>
      <p:sp>
        <p:nvSpPr>
          <p:cNvPr id="91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2D array of scores for 6 students across 4 subjects.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indexing and slicing to pull out one student's full record and one subject's scores for everyone.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Compute each student's average (axis=1) and each subject's average (axis=0).</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argmax() to find the top-performing student, and boolean indexing to list every student scoring above 80 overall.</a:t>
            </a:r>
            <a:endParaRPr lang="en-US" sz="1450" b="0" u="none" strike="noStrike">
              <a:solidFill>
                <a:srgbClr val="000000"/>
              </a:solidFill>
              <a:effectLst/>
              <a:uFillTx/>
              <a:latin typeface="Arial"/>
            </a:endParaRPr>
          </a:p>
        </p:txBody>
      </p:sp>
      <p:sp>
        <p:nvSpPr>
          <p:cNvPr id="91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81</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1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1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2: Sales Forecast Adjuster</a:t>
            </a:r>
            <a:endParaRPr lang="en-US" sz="2600" b="0" u="none" strike="noStrike">
              <a:solidFill>
                <a:srgbClr val="000000"/>
              </a:solidFill>
              <a:effectLst/>
              <a:uFillTx/>
              <a:latin typeface="Arial"/>
            </a:endParaRPr>
          </a:p>
        </p:txBody>
      </p:sp>
      <p:pic>
        <p:nvPicPr>
          <p:cNvPr id="91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2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92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2</a:t>
            </a:r>
            <a:endParaRPr lang="en-US" sz="4200" b="0" u="none" strike="noStrike">
              <a:solidFill>
                <a:srgbClr val="000000"/>
              </a:solidFill>
              <a:effectLst/>
              <a:uFillTx/>
              <a:latin typeface="Arial"/>
            </a:endParaRPr>
          </a:p>
        </p:txBody>
      </p:sp>
      <p:sp>
        <p:nvSpPr>
          <p:cNvPr id="92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Broadcasting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Vectorised operations</a:t>
            </a:r>
            <a:endParaRPr lang="en-US" sz="1300" b="0" u="none" strike="noStrike">
              <a:solidFill>
                <a:srgbClr val="000000"/>
              </a:solidFill>
              <a:effectLst/>
              <a:uFillTx/>
              <a:latin typeface="Arial"/>
            </a:endParaRPr>
          </a:p>
        </p:txBody>
      </p:sp>
      <p:sp>
        <p:nvSpPr>
          <p:cNvPr id="92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2D array of weekly sales for 5 products over 6 weeks.</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Apply a single broadcasted operation to increase every value by 10% (a projected price increase).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Use reshape() or transpose() to view the data product-first instead of week-first.</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Compare the total runtime of a loop-based vs. vectorized version of the same calculation.</a:t>
            </a:r>
            <a:endParaRPr lang="en-US" sz="1450" b="0" u="none" strike="noStrike">
              <a:solidFill>
                <a:srgbClr val="000000"/>
              </a:solidFill>
              <a:effectLst/>
              <a:uFillTx/>
              <a:latin typeface="Arial"/>
            </a:endParaRPr>
          </a:p>
        </p:txBody>
      </p:sp>
      <p:sp>
        <p:nvSpPr>
          <p:cNvPr id="92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82</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F8FF"/>
        </a:solidFill>
      </p:bgPr>
    </p:bg>
    <p:spTree>
      <p:nvGrpSpPr>
        <p:cNvPr id="1" name=""/>
        <p:cNvGrpSpPr/>
        <p:nvPr/>
      </p:nvGrpSpPr>
      <p:grpSpPr>
        <a:xfrm>
          <a:off x="0" y="0"/>
          <a:ext cx="0" cy="0"/>
          <a:chOff x="0" y="0"/>
          <a:chExt cx="0" cy="0"/>
        </a:xfrm>
      </p:grpSpPr>
      <p:sp>
        <p:nvSpPr>
          <p:cNvPr id="927"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PART 12 · MINI PROJECTS</a:t>
            </a:r>
            <a:endParaRPr lang="en-US" sz="1100" b="0" u="none" strike="noStrike">
              <a:solidFill>
                <a:srgbClr val="000000"/>
              </a:solidFill>
              <a:effectLst/>
              <a:uFillTx/>
              <a:latin typeface="Arial"/>
            </a:endParaRPr>
          </a:p>
        </p:txBody>
      </p:sp>
      <p:sp>
        <p:nvSpPr>
          <p:cNvPr id="928"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Mini Project 3: Sensor Data Cleaner</a:t>
            </a:r>
            <a:endParaRPr lang="en-US" sz="2600" b="0" u="none" strike="noStrike">
              <a:solidFill>
                <a:srgbClr val="000000"/>
              </a:solidFill>
              <a:effectLst/>
              <a:uFillTx/>
              <a:latin typeface="Arial"/>
            </a:endParaRPr>
          </a:p>
        </p:txBody>
      </p:sp>
      <p:pic>
        <p:nvPicPr>
          <p:cNvPr id="929" name="Image 0" descr="/home/claude/numpy_deck/assets/logo_icon.png"/>
          <p:cNvPicPr/>
          <p:nvPr/>
        </p:nvPicPr>
        <p:blipFill>
          <a:blip r:embed="rId1"/>
          <a:stretch/>
        </p:blipFill>
        <p:spPr>
          <a:xfrm>
            <a:off x="11323080" y="320040"/>
            <a:ext cx="383760" cy="460440"/>
          </a:xfrm>
          <a:prstGeom prst="rect">
            <a:avLst/>
          </a:prstGeom>
          <a:noFill/>
          <a:ln w="0">
            <a:noFill/>
          </a:ln>
        </p:spPr>
      </p:pic>
      <p:sp>
        <p:nvSpPr>
          <p:cNvPr id="930"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931" name="Shape 3"/>
          <p:cNvSpPr/>
          <p:nvPr/>
        </p:nvSpPr>
        <p:spPr>
          <a:xfrm>
            <a:off x="548640" y="1737360"/>
            <a:ext cx="3062880" cy="3977280"/>
          </a:xfrm>
          <a:prstGeom prst="roundRect">
            <a:avLst>
              <a:gd name="adj" fmla="val 4179"/>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2" name="Shape 4"/>
          <p:cNvSpPr/>
          <p:nvPr/>
        </p:nvSpPr>
        <p:spPr>
          <a:xfrm>
            <a:off x="1577520" y="2194560"/>
            <a:ext cx="1005480" cy="1005480"/>
          </a:xfrm>
          <a:prstGeom prst="ellipse">
            <a:avLst/>
          </a:prstGeom>
          <a:solidFill>
            <a:srgbClr val="231F71">
              <a:alpha val="22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3" name="Text 5"/>
          <p:cNvSpPr/>
          <p:nvPr/>
        </p:nvSpPr>
        <p:spPr>
          <a:xfrm>
            <a:off x="1577520" y="2194560"/>
            <a:ext cx="1005480" cy="10054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200" b="1" u="none" strike="noStrike">
                <a:solidFill>
                  <a:srgbClr val="231F71"/>
                </a:solidFill>
                <a:effectLst/>
                <a:uFillTx/>
                <a:latin typeface="Bricolage Grotesque"/>
                <a:ea typeface="Bricolage Grotesque"/>
              </a:rPr>
              <a:t>3</a:t>
            </a:r>
            <a:endParaRPr lang="en-US" sz="4200" b="0" u="none" strike="noStrike">
              <a:solidFill>
                <a:srgbClr val="000000"/>
              </a:solidFill>
              <a:effectLst/>
              <a:uFillTx/>
              <a:latin typeface="Arial"/>
            </a:endParaRPr>
          </a:p>
        </p:txBody>
      </p:sp>
      <p:sp>
        <p:nvSpPr>
          <p:cNvPr id="934" name="Text 6"/>
          <p:cNvSpPr/>
          <p:nvPr/>
        </p:nvSpPr>
        <p:spPr>
          <a:xfrm>
            <a:off x="777240" y="4663440"/>
            <a:ext cx="26056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Missing values +</a:t>
            </a:r>
            <a:endParaRPr lang="en-US" sz="1300" b="0" u="none" strike="noStrike">
              <a:solidFill>
                <a:srgbClr val="000000"/>
              </a:solidFill>
              <a:effectLst/>
              <a:uFillTx/>
              <a:latin typeface="Arial"/>
            </a:endParaRPr>
          </a:p>
          <a:p>
            <a:pPr algn="ctr" defTabSz="914400">
              <a:lnSpc>
                <a:spcPct val="120000"/>
              </a:lnSpc>
              <a:tabLst>
                <a:tab pos="0" algn="l"/>
              </a:tabLst>
            </a:pPr>
            <a:r>
              <a:rPr lang="en-US" sz="1300" b="1" u="none" strike="noStrike">
                <a:solidFill>
                  <a:srgbClr val="231F71"/>
                </a:solidFill>
                <a:effectLst/>
                <a:uFillTx/>
                <a:latin typeface="Plus Jakarta Sans"/>
                <a:ea typeface="Plus Jakarta Sans"/>
              </a:rPr>
              <a:t>Real-world cleanup</a:t>
            </a:r>
            <a:endParaRPr lang="en-US" sz="1300" b="0" u="none" strike="noStrike">
              <a:solidFill>
                <a:srgbClr val="000000"/>
              </a:solidFill>
              <a:effectLst/>
              <a:uFillTx/>
              <a:latin typeface="Arial"/>
            </a:endParaRPr>
          </a:p>
        </p:txBody>
      </p:sp>
      <p:sp>
        <p:nvSpPr>
          <p:cNvPr id="935" name="Text 7"/>
          <p:cNvSpPr/>
          <p:nvPr/>
        </p:nvSpPr>
        <p:spPr>
          <a:xfrm>
            <a:off x="4069080" y="1783080"/>
            <a:ext cx="7589160" cy="397728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Build a 1D array of 20 simulated temperature readings, with a few np.nan values mixed in.</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Detect and count the missing readings using np.isnan().</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Fill every missing reading with the array's mean using np.where().</a:t>
            </a:r>
            <a:endParaRPr lang="en-US" sz="1450" b="0" u="none" strike="noStrike">
              <a:solidFill>
                <a:srgbClr val="000000"/>
              </a:solidFill>
              <a:effectLst/>
              <a:uFillTx/>
              <a:latin typeface="Arial"/>
            </a:endParaRPr>
          </a:p>
          <a:p>
            <a:pPr marL="228600" indent="-228600" defTabSz="914400">
              <a:lnSpc>
                <a:spcPct val="100000"/>
              </a:lnSpc>
              <a:spcAft>
                <a:spcPts val="1599"/>
              </a:spcAft>
              <a:buClr>
                <a:srgbClr val="1B1B20"/>
              </a:buClr>
              <a:buFont typeface="Symbol" charset="2"/>
              <a:buChar char=""/>
            </a:pPr>
            <a:r>
              <a:rPr lang="en-US" sz="1450" b="0" u="none" strike="noStrike">
                <a:solidFill>
                  <a:srgbClr val="1B1B20"/>
                </a:solidFill>
                <a:effectLst/>
                <a:uFillTx/>
                <a:latin typeface="Hanken Grotesk"/>
                <a:ea typeface="Hanken Grotesk"/>
              </a:rPr>
              <a:t>Report the cleaned array’s mean, min, and max, flag outliers with the 1.5 × IQR rule, and cap them with np.clip().</a:t>
            </a:r>
            <a:endParaRPr lang="en-US" sz="1450" b="0" u="none" strike="noStrike">
              <a:solidFill>
                <a:srgbClr val="000000"/>
              </a:solidFill>
              <a:effectLst/>
              <a:uFillTx/>
              <a:latin typeface="Arial"/>
            </a:endParaRPr>
          </a:p>
        </p:txBody>
      </p:sp>
      <p:sp>
        <p:nvSpPr>
          <p:cNvPr id="936"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83</a:t>
            </a:r>
            <a:endParaRPr lang="en-US"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37" name="Shape 0"/>
          <p:cNvSpPr/>
          <p:nvPr/>
        </p:nvSpPr>
        <p:spPr>
          <a:xfrm>
            <a:off x="-1828800" y="-2103120"/>
            <a:ext cx="4754520" cy="475452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8" name="Shape 1"/>
          <p:cNvSpPr/>
          <p:nvPr/>
        </p:nvSpPr>
        <p:spPr>
          <a:xfrm>
            <a:off x="9326880" y="4206240"/>
            <a:ext cx="4205880" cy="4205880"/>
          </a:xfrm>
          <a:prstGeom prst="ellipse">
            <a:avLst/>
          </a:prstGeom>
          <a:solidFill>
            <a:srgbClr val="11362E">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39" name="Shape 2"/>
          <p:cNvSpPr/>
          <p:nvPr/>
        </p:nvSpPr>
        <p:spPr>
          <a:xfrm>
            <a:off x="4907160" y="1051560"/>
            <a:ext cx="2377080" cy="54360"/>
          </a:xfrm>
          <a:prstGeom prst="roundRect">
            <a:avLst>
              <a:gd name="adj" fmla="val 50000"/>
            </a:avLst>
          </a:prstGeom>
          <a:solidFill>
            <a:srgbClr val="818CF8"/>
          </a:solidFill>
          <a:ln w="0">
            <a:noFill/>
          </a:ln>
        </p:spPr>
        <p:style>
          <a:lnRef idx="0"/>
          <a:fillRef idx="0"/>
          <a:effectRef idx="0"/>
          <a:fontRef idx="minor"/>
        </p:style>
        <p:txBody>
          <a:bodyPr lIns="90000" tIns="-6480" rIns="90000" bIns="-6480" anchor="t">
            <a:noAutofit/>
          </a:bodyPr>
          <a:p>
            <a:endParaRPr lang="en-US" sz="1800" b="0" u="none" strike="noStrike">
              <a:solidFill>
                <a:srgbClr val="FFFFFF"/>
              </a:solidFill>
              <a:effectLst/>
              <a:uFillTx/>
              <a:latin typeface="Arial"/>
            </a:endParaRPr>
          </a:p>
        </p:txBody>
      </p:sp>
      <p:sp>
        <p:nvSpPr>
          <p:cNvPr id="940" name="Text 3"/>
          <p:cNvSpPr/>
          <p:nvPr/>
        </p:nvSpPr>
        <p:spPr>
          <a:xfrm>
            <a:off x="0" y="1234440"/>
            <a:ext cx="12191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00" b="1" u="none" spc="300" strike="noStrike">
                <a:solidFill>
                  <a:srgbClr val="2DD4BF"/>
                </a:solidFill>
                <a:effectLst/>
                <a:uFillTx/>
                <a:latin typeface="Plus Jakarta Sans"/>
                <a:ea typeface="Plus Jakarta Sans"/>
              </a:rPr>
              <a:t>MODULE RECAP</a:t>
            </a:r>
            <a:endParaRPr lang="en-US" sz="1200" b="0" u="none" strike="noStrike">
              <a:solidFill>
                <a:srgbClr val="FFFFFF"/>
              </a:solidFill>
              <a:effectLst/>
              <a:uFillTx/>
              <a:latin typeface="Arial"/>
            </a:endParaRPr>
          </a:p>
        </p:txBody>
      </p:sp>
      <p:sp>
        <p:nvSpPr>
          <p:cNvPr id="941" name="Text 4"/>
          <p:cNvSpPr/>
          <p:nvPr/>
        </p:nvSpPr>
        <p:spPr>
          <a:xfrm>
            <a:off x="1249560" y="1920240"/>
            <a:ext cx="9692280" cy="2377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5000"/>
              </a:lnSpc>
              <a:tabLst>
                <a:tab pos="0" algn="l"/>
              </a:tabLst>
            </a:pPr>
            <a:r>
              <a:rPr lang="en-US" sz="2700" b="1" u="none" strike="noStrike">
                <a:solidFill>
                  <a:srgbClr val="F1F5F9"/>
                </a:solidFill>
                <a:effectLst/>
                <a:uFillTx/>
                <a:latin typeface="Bricolage Grotesque"/>
                <a:ea typeface="Bricolage Grotesque"/>
              </a:rPr>
              <a:t>Every array you sliced, reshaped, and broadcast today is the exact same object Pandas, Matplotlib, and every ML model you'll build later are quietly built on top of. You didn't just learn a library — you learned the language the rest of this course speaks.</a:t>
            </a:r>
            <a:endParaRPr lang="en-US" sz="2700" b="0" u="none" strike="noStrike">
              <a:solidFill>
                <a:srgbClr val="FFFFFF"/>
              </a:solidFill>
              <a:effectLst/>
              <a:uFillTx/>
              <a:latin typeface="Arial"/>
            </a:endParaRPr>
          </a:p>
        </p:txBody>
      </p:sp>
      <p:sp>
        <p:nvSpPr>
          <p:cNvPr id="942" name="Text 5"/>
          <p:cNvSpPr/>
          <p:nvPr/>
        </p:nvSpPr>
        <p:spPr>
          <a:xfrm>
            <a:off x="0" y="452628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0" i="1" u="none" strike="noStrike">
                <a:solidFill>
                  <a:srgbClr val="94A3B8"/>
                </a:solidFill>
                <a:effectLst/>
                <a:uFillTx/>
                <a:latin typeface="Hanken Grotesk"/>
                <a:ea typeface="Hanken Grotesk"/>
              </a:rPr>
              <a:t>Next up: Pandas — structured, labeled data, built directly on the NumPy arrays you just learned.</a:t>
            </a:r>
            <a:endParaRPr lang="en-US" sz="1400" b="0" u="none" strike="noStrike">
              <a:solidFill>
                <a:srgbClr val="FFFFFF"/>
              </a:solidFill>
              <a:effectLst/>
              <a:uFillTx/>
              <a:latin typeface="Arial"/>
            </a:endParaRPr>
          </a:p>
        </p:txBody>
      </p:sp>
      <p:sp>
        <p:nvSpPr>
          <p:cNvPr id="943" name="Text 6"/>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84</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0F17"/>
        </a:solidFill>
      </p:bgPr>
    </p:bg>
    <p:spTree>
      <p:nvGrpSpPr>
        <p:cNvPr id="1" name=""/>
        <p:cNvGrpSpPr/>
        <p:nvPr/>
      </p:nvGrpSpPr>
      <p:grpSpPr>
        <a:xfrm>
          <a:off x="0" y="0"/>
          <a:ext cx="0" cy="0"/>
          <a:chOff x="0" y="0"/>
          <a:chExt cx="0" cy="0"/>
        </a:xfrm>
      </p:grpSpPr>
      <p:sp>
        <p:nvSpPr>
          <p:cNvPr id="944" name="Shape 0"/>
          <p:cNvSpPr/>
          <p:nvPr/>
        </p:nvSpPr>
        <p:spPr>
          <a:xfrm>
            <a:off x="-1828800" y="-1828800"/>
            <a:ext cx="4571640" cy="4571640"/>
          </a:xfrm>
          <a:prstGeom prst="ellipse">
            <a:avLst/>
          </a:prstGeom>
          <a:solidFill>
            <a:srgbClr val="262758">
              <a:alpha val="45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45" name="Shape 1"/>
          <p:cNvSpPr/>
          <p:nvPr/>
        </p:nvSpPr>
        <p:spPr>
          <a:xfrm>
            <a:off x="9601200" y="4114800"/>
            <a:ext cx="4114440" cy="4114440"/>
          </a:xfrm>
          <a:prstGeom prst="ellipse">
            <a:avLst/>
          </a:prstGeom>
          <a:solidFill>
            <a:srgbClr val="4C112D">
              <a:alpha val="50000"/>
            </a:srgbClr>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pic>
        <p:nvPicPr>
          <p:cNvPr id="946" name="Image 0" descr="/home/claude/numpy_deck/assets/logo_full.png"/>
          <p:cNvPicPr/>
          <p:nvPr/>
        </p:nvPicPr>
        <p:blipFill>
          <a:blip r:embed="rId1"/>
          <a:stretch/>
        </p:blipFill>
        <p:spPr>
          <a:xfrm>
            <a:off x="4632840" y="2286000"/>
            <a:ext cx="2925720" cy="950760"/>
          </a:xfrm>
          <a:prstGeom prst="rect">
            <a:avLst/>
          </a:prstGeom>
          <a:noFill/>
          <a:ln w="0">
            <a:noFill/>
          </a:ln>
        </p:spPr>
      </p:pic>
      <p:sp>
        <p:nvSpPr>
          <p:cNvPr id="947" name="Text 3"/>
          <p:cNvSpPr/>
          <p:nvPr/>
        </p:nvSpPr>
        <p:spPr>
          <a:xfrm>
            <a:off x="0" y="3429000"/>
            <a:ext cx="1219140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3600" b="1" u="none" strike="noStrike">
                <a:solidFill>
                  <a:srgbClr val="F1F5F9"/>
                </a:solidFill>
                <a:effectLst/>
                <a:uFillTx/>
                <a:latin typeface="Bricolage Grotesque"/>
                <a:ea typeface="Bricolage Grotesque"/>
              </a:rPr>
              <a:t>Thank You</a:t>
            </a:r>
            <a:endParaRPr lang="en-US" sz="3600" b="0" u="none" strike="noStrike">
              <a:solidFill>
                <a:srgbClr val="FFFFFF"/>
              </a:solidFill>
              <a:effectLst/>
              <a:uFillTx/>
              <a:latin typeface="Arial"/>
            </a:endParaRPr>
          </a:p>
        </p:txBody>
      </p:sp>
      <p:sp>
        <p:nvSpPr>
          <p:cNvPr id="948" name="Text 4"/>
          <p:cNvSpPr/>
          <p:nvPr/>
        </p:nvSpPr>
        <p:spPr>
          <a:xfrm>
            <a:off x="0" y="4160520"/>
            <a:ext cx="1219140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0" u="none" strike="noStrike">
                <a:solidFill>
                  <a:srgbClr val="94A3B8"/>
                </a:solidFill>
                <a:effectLst/>
                <a:uFillTx/>
                <a:latin typeface="Plus Jakarta Sans"/>
                <a:ea typeface="Plus Jakarta Sans"/>
              </a:rPr>
              <a:t>NumPy · AI &amp; ML Playground · CodeByPaxto</a:t>
            </a:r>
            <a:endParaRPr lang="en-US" sz="1300" b="0" u="none" strike="noStrike">
              <a:solidFill>
                <a:srgbClr val="FFFFFF"/>
              </a:solidFill>
              <a:effectLst/>
              <a:uFillTx/>
              <a:latin typeface="Arial"/>
            </a:endParaRPr>
          </a:p>
        </p:txBody>
      </p:sp>
      <p:sp>
        <p:nvSpPr>
          <p:cNvPr id="949" name="Text 5"/>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85</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1 · INTRODUCTION</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Your First ndarray — Version &amp; Type</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import numpy as np</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np.__version__           # e.g. 2.2.5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 = np.array([1, 2, 3, 4,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type(arr)                # numpy.ndarray</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 2, 3, 4))   # from a tuple</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np.array("Hey there")    # 0-D, dtype &lt;U9</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np.array(list("Hey"))    # 1-D, dtype &lt;U1</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array object is called ndarray. np.array() accepts a list, a tuple, or any array-like object.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Check np.__version__ first when your code behaves differently from a tutorial.</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A string is not split into characters: np.array("Hey there") is a 0-dimensional array with shape (). Wrap list(...) around it to get one element per character.</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08</a:t>
            </a:r>
            <a:endParaRPr lang="en-US" sz="900" b="0" u="none" strike="noStrike">
              <a:solidFill>
                <a:srgbClr val="000000"/>
              </a:solidFill>
              <a:effectLst/>
              <a:uFillTx/>
              <a:latin typeface="Arial"/>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2 · SHAPES &amp; AXES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Reading a Shape — Nested Dolls</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 shape = (3, 4)</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3 -&gt; things along axis 0 (outermost)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4 -&gt; things along axis 1</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np.array(7).shape             # ()</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np.array([10, 20, 30]).shape  #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[4, 5, 6]]).shape   # (2, 3)</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A shape is a tuple: each number says how many things exist in that direction. Read left to right — the leftmost number is the outermost container, like Russian dolls.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(4,) has a comma because it is a one-item tuple: 4 values along one axis. () is a bare number with no axes at all.</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(2, 3) means 2 rows (axis 0) and 3 columns (axis 1) — a table, like a spreadsheet or a grayscale image.</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15</a:t>
            </a:r>
            <a:endParaRPr lang="en-US" sz="900" b="0" u="none" strike="noStrike">
              <a:solidFill>
                <a:srgbClr val="000000"/>
              </a:solidFill>
              <a:effectLst/>
              <a:uFillTx/>
              <a:latin typeface="Arial"/>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2 · SHAPES &amp; AXES</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Shape Has No Fixed Meaning</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Shape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What each number means</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(64, 64, 3)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One RGB image: 64 tall, 64 wide, 3 channels [R, G, B]</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(10, 28, 28)</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10 grayscale images, each 28 tall × 28 wide — no channels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(8, 64, 64, 3)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Batch of 8 RGB images: (batch, height, width, channels)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(32, 10, 64, 64, 3)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32 videos × 10 frames × 64×64 RGB: (batch, time, H, W, C)</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img  = np.zeros((64, 64, 3))     # one RGB image</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imgs = np.zeros((10, 28, 28))    # 10 gray images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 the shape gives sizes; YOU decide what each axis means</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16</a:t>
            </a:r>
            <a:endParaRPr lang="en-US" sz="900" b="0" u="none" strike="noStrike">
              <a:solidFill>
                <a:srgbClr val="000000"/>
              </a:solidFill>
              <a:effectLst/>
              <a:uFillTx/>
              <a:latin typeface="Arial"/>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2 · SHAPES &amp; AXES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Axes, Features &amp; ML Shapes</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x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[4, 5, 6]])</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x.sum(axis=0)   # [5 7 9]   shape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x.sum(axis=1)   # [ 6 15]   shape (2,)</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X = np.array([[22, 30000, 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[35, 70000, 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X.shape   # (2, 3): samples, features</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Summing along an axis removes that axis: (2, 3) with axis=0 becomes (3,), and with axis=1 becomes (2,).</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ML rule: rows = samples, columns = features. Two people with age, salary and experience give X.shape = (2, 3); their labels y have shape (2,).</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Cheat sheet: gray image (H, W) · RGB image (H, W, 3) · batch (N, H, W, 3) · sequence (batch, timesteps, features).</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17</a:t>
            </a:r>
            <a:endParaRPr lang="en-US" sz="900" b="0" u="none" strike="noStrike">
              <a:solidFill>
                <a:srgbClr val="000000"/>
              </a:solidFill>
              <a:effectLst/>
              <a:uFillTx/>
              <a:latin typeface="Arial"/>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28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2 · SHAPES &amp; AXES</a:t>
            </a:r>
            <a:endParaRPr lang="en-US" sz="1100" b="0" u="none" strike="noStrike">
              <a:solidFill>
                <a:srgbClr val="000000"/>
              </a:solidFill>
              <a:effectLst/>
              <a:uFillTx/>
              <a:latin typeface="Arial"/>
            </a:endParaRPr>
          </a:p>
        </p:txBody>
      </p:sp>
      <p:sp>
        <p:nvSpPr>
          <p:cNvPr id="28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 xml:space="preserve">Practice Set — Shapes &amp; Axes</a:t>
            </a:r>
            <a:endParaRPr lang="en-US" sz="2300" b="0" u="none" strike="noStrike">
              <a:solidFill>
                <a:srgbClr val="000000"/>
              </a:solidFill>
              <a:effectLst/>
              <a:uFillTx/>
              <a:latin typeface="Arial"/>
            </a:endParaRPr>
          </a:p>
        </p:txBody>
      </p:sp>
      <p:sp>
        <p:nvSpPr>
          <p:cNvPr id="29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For the shape (8, 64, 64, 3), say what each number could mean, then build an array of zeros with that shape.</a:t>
            </a:r>
            <a:endParaRPr lang="en-US" sz="1300" b="0" u="none" strike="noStrike">
              <a:solidFill>
                <a:srgbClr val="000000"/>
              </a:solidFill>
              <a:effectLst/>
              <a:uFillTx/>
              <a:latin typeface="Arial"/>
            </a:endParaRPr>
          </a:p>
        </p:txBody>
      </p:sp>
      <p:sp>
        <p:nvSpPr>
          <p:cNvPr id="29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a (2, 3) array and predict the shape of sum(axis=0) and sum(axis=1) before running them.</a:t>
            </a:r>
            <a:endParaRPr lang="en-US" sz="1300" b="0" u="none" strike="noStrike">
              <a:solidFill>
                <a:srgbClr val="000000"/>
              </a:solidFill>
              <a:effectLst/>
              <a:uFillTx/>
              <a:latin typeface="Arial"/>
            </a:endParaRPr>
          </a:p>
        </p:txBody>
      </p:sp>
      <p:sp>
        <p:nvSpPr>
          <p:cNvPr id="29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a feature matrix X for 4 samples and 3 features, plus a matching target array y — print both shapes.</a:t>
            </a:r>
            <a:endParaRPr lang="en-US" sz="1300" b="0" u="none" strike="noStrike">
              <a:solidFill>
                <a:srgbClr val="000000"/>
              </a:solidFill>
              <a:effectLst/>
              <a:uFillTx/>
              <a:latin typeface="Arial"/>
            </a:endParaRPr>
          </a:p>
        </p:txBody>
      </p:sp>
      <p:sp>
        <p:nvSpPr>
          <p:cNvPr id="30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Explain why (10, 28, 28) could be images or time steps — what tells you which one it is?</a:t>
            </a:r>
            <a:endParaRPr lang="en-US" sz="1300" b="0" u="none" strike="noStrike">
              <a:solidFill>
                <a:srgbClr val="000000"/>
              </a:solidFill>
              <a:effectLst/>
              <a:uFillTx/>
              <a:latin typeface="Arial"/>
            </a:endParaRPr>
          </a:p>
        </p:txBody>
      </p:sp>
      <p:pic>
        <p:nvPicPr>
          <p:cNvPr id="307"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0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0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18</a:t>
            </a:r>
            <a:endParaRPr lang="en-US" sz="900" b="0" u="none" strike="noStrike">
              <a:solidFill>
                <a:srgbClr val="000000"/>
              </a:solidFill>
              <a:effectLst/>
              <a:uFillTx/>
              <a:latin typeface="Aria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3 · CREATING ARRAYS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More Ways to Create — ones_like &amp; ndmin</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existing = np.array([[1, 2,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[4, 5, 6]])</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np.ones_like(existing)    # same shape, all 1s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np.zeros_like(existing)   # same shape, all 0s</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 2, 3, 4], ndmin=3).shape</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(1, 1, 4)</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np.random.random((2, 3))  # floats in [0, 1)</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ones_like() copies the shape (and dtype) of an existing array but fills it with 1s — handy for a matching mask or template. zeros_like() is its twin.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ndmin= forces a minimum number of dimensions: ndmin=7 turns [1, 2, 3, 4] into shape (1, 1, 1, 1, 1, 1, 4).</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np.random.random((2, 3)) takes the shape as one tuple, unlike rand(2, 3), which takes separate numbers.</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25</a:t>
            </a:r>
            <a:endParaRPr lang="en-US" sz="900" b="0" u="none" strike="noStrike">
              <a:solidFill>
                <a:srgbClr val="000000"/>
              </a:solidFill>
              <a:effectLst/>
              <a:uFillTx/>
              <a:latin typeface="Aria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3 · CREATING ARRAYS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Random Numbers — randint, rand &amp; choice</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from numpy import random as rn</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rn.randint(100)             # one int, 0-99</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rn.rand()                  # one float, 0-1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rn.randint(100, size=(3, 5))  # 3x5 ints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rn.rand(3, 5)              # 3x5 floats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rn.choice([2, 34, 56, 123])  # pick one</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rn.choice([3, 5, 7], size=(3, 5))</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random module generates numbers: randint() gives integers (stop excluded), rand() gives floats between 0 and 1.</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Add size= (randint) or extra arguments (rand) to get whole arrays — size=(3, 5) means 3 rows of 5 values.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choice() draws from your own values, and size= fills an array with repeats of them. Results change every run; seed() makes them repeatable.</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26</a:t>
            </a:r>
            <a:endParaRPr lang="en-US" sz="900" b="0" u="none" strike="noStrike">
              <a:solidFill>
                <a:srgbClr val="000000"/>
              </a:solidFill>
              <a:effectLst/>
              <a:uFillTx/>
              <a:latin typeface="Arial"/>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65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3 · RANDOM DISTRIBUTIONS</a:t>
            </a:r>
            <a:endParaRPr lang="en-US" sz="1100" b="0" u="none" strike="noStrike">
              <a:solidFill>
                <a:srgbClr val="000000"/>
              </a:solidFill>
              <a:effectLst/>
              <a:uFillTx/>
              <a:latin typeface="Arial"/>
            </a:endParaRPr>
          </a:p>
        </p:txBody>
      </p:sp>
      <p:sp>
        <p:nvSpPr>
          <p:cNvPr id="65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The Normal Distribution — normal()</a:t>
            </a:r>
            <a:endParaRPr lang="en-US" sz="2600" b="0" u="none" strike="noStrike">
              <a:solidFill>
                <a:srgbClr val="000000"/>
              </a:solidFill>
              <a:effectLst/>
              <a:uFillTx/>
              <a:latin typeface="Arial"/>
            </a:endParaRPr>
          </a:p>
        </p:txBody>
      </p:sp>
      <p:pic>
        <p:nvPicPr>
          <p:cNvPr id="655"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65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57"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5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1"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from numpy import random as rn</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x = rn.normal(size=(2, 3))  # mean 0, std 1</a:t>
            </a:r>
            <a:endParaRPr lang="en-US" sz="1350" b="0" u="none" strike="noStrike">
              <a:solidFill>
                <a:srgbClr val="000000"/>
              </a:solidFill>
              <a:effectLst/>
              <a:uFillTx/>
              <a:latin typeface="Cantarell"/>
            </a:endParaRPr>
          </a:p>
          <a:p>
            <a:pPr defTabSz="914400">
              <a:lnSpc>
                <a:spcPct val="118000"/>
              </a:lnSpc>
              <a:tabLst>
                <a:tab pos="0" algn="l"/>
              </a:tabLst>
            </a:pP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x = rn.normal(loc=90, scale=200, size=1000)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x.mean()   # about 90</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x.std()    # about 200</a:t>
            </a:r>
            <a:endParaRPr lang="en-US" sz="1350" b="0" u="none" strike="noStrike">
              <a:solidFill>
                <a:srgbClr val="000000"/>
              </a:solidFill>
              <a:effectLst/>
              <a:uFillTx/>
              <a:latin typeface="Cantarell"/>
            </a:endParaRPr>
          </a:p>
        </p:txBody>
      </p:sp>
      <p:sp>
        <p:nvSpPr>
          <p:cNvPr id="662"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3" name="Image 1" descr="/home/claude/numpy_deck/charts/speed_comparison.png"/>
          <p:cNvPicPr/>
          <p:nvPr/>
        </p:nvPicPr>
        <p:blipFill>
          <a:blip r:embed="rId4"/>
          <a:stretch/>
        </p:blipFill>
        <p:spPr>
          <a:xfrm>
            <a:off x="6282000" y="1847160"/>
            <a:ext cx="5266440" cy="3638880"/>
          </a:xfrm>
          <a:prstGeom prst="rect">
            <a:avLst/>
          </a:prstGeom>
          <a:noFill/>
          <a:ln w="0">
            <a:noFill/>
          </a:ln>
        </p:spPr>
      </p:pic>
      <p:sp>
        <p:nvSpPr>
          <p:cNvPr id="664"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 xml:space="preserve">1,000 values from normal(loc=90, scale=200) — a bell curve centered near 90.</a:t>
            </a:r>
            <a:endParaRPr lang="en-US" sz="950" b="0" u="none" strike="noStrike">
              <a:solidFill>
                <a:srgbClr val="000000"/>
              </a:solidFill>
              <a:effectLst/>
              <a:uFillTx/>
              <a:latin typeface="Arial"/>
            </a:endParaRPr>
          </a:p>
        </p:txBody>
      </p:sp>
      <p:sp>
        <p:nvSpPr>
          <p:cNvPr id="665" name="Text 10"/>
          <p:cNvSpPr/>
          <p:nvPr/>
        </p:nvSpPr>
        <p:spPr>
          <a:xfrm>
            <a:off x="548640" y="5029200"/>
            <a:ext cx="539460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474651"/>
                </a:solidFill>
                <a:effectLst/>
                <a:uFillTx/>
                <a:latin typeface="Hanken Grotesk"/>
                <a:ea typeface="Hanken Grotesk"/>
              </a:rPr>
              <a:t xml:space="preserve">A data distribution lists the possible values and how often each occurs. normal() draws a bell curve: loc is the center, scale the spread.</a:t>
            </a:r>
            <a:endParaRPr lang="en-US" sz="1250" b="0" u="none" strike="noStrike">
              <a:solidFill>
                <a:srgbClr val="000000"/>
              </a:solidFill>
              <a:effectLst/>
              <a:uFillTx/>
              <a:latin typeface="Arial"/>
            </a:endParaRPr>
          </a:p>
        </p:txBody>
      </p:sp>
      <p:sp>
        <p:nvSpPr>
          <p:cNvPr id="666"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27</a:t>
            </a:r>
            <a:endParaRPr lang="en-US" sz="900" b="0" u="none" strike="noStrike">
              <a:solidFill>
                <a:srgbClr val="000000"/>
              </a:solidFill>
              <a:effectLst/>
              <a:uFillTx/>
              <a:latin typeface="Arial"/>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28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4 · DATA TYPES</a:t>
            </a:r>
            <a:endParaRPr lang="en-US" sz="1100" b="0" u="none" strike="noStrike">
              <a:solidFill>
                <a:srgbClr val="000000"/>
              </a:solidFill>
              <a:effectLst/>
              <a:uFillTx/>
              <a:latin typeface="Arial"/>
            </a:endParaRPr>
          </a:p>
        </p:txBody>
      </p:sp>
      <p:sp>
        <p:nvSpPr>
          <p:cNvPr id="28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 xml:space="preserve">Practice Set — Array Properties &amp; Data Types</a:t>
            </a:r>
            <a:endParaRPr lang="en-US" sz="2300" b="0" u="none" strike="noStrike">
              <a:solidFill>
                <a:srgbClr val="000000"/>
              </a:solidFill>
              <a:effectLst/>
              <a:uFillTx/>
              <a:latin typeface="Arial"/>
            </a:endParaRPr>
          </a:p>
        </p:txBody>
      </p:sp>
      <p:sp>
        <p:nvSpPr>
          <p:cNvPr id="29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a 3x4 array and print its shape, ndim, size, dtype, and nbytes.</a:t>
            </a:r>
            <a:endParaRPr lang="en-US" sz="1300" b="0" u="none" strike="noStrike">
              <a:solidFill>
                <a:srgbClr val="000000"/>
              </a:solidFill>
              <a:effectLst/>
              <a:uFillTx/>
              <a:latin typeface="Arial"/>
            </a:endParaRPr>
          </a:p>
        </p:txBody>
      </p:sp>
      <p:sp>
        <p:nvSpPr>
          <p:cNvPr id="29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Create the same values as int8, uint8, and float32, and compare their itemsize and nbytes.</a:t>
            </a:r>
            <a:endParaRPr lang="en-US" sz="1300" b="0" u="none" strike="noStrike">
              <a:solidFill>
                <a:srgbClr val="000000"/>
              </a:solidFill>
              <a:effectLst/>
              <a:uFillTx/>
              <a:latin typeface="Arial"/>
            </a:endParaRPr>
          </a:p>
        </p:txBody>
      </p:sp>
      <p:sp>
        <p:nvSpPr>
          <p:cNvPr id="29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Convert an array of 0–255 values to float32 between 0.0 and 1.0 using astype() and division by 255.</a:t>
            </a:r>
            <a:endParaRPr lang="en-US" sz="1300" b="0" u="none" strike="noStrike">
              <a:solidFill>
                <a:srgbClr val="000000"/>
              </a:solidFill>
              <a:effectLst/>
              <a:uFillTx/>
              <a:latin typeface="Arial"/>
            </a:endParaRPr>
          </a:p>
        </p:txBody>
      </p:sp>
      <p:sp>
        <p:nvSpPr>
          <p:cNvPr id="30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Explain why image pixels use uint8, and what changes in .shape if you add one more row to a matrix.</a:t>
            </a:r>
            <a:endParaRPr lang="en-US" sz="1300" b="0" u="none" strike="noStrike">
              <a:solidFill>
                <a:srgbClr val="000000"/>
              </a:solidFill>
              <a:effectLst/>
              <a:uFillTx/>
              <a:latin typeface="Arial"/>
            </a:endParaRPr>
          </a:p>
        </p:txBody>
      </p:sp>
      <p:pic>
        <p:nvPicPr>
          <p:cNvPr id="307"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0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0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35</a:t>
            </a:r>
            <a:endParaRPr lang="en-US" sz="900" b="0" u="none" strike="noStrike">
              <a:solidFill>
                <a:srgbClr val="000000"/>
              </a:solidFill>
              <a:effectLst/>
              <a:uFillTx/>
              <a:latin typeface="Arial"/>
            </a:endParaR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4 · ARRAY PROPERTIES</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Arrays by Dimension — 0D to 4D</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Array</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Shape · ndim · size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np.array(42)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 · 0 · 1 — a single value (0D)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np.array([10, 20, 30, 40])</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(4,) · 1 · 4 — a vector (1D)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np.zeros((5, 4))</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(5, 4) · 2 · 20 — a matrix (2D)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np.zeros((8, 64, 64, 3))</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(8, 64, 64, 3) · 4 · 98304 — a batch of RGB images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a = np.zeros((8, 64, 64, 3))                 # float64 by default</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a.size, a.itemsize, a.nbytes                 # 98304, 8, 786432</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np.zeros((4, 30, 224, 224, 3)).nbytes        # 144,506,880 bytes (~138 MB)</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 nbytes = size x itemsize, so dtype choice changes RAM use</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31</a:t>
            </a:r>
            <a:endParaRPr lang="en-US" sz="900" b="0" u="none" strike="noStrike">
              <a:solidFill>
                <a:srgbClr val="000000"/>
              </a:solidFill>
              <a:effectLst/>
              <a:uFillTx/>
              <a:latin typeface="Aria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4 · DATA TYPES</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Data Types — Numbers</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Code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Type and what it is for</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'i'  -&gt;  int32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Integer: whole numbers, can be negative (ages, counts, coordinates)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'u1' -&gt;  uint8</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Unsigned integer: 0–255, no negatives — exactly what image pixels are</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'f'  -&gt;  float32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Float: decimals — normalized pixels (0.0–1.0), weights, loss values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'c8' -&gt;  complex64</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Complex: real + imaginary part (3+2j) — e.g. Fourier transforms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np.array([1, 2, 3], dtype='i').dtype     # int32</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np.array([1, 2, 3], dtype='u1').dtype    # uint8</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np.array([1.4, 2.5], dtype='f').dtype    # float32</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np.array([1+2j], dtype='c8').dtype       # complex64</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32</a:t>
            </a:r>
            <a:endParaRPr lang="en-US" sz="900" b="0" u="none" strike="noStrike">
              <a:solidFill>
                <a:srgbClr val="000000"/>
              </a:solidFill>
              <a:effectLst/>
              <a:uFillTx/>
              <a:latin typeface="Arial"/>
            </a:endParaR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4 · DATA TYPES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Data Types — Booleans, Time &amp; Text</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np.array([True, False]).dtype    # bool</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 1, 0], dtype='b').dtype # int8 !</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np.array([10, 20], dtype='m8[s]')  # durations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np.array(['2026-04-04'], dtype='M')  # dates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np.array([1, 'hi'], dtype='O')   # object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np.array(["Cat", "Dog"]).dtype  # &lt;U3</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Careful: the code "b" is a signed 8-bit integer (int8), not a boolean — in the notebook, dtype="b" turned True/False into 1 and 0. Use bool (or "?") for true booleans.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m (lowercase) is a duration; M (capital) is an actual moment in time. object ("O") means NumPy gave up on a clean type — you lose its speed, usually a sign of messy data.</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Text: "U" is Unicode (Arabic, Urdu and Japanese all work) and is the type you want; "S" stores raw bytes and is rarely used; "V" is raw memory, mostly seen in record arrays.</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33</a:t>
            </a:r>
            <a:endParaRPr lang="en-US" sz="900" b="0" u="none" strike="noStrike">
              <a:solidFill>
                <a:srgbClr val="000000"/>
              </a:solidFill>
              <a:effectLst/>
              <a:uFillTx/>
              <a:latin typeface="Arial"/>
            </a:endParaR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4 · DATA TYPES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The 3 dtypes You'll Use — uint8, float32, bool</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img.dtype                  # uint8 (0-255)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img_f = img.astype("float32") / 255.0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img_f.dtype                # float32</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 (0.0-1.0)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mask = img &gt; 128</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mask.dtype                 # bool</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Three dtypes carry most computer-vision work: uint8 for pixels as loaded from a file, float32 for normalized values that models expect, and bool for masks and thresholds.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astype() returns a converted copy — dividing by 255.0 maps 0–255 onto 0.0–1.0.</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A comparison like img &gt; 128 returns a boolean array: every pixel either passes the test or it doesn’t.</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34</a:t>
            </a:r>
            <a:endParaRPr lang="en-US" sz="900" b="0" u="none" strike="noStrike">
              <a:solidFill>
                <a:srgbClr val="000000"/>
              </a:solidFill>
              <a:effectLst/>
              <a:uFillTx/>
              <a:latin typeface="Arial"/>
            </a:endParaR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5 · INDEXING &amp; SLICING</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Indexing 2D &amp; 3D Arrays</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arr2 = np.array([[1, 2, 3, 4,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[6, 7, 8, 9, 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arr2[0, 1]       # 2   (row 0, col 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arr2[1, -1]      # 10  (last of row 1)</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arr3 = np.array([[[1, 2, 3], [4, 5, 6]],</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[[7, 8, 9], [10, 11, 12]]])</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arr3[0, 1, 2]    # 6</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arr3[-1, -1, -1] # 12</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Use one index per axis, separated by commas: a 2D array takes [row, col], a 3D array takes [block, row, col].</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Read arr3[0, 1, 2] as “first block, second row, third value” = 6. Counting always starts at 0.</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Negative indices count from the end on every axis, so [-1, -1, -1] is always the very last element.</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40</a:t>
            </a:r>
            <a:endParaRPr lang="en-US" sz="900" b="0" u="none" strike="noStrike">
              <a:solidFill>
                <a:srgbClr val="000000"/>
              </a:solidFill>
              <a:effectLst/>
              <a:uFillTx/>
              <a:latin typeface="Arial"/>
            </a:endParaRP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328"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5 · INDEXING &amp; SLICING</a:t>
            </a:r>
            <a:endParaRPr lang="en-US" sz="1100" b="0" u="none" strike="noStrike">
              <a:solidFill>
                <a:srgbClr val="000000"/>
              </a:solidFill>
              <a:effectLst/>
              <a:uFillTx/>
              <a:latin typeface="Arial"/>
            </a:endParaRPr>
          </a:p>
        </p:txBody>
      </p:sp>
      <p:sp>
        <p:nvSpPr>
          <p:cNvPr id="329"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Slicing Multi-Dimensional Arrays</a:t>
            </a:r>
            <a:endParaRPr lang="en-US" sz="2600" b="0" u="none" strike="noStrike">
              <a:solidFill>
                <a:srgbClr val="000000"/>
              </a:solidFill>
              <a:effectLst/>
              <a:uFillTx/>
              <a:latin typeface="Arial"/>
            </a:endParaRPr>
          </a:p>
        </p:txBody>
      </p:sp>
      <p:pic>
        <p:nvPicPr>
          <p:cNvPr id="330"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31"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graphicFrame>
        <p:nvGraphicFramePr>
          <p:cNvPr id="332" name="Table 0"/>
          <p:cNvGraphicFramePr/>
          <p:nvPr/>
        </p:nvGraphicFramePr>
        <p:xfrm>
          <a:off x="548640" y="1737360"/>
          <a:ext cx="11109600" cy="2468520"/>
        </p:xfrm>
        <a:graphic>
          <a:graphicData uri="http://schemas.openxmlformats.org/drawingml/2006/table">
            <a:tbl>
              <a:tblPr/>
              <a:tblGrid>
                <a:gridCol w="3999240"/>
                <a:gridCol w="7110360"/>
              </a:tblGrid>
              <a:tr h="493560">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Slice of img (3264, 4928, 3)</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c>
                  <a:txBody>
                    <a:bodyPr lIns="101520" tIns="50760" rIns="101520" bIns="50760" anchor="ctr">
                      <a:noAutofit/>
                    </a:bodyPr>
                    <a:p>
                      <a:pPr defTabSz="914400">
                        <a:lnSpc>
                          <a:spcPct val="100000"/>
                        </a:lnSpc>
                        <a:tabLst>
                          <a:tab pos="0" algn="l"/>
                        </a:tabLst>
                      </a:pPr>
                      <a:r>
                        <a:rPr lang="en-US" sz="1100" b="1" u="none" strike="noStrike">
                          <a:solidFill>
                            <a:srgbClr val="FFFFFF"/>
                          </a:solidFill>
                          <a:effectLst/>
                          <a:uFillTx/>
                          <a:latin typeface="Plus Jakarta Sans"/>
                          <a:ea typeface="Plus Jakarta Sans"/>
                        </a:rPr>
                        <a:t>Resulting shape</a:t>
                      </a:r>
                      <a:endParaRPr lang="en-US" sz="1100" b="0" u="none" strike="noStrike">
                        <a:solidFill>
                          <a:srgbClr val="FFFFFF"/>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5755A7"/>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img[0:500]</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(500, 4928, 3) — first 500 rows; columns and channels untouched</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img[:, 0:300]</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(3264, 300, 3) — all rows, first 300 columns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img[:, :, 0]</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(3264, 4928) — one channel only, so that axis disappears</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r h="493560">
                <a:tc>
                  <a:txBody>
                    <a:bodyPr lIns="101520" tIns="50760" rIns="101520" bIns="50760" anchor="ctr">
                      <a:noAutofit/>
                    </a:bodyPr>
                    <a:p>
                      <a:pPr defTabSz="914400">
                        <a:lnSpc>
                          <a:spcPct val="100000"/>
                        </a:lnSpc>
                        <a:tabLst>
                          <a:tab pos="0" algn="l"/>
                        </a:tabLst>
                      </a:pPr>
                      <a:r>
                        <a:rPr lang="en-US" sz="1200" b="1" u="none" strike="noStrike">
                          <a:solidFill>
                            <a:srgbClr val="5755A7"/>
                          </a:solidFill>
                          <a:effectLst/>
                          <a:uFillTx/>
                          <a:latin typeface="Cantarell"/>
                          <a:ea typeface="Consolas"/>
                        </a:rPr>
                        <a:t>img[::2, ::2]</a:t>
                      </a:r>
                      <a:endParaRPr lang="en-US" sz="1200" b="0" u="none" strike="noStrike">
                        <a:solidFill>
                          <a:srgbClr val="000000"/>
                        </a:solidFill>
                        <a:effectLst/>
                        <a:uFillTx/>
                        <a:latin typeface="Cantarel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c>
                  <a:txBody>
                    <a:bodyPr lIns="101520" tIns="50760" rIns="101520" bIns="50760" anchor="ctr">
                      <a:noAutofit/>
                    </a:bodyPr>
                    <a:p>
                      <a:pPr defTabSz="914400">
                        <a:lnSpc>
                          <a:spcPct val="100000"/>
                        </a:lnSpc>
                        <a:tabLst>
                          <a:tab pos="0" algn="l"/>
                        </a:tabLst>
                      </a:pPr>
                      <a:r>
                        <a:rPr lang="en-US" sz="1200" b="0" u="none" strike="noStrike">
                          <a:solidFill>
                            <a:srgbClr val="1B1B20"/>
                          </a:solidFill>
                          <a:effectLst/>
                          <a:uFillTx/>
                          <a:latin typeface="Hanken Grotesk"/>
                          <a:ea typeface="Hanken Grotesk"/>
                        </a:rPr>
                        <a:t>(1632, 2464, 3) — every 2nd row and every 2nd column</a:t>
                      </a:r>
                      <a:endParaRPr lang="en-US" sz="1200" b="0" u="none" strike="noStrike">
                        <a:solidFill>
                          <a:srgbClr val="000000"/>
                        </a:solidFill>
                        <a:effectLst/>
                        <a:uFillTx/>
                        <a:latin typeface="Arial"/>
                      </a:endParaRPr>
                    </a:p>
                  </a:txBody>
                  <a:tcPr anchor="ctr" marL="101520" marR="101520" marT="50760" marB="50760">
                    <a:lnL w="9360">
                      <a:solidFill>
                        <a:srgbClr val="C8C5D3"/>
                      </a:solidFill>
                      <a:prstDash val="solid"/>
                    </a:lnL>
                    <a:lnR w="9360">
                      <a:solidFill>
                        <a:srgbClr val="C8C5D3"/>
                      </a:solidFill>
                      <a:prstDash val="solid"/>
                    </a:lnR>
                    <a:lnT w="9360">
                      <a:solidFill>
                        <a:srgbClr val="C8C5D3"/>
                      </a:solidFill>
                      <a:prstDash val="solid"/>
                    </a:lnT>
                    <a:lnB w="9360">
                      <a:solidFill>
                        <a:srgbClr val="C8C5D3"/>
                      </a:solidFill>
                      <a:prstDash val="solid"/>
                    </a:lnB>
                    <a:solidFill>
                      <a:srgbClr val="FFFFFF"/>
                    </a:solidFill>
                  </a:tcPr>
                </a:tc>
              </a:tr>
            </a:tbl>
          </a:graphicData>
        </a:graphic>
      </p:graphicFrame>
      <p:sp>
        <p:nvSpPr>
          <p:cNvPr id="333" name="Shape 3"/>
          <p:cNvSpPr/>
          <p:nvPr/>
        </p:nvSpPr>
        <p:spPr>
          <a:xfrm>
            <a:off x="548640" y="4434840"/>
            <a:ext cx="11109600" cy="1554120"/>
          </a:xfrm>
          <a:prstGeom prst="roundRect">
            <a:avLst>
              <a:gd name="adj" fmla="val 705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4" name="Shape 4"/>
          <p:cNvSpPr/>
          <p:nvPr/>
        </p:nvSpPr>
        <p:spPr>
          <a:xfrm>
            <a:off x="713160" y="458100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335" name="Shape 5"/>
          <p:cNvSpPr/>
          <p:nvPr/>
        </p:nvSpPr>
        <p:spPr>
          <a:xfrm>
            <a:off x="914400" y="458100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6" name="Shape 6"/>
          <p:cNvSpPr/>
          <p:nvPr/>
        </p:nvSpPr>
        <p:spPr>
          <a:xfrm>
            <a:off x="1115640" y="458100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337" name="Text 7"/>
          <p:cNvSpPr/>
          <p:nvPr/>
        </p:nvSpPr>
        <p:spPr>
          <a:xfrm>
            <a:off x="749880" y="4818960"/>
            <a:ext cx="10707120" cy="102384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img[100:200, 200:400].shape      # (100, 200, 3)</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img[::-1].shape                  # (3264, 4928, 3)  rows reversed</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img[::-2].shape                  # (1632, 4928, 3)</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img[1:5:2, 1:50:3, 0:2].shape    # (2, 17, 2)</a:t>
            </a:r>
            <a:endParaRPr lang="en-US" sz="1350" b="0" u="none" strike="noStrike">
              <a:solidFill>
                <a:srgbClr val="000000"/>
              </a:solidFill>
              <a:effectLst/>
              <a:uFillTx/>
              <a:latin typeface="Cantarell"/>
            </a:endParaRPr>
          </a:p>
        </p:txBody>
      </p:sp>
      <p:sp>
        <p:nvSpPr>
          <p:cNvPr id="338" name="Text 8"/>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41</a:t>
            </a:r>
            <a:endParaRPr lang="en-US" sz="900" b="0" u="none" strike="noStrike">
              <a:solidFill>
                <a:srgbClr val="000000"/>
              </a:solidFill>
              <a:effectLst/>
              <a:uFillTx/>
              <a:latin typeface="Arial"/>
            </a:endParaRP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5 · INDEXING &amp; SLICING</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Fancy Indexing &amp; np.where()</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numbers = np.arange(1, 11)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numbers[[0, 2, 4]]       # [1 3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np.where(numbers &gt;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(array([5, 6, 7, 8, 9]),)</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np.where(numbers &gt; 5, numbers * 4, numbers)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[ 1  2  3  4  5 24 28 32 36 40]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marks = np.array([45, 72, 33, 81])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np.where(marks &gt;= 50, "Pass", "Fail")</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["Fail" "Pass" "Fail" "Pass"]</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Fancy indexing: pass a list of positions to pick elements in any order — numbers[[0, 2, 4]] returns 1, 3, 5.</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np.where(condition) returns the positions where it is True, as a tuple with one array per axis (a 2D array gives row indexes and column indexes).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np.where(condition, if_true, if_false) builds a new array: multiply, clip to a limit, or even label values "Pass" / "Fail".</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42</a:t>
            </a:r>
            <a:endParaRPr lang="en-US" sz="900" b="0" u="none" strike="noStrike">
              <a:solidFill>
                <a:srgbClr val="000000"/>
              </a:solidFill>
              <a:effectLst/>
              <a:uFillTx/>
              <a:latin typeface="Arial"/>
            </a:endParaR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6 · RESHAPING &amp; MANIPULATION</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Sorting — np.sort() &amp; axis</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a = np.array([3, 6, 1, 8, 1, 9])</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np.sort(a)            # [1 1 3 6 8 9]</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 = np.array([[3, 1], [4, 6], [0, 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np.sort(m, axis=0)    # sorts each column</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[[ 0  1] [ 3  6] [ 4 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np.sort(m, axis=1)    # sorts each row</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[[ 1  3] [ 4  6] [ 0 10]]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np.sort(m, axis=None) # flat: [0 1 3 4 6 10]</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np.sort() returns a sorted copy — the original array is unchanged.</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On 2D arrays, axis decides what gets sorted: axis=0 sorts each column, axis=1 sorts each row, and axis=None flattens everything first.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same rule scales to 3D, 4D and 5D: pick the axis you want ordered — for shape (2, 2, 4), axis=2 sorts the values inside each row.</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47</a:t>
            </a:r>
            <a:endParaRPr lang="en-US" sz="900" b="0" u="none" strike="noStrike">
              <a:solidFill>
                <a:srgbClr val="000000"/>
              </a:solidFill>
              <a:effectLst/>
              <a:uFillTx/>
              <a:latin typeface="Arial"/>
            </a:endParaRP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OPERATIONS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Lists vs. Arrays — + and * Differ</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my_list = [1, 2, 3, 4, 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my_arr  = np.array(my_list)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my_list * 2   # [1,2,3,4,5,1,2,3,4,5]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my_arr * 2    # [ 2  4  6  8 10]</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[1, 2] + [3, 4]   # [1, 2, 3, 4]</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 b = np.array([1, 2]), np.array([3, 4])</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 + b             # [4 6]</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same operator means different things: on a list, * repeats and + concatenates; on an array, * and + do real math, element by element.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That is vectorization: no loop and no map(lambda ...), and NumPy runs the loop in compiled code (0.005 s vs 0.009 s for 100,000 values in one notebook run — use timeit for fair comparisons).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Mixing the two is a classic bug: a list * 2 never doubles the numbers.</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55</a:t>
            </a:r>
            <a:endParaRPr lang="en-US" sz="900" b="0" u="none" strike="noStrike">
              <a:solidFill>
                <a:srgbClr val="000000"/>
              </a:solidFill>
              <a:effectLst/>
              <a:uFillTx/>
              <a:latin typeface="Arial"/>
            </a:endParaRP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STATISTICS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Statistics — Mean, Median &amp; Mode</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from scipy import stats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a = np.array([2.25, 0.25, 0.25, 2.25])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np.mean(a)           # 1.25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np.median(a)         # 1.25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stats.mode(a).mode   # 0.25</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scipy also has stats.gmean(), hmean()</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Mean and median come straight from NumPy: np.mean() and np.median(). NumPy has no mode function, so scipy.stats.mode() steps in.</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This dataset has two values tied for most frequent (0.25 and 2.25) — mode() reports the smallest, 0.25. A tie is a reminder that mode can be ambiguous.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For [5, 7, 8, 9, 10, 100], stats.gmean() (geometric) is 11.67 and stats.hmean() (harmonic) is 8.71 — other kinds of average.</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60</a:t>
            </a:r>
            <a:endParaRPr lang="en-US" sz="900" b="0" u="none" strike="noStrike">
              <a:solidFill>
                <a:srgbClr val="000000"/>
              </a:solidFill>
              <a:effectLst/>
              <a:uFillTx/>
              <a:latin typeface="Aria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STATISTICS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Statistics — Variance &amp; STD (ddof)</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data = np.array([5, 7, 8, 9, 10, 100])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np.mean(data)          # 23.1667</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np.var(data)           # 1183.14 (ddof=0)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np.var(data, ddof=1)   # 1419.77 (sample)</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np.std(data)           # 34.40   (ddof=0)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np.std(data, ddof=1)   # 37.68   (sample)</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NumPy defaults to the population formula (ddof=0). For a sample, pass ddof=1 — many other tools default to the sample formula, which is why numbers can differ.</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100 drags the mean up to 23.17 while five of the six values sit between 5 and 10 — outliers inflate variance and std dramatically.</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Std is the square root of variance, in the same units as the data — easier to interpret.</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61</a:t>
            </a:r>
            <a:endParaRPr lang="en-US" sz="900" b="0" u="none" strike="noStrike">
              <a:solidFill>
                <a:srgbClr val="000000"/>
              </a:solidFill>
              <a:effectLst/>
              <a:uFillTx/>
              <a:latin typeface="Aria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STATISTICS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Statistics — Quartiles, IQR &amp; Outliers</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q1, q2, q3 = np.percentile(</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data, [25, 50, 75], method="midpoint")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7.5, 8.5, 9.5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iqr   = q3 - q1            # 2.0</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lower = q1 - 1.5 * iqr     # 4.5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upper = q3 + 1.5 * iqr     # 12.5</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data[(data &lt; lower) | (data &gt; upper)]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[100]</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Quartiles split sorted data into four parts: Q1 (25%), Q2 (the median) and Q3 (75%). method="midpoint" averages the two neighbours; the default "linear" gives 7.25 and 9.75 instead.</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IQR = Q3 − Q1 measures the middle 50% of the data, so extreme values barely affect it.</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1.5 × IQR rule: anything below Q1 − 1.5·IQR or above Q3 + 1.5·IQR is an outlier. Here the bounds are 4.5 and 12.5, so only 100 is flagged.</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62</a:t>
            </a:r>
            <a:endParaRPr lang="en-US" sz="900" b="0" u="none" strike="noStrike">
              <a:solidFill>
                <a:srgbClr val="000000"/>
              </a:solidFill>
              <a:effectLst/>
              <a:uFillTx/>
              <a:latin typeface="Arial"/>
            </a:endParaRP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STATISTICS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Handling Outliers — Remove vs. Cap</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 Method 1: remove outliers</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kept = data[(data &gt;= lower) &amp; (data &lt;= upper)]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[ 5  7  8  9 10]   mean 7.8, std 1.92</a:t>
            </a:r>
            <a:endParaRPr lang="en-US" sz="1400" b="0" u="none" strike="noStrike">
              <a:solidFill>
                <a:srgbClr val="000000"/>
              </a:solidFill>
              <a:effectLst/>
              <a:uFillTx/>
              <a:latin typeface="Cantarell"/>
            </a:endParaRPr>
          </a:p>
          <a:p>
            <a:pPr defTabSz="914400">
              <a:lnSpc>
                <a:spcPct val="118000"/>
              </a:lnSpc>
              <a:tabLst>
                <a:tab pos="0" algn="l"/>
              </a:tabLst>
            </a:pP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Method 2: cap with np.clip</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capped = np.clip(data.astype(float),</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lower, upper)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 [5. 7. 8. 9. 10. 12.5]  mean 8.58</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Removing outliers keeps real data but shrinks the sample: the mean falls from 23.17 to 7.8 and the sample std from 37.68 to 1.92.</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Capping (winsorization) replaces extreme values with the nearest bound using np.clip() — the 100 becomes 12.5 and no values are lost. Convert to float first so 12.5 fits.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The median barely moves (8.5 original, 8.0 removed, 8.5 capped) — one reason it is the robust choice when outliers are present.</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63</a:t>
            </a:r>
            <a:endParaRPr lang="en-US" sz="900" b="0" u="none" strike="noStrike">
              <a:solidFill>
                <a:srgbClr val="000000"/>
              </a:solidFill>
              <a:effectLst/>
              <a:uFillTx/>
              <a:latin typeface="Aria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286" name="Shape 0"/>
          <p:cNvSpPr/>
          <p:nvPr/>
        </p:nvSpPr>
        <p:spPr>
          <a:xfrm>
            <a:off x="548640" y="502920"/>
            <a:ext cx="566640" cy="566640"/>
          </a:xfrm>
          <a:prstGeom prst="roundRect">
            <a:avLst>
              <a:gd name="adj" fmla="val 50000"/>
            </a:avLst>
          </a:prstGeom>
          <a:solidFill>
            <a:srgbClr val="8C8AE0"/>
          </a:solidFill>
          <a:ln w="0">
            <a:noFill/>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
          <p:cNvSpPr/>
          <p:nvPr/>
        </p:nvSpPr>
        <p:spPr>
          <a:xfrm>
            <a:off x="548640" y="502920"/>
            <a:ext cx="566640" cy="566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0" u="none" strike="noStrike">
                <a:solidFill>
                  <a:srgbClr val="231F71"/>
                </a:solidFill>
                <a:effectLst/>
                <a:uFillTx/>
                <a:latin typeface="Hanken Grotesk"/>
                <a:ea typeface="Hanken Grotesk"/>
              </a:rPr>
              <a:t>◎</a:t>
            </a:r>
            <a:endParaRPr lang="en-US" sz="2000" b="0" u="none" strike="noStrike">
              <a:solidFill>
                <a:srgbClr val="000000"/>
              </a:solidFill>
              <a:effectLst/>
              <a:uFillTx/>
              <a:latin typeface="Arial"/>
            </a:endParaRPr>
          </a:p>
        </p:txBody>
      </p:sp>
      <p:sp>
        <p:nvSpPr>
          <p:cNvPr id="288" name="Text 2"/>
          <p:cNvSpPr/>
          <p:nvPr/>
        </p:nvSpPr>
        <p:spPr>
          <a:xfrm>
            <a:off x="1261800" y="502920"/>
            <a:ext cx="8229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8 · STATISTICS</a:t>
            </a:r>
            <a:endParaRPr lang="en-US" sz="1100" b="0" u="none" strike="noStrike">
              <a:solidFill>
                <a:srgbClr val="000000"/>
              </a:solidFill>
              <a:effectLst/>
              <a:uFillTx/>
              <a:latin typeface="Arial"/>
            </a:endParaRPr>
          </a:p>
        </p:txBody>
      </p:sp>
      <p:sp>
        <p:nvSpPr>
          <p:cNvPr id="289" name="Text 3"/>
          <p:cNvSpPr/>
          <p:nvPr/>
        </p:nvSpPr>
        <p:spPr>
          <a:xfrm>
            <a:off x="1261800" y="777240"/>
            <a:ext cx="960084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300" b="1" u="none" strike="noStrike">
                <a:solidFill>
                  <a:srgbClr val="1B1B20"/>
                </a:solidFill>
                <a:effectLst/>
                <a:uFillTx/>
                <a:latin typeface="Bricolage Grotesque"/>
                <a:ea typeface="Bricolage Grotesque"/>
              </a:rPr>
              <a:t xml:space="preserve">Practice Set — Statistics with NumPy</a:t>
            </a:r>
            <a:endParaRPr lang="en-US" sz="2300" b="0" u="none" strike="noStrike">
              <a:solidFill>
                <a:srgbClr val="000000"/>
              </a:solidFill>
              <a:effectLst/>
              <a:uFillTx/>
              <a:latin typeface="Arial"/>
            </a:endParaRPr>
          </a:p>
        </p:txBody>
      </p:sp>
      <p:sp>
        <p:nvSpPr>
          <p:cNvPr id="290" name="Text 4"/>
          <p:cNvSpPr/>
          <p:nvPr/>
        </p:nvSpPr>
        <p:spPr>
          <a:xfrm>
            <a:off x="548640" y="1417320"/>
            <a:ext cx="105152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i="1" u="none" strike="noStrike">
                <a:solidFill>
                  <a:srgbClr val="474651"/>
                </a:solidFill>
                <a:effectLst/>
                <a:uFillTx/>
                <a:latin typeface="Hanken Grotesk"/>
                <a:ea typeface="Hanken Grotesk"/>
              </a:rPr>
              <a:t>Try these yourself first — no code shown, that's the point.</a:t>
            </a:r>
            <a:endParaRPr lang="en-US" sz="1300" b="0" u="none" strike="noStrike">
              <a:solidFill>
                <a:srgbClr val="000000"/>
              </a:solidFill>
              <a:effectLst/>
              <a:uFillTx/>
              <a:latin typeface="Arial"/>
            </a:endParaRPr>
          </a:p>
        </p:txBody>
      </p:sp>
      <p:sp>
        <p:nvSpPr>
          <p:cNvPr id="291" name="Shape 5"/>
          <p:cNvSpPr/>
          <p:nvPr/>
        </p:nvSpPr>
        <p:spPr>
          <a:xfrm>
            <a:off x="548640" y="19659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2" name="Shape 6"/>
          <p:cNvSpPr/>
          <p:nvPr/>
        </p:nvSpPr>
        <p:spPr>
          <a:xfrm>
            <a:off x="731520" y="22129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3" name="Text 7"/>
          <p:cNvSpPr/>
          <p:nvPr/>
        </p:nvSpPr>
        <p:spPr>
          <a:xfrm>
            <a:off x="731520" y="22129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1</a:t>
            </a:r>
            <a:endParaRPr lang="en-US" sz="1300" b="0" u="none" strike="noStrike">
              <a:solidFill>
                <a:srgbClr val="000000"/>
              </a:solidFill>
              <a:effectLst/>
              <a:uFillTx/>
              <a:latin typeface="Arial"/>
            </a:endParaRPr>
          </a:p>
        </p:txBody>
      </p:sp>
      <p:sp>
        <p:nvSpPr>
          <p:cNvPr id="294" name="Text 8"/>
          <p:cNvSpPr/>
          <p:nvPr/>
        </p:nvSpPr>
        <p:spPr>
          <a:xfrm>
            <a:off x="1234440" y="19659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Compute the mean, median and mode of a small array, then create a tie for the mode and see which value scipy.stats.mode() reports.</a:t>
            </a:r>
            <a:endParaRPr lang="en-US" sz="1300" b="0" u="none" strike="noStrike">
              <a:solidFill>
                <a:srgbClr val="000000"/>
              </a:solidFill>
              <a:effectLst/>
              <a:uFillTx/>
              <a:latin typeface="Arial"/>
            </a:endParaRPr>
          </a:p>
        </p:txBody>
      </p:sp>
      <p:sp>
        <p:nvSpPr>
          <p:cNvPr id="295" name="Shape 9"/>
          <p:cNvSpPr/>
          <p:nvPr/>
        </p:nvSpPr>
        <p:spPr>
          <a:xfrm>
            <a:off x="548640" y="29350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6" name="Shape 10"/>
          <p:cNvSpPr/>
          <p:nvPr/>
        </p:nvSpPr>
        <p:spPr>
          <a:xfrm>
            <a:off x="731520" y="31820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7" name="Text 11"/>
          <p:cNvSpPr/>
          <p:nvPr/>
        </p:nvSpPr>
        <p:spPr>
          <a:xfrm>
            <a:off x="731520" y="31820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2</a:t>
            </a:r>
            <a:endParaRPr lang="en-US" sz="1300" b="0" u="none" strike="noStrike">
              <a:solidFill>
                <a:srgbClr val="000000"/>
              </a:solidFill>
              <a:effectLst/>
              <a:uFillTx/>
              <a:latin typeface="Arial"/>
            </a:endParaRPr>
          </a:p>
        </p:txBody>
      </p:sp>
      <p:sp>
        <p:nvSpPr>
          <p:cNvPr id="298" name="Text 12"/>
          <p:cNvSpPr/>
          <p:nvPr/>
        </p:nvSpPr>
        <p:spPr>
          <a:xfrm>
            <a:off x="1234440" y="29350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Compute np.var() and np.std() with ddof=0 and ddof=1 on the same data, and explain which one you would use for a sample.</a:t>
            </a:r>
            <a:endParaRPr lang="en-US" sz="1300" b="0" u="none" strike="noStrike">
              <a:solidFill>
                <a:srgbClr val="000000"/>
              </a:solidFill>
              <a:effectLst/>
              <a:uFillTx/>
              <a:latin typeface="Arial"/>
            </a:endParaRPr>
          </a:p>
        </p:txBody>
      </p:sp>
      <p:sp>
        <p:nvSpPr>
          <p:cNvPr id="299" name="Shape 13"/>
          <p:cNvSpPr/>
          <p:nvPr/>
        </p:nvSpPr>
        <p:spPr>
          <a:xfrm>
            <a:off x="548640" y="390456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0" name="Shape 14"/>
          <p:cNvSpPr/>
          <p:nvPr/>
        </p:nvSpPr>
        <p:spPr>
          <a:xfrm>
            <a:off x="731520" y="415152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1" name="Text 15"/>
          <p:cNvSpPr/>
          <p:nvPr/>
        </p:nvSpPr>
        <p:spPr>
          <a:xfrm>
            <a:off x="731520" y="415152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3</a:t>
            </a:r>
            <a:endParaRPr lang="en-US" sz="1300" b="0" u="none" strike="noStrike">
              <a:solidFill>
                <a:srgbClr val="000000"/>
              </a:solidFill>
              <a:effectLst/>
              <a:uFillTx/>
              <a:latin typeface="Arial"/>
            </a:endParaRPr>
          </a:p>
        </p:txBody>
      </p:sp>
      <p:sp>
        <p:nvSpPr>
          <p:cNvPr id="302" name="Text 16"/>
          <p:cNvSpPr/>
          <p:nvPr/>
        </p:nvSpPr>
        <p:spPr>
          <a:xfrm>
            <a:off x="1234440" y="390456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Find Q1, Q3 and the IQR of an array, then list every outlier using the 1.5 × IQR rule.</a:t>
            </a:r>
            <a:endParaRPr lang="en-US" sz="1300" b="0" u="none" strike="noStrike">
              <a:solidFill>
                <a:srgbClr val="000000"/>
              </a:solidFill>
              <a:effectLst/>
              <a:uFillTx/>
              <a:latin typeface="Arial"/>
            </a:endParaRPr>
          </a:p>
        </p:txBody>
      </p:sp>
      <p:sp>
        <p:nvSpPr>
          <p:cNvPr id="303" name="Shape 17"/>
          <p:cNvSpPr/>
          <p:nvPr/>
        </p:nvSpPr>
        <p:spPr>
          <a:xfrm>
            <a:off x="548640" y="4873680"/>
            <a:ext cx="11063880" cy="840960"/>
          </a:xfrm>
          <a:prstGeom prst="roundRect">
            <a:avLst>
              <a:gd name="adj" fmla="val 10870"/>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4" name="Shape 18"/>
          <p:cNvSpPr/>
          <p:nvPr/>
        </p:nvSpPr>
        <p:spPr>
          <a:xfrm>
            <a:off x="731520" y="5120640"/>
            <a:ext cx="347040" cy="347040"/>
          </a:xfrm>
          <a:prstGeom prst="roundRect">
            <a:avLst>
              <a:gd name="adj" fmla="val 50000"/>
            </a:avLst>
          </a:prstGeom>
          <a:solidFill>
            <a:srgbClr val="BBEDDC"/>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19"/>
          <p:cNvSpPr/>
          <p:nvPr/>
        </p:nvSpPr>
        <p:spPr>
          <a:xfrm>
            <a:off x="731520" y="5120640"/>
            <a:ext cx="347040" cy="347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02019"/>
                </a:solidFill>
                <a:effectLst/>
                <a:uFillTx/>
                <a:latin typeface="Bricolage Grotesque"/>
                <a:ea typeface="Bricolage Grotesque"/>
              </a:rPr>
              <a:t>4</a:t>
            </a:r>
            <a:endParaRPr lang="en-US" sz="1300" b="0" u="none" strike="noStrike">
              <a:solidFill>
                <a:srgbClr val="000000"/>
              </a:solidFill>
              <a:effectLst/>
              <a:uFillTx/>
              <a:latin typeface="Arial"/>
            </a:endParaRPr>
          </a:p>
        </p:txBody>
      </p:sp>
      <p:sp>
        <p:nvSpPr>
          <p:cNvPr id="306" name="Text 20"/>
          <p:cNvSpPr/>
          <p:nvPr/>
        </p:nvSpPr>
        <p:spPr>
          <a:xfrm>
            <a:off x="1234440" y="4873680"/>
            <a:ext cx="10149480" cy="840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300" b="0" u="none" strike="noStrike">
                <a:solidFill>
                  <a:srgbClr val="1B1B20"/>
                </a:solidFill>
                <a:effectLst/>
                <a:uFillTx/>
                <a:latin typeface="Hanken Grotesk"/>
                <a:ea typeface="Hanken Grotesk"/>
              </a:rPr>
              <a:t xml:space="preserve">Clean the same array two ways — remove outliers with a boolean mask, then cap them with np.clip() — and compare the means.</a:t>
            </a:r>
            <a:endParaRPr lang="en-US" sz="1300" b="0" u="none" strike="noStrike">
              <a:solidFill>
                <a:srgbClr val="000000"/>
              </a:solidFill>
              <a:effectLst/>
              <a:uFillTx/>
              <a:latin typeface="Arial"/>
            </a:endParaRPr>
          </a:p>
        </p:txBody>
      </p:sp>
      <p:pic>
        <p:nvPicPr>
          <p:cNvPr id="307"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308" name="Text 21"/>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309" name="Text 22"/>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64</a:t>
            </a:r>
            <a:endParaRPr lang="en-US" sz="900" b="0" u="none" strike="noStrike">
              <a:solidFill>
                <a:srgbClr val="000000"/>
              </a:solidFill>
              <a:effectLst/>
              <a:uFillTx/>
              <a:latin typeface="Arial"/>
            </a:endParaRP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120"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11 · IMAGES AS ARRAYS</a:t>
            </a:r>
            <a:endParaRPr lang="en-US" sz="1100" b="0" u="none" strike="noStrike">
              <a:solidFill>
                <a:srgbClr val="000000"/>
              </a:solidFill>
              <a:effectLst/>
              <a:uFillTx/>
              <a:latin typeface="Arial"/>
            </a:endParaRPr>
          </a:p>
        </p:txBody>
      </p:sp>
      <p:sp>
        <p:nvSpPr>
          <p:cNvPr id="121"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OpenCV — Loading an Image (BGR)</a:t>
            </a:r>
            <a:endParaRPr lang="en-US" sz="2600" b="0" u="none" strike="noStrike">
              <a:solidFill>
                <a:srgbClr val="000000"/>
              </a:solidFill>
              <a:effectLst/>
              <a:uFillTx/>
              <a:latin typeface="Arial"/>
            </a:endParaRPr>
          </a:p>
        </p:txBody>
      </p:sp>
      <p:pic>
        <p:nvPicPr>
          <p:cNvPr id="122"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123"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124" name="Shape 3"/>
          <p:cNvSpPr/>
          <p:nvPr/>
        </p:nvSpPr>
        <p:spPr>
          <a:xfrm>
            <a:off x="548640" y="1737360"/>
            <a:ext cx="5394600" cy="3931560"/>
          </a:xfrm>
          <a:prstGeom prst="roundRect">
            <a:avLst>
              <a:gd name="adj" fmla="val 2791"/>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5"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126"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7"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128" name="Text 7"/>
          <p:cNvSpPr/>
          <p:nvPr/>
        </p:nvSpPr>
        <p:spPr>
          <a:xfrm>
            <a:off x="749880" y="2121480"/>
            <a:ext cx="4992120" cy="340128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400" b="0" u="none" strike="noStrike">
                <a:solidFill>
                  <a:srgbClr val="F1F5F9"/>
                </a:solidFill>
                <a:effectLst/>
                <a:uFillTx/>
                <a:latin typeface="Cantarell"/>
                <a:ea typeface="Consolas"/>
              </a:rPr>
              <a:t xml:space="preserve">import cv2</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img = cv2.imread("./images/japan_street.jpg", 1)</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type(img)    # numpy.ndarray</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img.shape    # (3264, 4928, 3)</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img[0, 0]    # [24 30 29]  (B, G, R)</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cv2.imshow("Japan Street", img)</a:t>
            </a:r>
            <a:endParaRPr lang="en-US" sz="1400" b="0" u="none" strike="noStrike">
              <a:solidFill>
                <a:srgbClr val="000000"/>
              </a:solidFill>
              <a:effectLst/>
              <a:uFillTx/>
              <a:latin typeface="Cantarell"/>
            </a:endParaRPr>
          </a:p>
          <a:p>
            <a:pPr defTabSz="914400">
              <a:lnSpc>
                <a:spcPct val="118000"/>
              </a:lnSpc>
              <a:tabLst>
                <a:tab pos="0" algn="l"/>
              </a:tabLst>
            </a:pPr>
            <a:r>
              <a:rPr lang="en-US" sz="1400" b="0" u="none" strike="noStrike">
                <a:solidFill>
                  <a:srgbClr val="F1F5F9"/>
                </a:solidFill>
                <a:effectLst/>
                <a:uFillTx/>
                <a:latin typeface="Cantarell"/>
                <a:ea typeface="Consolas"/>
              </a:rPr>
              <a:t xml:space="preserve">cv2.waitKey(0)</a:t>
            </a:r>
            <a:endParaRPr lang="en-US" sz="1400" b="0" u="none" strike="noStrike">
              <a:solidFill>
                <a:srgbClr val="000000"/>
              </a:solidFill>
              <a:effectLst/>
              <a:uFillTx/>
              <a:latin typeface="Cantarell"/>
            </a:endParaRPr>
          </a:p>
        </p:txBody>
      </p:sp>
      <p:sp>
        <p:nvSpPr>
          <p:cNvPr id="129" name="Text 8"/>
          <p:cNvSpPr/>
          <p:nvPr/>
        </p:nvSpPr>
        <p:spPr>
          <a:xfrm>
            <a:off x="6172200" y="1737360"/>
            <a:ext cx="5486040" cy="3931560"/>
          </a:xfrm>
          <a:prstGeom prst="rect">
            <a:avLst/>
          </a:prstGeom>
          <a:noFill/>
          <a:ln w="0">
            <a:noFill/>
          </a:ln>
        </p:spPr>
        <p:style>
          <a:lnRef idx="0"/>
          <a:fillRef idx="0"/>
          <a:effectRef idx="0"/>
          <a:fontRef idx="minor"/>
        </p:style>
        <p:txBody>
          <a:bodyPr lIns="90000" tIns="45000" rIns="90000" bIns="45000" anchor="t">
            <a:noAutofit/>
          </a:bodyPr>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cv2.imread() returns an ordinary NumPy array, so everything from this module works on it. The flag 1 loads color; (3264, 4928, 3) means 3264 rows, 4928 columns, 3 channels.</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Watch the channel order: OpenCV stores Blue, Green, Red. The top-left pixel [24 30 29] is B=24, G=30, R=29, and img[-1, -1, -1] (96) is the Red value of the bottom-right pixel.</a:t>
            </a:r>
            <a:endParaRPr lang="en-US" sz="1400" b="0" u="none" strike="noStrike">
              <a:solidFill>
                <a:srgbClr val="000000"/>
              </a:solidFill>
              <a:effectLst/>
              <a:uFillTx/>
              <a:latin typeface="Arial"/>
            </a:endParaRPr>
          </a:p>
          <a:p>
            <a:pPr marL="228600" indent="-228600" defTabSz="914400">
              <a:lnSpc>
                <a:spcPct val="100000"/>
              </a:lnSpc>
              <a:spcAft>
                <a:spcPts val="1400"/>
              </a:spcAft>
              <a:buClr>
                <a:srgbClr val="1B1B20"/>
              </a:buClr>
              <a:buFont typeface="Symbol" charset="2"/>
              <a:buChar char=""/>
            </a:pPr>
            <a:r>
              <a:rPr lang="en-US" sz="1400" b="0" u="none" strike="noStrike">
                <a:solidFill>
                  <a:srgbClr val="1B1B20"/>
                </a:solidFill>
                <a:effectLst/>
                <a:uFillTx/>
                <a:latin typeface="Hanken Grotesk"/>
                <a:ea typeface="Hanken Grotesk"/>
              </a:rPr>
              <a:t xml:space="preserve">imshow() opens a window and waitKey(0) waits for a key press. Libraries that expect RGB need the channels reversed with img[:, :, ::-1].</a:t>
            </a:r>
            <a:endParaRPr lang="en-US" sz="1400" b="0" u="none" strike="noStrike">
              <a:solidFill>
                <a:srgbClr val="000000"/>
              </a:solidFill>
              <a:effectLst/>
              <a:uFillTx/>
              <a:latin typeface="Arial"/>
            </a:endParaRPr>
          </a:p>
        </p:txBody>
      </p:sp>
      <p:sp>
        <p:nvSpPr>
          <p:cNvPr id="130" name="Text 9"/>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77</a:t>
            </a:r>
            <a:endParaRPr lang="en-US" sz="900" b="0" u="none" strike="noStrike">
              <a:solidFill>
                <a:srgbClr val="000000"/>
              </a:solidFill>
              <a:effectLst/>
              <a:uFillTx/>
              <a:latin typeface="Arial"/>
            </a:endParaRP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CF8FF"/>
        </a:solidFill>
      </p:bgPr>
    </p:bg>
    <p:spTree>
      <p:nvGrpSpPr>
        <p:cNvPr id="1" name=""/>
        <p:cNvGrpSpPr/>
        <p:nvPr/>
      </p:nvGrpSpPr>
      <p:grpSpPr/>
      <p:sp>
        <p:nvSpPr>
          <p:cNvPr id="653" name="Text 0"/>
          <p:cNvSpPr/>
          <p:nvPr/>
        </p:nvSpPr>
        <p:spPr>
          <a:xfrm>
            <a:off x="548640" y="384120"/>
            <a:ext cx="914364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201" strike="noStrike">
                <a:solidFill>
                  <a:srgbClr val="5755A7"/>
                </a:solidFill>
                <a:effectLst/>
                <a:uFillTx/>
                <a:latin typeface="Plus Jakarta Sans"/>
                <a:ea typeface="Plus Jakarta Sans"/>
              </a:rPr>
              <a:t xml:space="preserve">PART 11 · IMAGES AS ARRAYS</a:t>
            </a:r>
            <a:endParaRPr lang="en-US" sz="1100" b="0" u="none" strike="noStrike">
              <a:solidFill>
                <a:srgbClr val="000000"/>
              </a:solidFill>
              <a:effectLst/>
              <a:uFillTx/>
              <a:latin typeface="Arial"/>
            </a:endParaRPr>
          </a:p>
        </p:txBody>
      </p:sp>
      <p:sp>
        <p:nvSpPr>
          <p:cNvPr id="654" name="Text 1"/>
          <p:cNvSpPr/>
          <p:nvPr/>
        </p:nvSpPr>
        <p:spPr>
          <a:xfrm>
            <a:off x="548640" y="658440"/>
            <a:ext cx="969228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pc="-31" strike="noStrike">
                <a:solidFill>
                  <a:srgbClr val="1B1B20"/>
                </a:solidFill>
                <a:effectLst/>
                <a:uFillTx/>
                <a:latin typeface="Bricolage Grotesque"/>
                <a:ea typeface="Bricolage Grotesque"/>
              </a:rPr>
              <a:t xml:space="preserve">Slicing Pixels — Crop, Channel &amp; Downsample</a:t>
            </a:r>
            <a:endParaRPr lang="en-US" sz="2600" b="0" u="none" strike="noStrike">
              <a:solidFill>
                <a:srgbClr val="000000"/>
              </a:solidFill>
              <a:effectLst/>
              <a:uFillTx/>
              <a:latin typeface="Arial"/>
            </a:endParaRPr>
          </a:p>
        </p:txBody>
      </p:sp>
      <p:pic>
        <p:nvPicPr>
          <p:cNvPr id="655" name="Image 0" descr="/home/claude/numpy_deck/assets/logo_icon.png"/>
          <p:cNvPicPr/>
          <p:nvPr/>
        </p:nvPicPr>
        <p:blipFill>
          <a:blip r:embed="rId2"/>
          <a:stretch/>
        </p:blipFill>
        <p:spPr>
          <a:xfrm>
            <a:off x="11323080" y="320040"/>
            <a:ext cx="383760" cy="460440"/>
          </a:xfrm>
          <a:prstGeom prst="rect">
            <a:avLst/>
          </a:prstGeom>
          <a:noFill/>
          <a:ln w="0">
            <a:noFill/>
          </a:ln>
        </p:spPr>
      </p:pic>
      <p:sp>
        <p:nvSpPr>
          <p:cNvPr id="656" name="Text 2"/>
          <p:cNvSpPr/>
          <p:nvPr/>
        </p:nvSpPr>
        <p:spPr>
          <a:xfrm>
            <a:off x="457200" y="6473880"/>
            <a:ext cx="59432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CodeByPaxto  ·  AI &amp; ML Playground  ·  Hafiz Waseem Ahmed (Paxto)</a:t>
            </a:r>
            <a:endParaRPr lang="en-US" sz="900" b="0" u="none" strike="noStrike">
              <a:solidFill>
                <a:srgbClr val="000000"/>
              </a:solidFill>
              <a:effectLst/>
              <a:uFillTx/>
              <a:latin typeface="Arial"/>
            </a:endParaRPr>
          </a:p>
        </p:txBody>
      </p:sp>
      <p:sp>
        <p:nvSpPr>
          <p:cNvPr id="657" name="Shape 3"/>
          <p:cNvSpPr/>
          <p:nvPr/>
        </p:nvSpPr>
        <p:spPr>
          <a:xfrm>
            <a:off x="548640" y="1737360"/>
            <a:ext cx="5394600" cy="3108600"/>
          </a:xfrm>
          <a:prstGeom prst="roundRect">
            <a:avLst>
              <a:gd name="adj" fmla="val 3529"/>
            </a:avLst>
          </a:prstGeom>
          <a:solidFill>
            <a:srgbClr val="0E1420"/>
          </a:solidFill>
          <a:ln w="9525">
            <a:solidFill>
              <a:srgbClr val="1E293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58" name="Shape 4"/>
          <p:cNvSpPr/>
          <p:nvPr/>
        </p:nvSpPr>
        <p:spPr>
          <a:xfrm>
            <a:off x="713160" y="1883520"/>
            <a:ext cx="100080" cy="100080"/>
          </a:xfrm>
          <a:prstGeom prst="ellipse">
            <a:avLst/>
          </a:prstGeom>
          <a:solidFill>
            <a:srgbClr val="F43F5E"/>
          </a:solidFill>
          <a:ln w="0">
            <a:noFill/>
          </a:ln>
        </p:spPr>
        <p:style>
          <a:lnRef idx="0"/>
          <a:fillRef idx="0"/>
          <a:effectRef idx="0"/>
          <a:fontRef idx="minor"/>
        </p:style>
        <p:txBody>
          <a:bodyPr lIns="90000" tIns="26280" rIns="90000" bIns="26280" anchor="t">
            <a:noAutofit/>
          </a:bodyPr>
          <a:p>
            <a:endParaRPr lang="en-US" sz="1800" b="0" u="none" strike="noStrike">
              <a:solidFill>
                <a:srgbClr val="FFFFFF"/>
              </a:solidFill>
              <a:effectLst/>
              <a:uFillTx/>
              <a:latin typeface="Arial"/>
            </a:endParaRPr>
          </a:p>
        </p:txBody>
      </p:sp>
      <p:sp>
        <p:nvSpPr>
          <p:cNvPr id="659" name="Shape 5"/>
          <p:cNvSpPr/>
          <p:nvPr/>
        </p:nvSpPr>
        <p:spPr>
          <a:xfrm>
            <a:off x="914400" y="1883520"/>
            <a:ext cx="100080" cy="100080"/>
          </a:xfrm>
          <a:prstGeom prst="ellipse">
            <a:avLst/>
          </a:prstGeom>
          <a:solidFill>
            <a:srgbClr val="F9C6FE"/>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0" name="Shape 6"/>
          <p:cNvSpPr/>
          <p:nvPr/>
        </p:nvSpPr>
        <p:spPr>
          <a:xfrm>
            <a:off x="1115640" y="1883520"/>
            <a:ext cx="100080" cy="100080"/>
          </a:xfrm>
          <a:prstGeom prst="ellipse">
            <a:avLst/>
          </a:prstGeom>
          <a:solidFill>
            <a:srgbClr val="2DD4BF"/>
          </a:solidFill>
          <a:ln w="0">
            <a:noFill/>
          </a:ln>
        </p:spPr>
        <p:style>
          <a:lnRef idx="0"/>
          <a:fillRef idx="0"/>
          <a:effectRef idx="0"/>
          <a:fontRef idx="minor"/>
        </p:style>
        <p:txBody>
          <a:bodyPr lIns="90000" tIns="26280" rIns="90000" bIns="26280" anchor="t">
            <a:noAutofit/>
          </a:bodyPr>
          <a:p>
            <a:endParaRPr lang="en-US" sz="1800" b="0" u="none" strike="noStrike">
              <a:solidFill>
                <a:srgbClr val="000000"/>
              </a:solidFill>
              <a:effectLst/>
              <a:uFillTx/>
              <a:latin typeface="Arial"/>
            </a:endParaRPr>
          </a:p>
        </p:txBody>
      </p:sp>
      <p:sp>
        <p:nvSpPr>
          <p:cNvPr id="661" name="Text 7"/>
          <p:cNvSpPr/>
          <p:nvPr/>
        </p:nvSpPr>
        <p:spPr>
          <a:xfrm>
            <a:off x="749880" y="2121480"/>
            <a:ext cx="4992120" cy="2578320"/>
          </a:xfrm>
          <a:prstGeom prst="rect">
            <a:avLst/>
          </a:prstGeom>
          <a:noFill/>
          <a:ln w="0">
            <a:noFill/>
          </a:ln>
        </p:spPr>
        <p:style>
          <a:lnRef idx="0"/>
          <a:fillRef idx="0"/>
          <a:effectRef idx="0"/>
          <a:fontRef idx="minor"/>
        </p:style>
        <p:txBody>
          <a:bodyPr lIns="90000" tIns="45000" rIns="90000" bIns="45000" anchor="t">
            <a:noAutofit/>
          </a:bodyPr>
          <a:p>
            <a:pPr defTabSz="914400">
              <a:lnSpc>
                <a:spcPct val="118000"/>
              </a:lnSpc>
              <a:tabLst>
                <a:tab pos="0" algn="l"/>
              </a:tabLst>
            </a:pPr>
            <a:r>
              <a:rPr lang="en-US" sz="1350" b="0" u="none" strike="noStrike">
                <a:solidFill>
                  <a:srgbClr val="F1F5F9"/>
                </a:solidFill>
                <a:effectLst/>
                <a:uFillTx/>
                <a:latin typeface="Cantarell"/>
                <a:ea typeface="Consolas"/>
              </a:rPr>
              <a:t xml:space="preserve">crop = img[1200:2500, 1000:2001]</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 rows first, then columns</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blue  = img[:, :, 0]    # (3264, 4928)</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small = img[::8, ::8]   # (408, 616, 3)</a:t>
            </a:r>
            <a:endParaRPr lang="en-US" sz="1350" b="0" u="none" strike="noStrike">
              <a:solidFill>
                <a:srgbClr val="000000"/>
              </a:solidFill>
              <a:effectLst/>
              <a:uFillTx/>
              <a:latin typeface="Cantarell"/>
            </a:endParaRPr>
          </a:p>
          <a:p>
            <a:pPr defTabSz="914400">
              <a:lnSpc>
                <a:spcPct val="118000"/>
              </a:lnSpc>
              <a:tabLst>
                <a:tab pos="0" algn="l"/>
              </a:tabLst>
            </a:pPr>
            <a:r>
              <a:rPr lang="en-US" sz="1350" b="0" u="none" strike="noStrike">
                <a:solidFill>
                  <a:srgbClr val="F1F5F9"/>
                </a:solidFill>
                <a:effectLst/>
                <a:uFillTx/>
                <a:latin typeface="Cantarell"/>
                <a:ea typeface="Consolas"/>
              </a:rPr>
              <a:t xml:space="preserve">img.dtype               # uint8</a:t>
            </a:r>
            <a:endParaRPr lang="en-US" sz="1350" b="0" u="none" strike="noStrike">
              <a:solidFill>
                <a:srgbClr val="000000"/>
              </a:solidFill>
              <a:effectLst/>
              <a:uFillTx/>
              <a:latin typeface="Cantarell"/>
            </a:endParaRPr>
          </a:p>
        </p:txBody>
      </p:sp>
      <p:sp>
        <p:nvSpPr>
          <p:cNvPr id="662" name="Shape 8"/>
          <p:cNvSpPr/>
          <p:nvPr/>
        </p:nvSpPr>
        <p:spPr>
          <a:xfrm>
            <a:off x="6172200" y="1737360"/>
            <a:ext cx="5486040" cy="4023000"/>
          </a:xfrm>
          <a:prstGeom prst="roundRect">
            <a:avLst>
              <a:gd name="adj" fmla="val 2273"/>
            </a:avLst>
          </a:prstGeom>
          <a:solidFill>
            <a:srgbClr val="FFFFFF"/>
          </a:solidFill>
          <a:ln w="9525">
            <a:solidFill>
              <a:srgbClr val="C8C5D3"/>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3" name="Image 1" descr="/home/claude/numpy_deck/charts/speed_comparison.png"/>
          <p:cNvPicPr/>
          <p:nvPr/>
        </p:nvPicPr>
        <p:blipFill>
          <a:blip r:embed="rId4"/>
          <a:stretch/>
        </p:blipFill>
        <p:spPr>
          <a:xfrm>
            <a:off x="6282000" y="1847160"/>
            <a:ext cx="5266440" cy="3638880"/>
          </a:xfrm>
          <a:prstGeom prst="rect">
            <a:avLst/>
          </a:prstGeom>
          <a:noFill/>
          <a:ln w="0">
            <a:noFill/>
          </a:ln>
        </p:spPr>
      </p:pic>
      <p:sp>
        <p:nvSpPr>
          <p:cNvPr id="664" name="Text 9"/>
          <p:cNvSpPr/>
          <p:nvPr/>
        </p:nvSpPr>
        <p:spPr>
          <a:xfrm>
            <a:off x="6172200" y="5486400"/>
            <a:ext cx="548604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0" i="1" u="none" strike="noStrike">
                <a:solidFill>
                  <a:srgbClr val="474651"/>
                </a:solidFill>
                <a:effectLst/>
                <a:uFillTx/>
                <a:latin typeface="Plus Jakarta Sans"/>
                <a:ea typeface="Plus Jakarta Sans"/>
              </a:rPr>
              <a:t xml:space="preserve">Real output from japan_street.jpg: original, crop, blue channel, every 8th pixel.</a:t>
            </a:r>
            <a:endParaRPr lang="en-US" sz="950" b="0" u="none" strike="noStrike">
              <a:solidFill>
                <a:srgbClr val="000000"/>
              </a:solidFill>
              <a:effectLst/>
              <a:uFillTx/>
              <a:latin typeface="Arial"/>
            </a:endParaRPr>
          </a:p>
        </p:txBody>
      </p:sp>
      <p:sp>
        <p:nvSpPr>
          <p:cNvPr id="665" name="Text 10"/>
          <p:cNvSpPr/>
          <p:nvPr/>
        </p:nvSpPr>
        <p:spPr>
          <a:xfrm>
            <a:off x="548640" y="5029200"/>
            <a:ext cx="5394600" cy="731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474651"/>
                </a:solidFill>
                <a:effectLst/>
                <a:uFillTx/>
                <a:latin typeface="Hanken Grotesk"/>
                <a:ea typeface="Hanken Grotesk"/>
              </a:rPr>
              <a:t xml:space="preserve">Rows come first, then columns, then channels — the exact slicing rules from Part 5, applied to a real photo.</a:t>
            </a:r>
            <a:endParaRPr lang="en-US" sz="1250" b="0" u="none" strike="noStrike">
              <a:solidFill>
                <a:srgbClr val="000000"/>
              </a:solidFill>
              <a:effectLst/>
              <a:uFillTx/>
              <a:latin typeface="Arial"/>
            </a:endParaRPr>
          </a:p>
        </p:txBody>
      </p:sp>
      <p:sp>
        <p:nvSpPr>
          <p:cNvPr id="666" name="Text 11"/>
          <p:cNvSpPr/>
          <p:nvPr/>
        </p:nvSpPr>
        <p:spPr>
          <a:xfrm>
            <a:off x="11505960" y="6473880"/>
            <a:ext cx="50256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900" b="0" u="none" strike="noStrike">
                <a:solidFill>
                  <a:srgbClr val="474651"/>
                </a:solidFill>
                <a:effectLst/>
                <a:uFillTx/>
                <a:latin typeface="Plus Jakarta Sans"/>
                <a:ea typeface="Plus Jakarta Sans"/>
              </a:rPr>
              <a:t xml:space="preserve">78</a:t>
            </a:r>
            <a:endParaRPr lang="en-US" sz="9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2026-09-24T22:30:17Z</dcterms:created>
  <dc:creator>PptxGenJS</dc:creator>
  <dc:description/>
  <dc:language>en-US</dc:language>
  <cp:lastModifiedBy/>
  <dcterms:modified xsi:type="dcterms:W3CDTF">2026-09-26T14:12:22Z</dcterms:modified>
  <cp:revision>8</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61</vt:i4>
  </property>
  <property fmtid="{D5CDD505-2E9C-101B-9397-08002B2CF9AE}" pid="3" name="PresentationFormat">
    <vt:lpwstr>On-screen Show (16:9)</vt:lpwstr>
  </property>
  <property fmtid="{D5CDD505-2E9C-101B-9397-08002B2CF9AE}" pid="4" name="Slides">
    <vt:i4>61</vt:i4>
  </property>
</Properties>
</file>