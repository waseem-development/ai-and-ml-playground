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0FB8B11-E0F1-4E14-92CA-38E92F0FD6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A862F1-69D3-47BA-8726-C9E886A443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0CCCA7-06E4-4D84-BAE1-A556A0F4E7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E1DB45-3918-4A70-AC1A-48925620BD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C783A2-9CDE-48D8-B24A-729955BE83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E54108-9EA6-4661-9BE2-0310E54B23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DBF127-0A65-4506-9D3C-DC87C5F2D5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0EB690-2D49-49CE-9DE6-AA334ED410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70091B-B8D0-41CF-9992-71E9616702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39E678-4B89-4460-8093-148D54674F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141EB9-5350-4AE0-8956-719DBACD9F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BFE564-D8AB-4184-9420-2272F98FC3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2983AA-9BE8-4E11-96A1-121B672DA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3E4957-D49B-47D2-A144-C3B82179F1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51DD22-5272-4B9D-A17C-7989708FEF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C0588-9784-470D-BCBF-AE9B11F15E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F058BF-117D-46A4-9286-9DAEB36CCC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BEEF48-A586-49CB-8F99-FEE3DD3B2C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0620F1-D5E6-4847-82D5-7A635B5522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7F28DD-75BA-4585-BB9F-877C669C62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850B54-48A0-42DE-A812-CE13C93C1F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686A2C-09B2-4F3A-9045-54B141B536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F23FC2-F6F0-43D7-B073-A308C60FFF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E3719D-DD0A-4315-8F42-E5D46A3252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ED650A-105A-4B71-B184-936B7391BB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A4CF4E-E3C7-4743-9361-5BCEFCEDD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6B0AA9-BF97-4470-B744-A1B3E1477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89B39D-8C7F-44FA-97A9-46E53E10C0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692640" y="-1463040"/>
            <a:ext cx="5486040" cy="5486040"/>
          </a:xfrm>
          <a:prstGeom prst="ellipse">
            <a:avLst/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/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logo.png"/>
          <p:cNvPicPr/>
          <p:nvPr/>
        </p:nvPicPr>
        <p:blipFill>
          <a:blip r:embed="rId1"/>
          <a:stretch/>
        </p:blipFill>
        <p:spPr>
          <a:xfrm>
            <a:off x="685800" y="457200"/>
            <a:ext cx="2651400" cy="85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3"/>
          <p:cNvSpPr/>
          <p:nvPr/>
        </p:nvSpPr>
        <p:spPr>
          <a:xfrm>
            <a:off x="713160" y="2331720"/>
            <a:ext cx="393156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13160" y="2331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SESSION 23  ·  AI &amp; ML 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713160" y="278892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Trigonometry for Data Science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713160" y="370332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Angles, Unit Circle, Waves &amp; Inverse Trig — by hand and in Python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71316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713160" y="50292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548640" y="1371600"/>
            <a:ext cx="11063880" cy="603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731520" y="151776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731520" y="1517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1280160" y="1371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trigonometry — what it is, where it is used, why we study it now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548640" y="2084760"/>
            <a:ext cx="11063880" cy="603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731520" y="223128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731520" y="2231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1280160" y="2084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Angles — degrees vs radians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548640" y="2797920"/>
            <a:ext cx="11063880" cy="603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731520" y="294444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731520" y="2944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1280160" y="2797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Right triangles to the unit circle — sin, cos, tan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5"/>
          <p:cNvSpPr/>
          <p:nvPr/>
        </p:nvSpPr>
        <p:spPr>
          <a:xfrm>
            <a:off x="548640" y="3511440"/>
            <a:ext cx="11063880" cy="603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6"/>
          <p:cNvSpPr/>
          <p:nvPr/>
        </p:nvSpPr>
        <p:spPr>
          <a:xfrm>
            <a:off x="731520" y="365760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731520" y="3657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8"/>
          <p:cNvSpPr/>
          <p:nvPr/>
        </p:nvSpPr>
        <p:spPr>
          <a:xfrm>
            <a:off x="1280160" y="351144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Sine and cosine waves — amplitude, frequency, phase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9"/>
          <p:cNvSpPr/>
          <p:nvPr/>
        </p:nvSpPr>
        <p:spPr>
          <a:xfrm>
            <a:off x="548640" y="4224600"/>
            <a:ext cx="11063880" cy="603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0"/>
          <p:cNvSpPr/>
          <p:nvPr/>
        </p:nvSpPr>
        <p:spPr>
          <a:xfrm>
            <a:off x="731520" y="437076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731520" y="4370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2"/>
          <p:cNvSpPr/>
          <p:nvPr/>
        </p:nvSpPr>
        <p:spPr>
          <a:xfrm>
            <a:off x="1280160" y="4224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sin² + cos² = 1 and polar coordinates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3"/>
          <p:cNvSpPr/>
          <p:nvPr/>
        </p:nvSpPr>
        <p:spPr>
          <a:xfrm>
            <a:off x="548640" y="4937760"/>
            <a:ext cx="11063880" cy="603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4"/>
          <p:cNvSpPr/>
          <p:nvPr/>
        </p:nvSpPr>
        <p:spPr>
          <a:xfrm>
            <a:off x="731520" y="508392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731520" y="5083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6"/>
          <p:cNvSpPr/>
          <p:nvPr/>
        </p:nvSpPr>
        <p:spPr>
          <a:xfrm>
            <a:off x="1280160" y="4937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Inverse trig and atan2 — getting angles from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7"/>
          <p:cNvSpPr/>
          <p:nvPr/>
        </p:nvSpPr>
        <p:spPr>
          <a:xfrm>
            <a:off x="548640" y="5650920"/>
            <a:ext cx="11063880" cy="603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8"/>
          <p:cNvSpPr/>
          <p:nvPr/>
        </p:nvSpPr>
        <p:spPr>
          <a:xfrm>
            <a:off x="731520" y="579744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9"/>
          <p:cNvSpPr/>
          <p:nvPr/>
        </p:nvSpPr>
        <p:spPr>
          <a:xfrm>
            <a:off x="731520" y="5797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0"/>
          <p:cNvSpPr/>
          <p:nvPr/>
        </p:nvSpPr>
        <p:spPr>
          <a:xfrm>
            <a:off x="1280160" y="5650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Previews — tangent/secant lines, cosine similarity, rotation, tanh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1"/>
          <p:cNvSpPr/>
          <p:nvPr/>
        </p:nvSpPr>
        <p:spPr>
          <a:xfrm>
            <a:off x="548640" y="6364080"/>
            <a:ext cx="11063880" cy="603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2"/>
          <p:cNvSpPr/>
          <p:nvPr/>
        </p:nvSpPr>
        <p:spPr>
          <a:xfrm>
            <a:off x="731520" y="651060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3"/>
          <p:cNvSpPr/>
          <p:nvPr/>
        </p:nvSpPr>
        <p:spPr>
          <a:xfrm>
            <a:off x="731520" y="6510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4"/>
          <p:cNvSpPr/>
          <p:nvPr/>
        </p:nvSpPr>
        <p:spPr>
          <a:xfrm>
            <a:off x="1280160" y="636408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Tasks and a mini project: the angle between two vectors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9692640" y="-1463040"/>
            <a:ext cx="5486040" cy="5486040"/>
          </a:xfrm>
          <a:prstGeom prst="ellipse">
            <a:avLst/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/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640080" y="2331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Why Trigonometry?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What it is, where it shows up, and why it comes right before Linear Algebra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Trigonometry?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12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△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Triangle + measure = angles and distances linked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3749040" y="1737360"/>
            <a:ext cx="78634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From Greek: trigonon (triangle) + metron (measure).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links angles to lengths: know one angle and one side, and you can find the rest.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Analogy: a tree’s shadow. With the sun’s angle and the shadow’s length, you get the height without climbing.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Triangles lead to circles, and circles lead to waves — that is our roadmap today.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It Shows Up in AI &amp; ML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548640" y="155448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777240" y="175572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77724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77724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NLP &amp; LLMs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77724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Sin/cos positional encoding in transformers, and RoPE.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4320720" y="155448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4549320" y="175572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454932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454932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RAG &amp; embeddings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454932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Cosine similarity: the angle between two vectors.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8092440" y="155448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4"/>
          <p:cNvSpPr/>
          <p:nvPr/>
        </p:nvSpPr>
        <p:spPr>
          <a:xfrm>
            <a:off x="8321040" y="175572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832104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832104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Computer vision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832104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Rotating and warping images, polar coordinates.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8"/>
          <p:cNvSpPr/>
          <p:nvPr/>
        </p:nvSpPr>
        <p:spPr>
          <a:xfrm>
            <a:off x="548640" y="388620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9"/>
          <p:cNvSpPr/>
          <p:nvPr/>
        </p:nvSpPr>
        <p:spPr>
          <a:xfrm>
            <a:off x="777240" y="408744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77724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77724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Robotics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2"/>
          <p:cNvSpPr/>
          <p:nvPr/>
        </p:nvSpPr>
        <p:spPr>
          <a:xfrm>
            <a:off x="77724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Headings, joint angles and rotations via atan2.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3"/>
          <p:cNvSpPr/>
          <p:nvPr/>
        </p:nvSpPr>
        <p:spPr>
          <a:xfrm>
            <a:off x="4320720" y="388620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4"/>
          <p:cNvSpPr/>
          <p:nvPr/>
        </p:nvSpPr>
        <p:spPr>
          <a:xfrm>
            <a:off x="4549320" y="408744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5"/>
          <p:cNvSpPr/>
          <p:nvPr/>
        </p:nvSpPr>
        <p:spPr>
          <a:xfrm>
            <a:off x="454932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6"/>
          <p:cNvSpPr/>
          <p:nvPr/>
        </p:nvSpPr>
        <p:spPr>
          <a:xfrm>
            <a:off x="454932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Audio &amp; multimodal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7"/>
          <p:cNvSpPr/>
          <p:nvPr/>
        </p:nvSpPr>
        <p:spPr>
          <a:xfrm>
            <a:off x="454932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Sound is waves; Fourier ideas build on sin and cos.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8"/>
          <p:cNvSpPr/>
          <p:nvPr/>
        </p:nvSpPr>
        <p:spPr>
          <a:xfrm>
            <a:off x="8092440" y="388620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9"/>
          <p:cNvSpPr/>
          <p:nvPr/>
        </p:nvSpPr>
        <p:spPr>
          <a:xfrm>
            <a:off x="8321040" y="408744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0"/>
          <p:cNvSpPr/>
          <p:nvPr/>
        </p:nvSpPr>
        <p:spPr>
          <a:xfrm>
            <a:off x="832104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1"/>
          <p:cNvSpPr/>
          <p:nvPr/>
        </p:nvSpPr>
        <p:spPr>
          <a:xfrm>
            <a:off x="832104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Neural networks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2"/>
          <p:cNvSpPr/>
          <p:nvPr/>
        </p:nvSpPr>
        <p:spPr>
          <a:xfrm>
            <a:off x="832104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tanh activation, a squashing curve.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Study It Now?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12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↗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Taught right before it is needed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3749040" y="1737360"/>
            <a:ext cx="78634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Linear Algebra needs it at once: a·b = ‖a‖‖b‖cos θ, cosine similarity, rotation matrices.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 functions expect radians; calculus later uses derivatives of sin and cos.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We learn only what AI uses — no proofs, no identity tables.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Skipped on purpose: law of sines/cosines, double-angle formulas, solving trig equations.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Shape 2"/>
          <p:cNvSpPr/>
          <p:nvPr/>
        </p:nvSpPr>
        <p:spPr>
          <a:xfrm>
            <a:off x="548640" y="502920"/>
            <a:ext cx="566640" cy="56664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Why Trig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8"/>
          <p:cNvSpPr/>
          <p:nvPr/>
        </p:nvSpPr>
        <p:spPr>
          <a:xfrm>
            <a:off x="731520" y="222192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Name one thing around you that repeats in a cycle.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731520" y="318204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Which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of the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six AI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areas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 the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earlier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slide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interes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ts you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most,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and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6"/>
          <p:cNvSpPr/>
          <p:nvPr/>
        </p:nvSpPr>
        <p:spPr>
          <a:xfrm>
            <a:off x="731520" y="414216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your own words: what does trigonometry connect?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0"/>
          <p:cNvSpPr/>
          <p:nvPr/>
        </p:nvSpPr>
        <p:spPr>
          <a:xfrm>
            <a:off x="731520" y="510228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run import numpy as np; print(np.pi) — what number is it?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9692640" y="-1463040"/>
            <a:ext cx="5486040" cy="5486040"/>
          </a:xfrm>
          <a:prstGeom prst="ellipse">
            <a:avLst/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/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640080" y="2331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Angles: Degrees &amp; Radians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Two ways to measure a turn — and why code always wants radians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Degrees vs Radians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548640" y="1554480"/>
            <a:ext cx="51202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Degrees: a full turn is 360°. Like measuring in miles.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Radians: a full turn is 2π. Like measuring in “radius units” — one radian is an arc as long as the </a:t>
            </a: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radius.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180° = π radians, so multiply degrees by π/180.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NumPy, PyTorch and OpenCV expect radians — the most common beginner bug.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5943600" y="1463040"/>
            <a:ext cx="5668920" cy="4663080"/>
          </a:xfrm>
          <a:prstGeom prst="roundRect">
            <a:avLst>
              <a:gd name="adj" fmla="val 1961"/>
            </a:avLst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6172200" y="1664280"/>
            <a:ext cx="145800" cy="14580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6428160" y="1664280"/>
            <a:ext cx="145800" cy="14580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6684120" y="1664280"/>
            <a:ext cx="145800" cy="14580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6217920" y="2103120"/>
            <a:ext cx="52117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rad = np.deg2rad(180)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print(rad)            # 3.14159... = pi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print(np.rad2deg(np.pi / 2))   # 90.0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antarell"/>
                <a:ea typeface="Consolas"/>
              </a:rPr>
              <a:t># by hand: 60 * pi / 180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print(np.deg2rad(60), np.pi / 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antarell"/>
                <a:ea typeface="Consolas"/>
              </a:rPr>
              <a:t># bug: np.sin(30) is NOT sin of 30 degrees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print(np.sin(np.deg2rad(30)))  # 0.5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Shape 2"/>
          <p:cNvSpPr/>
          <p:nvPr/>
        </p:nvSpPr>
        <p:spPr>
          <a:xfrm>
            <a:off x="548640" y="502920"/>
            <a:ext cx="566640" cy="56664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ct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ic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 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et 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— 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gl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731520" y="222192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By hand: convert 90°, 45° and 270° to radians.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2"/>
          <p:cNvSpPr/>
          <p:nvPr/>
        </p:nvSpPr>
        <p:spPr>
          <a:xfrm>
            <a:off x="731520" y="318204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By hand: convert π/6 and 2π/3 back to degrees.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6"/>
          <p:cNvSpPr/>
          <p:nvPr/>
        </p:nvSpPr>
        <p:spPr>
          <a:xfrm>
            <a:off x="731520" y="414216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does np.sin(30) not give 0.5? Fix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0"/>
          <p:cNvSpPr/>
          <p:nvPr/>
        </p:nvSpPr>
        <p:spPr>
          <a:xfrm>
            <a:off x="731520" y="510228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use np.deg2rad to check your answers to question 1.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9692640" y="-1463040"/>
            <a:ext cx="5486040" cy="5486040"/>
          </a:xfrm>
          <a:prstGeom prst="ellipse">
            <a:avLst/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/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640080" y="2331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Right Triangles to the Unit Circle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sin, cos and tan — first on a triangle, then as coordinates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sin, cos, tan: SOH-CAH-TOA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548640" y="1554480"/>
            <a:ext cx="51202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sin = opposite / hypotenuse, cos = adjacent / hypotenuse, tan = opposite / adjacent.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Unit circle (radius 1): the point at angle θ is (cos θ, sin θ). Cos is x, sin is 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tan = sin / cos. It is called “tangent” because of a line touching the circle at (1, 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cot, sec, csc are just reciprocals: 1/tan, 1/cos, 1/sin.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5943600" y="1463040"/>
            <a:ext cx="5668920" cy="4663080"/>
          </a:xfrm>
          <a:prstGeom prst="roundRect">
            <a:avLst>
              <a:gd name="adj" fmla="val 1961"/>
            </a:avLst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6172200" y="1664280"/>
            <a:ext cx="145800" cy="14580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6428160" y="1664280"/>
            <a:ext cx="145800" cy="14580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7"/>
          <p:cNvSpPr/>
          <p:nvPr/>
        </p:nvSpPr>
        <p:spPr>
          <a:xfrm>
            <a:off x="6684120" y="1664280"/>
            <a:ext cx="145800" cy="14580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8"/>
          <p:cNvSpPr/>
          <p:nvPr/>
        </p:nvSpPr>
        <p:spPr>
          <a:xfrm>
            <a:off x="6217920" y="2103120"/>
            <a:ext cx="52117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a = np.deg2rad(30)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print(np.sin(a))   # 0.5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print(np.cos(a))   # 0.866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print(np.tan(a))   # 0.577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antarell"/>
                <a:ea typeface="Consolas"/>
              </a:rPr>
              <a:t># point on the unit circle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x, y = np.cos(a), np.sin(a)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print(x, y)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antarell"/>
                <a:ea typeface="Consolas"/>
              </a:rPr>
              <a:t># tan = sin / cos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print(np.sin(a) / np.cos(a))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Shape 2"/>
          <p:cNvSpPr/>
          <p:nvPr/>
        </p:nvSpPr>
        <p:spPr>
          <a:xfrm>
            <a:off x="548640" y="502920"/>
            <a:ext cx="566640" cy="56664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cti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ce 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Set 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— 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Un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it 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Cir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cle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731520" y="222192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triangle has opposite 3 and hypotenuse 5. What is sin θ?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2"/>
          <p:cNvSpPr/>
          <p:nvPr/>
        </p:nvSpPr>
        <p:spPr>
          <a:xfrm>
            <a:off x="731520" y="318204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Where is the point on the unit circle at 90°? At 180°?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6"/>
          <p:cNvSpPr/>
          <p:nvPr/>
        </p:nvSpPr>
        <p:spPr>
          <a:xfrm>
            <a:off x="731520" y="414216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are sin 0° and cos 0°? Check with NumPy.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0"/>
          <p:cNvSpPr/>
          <p:nvPr/>
        </p:nvSpPr>
        <p:spPr>
          <a:xfrm>
            <a:off x="731520" y="510228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can tan 90° not be computed?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9692640" y="-1463040"/>
            <a:ext cx="5486040" cy="5486040"/>
          </a:xfrm>
          <a:prstGeom prst="ellipse">
            <a:avLst/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/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640080" y="2331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Sine &amp; Cosine Waves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Unroll the circle and you get a wave — the shape behind sound and positional encoding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Amplitude, Frequency, Phase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"/>
          <p:cNvSpPr/>
          <p:nvPr/>
        </p:nvSpPr>
        <p:spPr>
          <a:xfrm>
            <a:off x="548640" y="1554480"/>
            <a:ext cx="51202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= A·sin(f·t + φ): A is height, f is how fast it repeats, φ shifts it sideways.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Cosine is the same wave shifted by a quarter cycle.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Transformers tag each word position with sin/cos waves of different frequencies.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Audio signals are sums of such waves.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4"/>
          <p:cNvSpPr/>
          <p:nvPr/>
        </p:nvSpPr>
        <p:spPr>
          <a:xfrm>
            <a:off x="5943600" y="1463040"/>
            <a:ext cx="5668920" cy="4663080"/>
          </a:xfrm>
          <a:prstGeom prst="roundRect">
            <a:avLst>
              <a:gd name="adj" fmla="val 1961"/>
            </a:avLst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5"/>
          <p:cNvSpPr/>
          <p:nvPr/>
        </p:nvSpPr>
        <p:spPr>
          <a:xfrm>
            <a:off x="6172200" y="1664280"/>
            <a:ext cx="145800" cy="14580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6"/>
          <p:cNvSpPr/>
          <p:nvPr/>
        </p:nvSpPr>
        <p:spPr>
          <a:xfrm>
            <a:off x="6428160" y="1664280"/>
            <a:ext cx="145800" cy="14580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7"/>
          <p:cNvSpPr/>
          <p:nvPr/>
        </p:nvSpPr>
        <p:spPr>
          <a:xfrm>
            <a:off x="6684120" y="1664280"/>
            <a:ext cx="145800" cy="14580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6217920" y="2103120"/>
            <a:ext cx="52117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t = np.linspace(0, 2*np.pi, 100)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wave = 2 * np.sin(3*t + 0.5)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print(wave.max())      # about 2 = amplitude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antarell"/>
                <a:ea typeface="Consolas"/>
              </a:rPr>
              <a:t># tiny positional-encoding idea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pos = np.arange(4)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print(np.sin(pos / 10))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print(np.cos(pos / 10))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Shape 2"/>
          <p:cNvSpPr/>
          <p:nvPr/>
        </p:nvSpPr>
        <p:spPr>
          <a:xfrm>
            <a:off x="548640" y="502920"/>
            <a:ext cx="566640" cy="56664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Waves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731520" y="222192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are the amplitude and frequency of y = 3·sin(2t)?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731520" y="318204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does changing φ do to the wave?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6"/>
          <p:cNvSpPr/>
          <p:nvPr/>
        </p:nvSpPr>
        <p:spPr>
          <a:xfrm>
            <a:off x="731520" y="414216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would a transformer use waves to mark word positions?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0"/>
          <p:cNvSpPr/>
          <p:nvPr/>
        </p:nvSpPr>
        <p:spPr>
          <a:xfrm>
            <a:off x="731520" y="510228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plot a wave with matplotlib once we cover it — for now print its max and min.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9692640" y="-1463040"/>
            <a:ext cx="5486040" cy="5486040"/>
          </a:xfrm>
          <a:prstGeom prst="ellipse">
            <a:avLst/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/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640080" y="2331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si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n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²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+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o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²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=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1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&amp;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o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l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a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r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o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o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r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d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i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n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a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e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One identity, and two ways to describe a point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Identity and Polar Form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"/>
          <p:cNvSpPr/>
          <p:nvPr/>
        </p:nvSpPr>
        <p:spPr>
          <a:xfrm>
            <a:off x="548640" y="1554480"/>
            <a:ext cx="51202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sin² θ + cos² θ = 1 — Pythagoras on the unit circle, since x² + y² = 1.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Polar (r, θ): distance and direction. Cartesian (x, y): across and up.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x = r cos θ, y = r sin θ; going back, r = √(x² + y²).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Robots think in distance and direction.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4"/>
          <p:cNvSpPr/>
          <p:nvPr/>
        </p:nvSpPr>
        <p:spPr>
          <a:xfrm>
            <a:off x="5943600" y="1463040"/>
            <a:ext cx="5668920" cy="4663080"/>
          </a:xfrm>
          <a:prstGeom prst="roundRect">
            <a:avLst>
              <a:gd name="adj" fmla="val 1961"/>
            </a:avLst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"/>
          <p:cNvSpPr/>
          <p:nvPr/>
        </p:nvSpPr>
        <p:spPr>
          <a:xfrm>
            <a:off x="6172200" y="1664280"/>
            <a:ext cx="145800" cy="14580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6"/>
          <p:cNvSpPr/>
          <p:nvPr/>
        </p:nvSpPr>
        <p:spPr>
          <a:xfrm>
            <a:off x="6428160" y="1664280"/>
            <a:ext cx="145800" cy="14580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7"/>
          <p:cNvSpPr/>
          <p:nvPr/>
        </p:nvSpPr>
        <p:spPr>
          <a:xfrm>
            <a:off x="6684120" y="1664280"/>
            <a:ext cx="145800" cy="14580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8"/>
          <p:cNvSpPr/>
          <p:nvPr/>
        </p:nvSpPr>
        <p:spPr>
          <a:xfrm>
            <a:off x="6217920" y="2103120"/>
            <a:ext cx="52117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t = np.deg2rad(40)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print(np.sin(t)**2 + np.cos(t)**2)   # 1.0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r, th = 5, np.deg2rad(53.13)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x, y = r*np.cos(th), r*np.sin(th)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print(x, y)                 # about 3, 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print(np.hypot(x, y))       # 5.0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Shape 2"/>
          <p:cNvSpPr/>
          <p:nvPr/>
        </p:nvSpPr>
        <p:spPr>
          <a:xfrm>
            <a:off x="548640" y="502920"/>
            <a:ext cx="566640" cy="56664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Identity &amp; Polar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8"/>
          <p:cNvSpPr/>
          <p:nvPr/>
        </p:nvSpPr>
        <p:spPr>
          <a:xfrm>
            <a:off x="731520" y="222192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sin θ = 0.6, what is cos θ (take it positive)?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2"/>
          <p:cNvSpPr/>
          <p:nvPr/>
        </p:nvSpPr>
        <p:spPr>
          <a:xfrm>
            <a:off x="731520" y="318204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 polar (r = 10, θ = 90°) to Cartesian.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6"/>
          <p:cNvSpPr/>
          <p:nvPr/>
        </p:nvSpPr>
        <p:spPr>
          <a:xfrm>
            <a:off x="731520" y="414216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 Cartesian (3, 4) to polar 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0"/>
          <p:cNvSpPr/>
          <p:nvPr/>
        </p:nvSpPr>
        <p:spPr>
          <a:xfrm>
            <a:off x="731520" y="510228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hon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: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fir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sin²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+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cos²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= 1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ten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ran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ang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9692640" y="-1463040"/>
            <a:ext cx="5486040" cy="5486040"/>
          </a:xfrm>
          <a:prstGeom prst="ellipse">
            <a:avLst/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/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640080" y="2331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Inverse Trig &amp; atan2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Going backwards: from a ratio to an angle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arccos, arctan and atan2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548640" y="1554480"/>
            <a:ext cx="51202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arcsin, arccos, arctan undo sin, cos, tan.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arccos gives the angle between two vectors — next session.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arctan alone loses the quadrant; atan2(y, x) keeps it and gives a heading.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Results are in radians — convert with rad2deg.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"/>
          <p:cNvSpPr/>
          <p:nvPr/>
        </p:nvSpPr>
        <p:spPr>
          <a:xfrm>
            <a:off x="5943600" y="1463040"/>
            <a:ext cx="5668920" cy="4663080"/>
          </a:xfrm>
          <a:prstGeom prst="roundRect">
            <a:avLst>
              <a:gd name="adj" fmla="val 1961"/>
            </a:avLst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5"/>
          <p:cNvSpPr/>
          <p:nvPr/>
        </p:nvSpPr>
        <p:spPr>
          <a:xfrm>
            <a:off x="6172200" y="1664280"/>
            <a:ext cx="145800" cy="14580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6428160" y="1664280"/>
            <a:ext cx="145800" cy="14580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7"/>
          <p:cNvSpPr/>
          <p:nvPr/>
        </p:nvSpPr>
        <p:spPr>
          <a:xfrm>
            <a:off x="6684120" y="1664280"/>
            <a:ext cx="145800" cy="14580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6217920" y="2103120"/>
            <a:ext cx="52117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print(np.rad2deg(np.arccos(0.5)))        # 60.0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print(np.rad2deg(np.arctan2(1, -1)))     # 135.0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print(np.rad2deg(np.arctan(1 / -1)))     # -45.0  wrong quadrant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antarell"/>
                <a:ea typeface="Consolas"/>
              </a:rPr>
              <a:t># heading of a robot moving (3, 4)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7FF"/>
                </a:solidFill>
                <a:effectLst/>
                <a:uFillTx/>
                <a:latin typeface="Cantarell"/>
                <a:ea typeface="Consolas"/>
              </a:rPr>
              <a:t>print(np.rad2deg(np.arctan2(4, 3)))      # 53.13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Shape 2"/>
          <p:cNvSpPr/>
          <p:nvPr/>
        </p:nvSpPr>
        <p:spPr>
          <a:xfrm>
            <a:off x="548640" y="502920"/>
            <a:ext cx="566640" cy="56664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Inverse Trig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8"/>
          <p:cNvSpPr/>
          <p:nvPr/>
        </p:nvSpPr>
        <p:spPr>
          <a:xfrm>
            <a:off x="731520" y="222192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By hand: what angle has cos θ = 0.5?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2"/>
          <p:cNvSpPr/>
          <p:nvPr/>
        </p:nvSpPr>
        <p:spPr>
          <a:xfrm>
            <a:off x="731520" y="318204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does atan(1/−1) give −45° but the point (−1, 1) is at 135°?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6"/>
          <p:cNvSpPr/>
          <p:nvPr/>
        </p:nvSpPr>
        <p:spPr>
          <a:xfrm>
            <a:off x="731520" y="414216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heading of (−2, 2) with atan2.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0"/>
          <p:cNvSpPr/>
          <p:nvPr/>
        </p:nvSpPr>
        <p:spPr>
          <a:xfrm>
            <a:off x="731520" y="510228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why must you wrap results in np.rad2deg to read them?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9692640" y="-1463040"/>
            <a:ext cx="5486040" cy="5486040"/>
          </a:xfrm>
          <a:prstGeom prst="ellipse">
            <a:avLst/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/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"/>
          <p:cNvSpPr/>
          <p:nvPr/>
        </p:nvSpPr>
        <p:spPr>
          <a:xfrm>
            <a:off x="640080" y="2331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7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Previews: What Comes Next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One slide of awareness for ideas we meet again soon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6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Coming Up Later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"/>
          <p:cNvSpPr/>
          <p:nvPr/>
        </p:nvSpPr>
        <p:spPr>
          <a:xfrm>
            <a:off x="548640" y="155448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4"/>
          <p:cNvSpPr/>
          <p:nvPr/>
        </p:nvSpPr>
        <p:spPr>
          <a:xfrm>
            <a:off x="777240" y="175572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5"/>
          <p:cNvSpPr/>
          <p:nvPr/>
        </p:nvSpPr>
        <p:spPr>
          <a:xfrm>
            <a:off x="77724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6"/>
          <p:cNvSpPr/>
          <p:nvPr/>
        </p:nvSpPr>
        <p:spPr>
          <a:xfrm>
            <a:off x="77724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Tangent &amp; secant lines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7"/>
          <p:cNvSpPr/>
          <p:nvPr/>
        </p:nvSpPr>
        <p:spPr>
          <a:xfrm>
            <a:off x="77724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Same words, different idea: a tangent line touches a curve and shows its slope. That is the picture behind gradient descent (calculus).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8"/>
          <p:cNvSpPr/>
          <p:nvPr/>
        </p:nvSpPr>
        <p:spPr>
          <a:xfrm>
            <a:off x="4320720" y="155448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9"/>
          <p:cNvSpPr/>
          <p:nvPr/>
        </p:nvSpPr>
        <p:spPr>
          <a:xfrm>
            <a:off x="4549320" y="175572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0"/>
          <p:cNvSpPr/>
          <p:nvPr/>
        </p:nvSpPr>
        <p:spPr>
          <a:xfrm>
            <a:off x="454932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1"/>
          <p:cNvSpPr/>
          <p:nvPr/>
        </p:nvSpPr>
        <p:spPr>
          <a:xfrm>
            <a:off x="454932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Cosine similarity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2"/>
          <p:cNvSpPr/>
          <p:nvPr/>
        </p:nvSpPr>
        <p:spPr>
          <a:xfrm>
            <a:off x="454932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angle between two embedding vectors — backbone of RAG and search. Taught in Linear Algebra.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3"/>
          <p:cNvSpPr/>
          <p:nvPr/>
        </p:nvSpPr>
        <p:spPr>
          <a:xfrm>
            <a:off x="8092440" y="155448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4"/>
          <p:cNvSpPr/>
          <p:nvPr/>
        </p:nvSpPr>
        <p:spPr>
          <a:xfrm>
            <a:off x="8321040" y="175572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5"/>
          <p:cNvSpPr/>
          <p:nvPr/>
        </p:nvSpPr>
        <p:spPr>
          <a:xfrm>
            <a:off x="832104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6"/>
          <p:cNvSpPr/>
          <p:nvPr/>
        </p:nvSpPr>
        <p:spPr>
          <a:xfrm>
            <a:off x="832104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Rotation matrices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7"/>
          <p:cNvSpPr/>
          <p:nvPr/>
        </p:nvSpPr>
        <p:spPr>
          <a:xfrm>
            <a:off x="832104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Rotating a point by θ uses sin and cos. Taught in Linear Algebra.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8"/>
          <p:cNvSpPr/>
          <p:nvPr/>
        </p:nvSpPr>
        <p:spPr>
          <a:xfrm>
            <a:off x="548640" y="388620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9"/>
          <p:cNvSpPr/>
          <p:nvPr/>
        </p:nvSpPr>
        <p:spPr>
          <a:xfrm>
            <a:off x="777240" y="408744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0"/>
          <p:cNvSpPr/>
          <p:nvPr/>
        </p:nvSpPr>
        <p:spPr>
          <a:xfrm>
            <a:off x="77724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1"/>
          <p:cNvSpPr/>
          <p:nvPr/>
        </p:nvSpPr>
        <p:spPr>
          <a:xfrm>
            <a:off x="77724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tanh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2"/>
          <p:cNvSpPr/>
          <p:nvPr/>
        </p:nvSpPr>
        <p:spPr>
          <a:xfrm>
            <a:off x="77724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An activation function that squashes values to −1…1.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3"/>
          <p:cNvSpPr/>
          <p:nvPr/>
        </p:nvSpPr>
        <p:spPr>
          <a:xfrm>
            <a:off x="4320720" y="388620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4"/>
          <p:cNvSpPr/>
          <p:nvPr/>
        </p:nvSpPr>
        <p:spPr>
          <a:xfrm>
            <a:off x="4549320" y="408744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5"/>
          <p:cNvSpPr/>
          <p:nvPr/>
        </p:nvSpPr>
        <p:spPr>
          <a:xfrm>
            <a:off x="454932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6"/>
          <p:cNvSpPr/>
          <p:nvPr/>
        </p:nvSpPr>
        <p:spPr>
          <a:xfrm>
            <a:off x="454932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Euler’s formula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7"/>
          <p:cNvSpPr/>
          <p:nvPr/>
        </p:nvSpPr>
        <p:spPr>
          <a:xfrm>
            <a:off x="454932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e^(iθ) = cos θ + i sin θ — the bridge to Fourier and RoPE. Just a name for now.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28"/>
          <p:cNvSpPr/>
          <p:nvPr/>
        </p:nvSpPr>
        <p:spPr>
          <a:xfrm>
            <a:off x="8092440" y="388620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29"/>
          <p:cNvSpPr/>
          <p:nvPr/>
        </p:nvSpPr>
        <p:spPr>
          <a:xfrm>
            <a:off x="8321040" y="4087440"/>
            <a:ext cx="411120" cy="41112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0"/>
          <p:cNvSpPr/>
          <p:nvPr/>
        </p:nvSpPr>
        <p:spPr>
          <a:xfrm>
            <a:off x="832104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1"/>
          <p:cNvSpPr/>
          <p:nvPr/>
        </p:nvSpPr>
        <p:spPr>
          <a:xfrm>
            <a:off x="832104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Back to NumPy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2"/>
          <p:cNvSpPr/>
          <p:nvPr/>
        </p:nvSpPr>
        <p:spPr>
          <a:xfrm>
            <a:off x="832104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np.si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n, 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np.c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os 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and 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np.ar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ccos 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all 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work 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in 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radia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ns, 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so 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reme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mber 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rad2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deg.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Paxto  ·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 AI &amp;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und  · 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Hafiz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Wasee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Ahmed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Shape 2"/>
          <p:cNvSpPr/>
          <p:nvPr/>
        </p:nvSpPr>
        <p:spPr>
          <a:xfrm>
            <a:off x="548640" y="502920"/>
            <a:ext cx="566640" cy="56664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Task Set — Mixed Practice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Three small tasks from the whole session.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8"/>
          <p:cNvSpPr/>
          <p:nvPr/>
        </p:nvSpPr>
        <p:spPr>
          <a:xfrm>
            <a:off x="731520" y="222192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 150° to radians by hand, then check in NumPy.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2"/>
          <p:cNvSpPr/>
          <p:nvPr/>
        </p:nvSpPr>
        <p:spPr>
          <a:xfrm>
            <a:off x="731520" y="318204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sin, cos and tan of 45° in NumPy. What do you notice about sin and cos?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6"/>
          <p:cNvSpPr/>
          <p:nvPr/>
        </p:nvSpPr>
        <p:spPr>
          <a:xfrm>
            <a:off x="731520" y="414216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 polar (r = 2, θ = 60°) to Cartesian and back.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0"/>
          <p:cNvSpPr/>
          <p:nvPr/>
        </p:nvSpPr>
        <p:spPr>
          <a:xfrm>
            <a:off x="731520" y="5102280"/>
            <a:ext cx="310680" cy="310680"/>
          </a:xfrm>
          <a:prstGeom prst="ellipse">
            <a:avLst/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atan2 to find the direction of the point (−3, −3).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4" name="Image 0" descr="icon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Angle Between Two Vectors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12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731520" y="2103120"/>
            <a:ext cx="255996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Measure how close two word vectors point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3749040" y="1737360"/>
            <a:ext cx="38401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Treat a and b as tiny word embeddings.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cos θ = (a·b) / (‖a‖‖b‖) — a·b is the dot product, explained next session.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np.arccos for the angle, then np.rad2deg.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Try your own vectors: which pair is closest in angle?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7772400" y="1737360"/>
            <a:ext cx="3840120" cy="4023000"/>
          </a:xfrm>
          <a:prstGeom prst="roundRect">
            <a:avLst>
              <a:gd name="adj" fmla="val 2381"/>
            </a:avLst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7955280" y="1965960"/>
            <a:ext cx="3565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0E7FF"/>
                </a:solidFill>
                <a:effectLst/>
                <a:uFillTx/>
                <a:latin typeface="Consolas"/>
                <a:ea typeface="Consolas"/>
              </a:rPr>
              <a:t>import numpy as np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0E7FF"/>
                </a:solidFill>
                <a:effectLst/>
                <a:uFillTx/>
                <a:latin typeface="Consolas"/>
                <a:ea typeface="Consolas"/>
              </a:rPr>
              <a:t>a = np.array([1, 2, 3])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0E7FF"/>
                </a:solidFill>
                <a:effectLst/>
                <a:uFillTx/>
                <a:latin typeface="Consolas"/>
                <a:ea typeface="Consolas"/>
              </a:rPr>
              <a:t>b = np.array([2, 1, 0])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0E7FF"/>
                </a:solidFill>
                <a:effectLst/>
                <a:uFillTx/>
                <a:latin typeface="Consolas"/>
                <a:ea typeface="Consolas"/>
              </a:rPr>
              <a:t>cos = (a @ b) / (np.linalg.norm(a) * np.linalg.norm(b))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0E7FF"/>
                </a:solidFill>
                <a:effectLst/>
                <a:uFillTx/>
                <a:latin typeface="Consolas"/>
                <a:ea typeface="Consolas"/>
              </a:rPr>
              <a:t>angle = np.rad2deg(np.arccos(cos))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0E7FF"/>
                </a:solidFill>
                <a:effectLst/>
                <a:uFillTx/>
                <a:latin typeface="Consolas"/>
                <a:ea typeface="Consolas"/>
              </a:rPr>
              <a:t>print(cos, angle)   # about 0.478, 61.4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0"/>
          <p:cNvSpPr/>
          <p:nvPr/>
        </p:nvSpPr>
        <p:spPr>
          <a:xfrm>
            <a:off x="9692640" y="-1463040"/>
            <a:ext cx="5486040" cy="5486040"/>
          </a:xfrm>
          <a:prstGeom prst="ellipse">
            <a:avLst/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/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3"/>
          <p:cNvSpPr/>
          <p:nvPr/>
        </p:nvSpPr>
        <p:spPr>
          <a:xfrm>
            <a:off x="640080" y="1280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SESSION 23 COMPLETE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4"/>
          <p:cNvSpPr/>
          <p:nvPr/>
        </p:nvSpPr>
        <p:spPr>
          <a:xfrm>
            <a:off x="640080" y="169164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What You Can Do Now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5"/>
          <p:cNvSpPr/>
          <p:nvPr/>
        </p:nvSpPr>
        <p:spPr>
          <a:xfrm>
            <a:off x="640080" y="2834640"/>
            <a:ext cx="103323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Convert degrees and radians, read sin/cos/tan off the unit circle, describe a wave by amplitude, frequency and phase, use sin²+cos²=1, move between polar and Cartesian, and recover angles with arccos and atan2.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6"/>
          <p:cNvSpPr/>
          <p:nvPr/>
        </p:nvSpPr>
        <p:spPr>
          <a:xfrm>
            <a:off x="640080" y="4937760"/>
            <a:ext cx="10332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D4BF"/>
                </a:solidFill>
                <a:effectLst/>
                <a:uFillTx/>
                <a:latin typeface="Hanken Grotesk"/>
                <a:ea typeface="Hanken Grotesk"/>
              </a:rPr>
              <a:t>Next up — Session 24: Linear Algebra. The dot product, cosine similarity and rotation matrices all start from today.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2026-10-01T16:28:14Z</dcterms:created>
  <dc:creator>PptxGenJS</dc:creator>
  <dc:description/>
  <dc:language>en-US</dc:language>
  <cp:lastModifiedBy/>
  <dcterms:modified xsi:type="dcterms:W3CDTF">2026-10-01T21:30:44Z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On-screen Show (16:9)</vt:lpwstr>
  </property>
  <property fmtid="{D5CDD505-2E9C-101B-9397-08002B2CF9AE}" pid="4" name="Slides">
    <vt:i4>27</vt:i4>
  </property>
</Properties>
</file>