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3" r:id="rId35"/>
    <p:sldId id="265" r:id="rId11"/>
    <p:sldId id="266" r:id="rId12"/>
    <p:sldId id="284" r:id="rId36"/>
    <p:sldId id="267" r:id="rId13"/>
    <p:sldId id="285" r:id="rId37"/>
    <p:sldId id="289" r:id="rId41"/>
    <p:sldId id="290" r:id="rId42"/>
    <p:sldId id="268" r:id="rId14"/>
    <p:sldId id="269" r:id="rId15"/>
    <p:sldId id="286" r:id="rId38"/>
    <p:sldId id="270" r:id="rId16"/>
    <p:sldId id="291" r:id="rId43"/>
    <p:sldId id="292" r:id="rId44"/>
    <p:sldId id="271" r:id="rId17"/>
    <p:sldId id="293" r:id="rId45"/>
    <p:sldId id="294" r:id="rId46"/>
    <p:sldId id="295" r:id="rId47"/>
    <p:sldId id="296" r:id="rId48"/>
    <p:sldId id="297" r:id="rId49"/>
    <p:sldId id="272" r:id="rId18"/>
    <p:sldId id="287" r:id="rId39"/>
    <p:sldId id="273" r:id="rId19"/>
    <p:sldId id="274" r:id="rId20"/>
    <p:sldId id="275" r:id="rId21"/>
    <p:sldId id="288" r:id="rId40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CCE117-F2EF-4D12-B33E-7435D99FB8F8}" v="94" dt="2026-10-01T16:33:00.9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microsoft.com/office/2015/10/relationships/revisionInfo" Target="revisionInfo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0FB8B11-E0F1-4E14-92CA-38E92F0FD61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A862F1-69D3-47BA-8726-C9E886A443D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0CCCA7-06E4-4D84-BAE1-A556A0F4E7F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E1DB45-3918-4A70-AC1A-48925620BDC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C783A2-9CDE-48D8-B24A-729955BE83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E54108-9EA6-4661-9BE2-0310E54B23E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DBF127-0A65-4506-9D3C-DC87C5F2D5A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0EB690-2D49-49CE-9DE6-AA334ED4108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70091B-B8D0-41CF-9992-71E9616702F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39E678-4B89-4460-8093-148D54674F5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141EB9-5350-4AE0-8956-719DBACD9F7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BFE564-D8AB-4184-9420-2272F98FC34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2983AA-9BE8-4E11-96A1-121B672DA1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3E4957-D49B-47D2-A144-C3B82179F1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51DD22-5272-4B9D-A17C-7989708FEF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9C0588-9784-470D-BCBF-AE9B11F15E0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F058BF-117D-46A4-9286-9DAEB36CCC2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BEEF48-A586-49CB-8F99-FEE3DD3B2C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0620F1-D5E6-4847-82D5-7A635B55228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7F28DD-75BA-4585-BB9F-877C669C62A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850B54-48A0-42DE-A812-CE13C93C1F4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686A2C-09B2-4F3A-9045-54B141B536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F23FC2-F6F0-43D7-B073-A308C60FFFE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E3719D-DD0A-4315-8F42-E5D46A3252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ED650A-105A-4B71-B184-936B7391BB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A4CF4E-E3C7-4743-9361-5BCEFCEDDC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6B0AA9-BF97-4470-B744-A1B3E14779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89B39D-8C7F-44FA-97A9-46E53E10C02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8778240" y="-2194560"/>
            <a:ext cx="5486040" cy="548604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0"/>
          <p:cNvSpPr/>
          <p:nvPr/>
        </p:nvSpPr>
        <p:spPr>
          <a:xfrm>
            <a:off x="5943600" y="5212080"/>
            <a:ext cx="1462680" cy="1462680"/>
          </a:xfrm>
          <a:prstGeom prst="ellipse">
            <a:avLst/>
          </a:prstGeom>
          <a:solidFill>
            <a:srgbClr val="4C112D">
              <a:alpha val="45000"/>
            </a:srgbClr>
          </a:solidFill>
          <a:ln w="12700">
            <a:solidFill>
              <a:srgbClr val="4C112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 algn="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" name="Image 0" descr="logo.png"/>
          <p:cNvPicPr/>
          <p:nvPr/>
        </p:nvPicPr>
        <p:blipFill>
          <a:blip r:embed="rId3"/>
          <a:stretch/>
        </p:blipFill>
        <p:spPr>
          <a:xfrm>
            <a:off x="685800" y="457200"/>
            <a:ext cx="2651400" cy="85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Shape 3"/>
          <p:cNvSpPr/>
          <p:nvPr/>
        </p:nvSpPr>
        <p:spPr>
          <a:xfrm>
            <a:off x="713160" y="2331720"/>
            <a:ext cx="3931560" cy="292320"/>
          </a:xfrm>
          <a:prstGeom prst="roundRect">
            <a:avLst>
              <a:gd name="adj" fmla="val 50000"/>
            </a:avLst>
          </a:prstGeom>
          <a:solidFill>
            <a:srgbClr val="262758"/>
          </a:solidFill>
          <a:ln w="12700">
            <a:solidFill>
              <a:srgbClr val="2627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713160" y="2331720"/>
            <a:ext cx="3931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E0E7FF"/>
                </a:solidFill>
                <a:effectLst/>
                <a:uFillTx/>
                <a:latin typeface="Plus Jakarta Sans"/>
                <a:ea typeface="Plus Jakarta Sans"/>
              </a:rPr>
              <a:t>SESSION 23  ·  AI &amp; ML PLAYGROUND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713160" y="2788920"/>
            <a:ext cx="100580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Trigonometry for Data Science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713160" y="370332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Angles, Unit Circle, Waves &amp; Inverse Trig — by hand and in Python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7"/>
          <p:cNvSpPr/>
          <p:nvPr/>
        </p:nvSpPr>
        <p:spPr>
          <a:xfrm>
            <a:off x="713160" y="46634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CodeByPaxto: The AI &amp; ML Playground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8"/>
          <p:cNvSpPr/>
          <p:nvPr/>
        </p:nvSpPr>
        <p:spPr>
          <a:xfrm>
            <a:off x="713160" y="502920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Hafiz Waseem Ahmed (Paxto)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9"/>
          <p:cNvSpPr/>
          <p:nvPr/>
        </p:nvSpPr>
        <p:spPr>
          <a:xfrm>
            <a:off x="713160" y="4572000"/>
            <a:ext cx="2926080" cy="360"/>
          </a:xfrm>
          <a:prstGeom prst="line">
            <a:avLst/>
          </a:prstGeom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 algn="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" name="Image 0" descr="icon.png"/>
          <p:cNvPicPr/>
          <p:nvPr/>
        </p:nvPicPr>
        <p:blipFill>
          <a:blip r:embed="rId3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We're Covering Today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3"/>
          <p:cNvSpPr/>
          <p:nvPr/>
        </p:nvSpPr>
        <p:spPr>
          <a:xfrm>
            <a:off x="548640" y="1371600"/>
            <a:ext cx="11109960" cy="457200"/>
          </a:xfrm>
          <a:prstGeom prst="roundRect">
            <a:avLst>
              <a:gd name="adj" fmla="val 21154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4"/>
          <p:cNvSpPr/>
          <p:nvPr/>
        </p:nvSpPr>
        <p:spPr>
          <a:xfrm>
            <a:off x="731520" y="144475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5"/>
          <p:cNvSpPr/>
          <p:nvPr/>
        </p:nvSpPr>
        <p:spPr>
          <a:xfrm>
            <a:off x="731520" y="1444752"/>
            <a:ext cx="310896" cy="3108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6"/>
          <p:cNvSpPr/>
          <p:nvPr/>
        </p:nvSpPr>
        <p:spPr>
          <a:xfrm>
            <a:off x="1234440" y="1371600"/>
            <a:ext cx="1014984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Why trigonometry — what it is, where it is used, why we study it now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7"/>
          <p:cNvSpPr/>
          <p:nvPr/>
        </p:nvSpPr>
        <p:spPr>
          <a:xfrm>
            <a:off x="548640" y="1911095"/>
            <a:ext cx="11109960" cy="457200"/>
          </a:xfrm>
          <a:prstGeom prst="roundRect">
            <a:avLst>
              <a:gd name="adj" fmla="val 21154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8"/>
          <p:cNvSpPr/>
          <p:nvPr/>
        </p:nvSpPr>
        <p:spPr>
          <a:xfrm>
            <a:off x="731520" y="198424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9"/>
          <p:cNvSpPr/>
          <p:nvPr/>
        </p:nvSpPr>
        <p:spPr>
          <a:xfrm>
            <a:off x="731520" y="1984248"/>
            <a:ext cx="310896" cy="3108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0"/>
          <p:cNvSpPr/>
          <p:nvPr/>
        </p:nvSpPr>
        <p:spPr>
          <a:xfrm>
            <a:off x="1234440" y="1911095"/>
            <a:ext cx="1014984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Angles — degrees vs radians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1"/>
          <p:cNvSpPr/>
          <p:nvPr/>
        </p:nvSpPr>
        <p:spPr>
          <a:xfrm>
            <a:off x="548640" y="2450591"/>
            <a:ext cx="11109960" cy="457200"/>
          </a:xfrm>
          <a:prstGeom prst="roundRect">
            <a:avLst>
              <a:gd name="adj" fmla="val 21154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2"/>
          <p:cNvSpPr/>
          <p:nvPr/>
        </p:nvSpPr>
        <p:spPr>
          <a:xfrm>
            <a:off x="731520" y="252374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3"/>
          <p:cNvSpPr/>
          <p:nvPr/>
        </p:nvSpPr>
        <p:spPr>
          <a:xfrm>
            <a:off x="731520" y="2523744"/>
            <a:ext cx="310896" cy="3108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4"/>
          <p:cNvSpPr/>
          <p:nvPr/>
        </p:nvSpPr>
        <p:spPr>
          <a:xfrm>
            <a:off x="1234440" y="2450591"/>
            <a:ext cx="1014984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Right triangles to the unit circle — sin, cos, tan and quadrant signs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5"/>
          <p:cNvSpPr/>
          <p:nvPr/>
        </p:nvSpPr>
        <p:spPr>
          <a:xfrm>
            <a:off x="548640" y="2990088"/>
            <a:ext cx="11109960" cy="457200"/>
          </a:xfrm>
          <a:prstGeom prst="roundRect">
            <a:avLst>
              <a:gd name="adj" fmla="val 21154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6"/>
          <p:cNvSpPr/>
          <p:nvPr/>
        </p:nvSpPr>
        <p:spPr>
          <a:xfrm>
            <a:off x="731520" y="306324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7"/>
          <p:cNvSpPr/>
          <p:nvPr/>
        </p:nvSpPr>
        <p:spPr>
          <a:xfrm>
            <a:off x="731520" y="3063240"/>
            <a:ext cx="310896" cy="3108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8"/>
          <p:cNvSpPr/>
          <p:nvPr/>
        </p:nvSpPr>
        <p:spPr>
          <a:xfrm>
            <a:off x="1234440" y="2990088"/>
            <a:ext cx="1014984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Sine and cosine waves — amplitude, period, frequency, phase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0" name="Shape 15"/>
          <p:cNvSpPr/>
          <p:nvPr/>
        </p:nvSpPr>
        <p:spPr>
          <a:xfrm>
            <a:off x="548640" y="3529584"/>
            <a:ext cx="11109960" cy="457200"/>
          </a:xfrm>
          <a:prstGeom prst="roundRect">
            <a:avLst>
              <a:gd name="adj" fmla="val 21154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1" name="Shape 16"/>
          <p:cNvSpPr/>
          <p:nvPr/>
        </p:nvSpPr>
        <p:spPr>
          <a:xfrm>
            <a:off x="731520" y="360273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Text 17"/>
          <p:cNvSpPr/>
          <p:nvPr/>
        </p:nvSpPr>
        <p:spPr>
          <a:xfrm>
            <a:off x="731520" y="3602736"/>
            <a:ext cx="310896" cy="3108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3" name="Text 18"/>
          <p:cNvSpPr/>
          <p:nvPr/>
        </p:nvSpPr>
        <p:spPr>
          <a:xfrm>
            <a:off x="1234440" y="3529584"/>
            <a:ext cx="1014984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Secant → tangent → slope — the bridge to calculus and gradient descent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9"/>
          <p:cNvSpPr/>
          <p:nvPr/>
        </p:nvSpPr>
        <p:spPr>
          <a:xfrm>
            <a:off x="548640" y="4069079"/>
            <a:ext cx="11109960" cy="457200"/>
          </a:xfrm>
          <a:prstGeom prst="roundRect">
            <a:avLst>
              <a:gd name="adj" fmla="val 21154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0"/>
          <p:cNvSpPr/>
          <p:nvPr/>
        </p:nvSpPr>
        <p:spPr>
          <a:xfrm>
            <a:off x="731520" y="4142231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1"/>
          <p:cNvSpPr/>
          <p:nvPr/>
        </p:nvSpPr>
        <p:spPr>
          <a:xfrm>
            <a:off x="731520" y="4142231"/>
            <a:ext cx="310896" cy="3108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2"/>
          <p:cNvSpPr/>
          <p:nvPr/>
        </p:nvSpPr>
        <p:spPr>
          <a:xfrm>
            <a:off x="1234440" y="4069079"/>
            <a:ext cx="1014984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sin² + cos² = 1 and polar coordinates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3"/>
          <p:cNvSpPr/>
          <p:nvPr/>
        </p:nvSpPr>
        <p:spPr>
          <a:xfrm>
            <a:off x="548640" y="4608576"/>
            <a:ext cx="11109960" cy="457200"/>
          </a:xfrm>
          <a:prstGeom prst="roundRect">
            <a:avLst>
              <a:gd name="adj" fmla="val 21154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4"/>
          <p:cNvSpPr/>
          <p:nvPr/>
        </p:nvSpPr>
        <p:spPr>
          <a:xfrm>
            <a:off x="731520" y="468172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5"/>
          <p:cNvSpPr/>
          <p:nvPr/>
        </p:nvSpPr>
        <p:spPr>
          <a:xfrm>
            <a:off x="731520" y="4681728"/>
            <a:ext cx="310896" cy="3108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6"/>
          <p:cNvSpPr/>
          <p:nvPr/>
        </p:nvSpPr>
        <p:spPr>
          <a:xfrm>
            <a:off x="1234440" y="4608576"/>
            <a:ext cx="1014984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Inverse trig and atan2 — getting angles from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7"/>
          <p:cNvSpPr/>
          <p:nvPr/>
        </p:nvSpPr>
        <p:spPr>
          <a:xfrm>
            <a:off x="548640" y="5148072"/>
            <a:ext cx="11109960" cy="457200"/>
          </a:xfrm>
          <a:prstGeom prst="roundRect">
            <a:avLst>
              <a:gd name="adj" fmla="val 21154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28"/>
          <p:cNvSpPr/>
          <p:nvPr/>
        </p:nvSpPr>
        <p:spPr>
          <a:xfrm>
            <a:off x="731520" y="522122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9"/>
          <p:cNvSpPr/>
          <p:nvPr/>
        </p:nvSpPr>
        <p:spPr>
          <a:xfrm>
            <a:off x="731520" y="5221224"/>
            <a:ext cx="310896" cy="3108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0"/>
          <p:cNvSpPr/>
          <p:nvPr/>
        </p:nvSpPr>
        <p:spPr>
          <a:xfrm>
            <a:off x="1234440" y="5148072"/>
            <a:ext cx="1014984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Previews — sec/csc/cot, cosine similarity, rotation, tanh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31"/>
          <p:cNvSpPr/>
          <p:nvPr/>
        </p:nvSpPr>
        <p:spPr>
          <a:xfrm>
            <a:off x="548640" y="5687568"/>
            <a:ext cx="11109960" cy="457200"/>
          </a:xfrm>
          <a:prstGeom prst="roundRect">
            <a:avLst>
              <a:gd name="adj" fmla="val 21154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32"/>
          <p:cNvSpPr/>
          <p:nvPr/>
        </p:nvSpPr>
        <p:spPr>
          <a:xfrm>
            <a:off x="731520" y="576072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3"/>
          <p:cNvSpPr/>
          <p:nvPr/>
        </p:nvSpPr>
        <p:spPr>
          <a:xfrm>
            <a:off x="731520" y="5760720"/>
            <a:ext cx="310896" cy="3108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34"/>
          <p:cNvSpPr/>
          <p:nvPr/>
        </p:nvSpPr>
        <p:spPr>
          <a:xfrm>
            <a:off x="1234440" y="5687568"/>
            <a:ext cx="1014984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Tasks and a mini project: the angle between two vectors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 algn="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03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3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1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4"/>
          <p:cNvSpPr/>
          <p:nvPr/>
        </p:nvSpPr>
        <p:spPr>
          <a:xfrm>
            <a:off x="640080" y="2743200"/>
            <a:ext cx="100580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Why Trigonometry?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What it is, where it shows up, and why it comes right before Linear Algebra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 algn="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Image 0" descr="icon.png"/>
          <p:cNvPicPr/>
          <p:nvPr/>
        </p:nvPicPr>
        <p:blipFill>
          <a:blip r:embed="rId3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Is Trigonometry?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125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△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Triangle + measure = angles and distances linked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7"/>
          <p:cNvSpPr/>
          <p:nvPr/>
        </p:nvSpPr>
        <p:spPr>
          <a:xfrm>
            <a:off x="3749040" y="1737360"/>
            <a:ext cx="7863480" cy="402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From Greek: trigonon (triangle) + metron (measure).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 links angles to lengths: know one angle and one side, and you can find the rest.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Analogy: a tree’s shadow. With the sun’s angle and the shadow’s length, you get the height without climbing.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Triangles lead to circles, and circles lead to waves — that is our roadmap today.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 algn="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Image 0" descr="icon.png"/>
          <p:cNvPicPr/>
          <p:nvPr/>
        </p:nvPicPr>
        <p:blipFill>
          <a:blip r:embed="rId3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Where It Shows Up in AI &amp; ML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3"/>
          <p:cNvSpPr/>
          <p:nvPr/>
        </p:nvSpPr>
        <p:spPr>
          <a:xfrm>
            <a:off x="548640" y="1554480"/>
            <a:ext cx="3520080" cy="2148480"/>
          </a:xfrm>
          <a:prstGeom prst="roundRect">
            <a:avLst>
              <a:gd name="adj" fmla="val 512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4"/>
          <p:cNvSpPr/>
          <p:nvPr/>
        </p:nvSpPr>
        <p:spPr>
          <a:xfrm>
            <a:off x="777240" y="1755720"/>
            <a:ext cx="411120" cy="41112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5"/>
          <p:cNvSpPr/>
          <p:nvPr/>
        </p:nvSpPr>
        <p:spPr>
          <a:xfrm>
            <a:off x="777240" y="175572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6"/>
          <p:cNvSpPr/>
          <p:nvPr/>
        </p:nvSpPr>
        <p:spPr>
          <a:xfrm>
            <a:off x="777240" y="230436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NLP &amp; LLMs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7"/>
          <p:cNvSpPr/>
          <p:nvPr/>
        </p:nvSpPr>
        <p:spPr>
          <a:xfrm>
            <a:off x="777240" y="269748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Sin/cos positional encoding in transformers, and RoPE.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8"/>
          <p:cNvSpPr/>
          <p:nvPr/>
        </p:nvSpPr>
        <p:spPr>
          <a:xfrm>
            <a:off x="4320720" y="1554480"/>
            <a:ext cx="3520080" cy="2148480"/>
          </a:xfrm>
          <a:prstGeom prst="roundRect">
            <a:avLst>
              <a:gd name="adj" fmla="val 512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9"/>
          <p:cNvSpPr/>
          <p:nvPr/>
        </p:nvSpPr>
        <p:spPr>
          <a:xfrm>
            <a:off x="4549320" y="1755720"/>
            <a:ext cx="411120" cy="41112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0"/>
          <p:cNvSpPr/>
          <p:nvPr/>
        </p:nvSpPr>
        <p:spPr>
          <a:xfrm>
            <a:off x="4549320" y="175572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1"/>
          <p:cNvSpPr/>
          <p:nvPr/>
        </p:nvSpPr>
        <p:spPr>
          <a:xfrm>
            <a:off x="4549320" y="230436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RAG &amp; embeddings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2"/>
          <p:cNvSpPr/>
          <p:nvPr/>
        </p:nvSpPr>
        <p:spPr>
          <a:xfrm>
            <a:off x="4549320" y="269748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Cosine similarity: the angle between two vectors.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3"/>
          <p:cNvSpPr/>
          <p:nvPr/>
        </p:nvSpPr>
        <p:spPr>
          <a:xfrm>
            <a:off x="8092440" y="1554480"/>
            <a:ext cx="3520080" cy="2148480"/>
          </a:xfrm>
          <a:prstGeom prst="roundRect">
            <a:avLst>
              <a:gd name="adj" fmla="val 512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4"/>
          <p:cNvSpPr/>
          <p:nvPr/>
        </p:nvSpPr>
        <p:spPr>
          <a:xfrm>
            <a:off x="8321040" y="1755720"/>
            <a:ext cx="411120" cy="41112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5"/>
          <p:cNvSpPr/>
          <p:nvPr/>
        </p:nvSpPr>
        <p:spPr>
          <a:xfrm>
            <a:off x="8321040" y="175572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6"/>
          <p:cNvSpPr/>
          <p:nvPr/>
        </p:nvSpPr>
        <p:spPr>
          <a:xfrm>
            <a:off x="8321040" y="230436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Computer vision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7"/>
          <p:cNvSpPr/>
          <p:nvPr/>
        </p:nvSpPr>
        <p:spPr>
          <a:xfrm>
            <a:off x="8321040" y="269748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Rotating and warping images, polar coordinates.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8"/>
          <p:cNvSpPr/>
          <p:nvPr/>
        </p:nvSpPr>
        <p:spPr>
          <a:xfrm>
            <a:off x="548640" y="3886200"/>
            <a:ext cx="3520080" cy="2148480"/>
          </a:xfrm>
          <a:prstGeom prst="roundRect">
            <a:avLst>
              <a:gd name="adj" fmla="val 512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9"/>
          <p:cNvSpPr/>
          <p:nvPr/>
        </p:nvSpPr>
        <p:spPr>
          <a:xfrm>
            <a:off x="777240" y="4087440"/>
            <a:ext cx="411120" cy="41112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0"/>
          <p:cNvSpPr/>
          <p:nvPr/>
        </p:nvSpPr>
        <p:spPr>
          <a:xfrm>
            <a:off x="777240" y="408744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1"/>
          <p:cNvSpPr/>
          <p:nvPr/>
        </p:nvSpPr>
        <p:spPr>
          <a:xfrm>
            <a:off x="777240" y="463608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Robotics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2"/>
          <p:cNvSpPr/>
          <p:nvPr/>
        </p:nvSpPr>
        <p:spPr>
          <a:xfrm>
            <a:off x="777240" y="502920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Headings, joint angles and rotations via atan2.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3"/>
          <p:cNvSpPr/>
          <p:nvPr/>
        </p:nvSpPr>
        <p:spPr>
          <a:xfrm>
            <a:off x="4320720" y="3886200"/>
            <a:ext cx="3520080" cy="2148480"/>
          </a:xfrm>
          <a:prstGeom prst="roundRect">
            <a:avLst>
              <a:gd name="adj" fmla="val 512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24"/>
          <p:cNvSpPr/>
          <p:nvPr/>
        </p:nvSpPr>
        <p:spPr>
          <a:xfrm>
            <a:off x="4549320" y="4087440"/>
            <a:ext cx="411120" cy="41112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5"/>
          <p:cNvSpPr/>
          <p:nvPr/>
        </p:nvSpPr>
        <p:spPr>
          <a:xfrm>
            <a:off x="4549320" y="408744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6"/>
          <p:cNvSpPr/>
          <p:nvPr/>
        </p:nvSpPr>
        <p:spPr>
          <a:xfrm>
            <a:off x="4549320" y="463608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Audio &amp; multimodal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7"/>
          <p:cNvSpPr/>
          <p:nvPr/>
        </p:nvSpPr>
        <p:spPr>
          <a:xfrm>
            <a:off x="4549320" y="502920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Sound is waves; Fourier ideas build on sin and cos.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28"/>
          <p:cNvSpPr/>
          <p:nvPr/>
        </p:nvSpPr>
        <p:spPr>
          <a:xfrm>
            <a:off x="8092440" y="3886200"/>
            <a:ext cx="3520080" cy="2148480"/>
          </a:xfrm>
          <a:prstGeom prst="roundRect">
            <a:avLst>
              <a:gd name="adj" fmla="val 512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29"/>
          <p:cNvSpPr/>
          <p:nvPr/>
        </p:nvSpPr>
        <p:spPr>
          <a:xfrm>
            <a:off x="8321040" y="4087440"/>
            <a:ext cx="411120" cy="41112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30"/>
          <p:cNvSpPr/>
          <p:nvPr/>
        </p:nvSpPr>
        <p:spPr>
          <a:xfrm>
            <a:off x="8321040" y="408744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31"/>
          <p:cNvSpPr/>
          <p:nvPr/>
        </p:nvSpPr>
        <p:spPr>
          <a:xfrm>
            <a:off x="8321040" y="463608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Neural networks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32"/>
          <p:cNvSpPr/>
          <p:nvPr/>
        </p:nvSpPr>
        <p:spPr>
          <a:xfrm>
            <a:off x="8321040" y="502920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tanh activation, a squashing curve.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 algn="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Image 0" descr="icon.png"/>
          <p:cNvPicPr/>
          <p:nvPr/>
        </p:nvPicPr>
        <p:blipFill>
          <a:blip r:embed="rId3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Why Study It Now?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125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↗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Taught right before it is needed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7"/>
          <p:cNvSpPr/>
          <p:nvPr/>
        </p:nvSpPr>
        <p:spPr>
          <a:xfrm>
            <a:off x="3749040" y="1737360"/>
            <a:ext cx="7863480" cy="402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Linear Algebra needs it at once: a·b = ‖a‖‖b‖cos θ, cosine similarity, rotation matrices.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NumPy functions expect radians; calculus later uses derivatives of sin and cos.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We learn only what AI uses — no proofs, no identity tables.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Skipped on purpose: law of sines/cosines, double-angle formulas, solving trig equations.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 algn="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" name="Image 0" descr="icon.png"/>
          <p:cNvPicPr/>
          <p:nvPr/>
        </p:nvPicPr>
        <p:blipFill>
          <a:blip r:embed="rId3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5"/>
          <p:cNvSpPr/>
          <p:nvPr/>
        </p:nvSpPr>
        <p:spPr>
          <a:xfrm>
            <a:off x="1261800" y="777240"/>
            <a:ext cx="9143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Why Trig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6"/>
          <p:cNvSpPr/>
          <p:nvPr/>
        </p:nvSpPr>
        <p:spPr>
          <a:xfrm>
            <a:off x="548640" y="14173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then check with Python.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337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8"/>
          <p:cNvSpPr/>
          <p:nvPr/>
        </p:nvSpPr>
        <p:spPr>
          <a:xfrm>
            <a:off x="731520" y="222192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9"/>
          <p:cNvSpPr/>
          <p:nvPr/>
        </p:nvSpPr>
        <p:spPr>
          <a:xfrm>
            <a:off x="731520" y="22219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0"/>
          <p:cNvSpPr/>
          <p:nvPr/>
        </p:nvSpPr>
        <p:spPr>
          <a:xfrm>
            <a:off x="128016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Name one thing around you that repeats in a cycle.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1337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2"/>
          <p:cNvSpPr/>
          <p:nvPr/>
        </p:nvSpPr>
        <p:spPr>
          <a:xfrm>
            <a:off x="731520" y="318204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3"/>
          <p:cNvSpPr/>
          <p:nvPr/>
        </p:nvSpPr>
        <p:spPr>
          <a:xfrm>
            <a:off x="731520" y="31820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4"/>
          <p:cNvSpPr/>
          <p:nvPr/>
        </p:nvSpPr>
        <p:spPr>
          <a:xfrm>
            <a:off x="128016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Which of the six AI areas on the earlier slide interests you most, and why?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1337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6"/>
          <p:cNvSpPr/>
          <p:nvPr/>
        </p:nvSpPr>
        <p:spPr>
          <a:xfrm>
            <a:off x="731520" y="414216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7"/>
          <p:cNvSpPr/>
          <p:nvPr/>
        </p:nvSpPr>
        <p:spPr>
          <a:xfrm>
            <a:off x="731520" y="41421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8"/>
          <p:cNvSpPr/>
          <p:nvPr/>
        </p:nvSpPr>
        <p:spPr>
          <a:xfrm>
            <a:off x="128016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 your own words: what does trigonometry connect?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1337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20"/>
          <p:cNvSpPr/>
          <p:nvPr/>
        </p:nvSpPr>
        <p:spPr>
          <a:xfrm>
            <a:off x="731520" y="510228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1"/>
          <p:cNvSpPr/>
          <p:nvPr/>
        </p:nvSpPr>
        <p:spPr>
          <a:xfrm>
            <a:off x="731520" y="51022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2"/>
          <p:cNvSpPr/>
          <p:nvPr/>
        </p:nvSpPr>
        <p:spPr>
          <a:xfrm>
            <a:off x="128016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Python: run import numpy as np; print(np.pi) — what number is it?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 algn="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08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3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2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4"/>
          <p:cNvSpPr/>
          <p:nvPr/>
        </p:nvSpPr>
        <p:spPr>
          <a:xfrm>
            <a:off x="640080" y="2743200"/>
            <a:ext cx="100580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Angles: Degrees &amp; Radians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Two ways to measure a turn — and why code always wants radians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 algn="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6" name="Image 0" descr="icon.png"/>
          <p:cNvPicPr/>
          <p:nvPr/>
        </p:nvPicPr>
        <p:blipFill>
          <a:blip r:embed="rId3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Degrees vs Radians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Degrees: a full turn is 360°. Like measuring in miles.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Radians: a full turn is 2π. Like measuring in “radius units” — one radian is an arc as long as the radius.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180° = π radians, so multiply degrees by π/180.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NumPy, PyTorch and OpenCV expect radians — the most common beginner bug.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rad = np.deg2rad(180)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print(rad)            # 3.14159... = pi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print(np.rad2deg(np.pi / 2))   # 90.0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by hand: 60 * pi / 180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print(np.deg2rad(60), np.pi / 3)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bug: np.sin(30) is NOT sin of 30 degrees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print(np.sin(np.deg2rad(30)))  # 0.5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 algn="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6" name="Image 0" descr="icon.png"/>
          <p:cNvPicPr/>
          <p:nvPr/>
        </p:nvPicPr>
        <p:blipFill>
          <a:blip r:embed="rId3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5"/>
          <p:cNvSpPr/>
          <p:nvPr/>
        </p:nvSpPr>
        <p:spPr>
          <a:xfrm>
            <a:off x="1261800" y="777240"/>
            <a:ext cx="9143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Angles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6"/>
          <p:cNvSpPr/>
          <p:nvPr/>
        </p:nvSpPr>
        <p:spPr>
          <a:xfrm>
            <a:off x="548640" y="14173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then check with Python.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337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8"/>
          <p:cNvSpPr/>
          <p:nvPr/>
        </p:nvSpPr>
        <p:spPr>
          <a:xfrm>
            <a:off x="731520" y="222192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9"/>
          <p:cNvSpPr/>
          <p:nvPr/>
        </p:nvSpPr>
        <p:spPr>
          <a:xfrm>
            <a:off x="731520" y="22219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0"/>
          <p:cNvSpPr/>
          <p:nvPr/>
        </p:nvSpPr>
        <p:spPr>
          <a:xfrm>
            <a:off x="128016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By hand: convert 90°, 45° and 270° to radians.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1337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2"/>
          <p:cNvSpPr/>
          <p:nvPr/>
        </p:nvSpPr>
        <p:spPr>
          <a:xfrm>
            <a:off x="731520" y="318204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3"/>
          <p:cNvSpPr/>
          <p:nvPr/>
        </p:nvSpPr>
        <p:spPr>
          <a:xfrm>
            <a:off x="731520" y="31820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4"/>
          <p:cNvSpPr/>
          <p:nvPr/>
        </p:nvSpPr>
        <p:spPr>
          <a:xfrm>
            <a:off x="128016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By hand: convert π/6 and 2π/3 back to degrees.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1337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6"/>
          <p:cNvSpPr/>
          <p:nvPr/>
        </p:nvSpPr>
        <p:spPr>
          <a:xfrm>
            <a:off x="731520" y="414216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7"/>
          <p:cNvSpPr/>
          <p:nvPr/>
        </p:nvSpPr>
        <p:spPr>
          <a:xfrm>
            <a:off x="731520" y="41421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8"/>
          <p:cNvSpPr/>
          <p:nvPr/>
        </p:nvSpPr>
        <p:spPr>
          <a:xfrm>
            <a:off x="128016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Why does np.sin(30) not give 0.5? Fix it.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1337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20"/>
          <p:cNvSpPr/>
          <p:nvPr/>
        </p:nvSpPr>
        <p:spPr>
          <a:xfrm>
            <a:off x="731520" y="510228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1"/>
          <p:cNvSpPr/>
          <p:nvPr/>
        </p:nvSpPr>
        <p:spPr>
          <a:xfrm>
            <a:off x="731520" y="51022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2"/>
          <p:cNvSpPr/>
          <p:nvPr/>
        </p:nvSpPr>
        <p:spPr>
          <a:xfrm>
            <a:off x="128016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Python: use np.deg2rad to check your answers to question 1.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 algn="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12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3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3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4"/>
          <p:cNvSpPr/>
          <p:nvPr/>
        </p:nvSpPr>
        <p:spPr>
          <a:xfrm>
            <a:off x="640080" y="2743200"/>
            <a:ext cx="100580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Right Triangles to the Unit Circle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sin, cos and tan — first on a triangle, then as coordinates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 algn="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6" name="Image 0" descr="icon.png"/>
          <p:cNvPicPr/>
          <p:nvPr/>
        </p:nvPicPr>
        <p:blipFill>
          <a:blip r:embed="rId3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sin, cos, tan: SOH-CAH-TOA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sin = opposite / hypotenuse, cos = adjacent / hypotenuse, tan = opposite / adjacent.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Unit circle (radius 1): the point at angle θ is (cos θ, sin θ). Cos is x, sin is 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tan = sin / cos. It is called “tangent” because of a line touching the circle at (1, 0).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cot, sec, csc are just reciprocals: 1/tan, 1/cos, 1/sin.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 = np.deg2rad(30)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print(np.sin(a))   # 0.5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print(np.cos(a))   # 0.866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print(np.tan(a))   # 0.577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point on the unit circle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x, y = np.cos(a), np.sin(a)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print(x, y)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tan = sin / cos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print(np.sin(a) / np.cos(a))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 algn="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6" name="Image 0" descr="icon.png"/>
          <p:cNvPicPr/>
          <p:nvPr/>
        </p:nvPicPr>
        <p:blipFill>
          <a:blip r:embed="rId3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5"/>
          <p:cNvSpPr/>
          <p:nvPr/>
        </p:nvSpPr>
        <p:spPr>
          <a:xfrm>
            <a:off x="1261800" y="777240"/>
            <a:ext cx="9143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Unit Circle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6"/>
          <p:cNvSpPr/>
          <p:nvPr/>
        </p:nvSpPr>
        <p:spPr>
          <a:xfrm>
            <a:off x="548640" y="14173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then check with Python.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337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8"/>
          <p:cNvSpPr/>
          <p:nvPr/>
        </p:nvSpPr>
        <p:spPr>
          <a:xfrm>
            <a:off x="731520" y="222192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9"/>
          <p:cNvSpPr/>
          <p:nvPr/>
        </p:nvSpPr>
        <p:spPr>
          <a:xfrm>
            <a:off x="731520" y="22219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0"/>
          <p:cNvSpPr/>
          <p:nvPr/>
        </p:nvSpPr>
        <p:spPr>
          <a:xfrm>
            <a:off x="128016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triangle has opposite 3 and hypotenuse 5. What is sin θ?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1337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12"/>
          <p:cNvSpPr/>
          <p:nvPr/>
        </p:nvSpPr>
        <p:spPr>
          <a:xfrm>
            <a:off x="731520" y="318204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3"/>
          <p:cNvSpPr/>
          <p:nvPr/>
        </p:nvSpPr>
        <p:spPr>
          <a:xfrm>
            <a:off x="731520" y="31820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4"/>
          <p:cNvSpPr/>
          <p:nvPr/>
        </p:nvSpPr>
        <p:spPr>
          <a:xfrm>
            <a:off x="128016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Where is the point on the unit circle at 90°? At 180°?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1337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6"/>
          <p:cNvSpPr/>
          <p:nvPr/>
        </p:nvSpPr>
        <p:spPr>
          <a:xfrm>
            <a:off x="731520" y="414216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7"/>
          <p:cNvSpPr/>
          <p:nvPr/>
        </p:nvSpPr>
        <p:spPr>
          <a:xfrm>
            <a:off x="731520" y="41421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8"/>
          <p:cNvSpPr/>
          <p:nvPr/>
        </p:nvSpPr>
        <p:spPr>
          <a:xfrm>
            <a:off x="128016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What are sin 0° and cos 0°? Check with NumPy.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1337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20"/>
          <p:cNvSpPr/>
          <p:nvPr/>
        </p:nvSpPr>
        <p:spPr>
          <a:xfrm>
            <a:off x="731520" y="510228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21"/>
          <p:cNvSpPr/>
          <p:nvPr/>
        </p:nvSpPr>
        <p:spPr>
          <a:xfrm>
            <a:off x="731520" y="51022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2"/>
          <p:cNvSpPr/>
          <p:nvPr/>
        </p:nvSpPr>
        <p:spPr>
          <a:xfrm>
            <a:off x="128016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Why can tan 90° not be computed?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1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2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 algn="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19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3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4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4"/>
          <p:cNvSpPr/>
          <p:nvPr/>
        </p:nvSpPr>
        <p:spPr>
          <a:xfrm>
            <a:off x="640080" y="2743200"/>
            <a:ext cx="100580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Sine &amp; Cosine Waves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Unroll the circle and you get a wave — the shape behind sound and positional encoding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 algn="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6" name="Image 0" descr="icon.png"/>
          <p:cNvPicPr/>
          <p:nvPr/>
        </p:nvPicPr>
        <p:blipFill>
          <a:blip r:embed="rId3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7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Amplitude, Frequency, Phase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 = A·sin(f·t + φ): A is height, f is how fast it repeats, φ shifts it sideways.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Cosine is the same wave shifted by a quarter cycle.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Transformers tag each word position with sin/cos waves of different frequencies.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Audio signals are sums of such waves.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t = np.linspace(0, 2*np.pi, 100)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wave = 2 * np.sin(3*t + 0.5)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print(wave.max())      # about 2 = amplitude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tiny positional-encoding idea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pos = np.arange(4)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print(np.sin(pos / 10))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print(np.cos(pos / 10))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 algn="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6" name="Image 0" descr="icon.png"/>
          <p:cNvPicPr/>
          <p:nvPr/>
        </p:nvPicPr>
        <p:blipFill>
          <a:blip r:embed="rId3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5"/>
          <p:cNvSpPr/>
          <p:nvPr/>
        </p:nvSpPr>
        <p:spPr>
          <a:xfrm>
            <a:off x="1261800" y="777240"/>
            <a:ext cx="9143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Waves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6"/>
          <p:cNvSpPr/>
          <p:nvPr/>
        </p:nvSpPr>
        <p:spPr>
          <a:xfrm>
            <a:off x="548640" y="14173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then check with Python.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337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8"/>
          <p:cNvSpPr/>
          <p:nvPr/>
        </p:nvSpPr>
        <p:spPr>
          <a:xfrm>
            <a:off x="731520" y="222192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9"/>
          <p:cNvSpPr/>
          <p:nvPr/>
        </p:nvSpPr>
        <p:spPr>
          <a:xfrm>
            <a:off x="731520" y="22219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0"/>
          <p:cNvSpPr/>
          <p:nvPr/>
        </p:nvSpPr>
        <p:spPr>
          <a:xfrm>
            <a:off x="128016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What are the amplitude and frequency of y = 3·sin(2t)?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1337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12"/>
          <p:cNvSpPr/>
          <p:nvPr/>
        </p:nvSpPr>
        <p:spPr>
          <a:xfrm>
            <a:off x="731520" y="318204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3"/>
          <p:cNvSpPr/>
          <p:nvPr/>
        </p:nvSpPr>
        <p:spPr>
          <a:xfrm>
            <a:off x="731520" y="31820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4"/>
          <p:cNvSpPr/>
          <p:nvPr/>
        </p:nvSpPr>
        <p:spPr>
          <a:xfrm>
            <a:off x="128016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What does changing φ do to the wave?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1337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16"/>
          <p:cNvSpPr/>
          <p:nvPr/>
        </p:nvSpPr>
        <p:spPr>
          <a:xfrm>
            <a:off x="731520" y="414216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7"/>
          <p:cNvSpPr/>
          <p:nvPr/>
        </p:nvSpPr>
        <p:spPr>
          <a:xfrm>
            <a:off x="731520" y="41421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8"/>
          <p:cNvSpPr/>
          <p:nvPr/>
        </p:nvSpPr>
        <p:spPr>
          <a:xfrm>
            <a:off x="128016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Why would a transformer use waves to mark word positions?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1337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20"/>
          <p:cNvSpPr/>
          <p:nvPr/>
        </p:nvSpPr>
        <p:spPr>
          <a:xfrm>
            <a:off x="731520" y="510228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21"/>
          <p:cNvSpPr/>
          <p:nvPr/>
        </p:nvSpPr>
        <p:spPr>
          <a:xfrm>
            <a:off x="731520" y="51022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22"/>
          <p:cNvSpPr/>
          <p:nvPr/>
        </p:nvSpPr>
        <p:spPr>
          <a:xfrm>
            <a:off x="128016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Python: plot a wave with matplotlib (see the plotting slide), then print its max and min.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1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2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 algn="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30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3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6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4"/>
          <p:cNvSpPr/>
          <p:nvPr/>
        </p:nvSpPr>
        <p:spPr>
          <a:xfrm>
            <a:off x="640080" y="2743200"/>
            <a:ext cx="100580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sin² + cos² = 1 &amp; Polar Coordinates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One identity, and two ways to describe a point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 algn="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6" name="Image 0" descr="icon.png"/>
          <p:cNvPicPr/>
          <p:nvPr/>
        </p:nvPicPr>
        <p:blipFill>
          <a:blip r:embed="rId3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7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Identity and Polar Form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sin² θ + cos² θ = 1 — Pythagoras on the unit circle, since x² + y² = 1.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Polar (r, θ): distance and direction. Cartesian (x, y): across and up.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x = r cos θ, y = r sin θ; going back, r = √(x² + y²).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Robots think in distance and direction.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t = np.deg2rad(40)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print(np.sin(t)**2 + np.cos(t)**2)   # 1.0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r, th = 5, np.deg2rad(53.13)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x, y = r*np.cos(th), r*np.sin(th)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print(x, y)                 # about 3, 4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print(np.hypot(x, y))       # 5.0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 algn="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6" name="Image 0" descr="icon.png"/>
          <p:cNvPicPr/>
          <p:nvPr/>
        </p:nvPicPr>
        <p:blipFill>
          <a:blip r:embed="rId3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7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5"/>
          <p:cNvSpPr/>
          <p:nvPr/>
        </p:nvSpPr>
        <p:spPr>
          <a:xfrm>
            <a:off x="1261800" y="777240"/>
            <a:ext cx="9143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Identity &amp; Polar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6"/>
          <p:cNvSpPr/>
          <p:nvPr/>
        </p:nvSpPr>
        <p:spPr>
          <a:xfrm>
            <a:off x="548640" y="14173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then check with Python.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337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8"/>
          <p:cNvSpPr/>
          <p:nvPr/>
        </p:nvSpPr>
        <p:spPr>
          <a:xfrm>
            <a:off x="731520" y="222192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9"/>
          <p:cNvSpPr/>
          <p:nvPr/>
        </p:nvSpPr>
        <p:spPr>
          <a:xfrm>
            <a:off x="731520" y="22219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0"/>
          <p:cNvSpPr/>
          <p:nvPr/>
        </p:nvSpPr>
        <p:spPr>
          <a:xfrm>
            <a:off x="128016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If sin θ = 0.6, what is cos θ (take it positive)?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1337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12"/>
          <p:cNvSpPr/>
          <p:nvPr/>
        </p:nvSpPr>
        <p:spPr>
          <a:xfrm>
            <a:off x="731520" y="318204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3"/>
          <p:cNvSpPr/>
          <p:nvPr/>
        </p:nvSpPr>
        <p:spPr>
          <a:xfrm>
            <a:off x="731520" y="31820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4"/>
          <p:cNvSpPr/>
          <p:nvPr/>
        </p:nvSpPr>
        <p:spPr>
          <a:xfrm>
            <a:off x="128016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Convert polar (r = 10, θ = 90°) to Cartesian.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1337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16"/>
          <p:cNvSpPr/>
          <p:nvPr/>
        </p:nvSpPr>
        <p:spPr>
          <a:xfrm>
            <a:off x="731520" y="414216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7"/>
          <p:cNvSpPr/>
          <p:nvPr/>
        </p:nvSpPr>
        <p:spPr>
          <a:xfrm>
            <a:off x="731520" y="41421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8"/>
          <p:cNvSpPr/>
          <p:nvPr/>
        </p:nvSpPr>
        <p:spPr>
          <a:xfrm>
            <a:off x="128016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Convert Cartesian (3, 4) to polar r.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1337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20"/>
          <p:cNvSpPr/>
          <p:nvPr/>
        </p:nvSpPr>
        <p:spPr>
          <a:xfrm>
            <a:off x="731520" y="510228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21"/>
          <p:cNvSpPr/>
          <p:nvPr/>
        </p:nvSpPr>
        <p:spPr>
          <a:xfrm>
            <a:off x="731520" y="51022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22"/>
          <p:cNvSpPr/>
          <p:nvPr/>
        </p:nvSpPr>
        <p:spPr>
          <a:xfrm>
            <a:off x="128016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Python: confirm sin² + cos² = 1 for ten random angles.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1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2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 algn="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34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3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7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4"/>
          <p:cNvSpPr/>
          <p:nvPr/>
        </p:nvSpPr>
        <p:spPr>
          <a:xfrm>
            <a:off x="640080" y="2743200"/>
            <a:ext cx="100580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Inverse Trig &amp; atan2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Going backwards: from a ratio to an angle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 algn="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6" name="Image 0" descr="icon.png"/>
          <p:cNvPicPr/>
          <p:nvPr/>
        </p:nvPicPr>
        <p:blipFill>
          <a:blip r:embed="rId3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7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arccos, arctan and atan2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arcsin, arccos, arctan undo sin, cos, tan.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arccos gives the angle between two vectors — next session.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arctan alone loses the quadrant; atan2(y, x) keeps it and gives a heading.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Results are in radians — convert with rad2deg.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print(np.rad2deg(np.arccos(0.5)))        # 60.0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print(np.rad2deg(np.arctan2(1, -1)))     # 135.0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print(np.rad2deg(np.arctan(1 / -1)))     # -45.0  wrong quadrant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heading of a robot moving (3, 4)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print(np.rad2deg(np.arctan2(4, 3)))      # 53.13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 algn="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6" name="Image 0" descr="icon.png"/>
          <p:cNvPicPr/>
          <p:nvPr/>
        </p:nvPicPr>
        <p:blipFill>
          <a:blip r:embed="rId3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7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5"/>
          <p:cNvSpPr/>
          <p:nvPr/>
        </p:nvSpPr>
        <p:spPr>
          <a:xfrm>
            <a:off x="1261800" y="777240"/>
            <a:ext cx="9143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Inverse Trig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6"/>
          <p:cNvSpPr/>
          <p:nvPr/>
        </p:nvSpPr>
        <p:spPr>
          <a:xfrm>
            <a:off x="548640" y="14173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then check with Python.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337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8"/>
          <p:cNvSpPr/>
          <p:nvPr/>
        </p:nvSpPr>
        <p:spPr>
          <a:xfrm>
            <a:off x="731520" y="222192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9"/>
          <p:cNvSpPr/>
          <p:nvPr/>
        </p:nvSpPr>
        <p:spPr>
          <a:xfrm>
            <a:off x="731520" y="22219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0"/>
          <p:cNvSpPr/>
          <p:nvPr/>
        </p:nvSpPr>
        <p:spPr>
          <a:xfrm>
            <a:off x="128016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By hand: what angle has cos θ = 0.5?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1337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12"/>
          <p:cNvSpPr/>
          <p:nvPr/>
        </p:nvSpPr>
        <p:spPr>
          <a:xfrm>
            <a:off x="731520" y="318204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13"/>
          <p:cNvSpPr/>
          <p:nvPr/>
        </p:nvSpPr>
        <p:spPr>
          <a:xfrm>
            <a:off x="731520" y="31820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4"/>
          <p:cNvSpPr/>
          <p:nvPr/>
        </p:nvSpPr>
        <p:spPr>
          <a:xfrm>
            <a:off x="128016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Why does atan(1/−1) give −45° but the point (−1, 1) is at 135°?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1337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16"/>
          <p:cNvSpPr/>
          <p:nvPr/>
        </p:nvSpPr>
        <p:spPr>
          <a:xfrm>
            <a:off x="731520" y="414216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17"/>
          <p:cNvSpPr/>
          <p:nvPr/>
        </p:nvSpPr>
        <p:spPr>
          <a:xfrm>
            <a:off x="731520" y="41421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18"/>
          <p:cNvSpPr/>
          <p:nvPr/>
        </p:nvSpPr>
        <p:spPr>
          <a:xfrm>
            <a:off x="128016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Find the heading of (−2, 2) with atan2.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1337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20"/>
          <p:cNvSpPr/>
          <p:nvPr/>
        </p:nvSpPr>
        <p:spPr>
          <a:xfrm>
            <a:off x="731520" y="510228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21"/>
          <p:cNvSpPr/>
          <p:nvPr/>
        </p:nvSpPr>
        <p:spPr>
          <a:xfrm>
            <a:off x="731520" y="51022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22"/>
          <p:cNvSpPr/>
          <p:nvPr/>
        </p:nvSpPr>
        <p:spPr>
          <a:xfrm>
            <a:off x="128016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Python: why must you wrap results in np.rad2deg to read them?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1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2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 algn="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38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3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8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4"/>
          <p:cNvSpPr/>
          <p:nvPr/>
        </p:nvSpPr>
        <p:spPr>
          <a:xfrm>
            <a:off x="640080" y="2743200"/>
            <a:ext cx="100580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Previews: What Comes Next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One slide of awareness for ideas we meet again soon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 algn="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6" name="Image 0" descr="icon.png"/>
          <p:cNvPicPr/>
          <p:nvPr/>
        </p:nvPicPr>
        <p:blipFill>
          <a:blip r:embed="rId3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7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Coming Up Later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3"/>
          <p:cNvSpPr/>
          <p:nvPr/>
        </p:nvSpPr>
        <p:spPr>
          <a:xfrm>
            <a:off x="548640" y="1554480"/>
            <a:ext cx="3520080" cy="2148480"/>
          </a:xfrm>
          <a:prstGeom prst="roundRect">
            <a:avLst>
              <a:gd name="adj" fmla="val 512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4"/>
          <p:cNvSpPr/>
          <p:nvPr/>
        </p:nvSpPr>
        <p:spPr>
          <a:xfrm>
            <a:off x="777240" y="1755720"/>
            <a:ext cx="411120" cy="41112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5"/>
          <p:cNvSpPr/>
          <p:nvPr/>
        </p:nvSpPr>
        <p:spPr>
          <a:xfrm>
            <a:off x="777240" y="175572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6"/>
          <p:cNvSpPr/>
          <p:nvPr/>
        </p:nvSpPr>
        <p:spPr>
          <a:xfrm>
            <a:off x="777240" y="230436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sec, csc &amp; cot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7"/>
          <p:cNvSpPr/>
          <p:nvPr/>
        </p:nvSpPr>
        <p:spPr>
          <a:xfrm>
            <a:off x="777240" y="269748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Reciprocals of cos, sin and tan. Not the secant/tangent lines from Part 5. Seen again in Calculus.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8"/>
          <p:cNvSpPr/>
          <p:nvPr/>
        </p:nvSpPr>
        <p:spPr>
          <a:xfrm>
            <a:off x="4320720" y="1554480"/>
            <a:ext cx="3520080" cy="2148480"/>
          </a:xfrm>
          <a:prstGeom prst="roundRect">
            <a:avLst>
              <a:gd name="adj" fmla="val 512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9"/>
          <p:cNvSpPr/>
          <p:nvPr/>
        </p:nvSpPr>
        <p:spPr>
          <a:xfrm>
            <a:off x="4549320" y="1755720"/>
            <a:ext cx="411120" cy="41112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10"/>
          <p:cNvSpPr/>
          <p:nvPr/>
        </p:nvSpPr>
        <p:spPr>
          <a:xfrm>
            <a:off x="4549320" y="175572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1"/>
          <p:cNvSpPr/>
          <p:nvPr/>
        </p:nvSpPr>
        <p:spPr>
          <a:xfrm>
            <a:off x="4549320" y="230436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Cosine similarity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2"/>
          <p:cNvSpPr/>
          <p:nvPr/>
        </p:nvSpPr>
        <p:spPr>
          <a:xfrm>
            <a:off x="4549320" y="269748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The angle between two embedding vectors — backbone of RAG and search. Taught in Linear Algebra.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13"/>
          <p:cNvSpPr/>
          <p:nvPr/>
        </p:nvSpPr>
        <p:spPr>
          <a:xfrm>
            <a:off x="8092440" y="1554480"/>
            <a:ext cx="3520080" cy="2148480"/>
          </a:xfrm>
          <a:prstGeom prst="roundRect">
            <a:avLst>
              <a:gd name="adj" fmla="val 512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14"/>
          <p:cNvSpPr/>
          <p:nvPr/>
        </p:nvSpPr>
        <p:spPr>
          <a:xfrm>
            <a:off x="8321040" y="1755720"/>
            <a:ext cx="411120" cy="41112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5"/>
          <p:cNvSpPr/>
          <p:nvPr/>
        </p:nvSpPr>
        <p:spPr>
          <a:xfrm>
            <a:off x="8321040" y="175572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16"/>
          <p:cNvSpPr/>
          <p:nvPr/>
        </p:nvSpPr>
        <p:spPr>
          <a:xfrm>
            <a:off x="8321040" y="230436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Rotation matrices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17"/>
          <p:cNvSpPr/>
          <p:nvPr/>
        </p:nvSpPr>
        <p:spPr>
          <a:xfrm>
            <a:off x="8321040" y="269748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Rotating a point by θ uses sin and cos. Taught in Linear Algebra.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18"/>
          <p:cNvSpPr/>
          <p:nvPr/>
        </p:nvSpPr>
        <p:spPr>
          <a:xfrm>
            <a:off x="548640" y="3886200"/>
            <a:ext cx="3520080" cy="2148480"/>
          </a:xfrm>
          <a:prstGeom prst="roundRect">
            <a:avLst>
              <a:gd name="adj" fmla="val 512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19"/>
          <p:cNvSpPr/>
          <p:nvPr/>
        </p:nvSpPr>
        <p:spPr>
          <a:xfrm>
            <a:off x="777240" y="4087440"/>
            <a:ext cx="411120" cy="41112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20"/>
          <p:cNvSpPr/>
          <p:nvPr/>
        </p:nvSpPr>
        <p:spPr>
          <a:xfrm>
            <a:off x="777240" y="408744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21"/>
          <p:cNvSpPr/>
          <p:nvPr/>
        </p:nvSpPr>
        <p:spPr>
          <a:xfrm>
            <a:off x="777240" y="463608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tanh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22"/>
          <p:cNvSpPr/>
          <p:nvPr/>
        </p:nvSpPr>
        <p:spPr>
          <a:xfrm>
            <a:off x="777240" y="502920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An activation function that squashes values to −1…1.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23"/>
          <p:cNvSpPr/>
          <p:nvPr/>
        </p:nvSpPr>
        <p:spPr>
          <a:xfrm>
            <a:off x="4320720" y="3886200"/>
            <a:ext cx="3520080" cy="2148480"/>
          </a:xfrm>
          <a:prstGeom prst="roundRect">
            <a:avLst>
              <a:gd name="adj" fmla="val 512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24"/>
          <p:cNvSpPr/>
          <p:nvPr/>
        </p:nvSpPr>
        <p:spPr>
          <a:xfrm>
            <a:off x="4549320" y="4087440"/>
            <a:ext cx="411120" cy="41112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25"/>
          <p:cNvSpPr/>
          <p:nvPr/>
        </p:nvSpPr>
        <p:spPr>
          <a:xfrm>
            <a:off x="4549320" y="408744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26"/>
          <p:cNvSpPr/>
          <p:nvPr/>
        </p:nvSpPr>
        <p:spPr>
          <a:xfrm>
            <a:off x="4549320" y="463608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Euler’s formula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27"/>
          <p:cNvSpPr/>
          <p:nvPr/>
        </p:nvSpPr>
        <p:spPr>
          <a:xfrm>
            <a:off x="4549320" y="502920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e^(iθ) = cos θ + i sin θ — the bridge to Fourier and RoPE. Just a name for now.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28"/>
          <p:cNvSpPr/>
          <p:nvPr/>
        </p:nvSpPr>
        <p:spPr>
          <a:xfrm>
            <a:off x="8092440" y="3886200"/>
            <a:ext cx="3520080" cy="2148480"/>
          </a:xfrm>
          <a:prstGeom prst="roundRect">
            <a:avLst>
              <a:gd name="adj" fmla="val 512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29"/>
          <p:cNvSpPr/>
          <p:nvPr/>
        </p:nvSpPr>
        <p:spPr>
          <a:xfrm>
            <a:off x="8321040" y="4087440"/>
            <a:ext cx="411120" cy="41112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30"/>
          <p:cNvSpPr/>
          <p:nvPr/>
        </p:nvSpPr>
        <p:spPr>
          <a:xfrm>
            <a:off x="8321040" y="408744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31"/>
          <p:cNvSpPr/>
          <p:nvPr/>
        </p:nvSpPr>
        <p:spPr>
          <a:xfrm>
            <a:off x="8321040" y="463608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Back to NumPy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32"/>
          <p:cNvSpPr/>
          <p:nvPr/>
        </p:nvSpPr>
        <p:spPr>
          <a:xfrm>
            <a:off x="8321040" y="502920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np.sin, np.cos and np.arccos all work in radians, so remember rad2deg.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 algn="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0" name="Image 0" descr="icon.png"/>
          <p:cNvPicPr/>
          <p:nvPr/>
        </p:nvPicPr>
        <p:blipFill>
          <a:blip r:embed="rId3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1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TASKS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5"/>
          <p:cNvSpPr/>
          <p:nvPr/>
        </p:nvSpPr>
        <p:spPr>
          <a:xfrm>
            <a:off x="1261800" y="777240"/>
            <a:ext cx="9143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Task Set — Mixed Practice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6"/>
          <p:cNvSpPr/>
          <p:nvPr/>
        </p:nvSpPr>
        <p:spPr>
          <a:xfrm>
            <a:off x="548640" y="14173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Three small tasks from the whole session.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337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8"/>
          <p:cNvSpPr/>
          <p:nvPr/>
        </p:nvSpPr>
        <p:spPr>
          <a:xfrm>
            <a:off x="731520" y="222192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9"/>
          <p:cNvSpPr/>
          <p:nvPr/>
        </p:nvSpPr>
        <p:spPr>
          <a:xfrm>
            <a:off x="731520" y="22219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10"/>
          <p:cNvSpPr/>
          <p:nvPr/>
        </p:nvSpPr>
        <p:spPr>
          <a:xfrm>
            <a:off x="128016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Convert 150° to radians by hand, then check in NumPy.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1337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12"/>
          <p:cNvSpPr/>
          <p:nvPr/>
        </p:nvSpPr>
        <p:spPr>
          <a:xfrm>
            <a:off x="731520" y="318204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3"/>
          <p:cNvSpPr/>
          <p:nvPr/>
        </p:nvSpPr>
        <p:spPr>
          <a:xfrm>
            <a:off x="731520" y="31820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4"/>
          <p:cNvSpPr/>
          <p:nvPr/>
        </p:nvSpPr>
        <p:spPr>
          <a:xfrm>
            <a:off x="128016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Compute sin, cos and tan of 45° in NumPy. What do you notice about sin and cos?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1337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16"/>
          <p:cNvSpPr/>
          <p:nvPr/>
        </p:nvSpPr>
        <p:spPr>
          <a:xfrm>
            <a:off x="731520" y="414216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17"/>
          <p:cNvSpPr/>
          <p:nvPr/>
        </p:nvSpPr>
        <p:spPr>
          <a:xfrm>
            <a:off x="731520" y="41421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18"/>
          <p:cNvSpPr/>
          <p:nvPr/>
        </p:nvSpPr>
        <p:spPr>
          <a:xfrm>
            <a:off x="128016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Convert polar (r = 2, θ = 60°) to Cartesian and back.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1337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20"/>
          <p:cNvSpPr/>
          <p:nvPr/>
        </p:nvSpPr>
        <p:spPr>
          <a:xfrm>
            <a:off x="731520" y="510228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21"/>
          <p:cNvSpPr/>
          <p:nvPr/>
        </p:nvSpPr>
        <p:spPr>
          <a:xfrm>
            <a:off x="731520" y="51022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22"/>
          <p:cNvSpPr/>
          <p:nvPr/>
        </p:nvSpPr>
        <p:spPr>
          <a:xfrm>
            <a:off x="128016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Use atan2 to find the direction of the point (−3, −3).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 algn="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4" name="Image 0" descr="icon.png"/>
          <p:cNvPicPr/>
          <p:nvPr/>
        </p:nvPicPr>
        <p:blipFill>
          <a:blip r:embed="rId3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5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Mini Project: Angle Between Two Vectors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125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4"/>
          <p:cNvSpPr/>
          <p:nvPr/>
        </p:nvSpPr>
        <p:spPr>
          <a:xfrm>
            <a:off x="731520" y="2103120"/>
            <a:ext cx="2559960" cy="329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Measure how close two word vectors point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5"/>
          <p:cNvSpPr/>
          <p:nvPr/>
        </p:nvSpPr>
        <p:spPr>
          <a:xfrm>
            <a:off x="3749040" y="1737360"/>
            <a:ext cx="3840120" cy="411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Treat a and b as tiny word embeddings.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Compute cos θ = (a·b) / (‖a‖‖b‖) — a·b is the dot product, explained next session.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Use np.arccos for the angle, then np.rad2deg.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Try your own vectors: which pair is closest in angle?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6"/>
          <p:cNvSpPr/>
          <p:nvPr/>
        </p:nvSpPr>
        <p:spPr>
          <a:xfrm>
            <a:off x="7772400" y="1737360"/>
            <a:ext cx="3840120" cy="4023000"/>
          </a:xfrm>
          <a:prstGeom prst="roundRect">
            <a:avLst>
              <a:gd name="adj" fmla="val 285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6"/>
          <p:cNvSpPr/>
          <p:nvPr/>
        </p:nvSpPr>
        <p:spPr>
          <a:xfrm>
            <a:off x="79369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6"/>
          <p:cNvSpPr/>
          <p:nvPr/>
        </p:nvSpPr>
        <p:spPr>
          <a:xfrm>
            <a:off x="81381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6"/>
          <p:cNvSpPr/>
          <p:nvPr/>
        </p:nvSpPr>
        <p:spPr>
          <a:xfrm>
            <a:off x="83394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7"/>
          <p:cNvSpPr/>
          <p:nvPr/>
        </p:nvSpPr>
        <p:spPr>
          <a:xfrm>
            <a:off x="7973640" y="2148840"/>
            <a:ext cx="3437640" cy="346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 = np.array([1, 2, 3])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b = np.array([2, 1, 0])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cos = (a @ b) / (np.linalg.norm(a) * np.linalg.norm(b))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angle = np.rad2deg(np.arccos(cos))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print(cos, angle)   # about 0.478, 61.4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1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2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 algn="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42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3"/>
          <p:cNvSpPr/>
          <p:nvPr/>
        </p:nvSpPr>
        <p:spPr>
          <a:xfrm>
            <a:off x="640080" y="128016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SESSION 23 COMPLETE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4"/>
          <p:cNvSpPr/>
          <p:nvPr/>
        </p:nvSpPr>
        <p:spPr>
          <a:xfrm>
            <a:off x="640080" y="1691640"/>
            <a:ext cx="100580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What You Can Do Now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5"/>
          <p:cNvSpPr/>
          <p:nvPr/>
        </p:nvSpPr>
        <p:spPr>
          <a:xfrm>
            <a:off x="640080" y="2834640"/>
            <a:ext cx="1051524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0E7FF"/>
                </a:solidFill>
                <a:effectLst/>
                <a:uFillTx/>
                <a:latin typeface="Hanken Grotesk"/>
                <a:ea typeface="Hanken Grotesk"/>
              </a:rPr>
              <a:t>Convert degrees and radians, read sin/cos/tan off the unit circle and know their signs in each quadrant, describe a wave by amplitude, period (T = 1/f), frequency and phase, explain how a secant becomes a tangent and why that slope drives gradient descent, use sin²+cos²=1, move between polar and Cartesian, and recover angles with arccos and atan2.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6"/>
          <p:cNvSpPr/>
          <p:nvPr/>
        </p:nvSpPr>
        <p:spPr>
          <a:xfrm>
            <a:off x="640080" y="4937760"/>
            <a:ext cx="103323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Hanken Grotesk"/>
                <a:ea typeface="Hanken Grotesk"/>
              </a:rPr>
              <a:t>Next up — Session 24: Linear Algebra. The dot product, cosine similarity and rotation matrices all start from today.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6926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B1B20"/>
                </a:solidFill>
                <a:latin typeface="Bricolage Grotesque"/>
              </a:rPr>
              <a:t>Radians Explained: Measuring a Turn by the Radius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384120"/>
            <a:ext cx="383760" cy="456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4651"/>
                </a:solidFill>
                <a:latin typeface="Plus Jakarta Sans"/>
              </a:rPr>
              <a:t>CodeByPaxto  ·  AI &amp; ML Playground  ·  Hafiz Waseem Ahmed (Paxto)</a:t>
            </a:r>
          </a:p>
        </p:txBody>
      </p:sp>
      <p:sp>
        <p:nvSpPr>
          <p:cNvPr id="5" name="PAGENUM"/>
          <p:cNvSpPr txBox="1"/>
          <p:nvPr/>
        </p:nvSpPr>
        <p:spPr>
          <a:xfrm>
            <a:off x="11503152" y="647395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74651"/>
                </a:solidFill>
                <a:latin typeface="Plus Jakarta San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463040"/>
            <a:ext cx="566928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120640" cy="10424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0934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093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019"/>
                </a:solidFill>
                <a:latin typeface="Bricolage Grotesq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57276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B20"/>
                </a:solidFill>
                <a:latin typeface="Bricolage Grotesque"/>
              </a:rPr>
              <a:t>Degrees are a human choice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865376"/>
            <a:ext cx="4206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4651"/>
                </a:solidFill>
                <a:latin typeface="Hanken Grotesk"/>
              </a:rPr>
              <a:t>A full turn is 360 because ancient mathematicians liked a number with many divisors. It is a label, not a law of nature.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33472"/>
            <a:ext cx="5120640" cy="10424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77977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7977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019"/>
                </a:solidFill>
                <a:latin typeface="Bricolage Grotesque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74320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B20"/>
                </a:solidFill>
                <a:latin typeface="Bricolage Grotesque"/>
              </a:rPr>
              <a:t>Radians use the circle itself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035808"/>
            <a:ext cx="4206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4651"/>
                </a:solidFill>
                <a:latin typeface="Hanken Grotesk"/>
              </a:rPr>
              <a:t>Walk along the edge for exactly one radius length. The angle you swept is 1 radian (about 57.3°).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03904"/>
            <a:ext cx="5120640" cy="10424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95020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5020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019"/>
                </a:solidFill>
                <a:latin typeface="Bricolage Grotesque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91363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B20"/>
                </a:solidFill>
                <a:latin typeface="Bricolage Grotesque"/>
              </a:rPr>
              <a:t>So a full turn is 2π radians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206240"/>
            <a:ext cx="4206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4651"/>
                </a:solidFill>
                <a:latin typeface="Hanken Grotesk"/>
              </a:rPr>
              <a:t>The edge of a circle is 2π radii long (π ≈ 3.14159). So 360° = 2π, and 180° = π.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974336"/>
            <a:ext cx="5120640" cy="10424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512064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206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019"/>
                </a:solidFill>
                <a:latin typeface="Bricolage Grotesque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08406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B20"/>
                </a:solidFill>
                <a:latin typeface="Bricolage Grotesque"/>
              </a:rPr>
              <a:t>Code speaks radians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376672"/>
            <a:ext cx="4206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4651"/>
                </a:solidFill>
                <a:latin typeface="Hanken Grotesk"/>
              </a:rPr>
              <a:t>np.sin, np.cos, PyTorch and OpenCV all expect radians. Convert with np.deg2rad(x) before calling them.</a:t>
            </a:r>
          </a:p>
        </p:txBody>
      </p:sp>
      <p:sp>
        <p:nvSpPr>
          <p:cNvPr id="27" name="Oval 26"/>
          <p:cNvSpPr/>
          <p:nvPr/>
        </p:nvSpPr>
        <p:spPr>
          <a:xfrm>
            <a:off x="7223759" y="1874519"/>
            <a:ext cx="3108960" cy="3108960"/>
          </a:xfrm>
          <a:prstGeom prst="ellipse">
            <a:avLst/>
          </a:prstGeom>
          <a:solidFill>
            <a:srgbClr val="F1F5F9"/>
          </a:solidFill>
          <a:ln w="25400">
            <a:solidFill>
              <a:srgbClr val="575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8778240" y="3429000"/>
            <a:ext cx="1554479" cy="0"/>
          </a:xfrm>
          <a:prstGeom prst="line">
            <a:avLst/>
          </a:prstGeom>
          <a:ln w="31750">
            <a:solidFill>
              <a:srgbClr val="1B1B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778240" y="2120888"/>
            <a:ext cx="839792" cy="1308112"/>
          </a:xfrm>
          <a:prstGeom prst="line">
            <a:avLst/>
          </a:prstGeom>
          <a:ln w="31750">
            <a:solidFill>
              <a:srgbClr val="1B1B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reeform 29"/>
          <p:cNvSpPr/>
          <p:nvPr/>
        </p:nvSpPr>
        <p:spPr>
          <a:xfrm>
            <a:off x="9618032" y="2120888"/>
            <a:ext cx="714687" cy="1308112"/>
          </a:xfrm>
          <a:custGeom>
            <a:avLst/>
            <a:gdLst/>
            <a:ahLst/>
            <a:cxnLst/>
            <a:rect l="l" t="t" r="r" b="b"/>
            <a:pathLst>
              <a:path w="714687" h="1308112">
                <a:moveTo>
                  <a:pt x="714687" y="1308112"/>
                </a:moveTo>
                <a:lnTo>
                  <a:pt x="714202" y="1269251"/>
                </a:lnTo>
                <a:lnTo>
                  <a:pt x="712745" y="1230414"/>
                </a:lnTo>
                <a:lnTo>
                  <a:pt x="710317" y="1191626"/>
                </a:lnTo>
                <a:lnTo>
                  <a:pt x="706920" y="1152911"/>
                </a:lnTo>
                <a:lnTo>
                  <a:pt x="702557" y="1114293"/>
                </a:lnTo>
                <a:lnTo>
                  <a:pt x="697230" y="1075796"/>
                </a:lnTo>
                <a:lnTo>
                  <a:pt x="690942" y="1037444"/>
                </a:lnTo>
                <a:lnTo>
                  <a:pt x="683697" y="999262"/>
                </a:lnTo>
                <a:lnTo>
                  <a:pt x="675500" y="961272"/>
                </a:lnTo>
                <a:lnTo>
                  <a:pt x="666355" y="923499"/>
                </a:lnTo>
                <a:lnTo>
                  <a:pt x="656270" y="885967"/>
                </a:lnTo>
                <a:lnTo>
                  <a:pt x="645249" y="848698"/>
                </a:lnTo>
                <a:lnTo>
                  <a:pt x="633300" y="811717"/>
                </a:lnTo>
                <a:lnTo>
                  <a:pt x="620430" y="775046"/>
                </a:lnTo>
                <a:lnTo>
                  <a:pt x="606647" y="738708"/>
                </a:lnTo>
                <a:lnTo>
                  <a:pt x="591961" y="702726"/>
                </a:lnTo>
                <a:lnTo>
                  <a:pt x="576379" y="667123"/>
                </a:lnTo>
                <a:lnTo>
                  <a:pt x="559912" y="631920"/>
                </a:lnTo>
                <a:lnTo>
                  <a:pt x="542570" y="597140"/>
                </a:lnTo>
                <a:lnTo>
                  <a:pt x="524365" y="562804"/>
                </a:lnTo>
                <a:lnTo>
                  <a:pt x="505306" y="528934"/>
                </a:lnTo>
                <a:lnTo>
                  <a:pt x="485407" y="495551"/>
                </a:lnTo>
                <a:lnTo>
                  <a:pt x="464679" y="462676"/>
                </a:lnTo>
                <a:lnTo>
                  <a:pt x="443136" y="430329"/>
                </a:lnTo>
                <a:lnTo>
                  <a:pt x="420792" y="398531"/>
                </a:lnTo>
                <a:lnTo>
                  <a:pt x="397659" y="367302"/>
                </a:lnTo>
                <a:lnTo>
                  <a:pt x="373753" y="336661"/>
                </a:lnTo>
                <a:lnTo>
                  <a:pt x="349088" y="306627"/>
                </a:lnTo>
                <a:lnTo>
                  <a:pt x="323680" y="277219"/>
                </a:lnTo>
                <a:lnTo>
                  <a:pt x="297545" y="248455"/>
                </a:lnTo>
                <a:lnTo>
                  <a:pt x="270699" y="220353"/>
                </a:lnTo>
                <a:lnTo>
                  <a:pt x="243158" y="192932"/>
                </a:lnTo>
                <a:lnTo>
                  <a:pt x="214941" y="166208"/>
                </a:lnTo>
                <a:lnTo>
                  <a:pt x="186065" y="140197"/>
                </a:lnTo>
                <a:lnTo>
                  <a:pt x="156547" y="114916"/>
                </a:lnTo>
                <a:lnTo>
                  <a:pt x="126407" y="90381"/>
                </a:lnTo>
                <a:lnTo>
                  <a:pt x="95663" y="66608"/>
                </a:lnTo>
                <a:lnTo>
                  <a:pt x="64334" y="43610"/>
                </a:lnTo>
                <a:lnTo>
                  <a:pt x="32440" y="21403"/>
                </a:lnTo>
                <a:lnTo>
                  <a:pt x="0" y="0"/>
                </a:lnTo>
              </a:path>
            </a:pathLst>
          </a:custGeom>
          <a:noFill/>
          <a:ln w="7620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23376" y="3374136"/>
            <a:ext cx="109728" cy="109728"/>
          </a:xfrm>
          <a:prstGeom prst="ellipse">
            <a:avLst/>
          </a:prstGeom>
          <a:solidFill>
            <a:srgbClr val="1B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98280" y="34747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1B20"/>
                </a:solidFill>
                <a:latin typeface="Hanken Grotesk"/>
              </a:rPr>
              <a:t>radius 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19" y="25603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1B20"/>
                </a:solidFill>
                <a:latin typeface="Hanken Grotesk"/>
              </a:rPr>
              <a:t>radius 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54996" y="2574036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43F5E"/>
                </a:solidFill>
                <a:latin typeface="Hanken Grotesk"/>
              </a:rPr>
              <a:t>arc = r</a:t>
            </a:r>
          </a:p>
          <a:p>
            <a:pPr algn="l"/>
            <a:r>
              <a:rPr sz="1100" b="1">
                <a:solidFill>
                  <a:srgbClr val="F43F5E"/>
                </a:solidFill>
                <a:latin typeface="Hanken Grotesk"/>
              </a:rPr>
              <a:t>(rose line)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3081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755A7"/>
                </a:solidFill>
                <a:latin typeface="Hanken Grotesk"/>
              </a:rPr>
              <a:t>1 rad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16002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B1B20"/>
                </a:solidFill>
                <a:latin typeface="Bricolage Grotesque"/>
              </a:rPr>
              <a:t>One radian: the arc is exactly as long as the radius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5257800"/>
            <a:ext cx="1645920" cy="50292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525780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31F71"/>
                </a:solidFill>
                <a:latin typeface="Plus Jakarta Sans"/>
              </a:rPr>
              <a:t>90° = π/2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01000" y="5257800"/>
            <a:ext cx="1645920" cy="502920"/>
          </a:xfrm>
          <a:prstGeom prst="roundRect">
            <a:avLst>
              <a:gd name="adj" fmla="val 50000"/>
            </a:avLst>
          </a:prstGeom>
          <a:solidFill>
            <a:srgbClr val="F9C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01000" y="525780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31F71"/>
                </a:solidFill>
                <a:latin typeface="Plus Jakarta Sans"/>
              </a:rPr>
              <a:t>180° = π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784080" y="5257800"/>
            <a:ext cx="1645920" cy="50292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84080" y="525780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31F71"/>
                </a:solidFill>
                <a:latin typeface="Plus Jakarta Sans"/>
              </a:rPr>
              <a:t>360° = 2π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6926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B1B20"/>
                </a:solidFill>
                <a:latin typeface="Bricolage Grotesque"/>
              </a:rPr>
              <a:t>Right Triangles: Naming the Sides (SOH-CAH-TOA)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384120"/>
            <a:ext cx="383760" cy="456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4651"/>
                </a:solidFill>
                <a:latin typeface="Plus Jakarta Sans"/>
              </a:rPr>
              <a:t>CodeByPaxto  ·  AI &amp; ML Playground  ·  Hafiz Waseem Ahmed (Paxto)</a:t>
            </a:r>
          </a:p>
        </p:txBody>
      </p:sp>
      <p:sp>
        <p:nvSpPr>
          <p:cNvPr id="5" name="PAGENUM"/>
          <p:cNvSpPr txBox="1"/>
          <p:nvPr/>
        </p:nvSpPr>
        <p:spPr>
          <a:xfrm>
            <a:off x="11503152" y="647395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74651"/>
                </a:solidFill>
                <a:latin typeface="Plus Jakarta San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463040"/>
            <a:ext cx="566928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120640" cy="10424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0934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093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019"/>
                </a:solidFill>
                <a:latin typeface="Bricolage Grotesq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57276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B20"/>
                </a:solidFill>
                <a:latin typeface="Bricolage Grotesque"/>
              </a:rPr>
              <a:t>Pick your angle θ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865376"/>
            <a:ext cx="4206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4651"/>
                </a:solidFill>
                <a:latin typeface="Hanken Grotesk"/>
              </a:rPr>
              <a:t>Everything depends on which corner you stand in. Opposite means across from θ, adjacent means next to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33472"/>
            <a:ext cx="5120640" cy="10424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77977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7977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019"/>
                </a:solidFill>
                <a:latin typeface="Bricolage Grotesque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74320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B20"/>
                </a:solidFill>
                <a:latin typeface="Bricolage Grotesque"/>
              </a:rPr>
              <a:t>Hypotenuse never changes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035808"/>
            <a:ext cx="4206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4651"/>
                </a:solidFill>
                <a:latin typeface="Hanken Grotesk"/>
              </a:rPr>
              <a:t>It is always the longest side, the one facing the 90° corner. Opposite and adjacent swap if you pick the other angle.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03904"/>
            <a:ext cx="5120640" cy="10424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95020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5020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019"/>
                </a:solidFill>
                <a:latin typeface="Bricolage Grotesque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91363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B20"/>
                </a:solidFill>
                <a:latin typeface="Bricolage Grotesque"/>
              </a:rPr>
              <a:t>Three ratios, three names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206240"/>
            <a:ext cx="4206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4651"/>
                </a:solidFill>
                <a:latin typeface="Hanken Grotesk"/>
              </a:rPr>
              <a:t>sin θ = Opp/Hyp, cos θ = Adj/Hyp, tan θ = Opp/Adj. Memory trick: SOH-CAH-TOA.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974336"/>
            <a:ext cx="5120640" cy="10424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512064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206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019"/>
                </a:solidFill>
                <a:latin typeface="Bricolage Grotesque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08406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B20"/>
                </a:solidFill>
                <a:latin typeface="Bricolage Grotesque"/>
              </a:rPr>
              <a:t>Why it matters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376672"/>
            <a:ext cx="4206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4651"/>
                </a:solidFill>
                <a:latin typeface="Hanken Grotesk"/>
              </a:rPr>
              <a:t>Know one angle and one side, and these ratios give you every other side. Sunlight and shadows work the same way.</a:t>
            </a:r>
          </a:p>
        </p:txBody>
      </p:sp>
      <p:sp>
        <p:nvSpPr>
          <p:cNvPr id="27" name="Freeform 26"/>
          <p:cNvSpPr/>
          <p:nvPr/>
        </p:nvSpPr>
        <p:spPr>
          <a:xfrm>
            <a:off x="6583680" y="2377440"/>
            <a:ext cx="3931920" cy="2194560"/>
          </a:xfrm>
          <a:custGeom>
            <a:avLst/>
            <a:gdLst/>
            <a:ahLst/>
            <a:cxnLst/>
            <a:rect l="l" t="t" r="r" b="b"/>
            <a:pathLst>
              <a:path w="3931920" h="2194560">
                <a:moveTo>
                  <a:pt x="0" y="2194560"/>
                </a:moveTo>
                <a:lnTo>
                  <a:pt x="3931920" y="2194560"/>
                </a:lnTo>
                <a:lnTo>
                  <a:pt x="3931920" y="0"/>
                </a:lnTo>
                <a:lnTo>
                  <a:pt x="0" y="2194560"/>
                </a:lnTo>
                <a:close/>
              </a:path>
            </a:pathLst>
          </a:custGeom>
          <a:noFill/>
          <a:ln w="50800">
            <a:solidFill>
              <a:srgbClr val="575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10241280" y="429768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0" y="274320"/>
                </a:moveTo>
                <a:lnTo>
                  <a:pt x="0" y="0"/>
                </a:lnTo>
                <a:lnTo>
                  <a:pt x="274320" y="0"/>
                </a:lnTo>
              </a:path>
            </a:pathLst>
          </a:custGeom>
          <a:noFill/>
          <a:ln w="19050">
            <a:solidFill>
              <a:srgbClr val="1B1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7182518" y="4237764"/>
            <a:ext cx="86962" cy="334236"/>
          </a:xfrm>
          <a:custGeom>
            <a:avLst/>
            <a:gdLst/>
            <a:ahLst/>
            <a:cxnLst/>
            <a:rect l="l" t="t" r="r" b="b"/>
            <a:pathLst>
              <a:path w="86962" h="334236">
                <a:moveTo>
                  <a:pt x="86962" y="334236"/>
                </a:moveTo>
                <a:lnTo>
                  <a:pt x="86906" y="325508"/>
                </a:lnTo>
                <a:lnTo>
                  <a:pt x="86739" y="316781"/>
                </a:lnTo>
                <a:lnTo>
                  <a:pt x="86462" y="308058"/>
                </a:lnTo>
                <a:lnTo>
                  <a:pt x="86073" y="299338"/>
                </a:lnTo>
                <a:lnTo>
                  <a:pt x="85573" y="290625"/>
                </a:lnTo>
                <a:lnTo>
                  <a:pt x="84963" y="281918"/>
                </a:lnTo>
                <a:lnTo>
                  <a:pt x="84242" y="273220"/>
                </a:lnTo>
                <a:lnTo>
                  <a:pt x="83410" y="264532"/>
                </a:lnTo>
                <a:lnTo>
                  <a:pt x="82468" y="255855"/>
                </a:lnTo>
                <a:lnTo>
                  <a:pt x="81415" y="247191"/>
                </a:lnTo>
                <a:lnTo>
                  <a:pt x="80252" y="238541"/>
                </a:lnTo>
                <a:lnTo>
                  <a:pt x="78979" y="229906"/>
                </a:lnTo>
                <a:lnTo>
                  <a:pt x="77597" y="221288"/>
                </a:lnTo>
                <a:lnTo>
                  <a:pt x="76104" y="212689"/>
                </a:lnTo>
                <a:lnTo>
                  <a:pt x="74503" y="204109"/>
                </a:lnTo>
                <a:lnTo>
                  <a:pt x="72792" y="195550"/>
                </a:lnTo>
                <a:lnTo>
                  <a:pt x="70973" y="187014"/>
                </a:lnTo>
                <a:lnTo>
                  <a:pt x="69045" y="178502"/>
                </a:lnTo>
                <a:lnTo>
                  <a:pt x="67009" y="170014"/>
                </a:lnTo>
                <a:lnTo>
                  <a:pt x="64865" y="161554"/>
                </a:lnTo>
                <a:lnTo>
                  <a:pt x="62614" y="153121"/>
                </a:lnTo>
                <a:lnTo>
                  <a:pt x="60255" y="144718"/>
                </a:lnTo>
                <a:lnTo>
                  <a:pt x="57790" y="136345"/>
                </a:lnTo>
                <a:lnTo>
                  <a:pt x="55219" y="128005"/>
                </a:lnTo>
                <a:lnTo>
                  <a:pt x="52541" y="119698"/>
                </a:lnTo>
                <a:lnTo>
                  <a:pt x="49758" y="111426"/>
                </a:lnTo>
                <a:lnTo>
                  <a:pt x="46870" y="103189"/>
                </a:lnTo>
                <a:lnTo>
                  <a:pt x="43877" y="94990"/>
                </a:lnTo>
                <a:lnTo>
                  <a:pt x="40780" y="86830"/>
                </a:lnTo>
                <a:lnTo>
                  <a:pt x="37580" y="78710"/>
                </a:lnTo>
                <a:lnTo>
                  <a:pt x="34277" y="70632"/>
                </a:lnTo>
                <a:lnTo>
                  <a:pt x="30871" y="62596"/>
                </a:lnTo>
                <a:lnTo>
                  <a:pt x="27363" y="54604"/>
                </a:lnTo>
                <a:lnTo>
                  <a:pt x="23753" y="46657"/>
                </a:lnTo>
                <a:lnTo>
                  <a:pt x="20043" y="38757"/>
                </a:lnTo>
                <a:lnTo>
                  <a:pt x="16232" y="30905"/>
                </a:lnTo>
                <a:lnTo>
                  <a:pt x="12322" y="23102"/>
                </a:lnTo>
                <a:lnTo>
                  <a:pt x="8313" y="15349"/>
                </a:lnTo>
                <a:lnTo>
                  <a:pt x="4206" y="7648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60920" y="41605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43F5E"/>
                </a:solidFill>
                <a:latin typeface="Bricolage Grotesque"/>
              </a:rPr>
              <a:t>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6634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F766E"/>
                </a:solidFill>
                <a:latin typeface="Hanken Grotesk"/>
              </a:rPr>
              <a:t>Adjacent (next to θ)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329184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43F5E"/>
                </a:solidFill>
                <a:latin typeface="Hanken Grotesk"/>
              </a:rPr>
              <a:t>Opposite</a:t>
            </a:r>
          </a:p>
          <a:p>
            <a:pPr algn="l"/>
            <a:r>
              <a:rPr sz="1100" b="1">
                <a:solidFill>
                  <a:srgbClr val="F43F5E"/>
                </a:solidFill>
                <a:latin typeface="Hanken Grotesk"/>
              </a:rPr>
              <a:t>(across)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29718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755A7"/>
                </a:solidFill>
                <a:latin typeface="Hanken Grotesk"/>
              </a:rPr>
              <a:t>Hypotenuse (longest)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80760" y="5349240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80760" y="534924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31F71"/>
                </a:solidFill>
                <a:latin typeface="Plus Jakarta Sans"/>
              </a:rPr>
              <a:t>sin θ = Opp / Hyp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09560" y="5349240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F9C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09560" y="534924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31F71"/>
                </a:solidFill>
                <a:latin typeface="Plus Jakarta Sans"/>
              </a:rPr>
              <a:t>cos θ = Adj / Hyp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38360" y="5349240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38360" y="534924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31F71"/>
                </a:solidFill>
                <a:latin typeface="Plus Jakarta Sans"/>
              </a:rPr>
              <a:t>tan θ = Opp / Adj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6926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B1B20"/>
                </a:solidFill>
                <a:latin typeface="Bricolage Grotesque"/>
              </a:rPr>
              <a:t>The Unit Circle: Where Sine and Cosine Come From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384120"/>
            <a:ext cx="383760" cy="456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4651"/>
                </a:solidFill>
                <a:latin typeface="Plus Jakarta Sans"/>
              </a:rPr>
              <a:t>CodeByPaxto  ·  AI &amp; ML Playground  ·  Hafiz Waseem Ahmed (Paxto)</a:t>
            </a:r>
          </a:p>
        </p:txBody>
      </p:sp>
      <p:sp>
        <p:nvSpPr>
          <p:cNvPr id="5" name="PAGENUM"/>
          <p:cNvSpPr txBox="1"/>
          <p:nvPr/>
        </p:nvSpPr>
        <p:spPr>
          <a:xfrm>
            <a:off x="11503152" y="647395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74651"/>
                </a:solidFill>
                <a:latin typeface="Plus Jakarta Sans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463040"/>
            <a:ext cx="566928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120640" cy="10424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0934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093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019"/>
                </a:solidFill>
                <a:latin typeface="Bricolage Grotesq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57276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B20"/>
                </a:solidFill>
                <a:latin typeface="Bricolage Grotesque"/>
              </a:rPr>
              <a:t>Draw a circle of radius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865376"/>
            <a:ext cx="4206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4651"/>
                </a:solidFill>
                <a:latin typeface="Hanken Grotesk"/>
              </a:rPr>
              <a:t>Put its centre at (0, 0). Every point on the edge is a position you can reach by turning some angle θ from the right-hand side.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33472"/>
            <a:ext cx="5120640" cy="10424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77977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7977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019"/>
                </a:solidFill>
                <a:latin typeface="Bricolage Grotesque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74320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B20"/>
                </a:solidFill>
                <a:latin typeface="Bricolage Grotesque"/>
              </a:rPr>
              <a:t>Turn by θ and land on 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035808"/>
            <a:ext cx="4206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4651"/>
                </a:solidFill>
                <a:latin typeface="Hanken Grotesk"/>
              </a:rPr>
              <a:t>P is the point you arrive at. Its x-coordinate is cos θ and its y-coordinate is sin θ. That is the whole definition.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03904"/>
            <a:ext cx="5120640" cy="10424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95020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5020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019"/>
                </a:solidFill>
                <a:latin typeface="Bricolage Grotesque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91363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B20"/>
                </a:solidFill>
                <a:latin typeface="Bricolage Grotesque"/>
              </a:rPr>
              <a:t>The triangle hides inside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206240"/>
            <a:ext cx="4206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4651"/>
                </a:solidFill>
                <a:latin typeface="Hanken Grotesk"/>
              </a:rPr>
              <a:t>Drop a line from P to the x-axis. The hypotenuse is 1, so Adj/1 = cos θ and Opp/1 = sin θ.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974336"/>
            <a:ext cx="5120640" cy="10424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512064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206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019"/>
                </a:solidFill>
                <a:latin typeface="Bricolage Grotesque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08406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B20"/>
                </a:solidFill>
                <a:latin typeface="Bricolage Grotesque"/>
              </a:rPr>
              <a:t>Values live between −1 and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376672"/>
            <a:ext cx="4206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4651"/>
                </a:solidFill>
                <a:latin typeface="Hanken Grotesk"/>
              </a:rPr>
              <a:t>Since the radius is 1, x and y can never be larger than 1. That is why sine and cosine always stay in [−1, 1].</a:t>
            </a:r>
          </a:p>
        </p:txBody>
      </p:sp>
      <p:sp>
        <p:nvSpPr>
          <p:cNvPr id="27" name="Oval 26"/>
          <p:cNvSpPr/>
          <p:nvPr/>
        </p:nvSpPr>
        <p:spPr>
          <a:xfrm>
            <a:off x="7040879" y="1874520"/>
            <a:ext cx="3474720" cy="3474720"/>
          </a:xfrm>
          <a:prstGeom prst="ellipse">
            <a:avLst/>
          </a:prstGeom>
          <a:solidFill>
            <a:srgbClr val="F1F5F9"/>
          </a:solidFill>
          <a:ln w="25400">
            <a:solidFill>
              <a:srgbClr val="575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6903720" y="3611880"/>
            <a:ext cx="3749039" cy="0"/>
          </a:xfrm>
          <a:prstGeom prst="line">
            <a:avLst/>
          </a:prstGeom>
          <a:ln w="12700">
            <a:solidFill>
              <a:srgbClr val="4746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778240" y="1737360"/>
            <a:ext cx="0" cy="3749040"/>
          </a:xfrm>
          <a:prstGeom prst="line">
            <a:avLst/>
          </a:prstGeom>
          <a:ln w="12700">
            <a:solidFill>
              <a:srgbClr val="4746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778240" y="3611880"/>
            <a:ext cx="1330894" cy="0"/>
          </a:xfrm>
          <a:prstGeom prst="line">
            <a:avLst/>
          </a:prstGeom>
          <a:ln w="635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0109134" y="2495126"/>
            <a:ext cx="0" cy="1116754"/>
          </a:xfrm>
          <a:prstGeom prst="line">
            <a:avLst/>
          </a:prstGeom>
          <a:ln w="63500">
            <a:solidFill>
              <a:srgbClr val="F43F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778240" y="2495126"/>
            <a:ext cx="1330894" cy="1116754"/>
          </a:xfrm>
          <a:prstGeom prst="line">
            <a:avLst/>
          </a:prstGeom>
          <a:ln w="38100">
            <a:solidFill>
              <a:srgbClr val="5755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reeform 32"/>
          <p:cNvSpPr/>
          <p:nvPr/>
        </p:nvSpPr>
        <p:spPr>
          <a:xfrm>
            <a:off x="9163499" y="3288609"/>
            <a:ext cx="117661" cy="323271"/>
          </a:xfrm>
          <a:custGeom>
            <a:avLst/>
            <a:gdLst/>
            <a:ahLst/>
            <a:cxnLst/>
            <a:rect l="l" t="t" r="r" b="b"/>
            <a:pathLst>
              <a:path w="117661" h="323271">
                <a:moveTo>
                  <a:pt x="117661" y="323271"/>
                </a:moveTo>
                <a:lnTo>
                  <a:pt x="117584" y="314493"/>
                </a:lnTo>
                <a:lnTo>
                  <a:pt x="117354" y="305719"/>
                </a:lnTo>
                <a:lnTo>
                  <a:pt x="116971" y="296950"/>
                </a:lnTo>
                <a:lnTo>
                  <a:pt x="116435" y="288189"/>
                </a:lnTo>
                <a:lnTo>
                  <a:pt x="115747" y="279438"/>
                </a:lnTo>
                <a:lnTo>
                  <a:pt x="114905" y="270701"/>
                </a:lnTo>
                <a:lnTo>
                  <a:pt x="113912" y="261980"/>
                </a:lnTo>
                <a:lnTo>
                  <a:pt x="112766" y="253278"/>
                </a:lnTo>
                <a:lnTo>
                  <a:pt x="111469" y="244596"/>
                </a:lnTo>
                <a:lnTo>
                  <a:pt x="110020" y="235939"/>
                </a:lnTo>
                <a:lnTo>
                  <a:pt x="108420" y="227309"/>
                </a:lnTo>
                <a:lnTo>
                  <a:pt x="106670" y="218708"/>
                </a:lnTo>
                <a:lnTo>
                  <a:pt x="104771" y="210138"/>
                </a:lnTo>
                <a:lnTo>
                  <a:pt x="102722" y="201603"/>
                </a:lnTo>
                <a:lnTo>
                  <a:pt x="100524" y="193105"/>
                </a:lnTo>
                <a:lnTo>
                  <a:pt x="98178" y="184647"/>
                </a:lnTo>
                <a:lnTo>
                  <a:pt x="95685" y="176231"/>
                </a:lnTo>
                <a:lnTo>
                  <a:pt x="93046" y="167860"/>
                </a:lnTo>
                <a:lnTo>
                  <a:pt x="90261" y="159536"/>
                </a:lnTo>
                <a:lnTo>
                  <a:pt x="87331" y="151262"/>
                </a:lnTo>
                <a:lnTo>
                  <a:pt x="84257" y="143040"/>
                </a:lnTo>
                <a:lnTo>
                  <a:pt x="81040" y="134873"/>
                </a:lnTo>
                <a:lnTo>
                  <a:pt x="77681" y="126764"/>
                </a:lnTo>
                <a:lnTo>
                  <a:pt x="74181" y="118715"/>
                </a:lnTo>
                <a:lnTo>
                  <a:pt x="70541" y="110727"/>
                </a:lnTo>
                <a:lnTo>
                  <a:pt x="66762" y="102805"/>
                </a:lnTo>
                <a:lnTo>
                  <a:pt x="62846" y="94950"/>
                </a:lnTo>
                <a:lnTo>
                  <a:pt x="58793" y="87164"/>
                </a:lnTo>
                <a:lnTo>
                  <a:pt x="54604" y="79450"/>
                </a:lnTo>
                <a:lnTo>
                  <a:pt x="50282" y="71811"/>
                </a:lnTo>
                <a:lnTo>
                  <a:pt x="45827" y="64248"/>
                </a:lnTo>
                <a:lnTo>
                  <a:pt x="41241" y="56764"/>
                </a:lnTo>
                <a:lnTo>
                  <a:pt x="36525" y="49361"/>
                </a:lnTo>
                <a:lnTo>
                  <a:pt x="31680" y="42041"/>
                </a:lnTo>
                <a:lnTo>
                  <a:pt x="26708" y="34807"/>
                </a:lnTo>
                <a:lnTo>
                  <a:pt x="21611" y="27662"/>
                </a:lnTo>
                <a:lnTo>
                  <a:pt x="16390" y="20606"/>
                </a:lnTo>
                <a:lnTo>
                  <a:pt x="11047" y="13642"/>
                </a:lnTo>
                <a:lnTo>
                  <a:pt x="5583" y="6773"/>
                </a:lnTo>
                <a:lnTo>
                  <a:pt x="0" y="0"/>
                </a:lnTo>
              </a:path>
            </a:pathLst>
          </a:custGeom>
          <a:noFill/>
          <a:ln w="25400">
            <a:solidFill>
              <a:srgbClr val="1B1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026838" y="2412830"/>
            <a:ext cx="164592" cy="164592"/>
          </a:xfrm>
          <a:prstGeom prst="ellipse">
            <a:avLst/>
          </a:prstGeom>
          <a:solidFill>
            <a:srgbClr val="5755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72600" y="32918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1B20"/>
                </a:solidFill>
                <a:latin typeface="Bricolage Grotesque"/>
              </a:rPr>
              <a:t>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36850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Hanken Grotesk"/>
              </a:rPr>
              <a:t>cos 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73726" y="2971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43F5E"/>
                </a:solidFill>
                <a:latin typeface="Hanken Grotesk"/>
              </a:rPr>
              <a:t>sin 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00574" y="211107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755A7"/>
                </a:solidFill>
                <a:latin typeface="Hanken Grotesk"/>
              </a:rPr>
              <a:t>P (cos θ, sin θ)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2697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755A7"/>
                </a:solidFill>
                <a:latin typeface="Hanken Grotesk"/>
              </a:rPr>
              <a:t>radius =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16768" y="350215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474651"/>
                </a:solidFill>
                <a:latin typeface="Hanken Grotesk"/>
              </a:rPr>
              <a:t>(1, 0)  0°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89320" y="350215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474651"/>
                </a:solidFill>
                <a:latin typeface="Hanken Grotesk"/>
              </a:rPr>
              <a:t>(−1, 0) 180°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153619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474651"/>
                </a:solidFill>
                <a:latin typeface="Hanken Grotesk"/>
              </a:rPr>
              <a:t>(0, 1)  90°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574243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474651"/>
                </a:solidFill>
                <a:latin typeface="Hanken Grotesk"/>
              </a:rPr>
              <a:t>(0, −1) 270°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6926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B1B20"/>
                </a:solidFill>
                <a:latin typeface="Bricolage Grotesque"/>
              </a:rPr>
              <a:t>Sine Waves: Amplitude, Frequency and Phase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384120"/>
            <a:ext cx="383760" cy="456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4651"/>
                </a:solidFill>
                <a:latin typeface="Plus Jakarta Sans"/>
              </a:rPr>
              <a:t>CodeByPaxto  ·  AI &amp; ML Playground  ·  Hafiz Waseem Ahmed (Paxto)</a:t>
            </a:r>
          </a:p>
        </p:txBody>
      </p:sp>
      <p:sp>
        <p:nvSpPr>
          <p:cNvPr id="5" name="PAGENUM"/>
          <p:cNvSpPr txBox="1"/>
          <p:nvPr/>
        </p:nvSpPr>
        <p:spPr>
          <a:xfrm>
            <a:off x="11503152" y="647395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74651"/>
                </a:solidFill>
                <a:latin typeface="Plus Jakarta Sans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463040"/>
            <a:ext cx="566928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120640" cy="10424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0934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093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019"/>
                </a:solidFill>
                <a:latin typeface="Bricolage Grotesq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57276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B20"/>
                </a:solidFill>
                <a:latin typeface="Bricolage Grotesque"/>
              </a:rPr>
              <a:t>Unroll the circle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865376"/>
            <a:ext cx="4206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4651"/>
                </a:solidFill>
                <a:latin typeface="Hanken Grotesk"/>
              </a:rPr>
              <a:t>Spin around the unit circle and plot the height (sin θ) against time. The circle becomes a smooth, repeating wave.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33472"/>
            <a:ext cx="5120640" cy="10424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77977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7977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019"/>
                </a:solidFill>
                <a:latin typeface="Bricolage Grotesque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74320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B20"/>
                </a:solidFill>
                <a:latin typeface="Bricolage Grotesque"/>
              </a:rPr>
              <a:t>Amplitude A = how tall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035808"/>
            <a:ext cx="4206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4651"/>
                </a:solidFill>
                <a:latin typeface="Hanken Grotesk"/>
              </a:rPr>
              <a:t>The distance from the middle line to a peak. Louder sound = bigger A. In y = A·sin(...), A just scales the wave.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03904"/>
            <a:ext cx="5120640" cy="10424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95020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5020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019"/>
                </a:solidFill>
                <a:latin typeface="Bricolage Grotesque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91363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B20"/>
                </a:solidFill>
                <a:latin typeface="Bricolage Grotesque"/>
              </a:rPr>
              <a:t>Frequency f = how fast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206240"/>
            <a:ext cx="4206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4651"/>
                </a:solidFill>
                <a:latin typeface="Hanken Grotesk"/>
              </a:rPr>
              <a:t>Number of full cycles per second (Hz). One cycle takes T = 1/f seconds. Higher f = higher pitch.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974336"/>
            <a:ext cx="5120640" cy="10424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512064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206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019"/>
                </a:solidFill>
                <a:latin typeface="Bricolage Grotesque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08406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B20"/>
                </a:solidFill>
                <a:latin typeface="Bricolage Grotesque"/>
              </a:rPr>
              <a:t>Phase φ = where it starts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376672"/>
            <a:ext cx="4206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4651"/>
                </a:solidFill>
                <a:latin typeface="Hanken Grotesk"/>
              </a:rPr>
              <a:t>A shift left or right. Same wave, different starting point. Transformers use this to tag word positions.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0" y="3657600"/>
            <a:ext cx="5029200" cy="0"/>
          </a:xfrm>
          <a:prstGeom prst="line">
            <a:avLst/>
          </a:prstGeom>
          <a:ln w="12700">
            <a:solidFill>
              <a:srgbClr val="4746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400800" y="2194560"/>
            <a:ext cx="0" cy="2926080"/>
          </a:xfrm>
          <a:prstGeom prst="line">
            <a:avLst/>
          </a:prstGeom>
          <a:ln w="12700">
            <a:solidFill>
              <a:srgbClr val="4746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 28"/>
          <p:cNvSpPr/>
          <p:nvPr/>
        </p:nvSpPr>
        <p:spPr>
          <a:xfrm>
            <a:off x="6400800" y="2743200"/>
            <a:ext cx="4754880" cy="1828800"/>
          </a:xfrm>
          <a:custGeom>
            <a:avLst/>
            <a:gdLst/>
            <a:ahLst/>
            <a:cxnLst/>
            <a:rect l="l" t="t" r="r" b="b"/>
            <a:pathLst>
              <a:path w="4754880" h="1828800">
                <a:moveTo>
                  <a:pt x="0" y="914400"/>
                </a:moveTo>
                <a:lnTo>
                  <a:pt x="45720" y="804181"/>
                </a:lnTo>
                <a:lnTo>
                  <a:pt x="91440" y="695569"/>
                </a:lnTo>
                <a:lnTo>
                  <a:pt x="137160" y="590149"/>
                </a:lnTo>
                <a:lnTo>
                  <a:pt x="182880" y="489457"/>
                </a:lnTo>
                <a:lnTo>
                  <a:pt x="228600" y="394961"/>
                </a:lnTo>
                <a:lnTo>
                  <a:pt x="274320" y="308040"/>
                </a:lnTo>
                <a:lnTo>
                  <a:pt x="320040" y="229961"/>
                </a:lnTo>
                <a:lnTo>
                  <a:pt x="365760" y="161863"/>
                </a:lnTo>
                <a:lnTo>
                  <a:pt x="411480" y="104739"/>
                </a:lnTo>
                <a:lnTo>
                  <a:pt x="457200" y="59421"/>
                </a:lnTo>
                <a:lnTo>
                  <a:pt x="502920" y="26570"/>
                </a:lnTo>
                <a:lnTo>
                  <a:pt x="548640" y="6667"/>
                </a:lnTo>
                <a:lnTo>
                  <a:pt x="594360" y="0"/>
                </a:lnTo>
                <a:lnTo>
                  <a:pt x="640080" y="6667"/>
                </a:lnTo>
                <a:lnTo>
                  <a:pt x="685800" y="26570"/>
                </a:lnTo>
                <a:lnTo>
                  <a:pt x="731520" y="59421"/>
                </a:lnTo>
                <a:lnTo>
                  <a:pt x="777240" y="104739"/>
                </a:lnTo>
                <a:lnTo>
                  <a:pt x="822960" y="161863"/>
                </a:lnTo>
                <a:lnTo>
                  <a:pt x="868680" y="229961"/>
                </a:lnTo>
                <a:lnTo>
                  <a:pt x="914400" y="308040"/>
                </a:lnTo>
                <a:lnTo>
                  <a:pt x="960120" y="394961"/>
                </a:lnTo>
                <a:lnTo>
                  <a:pt x="1005840" y="489457"/>
                </a:lnTo>
                <a:lnTo>
                  <a:pt x="1051560" y="590149"/>
                </a:lnTo>
                <a:lnTo>
                  <a:pt x="1097279" y="695569"/>
                </a:lnTo>
                <a:lnTo>
                  <a:pt x="1143000" y="804181"/>
                </a:lnTo>
                <a:lnTo>
                  <a:pt x="1188720" y="914400"/>
                </a:lnTo>
                <a:lnTo>
                  <a:pt x="1234440" y="1024618"/>
                </a:lnTo>
                <a:lnTo>
                  <a:pt x="1280160" y="1133230"/>
                </a:lnTo>
                <a:lnTo>
                  <a:pt x="1325879" y="1238650"/>
                </a:lnTo>
                <a:lnTo>
                  <a:pt x="1371600" y="1339342"/>
                </a:lnTo>
                <a:lnTo>
                  <a:pt x="1417320" y="1433838"/>
                </a:lnTo>
                <a:lnTo>
                  <a:pt x="1463040" y="1520759"/>
                </a:lnTo>
                <a:lnTo>
                  <a:pt x="1508760" y="1598838"/>
                </a:lnTo>
                <a:lnTo>
                  <a:pt x="1554479" y="1666936"/>
                </a:lnTo>
                <a:lnTo>
                  <a:pt x="1600200" y="1724060"/>
                </a:lnTo>
                <a:lnTo>
                  <a:pt x="1645920" y="1769378"/>
                </a:lnTo>
                <a:lnTo>
                  <a:pt x="1691640" y="1802229"/>
                </a:lnTo>
                <a:lnTo>
                  <a:pt x="1737360" y="1822132"/>
                </a:lnTo>
                <a:lnTo>
                  <a:pt x="1783079" y="1828800"/>
                </a:lnTo>
                <a:lnTo>
                  <a:pt x="1828800" y="1822132"/>
                </a:lnTo>
                <a:lnTo>
                  <a:pt x="1874520" y="1802229"/>
                </a:lnTo>
                <a:lnTo>
                  <a:pt x="1920240" y="1769378"/>
                </a:lnTo>
                <a:lnTo>
                  <a:pt x="1965960" y="1724060"/>
                </a:lnTo>
                <a:lnTo>
                  <a:pt x="2011680" y="1666936"/>
                </a:lnTo>
                <a:lnTo>
                  <a:pt x="2057400" y="1598838"/>
                </a:lnTo>
                <a:lnTo>
                  <a:pt x="2103120" y="1520759"/>
                </a:lnTo>
                <a:lnTo>
                  <a:pt x="2148840" y="1433838"/>
                </a:lnTo>
                <a:lnTo>
                  <a:pt x="2194560" y="1339342"/>
                </a:lnTo>
                <a:lnTo>
                  <a:pt x="2240280" y="1238650"/>
                </a:lnTo>
                <a:lnTo>
                  <a:pt x="2286000" y="1133230"/>
                </a:lnTo>
                <a:lnTo>
                  <a:pt x="2331720" y="1024618"/>
                </a:lnTo>
                <a:lnTo>
                  <a:pt x="2377440" y="914399"/>
                </a:lnTo>
                <a:lnTo>
                  <a:pt x="2423160" y="804181"/>
                </a:lnTo>
                <a:lnTo>
                  <a:pt x="2468880" y="695569"/>
                </a:lnTo>
                <a:lnTo>
                  <a:pt x="2514600" y="590149"/>
                </a:lnTo>
                <a:lnTo>
                  <a:pt x="2560320" y="489457"/>
                </a:lnTo>
                <a:lnTo>
                  <a:pt x="2606040" y="394961"/>
                </a:lnTo>
                <a:lnTo>
                  <a:pt x="2651760" y="308040"/>
                </a:lnTo>
                <a:lnTo>
                  <a:pt x="2697480" y="229961"/>
                </a:lnTo>
                <a:lnTo>
                  <a:pt x="2743200" y="161863"/>
                </a:lnTo>
                <a:lnTo>
                  <a:pt x="2788920" y="104739"/>
                </a:lnTo>
                <a:lnTo>
                  <a:pt x="2834640" y="59421"/>
                </a:lnTo>
                <a:lnTo>
                  <a:pt x="2880360" y="26570"/>
                </a:lnTo>
                <a:lnTo>
                  <a:pt x="2926080" y="6667"/>
                </a:lnTo>
                <a:lnTo>
                  <a:pt x="2971800" y="0"/>
                </a:lnTo>
                <a:lnTo>
                  <a:pt x="3017520" y="6667"/>
                </a:lnTo>
                <a:lnTo>
                  <a:pt x="3063240" y="26570"/>
                </a:lnTo>
                <a:lnTo>
                  <a:pt x="3108960" y="59421"/>
                </a:lnTo>
                <a:lnTo>
                  <a:pt x="3154680" y="104739"/>
                </a:lnTo>
                <a:lnTo>
                  <a:pt x="3200400" y="161863"/>
                </a:lnTo>
                <a:lnTo>
                  <a:pt x="3246120" y="229961"/>
                </a:lnTo>
                <a:lnTo>
                  <a:pt x="3291840" y="308040"/>
                </a:lnTo>
                <a:lnTo>
                  <a:pt x="3337560" y="394961"/>
                </a:lnTo>
                <a:lnTo>
                  <a:pt x="3383280" y="489457"/>
                </a:lnTo>
                <a:lnTo>
                  <a:pt x="3429000" y="590149"/>
                </a:lnTo>
                <a:lnTo>
                  <a:pt x="3474720" y="695569"/>
                </a:lnTo>
                <a:lnTo>
                  <a:pt x="3520440" y="804181"/>
                </a:lnTo>
                <a:lnTo>
                  <a:pt x="3566160" y="914399"/>
                </a:lnTo>
                <a:lnTo>
                  <a:pt x="3611880" y="1024618"/>
                </a:lnTo>
                <a:lnTo>
                  <a:pt x="3657600" y="1133230"/>
                </a:lnTo>
                <a:lnTo>
                  <a:pt x="3703320" y="1238650"/>
                </a:lnTo>
                <a:lnTo>
                  <a:pt x="3749040" y="1339342"/>
                </a:lnTo>
                <a:lnTo>
                  <a:pt x="3794760" y="1433838"/>
                </a:lnTo>
                <a:lnTo>
                  <a:pt x="3840480" y="1520759"/>
                </a:lnTo>
                <a:lnTo>
                  <a:pt x="3886200" y="1598838"/>
                </a:lnTo>
                <a:lnTo>
                  <a:pt x="3931920" y="1666936"/>
                </a:lnTo>
                <a:lnTo>
                  <a:pt x="3977640" y="1724060"/>
                </a:lnTo>
                <a:lnTo>
                  <a:pt x="4023360" y="1769378"/>
                </a:lnTo>
                <a:lnTo>
                  <a:pt x="4069080" y="1802229"/>
                </a:lnTo>
                <a:lnTo>
                  <a:pt x="4114800" y="1822132"/>
                </a:lnTo>
                <a:lnTo>
                  <a:pt x="4160520" y="1828800"/>
                </a:lnTo>
                <a:lnTo>
                  <a:pt x="4206240" y="1822132"/>
                </a:lnTo>
                <a:lnTo>
                  <a:pt x="4251960" y="1802229"/>
                </a:lnTo>
                <a:lnTo>
                  <a:pt x="4297680" y="1769378"/>
                </a:lnTo>
                <a:lnTo>
                  <a:pt x="4343400" y="1724060"/>
                </a:lnTo>
                <a:lnTo>
                  <a:pt x="4389120" y="1666936"/>
                </a:lnTo>
                <a:lnTo>
                  <a:pt x="4434840" y="1598838"/>
                </a:lnTo>
                <a:lnTo>
                  <a:pt x="4480560" y="1520759"/>
                </a:lnTo>
                <a:lnTo>
                  <a:pt x="4526280" y="1433838"/>
                </a:lnTo>
                <a:lnTo>
                  <a:pt x="4572000" y="1339342"/>
                </a:lnTo>
                <a:lnTo>
                  <a:pt x="4617720" y="1238650"/>
                </a:lnTo>
                <a:lnTo>
                  <a:pt x="4663440" y="1133230"/>
                </a:lnTo>
                <a:lnTo>
                  <a:pt x="4709160" y="1024618"/>
                </a:lnTo>
                <a:lnTo>
                  <a:pt x="4754880" y="914399"/>
                </a:lnTo>
              </a:path>
            </a:pathLst>
          </a:custGeom>
          <a:noFill/>
          <a:ln w="44450">
            <a:solidFill>
              <a:srgbClr val="575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6400800" y="2743200"/>
            <a:ext cx="4754880" cy="1828800"/>
          </a:xfrm>
          <a:custGeom>
            <a:avLst/>
            <a:gdLst/>
            <a:ahLst/>
            <a:cxnLst/>
            <a:rect l="l" t="t" r="r" b="b"/>
            <a:pathLst>
              <a:path w="4754880" h="1828800">
                <a:moveTo>
                  <a:pt x="0" y="1828800"/>
                </a:moveTo>
                <a:lnTo>
                  <a:pt x="45720" y="1822132"/>
                </a:lnTo>
                <a:lnTo>
                  <a:pt x="91440" y="1802229"/>
                </a:lnTo>
                <a:lnTo>
                  <a:pt x="137160" y="1769378"/>
                </a:lnTo>
                <a:lnTo>
                  <a:pt x="182880" y="1724060"/>
                </a:lnTo>
                <a:lnTo>
                  <a:pt x="228600" y="1666936"/>
                </a:lnTo>
                <a:lnTo>
                  <a:pt x="274320" y="1598838"/>
                </a:lnTo>
                <a:lnTo>
                  <a:pt x="320040" y="1520759"/>
                </a:lnTo>
                <a:lnTo>
                  <a:pt x="365760" y="1433838"/>
                </a:lnTo>
                <a:lnTo>
                  <a:pt x="411480" y="1339342"/>
                </a:lnTo>
                <a:lnTo>
                  <a:pt x="457200" y="1238650"/>
                </a:lnTo>
                <a:lnTo>
                  <a:pt x="502920" y="1133230"/>
                </a:lnTo>
                <a:lnTo>
                  <a:pt x="548640" y="1024618"/>
                </a:lnTo>
                <a:lnTo>
                  <a:pt x="594360" y="914400"/>
                </a:lnTo>
                <a:lnTo>
                  <a:pt x="640080" y="804181"/>
                </a:lnTo>
                <a:lnTo>
                  <a:pt x="685800" y="695569"/>
                </a:lnTo>
                <a:lnTo>
                  <a:pt x="731520" y="590149"/>
                </a:lnTo>
                <a:lnTo>
                  <a:pt x="777240" y="489457"/>
                </a:lnTo>
                <a:lnTo>
                  <a:pt x="822960" y="394961"/>
                </a:lnTo>
                <a:lnTo>
                  <a:pt x="868680" y="308040"/>
                </a:lnTo>
                <a:lnTo>
                  <a:pt x="914400" y="229961"/>
                </a:lnTo>
                <a:lnTo>
                  <a:pt x="960120" y="161863"/>
                </a:lnTo>
                <a:lnTo>
                  <a:pt x="1005840" y="104739"/>
                </a:lnTo>
                <a:lnTo>
                  <a:pt x="1051560" y="59421"/>
                </a:lnTo>
                <a:lnTo>
                  <a:pt x="1097279" y="26570"/>
                </a:lnTo>
                <a:lnTo>
                  <a:pt x="1143000" y="6667"/>
                </a:lnTo>
                <a:lnTo>
                  <a:pt x="1188720" y="0"/>
                </a:lnTo>
                <a:lnTo>
                  <a:pt x="1234440" y="6667"/>
                </a:lnTo>
                <a:lnTo>
                  <a:pt x="1280160" y="26570"/>
                </a:lnTo>
                <a:lnTo>
                  <a:pt x="1325879" y="59421"/>
                </a:lnTo>
                <a:lnTo>
                  <a:pt x="1371600" y="104739"/>
                </a:lnTo>
                <a:lnTo>
                  <a:pt x="1417320" y="161863"/>
                </a:lnTo>
                <a:lnTo>
                  <a:pt x="1463040" y="229961"/>
                </a:lnTo>
                <a:lnTo>
                  <a:pt x="1508760" y="308040"/>
                </a:lnTo>
                <a:lnTo>
                  <a:pt x="1554479" y="394961"/>
                </a:lnTo>
                <a:lnTo>
                  <a:pt x="1600200" y="489457"/>
                </a:lnTo>
                <a:lnTo>
                  <a:pt x="1645920" y="590149"/>
                </a:lnTo>
                <a:lnTo>
                  <a:pt x="1691640" y="695569"/>
                </a:lnTo>
                <a:lnTo>
                  <a:pt x="1737360" y="804181"/>
                </a:lnTo>
                <a:lnTo>
                  <a:pt x="1783079" y="914400"/>
                </a:lnTo>
                <a:lnTo>
                  <a:pt x="1828800" y="1024618"/>
                </a:lnTo>
                <a:lnTo>
                  <a:pt x="1874520" y="1133230"/>
                </a:lnTo>
                <a:lnTo>
                  <a:pt x="1920240" y="1238650"/>
                </a:lnTo>
                <a:lnTo>
                  <a:pt x="1965960" y="1339342"/>
                </a:lnTo>
                <a:lnTo>
                  <a:pt x="2011680" y="1433838"/>
                </a:lnTo>
                <a:lnTo>
                  <a:pt x="2057400" y="1520759"/>
                </a:lnTo>
                <a:lnTo>
                  <a:pt x="2103120" y="1598838"/>
                </a:lnTo>
                <a:lnTo>
                  <a:pt x="2148840" y="1666936"/>
                </a:lnTo>
                <a:lnTo>
                  <a:pt x="2194560" y="1724060"/>
                </a:lnTo>
                <a:lnTo>
                  <a:pt x="2240280" y="1769378"/>
                </a:lnTo>
                <a:lnTo>
                  <a:pt x="2286000" y="1802229"/>
                </a:lnTo>
                <a:lnTo>
                  <a:pt x="2331720" y="1822132"/>
                </a:lnTo>
                <a:lnTo>
                  <a:pt x="2377440" y="1828800"/>
                </a:lnTo>
                <a:lnTo>
                  <a:pt x="2423160" y="1822132"/>
                </a:lnTo>
                <a:lnTo>
                  <a:pt x="2468880" y="1802229"/>
                </a:lnTo>
                <a:lnTo>
                  <a:pt x="2514600" y="1769378"/>
                </a:lnTo>
                <a:lnTo>
                  <a:pt x="2560320" y="1724060"/>
                </a:lnTo>
                <a:lnTo>
                  <a:pt x="2606040" y="1666936"/>
                </a:lnTo>
                <a:lnTo>
                  <a:pt x="2651760" y="1598838"/>
                </a:lnTo>
                <a:lnTo>
                  <a:pt x="2697480" y="1520759"/>
                </a:lnTo>
                <a:lnTo>
                  <a:pt x="2743200" y="1433838"/>
                </a:lnTo>
                <a:lnTo>
                  <a:pt x="2788920" y="1339342"/>
                </a:lnTo>
                <a:lnTo>
                  <a:pt x="2834640" y="1238650"/>
                </a:lnTo>
                <a:lnTo>
                  <a:pt x="2880360" y="1133230"/>
                </a:lnTo>
                <a:lnTo>
                  <a:pt x="2926080" y="1024618"/>
                </a:lnTo>
                <a:lnTo>
                  <a:pt x="2971800" y="914400"/>
                </a:lnTo>
                <a:lnTo>
                  <a:pt x="3017520" y="804181"/>
                </a:lnTo>
                <a:lnTo>
                  <a:pt x="3063240" y="695569"/>
                </a:lnTo>
                <a:lnTo>
                  <a:pt x="3108960" y="590149"/>
                </a:lnTo>
                <a:lnTo>
                  <a:pt x="3154680" y="489457"/>
                </a:lnTo>
                <a:lnTo>
                  <a:pt x="3200400" y="394961"/>
                </a:lnTo>
                <a:lnTo>
                  <a:pt x="3246120" y="308040"/>
                </a:lnTo>
                <a:lnTo>
                  <a:pt x="3291840" y="229961"/>
                </a:lnTo>
                <a:lnTo>
                  <a:pt x="3337560" y="161863"/>
                </a:lnTo>
                <a:lnTo>
                  <a:pt x="3383280" y="104739"/>
                </a:lnTo>
                <a:lnTo>
                  <a:pt x="3429000" y="59421"/>
                </a:lnTo>
                <a:lnTo>
                  <a:pt x="3474720" y="26570"/>
                </a:lnTo>
                <a:lnTo>
                  <a:pt x="3520440" y="6667"/>
                </a:lnTo>
                <a:lnTo>
                  <a:pt x="3566160" y="0"/>
                </a:lnTo>
                <a:lnTo>
                  <a:pt x="3611880" y="6667"/>
                </a:lnTo>
                <a:lnTo>
                  <a:pt x="3657600" y="26570"/>
                </a:lnTo>
                <a:lnTo>
                  <a:pt x="3703320" y="59421"/>
                </a:lnTo>
                <a:lnTo>
                  <a:pt x="3749040" y="104739"/>
                </a:lnTo>
                <a:lnTo>
                  <a:pt x="3794760" y="161863"/>
                </a:lnTo>
                <a:lnTo>
                  <a:pt x="3840480" y="229961"/>
                </a:lnTo>
                <a:lnTo>
                  <a:pt x="3886200" y="308040"/>
                </a:lnTo>
                <a:lnTo>
                  <a:pt x="3931920" y="394961"/>
                </a:lnTo>
                <a:lnTo>
                  <a:pt x="3977640" y="489457"/>
                </a:lnTo>
                <a:lnTo>
                  <a:pt x="4023360" y="590149"/>
                </a:lnTo>
                <a:lnTo>
                  <a:pt x="4069080" y="695569"/>
                </a:lnTo>
                <a:lnTo>
                  <a:pt x="4114800" y="804181"/>
                </a:lnTo>
                <a:lnTo>
                  <a:pt x="4160520" y="914399"/>
                </a:lnTo>
                <a:lnTo>
                  <a:pt x="4206240" y="1024618"/>
                </a:lnTo>
                <a:lnTo>
                  <a:pt x="4251960" y="1133230"/>
                </a:lnTo>
                <a:lnTo>
                  <a:pt x="4297680" y="1238650"/>
                </a:lnTo>
                <a:lnTo>
                  <a:pt x="4343400" y="1339342"/>
                </a:lnTo>
                <a:lnTo>
                  <a:pt x="4389120" y="1433838"/>
                </a:lnTo>
                <a:lnTo>
                  <a:pt x="4434840" y="1520759"/>
                </a:lnTo>
                <a:lnTo>
                  <a:pt x="4480560" y="1598838"/>
                </a:lnTo>
                <a:lnTo>
                  <a:pt x="4526280" y="1666936"/>
                </a:lnTo>
                <a:lnTo>
                  <a:pt x="4572000" y="1724060"/>
                </a:lnTo>
                <a:lnTo>
                  <a:pt x="4617720" y="1769378"/>
                </a:lnTo>
                <a:lnTo>
                  <a:pt x="4663440" y="1802229"/>
                </a:lnTo>
                <a:lnTo>
                  <a:pt x="4709160" y="1822132"/>
                </a:lnTo>
                <a:lnTo>
                  <a:pt x="4754880" y="1828800"/>
                </a:lnTo>
              </a:path>
            </a:pathLst>
          </a:custGeom>
          <a:noFill/>
          <a:ln w="31750">
            <a:solidFill>
              <a:srgbClr val="F43F5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V="1">
            <a:off x="6995160" y="2743200"/>
            <a:ext cx="0" cy="914400"/>
          </a:xfrm>
          <a:prstGeom prst="line">
            <a:avLst/>
          </a:prstGeom>
          <a:ln w="381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068312" y="23774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Hanken Grotesk"/>
              </a:rPr>
              <a:t>A (amplitude)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00800" y="4892040"/>
            <a:ext cx="2377440" cy="0"/>
          </a:xfrm>
          <a:prstGeom prst="line">
            <a:avLst/>
          </a:prstGeom>
          <a:ln w="19050">
            <a:solidFill>
              <a:srgbClr val="1B1B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400800" y="4818888"/>
            <a:ext cx="0" cy="146304"/>
          </a:xfrm>
          <a:prstGeom prst="line">
            <a:avLst/>
          </a:prstGeom>
          <a:ln w="19050">
            <a:solidFill>
              <a:srgbClr val="1B1B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778240" y="4818888"/>
            <a:ext cx="0" cy="146304"/>
          </a:xfrm>
          <a:prstGeom prst="line">
            <a:avLst/>
          </a:prstGeom>
          <a:ln w="19050">
            <a:solidFill>
              <a:srgbClr val="1B1B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400800" y="49834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B1B20"/>
                </a:solidFill>
                <a:latin typeface="Hanken Grotesk"/>
              </a:rPr>
              <a:t>one cycle: T = 1/f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16002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B1B20"/>
                </a:solidFill>
                <a:latin typeface="Bricolage Grotesque"/>
              </a:rPr>
              <a:t>y = A · sin(2π · f · t + φ)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22860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474651"/>
                </a:solidFill>
                <a:latin typeface="Hanken Grotesk"/>
              </a:rPr>
              <a:t>purple: original</a:t>
            </a:r>
          </a:p>
          <a:p>
            <a:pPr algn="l"/>
            <a:r>
              <a:rPr sz="900" b="1">
                <a:solidFill>
                  <a:srgbClr val="474651"/>
                </a:solidFill>
                <a:latin typeface="Hanken Grotesk"/>
              </a:rPr>
              <a:t>rose dashed: phase shift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60" y="548640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5486400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31F71"/>
                </a:solidFill>
                <a:latin typeface="Plus Jakarta Sans"/>
              </a:rPr>
              <a:t>A: height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01000" y="548640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9C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01000" y="5486400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31F71"/>
                </a:solidFill>
                <a:latin typeface="Plus Jakarta Sans"/>
              </a:rPr>
              <a:t>f: speed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92640" y="548640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2640" y="5486400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31F71"/>
                </a:solidFill>
                <a:latin typeface="Plus Jakarta Sans"/>
              </a:rPr>
              <a:t>φ: shift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6926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B1B20"/>
                </a:solidFill>
                <a:latin typeface="Bricolage Grotesque"/>
              </a:rPr>
              <a:t>Polar vs Cartesian: Naming the Same Point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384120"/>
            <a:ext cx="383760" cy="456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4651"/>
                </a:solidFill>
                <a:latin typeface="Plus Jakarta Sans"/>
              </a:rPr>
              <a:t>CodeByPaxto  ·  AI &amp; ML Playground  ·  Hafiz Waseem Ahmed (Paxto)</a:t>
            </a:r>
          </a:p>
        </p:txBody>
      </p:sp>
      <p:sp>
        <p:nvSpPr>
          <p:cNvPr id="5" name="PAGENUM"/>
          <p:cNvSpPr txBox="1"/>
          <p:nvPr/>
        </p:nvSpPr>
        <p:spPr>
          <a:xfrm>
            <a:off x="11503152" y="647395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74651"/>
                </a:solidFill>
                <a:latin typeface="Plus Jakarta Sans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463040"/>
            <a:ext cx="566928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120640" cy="10424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0934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093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019"/>
                </a:solidFill>
                <a:latin typeface="Bricolage Grotesq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57276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B20"/>
                </a:solidFill>
                <a:latin typeface="Bricolage Grotesque"/>
              </a:rPr>
              <a:t>Cartesian = walk, then climb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865376"/>
            <a:ext cx="4206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4651"/>
                </a:solidFill>
                <a:latin typeface="Hanken Grotesk"/>
              </a:rPr>
              <a:t>Go x steps right, then y steps up. Like street directions: 3 blocks east, 4 blocks north.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33472"/>
            <a:ext cx="5120640" cy="10424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77977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7977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019"/>
                </a:solidFill>
                <a:latin typeface="Bricolage Grotesque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74320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B20"/>
                </a:solidFill>
                <a:latin typeface="Bricolage Grotesque"/>
              </a:rPr>
              <a:t>Polar = point, then walk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035808"/>
            <a:ext cx="4206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4651"/>
                </a:solidFill>
                <a:latin typeface="Hanken Grotesk"/>
              </a:rPr>
              <a:t>Face angle θ, then walk r steps straight. Like a ship captain: heading and distance.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03904"/>
            <a:ext cx="5120640" cy="10424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95020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5020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019"/>
                </a:solidFill>
                <a:latin typeface="Bricolage Grotesque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91363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B20"/>
                </a:solidFill>
                <a:latin typeface="Bricolage Grotesque"/>
              </a:rPr>
              <a:t>Same point, same triangle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206240"/>
            <a:ext cx="4206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4651"/>
                </a:solidFill>
                <a:latin typeface="Hanken Grotesk"/>
              </a:rPr>
              <a:t>The x, y and r sides make a right triangle, so Pythagoras gives r = √(x² + y²).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974336"/>
            <a:ext cx="5120640" cy="10424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512064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206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019"/>
                </a:solidFill>
                <a:latin typeface="Bricolage Grotesque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08406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B20"/>
                </a:solidFill>
                <a:latin typeface="Bricolage Grotesque"/>
              </a:rPr>
              <a:t>Converting uses sin and cos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376672"/>
            <a:ext cx="4206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4651"/>
                </a:solidFill>
                <a:latin typeface="Hanken Grotesk"/>
              </a:rPr>
              <a:t>x = r·cos θ and y = r·sin θ going one way; r and atan2(y, x) coming back. Robots do this constantly.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0" y="5029200"/>
            <a:ext cx="3291840" cy="0"/>
          </a:xfrm>
          <a:prstGeom prst="line">
            <a:avLst/>
          </a:prstGeom>
          <a:ln w="12700">
            <a:solidFill>
              <a:srgbClr val="4746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583680" y="1828800"/>
            <a:ext cx="0" cy="3383280"/>
          </a:xfrm>
          <a:prstGeom prst="line">
            <a:avLst/>
          </a:prstGeom>
          <a:ln w="12700">
            <a:solidFill>
              <a:srgbClr val="4746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583680" y="5029200"/>
            <a:ext cx="1920240" cy="0"/>
          </a:xfrm>
          <a:prstGeom prst="line">
            <a:avLst/>
          </a:prstGeom>
          <a:ln w="635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503920" y="2468880"/>
            <a:ext cx="0" cy="2560320"/>
          </a:xfrm>
          <a:prstGeom prst="line">
            <a:avLst/>
          </a:prstGeom>
          <a:ln w="63500">
            <a:solidFill>
              <a:srgbClr val="F43F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583680" y="2468880"/>
            <a:ext cx="1920240" cy="2560320"/>
          </a:xfrm>
          <a:prstGeom prst="line">
            <a:avLst/>
          </a:prstGeom>
          <a:ln w="44450">
            <a:solidFill>
              <a:srgbClr val="5755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Freeform 31"/>
          <p:cNvSpPr/>
          <p:nvPr/>
        </p:nvSpPr>
        <p:spPr>
          <a:xfrm>
            <a:off x="7022593" y="4443984"/>
            <a:ext cx="292607" cy="585216"/>
          </a:xfrm>
          <a:custGeom>
            <a:avLst/>
            <a:gdLst/>
            <a:ahLst/>
            <a:cxnLst/>
            <a:rect l="l" t="t" r="r" b="b"/>
            <a:pathLst>
              <a:path w="292607" h="585216">
                <a:moveTo>
                  <a:pt x="292607" y="585216"/>
                </a:moveTo>
                <a:lnTo>
                  <a:pt x="292410" y="568259"/>
                </a:lnTo>
                <a:lnTo>
                  <a:pt x="291820" y="551311"/>
                </a:lnTo>
                <a:lnTo>
                  <a:pt x="290838" y="534381"/>
                </a:lnTo>
                <a:lnTo>
                  <a:pt x="289464" y="517479"/>
                </a:lnTo>
                <a:lnTo>
                  <a:pt x="287698" y="500614"/>
                </a:lnTo>
                <a:lnTo>
                  <a:pt x="285541" y="483793"/>
                </a:lnTo>
                <a:lnTo>
                  <a:pt x="282996" y="467027"/>
                </a:lnTo>
                <a:lnTo>
                  <a:pt x="280062" y="450325"/>
                </a:lnTo>
                <a:lnTo>
                  <a:pt x="276742" y="433695"/>
                </a:lnTo>
                <a:lnTo>
                  <a:pt x="273038" y="417147"/>
                </a:lnTo>
                <a:lnTo>
                  <a:pt x="268951" y="400689"/>
                </a:lnTo>
                <a:lnTo>
                  <a:pt x="264483" y="384330"/>
                </a:lnTo>
                <a:lnTo>
                  <a:pt x="259637" y="368079"/>
                </a:lnTo>
                <a:lnTo>
                  <a:pt x="254416" y="351945"/>
                </a:lnTo>
                <a:lnTo>
                  <a:pt x="248823" y="335936"/>
                </a:lnTo>
                <a:lnTo>
                  <a:pt x="242860" y="320061"/>
                </a:lnTo>
                <a:lnTo>
                  <a:pt x="236530" y="304329"/>
                </a:lnTo>
                <a:lnTo>
                  <a:pt x="229838" y="288747"/>
                </a:lnTo>
                <a:lnTo>
                  <a:pt x="222786" y="273325"/>
                </a:lnTo>
                <a:lnTo>
                  <a:pt x="215378" y="258070"/>
                </a:lnTo>
                <a:lnTo>
                  <a:pt x="207619" y="242992"/>
                </a:lnTo>
                <a:lnTo>
                  <a:pt x="199512" y="228097"/>
                </a:lnTo>
                <a:lnTo>
                  <a:pt x="191063" y="213394"/>
                </a:lnTo>
                <a:lnTo>
                  <a:pt x="182275" y="198891"/>
                </a:lnTo>
                <a:lnTo>
                  <a:pt x="173153" y="184595"/>
                </a:lnTo>
                <a:lnTo>
                  <a:pt x="163702" y="170515"/>
                </a:lnTo>
                <a:lnTo>
                  <a:pt x="153927" y="156658"/>
                </a:lnTo>
                <a:lnTo>
                  <a:pt x="143834" y="143031"/>
                </a:lnTo>
                <a:lnTo>
                  <a:pt x="133427" y="129641"/>
                </a:lnTo>
                <a:lnTo>
                  <a:pt x="122713" y="116497"/>
                </a:lnTo>
                <a:lnTo>
                  <a:pt x="111697" y="103604"/>
                </a:lnTo>
                <a:lnTo>
                  <a:pt x="100385" y="90970"/>
                </a:lnTo>
                <a:lnTo>
                  <a:pt x="88783" y="78602"/>
                </a:lnTo>
                <a:lnTo>
                  <a:pt x="76898" y="66506"/>
                </a:lnTo>
                <a:lnTo>
                  <a:pt x="64736" y="54689"/>
                </a:lnTo>
                <a:lnTo>
                  <a:pt x="52303" y="43156"/>
                </a:lnTo>
                <a:lnTo>
                  <a:pt x="39606" y="31915"/>
                </a:lnTo>
                <a:lnTo>
                  <a:pt x="26651" y="20972"/>
                </a:lnTo>
                <a:lnTo>
                  <a:pt x="13447" y="10332"/>
                </a:lnTo>
                <a:lnTo>
                  <a:pt x="0" y="0"/>
                </a:lnTo>
              </a:path>
            </a:pathLst>
          </a:custGeom>
          <a:noFill/>
          <a:ln w="25400">
            <a:solidFill>
              <a:srgbClr val="1B1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21624" y="2386584"/>
            <a:ext cx="164592" cy="164592"/>
          </a:xfrm>
          <a:prstGeom prst="ellipse">
            <a:avLst/>
          </a:prstGeom>
          <a:solidFill>
            <a:srgbClr val="5755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60" y="464515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1B20"/>
                </a:solidFill>
                <a:latin typeface="Bricolage Grotesque"/>
              </a:rPr>
              <a:t>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5102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Hanken Grotesk"/>
              </a:rPr>
              <a:t>x =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36576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43F5E"/>
                </a:solidFill>
                <a:latin typeface="Hanken Grotesk"/>
              </a:rPr>
              <a:t>y =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33375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755A7"/>
                </a:solidFill>
                <a:latin typeface="Hanken Grotesk"/>
              </a:rPr>
              <a:t>r =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1080" y="21488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1B20"/>
                </a:solidFill>
                <a:latin typeface="Hanken Grotesk"/>
              </a:rPr>
              <a:t>P (3, 4)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46920" y="19202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46920" y="19202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31F71"/>
                </a:solidFill>
                <a:latin typeface="Plus Jakarta Sans"/>
              </a:rPr>
              <a:t>x = r · cos θ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46920" y="256032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9C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46920" y="25603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31F71"/>
                </a:solidFill>
                <a:latin typeface="Plus Jakarta Sans"/>
              </a:rPr>
              <a:t>y = r · sin θ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46920" y="32004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46920" y="32004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31F71"/>
                </a:solidFill>
                <a:latin typeface="Plus Jakarta Sans"/>
              </a:rPr>
              <a:t>r = √(x² + y²)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46920" y="3840479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46920" y="3840479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31F71"/>
                </a:solidFill>
                <a:latin typeface="Plus Jakarta Sans"/>
              </a:rPr>
              <a:t>θ = atan2(y, x)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6926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B1B20"/>
                </a:solidFill>
                <a:latin typeface="Bricolage Grotesque"/>
              </a:rPr>
              <a:t>atan vs atan2: Why the Quadrant Matters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384120"/>
            <a:ext cx="383760" cy="456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4651"/>
                </a:solidFill>
                <a:latin typeface="Plus Jakarta Sans"/>
              </a:rPr>
              <a:t>CodeByPaxto  ·  AI &amp; ML Playground  ·  Hafiz Waseem Ahmed (Paxto)</a:t>
            </a:r>
          </a:p>
        </p:txBody>
      </p:sp>
      <p:sp>
        <p:nvSpPr>
          <p:cNvPr id="5" name="PAGENUM"/>
          <p:cNvSpPr txBox="1"/>
          <p:nvPr/>
        </p:nvSpPr>
        <p:spPr>
          <a:xfrm>
            <a:off x="11503152" y="647395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74651"/>
                </a:solidFill>
                <a:latin typeface="Plus Jakarta Sans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463040"/>
            <a:ext cx="566928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120640" cy="10424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0934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093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019"/>
                </a:solidFill>
                <a:latin typeface="Bricolage Grotesq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57276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B20"/>
                </a:solidFill>
                <a:latin typeface="Bricolage Grotesque"/>
              </a:rPr>
              <a:t>atan only sees a ratio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865376"/>
            <a:ext cx="4206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4651"/>
                </a:solidFill>
                <a:latin typeface="Hanken Grotesk"/>
              </a:rPr>
              <a:t>np.arctan(y/x) divides first, so (1, 1) and (−1, −1) both become 1. The signs are lost, so the answer is only right in 2 of 4 quadrants.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33472"/>
            <a:ext cx="5120640" cy="10424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77977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7977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019"/>
                </a:solidFill>
                <a:latin typeface="Bricolage Grotesque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74320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B20"/>
                </a:solidFill>
                <a:latin typeface="Bricolage Grotesque"/>
              </a:rPr>
              <a:t>atan2 keeps both signs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035808"/>
            <a:ext cx="4206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4651"/>
                </a:solidFill>
                <a:latin typeface="Hanken Grotesk"/>
              </a:rPr>
              <a:t>np.arctan2(y, x) gets y and x separately. Their +/− signs reveal the quadrant, just like the Quadrants table. Note: y comes first!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03904"/>
            <a:ext cx="5120640" cy="10424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95020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5020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019"/>
                </a:solidFill>
                <a:latin typeface="Bricolage Grotesque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91363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B20"/>
                </a:solidFill>
                <a:latin typeface="Bricolage Grotesque"/>
              </a:rPr>
              <a:t>Answer range: −180° to 180°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206240"/>
            <a:ext cx="4206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4651"/>
                </a:solidFill>
                <a:latin typeface="Hanken Grotesk"/>
              </a:rPr>
              <a:t>Positive = counter-clockwise from the right, negative = clockwise. Use it for headings, directions and vector angles.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974336"/>
            <a:ext cx="5120640" cy="10424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512064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206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019"/>
                </a:solidFill>
                <a:latin typeface="Bricolage Grotesque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08406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B20"/>
                </a:solidFill>
                <a:latin typeface="Bricolage Grotesque"/>
              </a:rPr>
              <a:t>Convert at the 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376672"/>
            <a:ext cx="4206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4651"/>
                </a:solidFill>
                <a:latin typeface="Hanken Grotesk"/>
              </a:rPr>
              <a:t>Results are in radians. Wrap with np.rad2deg(...) when you want degrees to read.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0" y="3749039"/>
            <a:ext cx="4754880" cy="0"/>
          </a:xfrm>
          <a:prstGeom prst="line">
            <a:avLst/>
          </a:prstGeom>
          <a:ln w="19050">
            <a:solidFill>
              <a:srgbClr val="4746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778240" y="1828800"/>
            <a:ext cx="0" cy="3840480"/>
          </a:xfrm>
          <a:prstGeom prst="line">
            <a:avLst/>
          </a:prstGeom>
          <a:ln w="19050">
            <a:solidFill>
              <a:srgbClr val="4746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1155680" y="3639311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74651"/>
                </a:solidFill>
                <a:latin typeface="Hanken Grotesk"/>
              </a:rPr>
              <a:t>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15544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74651"/>
                </a:solidFill>
                <a:latin typeface="Hanken Grotesk"/>
              </a:rPr>
              <a:t>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400" y="233172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6840" y="2423160"/>
            <a:ext cx="187451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31F71"/>
                </a:solidFill>
                <a:latin typeface="Hanken Grotesk"/>
              </a:rPr>
              <a:t>Quadrant I  (+, +)</a:t>
            </a:r>
          </a:p>
          <a:p>
            <a:pPr algn="l"/>
            <a:r>
              <a:rPr sz="1000" b="1">
                <a:solidFill>
                  <a:srgbClr val="231F71"/>
                </a:solidFill>
                <a:latin typeface="Hanken Grotesk"/>
              </a:rPr>
              <a:t>atan2(1, 1) = 45° ✓</a:t>
            </a:r>
          </a:p>
          <a:p>
            <a:pPr algn="l"/>
            <a:r>
              <a:rPr sz="1000" b="1">
                <a:solidFill>
                  <a:srgbClr val="231F71"/>
                </a:solidFill>
                <a:latin typeface="Hanken Grotesk"/>
              </a:rPr>
              <a:t>atan(1/1) = 45° ✓</a:t>
            </a:r>
          </a:p>
        </p:txBody>
      </p:sp>
      <p:sp>
        <p:nvSpPr>
          <p:cNvPr id="33" name="Oval 32"/>
          <p:cNvSpPr/>
          <p:nvPr/>
        </p:nvSpPr>
        <p:spPr>
          <a:xfrm>
            <a:off x="8887967" y="3529583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629400" y="233172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F9C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2423160"/>
            <a:ext cx="187451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31F71"/>
                </a:solidFill>
                <a:latin typeface="Hanken Grotesk"/>
              </a:rPr>
              <a:t>Quadrant II  (−, +)</a:t>
            </a:r>
          </a:p>
          <a:p>
            <a:pPr algn="l"/>
            <a:r>
              <a:rPr sz="1000" b="1">
                <a:solidFill>
                  <a:srgbClr val="231F71"/>
                </a:solidFill>
                <a:latin typeface="Hanken Grotesk"/>
              </a:rPr>
              <a:t>atan2(1, −1) = 135° ✓</a:t>
            </a:r>
          </a:p>
          <a:p>
            <a:pPr algn="l"/>
            <a:r>
              <a:rPr sz="1000" b="1">
                <a:solidFill>
                  <a:srgbClr val="231F71"/>
                </a:solidFill>
                <a:latin typeface="Hanken Grotesk"/>
              </a:rPr>
              <a:t>atan(1/−1) = −45° ✗</a:t>
            </a:r>
          </a:p>
        </p:txBody>
      </p:sp>
      <p:sp>
        <p:nvSpPr>
          <p:cNvPr id="36" name="Oval 35"/>
          <p:cNvSpPr/>
          <p:nvPr/>
        </p:nvSpPr>
        <p:spPr>
          <a:xfrm>
            <a:off x="8558784" y="3529583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629400" y="393192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F9C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0840" y="4023359"/>
            <a:ext cx="187451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31F71"/>
                </a:solidFill>
                <a:latin typeface="Hanken Grotesk"/>
              </a:rPr>
              <a:t>Quadrant III  (−, −)</a:t>
            </a:r>
          </a:p>
          <a:p>
            <a:pPr algn="l"/>
            <a:r>
              <a:rPr sz="1000" b="1">
                <a:solidFill>
                  <a:srgbClr val="231F71"/>
                </a:solidFill>
                <a:latin typeface="Hanken Grotesk"/>
              </a:rPr>
              <a:t>atan2(−1, −1) = −135° ✓</a:t>
            </a:r>
          </a:p>
          <a:p>
            <a:pPr algn="l"/>
            <a:r>
              <a:rPr sz="1000" b="1">
                <a:solidFill>
                  <a:srgbClr val="231F71"/>
                </a:solidFill>
                <a:latin typeface="Hanken Grotesk"/>
              </a:rPr>
              <a:t>atan(−1/−1) = 45° ✗</a:t>
            </a:r>
          </a:p>
        </p:txBody>
      </p:sp>
      <p:sp>
        <p:nvSpPr>
          <p:cNvPr id="39" name="Oval 38"/>
          <p:cNvSpPr/>
          <p:nvPr/>
        </p:nvSpPr>
        <p:spPr>
          <a:xfrm>
            <a:off x="8558784" y="3858768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915400" y="393192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06840" y="4023359"/>
            <a:ext cx="187451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31F71"/>
                </a:solidFill>
                <a:latin typeface="Hanken Grotesk"/>
              </a:rPr>
              <a:t>Quadrant IV  (+, −)</a:t>
            </a:r>
          </a:p>
          <a:p>
            <a:pPr algn="l"/>
            <a:r>
              <a:rPr sz="1000" b="1">
                <a:solidFill>
                  <a:srgbClr val="231F71"/>
                </a:solidFill>
                <a:latin typeface="Hanken Grotesk"/>
              </a:rPr>
              <a:t>atan2(−1, 1) = −45° ✓</a:t>
            </a:r>
          </a:p>
          <a:p>
            <a:pPr algn="l"/>
            <a:r>
              <a:rPr sz="1000" b="1">
                <a:solidFill>
                  <a:srgbClr val="231F71"/>
                </a:solidFill>
                <a:latin typeface="Hanken Grotesk"/>
              </a:rPr>
              <a:t>atan(−1/1) = −45° ✓</a:t>
            </a:r>
          </a:p>
        </p:txBody>
      </p:sp>
      <p:sp>
        <p:nvSpPr>
          <p:cNvPr id="42" name="Oval 41"/>
          <p:cNvSpPr/>
          <p:nvPr/>
        </p:nvSpPr>
        <p:spPr>
          <a:xfrm>
            <a:off x="8887967" y="3858768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6926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B1B20"/>
                </a:solidFill>
                <a:latin typeface="Bricolage Grotesque"/>
              </a:rPr>
              <a:t>Quadrants &amp; Signs: Which Way Are You Facing?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384120"/>
            <a:ext cx="383760" cy="456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4651"/>
                </a:solidFill>
                <a:latin typeface="Plus Jakarta Sans"/>
              </a:rPr>
              <a:t>CodeByPaxto  ·  AI &amp; ML Playground  ·  Hafiz Waseem Ahmed (Paxto)</a:t>
            </a:r>
          </a:p>
        </p:txBody>
      </p:sp>
      <p:sp>
        <p:nvSpPr>
          <p:cNvPr id="5" name="PAGENUM"/>
          <p:cNvSpPr txBox="1"/>
          <p:nvPr/>
        </p:nvSpPr>
        <p:spPr>
          <a:xfrm>
            <a:off x="11503152" y="647395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74651"/>
                </a:solidFill>
                <a:latin typeface="Plus Jakarta Sans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463040"/>
            <a:ext cx="566928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225295" cy="457200"/>
          </a:xfrm>
          <a:prstGeom prst="roundRect">
            <a:avLst>
              <a:gd name="adj" fmla="val 16000"/>
            </a:avLst>
          </a:prstGeom>
          <a:solidFill>
            <a:srgbClr val="8C8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22529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31F71"/>
                </a:solidFill>
                <a:latin typeface="Plus Jakarta Sans"/>
              </a:rPr>
              <a:t>Quadrant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1463040"/>
            <a:ext cx="1316736" cy="457200"/>
          </a:xfrm>
          <a:prstGeom prst="roundRect">
            <a:avLst>
              <a:gd name="adj" fmla="val 16000"/>
            </a:avLst>
          </a:prstGeom>
          <a:solidFill>
            <a:srgbClr val="8C8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1463040"/>
            <a:ext cx="131673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31F71"/>
                </a:solidFill>
                <a:latin typeface="Plus Jakarta Sans"/>
              </a:rPr>
              <a:t>Angles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463040"/>
            <a:ext cx="768096" cy="457200"/>
          </a:xfrm>
          <a:prstGeom prst="roundRect">
            <a:avLst>
              <a:gd name="adj" fmla="val 16000"/>
            </a:avLst>
          </a:prstGeom>
          <a:solidFill>
            <a:srgbClr val="8C8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463040"/>
            <a:ext cx="7680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31F71"/>
                </a:solidFill>
                <a:latin typeface="Plus Jakarta Sans"/>
              </a:rPr>
              <a:t>sin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1463040"/>
            <a:ext cx="768096" cy="457200"/>
          </a:xfrm>
          <a:prstGeom prst="roundRect">
            <a:avLst>
              <a:gd name="adj" fmla="val 16000"/>
            </a:avLst>
          </a:prstGeom>
          <a:solidFill>
            <a:srgbClr val="8C8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1463040"/>
            <a:ext cx="7680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31F71"/>
                </a:solidFill>
                <a:latin typeface="Plus Jakarta Sans"/>
              </a:rPr>
              <a:t>cos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463040"/>
            <a:ext cx="768096" cy="457200"/>
          </a:xfrm>
          <a:prstGeom prst="roundRect">
            <a:avLst>
              <a:gd name="adj" fmla="val 16000"/>
            </a:avLst>
          </a:prstGeom>
          <a:solidFill>
            <a:srgbClr val="8C8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1463040"/>
            <a:ext cx="7680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31F71"/>
                </a:solidFill>
                <a:latin typeface="Plus Jakarta Sans"/>
              </a:rPr>
              <a:t>tan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975104"/>
            <a:ext cx="122529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975104"/>
            <a:ext cx="122529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31F71"/>
                </a:solidFill>
                <a:latin typeface="Bricolage Grotesque"/>
              </a:rPr>
              <a:t>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1975104"/>
            <a:ext cx="131673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1975104"/>
            <a:ext cx="131673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31F71"/>
                </a:solidFill>
                <a:latin typeface="Bricolage Grotesque"/>
              </a:rPr>
              <a:t>0°–90°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0" y="1975104"/>
            <a:ext cx="768096" cy="457200"/>
          </a:xfrm>
          <a:prstGeom prst="roundRect">
            <a:avLst>
              <a:gd name="adj" fmla="val 16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0" y="1975104"/>
            <a:ext cx="7680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31F71"/>
                </a:solidFill>
                <a:latin typeface="Bricolage Grotesque"/>
              </a:rPr>
              <a:t>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23360" y="1975104"/>
            <a:ext cx="768096" cy="457200"/>
          </a:xfrm>
          <a:prstGeom prst="roundRect">
            <a:avLst>
              <a:gd name="adj" fmla="val 16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0" y="1975104"/>
            <a:ext cx="7680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31F71"/>
                </a:solidFill>
                <a:latin typeface="Bricolage Grotesque"/>
              </a:rPr>
              <a:t>+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46320" y="1975104"/>
            <a:ext cx="768096" cy="457200"/>
          </a:xfrm>
          <a:prstGeom prst="roundRect">
            <a:avLst>
              <a:gd name="adj" fmla="val 16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1975104"/>
            <a:ext cx="7680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31F71"/>
                </a:solidFill>
                <a:latin typeface="Bricolage Grotesque"/>
              </a:rPr>
              <a:t>+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2487168"/>
            <a:ext cx="122529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487168"/>
            <a:ext cx="122529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31F71"/>
                </a:solidFill>
                <a:latin typeface="Bricolage Grotesque"/>
              </a:rPr>
              <a:t>II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28800" y="2487168"/>
            <a:ext cx="131673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0" y="2487168"/>
            <a:ext cx="131673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31F71"/>
                </a:solidFill>
                <a:latin typeface="Bricolage Grotesque"/>
              </a:rPr>
              <a:t>90°–180°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0" y="2487168"/>
            <a:ext cx="768096" cy="457200"/>
          </a:xfrm>
          <a:prstGeom prst="roundRect">
            <a:avLst>
              <a:gd name="adj" fmla="val 16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0" y="2487168"/>
            <a:ext cx="7680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31F71"/>
                </a:solidFill>
                <a:latin typeface="Bricolage Grotesque"/>
              </a:rPr>
              <a:t>+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23360" y="2487168"/>
            <a:ext cx="768096" cy="457200"/>
          </a:xfrm>
          <a:prstGeom prst="roundRect">
            <a:avLst>
              <a:gd name="adj" fmla="val 16000"/>
            </a:avLst>
          </a:prstGeom>
          <a:solidFill>
            <a:srgbClr val="F9C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23360" y="2487168"/>
            <a:ext cx="7680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31F71"/>
                </a:solidFill>
                <a:latin typeface="Bricolage Grotesque"/>
              </a:rPr>
              <a:t>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46320" y="2487168"/>
            <a:ext cx="768096" cy="457200"/>
          </a:xfrm>
          <a:prstGeom prst="roundRect">
            <a:avLst>
              <a:gd name="adj" fmla="val 16000"/>
            </a:avLst>
          </a:prstGeom>
          <a:solidFill>
            <a:srgbClr val="F9C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2487168"/>
            <a:ext cx="7680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31F71"/>
                </a:solidFill>
                <a:latin typeface="Bricolage Grotesque"/>
              </a:rPr>
              <a:t>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2999232"/>
            <a:ext cx="122529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2999232"/>
            <a:ext cx="122529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31F71"/>
                </a:solidFill>
                <a:latin typeface="Bricolage Grotesque"/>
              </a:rPr>
              <a:t>III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28800" y="2999232"/>
            <a:ext cx="131673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28800" y="2999232"/>
            <a:ext cx="131673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31F71"/>
                </a:solidFill>
                <a:latin typeface="Bricolage Grotesque"/>
              </a:rPr>
              <a:t>180°–270°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00400" y="2999232"/>
            <a:ext cx="768096" cy="457200"/>
          </a:xfrm>
          <a:prstGeom prst="roundRect">
            <a:avLst>
              <a:gd name="adj" fmla="val 16000"/>
            </a:avLst>
          </a:prstGeom>
          <a:solidFill>
            <a:srgbClr val="F9C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0" y="2999232"/>
            <a:ext cx="7680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31F71"/>
                </a:solidFill>
                <a:latin typeface="Bricolage Grotesque"/>
              </a:rPr>
              <a:t>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023360" y="2999232"/>
            <a:ext cx="768096" cy="457200"/>
          </a:xfrm>
          <a:prstGeom prst="roundRect">
            <a:avLst>
              <a:gd name="adj" fmla="val 16000"/>
            </a:avLst>
          </a:prstGeom>
          <a:solidFill>
            <a:srgbClr val="F9C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23360" y="2999232"/>
            <a:ext cx="7680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31F71"/>
                </a:solidFill>
                <a:latin typeface="Bricolage Grotesque"/>
              </a:rPr>
              <a:t>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46320" y="2999232"/>
            <a:ext cx="768096" cy="457200"/>
          </a:xfrm>
          <a:prstGeom prst="roundRect">
            <a:avLst>
              <a:gd name="adj" fmla="val 16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46320" y="2999232"/>
            <a:ext cx="7680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31F71"/>
                </a:solidFill>
                <a:latin typeface="Bricolage Grotesque"/>
              </a:rPr>
              <a:t>+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3511296"/>
            <a:ext cx="122529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3511296"/>
            <a:ext cx="122529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31F71"/>
                </a:solidFill>
                <a:latin typeface="Bricolage Grotesque"/>
              </a:rPr>
              <a:t>IV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828800" y="3511296"/>
            <a:ext cx="131673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28800" y="3511296"/>
            <a:ext cx="131673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31F71"/>
                </a:solidFill>
                <a:latin typeface="Bricolage Grotesque"/>
              </a:rPr>
              <a:t>270°–360°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00400" y="3511296"/>
            <a:ext cx="768096" cy="457200"/>
          </a:xfrm>
          <a:prstGeom prst="roundRect">
            <a:avLst>
              <a:gd name="adj" fmla="val 16000"/>
            </a:avLst>
          </a:prstGeom>
          <a:solidFill>
            <a:srgbClr val="F9C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0" y="3511296"/>
            <a:ext cx="7680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31F71"/>
                </a:solidFill>
                <a:latin typeface="Bricolage Grotesque"/>
              </a:rPr>
              <a:t>−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023360" y="3511296"/>
            <a:ext cx="768096" cy="457200"/>
          </a:xfrm>
          <a:prstGeom prst="roundRect">
            <a:avLst>
              <a:gd name="adj" fmla="val 16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023360" y="3511296"/>
            <a:ext cx="7680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31F71"/>
                </a:solidFill>
                <a:latin typeface="Bricolage Grotesque"/>
              </a:rPr>
              <a:t>+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846320" y="3511296"/>
            <a:ext cx="768096" cy="457200"/>
          </a:xfrm>
          <a:prstGeom prst="roundRect">
            <a:avLst>
              <a:gd name="adj" fmla="val 16000"/>
            </a:avLst>
          </a:prstGeom>
          <a:solidFill>
            <a:srgbClr val="F9C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46320" y="3511296"/>
            <a:ext cx="7680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31F71"/>
                </a:solidFill>
                <a:latin typeface="Bricolage Grotesque"/>
              </a:rPr>
              <a:t>−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48640" y="416052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" y="427024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B20"/>
                </a:solidFill>
                <a:latin typeface="Bricolage Grotesque"/>
              </a:rPr>
              <a:t>Why these signs?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4562856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4651"/>
                </a:solidFill>
                <a:latin typeface="Hanken Grotesk"/>
              </a:rPr>
              <a:t>sin θ is the y-coordinate and cos θ is the x-coordinate. tan θ = sin θ ÷ cos θ, so it is + when they match and − when they differ.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8640" y="5184648"/>
            <a:ext cx="5120640" cy="850392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5294376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B20"/>
                </a:solidFill>
                <a:latin typeface="Bricolage Grotesque"/>
              </a:rPr>
              <a:t>Memory trick: All Students Take Calculus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5586984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4651"/>
                </a:solidFill>
                <a:latin typeface="Hanken Grotesk"/>
              </a:rPr>
              <a:t>Going counter-clockwise from I: All are +, then only Sin, then only Tan, then only Cos.</a:t>
            </a:r>
          </a:p>
        </p:txBody>
      </p:sp>
      <p:sp>
        <p:nvSpPr>
          <p:cNvPr id="63" name="Oval 62"/>
          <p:cNvSpPr/>
          <p:nvPr/>
        </p:nvSpPr>
        <p:spPr>
          <a:xfrm>
            <a:off x="7040879" y="1874520"/>
            <a:ext cx="3474720" cy="3474720"/>
          </a:xfrm>
          <a:prstGeom prst="ellipse">
            <a:avLst/>
          </a:prstGeom>
          <a:solidFill>
            <a:srgbClr val="F1F5F9"/>
          </a:solidFill>
          <a:ln w="25400">
            <a:solidFill>
              <a:srgbClr val="575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961119" y="2587752"/>
            <a:ext cx="1188720" cy="585216"/>
          </a:xfrm>
          <a:prstGeom prst="roundRect">
            <a:avLst>
              <a:gd name="adj" fmla="val 125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61119" y="2587752"/>
            <a:ext cx="118872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231F71"/>
                </a:solidFill>
                <a:latin typeface="Plus Jakarta Sans"/>
              </a:rPr>
              <a:t>I</a:t>
            </a:r>
          </a:p>
          <a:p>
            <a:pPr algn="ctr"/>
            <a:r>
              <a:rPr sz="950" b="1">
                <a:solidFill>
                  <a:srgbClr val="231F71"/>
                </a:solidFill>
                <a:latin typeface="Plus Jakarta Sans"/>
              </a:rPr>
              <a:t>sin +  cos +</a:t>
            </a:r>
          </a:p>
          <a:p>
            <a:pPr algn="ctr"/>
            <a:r>
              <a:rPr sz="950" b="1">
                <a:solidFill>
                  <a:srgbClr val="231F71"/>
                </a:solidFill>
                <a:latin typeface="Plus Jakarta Sans"/>
              </a:rPr>
              <a:t>tan +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406640" y="2587752"/>
            <a:ext cx="1188720" cy="585216"/>
          </a:xfrm>
          <a:prstGeom prst="roundRect">
            <a:avLst>
              <a:gd name="adj" fmla="val 125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06640" y="2587752"/>
            <a:ext cx="118872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231F71"/>
                </a:solidFill>
                <a:latin typeface="Plus Jakarta Sans"/>
              </a:rPr>
              <a:t>II</a:t>
            </a:r>
          </a:p>
          <a:p>
            <a:pPr algn="ctr"/>
            <a:r>
              <a:rPr sz="950" b="1">
                <a:solidFill>
                  <a:srgbClr val="231F71"/>
                </a:solidFill>
                <a:latin typeface="Plus Jakarta Sans"/>
              </a:rPr>
              <a:t>sin +  cos −</a:t>
            </a:r>
          </a:p>
          <a:p>
            <a:pPr algn="ctr"/>
            <a:r>
              <a:rPr sz="950" b="1">
                <a:solidFill>
                  <a:srgbClr val="231F71"/>
                </a:solidFill>
                <a:latin typeface="Plus Jakarta Sans"/>
              </a:rPr>
              <a:t>tan −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406640" y="4050791"/>
            <a:ext cx="1188720" cy="585216"/>
          </a:xfrm>
          <a:prstGeom prst="roundRect">
            <a:avLst>
              <a:gd name="adj" fmla="val 12500"/>
            </a:avLst>
          </a:prstGeom>
          <a:solidFill>
            <a:srgbClr val="F9C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406640" y="4050791"/>
            <a:ext cx="118872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231F71"/>
                </a:solidFill>
                <a:latin typeface="Plus Jakarta Sans"/>
              </a:rPr>
              <a:t>III</a:t>
            </a:r>
          </a:p>
          <a:p>
            <a:pPr algn="ctr"/>
            <a:r>
              <a:rPr sz="950" b="1">
                <a:solidFill>
                  <a:srgbClr val="231F71"/>
                </a:solidFill>
                <a:latin typeface="Plus Jakarta Sans"/>
              </a:rPr>
              <a:t>sin −  cos −</a:t>
            </a:r>
          </a:p>
          <a:p>
            <a:pPr algn="ctr"/>
            <a:r>
              <a:rPr sz="950" b="1">
                <a:solidFill>
                  <a:srgbClr val="231F71"/>
                </a:solidFill>
                <a:latin typeface="Plus Jakarta Sans"/>
              </a:rPr>
              <a:t>tan +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961119" y="4050791"/>
            <a:ext cx="1188720" cy="585216"/>
          </a:xfrm>
          <a:prstGeom prst="roundRect">
            <a:avLst>
              <a:gd name="adj" fmla="val 125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961119" y="4050791"/>
            <a:ext cx="118872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231F71"/>
                </a:solidFill>
                <a:latin typeface="Plus Jakarta Sans"/>
              </a:rPr>
              <a:t>IV</a:t>
            </a:r>
          </a:p>
          <a:p>
            <a:pPr algn="ctr"/>
            <a:r>
              <a:rPr sz="950" b="1">
                <a:solidFill>
                  <a:srgbClr val="231F71"/>
                </a:solidFill>
                <a:latin typeface="Plus Jakarta Sans"/>
              </a:rPr>
              <a:t>sin −  cos +</a:t>
            </a:r>
          </a:p>
          <a:p>
            <a:pPr algn="ctr"/>
            <a:r>
              <a:rPr sz="950" b="1">
                <a:solidFill>
                  <a:srgbClr val="231F71"/>
                </a:solidFill>
                <a:latin typeface="Plus Jakarta Sans"/>
              </a:rPr>
              <a:t>tan −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903720" y="3611880"/>
            <a:ext cx="3749039" cy="0"/>
          </a:xfrm>
          <a:prstGeom prst="line">
            <a:avLst/>
          </a:prstGeom>
          <a:ln w="15240">
            <a:solidFill>
              <a:srgbClr val="4746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8778240" y="1737360"/>
            <a:ext cx="0" cy="3749040"/>
          </a:xfrm>
          <a:prstGeom prst="line">
            <a:avLst/>
          </a:prstGeom>
          <a:ln w="15240">
            <a:solidFill>
              <a:srgbClr val="4746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10716768" y="35021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Hanken Grotesk"/>
              </a:rPr>
              <a:t>x = cos θ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869680" y="15361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43F5E"/>
                </a:solidFill>
                <a:latin typeface="Hanken Grotesk"/>
              </a:rPr>
              <a:t>y = sin θ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63840" y="57424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474651"/>
                </a:solidFill>
                <a:latin typeface="Hanken Grotesk"/>
              </a:rPr>
              <a:t>tan θ = sin θ ÷ cos θ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6926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B1B20"/>
                </a:solidFill>
                <a:latin typeface="Bricolage Grotesque"/>
              </a:rPr>
              <a:t>Check the Signs in Python (pandas preview)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384120"/>
            <a:ext cx="383760" cy="456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4651"/>
                </a:solidFill>
                <a:latin typeface="Plus Jakarta Sans"/>
              </a:rPr>
              <a:t>CodeByPaxto  ·  AI &amp; ML Playground  ·  Hafiz Waseem Ahmed (Paxto)</a:t>
            </a:r>
          </a:p>
        </p:txBody>
      </p:sp>
      <p:sp>
        <p:nvSpPr>
          <p:cNvPr id="5" name="PAGENUM"/>
          <p:cNvSpPr txBox="1"/>
          <p:nvPr/>
        </p:nvSpPr>
        <p:spPr>
          <a:xfrm>
            <a:off x="11503152" y="647395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74651"/>
                </a:solidFill>
                <a:latin typeface="Plus Jakarta Sans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900"/>
              </a:spcAft>
              <a:buChar char="•"/>
            </a:pPr>
            <a:r>
              <a:rPr sz="1600">
                <a:solidFill>
                  <a:srgbClr val="1B1B20"/>
                </a:solidFill>
                <a:latin typeface="Hanken Grotesk"/>
              </a:rPr>
              <a:t>np.sign gives +1, −1 or 0 for each number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600">
                <a:solidFill>
                  <a:srgbClr val="1B1B20"/>
                </a:solidFill>
                <a:latin typeface="Hanken Grotesk"/>
              </a:rPr>
              <a:t>tan is just sin ÷ cos, so np.tan works too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600">
                <a:solidFill>
                  <a:srgbClr val="1B1B20"/>
                </a:solidFill>
                <a:latin typeface="Hanken Grotesk"/>
              </a:rPr>
              <a:t>pandas DataFrame prints a tidy table (we cover pandas later)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600">
                <a:solidFill>
                  <a:srgbClr val="1B1B20"/>
                </a:solidFill>
                <a:latin typeface="Hanken Grotesk"/>
              </a:rPr>
              <a:t>Each row below is one quadrant: 45°, 135°, 225°, 315°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F1F5F9"/>
                </a:solidFill>
                <a:latin typeface="Cantarell"/>
              </a:rPr>
              <a:t>import numpy as np</a:t>
            </a:r>
          </a:p>
          <a:p>
            <a:r>
              <a:rPr sz="1200">
                <a:solidFill>
                  <a:srgbClr val="F1F5F9"/>
                </a:solidFill>
                <a:latin typeface="Cantarell"/>
              </a:rPr>
              <a:t>import pandas as pd</a:t>
            </a:r>
          </a:p>
          <a:p>
            <a:r>
              <a:rPr sz="1200"/>
              <a:t> </a:t>
            </a:r>
          </a:p>
          <a:p>
            <a:r>
              <a:rPr sz="1200">
                <a:solidFill>
                  <a:srgbClr val="F1F5F9"/>
                </a:solidFill>
                <a:latin typeface="Cantarell"/>
              </a:rPr>
              <a:t>deg = np.array([45, 135, 225, 315])</a:t>
            </a:r>
          </a:p>
          <a:p>
            <a:r>
              <a:rPr sz="1200">
                <a:solidFill>
                  <a:srgbClr val="F1F5F9"/>
                </a:solidFill>
                <a:latin typeface="Cantarell"/>
              </a:rPr>
              <a:t>rad = np.deg2rad(deg)</a:t>
            </a:r>
          </a:p>
          <a:p>
            <a:r>
              <a:rPr sz="1200"/>
              <a:t> </a:t>
            </a:r>
          </a:p>
          <a:p>
            <a:r>
              <a:rPr sz="1200">
                <a:solidFill>
                  <a:srgbClr val="F1F5F9"/>
                </a:solidFill>
                <a:latin typeface="Cantarell"/>
              </a:rPr>
              <a:t>df = pd.DataFrame({</a:t>
            </a:r>
          </a:p>
          <a:p>
            <a:r>
              <a:rPr sz="1200">
                <a:solidFill>
                  <a:srgbClr val="F1F5F9"/>
                </a:solidFill>
                <a:latin typeface="Cantarell"/>
              </a:rPr>
              <a:t>    'angle': deg,</a:t>
            </a:r>
          </a:p>
          <a:p>
            <a:r>
              <a:rPr sz="1200">
                <a:solidFill>
                  <a:srgbClr val="F1F5F9"/>
                </a:solidFill>
                <a:latin typeface="Cantarell"/>
              </a:rPr>
              <a:t>    'sin': np.sign(np.sin(rad)),</a:t>
            </a:r>
          </a:p>
          <a:p>
            <a:r>
              <a:rPr sz="1200">
                <a:solidFill>
                  <a:srgbClr val="F1F5F9"/>
                </a:solidFill>
                <a:latin typeface="Cantarell"/>
              </a:rPr>
              <a:t>    'cos': np.sign(np.cos(rad)),</a:t>
            </a:r>
          </a:p>
          <a:p>
            <a:r>
              <a:rPr sz="1200">
                <a:solidFill>
                  <a:srgbClr val="F1F5F9"/>
                </a:solidFill>
                <a:latin typeface="Cantarell"/>
              </a:rPr>
              <a:t>    'tan': np.sign(np.tan(rad)),</a:t>
            </a:r>
          </a:p>
          <a:p>
            <a:r>
              <a:rPr sz="1200">
                <a:solidFill>
                  <a:srgbClr val="F1F5F9"/>
                </a:solidFill>
                <a:latin typeface="Cantarell"/>
              </a:rPr>
              <a:t>})</a:t>
            </a:r>
          </a:p>
          <a:p>
            <a:r>
              <a:rPr sz="1200">
                <a:solidFill>
                  <a:srgbClr val="F1F5F9"/>
                </a:solidFill>
                <a:latin typeface="Cantarell"/>
              </a:rPr>
              <a:t>print(df)</a:t>
            </a:r>
          </a:p>
          <a:p>
            <a:r>
              <a:rPr sz="1200">
                <a:solidFill>
                  <a:srgbClr val="94A3B8"/>
                </a:solidFill>
                <a:latin typeface="Cantarell"/>
              </a:rPr>
              <a:t># 1.0 means +, -1.0 means -</a:t>
            </a:r>
          </a:p>
          <a:p>
            <a:r>
              <a:rPr sz="1200">
                <a:solidFill>
                  <a:srgbClr val="94A3B8"/>
                </a:solidFill>
                <a:latin typeface="Cantarell"/>
              </a:rPr>
              <a:t># row 1 (45°):  + + +  -&gt; Quadrant I</a:t>
            </a:r>
          </a:p>
          <a:p>
            <a:r>
              <a:rPr sz="1200">
                <a:solidFill>
                  <a:srgbClr val="94A3B8"/>
                </a:solidFill>
                <a:latin typeface="Cantarell"/>
              </a:rPr>
              <a:t># row 2 (135°): + - -  -&gt; Quadrant II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6926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B1B20"/>
                </a:solidFill>
                <a:latin typeface="Bricolage Grotesque"/>
              </a:rPr>
              <a:t>Period vs Frequency: Two Ways to Say "How Fast"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384120"/>
            <a:ext cx="383760" cy="456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4651"/>
                </a:solidFill>
                <a:latin typeface="Plus Jakarta Sans"/>
              </a:rPr>
              <a:t>CodeByPaxto  ·  AI &amp; ML Playground  ·  Hafiz Waseem Ahmed (Paxto)</a:t>
            </a:r>
          </a:p>
        </p:txBody>
      </p:sp>
      <p:sp>
        <p:nvSpPr>
          <p:cNvPr id="5" name="PAGENUM"/>
          <p:cNvSpPr txBox="1"/>
          <p:nvPr/>
        </p:nvSpPr>
        <p:spPr>
          <a:xfrm>
            <a:off x="11503152" y="647395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74651"/>
                </a:solidFill>
                <a:latin typeface="Plus Jakarta Sans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463040"/>
            <a:ext cx="566928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120640" cy="10424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0934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093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019"/>
                </a:solidFill>
                <a:latin typeface="Bricolage Grotesq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57276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B20"/>
                </a:solidFill>
                <a:latin typeface="Bricolage Grotesque"/>
              </a:rPr>
              <a:t>Amplitude A = height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865376"/>
            <a:ext cx="4206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4651"/>
                </a:solidFill>
                <a:latin typeface="Hanken Grotesk"/>
              </a:rPr>
              <a:t>Distance from the middle line up to a peak. Bigger A means a louder sound or a stronger signal.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33472"/>
            <a:ext cx="5120640" cy="10424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77977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7977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019"/>
                </a:solidFill>
                <a:latin typeface="Bricolage Grotesque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74320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B20"/>
                </a:solidFill>
                <a:latin typeface="Bricolage Grotesque"/>
              </a:rPr>
              <a:t>Period T = time for one 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035808"/>
            <a:ext cx="4206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4651"/>
                </a:solidFill>
                <a:latin typeface="Hanken Grotesk"/>
              </a:rPr>
              <a:t>Measure from one peak to the next. Unit: seconds (or metres, for a wave in space).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03904"/>
            <a:ext cx="5120640" cy="10424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95020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5020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019"/>
                </a:solidFill>
                <a:latin typeface="Bricolage Grotesque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91363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B20"/>
                </a:solidFill>
                <a:latin typeface="Bricolage Grotesque"/>
              </a:rPr>
              <a:t>Frequency f = cycles per second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206240"/>
            <a:ext cx="4206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4651"/>
                </a:solidFill>
                <a:latin typeface="Hanken Grotesk"/>
              </a:rPr>
              <a:t>Count the peaks that pass in one second. Unit: Hertz (Hz). 440 Hz = the note A on a piano.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974336"/>
            <a:ext cx="5120640" cy="10424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512064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206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019"/>
                </a:solidFill>
                <a:latin typeface="Bricolage Grotesque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08406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B20"/>
                </a:solidFill>
                <a:latin typeface="Bricolage Grotesque"/>
              </a:rPr>
              <a:t>T = 1/f  and  f = 1/T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376672"/>
            <a:ext cx="4206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4651"/>
                </a:solidFill>
                <a:latin typeface="Hanken Grotesk"/>
              </a:rPr>
              <a:t>They are opposites. High f → short T (fast, high pitch). Low f → long T (slow, low pitch).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309360" y="2926080"/>
            <a:ext cx="5120640" cy="0"/>
          </a:xfrm>
          <a:prstGeom prst="line">
            <a:avLst/>
          </a:prstGeom>
          <a:ln w="12700">
            <a:solidFill>
              <a:srgbClr val="4746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309360" y="2194560"/>
            <a:ext cx="0" cy="1463040"/>
          </a:xfrm>
          <a:prstGeom prst="line">
            <a:avLst/>
          </a:prstGeom>
          <a:ln w="12700">
            <a:solidFill>
              <a:srgbClr val="4746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 28"/>
          <p:cNvSpPr/>
          <p:nvPr/>
        </p:nvSpPr>
        <p:spPr>
          <a:xfrm>
            <a:off x="6309360" y="2286000"/>
            <a:ext cx="4937760" cy="1280160"/>
          </a:xfrm>
          <a:custGeom>
            <a:avLst/>
            <a:gdLst/>
            <a:ahLst/>
            <a:cxnLst/>
            <a:rect l="l" t="t" r="r" b="b"/>
            <a:pathLst>
              <a:path w="4937760" h="1280160">
                <a:moveTo>
                  <a:pt x="0" y="640080"/>
                </a:moveTo>
                <a:lnTo>
                  <a:pt x="45720" y="539949"/>
                </a:lnTo>
                <a:lnTo>
                  <a:pt x="91440" y="442284"/>
                </a:lnTo>
                <a:lnTo>
                  <a:pt x="137160" y="349489"/>
                </a:lnTo>
                <a:lnTo>
                  <a:pt x="182880" y="263850"/>
                </a:lnTo>
                <a:lnTo>
                  <a:pt x="228600" y="187475"/>
                </a:lnTo>
                <a:lnTo>
                  <a:pt x="274320" y="122244"/>
                </a:lnTo>
                <a:lnTo>
                  <a:pt x="320040" y="69764"/>
                </a:lnTo>
                <a:lnTo>
                  <a:pt x="365760" y="31327"/>
                </a:lnTo>
                <a:lnTo>
                  <a:pt x="411480" y="7880"/>
                </a:lnTo>
                <a:lnTo>
                  <a:pt x="457200" y="0"/>
                </a:lnTo>
                <a:lnTo>
                  <a:pt x="502920" y="7880"/>
                </a:lnTo>
                <a:lnTo>
                  <a:pt x="548640" y="31327"/>
                </a:lnTo>
                <a:lnTo>
                  <a:pt x="594360" y="69764"/>
                </a:lnTo>
                <a:lnTo>
                  <a:pt x="640080" y="122244"/>
                </a:lnTo>
                <a:lnTo>
                  <a:pt x="685800" y="187475"/>
                </a:lnTo>
                <a:lnTo>
                  <a:pt x="731520" y="263850"/>
                </a:lnTo>
                <a:lnTo>
                  <a:pt x="777240" y="349489"/>
                </a:lnTo>
                <a:lnTo>
                  <a:pt x="822960" y="442284"/>
                </a:lnTo>
                <a:lnTo>
                  <a:pt x="868680" y="539949"/>
                </a:lnTo>
                <a:lnTo>
                  <a:pt x="914400" y="640080"/>
                </a:lnTo>
                <a:lnTo>
                  <a:pt x="960120" y="740210"/>
                </a:lnTo>
                <a:lnTo>
                  <a:pt x="1005840" y="837875"/>
                </a:lnTo>
                <a:lnTo>
                  <a:pt x="1051560" y="930670"/>
                </a:lnTo>
                <a:lnTo>
                  <a:pt x="1097280" y="1016309"/>
                </a:lnTo>
                <a:lnTo>
                  <a:pt x="1143000" y="1092684"/>
                </a:lnTo>
                <a:lnTo>
                  <a:pt x="1188720" y="1157915"/>
                </a:lnTo>
                <a:lnTo>
                  <a:pt x="1234440" y="1210395"/>
                </a:lnTo>
                <a:lnTo>
                  <a:pt x="1280160" y="1248832"/>
                </a:lnTo>
                <a:lnTo>
                  <a:pt x="1325880" y="1272279"/>
                </a:lnTo>
                <a:lnTo>
                  <a:pt x="1371600" y="1280160"/>
                </a:lnTo>
                <a:lnTo>
                  <a:pt x="1417320" y="1272279"/>
                </a:lnTo>
                <a:lnTo>
                  <a:pt x="1463040" y="1248832"/>
                </a:lnTo>
                <a:lnTo>
                  <a:pt x="1508760" y="1210395"/>
                </a:lnTo>
                <a:lnTo>
                  <a:pt x="1554480" y="1157915"/>
                </a:lnTo>
                <a:lnTo>
                  <a:pt x="1600200" y="1092684"/>
                </a:lnTo>
                <a:lnTo>
                  <a:pt x="1645920" y="1016309"/>
                </a:lnTo>
                <a:lnTo>
                  <a:pt x="1691640" y="930670"/>
                </a:lnTo>
                <a:lnTo>
                  <a:pt x="1737360" y="837875"/>
                </a:lnTo>
                <a:lnTo>
                  <a:pt x="1783080" y="740210"/>
                </a:lnTo>
                <a:lnTo>
                  <a:pt x="1828800" y="640080"/>
                </a:lnTo>
                <a:lnTo>
                  <a:pt x="1874520" y="539949"/>
                </a:lnTo>
                <a:lnTo>
                  <a:pt x="1920240" y="442284"/>
                </a:lnTo>
                <a:lnTo>
                  <a:pt x="1965960" y="349489"/>
                </a:lnTo>
                <a:lnTo>
                  <a:pt x="2011680" y="263850"/>
                </a:lnTo>
                <a:lnTo>
                  <a:pt x="2057400" y="187475"/>
                </a:lnTo>
                <a:lnTo>
                  <a:pt x="2103120" y="122244"/>
                </a:lnTo>
                <a:lnTo>
                  <a:pt x="2148840" y="69764"/>
                </a:lnTo>
                <a:lnTo>
                  <a:pt x="2194560" y="31327"/>
                </a:lnTo>
                <a:lnTo>
                  <a:pt x="2240280" y="7880"/>
                </a:lnTo>
                <a:lnTo>
                  <a:pt x="2286000" y="0"/>
                </a:lnTo>
                <a:lnTo>
                  <a:pt x="2331720" y="7880"/>
                </a:lnTo>
                <a:lnTo>
                  <a:pt x="2377440" y="31327"/>
                </a:lnTo>
                <a:lnTo>
                  <a:pt x="2423160" y="69764"/>
                </a:lnTo>
                <a:lnTo>
                  <a:pt x="2468880" y="122244"/>
                </a:lnTo>
                <a:lnTo>
                  <a:pt x="2514600" y="187475"/>
                </a:lnTo>
                <a:lnTo>
                  <a:pt x="2560320" y="263850"/>
                </a:lnTo>
                <a:lnTo>
                  <a:pt x="2606040" y="349489"/>
                </a:lnTo>
                <a:lnTo>
                  <a:pt x="2651760" y="442284"/>
                </a:lnTo>
                <a:lnTo>
                  <a:pt x="2697480" y="539949"/>
                </a:lnTo>
                <a:lnTo>
                  <a:pt x="2743200" y="640079"/>
                </a:lnTo>
                <a:lnTo>
                  <a:pt x="2788920" y="740210"/>
                </a:lnTo>
                <a:lnTo>
                  <a:pt x="2834640" y="837875"/>
                </a:lnTo>
                <a:lnTo>
                  <a:pt x="2880360" y="930670"/>
                </a:lnTo>
                <a:lnTo>
                  <a:pt x="2926080" y="1016309"/>
                </a:lnTo>
                <a:lnTo>
                  <a:pt x="2971800" y="1092684"/>
                </a:lnTo>
                <a:lnTo>
                  <a:pt x="3017520" y="1157915"/>
                </a:lnTo>
                <a:lnTo>
                  <a:pt x="3063240" y="1210395"/>
                </a:lnTo>
                <a:lnTo>
                  <a:pt x="3108960" y="1248832"/>
                </a:lnTo>
                <a:lnTo>
                  <a:pt x="3154680" y="1272279"/>
                </a:lnTo>
                <a:lnTo>
                  <a:pt x="3200400" y="1280160"/>
                </a:lnTo>
                <a:lnTo>
                  <a:pt x="3246120" y="1272279"/>
                </a:lnTo>
                <a:lnTo>
                  <a:pt x="3291840" y="1248832"/>
                </a:lnTo>
                <a:lnTo>
                  <a:pt x="3337560" y="1210395"/>
                </a:lnTo>
                <a:lnTo>
                  <a:pt x="3383280" y="1157915"/>
                </a:lnTo>
                <a:lnTo>
                  <a:pt x="3429000" y="1092684"/>
                </a:lnTo>
                <a:lnTo>
                  <a:pt x="3474720" y="1016309"/>
                </a:lnTo>
                <a:lnTo>
                  <a:pt x="3520440" y="930670"/>
                </a:lnTo>
                <a:lnTo>
                  <a:pt x="3566160" y="837875"/>
                </a:lnTo>
                <a:lnTo>
                  <a:pt x="3611880" y="740210"/>
                </a:lnTo>
                <a:lnTo>
                  <a:pt x="3657600" y="640080"/>
                </a:lnTo>
                <a:lnTo>
                  <a:pt x="3703320" y="539949"/>
                </a:lnTo>
                <a:lnTo>
                  <a:pt x="3749040" y="442284"/>
                </a:lnTo>
                <a:lnTo>
                  <a:pt x="3794760" y="349489"/>
                </a:lnTo>
                <a:lnTo>
                  <a:pt x="3840480" y="263850"/>
                </a:lnTo>
                <a:lnTo>
                  <a:pt x="3886200" y="187475"/>
                </a:lnTo>
                <a:lnTo>
                  <a:pt x="3931920" y="122244"/>
                </a:lnTo>
                <a:lnTo>
                  <a:pt x="3977640" y="69764"/>
                </a:lnTo>
                <a:lnTo>
                  <a:pt x="4023360" y="31327"/>
                </a:lnTo>
                <a:lnTo>
                  <a:pt x="4069080" y="7880"/>
                </a:lnTo>
                <a:lnTo>
                  <a:pt x="4114800" y="0"/>
                </a:lnTo>
                <a:lnTo>
                  <a:pt x="4160520" y="7880"/>
                </a:lnTo>
                <a:lnTo>
                  <a:pt x="4206240" y="31327"/>
                </a:lnTo>
                <a:lnTo>
                  <a:pt x="4251960" y="69764"/>
                </a:lnTo>
                <a:lnTo>
                  <a:pt x="4297680" y="122244"/>
                </a:lnTo>
                <a:lnTo>
                  <a:pt x="4343400" y="187475"/>
                </a:lnTo>
                <a:lnTo>
                  <a:pt x="4389120" y="263850"/>
                </a:lnTo>
                <a:lnTo>
                  <a:pt x="4434840" y="349489"/>
                </a:lnTo>
                <a:lnTo>
                  <a:pt x="4480560" y="442284"/>
                </a:lnTo>
                <a:lnTo>
                  <a:pt x="4526280" y="539949"/>
                </a:lnTo>
                <a:lnTo>
                  <a:pt x="4572000" y="640080"/>
                </a:lnTo>
                <a:lnTo>
                  <a:pt x="4617720" y="740210"/>
                </a:lnTo>
                <a:lnTo>
                  <a:pt x="4663440" y="837875"/>
                </a:lnTo>
                <a:lnTo>
                  <a:pt x="4709160" y="930670"/>
                </a:lnTo>
                <a:lnTo>
                  <a:pt x="4754880" y="1016309"/>
                </a:lnTo>
                <a:lnTo>
                  <a:pt x="4800600" y="1092684"/>
                </a:lnTo>
                <a:lnTo>
                  <a:pt x="4846320" y="1157915"/>
                </a:lnTo>
                <a:lnTo>
                  <a:pt x="4892040" y="1210395"/>
                </a:lnTo>
                <a:lnTo>
                  <a:pt x="4937760" y="1248832"/>
                </a:lnTo>
              </a:path>
            </a:pathLst>
          </a:custGeom>
          <a:noFill/>
          <a:ln w="44450">
            <a:solidFill>
              <a:srgbClr val="575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V="1">
            <a:off x="8595360" y="2286000"/>
            <a:ext cx="0" cy="640080"/>
          </a:xfrm>
          <a:prstGeom prst="line">
            <a:avLst/>
          </a:prstGeom>
          <a:ln w="381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686800" y="2029967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Hanken Grotesk"/>
              </a:rPr>
              <a:t>Amplitude A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766560" y="3749039"/>
            <a:ext cx="1828800" cy="0"/>
          </a:xfrm>
          <a:prstGeom prst="line">
            <a:avLst/>
          </a:prstGeom>
          <a:ln w="25400">
            <a:solidFill>
              <a:srgbClr val="F43F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66560" y="3675887"/>
            <a:ext cx="0" cy="146304"/>
          </a:xfrm>
          <a:prstGeom prst="line">
            <a:avLst/>
          </a:prstGeom>
          <a:ln w="25400">
            <a:solidFill>
              <a:srgbClr val="F43F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95360" y="3675887"/>
            <a:ext cx="0" cy="146304"/>
          </a:xfrm>
          <a:prstGeom prst="line">
            <a:avLst/>
          </a:prstGeom>
          <a:ln w="25400">
            <a:solidFill>
              <a:srgbClr val="F43F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766560" y="2286000"/>
            <a:ext cx="0" cy="1463039"/>
          </a:xfrm>
          <a:prstGeom prst="line">
            <a:avLst/>
          </a:prstGeom>
          <a:ln w="12700">
            <a:solidFill>
              <a:srgbClr val="F43F5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595360" y="2286000"/>
            <a:ext cx="0" cy="1463039"/>
          </a:xfrm>
          <a:prstGeom prst="line">
            <a:avLst/>
          </a:prstGeom>
          <a:ln w="12700">
            <a:solidFill>
              <a:srgbClr val="F43F5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766560" y="3840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43F5E"/>
                </a:solidFill>
                <a:latin typeface="Hanken Grotesk"/>
              </a:rPr>
              <a:t>Period T (one full cycle)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18795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755A7"/>
                </a:solidFill>
                <a:latin typeface="Hanken Grotesk"/>
              </a:rPr>
              <a:t>Low frequency: 2 Hz  →  long period, T = 0.5 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309360" y="4754880"/>
            <a:ext cx="4937760" cy="0"/>
          </a:xfrm>
          <a:prstGeom prst="line">
            <a:avLst/>
          </a:prstGeom>
          <a:ln w="12700">
            <a:solidFill>
              <a:srgbClr val="C8C5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reeform 39"/>
          <p:cNvSpPr/>
          <p:nvPr/>
        </p:nvSpPr>
        <p:spPr>
          <a:xfrm>
            <a:off x="6309360" y="4499281"/>
            <a:ext cx="4937760" cy="511197"/>
          </a:xfrm>
          <a:custGeom>
            <a:avLst/>
            <a:gdLst/>
            <a:ahLst/>
            <a:cxnLst/>
            <a:rect l="l" t="t" r="r" b="b"/>
            <a:pathLst>
              <a:path w="4937760" h="511197">
                <a:moveTo>
                  <a:pt x="0" y="255599"/>
                </a:moveTo>
                <a:lnTo>
                  <a:pt x="45720" y="225875"/>
                </a:lnTo>
                <a:lnTo>
                  <a:pt x="91440" y="196553"/>
                </a:lnTo>
                <a:lnTo>
                  <a:pt x="137160" y="168030"/>
                </a:lnTo>
                <a:lnTo>
                  <a:pt x="182880" y="140692"/>
                </a:lnTo>
                <a:lnTo>
                  <a:pt x="228600" y="114907"/>
                </a:lnTo>
                <a:lnTo>
                  <a:pt x="274320" y="91024"/>
                </a:lnTo>
                <a:lnTo>
                  <a:pt x="320040" y="69368"/>
                </a:lnTo>
                <a:lnTo>
                  <a:pt x="365760" y="50229"/>
                </a:lnTo>
                <a:lnTo>
                  <a:pt x="411480" y="33868"/>
                </a:lnTo>
                <a:lnTo>
                  <a:pt x="457200" y="20506"/>
                </a:lnTo>
                <a:lnTo>
                  <a:pt x="502920" y="10323"/>
                </a:lnTo>
                <a:lnTo>
                  <a:pt x="548640" y="3456"/>
                </a:lnTo>
                <a:lnTo>
                  <a:pt x="594360" y="0"/>
                </a:lnTo>
                <a:lnTo>
                  <a:pt x="640080" y="0"/>
                </a:lnTo>
                <a:lnTo>
                  <a:pt x="685800" y="3456"/>
                </a:lnTo>
                <a:lnTo>
                  <a:pt x="731520" y="10323"/>
                </a:lnTo>
                <a:lnTo>
                  <a:pt x="777240" y="20506"/>
                </a:lnTo>
                <a:lnTo>
                  <a:pt x="822960" y="33868"/>
                </a:lnTo>
                <a:lnTo>
                  <a:pt x="868680" y="50229"/>
                </a:lnTo>
                <a:lnTo>
                  <a:pt x="914400" y="69368"/>
                </a:lnTo>
                <a:lnTo>
                  <a:pt x="960120" y="91024"/>
                </a:lnTo>
                <a:lnTo>
                  <a:pt x="1005840" y="114907"/>
                </a:lnTo>
                <a:lnTo>
                  <a:pt x="1051560" y="140692"/>
                </a:lnTo>
                <a:lnTo>
                  <a:pt x="1097280" y="168030"/>
                </a:lnTo>
                <a:lnTo>
                  <a:pt x="1143000" y="196553"/>
                </a:lnTo>
                <a:lnTo>
                  <a:pt x="1188720" y="225875"/>
                </a:lnTo>
                <a:lnTo>
                  <a:pt x="1234440" y="255599"/>
                </a:lnTo>
                <a:lnTo>
                  <a:pt x="1280160" y="285322"/>
                </a:lnTo>
                <a:lnTo>
                  <a:pt x="1325880" y="314644"/>
                </a:lnTo>
                <a:lnTo>
                  <a:pt x="1371600" y="343167"/>
                </a:lnTo>
                <a:lnTo>
                  <a:pt x="1417320" y="370505"/>
                </a:lnTo>
                <a:lnTo>
                  <a:pt x="1463040" y="396290"/>
                </a:lnTo>
                <a:lnTo>
                  <a:pt x="1508760" y="420173"/>
                </a:lnTo>
                <a:lnTo>
                  <a:pt x="1554480" y="441829"/>
                </a:lnTo>
                <a:lnTo>
                  <a:pt x="1600200" y="460968"/>
                </a:lnTo>
                <a:lnTo>
                  <a:pt x="1645920" y="477329"/>
                </a:lnTo>
                <a:lnTo>
                  <a:pt x="1691640" y="490691"/>
                </a:lnTo>
                <a:lnTo>
                  <a:pt x="1737360" y="500874"/>
                </a:lnTo>
                <a:lnTo>
                  <a:pt x="1783080" y="507741"/>
                </a:lnTo>
                <a:lnTo>
                  <a:pt x="1828800" y="511197"/>
                </a:lnTo>
                <a:lnTo>
                  <a:pt x="1874520" y="511197"/>
                </a:lnTo>
                <a:lnTo>
                  <a:pt x="1920240" y="507741"/>
                </a:lnTo>
                <a:lnTo>
                  <a:pt x="1965960" y="500874"/>
                </a:lnTo>
                <a:lnTo>
                  <a:pt x="2011680" y="490691"/>
                </a:lnTo>
                <a:lnTo>
                  <a:pt x="2057400" y="477329"/>
                </a:lnTo>
                <a:lnTo>
                  <a:pt x="2103120" y="460968"/>
                </a:lnTo>
                <a:lnTo>
                  <a:pt x="2148840" y="441829"/>
                </a:lnTo>
                <a:lnTo>
                  <a:pt x="2194560" y="420173"/>
                </a:lnTo>
                <a:lnTo>
                  <a:pt x="2240280" y="396290"/>
                </a:lnTo>
                <a:lnTo>
                  <a:pt x="2286000" y="370505"/>
                </a:lnTo>
                <a:lnTo>
                  <a:pt x="2331720" y="343167"/>
                </a:lnTo>
                <a:lnTo>
                  <a:pt x="2377440" y="314644"/>
                </a:lnTo>
                <a:lnTo>
                  <a:pt x="2423160" y="285322"/>
                </a:lnTo>
                <a:lnTo>
                  <a:pt x="2468880" y="255599"/>
                </a:lnTo>
                <a:lnTo>
                  <a:pt x="2514600" y="225875"/>
                </a:lnTo>
                <a:lnTo>
                  <a:pt x="2560320" y="196553"/>
                </a:lnTo>
                <a:lnTo>
                  <a:pt x="2606040" y="168030"/>
                </a:lnTo>
                <a:lnTo>
                  <a:pt x="2651760" y="140692"/>
                </a:lnTo>
                <a:lnTo>
                  <a:pt x="2697480" y="114907"/>
                </a:lnTo>
                <a:lnTo>
                  <a:pt x="2743200" y="91024"/>
                </a:lnTo>
                <a:lnTo>
                  <a:pt x="2788920" y="69368"/>
                </a:lnTo>
                <a:lnTo>
                  <a:pt x="2834640" y="50229"/>
                </a:lnTo>
                <a:lnTo>
                  <a:pt x="2880360" y="33868"/>
                </a:lnTo>
                <a:lnTo>
                  <a:pt x="2926080" y="20506"/>
                </a:lnTo>
                <a:lnTo>
                  <a:pt x="2971800" y="10323"/>
                </a:lnTo>
                <a:lnTo>
                  <a:pt x="3017520" y="3456"/>
                </a:lnTo>
                <a:lnTo>
                  <a:pt x="3063240" y="0"/>
                </a:lnTo>
                <a:lnTo>
                  <a:pt x="3108960" y="0"/>
                </a:lnTo>
                <a:lnTo>
                  <a:pt x="3154680" y="3456"/>
                </a:lnTo>
                <a:lnTo>
                  <a:pt x="3200400" y="10323"/>
                </a:lnTo>
                <a:lnTo>
                  <a:pt x="3246120" y="20506"/>
                </a:lnTo>
                <a:lnTo>
                  <a:pt x="3291840" y="33868"/>
                </a:lnTo>
                <a:lnTo>
                  <a:pt x="3337560" y="50229"/>
                </a:lnTo>
                <a:lnTo>
                  <a:pt x="3383280" y="69368"/>
                </a:lnTo>
                <a:lnTo>
                  <a:pt x="3429000" y="91024"/>
                </a:lnTo>
                <a:lnTo>
                  <a:pt x="3474720" y="114907"/>
                </a:lnTo>
                <a:lnTo>
                  <a:pt x="3520440" y="140692"/>
                </a:lnTo>
                <a:lnTo>
                  <a:pt x="3566160" y="168030"/>
                </a:lnTo>
                <a:lnTo>
                  <a:pt x="3611880" y="196553"/>
                </a:lnTo>
                <a:lnTo>
                  <a:pt x="3657600" y="225875"/>
                </a:lnTo>
                <a:lnTo>
                  <a:pt x="3703320" y="255598"/>
                </a:lnTo>
                <a:lnTo>
                  <a:pt x="3749040" y="285322"/>
                </a:lnTo>
                <a:lnTo>
                  <a:pt x="3794760" y="314644"/>
                </a:lnTo>
                <a:lnTo>
                  <a:pt x="3840480" y="343167"/>
                </a:lnTo>
                <a:lnTo>
                  <a:pt x="3886200" y="370505"/>
                </a:lnTo>
                <a:lnTo>
                  <a:pt x="3931920" y="396290"/>
                </a:lnTo>
                <a:lnTo>
                  <a:pt x="3977640" y="420173"/>
                </a:lnTo>
                <a:lnTo>
                  <a:pt x="4023360" y="441829"/>
                </a:lnTo>
                <a:lnTo>
                  <a:pt x="4069080" y="460968"/>
                </a:lnTo>
                <a:lnTo>
                  <a:pt x="4114800" y="477329"/>
                </a:lnTo>
                <a:lnTo>
                  <a:pt x="4160520" y="490691"/>
                </a:lnTo>
                <a:lnTo>
                  <a:pt x="4206240" y="500874"/>
                </a:lnTo>
                <a:lnTo>
                  <a:pt x="4251960" y="507741"/>
                </a:lnTo>
                <a:lnTo>
                  <a:pt x="4297680" y="511197"/>
                </a:lnTo>
                <a:lnTo>
                  <a:pt x="4343400" y="511197"/>
                </a:lnTo>
                <a:lnTo>
                  <a:pt x="4389120" y="507741"/>
                </a:lnTo>
                <a:lnTo>
                  <a:pt x="4434840" y="500874"/>
                </a:lnTo>
                <a:lnTo>
                  <a:pt x="4480560" y="490691"/>
                </a:lnTo>
                <a:lnTo>
                  <a:pt x="4526280" y="477329"/>
                </a:lnTo>
                <a:lnTo>
                  <a:pt x="4572000" y="460968"/>
                </a:lnTo>
                <a:lnTo>
                  <a:pt x="4617720" y="441829"/>
                </a:lnTo>
                <a:lnTo>
                  <a:pt x="4663440" y="420173"/>
                </a:lnTo>
                <a:lnTo>
                  <a:pt x="4709160" y="396290"/>
                </a:lnTo>
                <a:lnTo>
                  <a:pt x="4754880" y="370505"/>
                </a:lnTo>
                <a:lnTo>
                  <a:pt x="4800600" y="343167"/>
                </a:lnTo>
                <a:lnTo>
                  <a:pt x="4846320" y="314644"/>
                </a:lnTo>
                <a:lnTo>
                  <a:pt x="4892040" y="285322"/>
                </a:lnTo>
                <a:lnTo>
                  <a:pt x="4937760" y="255599"/>
                </a:lnTo>
              </a:path>
            </a:pathLst>
          </a:custGeom>
          <a:noFill/>
          <a:ln w="31750">
            <a:solidFill>
              <a:srgbClr val="575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505663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Hanken Grotesk"/>
              </a:rPr>
              <a:t>High frequency: 6 Hz  →  short period, T ≈ 0.17 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309360" y="5623560"/>
            <a:ext cx="4937760" cy="0"/>
          </a:xfrm>
          <a:prstGeom prst="line">
            <a:avLst/>
          </a:prstGeom>
          <a:ln w="12700">
            <a:solidFill>
              <a:srgbClr val="C8C5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6309360" y="5371417"/>
            <a:ext cx="4937760" cy="504285"/>
          </a:xfrm>
          <a:custGeom>
            <a:avLst/>
            <a:gdLst/>
            <a:ahLst/>
            <a:cxnLst/>
            <a:rect l="l" t="t" r="r" b="b"/>
            <a:pathLst>
              <a:path w="4937760" h="504285">
                <a:moveTo>
                  <a:pt x="0" y="252143"/>
                </a:moveTo>
                <a:lnTo>
                  <a:pt x="45720" y="164574"/>
                </a:lnTo>
                <a:lnTo>
                  <a:pt x="91440" y="87568"/>
                </a:lnTo>
                <a:lnTo>
                  <a:pt x="137160" y="30412"/>
                </a:lnTo>
                <a:lnTo>
                  <a:pt x="182880" y="0"/>
                </a:lnTo>
                <a:lnTo>
                  <a:pt x="228600" y="0"/>
                </a:lnTo>
                <a:lnTo>
                  <a:pt x="274320" y="30412"/>
                </a:lnTo>
                <a:lnTo>
                  <a:pt x="320040" y="87568"/>
                </a:lnTo>
                <a:lnTo>
                  <a:pt x="365760" y="164574"/>
                </a:lnTo>
                <a:lnTo>
                  <a:pt x="411480" y="252143"/>
                </a:lnTo>
                <a:lnTo>
                  <a:pt x="457200" y="339711"/>
                </a:lnTo>
                <a:lnTo>
                  <a:pt x="502920" y="416717"/>
                </a:lnTo>
                <a:lnTo>
                  <a:pt x="548640" y="473873"/>
                </a:lnTo>
                <a:lnTo>
                  <a:pt x="594360" y="504285"/>
                </a:lnTo>
                <a:lnTo>
                  <a:pt x="640080" y="504285"/>
                </a:lnTo>
                <a:lnTo>
                  <a:pt x="685800" y="473873"/>
                </a:lnTo>
                <a:lnTo>
                  <a:pt x="731520" y="416717"/>
                </a:lnTo>
                <a:lnTo>
                  <a:pt x="777240" y="339711"/>
                </a:lnTo>
                <a:lnTo>
                  <a:pt x="822960" y="252143"/>
                </a:lnTo>
                <a:lnTo>
                  <a:pt x="868680" y="164574"/>
                </a:lnTo>
                <a:lnTo>
                  <a:pt x="914400" y="87568"/>
                </a:lnTo>
                <a:lnTo>
                  <a:pt x="960120" y="30412"/>
                </a:lnTo>
                <a:lnTo>
                  <a:pt x="1005840" y="0"/>
                </a:lnTo>
                <a:lnTo>
                  <a:pt x="1051560" y="0"/>
                </a:lnTo>
                <a:lnTo>
                  <a:pt x="1097280" y="30412"/>
                </a:lnTo>
                <a:lnTo>
                  <a:pt x="1143000" y="87568"/>
                </a:lnTo>
                <a:lnTo>
                  <a:pt x="1188720" y="164574"/>
                </a:lnTo>
                <a:lnTo>
                  <a:pt x="1234440" y="252143"/>
                </a:lnTo>
                <a:lnTo>
                  <a:pt x="1280160" y="339711"/>
                </a:lnTo>
                <a:lnTo>
                  <a:pt x="1325880" y="416717"/>
                </a:lnTo>
                <a:lnTo>
                  <a:pt x="1371600" y="473873"/>
                </a:lnTo>
                <a:lnTo>
                  <a:pt x="1417320" y="504285"/>
                </a:lnTo>
                <a:lnTo>
                  <a:pt x="1463040" y="504285"/>
                </a:lnTo>
                <a:lnTo>
                  <a:pt x="1508760" y="473873"/>
                </a:lnTo>
                <a:lnTo>
                  <a:pt x="1554480" y="416717"/>
                </a:lnTo>
                <a:lnTo>
                  <a:pt x="1600200" y="339711"/>
                </a:lnTo>
                <a:lnTo>
                  <a:pt x="1645920" y="252143"/>
                </a:lnTo>
                <a:lnTo>
                  <a:pt x="1691640" y="164574"/>
                </a:lnTo>
                <a:lnTo>
                  <a:pt x="1737360" y="87568"/>
                </a:lnTo>
                <a:lnTo>
                  <a:pt x="1783080" y="30412"/>
                </a:lnTo>
                <a:lnTo>
                  <a:pt x="1828800" y="0"/>
                </a:lnTo>
                <a:lnTo>
                  <a:pt x="1874520" y="0"/>
                </a:lnTo>
                <a:lnTo>
                  <a:pt x="1920240" y="30412"/>
                </a:lnTo>
                <a:lnTo>
                  <a:pt x="1965960" y="87568"/>
                </a:lnTo>
                <a:lnTo>
                  <a:pt x="2011680" y="164574"/>
                </a:lnTo>
                <a:lnTo>
                  <a:pt x="2057400" y="252142"/>
                </a:lnTo>
                <a:lnTo>
                  <a:pt x="2103120" y="339711"/>
                </a:lnTo>
                <a:lnTo>
                  <a:pt x="2148840" y="416717"/>
                </a:lnTo>
                <a:lnTo>
                  <a:pt x="2194560" y="473873"/>
                </a:lnTo>
                <a:lnTo>
                  <a:pt x="2240280" y="504285"/>
                </a:lnTo>
                <a:lnTo>
                  <a:pt x="2286000" y="504285"/>
                </a:lnTo>
                <a:lnTo>
                  <a:pt x="2331720" y="473873"/>
                </a:lnTo>
                <a:lnTo>
                  <a:pt x="2377440" y="416717"/>
                </a:lnTo>
                <a:lnTo>
                  <a:pt x="2423160" y="339711"/>
                </a:lnTo>
                <a:lnTo>
                  <a:pt x="2468880" y="252143"/>
                </a:lnTo>
                <a:lnTo>
                  <a:pt x="2514600" y="164574"/>
                </a:lnTo>
                <a:lnTo>
                  <a:pt x="2560320" y="87568"/>
                </a:lnTo>
                <a:lnTo>
                  <a:pt x="2606040" y="30412"/>
                </a:lnTo>
                <a:lnTo>
                  <a:pt x="2651760" y="0"/>
                </a:lnTo>
                <a:lnTo>
                  <a:pt x="2697480" y="0"/>
                </a:lnTo>
                <a:lnTo>
                  <a:pt x="2743200" y="30412"/>
                </a:lnTo>
                <a:lnTo>
                  <a:pt x="2788920" y="87568"/>
                </a:lnTo>
                <a:lnTo>
                  <a:pt x="2834640" y="164574"/>
                </a:lnTo>
                <a:lnTo>
                  <a:pt x="2880360" y="252143"/>
                </a:lnTo>
                <a:lnTo>
                  <a:pt x="2926080" y="339711"/>
                </a:lnTo>
                <a:lnTo>
                  <a:pt x="2971800" y="416717"/>
                </a:lnTo>
                <a:lnTo>
                  <a:pt x="3017520" y="473873"/>
                </a:lnTo>
                <a:lnTo>
                  <a:pt x="3063240" y="504285"/>
                </a:lnTo>
                <a:lnTo>
                  <a:pt x="3108960" y="504285"/>
                </a:lnTo>
                <a:lnTo>
                  <a:pt x="3154680" y="473873"/>
                </a:lnTo>
                <a:lnTo>
                  <a:pt x="3200400" y="416717"/>
                </a:lnTo>
                <a:lnTo>
                  <a:pt x="3246120" y="339711"/>
                </a:lnTo>
                <a:lnTo>
                  <a:pt x="3291840" y="252143"/>
                </a:lnTo>
                <a:lnTo>
                  <a:pt x="3337560" y="164574"/>
                </a:lnTo>
                <a:lnTo>
                  <a:pt x="3383280" y="87568"/>
                </a:lnTo>
                <a:lnTo>
                  <a:pt x="3429000" y="30412"/>
                </a:lnTo>
                <a:lnTo>
                  <a:pt x="3474720" y="0"/>
                </a:lnTo>
                <a:lnTo>
                  <a:pt x="3520440" y="0"/>
                </a:lnTo>
                <a:lnTo>
                  <a:pt x="3566160" y="30412"/>
                </a:lnTo>
                <a:lnTo>
                  <a:pt x="3611880" y="87568"/>
                </a:lnTo>
                <a:lnTo>
                  <a:pt x="3657600" y="164574"/>
                </a:lnTo>
                <a:lnTo>
                  <a:pt x="3703320" y="252142"/>
                </a:lnTo>
                <a:lnTo>
                  <a:pt x="3749040" y="339711"/>
                </a:lnTo>
                <a:lnTo>
                  <a:pt x="3794760" y="416717"/>
                </a:lnTo>
                <a:lnTo>
                  <a:pt x="3840480" y="473873"/>
                </a:lnTo>
                <a:lnTo>
                  <a:pt x="3886200" y="504285"/>
                </a:lnTo>
                <a:lnTo>
                  <a:pt x="3931920" y="504285"/>
                </a:lnTo>
                <a:lnTo>
                  <a:pt x="3977640" y="473873"/>
                </a:lnTo>
                <a:lnTo>
                  <a:pt x="4023360" y="416717"/>
                </a:lnTo>
                <a:lnTo>
                  <a:pt x="4069080" y="339711"/>
                </a:lnTo>
                <a:lnTo>
                  <a:pt x="4114800" y="252143"/>
                </a:lnTo>
                <a:lnTo>
                  <a:pt x="4160520" y="164574"/>
                </a:lnTo>
                <a:lnTo>
                  <a:pt x="4206240" y="87568"/>
                </a:lnTo>
                <a:lnTo>
                  <a:pt x="4251960" y="30412"/>
                </a:lnTo>
                <a:lnTo>
                  <a:pt x="4297680" y="0"/>
                </a:lnTo>
                <a:lnTo>
                  <a:pt x="4343400" y="0"/>
                </a:lnTo>
                <a:lnTo>
                  <a:pt x="4389120" y="30412"/>
                </a:lnTo>
                <a:lnTo>
                  <a:pt x="4434840" y="87568"/>
                </a:lnTo>
                <a:lnTo>
                  <a:pt x="4480560" y="164574"/>
                </a:lnTo>
                <a:lnTo>
                  <a:pt x="4526280" y="252142"/>
                </a:lnTo>
                <a:lnTo>
                  <a:pt x="4572000" y="339711"/>
                </a:lnTo>
                <a:lnTo>
                  <a:pt x="4617720" y="416717"/>
                </a:lnTo>
                <a:lnTo>
                  <a:pt x="4663440" y="473873"/>
                </a:lnTo>
                <a:lnTo>
                  <a:pt x="4709160" y="504285"/>
                </a:lnTo>
                <a:lnTo>
                  <a:pt x="4754880" y="504285"/>
                </a:lnTo>
                <a:lnTo>
                  <a:pt x="4800600" y="473873"/>
                </a:lnTo>
                <a:lnTo>
                  <a:pt x="4846320" y="416717"/>
                </a:lnTo>
                <a:lnTo>
                  <a:pt x="4892040" y="339711"/>
                </a:lnTo>
                <a:lnTo>
                  <a:pt x="4937760" y="252143"/>
                </a:lnTo>
              </a:path>
            </a:pathLst>
          </a:custGeom>
          <a:noFill/>
          <a:ln w="317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6480" y="157276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B1B20"/>
                </a:solidFill>
                <a:latin typeface="Bricolage Grotesque"/>
              </a:rPr>
              <a:t>A · sin(2π · t / T)   with   T = 1 / f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6926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B1B20"/>
                </a:solidFill>
                <a:latin typeface="Bricolage Grotesque"/>
              </a:rPr>
              <a:t>Plot a Wave with matplotlib (preview)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384120"/>
            <a:ext cx="383760" cy="456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4651"/>
                </a:solidFill>
                <a:latin typeface="Plus Jakarta Sans"/>
              </a:rPr>
              <a:t>CodeByPaxto  ·  AI &amp; ML Playground  ·  Hafiz Waseem Ahmed (Paxto)</a:t>
            </a:r>
          </a:p>
        </p:txBody>
      </p:sp>
      <p:sp>
        <p:nvSpPr>
          <p:cNvPr id="5" name="PAGENUM"/>
          <p:cNvSpPr txBox="1"/>
          <p:nvPr/>
        </p:nvSpPr>
        <p:spPr>
          <a:xfrm>
            <a:off x="11503152" y="647395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74651"/>
                </a:solidFill>
                <a:latin typeface="Plus Jakarta Sans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900"/>
              </a:spcAft>
              <a:buChar char="•"/>
            </a:pPr>
            <a:r>
              <a:rPr sz="1600">
                <a:solidFill>
                  <a:srgbClr val="1B1B20"/>
                </a:solidFill>
                <a:latin typeface="Hanken Grotesk"/>
              </a:rPr>
              <a:t>matplotlib draws graphs (full lesson later)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600">
                <a:solidFill>
                  <a:srgbClr val="1B1B20"/>
                </a:solidFill>
                <a:latin typeface="Hanken Grotesk"/>
              </a:rPr>
              <a:t>np.linspace makes evenly spaced time points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600">
                <a:solidFill>
                  <a:srgbClr val="1B1B20"/>
                </a:solidFill>
                <a:latin typeface="Hanken Grotesk"/>
              </a:rPr>
              <a:t>f = 3 Hz means T = 1/f ≈ 0.33 s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600">
                <a:solidFill>
                  <a:srgbClr val="1B1B20"/>
                </a:solidFill>
                <a:latin typeface="Hanken Grotesk"/>
              </a:rPr>
              <a:t>Change A and f, run again, and watch the wave change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F1F5F9"/>
                </a:solidFill>
                <a:latin typeface="Cantarell"/>
              </a:rPr>
              <a:t>import numpy as np</a:t>
            </a:r>
          </a:p>
          <a:p>
            <a:r>
              <a:rPr sz="1200">
                <a:solidFill>
                  <a:srgbClr val="F1F5F9"/>
                </a:solidFill>
                <a:latin typeface="Cantarell"/>
              </a:rPr>
              <a:t>import matplotlib.pyplot as plt</a:t>
            </a:r>
          </a:p>
          <a:p>
            <a:r>
              <a:rPr sz="1200"/>
              <a:t> </a:t>
            </a:r>
          </a:p>
          <a:p>
            <a:r>
              <a:rPr sz="1200">
                <a:solidFill>
                  <a:srgbClr val="F1F5F9"/>
                </a:solidFill>
                <a:latin typeface="Cantarell"/>
              </a:rPr>
              <a:t>t = np.linspace(0, 1, 500)</a:t>
            </a:r>
            <a:r>
              <a:rPr sz="1200">
                <a:solidFill>
                  <a:srgbClr val="94A3B8"/>
                </a:solidFill>
                <a:latin typeface="Cantarell"/>
              </a:rPr>
              <a:t>  # 1 second</a:t>
            </a:r>
          </a:p>
          <a:p>
            <a:r>
              <a:rPr sz="1200">
                <a:solidFill>
                  <a:srgbClr val="F1F5F9"/>
                </a:solidFill>
                <a:latin typeface="Cantarell"/>
              </a:rPr>
              <a:t>A, f = 2, 3               </a:t>
            </a:r>
            <a:r>
              <a:rPr sz="1200">
                <a:solidFill>
                  <a:srgbClr val="94A3B8"/>
                </a:solidFill>
                <a:latin typeface="Cantarell"/>
              </a:rPr>
              <a:t>  # amplitude, Hz</a:t>
            </a:r>
          </a:p>
          <a:p>
            <a:r>
              <a:rPr sz="1200">
                <a:solidFill>
                  <a:srgbClr val="F1F5F9"/>
                </a:solidFill>
                <a:latin typeface="Cantarell"/>
              </a:rPr>
              <a:t>T = 1 / f                 </a:t>
            </a:r>
            <a:r>
              <a:rPr sz="1200">
                <a:solidFill>
                  <a:srgbClr val="94A3B8"/>
                </a:solidFill>
                <a:latin typeface="Cantarell"/>
              </a:rPr>
              <a:t>  # period</a:t>
            </a:r>
          </a:p>
          <a:p>
            <a:r>
              <a:rPr sz="1200">
                <a:solidFill>
                  <a:srgbClr val="F1F5F9"/>
                </a:solidFill>
                <a:latin typeface="Cantarell"/>
              </a:rPr>
              <a:t>y = A * np.sin(2*np.pi*f*t)</a:t>
            </a:r>
          </a:p>
          <a:p>
            <a:r>
              <a:rPr sz="1200"/>
              <a:t> </a:t>
            </a:r>
          </a:p>
          <a:p>
            <a:r>
              <a:rPr sz="1200">
                <a:solidFill>
                  <a:srgbClr val="F1F5F9"/>
                </a:solidFill>
                <a:latin typeface="Cantarell"/>
              </a:rPr>
              <a:t>plt.plot(t, y)</a:t>
            </a:r>
          </a:p>
          <a:p>
            <a:r>
              <a:rPr sz="1200">
                <a:solidFill>
                  <a:srgbClr val="F1F5F9"/>
                </a:solidFill>
                <a:latin typeface="Cantarell"/>
              </a:rPr>
              <a:t>plt.title(f'A={A}, f={f} Hz, T={T:.2f} s')</a:t>
            </a:r>
          </a:p>
          <a:p>
            <a:r>
              <a:rPr sz="1200">
                <a:solidFill>
                  <a:srgbClr val="F1F5F9"/>
                </a:solidFill>
                <a:latin typeface="Cantarell"/>
              </a:rPr>
              <a:t>plt.xlabel('time (s)')</a:t>
            </a:r>
          </a:p>
          <a:p>
            <a:r>
              <a:rPr sz="1200">
                <a:solidFill>
                  <a:srgbClr val="F1F5F9"/>
                </a:solidFill>
                <a:latin typeface="Cantarell"/>
              </a:rPr>
              <a:t>plt.axhline(0, color='gray')</a:t>
            </a:r>
          </a:p>
          <a:p>
            <a:r>
              <a:rPr sz="1200">
                <a:solidFill>
                  <a:srgbClr val="F1F5F9"/>
                </a:solidFill>
                <a:latin typeface="Cantarell"/>
              </a:rPr>
              <a:t>plt.show()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4754880"/>
            <a:ext cx="3474720" cy="347472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Plus Jakarta Sans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332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1F5F9"/>
                </a:solidFill>
                <a:latin typeface="Bricolage Grotesque"/>
              </a:rPr>
              <a:t>Secant → Tangent → Slope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77639"/>
            <a:ext cx="9692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Hanken Grotesk"/>
              </a:rPr>
              <a:t>Two points make a secant; squeeze them together and you get the slope that powers gradient descent</a:t>
            </a:r>
          </a:p>
        </p:txBody>
      </p:sp>
      <p:sp>
        <p:nvSpPr>
          <p:cNvPr id="7" name="PAGENUM"/>
          <p:cNvSpPr txBox="1"/>
          <p:nvPr/>
        </p:nvSpPr>
        <p:spPr>
          <a:xfrm>
            <a:off x="11503152" y="647395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Plus Jakarta Sans"/>
              </a:rPr>
              <a:t>25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6926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B1B20"/>
                </a:solidFill>
                <a:latin typeface="Bricolage Grotesque"/>
              </a:rPr>
              <a:t>From Secant to Tangent: Slope at One Point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384120"/>
            <a:ext cx="383760" cy="456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4651"/>
                </a:solidFill>
                <a:latin typeface="Plus Jakarta Sans"/>
              </a:rPr>
              <a:t>CodeByPaxto  ·  AI &amp; ML Playground  ·  Hafiz Waseem Ahmed (Paxto)</a:t>
            </a:r>
          </a:p>
        </p:txBody>
      </p:sp>
      <p:sp>
        <p:nvSpPr>
          <p:cNvPr id="5" name="PAGENUM"/>
          <p:cNvSpPr txBox="1"/>
          <p:nvPr/>
        </p:nvSpPr>
        <p:spPr>
          <a:xfrm>
            <a:off x="11503152" y="647395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74651"/>
                </a:solidFill>
                <a:latin typeface="Plus Jakarta Sans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463040"/>
            <a:ext cx="566928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120640" cy="10424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0934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093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019"/>
                </a:solidFill>
                <a:latin typeface="Bricolage Grotesq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57276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B20"/>
                </a:solidFill>
                <a:latin typeface="Bricolage Grotesque"/>
              </a:rPr>
              <a:t>Pick two points on a curve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865376"/>
            <a:ext cx="4206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4651"/>
                </a:solidFill>
                <a:latin typeface="Hanken Grotesk"/>
              </a:rPr>
              <a:t>Call them P and Q. Any straight line through both points is a secant 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33472"/>
            <a:ext cx="5120640" cy="10424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77977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7977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019"/>
                </a:solidFill>
                <a:latin typeface="Bricolage Grotesque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74320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B20"/>
                </a:solidFill>
                <a:latin typeface="Bricolage Grotesque"/>
              </a:rPr>
              <a:t>Secant slope = rise ÷ 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035808"/>
            <a:ext cx="4206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4651"/>
                </a:solidFill>
                <a:latin typeface="Hanken Grotesk"/>
              </a:rPr>
              <a:t>slope = (f(x+h) − f(x)) / h, where h is the gap between P and Q. It is the average slope between them.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03904"/>
            <a:ext cx="5120640" cy="10424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95020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5020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019"/>
                </a:solidFill>
                <a:latin typeface="Bricolage Grotesque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91363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B20"/>
                </a:solidFill>
                <a:latin typeface="Bricolage Grotesque"/>
              </a:rPr>
              <a:t>Slide Q toward P (h → 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206240"/>
            <a:ext cx="4206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4651"/>
                </a:solidFill>
                <a:latin typeface="Hanken Grotesk"/>
              </a:rPr>
              <a:t>The gap shrinks, and the secant line pivots until it just touches the curve at 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974336"/>
            <a:ext cx="5120640" cy="10424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512064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206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019"/>
                </a:solidFill>
                <a:latin typeface="Bricolage Grotesque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08406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B20"/>
                </a:solidFill>
                <a:latin typeface="Bricolage Grotesque"/>
              </a:rPr>
              <a:t>That limit is the tangent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376672"/>
            <a:ext cx="4206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4651"/>
                </a:solidFill>
                <a:latin typeface="Hanken Grotesk"/>
              </a:rPr>
              <a:t>The tangent line gives the instantaneous slope at P: how steep the curve is right now. That slope is the derivative.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217920" y="5669280"/>
            <a:ext cx="5212080" cy="0"/>
          </a:xfrm>
          <a:prstGeom prst="line">
            <a:avLst/>
          </a:prstGeom>
          <a:ln w="12700">
            <a:solidFill>
              <a:srgbClr val="4746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400800" y="1828800"/>
            <a:ext cx="0" cy="3931920"/>
          </a:xfrm>
          <a:prstGeom prst="line">
            <a:avLst/>
          </a:prstGeom>
          <a:ln w="12700">
            <a:solidFill>
              <a:srgbClr val="4746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 28"/>
          <p:cNvSpPr/>
          <p:nvPr/>
        </p:nvSpPr>
        <p:spPr>
          <a:xfrm>
            <a:off x="6675120" y="2156520"/>
            <a:ext cx="4206240" cy="3499592"/>
          </a:xfrm>
          <a:custGeom>
            <a:avLst/>
            <a:gdLst/>
            <a:ahLst/>
            <a:cxnLst/>
            <a:rect l="l" t="t" r="r" b="b"/>
            <a:pathLst>
              <a:path w="4206240" h="3499592">
                <a:moveTo>
                  <a:pt x="0" y="3499592"/>
                </a:moveTo>
                <a:lnTo>
                  <a:pt x="45720" y="3494837"/>
                </a:lnTo>
                <a:lnTo>
                  <a:pt x="91440" y="3489351"/>
                </a:lnTo>
                <a:lnTo>
                  <a:pt x="137160" y="3483133"/>
                </a:lnTo>
                <a:lnTo>
                  <a:pt x="182880" y="3476184"/>
                </a:lnTo>
                <a:lnTo>
                  <a:pt x="228600" y="3468503"/>
                </a:lnTo>
                <a:lnTo>
                  <a:pt x="274320" y="3460090"/>
                </a:lnTo>
                <a:lnTo>
                  <a:pt x="320040" y="3450946"/>
                </a:lnTo>
                <a:lnTo>
                  <a:pt x="365760" y="3441071"/>
                </a:lnTo>
                <a:lnTo>
                  <a:pt x="411480" y="3430464"/>
                </a:lnTo>
                <a:lnTo>
                  <a:pt x="457200" y="3419125"/>
                </a:lnTo>
                <a:lnTo>
                  <a:pt x="502920" y="3407055"/>
                </a:lnTo>
                <a:lnTo>
                  <a:pt x="548640" y="3394253"/>
                </a:lnTo>
                <a:lnTo>
                  <a:pt x="594360" y="3380720"/>
                </a:lnTo>
                <a:lnTo>
                  <a:pt x="640080" y="3366456"/>
                </a:lnTo>
                <a:lnTo>
                  <a:pt x="685800" y="3351459"/>
                </a:lnTo>
                <a:lnTo>
                  <a:pt x="731520" y="3335732"/>
                </a:lnTo>
                <a:lnTo>
                  <a:pt x="777240" y="3319272"/>
                </a:lnTo>
                <a:lnTo>
                  <a:pt x="822959" y="3302082"/>
                </a:lnTo>
                <a:lnTo>
                  <a:pt x="868680" y="3284160"/>
                </a:lnTo>
                <a:lnTo>
                  <a:pt x="914400" y="3265506"/>
                </a:lnTo>
                <a:lnTo>
                  <a:pt x="960120" y="3246120"/>
                </a:lnTo>
                <a:lnTo>
                  <a:pt x="1005840" y="3226004"/>
                </a:lnTo>
                <a:lnTo>
                  <a:pt x="1051559" y="3205155"/>
                </a:lnTo>
                <a:lnTo>
                  <a:pt x="1097280" y="3183576"/>
                </a:lnTo>
                <a:lnTo>
                  <a:pt x="1143000" y="3161264"/>
                </a:lnTo>
                <a:lnTo>
                  <a:pt x="1188720" y="3138221"/>
                </a:lnTo>
                <a:lnTo>
                  <a:pt x="1234440" y="3114447"/>
                </a:lnTo>
                <a:lnTo>
                  <a:pt x="1280159" y="3089941"/>
                </a:lnTo>
                <a:lnTo>
                  <a:pt x="1325880" y="3064704"/>
                </a:lnTo>
                <a:lnTo>
                  <a:pt x="1371600" y="3038735"/>
                </a:lnTo>
                <a:lnTo>
                  <a:pt x="1417320" y="3012034"/>
                </a:lnTo>
                <a:lnTo>
                  <a:pt x="1463040" y="2984602"/>
                </a:lnTo>
                <a:lnTo>
                  <a:pt x="1508759" y="2956439"/>
                </a:lnTo>
                <a:lnTo>
                  <a:pt x="1554480" y="2927544"/>
                </a:lnTo>
                <a:lnTo>
                  <a:pt x="1600200" y="2897917"/>
                </a:lnTo>
                <a:lnTo>
                  <a:pt x="1645920" y="2867559"/>
                </a:lnTo>
                <a:lnTo>
                  <a:pt x="1691640" y="2836469"/>
                </a:lnTo>
                <a:lnTo>
                  <a:pt x="1737360" y="2804648"/>
                </a:lnTo>
                <a:lnTo>
                  <a:pt x="1783080" y="2772096"/>
                </a:lnTo>
                <a:lnTo>
                  <a:pt x="1828800" y="2738811"/>
                </a:lnTo>
                <a:lnTo>
                  <a:pt x="1874520" y="2704796"/>
                </a:lnTo>
                <a:lnTo>
                  <a:pt x="1920240" y="2670048"/>
                </a:lnTo>
                <a:lnTo>
                  <a:pt x="1965960" y="2634570"/>
                </a:lnTo>
                <a:lnTo>
                  <a:pt x="2011680" y="2598360"/>
                </a:lnTo>
                <a:lnTo>
                  <a:pt x="2057400" y="2561418"/>
                </a:lnTo>
                <a:lnTo>
                  <a:pt x="2103120" y="2523744"/>
                </a:lnTo>
                <a:lnTo>
                  <a:pt x="2148840" y="2485340"/>
                </a:lnTo>
                <a:lnTo>
                  <a:pt x="2194560" y="2446203"/>
                </a:lnTo>
                <a:lnTo>
                  <a:pt x="2240280" y="2406336"/>
                </a:lnTo>
                <a:lnTo>
                  <a:pt x="2286000" y="2365736"/>
                </a:lnTo>
                <a:lnTo>
                  <a:pt x="2331720" y="2324405"/>
                </a:lnTo>
                <a:lnTo>
                  <a:pt x="2377440" y="2282343"/>
                </a:lnTo>
                <a:lnTo>
                  <a:pt x="2423160" y="2239549"/>
                </a:lnTo>
                <a:lnTo>
                  <a:pt x="2468880" y="2196024"/>
                </a:lnTo>
                <a:lnTo>
                  <a:pt x="2514600" y="2151767"/>
                </a:lnTo>
                <a:lnTo>
                  <a:pt x="2560320" y="2106778"/>
                </a:lnTo>
                <a:lnTo>
                  <a:pt x="2606040" y="2061058"/>
                </a:lnTo>
                <a:lnTo>
                  <a:pt x="2651760" y="2014607"/>
                </a:lnTo>
                <a:lnTo>
                  <a:pt x="2697480" y="1967424"/>
                </a:lnTo>
                <a:lnTo>
                  <a:pt x="2743200" y="1919509"/>
                </a:lnTo>
                <a:lnTo>
                  <a:pt x="2788920" y="1870863"/>
                </a:lnTo>
                <a:lnTo>
                  <a:pt x="2834640" y="1821485"/>
                </a:lnTo>
                <a:lnTo>
                  <a:pt x="2880360" y="1771376"/>
                </a:lnTo>
                <a:lnTo>
                  <a:pt x="2926080" y="1720536"/>
                </a:lnTo>
                <a:lnTo>
                  <a:pt x="2971800" y="1668963"/>
                </a:lnTo>
                <a:lnTo>
                  <a:pt x="3017520" y="1616660"/>
                </a:lnTo>
                <a:lnTo>
                  <a:pt x="3063240" y="1563624"/>
                </a:lnTo>
                <a:lnTo>
                  <a:pt x="3108960" y="1509858"/>
                </a:lnTo>
                <a:lnTo>
                  <a:pt x="3154680" y="1455360"/>
                </a:lnTo>
                <a:lnTo>
                  <a:pt x="3200400" y="1400130"/>
                </a:lnTo>
                <a:lnTo>
                  <a:pt x="3246120" y="1344168"/>
                </a:lnTo>
                <a:lnTo>
                  <a:pt x="3291840" y="1287476"/>
                </a:lnTo>
                <a:lnTo>
                  <a:pt x="3337560" y="1230051"/>
                </a:lnTo>
                <a:lnTo>
                  <a:pt x="3383280" y="1171896"/>
                </a:lnTo>
                <a:lnTo>
                  <a:pt x="3429000" y="1113008"/>
                </a:lnTo>
                <a:lnTo>
                  <a:pt x="3474720" y="1053389"/>
                </a:lnTo>
                <a:lnTo>
                  <a:pt x="3520440" y="993039"/>
                </a:lnTo>
                <a:lnTo>
                  <a:pt x="3566160" y="931957"/>
                </a:lnTo>
                <a:lnTo>
                  <a:pt x="3611880" y="870144"/>
                </a:lnTo>
                <a:lnTo>
                  <a:pt x="3657600" y="807599"/>
                </a:lnTo>
                <a:lnTo>
                  <a:pt x="3703320" y="744322"/>
                </a:lnTo>
                <a:lnTo>
                  <a:pt x="3749040" y="680314"/>
                </a:lnTo>
                <a:lnTo>
                  <a:pt x="3794760" y="615575"/>
                </a:lnTo>
                <a:lnTo>
                  <a:pt x="3840480" y="550104"/>
                </a:lnTo>
                <a:lnTo>
                  <a:pt x="3886200" y="483901"/>
                </a:lnTo>
                <a:lnTo>
                  <a:pt x="3931920" y="416967"/>
                </a:lnTo>
                <a:lnTo>
                  <a:pt x="3977640" y="349301"/>
                </a:lnTo>
                <a:lnTo>
                  <a:pt x="4023360" y="280904"/>
                </a:lnTo>
                <a:lnTo>
                  <a:pt x="4069080" y="211776"/>
                </a:lnTo>
                <a:lnTo>
                  <a:pt x="4114800" y="141915"/>
                </a:lnTo>
                <a:lnTo>
                  <a:pt x="4160520" y="71324"/>
                </a:lnTo>
                <a:lnTo>
                  <a:pt x="4206240" y="0"/>
                </a:lnTo>
              </a:path>
            </a:pathLst>
          </a:custGeom>
          <a:noFill/>
          <a:ln w="44450">
            <a:solidFill>
              <a:srgbClr val="1B1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V="1">
            <a:off x="7680960" y="2725643"/>
            <a:ext cx="2926080" cy="2902671"/>
          </a:xfrm>
          <a:prstGeom prst="line">
            <a:avLst/>
          </a:prstGeom>
          <a:ln w="31750">
            <a:solidFill>
              <a:srgbClr val="F43F5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589520" y="3401568"/>
            <a:ext cx="2743200" cy="2194560"/>
          </a:xfrm>
          <a:prstGeom prst="line">
            <a:avLst/>
          </a:prstGeom>
          <a:ln w="38100">
            <a:solidFill>
              <a:srgbClr val="5755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315200" y="3913632"/>
            <a:ext cx="2743200" cy="1755648"/>
          </a:xfrm>
          <a:prstGeom prst="line">
            <a:avLst/>
          </a:prstGeom>
          <a:ln w="5715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0158984" y="3006181"/>
            <a:ext cx="164592" cy="164592"/>
          </a:xfrm>
          <a:prstGeom prst="ellipse">
            <a:avLst/>
          </a:prstGeom>
          <a:solidFill>
            <a:srgbClr val="1B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0" y="2814157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B1B20"/>
                </a:solidFill>
                <a:latin typeface="Bricolage Grotesque"/>
              </a:rPr>
              <a:t>Q₁</a:t>
            </a:r>
          </a:p>
        </p:txBody>
      </p:sp>
      <p:sp>
        <p:nvSpPr>
          <p:cNvPr id="35" name="Oval 34"/>
          <p:cNvSpPr/>
          <p:nvPr/>
        </p:nvSpPr>
        <p:spPr>
          <a:xfrm>
            <a:off x="9061704" y="4270248"/>
            <a:ext cx="164592" cy="164592"/>
          </a:xfrm>
          <a:prstGeom prst="ellipse">
            <a:avLst/>
          </a:prstGeom>
          <a:solidFill>
            <a:srgbClr val="1B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41080" y="412394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B1B20"/>
                </a:solidFill>
                <a:latin typeface="Bricolage Grotesque"/>
              </a:rPr>
              <a:t>Q₂</a:t>
            </a:r>
          </a:p>
        </p:txBody>
      </p:sp>
      <p:sp>
        <p:nvSpPr>
          <p:cNvPr id="37" name="Oval 36"/>
          <p:cNvSpPr/>
          <p:nvPr/>
        </p:nvSpPr>
        <p:spPr>
          <a:xfrm>
            <a:off x="8147304" y="5001768"/>
            <a:ext cx="164592" cy="164592"/>
          </a:xfrm>
          <a:prstGeom prst="ellipse">
            <a:avLst/>
          </a:prstGeom>
          <a:solidFill>
            <a:srgbClr val="1B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51755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B1B20"/>
                </a:solidFill>
                <a:latin typeface="Bricolage Grotesque"/>
              </a:rPr>
              <a:t>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22402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43F5E"/>
                </a:solidFill>
                <a:latin typeface="Hanken Grotesk"/>
              </a:rPr>
              <a:t>secant (far)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78440" y="34747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5755A7"/>
                </a:solidFill>
                <a:latin typeface="Hanken Grotesk"/>
              </a:rPr>
              <a:t>secant (closer)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9840" y="4069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F766E"/>
                </a:solidFill>
                <a:latin typeface="Hanken Grotesk"/>
              </a:rPr>
              <a:t>tangent at 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157276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B1B20"/>
                </a:solidFill>
                <a:latin typeface="Bricolage Grotesque"/>
              </a:rPr>
              <a:t>Slide Q toward P: the secant turns into the tangent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6926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B1B20"/>
                </a:solidFill>
                <a:latin typeface="Bricolage Grotesque"/>
              </a:rPr>
              <a:t>Slope → Derivative → Gradient → Gradient Descent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384120"/>
            <a:ext cx="383760" cy="456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4651"/>
                </a:solidFill>
                <a:latin typeface="Plus Jakarta Sans"/>
              </a:rPr>
              <a:t>CodeByPaxto  ·  AI &amp; ML Playground  ·  Hafiz Waseem Ahmed (Paxto)</a:t>
            </a:r>
          </a:p>
        </p:txBody>
      </p:sp>
      <p:sp>
        <p:nvSpPr>
          <p:cNvPr id="5" name="PAGENUM"/>
          <p:cNvSpPr txBox="1"/>
          <p:nvPr/>
        </p:nvSpPr>
        <p:spPr>
          <a:xfrm>
            <a:off x="11503152" y="647395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74651"/>
                </a:solidFill>
                <a:latin typeface="Plus Jakarta Sans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463040"/>
            <a:ext cx="566928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120640" cy="10424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0934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093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019"/>
                </a:solidFill>
                <a:latin typeface="Bricolage Grotesq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57276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B20"/>
                </a:solidFill>
                <a:latin typeface="Bricolage Grotesque"/>
              </a:rPr>
              <a:t>Derivative = slope of the tangent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865376"/>
            <a:ext cx="4206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4651"/>
                </a:solidFill>
                <a:latin typeface="Hanken Grotesk"/>
              </a:rPr>
              <a:t>f′(x) tells you how much the output changes when you nudge the input. Calculus I builds this.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33472"/>
            <a:ext cx="5120640" cy="10424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77977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7977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019"/>
                </a:solidFill>
                <a:latin typeface="Bricolage Grotesque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74320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B20"/>
                </a:solidFill>
                <a:latin typeface="Bricolage Grotesque"/>
              </a:rPr>
              <a:t>Gradient = many derivatives at once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035808"/>
            <a:ext cx="4206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4651"/>
                </a:solidFill>
                <a:latin typeface="Hanken Grotesk"/>
              </a:rPr>
              <a:t>A model has thousands of weights. The gradient ∇L holds one slope for each weight.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03904"/>
            <a:ext cx="5120640" cy="10424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95020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5020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019"/>
                </a:solidFill>
                <a:latin typeface="Bricolage Grotesque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91363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B20"/>
                </a:solidFill>
                <a:latin typeface="Bricolage Grotesque"/>
              </a:rPr>
              <a:t>Gradient descent = walk downhill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206240"/>
            <a:ext cx="4206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4651"/>
                </a:solidFill>
                <a:latin typeface="Hanken Grotesk"/>
              </a:rPr>
              <a:t>New weight = old weight − η × slope. A positive slope means: lower the weight to lower the loss.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974336"/>
            <a:ext cx="5120640" cy="10424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512064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206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019"/>
                </a:solidFill>
                <a:latin typeface="Bricolage Grotesque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08406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1B20"/>
                </a:solidFill>
                <a:latin typeface="Bricolage Grotesque"/>
              </a:rPr>
              <a:t>Training = repeat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376672"/>
            <a:ext cx="4206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4651"/>
                </a:solidFill>
                <a:latin typeface="Hanken Grotesk"/>
              </a:rPr>
              <a:t>Compute the loss, find the slopes (backpropagation), nudge the weights. Repeat millions of times.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1600200"/>
            <a:ext cx="5029200" cy="512064"/>
          </a:xfrm>
          <a:prstGeom prst="roundRect">
            <a:avLst>
              <a:gd name="adj" fmla="val 17857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1645920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31F71"/>
                </a:solidFill>
                <a:latin typeface="Bricolage Grotesque"/>
              </a:rPr>
              <a:t>Secant slope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1883664"/>
            <a:ext cx="4663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74651"/>
                </a:solidFill>
                <a:latin typeface="Hanken Grotesk"/>
              </a:rPr>
              <a:t>slope between two points: (f(x+h) − f(x)) / h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915400" y="2121408"/>
            <a:ext cx="0" cy="210312"/>
          </a:xfrm>
          <a:prstGeom prst="line">
            <a:avLst/>
          </a:prstGeom>
          <a:ln w="25400">
            <a:solidFill>
              <a:srgbClr val="5755A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400800" y="2340864"/>
            <a:ext cx="5029200" cy="512064"/>
          </a:xfrm>
          <a:prstGeom prst="roundRect">
            <a:avLst>
              <a:gd name="adj" fmla="val 17857"/>
            </a:avLst>
          </a:prstGeom>
          <a:solidFill>
            <a:srgbClr val="F9C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2386584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31F71"/>
                </a:solidFill>
                <a:latin typeface="Bricolage Grotesque"/>
              </a:rPr>
              <a:t>Tangent slope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624328"/>
            <a:ext cx="4663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74651"/>
                </a:solidFill>
                <a:latin typeface="Hanken Grotesk"/>
              </a:rPr>
              <a:t>let h → 0: the slope at a single point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915400" y="2862072"/>
            <a:ext cx="0" cy="210312"/>
          </a:xfrm>
          <a:prstGeom prst="line">
            <a:avLst/>
          </a:prstGeom>
          <a:ln w="25400">
            <a:solidFill>
              <a:srgbClr val="5755A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400800" y="3081528"/>
            <a:ext cx="5029200" cy="512064"/>
          </a:xfrm>
          <a:prstGeom prst="roundRect">
            <a:avLst>
              <a:gd name="adj" fmla="val 17857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3127248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31F71"/>
                </a:solidFill>
                <a:latin typeface="Bricolage Grotesque"/>
              </a:rPr>
              <a:t>Derivative f′(x)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3364992"/>
            <a:ext cx="4663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74651"/>
                </a:solidFill>
                <a:latin typeface="Hanken Grotesk"/>
              </a:rPr>
              <a:t>how fast the output changes when you nudge x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915400" y="3602736"/>
            <a:ext cx="0" cy="210312"/>
          </a:xfrm>
          <a:prstGeom prst="line">
            <a:avLst/>
          </a:prstGeom>
          <a:ln w="25400">
            <a:solidFill>
              <a:srgbClr val="5755A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400800" y="3822191"/>
            <a:ext cx="5029200" cy="512064"/>
          </a:xfrm>
          <a:prstGeom prst="roundRect">
            <a:avLst>
              <a:gd name="adj" fmla="val 17857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3867911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31F71"/>
                </a:solidFill>
                <a:latin typeface="Bricolage Grotesque"/>
              </a:rPr>
              <a:t>Gradient ∇L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4105655"/>
            <a:ext cx="4663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74651"/>
                </a:solidFill>
                <a:latin typeface="Hanken Grotesk"/>
              </a:rPr>
              <a:t>one slope for every weight, collected together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915400" y="4343400"/>
            <a:ext cx="0" cy="210312"/>
          </a:xfrm>
          <a:prstGeom prst="line">
            <a:avLst/>
          </a:prstGeom>
          <a:ln w="25400">
            <a:solidFill>
              <a:srgbClr val="5755A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400800" y="4562856"/>
            <a:ext cx="5029200" cy="512064"/>
          </a:xfrm>
          <a:prstGeom prst="roundRect">
            <a:avLst>
              <a:gd name="adj" fmla="val 17857"/>
            </a:avLst>
          </a:prstGeom>
          <a:solidFill>
            <a:srgbClr val="F9C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4608576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31F71"/>
                </a:solidFill>
                <a:latin typeface="Bricolage Grotesque"/>
              </a:rPr>
              <a:t>Gradient descent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4846320"/>
            <a:ext cx="4663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74651"/>
                </a:solidFill>
                <a:latin typeface="Hanken Grotesk"/>
              </a:rPr>
              <a:t>w ← w − η · slope: step downhill to cut the loss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915400" y="5084064"/>
            <a:ext cx="0" cy="210312"/>
          </a:xfrm>
          <a:prstGeom prst="line">
            <a:avLst/>
          </a:prstGeom>
          <a:ln w="25400">
            <a:solidFill>
              <a:srgbClr val="5755A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6400800" y="5303520"/>
            <a:ext cx="5029200" cy="512064"/>
          </a:xfrm>
          <a:prstGeom prst="roundRect">
            <a:avLst>
              <a:gd name="adj" fmla="val 17857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0" y="5349240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31F71"/>
                </a:solidFill>
                <a:latin typeface="Bricolage Grotesque"/>
              </a:rPr>
              <a:t>Neural-network training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5586984"/>
            <a:ext cx="4663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74651"/>
                </a:solidFill>
                <a:latin typeface="Hanken Grotesk"/>
              </a:rPr>
              <a:t>repeat for millions of steps (backprop finds the slopes)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6926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B1B20"/>
                </a:solidFill>
                <a:latin typeface="Bricolage Grotesque"/>
              </a:rPr>
              <a:t>Secant → Tangent in Python (math module)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384120"/>
            <a:ext cx="383760" cy="456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4651"/>
                </a:solidFill>
                <a:latin typeface="Plus Jakarta Sans"/>
              </a:rPr>
              <a:t>CodeByPaxto  ·  AI &amp; ML Playground  ·  Hafiz Waseem Ahmed (Paxto)</a:t>
            </a:r>
          </a:p>
        </p:txBody>
      </p:sp>
      <p:sp>
        <p:nvSpPr>
          <p:cNvPr id="5" name="PAGENUM"/>
          <p:cNvSpPr txBox="1"/>
          <p:nvPr/>
        </p:nvSpPr>
        <p:spPr>
          <a:xfrm>
            <a:off x="11503152" y="647395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74651"/>
                </a:solidFill>
                <a:latin typeface="Plus Jakarta Sans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900"/>
              </a:spcAft>
              <a:buChar char="•"/>
            </a:pPr>
            <a:r>
              <a:rPr sz="1600">
                <a:solidFill>
                  <a:srgbClr val="1B1B20"/>
                </a:solidFill>
                <a:latin typeface="Hanken Grotesk"/>
              </a:rPr>
              <a:t>h is the gap between the two points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600">
                <a:solidFill>
                  <a:srgbClr val="1B1B20"/>
                </a:solidFill>
                <a:latin typeface="Hanken Grotesk"/>
              </a:rPr>
              <a:t>As h shrinks, the secant slope settles on the tangent slope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600">
                <a:solidFill>
                  <a:srgbClr val="1B1B20"/>
                </a:solidFill>
                <a:latin typeface="Hanken Grotesk"/>
              </a:rPr>
              <a:t>Slope of sin(x) at x = 1 is cos(1) ≈ 0.5403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600">
                <a:solidFill>
                  <a:srgbClr val="1B1B20"/>
                </a:solidFill>
                <a:latin typeface="Hanken Grotesk"/>
              </a:rPr>
              <a:t>Second half: gradient descent walks downhill using that slope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>
                <a:solidFill>
                  <a:srgbClr val="F1F5F9"/>
                </a:solidFill>
                <a:latin typeface="Cantarell"/>
              </a:rPr>
              <a:t>import math</a:t>
            </a:r>
          </a:p>
          <a:p>
            <a:r>
              <a:rPr sz="1150">
                <a:solidFill>
                  <a:srgbClr val="F1F5F9"/>
                </a:solidFill>
                <a:latin typeface="Cantarell"/>
              </a:rPr>
              <a:t>x = 1.0</a:t>
            </a:r>
          </a:p>
          <a:p>
            <a:r>
              <a:rPr sz="1150">
                <a:solidFill>
                  <a:srgbClr val="F1F5F9"/>
                </a:solidFill>
                <a:latin typeface="Cantarell"/>
              </a:rPr>
              <a:t>for h in [1, 0.1, 0.01, 0.001]:</a:t>
            </a:r>
          </a:p>
          <a:p>
            <a:r>
              <a:rPr sz="1150">
                <a:solidFill>
                  <a:srgbClr val="F1F5F9"/>
                </a:solidFill>
                <a:latin typeface="Cantarell"/>
              </a:rPr>
              <a:t>    s = (math.sin(x+h) - math.sin(x)) / h</a:t>
            </a:r>
          </a:p>
          <a:p>
            <a:r>
              <a:rPr sz="1150">
                <a:solidFill>
                  <a:srgbClr val="F1F5F9"/>
                </a:solidFill>
                <a:latin typeface="Cantarell"/>
              </a:rPr>
              <a:t>    print(h, round(s, 4))</a:t>
            </a:r>
          </a:p>
          <a:p>
            <a:r>
              <a:rPr sz="1150">
                <a:solidFill>
                  <a:srgbClr val="F1F5F9"/>
                </a:solidFill>
                <a:latin typeface="Cantarell"/>
              </a:rPr>
              <a:t>print(round(math.cos(x), 4))</a:t>
            </a:r>
            <a:r>
              <a:rPr sz="1150">
                <a:solidFill>
                  <a:srgbClr val="94A3B8"/>
                </a:solidFill>
                <a:latin typeface="Cantarell"/>
              </a:rPr>
              <a:t>  # tangent: 0.5403</a:t>
            </a:r>
          </a:p>
          <a:p>
            <a:r>
              <a:rPr sz="1150">
                <a:solidFill>
                  <a:srgbClr val="94A3B8"/>
                </a:solidFill>
                <a:latin typeface="Cantarell"/>
              </a:rPr>
              <a:t># secants: 0.0678 0.4974 0.5361 0.5399</a:t>
            </a:r>
          </a:p>
          <a:p>
            <a:r>
              <a:rPr sz="1150"/>
              <a:t> </a:t>
            </a:r>
          </a:p>
          <a:p>
            <a:r>
              <a:rPr sz="1150">
                <a:solidFill>
                  <a:srgbClr val="94A3B8"/>
                </a:solidFill>
                <a:latin typeface="Cantarell"/>
              </a:rPr>
              <a:t># gradient descent: minimise (w - 3)**2</a:t>
            </a:r>
          </a:p>
          <a:p>
            <a:r>
              <a:rPr sz="1150">
                <a:solidFill>
                  <a:srgbClr val="F1F5F9"/>
                </a:solidFill>
                <a:latin typeface="Cantarell"/>
              </a:rPr>
              <a:t>w, lr = 0.0, 0.1</a:t>
            </a:r>
          </a:p>
          <a:p>
            <a:r>
              <a:rPr sz="1150">
                <a:solidFill>
                  <a:srgbClr val="F1F5F9"/>
                </a:solidFill>
                <a:latin typeface="Cantarell"/>
              </a:rPr>
              <a:t>for _ in range(20):</a:t>
            </a:r>
          </a:p>
          <a:p>
            <a:r>
              <a:rPr sz="1150">
                <a:solidFill>
                  <a:srgbClr val="F1F5F9"/>
                </a:solidFill>
                <a:latin typeface="Cantarell"/>
              </a:rPr>
              <a:t>    w = w - lr * 2 * (w - 3)</a:t>
            </a:r>
            <a:r>
              <a:rPr sz="1150">
                <a:solidFill>
                  <a:srgbClr val="94A3B8"/>
                </a:solidFill>
                <a:latin typeface="Cantarell"/>
              </a:rPr>
              <a:t>  # w - lr * slope</a:t>
            </a:r>
          </a:p>
          <a:p>
            <a:r>
              <a:rPr sz="1150">
                <a:solidFill>
                  <a:srgbClr val="F1F5F9"/>
                </a:solidFill>
                <a:latin typeface="Cantarell"/>
              </a:rPr>
              <a:t>print(round(w, 2))</a:t>
            </a:r>
            <a:r>
              <a:rPr sz="1150">
                <a:solidFill>
                  <a:srgbClr val="94A3B8"/>
                </a:solidFill>
                <a:latin typeface="Cantarell"/>
              </a:rPr>
              <a:t>  # about 2.97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384120"/>
            <a:ext cx="383760" cy="456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4651"/>
                </a:solidFill>
                <a:latin typeface="Plus Jakarta Sans"/>
              </a:rPr>
              <a:t>CodeByPaxto  ·  AI &amp; ML Playground  ·  Hafiz Waseem Ahmed (Paxto)</a:t>
            </a:r>
          </a:p>
        </p:txBody>
      </p:sp>
      <p:sp>
        <p:nvSpPr>
          <p:cNvPr id="5" name="PAGENUM"/>
          <p:cNvSpPr txBox="1"/>
          <p:nvPr/>
        </p:nvSpPr>
        <p:spPr>
          <a:xfrm>
            <a:off x="11503152" y="647395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74651"/>
                </a:solidFill>
                <a:latin typeface="Plus Jakarta Sans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231F71"/>
                </a:solidFill>
                <a:latin typeface="Hanken Grotesk"/>
              </a:rPr>
              <a:t>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502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755A7"/>
                </a:solidFill>
                <a:latin typeface="Plus Jakarta Sans"/>
              </a:rPr>
              <a:t>PART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77724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B1B20"/>
                </a:solidFill>
                <a:latin typeface="Bricolage Grotesque"/>
              </a:rPr>
              <a:t>Practice Set — Secant → Tangent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4651"/>
                </a:solidFill>
                <a:latin typeface="Hanken Grotesk"/>
              </a:rPr>
              <a:t>Try these yourself first — then check with Python.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65960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2221991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21991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019"/>
                </a:solidFill>
                <a:latin typeface="Bricolage Grotesque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965960"/>
            <a:ext cx="101498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B1B20"/>
                </a:solidFill>
                <a:latin typeface="Hanken Grotesk"/>
              </a:rPr>
              <a:t>By hand: on y = x², find the secant slope between x = 1 and x = 3: (9 − 1) ÷ (3 − 1).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26080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18211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18211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019"/>
                </a:solidFill>
                <a:latin typeface="Bricolage Grotesque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926080"/>
            <a:ext cx="101498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B1B20"/>
                </a:solidFill>
                <a:latin typeface="Hanken Grotesk"/>
              </a:rPr>
              <a:t>What happens to the secant slope as the second point slides closer? What is the limit called?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86200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41422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14223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019"/>
                </a:solidFill>
                <a:latin typeface="Bricolage Grotesque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886200"/>
            <a:ext cx="101498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B1B20"/>
                </a:solidFill>
                <a:latin typeface="Hanken Grotesk"/>
              </a:rPr>
              <a:t>Why does gradient descent need the slope of the loss, not just its height?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846320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510235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10235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2019"/>
                </a:solidFill>
                <a:latin typeface="Bricolage Grotesque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846320"/>
            <a:ext cx="101498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B1B20"/>
                </a:solidFill>
                <a:latin typeface="Hanken Grotesk"/>
              </a:rPr>
              <a:t>Python: change x and h in the loop. Does the secant slope always approach cos(x)?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0</Words>
  <Application>Microsoft Office PowerPoint</Application>
  <PresentationFormat>Widescreen</PresentationFormat>
  <Paragraphs>0</Paragraphs>
  <Slides>27</Slides>
  <Notes>27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dc:description/>
  <cp:lastModifiedBy/>
  <cp:revision>10</cp:revision>
  <dcterms:created xsi:type="dcterms:W3CDTF">2026-10-01T16:28:14Z</dcterms:created>
  <dcterms:modified xsi:type="dcterms:W3CDTF">2026-10-01T16:33:37Z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27</vt:i4>
  </property>
  <property fmtid="{D5CDD505-2E9C-101B-9397-08002B2CF9AE}" pid="3" name="PresentationFormat">
    <vt:lpwstr>On-screen Show (16:9)</vt:lpwstr>
  </property>
  <property fmtid="{D5CDD505-2E9C-101B-9397-08002B2CF9AE}" pid="4" name="Slides">
    <vt:i4>27</vt:i4>
  </property>
</Properties>
</file>