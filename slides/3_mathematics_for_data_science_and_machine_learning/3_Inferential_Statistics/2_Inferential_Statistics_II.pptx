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29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34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6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38.xml" ContentType="application/vnd.openxmlformats-officedocument.presentationml.slide+xml"/>
  <Override PartName="/ppt/slides/slide18.xml" ContentType="application/vnd.openxmlformats-officedocument.presentationml.slide+xml"/>
  <Override PartName="/ppt/slides/slide41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slides/slide37.xml" ContentType="application/vnd.openxmlformats-officedocument.presentationml.slide+xml"/>
  <Override PartName="/ppt/slides/slide16.xml" ContentType="application/vnd.openxmlformats-officedocument.presentationml.slide+xml"/>
  <Override PartName="/ppt/slides/slide40.xml" ContentType="application/vnd.openxmlformats-officedocument.presentationml.slide+xml"/>
  <Override PartName="/ppt/slides/slide2.xml" ContentType="application/vnd.openxmlformats-officedocument.presentationml.slide+xml"/>
  <Override PartName="/ppt/slides/slide23.xml" ContentType="application/vnd.openxmlformats-officedocument.presentationml.slide+xml"/>
  <Override PartName="/ppt/slides/slide5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39.xml" ContentType="application/vnd.openxmlformats-officedocument.presentationml.slide+xml"/>
  <Override PartName="/ppt/slides/slide20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24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28.xml" ContentType="application/vnd.openxmlformats-officedocument.presentationml.slide+xml"/>
  <Override PartName="/ppt/slides/slide42.xml" ContentType="application/vnd.openxmlformats-officedocument.presentationml.slide+xml"/>
  <Override PartName="/ppt/slides/slide12.xml" ContentType="application/vnd.openxmlformats-officedocument.presentationml.slide+xml"/>
  <Override PartName="/ppt/slides/slide17.xml" ContentType="application/vnd.openxmlformats-officedocument.presentationml.slide+xml"/>
  <Override PartName="/ppt/notesSlides/notesSlide2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 to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edit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8025493-6C10-4113-A68D-C3B8F3CF124D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_rels/notesSlide38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
</Relationships>
</file>

<file path=ppt/notesSlides/_rels/notesSlide39.xml.rels><?xml version="1.0" encoding="UTF-8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
</Relationships>
</file>

<file path=ppt/notesSlides/_rels/notesSlide40.xml.rels><?xml version="1.0" encoding="UTF-8"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
</Relationships>
</file>

<file path=ppt/notesSlides/_rels/notesSlide41.xml.rels><?xml version="1.0" encoding="UTF-8"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
</Relationships>
</file>

<file path=ppt/notesSlides/_rels/notesSlide42.xml.rels><?xml version="1.0" encoding="UTF-8"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3CB358E-A52B-4F91-A9D4-D3878CD75E7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092D575-DFF4-4C06-BCE9-0FA892D89CF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7F5CAE9-F7A6-41B5-86C4-31CDAC36E61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66B9892-E234-496B-A20C-FD5DBDB4206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DB17AC0-30BE-48AC-9BB6-38650699983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0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7FF28C7-71E3-49E1-A96A-8330A00E4A6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3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37F8810-15B3-41FB-BB5E-C6C59C89E56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6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6A9FA97-77A8-49F9-AEDD-B8822699129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9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73DE6EA-EECB-45B0-B053-C0E1D89FBEB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2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9D71039-D8F7-46C4-ACF8-604C79DFD55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5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07CDFE3-A2B7-4695-9D47-886B4945673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8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DE6BAE4-425E-49E3-A55D-16CD5948097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1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62CBC21-033F-4BA1-B37D-576BB9D805B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4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06FB854-21B5-4114-8CBB-07A62688664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7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A2F5F78-A185-401E-ADA6-E7FE6C47C36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0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118491D-58C6-4A9D-B65A-23BF57F487C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3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0921CB2-027B-490F-8263-D40CD121369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6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0C0F3B8-6AA1-402D-8CDC-D0D035BF033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9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E6F2860-AA15-4DC8-BA46-B8A025CFDEB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2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34D8CC8-9412-4136-A8E8-B1B4FE653C8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5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467681B-8145-485A-AE1C-4BBF5999645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8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7E5717B-AB17-4E2A-8AA7-B02E430055D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1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37B6D8C-8A71-4E92-A970-DD8E77E8104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4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425E17D-0651-41DC-A210-D62AA82ADA7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7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26CC417-4D46-4297-A1A0-7CEC621F631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0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05677A6-721F-453C-8F48-78F603327CE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3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1D66433-381A-4A45-BE39-80B87BBCC81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6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D9D1CDA-46D2-4EEF-A68F-1171B4032BE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9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3ED288D-3DF4-40D4-8A91-09EF7E887D9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2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F198BAE-9B79-40D9-A695-A5E31B97CA7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5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4CAD2F4-AE09-43F8-9501-809DB0A8B68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8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6D4579B-618A-4474-916C-1780DA96015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1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B2B3F7A-FE5D-4DD7-96C5-9D90BEC253A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4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D9D5AD1-49E9-4737-B9F2-DBC72B166F9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7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18BF779-909C-4F87-B3B7-F770D679FE7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0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E5B0573-6838-4C49-B627-CB3D8719573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3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DC8F3C7-F848-4BC6-8F44-7426465B312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6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5DD4D08-0DCE-4EDE-B38B-3C1BDA1AF6A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9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18EC953-7188-4220-843F-6F384EB4F87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2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6598A2A-DBEE-471D-8032-FB44730BC27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5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14D7A73-8788-4DB2-855E-8E93C27E562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8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381F60D-2BA3-4EA7-95A1-34BDF619CE9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01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8778240" y="-2194560"/>
            <a:ext cx="5485680" cy="5485680"/>
          </a:xfrm>
          <a:prstGeom prst="ellipse">
            <a:avLst/>
          </a:prstGeom>
          <a:solidFill>
            <a:srgbClr val="262758">
              <a:alpha val="55000"/>
            </a:srgbClr>
          </a:solidFill>
          <a:ln w="12700">
            <a:solidFill>
              <a:srgbClr val="2627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-1645920" y="4754880"/>
            <a:ext cx="3474000" cy="3474000"/>
          </a:xfrm>
          <a:prstGeom prst="ellipse">
            <a:avLst/>
          </a:prstGeom>
          <a:solidFill>
            <a:srgbClr val="11362E">
              <a:alpha val="45000"/>
            </a:srgbClr>
          </a:solidFill>
          <a:ln w="12700">
            <a:solidFill>
              <a:srgbClr val="1136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3"/>
          <p:cNvSpPr/>
          <p:nvPr/>
        </p:nvSpPr>
        <p:spPr>
          <a:xfrm>
            <a:off x="5943600" y="5212080"/>
            <a:ext cx="1462320" cy="1462320"/>
          </a:xfrm>
          <a:prstGeom prst="ellipse">
            <a:avLst/>
          </a:prstGeom>
          <a:solidFill>
            <a:srgbClr val="4C112D">
              <a:alpha val="45000"/>
            </a:srgbClr>
          </a:solidFill>
          <a:ln w="12700">
            <a:solidFill>
              <a:srgbClr val="4C11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" name="Image 0" descr="preencoded.png"/>
          <p:cNvPicPr/>
          <p:nvPr/>
        </p:nvPicPr>
        <p:blipFill>
          <a:blip r:embed="rId1"/>
          <a:stretch/>
        </p:blipFill>
        <p:spPr>
          <a:xfrm>
            <a:off x="685800" y="457200"/>
            <a:ext cx="2651040" cy="932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" name="Shape 5"/>
          <p:cNvSpPr/>
          <p:nvPr/>
        </p:nvSpPr>
        <p:spPr>
          <a:xfrm>
            <a:off x="713160" y="2331720"/>
            <a:ext cx="3931200" cy="291960"/>
          </a:xfrm>
          <a:prstGeom prst="roundRect">
            <a:avLst>
              <a:gd name="adj" fmla="val 50000"/>
            </a:avLst>
          </a:prstGeom>
          <a:solidFill>
            <a:srgbClr val="262758"/>
          </a:solidFill>
          <a:ln w="12700">
            <a:solidFill>
              <a:srgbClr val="2627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713160" y="2331720"/>
            <a:ext cx="39312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E0E7FF"/>
                </a:solidFill>
                <a:effectLst/>
                <a:uFillTx/>
                <a:latin typeface="Plus Jakarta Sans"/>
                <a:ea typeface="Plus Jakarta Sans"/>
              </a:rPr>
              <a:t>SESSION 22  ·  AI &amp; ML PLAYGROUND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7"/>
          <p:cNvSpPr/>
          <p:nvPr/>
        </p:nvSpPr>
        <p:spPr>
          <a:xfrm>
            <a:off x="658440" y="2788920"/>
            <a:ext cx="1051488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Inferential Statistics II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8"/>
          <p:cNvSpPr/>
          <p:nvPr/>
        </p:nvSpPr>
        <p:spPr>
          <a:xfrm>
            <a:off x="713160" y="3703320"/>
            <a:ext cx="96004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Choosing a Test, t-Tests, ANOVA, Chi-Square &amp; A/B Testing — with Python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9"/>
          <p:cNvSpPr/>
          <p:nvPr/>
        </p:nvSpPr>
        <p:spPr>
          <a:xfrm>
            <a:off x="713160" y="4572000"/>
            <a:ext cx="2926080" cy="360"/>
          </a:xfrm>
          <a:prstGeom prst="line">
            <a:avLst/>
          </a:prstGeom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0"/>
          <p:cNvSpPr/>
          <p:nvPr/>
        </p:nvSpPr>
        <p:spPr>
          <a:xfrm>
            <a:off x="713160" y="4663440"/>
            <a:ext cx="5485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CodeByPaxto: The AI &amp; ML Playground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1"/>
          <p:cNvSpPr/>
          <p:nvPr/>
        </p:nvSpPr>
        <p:spPr>
          <a:xfrm>
            <a:off x="713160" y="5001840"/>
            <a:ext cx="5485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Hafiz Waseem Ahmed (Paxto)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0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"/>
          <p:cNvSpPr/>
          <p:nvPr/>
        </p:nvSpPr>
        <p:spPr>
          <a:xfrm>
            <a:off x="457200" y="64738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40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" name="Text 2"/>
          <p:cNvSpPr/>
          <p:nvPr/>
        </p:nvSpPr>
        <p:spPr>
          <a:xfrm>
            <a:off x="548640" y="457200"/>
            <a:ext cx="96919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What We're Covering Today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3"/>
          <p:cNvSpPr/>
          <p:nvPr/>
        </p:nvSpPr>
        <p:spPr>
          <a:xfrm>
            <a:off x="548640" y="1371600"/>
            <a:ext cx="11109240" cy="60264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4"/>
          <p:cNvSpPr/>
          <p:nvPr/>
        </p:nvSpPr>
        <p:spPr>
          <a:xfrm>
            <a:off x="731520" y="1517760"/>
            <a:ext cx="310320" cy="31032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5"/>
          <p:cNvSpPr/>
          <p:nvPr/>
        </p:nvSpPr>
        <p:spPr>
          <a:xfrm>
            <a:off x="731520" y="1517760"/>
            <a:ext cx="31032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6"/>
          <p:cNvSpPr/>
          <p:nvPr/>
        </p:nvSpPr>
        <p:spPr>
          <a:xfrm>
            <a:off x="1234440" y="1371600"/>
            <a:ext cx="10149120" cy="60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“Which test do I use?” — the decision framework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7"/>
          <p:cNvSpPr/>
          <p:nvPr/>
        </p:nvSpPr>
        <p:spPr>
          <a:xfrm>
            <a:off x="548640" y="2084760"/>
            <a:ext cx="11109240" cy="60264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8"/>
          <p:cNvSpPr/>
          <p:nvPr/>
        </p:nvSpPr>
        <p:spPr>
          <a:xfrm>
            <a:off x="731520" y="2231280"/>
            <a:ext cx="310320" cy="31032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9"/>
          <p:cNvSpPr/>
          <p:nvPr/>
        </p:nvSpPr>
        <p:spPr>
          <a:xfrm>
            <a:off x="731520" y="2231280"/>
            <a:ext cx="31032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0"/>
          <p:cNvSpPr/>
          <p:nvPr/>
        </p:nvSpPr>
        <p:spPr>
          <a:xfrm>
            <a:off x="1234440" y="2084760"/>
            <a:ext cx="10149120" cy="60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Shapiro-Wilk — checking normality first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11"/>
          <p:cNvSpPr/>
          <p:nvPr/>
        </p:nvSpPr>
        <p:spPr>
          <a:xfrm>
            <a:off x="548640" y="2797920"/>
            <a:ext cx="11109240" cy="60264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12"/>
          <p:cNvSpPr/>
          <p:nvPr/>
        </p:nvSpPr>
        <p:spPr>
          <a:xfrm>
            <a:off x="731520" y="2944440"/>
            <a:ext cx="310320" cy="31032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3"/>
          <p:cNvSpPr/>
          <p:nvPr/>
        </p:nvSpPr>
        <p:spPr>
          <a:xfrm>
            <a:off x="731520" y="2944440"/>
            <a:ext cx="31032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4"/>
          <p:cNvSpPr/>
          <p:nvPr/>
        </p:nvSpPr>
        <p:spPr>
          <a:xfrm>
            <a:off x="1234440" y="2797920"/>
            <a:ext cx="10149120" cy="60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T-tests — one sample and two independent groups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15"/>
          <p:cNvSpPr/>
          <p:nvPr/>
        </p:nvSpPr>
        <p:spPr>
          <a:xfrm>
            <a:off x="548640" y="3511440"/>
            <a:ext cx="11109240" cy="60264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16"/>
          <p:cNvSpPr/>
          <p:nvPr/>
        </p:nvSpPr>
        <p:spPr>
          <a:xfrm>
            <a:off x="731520" y="3657600"/>
            <a:ext cx="310320" cy="31032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7"/>
          <p:cNvSpPr/>
          <p:nvPr/>
        </p:nvSpPr>
        <p:spPr>
          <a:xfrm>
            <a:off x="731520" y="3657600"/>
            <a:ext cx="31032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8"/>
          <p:cNvSpPr/>
          <p:nvPr/>
        </p:nvSpPr>
        <p:spPr>
          <a:xfrm>
            <a:off x="1234440" y="3511440"/>
            <a:ext cx="10149120" cy="60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ANOVA — three or more groups (and the multiple-comparisons trap)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19"/>
          <p:cNvSpPr/>
          <p:nvPr/>
        </p:nvSpPr>
        <p:spPr>
          <a:xfrm>
            <a:off x="548640" y="4224600"/>
            <a:ext cx="11109240" cy="60264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20"/>
          <p:cNvSpPr/>
          <p:nvPr/>
        </p:nvSpPr>
        <p:spPr>
          <a:xfrm>
            <a:off x="731520" y="4370760"/>
            <a:ext cx="310320" cy="31032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21"/>
          <p:cNvSpPr/>
          <p:nvPr/>
        </p:nvSpPr>
        <p:spPr>
          <a:xfrm>
            <a:off x="731520" y="4370760"/>
            <a:ext cx="31032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22"/>
          <p:cNvSpPr/>
          <p:nvPr/>
        </p:nvSpPr>
        <p:spPr>
          <a:xfrm>
            <a:off x="1234440" y="4224600"/>
            <a:ext cx="10149120" cy="60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Chi-square — testing categorical data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23"/>
          <p:cNvSpPr/>
          <p:nvPr/>
        </p:nvSpPr>
        <p:spPr>
          <a:xfrm>
            <a:off x="548640" y="4937760"/>
            <a:ext cx="11109240" cy="60264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24"/>
          <p:cNvSpPr/>
          <p:nvPr/>
        </p:nvSpPr>
        <p:spPr>
          <a:xfrm>
            <a:off x="731520" y="5083920"/>
            <a:ext cx="310320" cy="31032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25"/>
          <p:cNvSpPr/>
          <p:nvPr/>
        </p:nvSpPr>
        <p:spPr>
          <a:xfrm>
            <a:off x="731520" y="5083920"/>
            <a:ext cx="31032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6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26"/>
          <p:cNvSpPr/>
          <p:nvPr/>
        </p:nvSpPr>
        <p:spPr>
          <a:xfrm>
            <a:off x="1234440" y="4937760"/>
            <a:ext cx="10149120" cy="60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Awareness: MANOVA &amp; non-parametric tests, then A/B testing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27"/>
          <p:cNvSpPr/>
          <p:nvPr/>
        </p:nvSpPr>
        <p:spPr>
          <a:xfrm>
            <a:off x="548640" y="5650920"/>
            <a:ext cx="11109240" cy="60264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28"/>
          <p:cNvSpPr/>
          <p:nvPr/>
        </p:nvSpPr>
        <p:spPr>
          <a:xfrm>
            <a:off x="731520" y="5797440"/>
            <a:ext cx="310320" cy="31032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29"/>
          <p:cNvSpPr/>
          <p:nvPr/>
        </p:nvSpPr>
        <p:spPr>
          <a:xfrm>
            <a:off x="731520" y="5797440"/>
            <a:ext cx="31032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7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30"/>
          <p:cNvSpPr/>
          <p:nvPr/>
        </p:nvSpPr>
        <p:spPr>
          <a:xfrm>
            <a:off x="1234440" y="5650920"/>
            <a:ext cx="10149120" cy="60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Tasks and a mini project: a real A/B test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 0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03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1"/>
          <p:cNvSpPr/>
          <p:nvPr/>
        </p:nvSpPr>
        <p:spPr>
          <a:xfrm>
            <a:off x="9692640" y="-1463040"/>
            <a:ext cx="3839760" cy="3839760"/>
          </a:xfrm>
          <a:prstGeom prst="ellipse">
            <a:avLst/>
          </a:prstGeom>
          <a:solidFill>
            <a:srgbClr val="262758">
              <a:alpha val="55000"/>
            </a:srgbClr>
          </a:solidFill>
          <a:ln w="12700">
            <a:solidFill>
              <a:srgbClr val="2627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2"/>
          <p:cNvSpPr/>
          <p:nvPr/>
        </p:nvSpPr>
        <p:spPr>
          <a:xfrm>
            <a:off x="-1645920" y="4754880"/>
            <a:ext cx="3474000" cy="3474000"/>
          </a:xfrm>
          <a:prstGeom prst="ellipse">
            <a:avLst/>
          </a:prstGeom>
          <a:solidFill>
            <a:srgbClr val="11362E">
              <a:alpha val="45000"/>
            </a:srgbClr>
          </a:solidFill>
          <a:ln w="12700">
            <a:solidFill>
              <a:srgbClr val="1136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3"/>
          <p:cNvSpPr/>
          <p:nvPr/>
        </p:nvSpPr>
        <p:spPr>
          <a:xfrm>
            <a:off x="640080" y="2331720"/>
            <a:ext cx="91432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PART 1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4"/>
          <p:cNvSpPr/>
          <p:nvPr/>
        </p:nvSpPr>
        <p:spPr>
          <a:xfrm>
            <a:off x="640080" y="2743200"/>
            <a:ext cx="1033200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Which Test Do I Use?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5"/>
          <p:cNvSpPr/>
          <p:nvPr/>
        </p:nvSpPr>
        <p:spPr>
          <a:xfrm>
            <a:off x="640080" y="3977640"/>
            <a:ext cx="969192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Choosing the right tool is half of statistics — the framework behind everything today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 0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1"/>
          <p:cNvSpPr/>
          <p:nvPr/>
        </p:nvSpPr>
        <p:spPr>
          <a:xfrm>
            <a:off x="457200" y="64738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2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40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Text 2"/>
          <p:cNvSpPr/>
          <p:nvPr/>
        </p:nvSpPr>
        <p:spPr>
          <a:xfrm>
            <a:off x="548640" y="457200"/>
            <a:ext cx="96919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Same Logic, New Tools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3"/>
          <p:cNvSpPr/>
          <p:nvPr/>
        </p:nvSpPr>
        <p:spPr>
          <a:xfrm>
            <a:off x="548640" y="1737360"/>
            <a:ext cx="2925360" cy="4022640"/>
          </a:xfrm>
          <a:prstGeom prst="roundRect">
            <a:avLst>
              <a:gd name="adj" fmla="val 375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4"/>
          <p:cNvSpPr/>
          <p:nvPr/>
        </p:nvSpPr>
        <p:spPr>
          <a:xfrm>
            <a:off x="1600200" y="2103120"/>
            <a:ext cx="822240" cy="822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5"/>
          <p:cNvSpPr/>
          <p:nvPr/>
        </p:nvSpPr>
        <p:spPr>
          <a:xfrm>
            <a:off x="1600200" y="2103120"/>
            <a:ext cx="82224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↻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6"/>
          <p:cNvSpPr/>
          <p:nvPr/>
        </p:nvSpPr>
        <p:spPr>
          <a:xfrm>
            <a:off x="731520" y="3154680"/>
            <a:ext cx="2559600" cy="23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Every test follows the Session 21 recipe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7"/>
          <p:cNvSpPr/>
          <p:nvPr/>
        </p:nvSpPr>
        <p:spPr>
          <a:xfrm>
            <a:off x="3749040" y="1737360"/>
            <a:ext cx="790884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Hanken Grotesk"/>
              </a:rPr>
              <a:t>Last session’s recipe: H₀, H₁, α, test statistic, p-value, decision.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Hanken Grotesk"/>
              </a:rPr>
              <a:t>Today only the test statistic changes — the logic stays identical.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Hanken Grotesk"/>
              </a:rPr>
              <a:t>Choosing the wrong test gives a p-value that looks right but means nothing.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Hanken Grotesk"/>
              </a:rPr>
              <a:t>Three questions pick the test: what type of data, how many groups, is it normal?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 0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"/>
          <p:cNvSpPr/>
          <p:nvPr/>
        </p:nvSpPr>
        <p:spPr>
          <a:xfrm>
            <a:off x="457200" y="64738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1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40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" name="Text 2"/>
          <p:cNvSpPr/>
          <p:nvPr/>
        </p:nvSpPr>
        <p:spPr>
          <a:xfrm>
            <a:off x="548640" y="457200"/>
            <a:ext cx="96919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Which Test Do I Use?  The Anchor Slide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3"/>
          <p:cNvSpPr/>
          <p:nvPr/>
        </p:nvSpPr>
        <p:spPr>
          <a:xfrm>
            <a:off x="548640" y="1463040"/>
            <a:ext cx="3245400" cy="456480"/>
          </a:xfrm>
          <a:prstGeom prst="roundRect">
            <a:avLst>
              <a:gd name="adj" fmla="val 50000"/>
            </a:avLst>
          </a:prstGeom>
          <a:solidFill>
            <a:srgbClr val="231F71"/>
          </a:solidFill>
          <a:ln w="12700">
            <a:solidFill>
              <a:srgbClr val="231F7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4"/>
          <p:cNvSpPr/>
          <p:nvPr/>
        </p:nvSpPr>
        <p:spPr>
          <a:xfrm>
            <a:off x="548640" y="1463040"/>
            <a:ext cx="32454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Your question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5"/>
          <p:cNvSpPr/>
          <p:nvPr/>
        </p:nvSpPr>
        <p:spPr>
          <a:xfrm>
            <a:off x="3977640" y="1463040"/>
            <a:ext cx="3656880" cy="45648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6"/>
          <p:cNvSpPr/>
          <p:nvPr/>
        </p:nvSpPr>
        <p:spPr>
          <a:xfrm>
            <a:off x="3977640" y="1463040"/>
            <a:ext cx="3656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Data ≈ normal → parametric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7"/>
          <p:cNvSpPr/>
          <p:nvPr/>
        </p:nvSpPr>
        <p:spPr>
          <a:xfrm>
            <a:off x="7818120" y="1463040"/>
            <a:ext cx="3839760" cy="45648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8"/>
          <p:cNvSpPr/>
          <p:nvPr/>
        </p:nvSpPr>
        <p:spPr>
          <a:xfrm>
            <a:off x="7818120" y="1463040"/>
            <a:ext cx="38397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Not normal → non-parametric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9"/>
          <p:cNvSpPr/>
          <p:nvPr/>
        </p:nvSpPr>
        <p:spPr>
          <a:xfrm>
            <a:off x="548640" y="2057400"/>
            <a:ext cx="3245400" cy="71244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0"/>
          <p:cNvSpPr/>
          <p:nvPr/>
        </p:nvSpPr>
        <p:spPr>
          <a:xfrm>
            <a:off x="640080" y="2057400"/>
            <a:ext cx="306252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One group vs. a known value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11"/>
          <p:cNvSpPr/>
          <p:nvPr/>
        </p:nvSpPr>
        <p:spPr>
          <a:xfrm>
            <a:off x="3977640" y="2057400"/>
            <a:ext cx="3656880" cy="712440"/>
          </a:xfrm>
          <a:prstGeom prst="roundRect">
            <a:avLst>
              <a:gd name="adj" fmla="val 15385"/>
            </a:avLst>
          </a:prstGeom>
          <a:solidFill>
            <a:srgbClr val="ECEBFB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2"/>
          <p:cNvSpPr/>
          <p:nvPr/>
        </p:nvSpPr>
        <p:spPr>
          <a:xfrm>
            <a:off x="4069080" y="2057400"/>
            <a:ext cx="347400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One-sample t-test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(Z-test if σ known)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13"/>
          <p:cNvSpPr/>
          <p:nvPr/>
        </p:nvSpPr>
        <p:spPr>
          <a:xfrm>
            <a:off x="7818120" y="2057400"/>
            <a:ext cx="3839760" cy="712440"/>
          </a:xfrm>
          <a:prstGeom prst="roundRect">
            <a:avLst>
              <a:gd name="adj" fmla="val 15385"/>
            </a:avLst>
          </a:prstGeom>
          <a:solidFill>
            <a:srgbClr val="BBEDDC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4"/>
          <p:cNvSpPr/>
          <p:nvPr/>
        </p:nvSpPr>
        <p:spPr>
          <a:xfrm>
            <a:off x="7909560" y="2057400"/>
            <a:ext cx="365688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Wilcoxon signed-rank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15"/>
          <p:cNvSpPr/>
          <p:nvPr/>
        </p:nvSpPr>
        <p:spPr>
          <a:xfrm>
            <a:off x="548640" y="2898720"/>
            <a:ext cx="3245400" cy="71244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6"/>
          <p:cNvSpPr/>
          <p:nvPr/>
        </p:nvSpPr>
        <p:spPr>
          <a:xfrm>
            <a:off x="640080" y="2898720"/>
            <a:ext cx="306252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Two independent groups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17"/>
          <p:cNvSpPr/>
          <p:nvPr/>
        </p:nvSpPr>
        <p:spPr>
          <a:xfrm>
            <a:off x="3977640" y="2898720"/>
            <a:ext cx="3656880" cy="712440"/>
          </a:xfrm>
          <a:prstGeom prst="roundRect">
            <a:avLst>
              <a:gd name="adj" fmla="val 15385"/>
            </a:avLst>
          </a:prstGeom>
          <a:solidFill>
            <a:srgbClr val="ECEBFB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8"/>
          <p:cNvSpPr/>
          <p:nvPr/>
        </p:nvSpPr>
        <p:spPr>
          <a:xfrm>
            <a:off x="4069080" y="2898720"/>
            <a:ext cx="347400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Independent t-test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19"/>
          <p:cNvSpPr/>
          <p:nvPr/>
        </p:nvSpPr>
        <p:spPr>
          <a:xfrm>
            <a:off x="7818120" y="2898720"/>
            <a:ext cx="3839760" cy="712440"/>
          </a:xfrm>
          <a:prstGeom prst="roundRect">
            <a:avLst>
              <a:gd name="adj" fmla="val 15385"/>
            </a:avLst>
          </a:prstGeom>
          <a:solidFill>
            <a:srgbClr val="BBEDDC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20"/>
          <p:cNvSpPr/>
          <p:nvPr/>
        </p:nvSpPr>
        <p:spPr>
          <a:xfrm>
            <a:off x="7909560" y="2898720"/>
            <a:ext cx="365688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Mann-Whitney U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21"/>
          <p:cNvSpPr/>
          <p:nvPr/>
        </p:nvSpPr>
        <p:spPr>
          <a:xfrm>
            <a:off x="548640" y="3740040"/>
            <a:ext cx="3245400" cy="71244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22"/>
          <p:cNvSpPr/>
          <p:nvPr/>
        </p:nvSpPr>
        <p:spPr>
          <a:xfrm>
            <a:off x="640080" y="3740040"/>
            <a:ext cx="306252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Three or more groups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23"/>
          <p:cNvSpPr/>
          <p:nvPr/>
        </p:nvSpPr>
        <p:spPr>
          <a:xfrm>
            <a:off x="3977640" y="3740040"/>
            <a:ext cx="3656880" cy="712440"/>
          </a:xfrm>
          <a:prstGeom prst="roundRect">
            <a:avLst>
              <a:gd name="adj" fmla="val 15385"/>
            </a:avLst>
          </a:prstGeom>
          <a:solidFill>
            <a:srgbClr val="ECEBFB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24"/>
          <p:cNvSpPr/>
          <p:nvPr/>
        </p:nvSpPr>
        <p:spPr>
          <a:xfrm>
            <a:off x="4069080" y="3740040"/>
            <a:ext cx="347400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One-way ANOVA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25"/>
          <p:cNvSpPr/>
          <p:nvPr/>
        </p:nvSpPr>
        <p:spPr>
          <a:xfrm>
            <a:off x="7818120" y="3740040"/>
            <a:ext cx="3839760" cy="712440"/>
          </a:xfrm>
          <a:prstGeom prst="roundRect">
            <a:avLst>
              <a:gd name="adj" fmla="val 15385"/>
            </a:avLst>
          </a:prstGeom>
          <a:solidFill>
            <a:srgbClr val="BBEDDC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26"/>
          <p:cNvSpPr/>
          <p:nvPr/>
        </p:nvSpPr>
        <p:spPr>
          <a:xfrm>
            <a:off x="7909560" y="3740040"/>
            <a:ext cx="365688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Kruskal-Wallis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27"/>
          <p:cNvSpPr/>
          <p:nvPr/>
        </p:nvSpPr>
        <p:spPr>
          <a:xfrm>
            <a:off x="548640" y="4617720"/>
            <a:ext cx="3245400" cy="71244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28"/>
          <p:cNvSpPr/>
          <p:nvPr/>
        </p:nvSpPr>
        <p:spPr>
          <a:xfrm>
            <a:off x="640080" y="4617720"/>
            <a:ext cx="306252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Two categorical variables (counts)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29"/>
          <p:cNvSpPr/>
          <p:nvPr/>
        </p:nvSpPr>
        <p:spPr>
          <a:xfrm>
            <a:off x="3977640" y="4617720"/>
            <a:ext cx="7680240" cy="712440"/>
          </a:xfrm>
          <a:prstGeom prst="roundRect">
            <a:avLst>
              <a:gd name="adj" fmla="val 15385"/>
            </a:avLst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30"/>
          <p:cNvSpPr/>
          <p:nvPr/>
        </p:nvSpPr>
        <p:spPr>
          <a:xfrm>
            <a:off x="3977640" y="4617720"/>
            <a:ext cx="768024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5B1A54"/>
                </a:solidFill>
                <a:effectLst/>
                <a:uFillTx/>
                <a:latin typeface="Bricolage Grotesque"/>
                <a:ea typeface="Bricolage Grotesque"/>
              </a:rPr>
              <a:t>Chi-square test of independence  (no normality needed)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31"/>
          <p:cNvSpPr/>
          <p:nvPr/>
        </p:nvSpPr>
        <p:spPr>
          <a:xfrm>
            <a:off x="548640" y="5577840"/>
            <a:ext cx="10972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Step 0 for every numeric row: check normality with Shapiro-Wilk, then follow the left or right path.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 0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1"/>
          <p:cNvSpPr/>
          <p:nvPr/>
        </p:nvSpPr>
        <p:spPr>
          <a:xfrm>
            <a:off x="457200" y="64738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4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40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" name="Text 2"/>
          <p:cNvSpPr/>
          <p:nvPr/>
        </p:nvSpPr>
        <p:spPr>
          <a:xfrm>
            <a:off x="548640" y="457200"/>
            <a:ext cx="96919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Parametric vs. Non-parametric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3"/>
          <p:cNvSpPr/>
          <p:nvPr/>
        </p:nvSpPr>
        <p:spPr>
          <a:xfrm>
            <a:off x="548640" y="1737360"/>
            <a:ext cx="5485680" cy="402264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4"/>
          <p:cNvSpPr/>
          <p:nvPr/>
        </p:nvSpPr>
        <p:spPr>
          <a:xfrm>
            <a:off x="777240" y="1965960"/>
            <a:ext cx="5028480" cy="45648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5"/>
          <p:cNvSpPr/>
          <p:nvPr/>
        </p:nvSpPr>
        <p:spPr>
          <a:xfrm>
            <a:off x="777240" y="1965960"/>
            <a:ext cx="5028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Parametric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6"/>
          <p:cNvSpPr/>
          <p:nvPr/>
        </p:nvSpPr>
        <p:spPr>
          <a:xfrm>
            <a:off x="822960" y="2697480"/>
            <a:ext cx="4937040" cy="29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Assume roughly normal data.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Use means and standard deviations.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More powerful when assumptions hold.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Examples: t-test, ANOVA.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7"/>
          <p:cNvSpPr/>
          <p:nvPr/>
        </p:nvSpPr>
        <p:spPr>
          <a:xfrm>
            <a:off x="6172200" y="1737360"/>
            <a:ext cx="5485680" cy="402264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8"/>
          <p:cNvSpPr/>
          <p:nvPr/>
        </p:nvSpPr>
        <p:spPr>
          <a:xfrm>
            <a:off x="6400800" y="1965960"/>
            <a:ext cx="5028480" cy="45648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9"/>
          <p:cNvSpPr/>
          <p:nvPr/>
        </p:nvSpPr>
        <p:spPr>
          <a:xfrm>
            <a:off x="6400800" y="1965960"/>
            <a:ext cx="5028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Non-parametric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0"/>
          <p:cNvSpPr/>
          <p:nvPr/>
        </p:nvSpPr>
        <p:spPr>
          <a:xfrm>
            <a:off x="6446520" y="2697480"/>
            <a:ext cx="4937040" cy="29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Few assumptions about the shape.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Often work on ranks, not raw values.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Safer for skewed data, outliers, small n.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Examples: Mann-Whitney, Kruskal-Wallis.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ext 0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1"/>
          <p:cNvSpPr/>
          <p:nvPr/>
        </p:nvSpPr>
        <p:spPr>
          <a:xfrm>
            <a:off x="457200" y="64738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</a:t>
            </a: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xto  ·  AI &amp; </a:t>
            </a: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ML </a:t>
            </a: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Playgroun</a:t>
            </a: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d  ·  Hafiz </a:t>
            </a: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Waseem </a:t>
            </a: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Ahmed </a:t>
            </a: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6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40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" name="Text 2"/>
          <p:cNvSpPr/>
          <p:nvPr/>
        </p:nvSpPr>
        <p:spPr>
          <a:xfrm>
            <a:off x="548640" y="457200"/>
            <a:ext cx="96919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The Shared Python Pattern in scipy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3"/>
          <p:cNvSpPr/>
          <p:nvPr/>
        </p:nvSpPr>
        <p:spPr>
          <a:xfrm>
            <a:off x="548640" y="1737360"/>
            <a:ext cx="539424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Every scipy.stats test returns two things: a statistic and a p-value.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Your job is the same each time: compare p to α.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Learn one pattern, reuse it for every test.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4"/>
          <p:cNvSpPr/>
          <p:nvPr/>
        </p:nvSpPr>
        <p:spPr>
          <a:xfrm>
            <a:off x="6172200" y="1737360"/>
            <a:ext cx="5485680" cy="402264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5"/>
          <p:cNvSpPr/>
          <p:nvPr/>
        </p:nvSpPr>
        <p:spPr>
          <a:xfrm>
            <a:off x="6336720" y="1883520"/>
            <a:ext cx="99720" cy="9972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6"/>
          <p:cNvSpPr/>
          <p:nvPr/>
        </p:nvSpPr>
        <p:spPr>
          <a:xfrm>
            <a:off x="6537960" y="1883520"/>
            <a:ext cx="99720" cy="9972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7"/>
          <p:cNvSpPr/>
          <p:nvPr/>
        </p:nvSpPr>
        <p:spPr>
          <a:xfrm>
            <a:off x="6739200" y="1883520"/>
            <a:ext cx="99720" cy="9972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8"/>
          <p:cNvSpPr/>
          <p:nvPr/>
        </p:nvSpPr>
        <p:spPr>
          <a:xfrm>
            <a:off x="6373440" y="2148840"/>
            <a:ext cx="5119920" cy="351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import numpy as np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from scipy import stats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alpha = 0.05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every test looks like this: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stat, p = stats.some_test(data)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if p &lt;= alpha: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print("Reject H0")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else: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print("Fail to reject H0")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only some_test changes: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  shapiro, ttest_1samp, ttest_ind,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  f_oneway, chi2_contingency ...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 0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"/>
          <p:cNvSpPr/>
          <p:nvPr/>
        </p:nvSpPr>
        <p:spPr>
          <a:xfrm>
            <a:off x="457200" y="64738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6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40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7" name="Shape 2"/>
          <p:cNvSpPr/>
          <p:nvPr/>
        </p:nvSpPr>
        <p:spPr>
          <a:xfrm>
            <a:off x="548640" y="502920"/>
            <a:ext cx="566280" cy="56628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3"/>
          <p:cNvSpPr/>
          <p:nvPr/>
        </p:nvSpPr>
        <p:spPr>
          <a:xfrm>
            <a:off x="548640" y="502920"/>
            <a:ext cx="5662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◎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4"/>
          <p:cNvSpPr/>
          <p:nvPr/>
        </p:nvSpPr>
        <p:spPr>
          <a:xfrm>
            <a:off x="1261800" y="50292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5"/>
          <p:cNvSpPr/>
          <p:nvPr/>
        </p:nvSpPr>
        <p:spPr>
          <a:xfrm>
            <a:off x="1261800" y="777240"/>
            <a:ext cx="96004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Practice Set — Choosing a Test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6"/>
          <p:cNvSpPr/>
          <p:nvPr/>
        </p:nvSpPr>
        <p:spPr>
          <a:xfrm>
            <a:off x="548640" y="1417320"/>
            <a:ext cx="10514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Try these yourself first — pencil, paper or a quick Python cell.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7"/>
          <p:cNvSpPr/>
          <p:nvPr/>
        </p:nvSpPr>
        <p:spPr>
          <a:xfrm>
            <a:off x="548640" y="1965960"/>
            <a:ext cx="11063520" cy="8222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8"/>
          <p:cNvSpPr/>
          <p:nvPr/>
        </p:nvSpPr>
        <p:spPr>
          <a:xfrm>
            <a:off x="731520" y="2203560"/>
            <a:ext cx="346680" cy="34668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9"/>
          <p:cNvSpPr/>
          <p:nvPr/>
        </p:nvSpPr>
        <p:spPr>
          <a:xfrm>
            <a:off x="731520" y="220356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10"/>
          <p:cNvSpPr/>
          <p:nvPr/>
        </p:nvSpPr>
        <p:spPr>
          <a:xfrm>
            <a:off x="1234440" y="1965960"/>
            <a:ext cx="101491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Compare average salaries of two unrelated groups. Which test (if normal)?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11"/>
          <p:cNvSpPr/>
          <p:nvPr/>
        </p:nvSpPr>
        <p:spPr>
          <a:xfrm>
            <a:off x="548640" y="2926080"/>
            <a:ext cx="11063520" cy="8222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12"/>
          <p:cNvSpPr/>
          <p:nvPr/>
        </p:nvSpPr>
        <p:spPr>
          <a:xfrm>
            <a:off x="731520" y="3163680"/>
            <a:ext cx="346680" cy="34668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13"/>
          <p:cNvSpPr/>
          <p:nvPr/>
        </p:nvSpPr>
        <p:spPr>
          <a:xfrm>
            <a:off x="731520" y="316368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14"/>
          <p:cNvSpPr/>
          <p:nvPr/>
        </p:nvSpPr>
        <p:spPr>
          <a:xfrm>
            <a:off x="1234440" y="2926080"/>
            <a:ext cx="101491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Test whether gender and course choice are related. Which test?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15"/>
          <p:cNvSpPr/>
          <p:nvPr/>
        </p:nvSpPr>
        <p:spPr>
          <a:xfrm>
            <a:off x="548640" y="3886200"/>
            <a:ext cx="11063520" cy="8222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16"/>
          <p:cNvSpPr/>
          <p:nvPr/>
        </p:nvSpPr>
        <p:spPr>
          <a:xfrm>
            <a:off x="731520" y="4123800"/>
            <a:ext cx="346680" cy="34668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7"/>
          <p:cNvSpPr/>
          <p:nvPr/>
        </p:nvSpPr>
        <p:spPr>
          <a:xfrm>
            <a:off x="731520" y="412380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8"/>
          <p:cNvSpPr/>
          <p:nvPr/>
        </p:nvSpPr>
        <p:spPr>
          <a:xfrm>
            <a:off x="1234440" y="3886200"/>
            <a:ext cx="101491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Compare exam scores across 4 teaching methods. Which test?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19"/>
          <p:cNvSpPr/>
          <p:nvPr/>
        </p:nvSpPr>
        <p:spPr>
          <a:xfrm>
            <a:off x="548640" y="4846320"/>
            <a:ext cx="11063520" cy="8222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20"/>
          <p:cNvSpPr/>
          <p:nvPr/>
        </p:nvSpPr>
        <p:spPr>
          <a:xfrm>
            <a:off x="731520" y="5083920"/>
            <a:ext cx="346680" cy="34668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21"/>
          <p:cNvSpPr/>
          <p:nvPr/>
        </p:nvSpPr>
        <p:spPr>
          <a:xfrm>
            <a:off x="731520" y="508392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22"/>
          <p:cNvSpPr/>
          <p:nvPr/>
        </p:nvSpPr>
        <p:spPr>
          <a:xfrm>
            <a:off x="1234440" y="4846320"/>
            <a:ext cx="101491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What changes between the Z-test and the t-test, and why?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Text 0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09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1"/>
          <p:cNvSpPr/>
          <p:nvPr/>
        </p:nvSpPr>
        <p:spPr>
          <a:xfrm>
            <a:off x="9692640" y="-1463040"/>
            <a:ext cx="3839760" cy="3839760"/>
          </a:xfrm>
          <a:prstGeom prst="ellipse">
            <a:avLst/>
          </a:prstGeom>
          <a:solidFill>
            <a:srgbClr val="262758">
              <a:alpha val="55000"/>
            </a:srgbClr>
          </a:solidFill>
          <a:ln w="12700">
            <a:solidFill>
              <a:srgbClr val="2627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2"/>
          <p:cNvSpPr/>
          <p:nvPr/>
        </p:nvSpPr>
        <p:spPr>
          <a:xfrm>
            <a:off x="-1645920" y="4754880"/>
            <a:ext cx="3474000" cy="3474000"/>
          </a:xfrm>
          <a:prstGeom prst="ellipse">
            <a:avLst/>
          </a:prstGeom>
          <a:solidFill>
            <a:srgbClr val="11362E">
              <a:alpha val="45000"/>
            </a:srgbClr>
          </a:solidFill>
          <a:ln w="12700">
            <a:solidFill>
              <a:srgbClr val="1136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3"/>
          <p:cNvSpPr/>
          <p:nvPr/>
        </p:nvSpPr>
        <p:spPr>
          <a:xfrm>
            <a:off x="640080" y="2331720"/>
            <a:ext cx="91432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PART 2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4"/>
          <p:cNvSpPr/>
          <p:nvPr/>
        </p:nvSpPr>
        <p:spPr>
          <a:xfrm>
            <a:off x="640080" y="2743200"/>
            <a:ext cx="1033200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Shapiro-Wilk: Checking Normality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5"/>
          <p:cNvSpPr/>
          <p:nvPr/>
        </p:nvSpPr>
        <p:spPr>
          <a:xfrm>
            <a:off x="640080" y="3977640"/>
            <a:ext cx="969192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The quick check that decides which path you walk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ext 0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1"/>
          <p:cNvSpPr/>
          <p:nvPr/>
        </p:nvSpPr>
        <p:spPr>
          <a:xfrm>
            <a:off x="457200" y="64738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6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40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7" name="Text 2"/>
          <p:cNvSpPr/>
          <p:nvPr/>
        </p:nvSpPr>
        <p:spPr>
          <a:xfrm>
            <a:off x="548640" y="457200"/>
            <a:ext cx="96919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Why Check Normality?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3"/>
          <p:cNvSpPr/>
          <p:nvPr/>
        </p:nvSpPr>
        <p:spPr>
          <a:xfrm>
            <a:off x="548640" y="1737360"/>
            <a:ext cx="2925360" cy="4022640"/>
          </a:xfrm>
          <a:prstGeom prst="roundRect">
            <a:avLst>
              <a:gd name="adj" fmla="val 375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4"/>
          <p:cNvSpPr/>
          <p:nvPr/>
        </p:nvSpPr>
        <p:spPr>
          <a:xfrm>
            <a:off x="1600200" y="2103120"/>
            <a:ext cx="822240" cy="822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5"/>
          <p:cNvSpPr/>
          <p:nvPr/>
        </p:nvSpPr>
        <p:spPr>
          <a:xfrm>
            <a:off x="1600200" y="2103120"/>
            <a:ext cx="82224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∿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6"/>
          <p:cNvSpPr/>
          <p:nvPr/>
        </p:nvSpPr>
        <p:spPr>
          <a:xfrm>
            <a:off x="731520" y="3154680"/>
            <a:ext cx="2559600" cy="23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Parametric tests assume a bell shape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7"/>
          <p:cNvSpPr/>
          <p:nvPr/>
        </p:nvSpPr>
        <p:spPr>
          <a:xfrm>
            <a:off x="3749040" y="1737360"/>
            <a:ext cx="790884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t-tests and ANOVA behave best when data are roughly normal.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Skewed data or outliers can make their p-values misleading.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The Shapiro-Wilk test asks: could this sample plausibly come from a normal distribution?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Its answer decides parametric vs. non-parametric.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Text 0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1"/>
          <p:cNvSpPr/>
          <p:nvPr/>
        </p:nvSpPr>
        <p:spPr>
          <a:xfrm>
            <a:off x="457200" y="64738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5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40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6" name="Text 2"/>
          <p:cNvSpPr/>
          <p:nvPr/>
        </p:nvSpPr>
        <p:spPr>
          <a:xfrm>
            <a:off x="548640" y="457200"/>
            <a:ext cx="96919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Shapiro-Wilk in Python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3"/>
          <p:cNvSpPr/>
          <p:nvPr/>
        </p:nvSpPr>
        <p:spPr>
          <a:xfrm>
            <a:off x="548640" y="1737360"/>
            <a:ext cx="539424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H₀: the data come from a normal distribution.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 &gt; 0.05 → no evidence against normality → parametric path.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 ≤ 0.05 → not normal → non-parametric path.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4"/>
          <p:cNvSpPr/>
          <p:nvPr/>
        </p:nvSpPr>
        <p:spPr>
          <a:xfrm>
            <a:off x="6172200" y="1737360"/>
            <a:ext cx="5485680" cy="402264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5"/>
          <p:cNvSpPr/>
          <p:nvPr/>
        </p:nvSpPr>
        <p:spPr>
          <a:xfrm>
            <a:off x="6336720" y="1883520"/>
            <a:ext cx="99720" cy="9972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6"/>
          <p:cNvSpPr/>
          <p:nvPr/>
        </p:nvSpPr>
        <p:spPr>
          <a:xfrm>
            <a:off x="6537960" y="1883520"/>
            <a:ext cx="99720" cy="9972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7"/>
          <p:cNvSpPr/>
          <p:nvPr/>
        </p:nvSpPr>
        <p:spPr>
          <a:xfrm>
            <a:off x="6739200" y="1883520"/>
            <a:ext cx="99720" cy="9972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8"/>
          <p:cNvSpPr/>
          <p:nvPr/>
        </p:nvSpPr>
        <p:spPr>
          <a:xfrm>
            <a:off x="6373440" y="2148840"/>
            <a:ext cx="5119920" cy="351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scores = np.array([72, 75, 68, 80, 77,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               74, 71, 79, 76, 73])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W, p = stats.shapiro(scores)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print(round(W, 3), round(p, 3))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0.987  0.992  -&gt; looks normal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skewed = np.array([1,1,2,2,2,3,3,4,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               5,9,14,30,55])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W, p = stats.shapiro(skewed)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print(round(W, 3), round(p, 4))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0.627  0.0001 -&gt; NOT normal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Text 0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1"/>
          <p:cNvSpPr/>
          <p:nvPr/>
        </p:nvSpPr>
        <p:spPr>
          <a:xfrm>
            <a:off x="457200" y="64738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5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40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6" name="Text 2"/>
          <p:cNvSpPr/>
          <p:nvPr/>
        </p:nvSpPr>
        <p:spPr>
          <a:xfrm>
            <a:off x="548640" y="457200"/>
            <a:ext cx="96919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Reading the Shapiro-Wilk Result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3"/>
          <p:cNvSpPr/>
          <p:nvPr/>
        </p:nvSpPr>
        <p:spPr>
          <a:xfrm>
            <a:off x="548640" y="1737360"/>
            <a:ext cx="5485680" cy="402264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4"/>
          <p:cNvSpPr/>
          <p:nvPr/>
        </p:nvSpPr>
        <p:spPr>
          <a:xfrm>
            <a:off x="777240" y="1965960"/>
            <a:ext cx="5028480" cy="45648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5"/>
          <p:cNvSpPr/>
          <p:nvPr/>
        </p:nvSpPr>
        <p:spPr>
          <a:xfrm>
            <a:off x="777240" y="1965960"/>
            <a:ext cx="5028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✓  p &gt; 0.05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6"/>
          <p:cNvSpPr/>
          <p:nvPr/>
        </p:nvSpPr>
        <p:spPr>
          <a:xfrm>
            <a:off x="822960" y="2697480"/>
            <a:ext cx="4937040" cy="29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Fail to reject H₀ of normality.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Go parametric (t-test, ANOVA).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Careful: it does not prove normality.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Also glance at a histogram.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7"/>
          <p:cNvSpPr/>
          <p:nvPr/>
        </p:nvSpPr>
        <p:spPr>
          <a:xfrm>
            <a:off x="6172200" y="1737360"/>
            <a:ext cx="5485680" cy="402264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8"/>
          <p:cNvSpPr/>
          <p:nvPr/>
        </p:nvSpPr>
        <p:spPr>
          <a:xfrm>
            <a:off x="6400800" y="1965960"/>
            <a:ext cx="5028480" cy="45648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9"/>
          <p:cNvSpPr/>
          <p:nvPr/>
        </p:nvSpPr>
        <p:spPr>
          <a:xfrm>
            <a:off x="6400800" y="1965960"/>
            <a:ext cx="5028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✗  p ≤ 0.05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10"/>
          <p:cNvSpPr/>
          <p:nvPr/>
        </p:nvSpPr>
        <p:spPr>
          <a:xfrm>
            <a:off x="6446520" y="2697480"/>
            <a:ext cx="4937040" cy="29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Reject H₀ — clearly not normal.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Switch to non-parametric tests.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Or consider transforming the data.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Very large n flags tiny, harmless deviations.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Text 0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1"/>
          <p:cNvSpPr/>
          <p:nvPr/>
        </p:nvSpPr>
        <p:spPr>
          <a:xfrm>
            <a:off x="457200" y="64738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7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40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8" name="Shape 2"/>
          <p:cNvSpPr/>
          <p:nvPr/>
        </p:nvSpPr>
        <p:spPr>
          <a:xfrm>
            <a:off x="548640" y="502920"/>
            <a:ext cx="566280" cy="56628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3"/>
          <p:cNvSpPr/>
          <p:nvPr/>
        </p:nvSpPr>
        <p:spPr>
          <a:xfrm>
            <a:off x="548640" y="502920"/>
            <a:ext cx="5662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◎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4"/>
          <p:cNvSpPr/>
          <p:nvPr/>
        </p:nvSpPr>
        <p:spPr>
          <a:xfrm>
            <a:off x="1261800" y="50292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5"/>
          <p:cNvSpPr/>
          <p:nvPr/>
        </p:nvSpPr>
        <p:spPr>
          <a:xfrm>
            <a:off x="1261800" y="777240"/>
            <a:ext cx="96004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Practice Set — Normality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6"/>
          <p:cNvSpPr/>
          <p:nvPr/>
        </p:nvSpPr>
        <p:spPr>
          <a:xfrm>
            <a:off x="548640" y="1417320"/>
            <a:ext cx="10514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Try these yourself first — pencil, paper or a quick Python cell.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7"/>
          <p:cNvSpPr/>
          <p:nvPr/>
        </p:nvSpPr>
        <p:spPr>
          <a:xfrm>
            <a:off x="548640" y="1965960"/>
            <a:ext cx="11063520" cy="8222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8"/>
          <p:cNvSpPr/>
          <p:nvPr/>
        </p:nvSpPr>
        <p:spPr>
          <a:xfrm>
            <a:off x="731520" y="2203560"/>
            <a:ext cx="346680" cy="34668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9"/>
          <p:cNvSpPr/>
          <p:nvPr/>
        </p:nvSpPr>
        <p:spPr>
          <a:xfrm>
            <a:off x="731520" y="220356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10"/>
          <p:cNvSpPr/>
          <p:nvPr/>
        </p:nvSpPr>
        <p:spPr>
          <a:xfrm>
            <a:off x="1234440" y="1965960"/>
            <a:ext cx="101491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What is H₀ in the Shapiro-Wilk test?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11"/>
          <p:cNvSpPr/>
          <p:nvPr/>
        </p:nvSpPr>
        <p:spPr>
          <a:xfrm>
            <a:off x="548640" y="2926080"/>
            <a:ext cx="11063520" cy="8222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12"/>
          <p:cNvSpPr/>
          <p:nvPr/>
        </p:nvSpPr>
        <p:spPr>
          <a:xfrm>
            <a:off x="731520" y="3163680"/>
            <a:ext cx="346680" cy="34668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13"/>
          <p:cNvSpPr/>
          <p:nvPr/>
        </p:nvSpPr>
        <p:spPr>
          <a:xfrm>
            <a:off x="731520" y="316368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14"/>
          <p:cNvSpPr/>
          <p:nvPr/>
        </p:nvSpPr>
        <p:spPr>
          <a:xfrm>
            <a:off x="1234440" y="2926080"/>
            <a:ext cx="101491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 = 0.30 — which family of tests do you choose?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15"/>
          <p:cNvSpPr/>
          <p:nvPr/>
        </p:nvSpPr>
        <p:spPr>
          <a:xfrm>
            <a:off x="548640" y="3886200"/>
            <a:ext cx="11063520" cy="8222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16"/>
          <p:cNvSpPr/>
          <p:nvPr/>
        </p:nvSpPr>
        <p:spPr>
          <a:xfrm>
            <a:off x="731520" y="4123800"/>
            <a:ext cx="346680" cy="34668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17"/>
          <p:cNvSpPr/>
          <p:nvPr/>
        </p:nvSpPr>
        <p:spPr>
          <a:xfrm>
            <a:off x="731520" y="412380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18"/>
          <p:cNvSpPr/>
          <p:nvPr/>
        </p:nvSpPr>
        <p:spPr>
          <a:xfrm>
            <a:off x="1234440" y="3886200"/>
            <a:ext cx="101491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Why is “p &gt; 0.05” not a proof of normality?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19"/>
          <p:cNvSpPr/>
          <p:nvPr/>
        </p:nvSpPr>
        <p:spPr>
          <a:xfrm>
            <a:off x="548640" y="4846320"/>
            <a:ext cx="11063520" cy="8222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20"/>
          <p:cNvSpPr/>
          <p:nvPr/>
        </p:nvSpPr>
        <p:spPr>
          <a:xfrm>
            <a:off x="731520" y="5083920"/>
            <a:ext cx="346680" cy="34668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21"/>
          <p:cNvSpPr/>
          <p:nvPr/>
        </p:nvSpPr>
        <p:spPr>
          <a:xfrm>
            <a:off x="731520" y="508392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22"/>
          <p:cNvSpPr/>
          <p:nvPr/>
        </p:nvSpPr>
        <p:spPr>
          <a:xfrm>
            <a:off x="1234440" y="4846320"/>
            <a:ext cx="101491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Python: generate rng.normal(50, 10, 40) and test it. Then try rng.exponential(5, 40).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Text 0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14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1"/>
          <p:cNvSpPr/>
          <p:nvPr/>
        </p:nvSpPr>
        <p:spPr>
          <a:xfrm>
            <a:off x="9692640" y="-1463040"/>
            <a:ext cx="3839760" cy="3839760"/>
          </a:xfrm>
          <a:prstGeom prst="ellipse">
            <a:avLst/>
          </a:prstGeom>
          <a:solidFill>
            <a:srgbClr val="262758">
              <a:alpha val="55000"/>
            </a:srgbClr>
          </a:solidFill>
          <a:ln w="12700">
            <a:solidFill>
              <a:srgbClr val="2627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2"/>
          <p:cNvSpPr/>
          <p:nvPr/>
        </p:nvSpPr>
        <p:spPr>
          <a:xfrm>
            <a:off x="-1645920" y="4754880"/>
            <a:ext cx="3474000" cy="3474000"/>
          </a:xfrm>
          <a:prstGeom prst="ellipse">
            <a:avLst/>
          </a:prstGeom>
          <a:solidFill>
            <a:srgbClr val="11362E">
              <a:alpha val="45000"/>
            </a:srgbClr>
          </a:solidFill>
          <a:ln w="12700">
            <a:solidFill>
              <a:srgbClr val="1136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3"/>
          <p:cNvSpPr/>
          <p:nvPr/>
        </p:nvSpPr>
        <p:spPr>
          <a:xfrm>
            <a:off x="640080" y="2331720"/>
            <a:ext cx="91432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PART 3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4"/>
          <p:cNvSpPr/>
          <p:nvPr/>
        </p:nvSpPr>
        <p:spPr>
          <a:xfrm>
            <a:off x="640080" y="2743200"/>
            <a:ext cx="1033200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T-Tests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5"/>
          <p:cNvSpPr/>
          <p:nvPr/>
        </p:nvSpPr>
        <p:spPr>
          <a:xfrm>
            <a:off x="640080" y="3977640"/>
            <a:ext cx="969192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When σ is unknown — the everyday workhorse of data analysis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Text 0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1"/>
          <p:cNvSpPr/>
          <p:nvPr/>
        </p:nvSpPr>
        <p:spPr>
          <a:xfrm>
            <a:off x="457200" y="64738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7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40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8" name="Text 2"/>
          <p:cNvSpPr/>
          <p:nvPr/>
        </p:nvSpPr>
        <p:spPr>
          <a:xfrm>
            <a:off x="548640" y="457200"/>
            <a:ext cx="96919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Why a t-Test?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3"/>
          <p:cNvSpPr/>
          <p:nvPr/>
        </p:nvSpPr>
        <p:spPr>
          <a:xfrm>
            <a:off x="548640" y="1737360"/>
            <a:ext cx="2925360" cy="4022640"/>
          </a:xfrm>
          <a:prstGeom prst="roundRect">
            <a:avLst>
              <a:gd name="adj" fmla="val 375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 4"/>
          <p:cNvSpPr/>
          <p:nvPr/>
        </p:nvSpPr>
        <p:spPr>
          <a:xfrm>
            <a:off x="1600200" y="2103120"/>
            <a:ext cx="822240" cy="822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5"/>
          <p:cNvSpPr/>
          <p:nvPr/>
        </p:nvSpPr>
        <p:spPr>
          <a:xfrm>
            <a:off x="1600200" y="2103120"/>
            <a:ext cx="82224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6"/>
          <p:cNvSpPr/>
          <p:nvPr/>
        </p:nvSpPr>
        <p:spPr>
          <a:xfrm>
            <a:off x="731520" y="3154680"/>
            <a:ext cx="2559600" cy="23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The Z-test’s practical cousin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7"/>
          <p:cNvSpPr/>
          <p:nvPr/>
        </p:nvSpPr>
        <p:spPr>
          <a:xfrm>
            <a:off x="3749040" y="1737360"/>
            <a:ext cx="790884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The Z-test needs the true population σ — which we almost never know.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The t-test estimates σ from the sample standard deviation.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Extra uncertainty gives heavier tails; the t-distribution shape depends on degrees of freedom (df).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As n grows, the t-distribution approaches the normal.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Text 0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1"/>
          <p:cNvSpPr/>
          <p:nvPr/>
        </p:nvSpPr>
        <p:spPr>
          <a:xfrm>
            <a:off x="457200" y="64738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6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40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7" name="Text 2"/>
          <p:cNvSpPr/>
          <p:nvPr/>
        </p:nvSpPr>
        <p:spPr>
          <a:xfrm>
            <a:off x="548640" y="457200"/>
            <a:ext cx="96919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One-Sample t-Test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3"/>
          <p:cNvSpPr/>
          <p:nvPr/>
        </p:nvSpPr>
        <p:spPr>
          <a:xfrm>
            <a:off x="548640" y="1737360"/>
            <a:ext cx="539424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Question: is the class average different from the claimed 70?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H₀: μ = 70    H₁: μ ≠ 70    α = 0.05.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 &lt; 0.05 → reject H₀: the average really differs from 70.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4"/>
          <p:cNvSpPr/>
          <p:nvPr/>
        </p:nvSpPr>
        <p:spPr>
          <a:xfrm>
            <a:off x="6172200" y="1737360"/>
            <a:ext cx="5485680" cy="402264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5"/>
          <p:cNvSpPr/>
          <p:nvPr/>
        </p:nvSpPr>
        <p:spPr>
          <a:xfrm>
            <a:off x="6336720" y="1883520"/>
            <a:ext cx="99720" cy="9972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6"/>
          <p:cNvSpPr/>
          <p:nvPr/>
        </p:nvSpPr>
        <p:spPr>
          <a:xfrm>
            <a:off x="6537960" y="1883520"/>
            <a:ext cx="99720" cy="9972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7"/>
          <p:cNvSpPr/>
          <p:nvPr/>
        </p:nvSpPr>
        <p:spPr>
          <a:xfrm>
            <a:off x="6739200" y="1883520"/>
            <a:ext cx="99720" cy="9972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8"/>
          <p:cNvSpPr/>
          <p:nvPr/>
        </p:nvSpPr>
        <p:spPr>
          <a:xfrm>
            <a:off x="6373440" y="2148840"/>
            <a:ext cx="5119920" cy="351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scores from the normality slide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print(scores.mean())          # 74.5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t, p = stats.ttest_1samp(scores, popmean=70)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print(round(t, 2), round(p, 4))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3.86  0.0039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df = n - 1 = 9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p &lt; 0.05 -&gt; reject H0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the true mean differs from 70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Text 0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1"/>
          <p:cNvSpPr/>
          <p:nvPr/>
        </p:nvSpPr>
        <p:spPr>
          <a:xfrm>
            <a:off x="457200" y="64738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6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40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7" name="Text 2"/>
          <p:cNvSpPr/>
          <p:nvPr/>
        </p:nvSpPr>
        <p:spPr>
          <a:xfrm>
            <a:off x="548640" y="457200"/>
            <a:ext cx="96919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Two-Sample (Independent) t-Test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3"/>
          <p:cNvSpPr/>
          <p:nvPr/>
        </p:nvSpPr>
        <p:spPr>
          <a:xfrm>
            <a:off x="548640" y="1737360"/>
            <a:ext cx="539424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Question: do two separate groups have different means?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Example: Method A vs. Method B on exam scores.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Each student appears in only one group.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4"/>
          <p:cNvSpPr/>
          <p:nvPr/>
        </p:nvSpPr>
        <p:spPr>
          <a:xfrm>
            <a:off x="6172200" y="1737360"/>
            <a:ext cx="5485680" cy="402264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5"/>
          <p:cNvSpPr/>
          <p:nvPr/>
        </p:nvSpPr>
        <p:spPr>
          <a:xfrm>
            <a:off x="6336720" y="1883520"/>
            <a:ext cx="99720" cy="9972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Shape 6"/>
          <p:cNvSpPr/>
          <p:nvPr/>
        </p:nvSpPr>
        <p:spPr>
          <a:xfrm>
            <a:off x="6537960" y="1883520"/>
            <a:ext cx="99720" cy="9972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7"/>
          <p:cNvSpPr/>
          <p:nvPr/>
        </p:nvSpPr>
        <p:spPr>
          <a:xfrm>
            <a:off x="6739200" y="1883520"/>
            <a:ext cx="99720" cy="9972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8"/>
          <p:cNvSpPr/>
          <p:nvPr/>
        </p:nvSpPr>
        <p:spPr>
          <a:xfrm>
            <a:off x="6373440" y="2148840"/>
            <a:ext cx="5119920" cy="351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A = np.array([78,82,75,80,77,85,79,81])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B = np.array([72,74,70,78,73,69,75,71])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print(A.mean(), B.mean()) # 79.625 72.75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t, p = stats.ttest_ind(A, B)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print(round(t, 2), round(p, 4))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4.56  0.0004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H0: mu_A = mu_B  -&gt; rejected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Method A scored higher on average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Text 0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1"/>
          <p:cNvSpPr/>
          <p:nvPr/>
        </p:nvSpPr>
        <p:spPr>
          <a:xfrm>
            <a:off x="457200" y="64738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6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40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7" name="Text 2"/>
          <p:cNvSpPr/>
          <p:nvPr/>
        </p:nvSpPr>
        <p:spPr>
          <a:xfrm>
            <a:off x="548640" y="457200"/>
            <a:ext cx="96919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Student’s vs. Welch’s t-Test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3"/>
          <p:cNvSpPr/>
          <p:nvPr/>
        </p:nvSpPr>
        <p:spPr>
          <a:xfrm>
            <a:off x="548640" y="1737360"/>
            <a:ext cx="5485680" cy="402264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4"/>
          <p:cNvSpPr/>
          <p:nvPr/>
        </p:nvSpPr>
        <p:spPr>
          <a:xfrm>
            <a:off x="777240" y="1965960"/>
            <a:ext cx="5028480" cy="45648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5"/>
          <p:cNvSpPr/>
          <p:nvPr/>
        </p:nvSpPr>
        <p:spPr>
          <a:xfrm>
            <a:off x="777240" y="1965960"/>
            <a:ext cx="5028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Student’s t-test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6"/>
          <p:cNvSpPr/>
          <p:nvPr/>
        </p:nvSpPr>
        <p:spPr>
          <a:xfrm>
            <a:off x="822960" y="2697480"/>
            <a:ext cx="4937040" cy="29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Assumes both groups have equal variance.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stats.ttest_ind(A, B)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Fine when spreads look similar.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7"/>
          <p:cNvSpPr/>
          <p:nvPr/>
        </p:nvSpPr>
        <p:spPr>
          <a:xfrm>
            <a:off x="6172200" y="1737360"/>
            <a:ext cx="5485680" cy="402264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Shape 8"/>
          <p:cNvSpPr/>
          <p:nvPr/>
        </p:nvSpPr>
        <p:spPr>
          <a:xfrm>
            <a:off x="6400800" y="1965960"/>
            <a:ext cx="5028480" cy="45648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9"/>
          <p:cNvSpPr/>
          <p:nvPr/>
        </p:nvSpPr>
        <p:spPr>
          <a:xfrm>
            <a:off x="6400800" y="1965960"/>
            <a:ext cx="5028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Welch’s t-test (safer)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10"/>
          <p:cNvSpPr/>
          <p:nvPr/>
        </p:nvSpPr>
        <p:spPr>
          <a:xfrm>
            <a:off x="6446520" y="2697480"/>
            <a:ext cx="4937040" cy="29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Does not assume equal variance.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stats.ttest_ind(A, B, equal_var=False)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Almost no downside — many analysts default to it.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Text 0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1"/>
          <p:cNvSpPr/>
          <p:nvPr/>
        </p:nvSpPr>
        <p:spPr>
          <a:xfrm>
            <a:off x="457200" y="64738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8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40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9" name="Shape 2"/>
          <p:cNvSpPr/>
          <p:nvPr/>
        </p:nvSpPr>
        <p:spPr>
          <a:xfrm>
            <a:off x="548640" y="502920"/>
            <a:ext cx="566280" cy="56628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3"/>
          <p:cNvSpPr/>
          <p:nvPr/>
        </p:nvSpPr>
        <p:spPr>
          <a:xfrm>
            <a:off x="548640" y="502920"/>
            <a:ext cx="5662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◎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4"/>
          <p:cNvSpPr/>
          <p:nvPr/>
        </p:nvSpPr>
        <p:spPr>
          <a:xfrm>
            <a:off x="1261800" y="50292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5"/>
          <p:cNvSpPr/>
          <p:nvPr/>
        </p:nvSpPr>
        <p:spPr>
          <a:xfrm>
            <a:off x="1261800" y="777240"/>
            <a:ext cx="96004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Practice Set — T-Tests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6"/>
          <p:cNvSpPr/>
          <p:nvPr/>
        </p:nvSpPr>
        <p:spPr>
          <a:xfrm>
            <a:off x="548640" y="1417320"/>
            <a:ext cx="10514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Try these yourself first — pencil, paper or a quick Python cell.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Shape 7"/>
          <p:cNvSpPr/>
          <p:nvPr/>
        </p:nvSpPr>
        <p:spPr>
          <a:xfrm>
            <a:off x="548640" y="1965960"/>
            <a:ext cx="11063520" cy="8222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Shape 8"/>
          <p:cNvSpPr/>
          <p:nvPr/>
        </p:nvSpPr>
        <p:spPr>
          <a:xfrm>
            <a:off x="731520" y="2203560"/>
            <a:ext cx="346680" cy="34668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9"/>
          <p:cNvSpPr/>
          <p:nvPr/>
        </p:nvSpPr>
        <p:spPr>
          <a:xfrm>
            <a:off x="731520" y="220356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10"/>
          <p:cNvSpPr/>
          <p:nvPr/>
        </p:nvSpPr>
        <p:spPr>
          <a:xfrm>
            <a:off x="1234440" y="1965960"/>
            <a:ext cx="101491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Why does the t-test use n − 1 degrees of freedom?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11"/>
          <p:cNvSpPr/>
          <p:nvPr/>
        </p:nvSpPr>
        <p:spPr>
          <a:xfrm>
            <a:off x="548640" y="2926080"/>
            <a:ext cx="11063520" cy="8222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Shape 12"/>
          <p:cNvSpPr/>
          <p:nvPr/>
        </p:nvSpPr>
        <p:spPr>
          <a:xfrm>
            <a:off x="731520" y="3163680"/>
            <a:ext cx="346680" cy="34668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13"/>
          <p:cNvSpPr/>
          <p:nvPr/>
        </p:nvSpPr>
        <p:spPr>
          <a:xfrm>
            <a:off x="731520" y="316368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14"/>
          <p:cNvSpPr/>
          <p:nvPr/>
        </p:nvSpPr>
        <p:spPr>
          <a:xfrm>
            <a:off x="1234440" y="2926080"/>
            <a:ext cx="101491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In the one-sample example, what is H₀ and what are the degrees of freedom?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15"/>
          <p:cNvSpPr/>
          <p:nvPr/>
        </p:nvSpPr>
        <p:spPr>
          <a:xfrm>
            <a:off x="548640" y="3886200"/>
            <a:ext cx="11063520" cy="8222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Shape 16"/>
          <p:cNvSpPr/>
          <p:nvPr/>
        </p:nvSpPr>
        <p:spPr>
          <a:xfrm>
            <a:off x="731520" y="4123800"/>
            <a:ext cx="346680" cy="34668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17"/>
          <p:cNvSpPr/>
          <p:nvPr/>
        </p:nvSpPr>
        <p:spPr>
          <a:xfrm>
            <a:off x="731520" y="412380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18"/>
          <p:cNvSpPr/>
          <p:nvPr/>
        </p:nvSpPr>
        <p:spPr>
          <a:xfrm>
            <a:off x="1234440" y="3886200"/>
            <a:ext cx="101491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Python: rerun the two-sample test with equal_var=False. How does p change?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19"/>
          <p:cNvSpPr/>
          <p:nvPr/>
        </p:nvSpPr>
        <p:spPr>
          <a:xfrm>
            <a:off x="548640" y="4846320"/>
            <a:ext cx="11063520" cy="8222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Shape 20"/>
          <p:cNvSpPr/>
          <p:nvPr/>
        </p:nvSpPr>
        <p:spPr>
          <a:xfrm>
            <a:off x="731520" y="5083920"/>
            <a:ext cx="346680" cy="34668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21"/>
          <p:cNvSpPr/>
          <p:nvPr/>
        </p:nvSpPr>
        <p:spPr>
          <a:xfrm>
            <a:off x="731520" y="508392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22"/>
          <p:cNvSpPr/>
          <p:nvPr/>
        </p:nvSpPr>
        <p:spPr>
          <a:xfrm>
            <a:off x="1234440" y="4846320"/>
            <a:ext cx="101491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Group means differ by 1 point but p &lt; 0.05 with n = 5000. Is it important?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Text 0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20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Shape 1"/>
          <p:cNvSpPr/>
          <p:nvPr/>
        </p:nvSpPr>
        <p:spPr>
          <a:xfrm>
            <a:off x="9692640" y="-1463040"/>
            <a:ext cx="3839760" cy="3839760"/>
          </a:xfrm>
          <a:prstGeom prst="ellipse">
            <a:avLst/>
          </a:prstGeom>
          <a:solidFill>
            <a:srgbClr val="262758">
              <a:alpha val="55000"/>
            </a:srgbClr>
          </a:solidFill>
          <a:ln w="12700">
            <a:solidFill>
              <a:srgbClr val="2627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Shape 2"/>
          <p:cNvSpPr/>
          <p:nvPr/>
        </p:nvSpPr>
        <p:spPr>
          <a:xfrm>
            <a:off x="-1645920" y="4754880"/>
            <a:ext cx="3474000" cy="3474000"/>
          </a:xfrm>
          <a:prstGeom prst="ellipse">
            <a:avLst/>
          </a:prstGeom>
          <a:solidFill>
            <a:srgbClr val="11362E">
              <a:alpha val="45000"/>
            </a:srgbClr>
          </a:solidFill>
          <a:ln w="12700">
            <a:solidFill>
              <a:srgbClr val="1136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3"/>
          <p:cNvSpPr/>
          <p:nvPr/>
        </p:nvSpPr>
        <p:spPr>
          <a:xfrm>
            <a:off x="640080" y="2331720"/>
            <a:ext cx="91432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PART 4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4"/>
          <p:cNvSpPr/>
          <p:nvPr/>
        </p:nvSpPr>
        <p:spPr>
          <a:xfrm>
            <a:off x="640080" y="2743200"/>
            <a:ext cx="1033200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ANOVA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5"/>
          <p:cNvSpPr/>
          <p:nvPr/>
        </p:nvSpPr>
        <p:spPr>
          <a:xfrm>
            <a:off x="640080" y="3977640"/>
            <a:ext cx="969192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Comparing three or more groups without inflating your errors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Text 0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1"/>
          <p:cNvSpPr/>
          <p:nvPr/>
        </p:nvSpPr>
        <p:spPr>
          <a:xfrm>
            <a:off x="457200" y="64738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8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40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9" name="Text 2"/>
          <p:cNvSpPr/>
          <p:nvPr/>
        </p:nvSpPr>
        <p:spPr>
          <a:xfrm>
            <a:off x="548640" y="457200"/>
            <a:ext cx="96919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Why Not Repeated t-Tests?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Shape 3"/>
          <p:cNvSpPr/>
          <p:nvPr/>
        </p:nvSpPr>
        <p:spPr>
          <a:xfrm>
            <a:off x="548640" y="1737360"/>
            <a:ext cx="2925360" cy="4022640"/>
          </a:xfrm>
          <a:prstGeom prst="roundRect">
            <a:avLst>
              <a:gd name="adj" fmla="val 375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Shape 4"/>
          <p:cNvSpPr/>
          <p:nvPr/>
        </p:nvSpPr>
        <p:spPr>
          <a:xfrm>
            <a:off x="1600200" y="2103120"/>
            <a:ext cx="822240" cy="822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5"/>
          <p:cNvSpPr/>
          <p:nvPr/>
        </p:nvSpPr>
        <p:spPr>
          <a:xfrm>
            <a:off x="1600200" y="2103120"/>
            <a:ext cx="82224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≠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6"/>
          <p:cNvSpPr/>
          <p:nvPr/>
        </p:nvSpPr>
        <p:spPr>
          <a:xfrm>
            <a:off x="731520" y="3154680"/>
            <a:ext cx="2559600" cy="23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Every extra test is another chance to be fooled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7"/>
          <p:cNvSpPr/>
          <p:nvPr/>
        </p:nvSpPr>
        <p:spPr>
          <a:xfrm>
            <a:off x="3749040" y="1737360"/>
            <a:ext cx="790884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Three groups need 3 pairwise t-tests; ten groups need 45.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Each test carries its own 5% false-alarm risk — and they add up.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ANOVA tests all groups with a single question.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H₀: all group means are equal.  H₁: at least one differs.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Text 0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1"/>
          <p:cNvSpPr/>
          <p:nvPr/>
        </p:nvSpPr>
        <p:spPr>
          <a:xfrm>
            <a:off x="457200" y="64738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7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40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8" name="Text 2"/>
          <p:cNvSpPr/>
          <p:nvPr/>
        </p:nvSpPr>
        <p:spPr>
          <a:xfrm>
            <a:off x="548640" y="457200"/>
            <a:ext cx="96919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Why Repeated t-Tests Go Wrong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Shape 3"/>
          <p:cNvSpPr/>
          <p:nvPr/>
        </p:nvSpPr>
        <p:spPr>
          <a:xfrm>
            <a:off x="548640" y="1600200"/>
            <a:ext cx="7223040" cy="434268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Shape 4"/>
          <p:cNvSpPr/>
          <p:nvPr/>
        </p:nvSpPr>
        <p:spPr>
          <a:xfrm>
            <a:off x="914400" y="5120640"/>
            <a:ext cx="6583680" cy="360"/>
          </a:xfrm>
          <a:prstGeom prst="line">
            <a:avLst/>
          </a:prstGeom>
          <a:ln w="15875">
            <a:solidFill>
              <a:srgbClr val="4746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Shape 5"/>
          <p:cNvSpPr/>
          <p:nvPr/>
        </p:nvSpPr>
        <p:spPr>
          <a:xfrm>
            <a:off x="1097280" y="4905000"/>
            <a:ext cx="1096560" cy="214920"/>
          </a:xfrm>
          <a:prstGeom prst="roundRect">
            <a:avLst>
              <a:gd name="adj" fmla="val 33939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6"/>
          <p:cNvSpPr/>
          <p:nvPr/>
        </p:nvSpPr>
        <p:spPr>
          <a:xfrm>
            <a:off x="1097280" y="4539240"/>
            <a:ext cx="1096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5%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7"/>
          <p:cNvSpPr/>
          <p:nvPr/>
        </p:nvSpPr>
        <p:spPr>
          <a:xfrm>
            <a:off x="1097280" y="5212080"/>
            <a:ext cx="1096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1 test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Shape 8"/>
          <p:cNvSpPr/>
          <p:nvPr/>
        </p:nvSpPr>
        <p:spPr>
          <a:xfrm>
            <a:off x="2743200" y="4504320"/>
            <a:ext cx="1096560" cy="615600"/>
          </a:xfrm>
          <a:prstGeom prst="roundRect">
            <a:avLst>
              <a:gd name="adj" fmla="val 11867"/>
            </a:avLst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9"/>
          <p:cNvSpPr/>
          <p:nvPr/>
        </p:nvSpPr>
        <p:spPr>
          <a:xfrm>
            <a:off x="2743200" y="4138560"/>
            <a:ext cx="1096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43F5E"/>
                </a:solidFill>
                <a:effectLst/>
                <a:uFillTx/>
                <a:latin typeface="Bricolage Grotesque"/>
                <a:ea typeface="Bricolage Grotesque"/>
              </a:rPr>
              <a:t>14.3%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10"/>
          <p:cNvSpPr/>
          <p:nvPr/>
        </p:nvSpPr>
        <p:spPr>
          <a:xfrm>
            <a:off x="2743200" y="5212080"/>
            <a:ext cx="1096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3 tests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Shape 11"/>
          <p:cNvSpPr/>
          <p:nvPr/>
        </p:nvSpPr>
        <p:spPr>
          <a:xfrm>
            <a:off x="4389120" y="3391920"/>
            <a:ext cx="1096560" cy="1728000"/>
          </a:xfrm>
          <a:prstGeom prst="roundRect">
            <a:avLst>
              <a:gd name="adj" fmla="val 6667"/>
            </a:avLst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12"/>
          <p:cNvSpPr/>
          <p:nvPr/>
        </p:nvSpPr>
        <p:spPr>
          <a:xfrm>
            <a:off x="4389120" y="3026160"/>
            <a:ext cx="1096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43F5E"/>
                </a:solidFill>
                <a:effectLst/>
                <a:uFillTx/>
                <a:latin typeface="Bricolage Grotesque"/>
                <a:ea typeface="Bricolage Grotesque"/>
              </a:rPr>
              <a:t>40.1%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13"/>
          <p:cNvSpPr/>
          <p:nvPr/>
        </p:nvSpPr>
        <p:spPr>
          <a:xfrm>
            <a:off x="4389120" y="5212080"/>
            <a:ext cx="1096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10 tests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Shape 14"/>
          <p:cNvSpPr/>
          <p:nvPr/>
        </p:nvSpPr>
        <p:spPr>
          <a:xfrm>
            <a:off x="6035040" y="2353320"/>
            <a:ext cx="1096560" cy="2766600"/>
          </a:xfrm>
          <a:prstGeom prst="roundRect">
            <a:avLst>
              <a:gd name="adj" fmla="val 6667"/>
            </a:avLst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15"/>
          <p:cNvSpPr/>
          <p:nvPr/>
        </p:nvSpPr>
        <p:spPr>
          <a:xfrm>
            <a:off x="6035040" y="1987560"/>
            <a:ext cx="1096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43F5E"/>
                </a:solidFill>
                <a:effectLst/>
                <a:uFillTx/>
                <a:latin typeface="Bricolage Grotesque"/>
                <a:ea typeface="Bricolage Grotesque"/>
              </a:rPr>
              <a:t>64.2</a:t>
            </a:r>
            <a:r>
              <a:rPr lang="en-US" sz="1500" b="1" u="none" strike="noStrike">
                <a:solidFill>
                  <a:srgbClr val="F43F5E"/>
                </a:solidFill>
                <a:effectLst/>
                <a:uFillTx/>
                <a:latin typeface="Bricolage Grotesque"/>
                <a:ea typeface="Bricolage Grotesque"/>
              </a:rPr>
              <a:t>%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16"/>
          <p:cNvSpPr/>
          <p:nvPr/>
        </p:nvSpPr>
        <p:spPr>
          <a:xfrm>
            <a:off x="6035040" y="5212080"/>
            <a:ext cx="1096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20 tests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17"/>
          <p:cNvSpPr/>
          <p:nvPr/>
        </p:nvSpPr>
        <p:spPr>
          <a:xfrm>
            <a:off x="914400" y="1783080"/>
            <a:ext cx="6582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Chance of at least one false alarm (α = 0.05 each)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Shape 18"/>
          <p:cNvSpPr/>
          <p:nvPr/>
        </p:nvSpPr>
        <p:spPr>
          <a:xfrm>
            <a:off x="8046720" y="1600200"/>
            <a:ext cx="3611160" cy="4342680"/>
          </a:xfrm>
          <a:prstGeom prst="roundRect">
            <a:avLst>
              <a:gd name="adj" fmla="val 3038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19"/>
          <p:cNvSpPr/>
          <p:nvPr/>
        </p:nvSpPr>
        <p:spPr>
          <a:xfrm>
            <a:off x="8321040" y="1828800"/>
            <a:ext cx="3108240" cy="38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Errors pile up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Chance = 1 − 0.95ᵏ for k independent tests.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Comparing 3 groups pairwise = 3 tests ≈ 14% false-alarm risk.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ANOVA asks one question first, keeping the risk at 5%.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Text 0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1"/>
          <p:cNvSpPr/>
          <p:nvPr/>
        </p:nvSpPr>
        <p:spPr>
          <a:xfrm>
            <a:off x="457200" y="64738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8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40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9" name="Text 2"/>
          <p:cNvSpPr/>
          <p:nvPr/>
        </p:nvSpPr>
        <p:spPr>
          <a:xfrm>
            <a:off x="548640" y="457200"/>
            <a:ext cx="96919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One-Way ANOVA in Python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3"/>
          <p:cNvSpPr/>
          <p:nvPr/>
        </p:nvSpPr>
        <p:spPr>
          <a:xfrm>
            <a:off x="548640" y="1737360"/>
            <a:ext cx="539424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ANOVA compares between-group spread to within-group spread: the F statistic.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Large F → means differ more than random noise explains.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It says “something differs”, not which group.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Shape 4"/>
          <p:cNvSpPr/>
          <p:nvPr/>
        </p:nvSpPr>
        <p:spPr>
          <a:xfrm>
            <a:off x="6172200" y="1737360"/>
            <a:ext cx="5485680" cy="402264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Shape 5"/>
          <p:cNvSpPr/>
          <p:nvPr/>
        </p:nvSpPr>
        <p:spPr>
          <a:xfrm>
            <a:off x="6336720" y="1883520"/>
            <a:ext cx="99720" cy="9972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3" name="Shape 6"/>
          <p:cNvSpPr/>
          <p:nvPr/>
        </p:nvSpPr>
        <p:spPr>
          <a:xfrm>
            <a:off x="6537960" y="1883520"/>
            <a:ext cx="99720" cy="9972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Shape 7"/>
          <p:cNvSpPr/>
          <p:nvPr/>
        </p:nvSpPr>
        <p:spPr>
          <a:xfrm>
            <a:off x="6739200" y="1883520"/>
            <a:ext cx="99720" cy="9972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8"/>
          <p:cNvSpPr/>
          <p:nvPr/>
        </p:nvSpPr>
        <p:spPr>
          <a:xfrm>
            <a:off x="6373440" y="2148840"/>
            <a:ext cx="5119920" cy="351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g1 = [78, 80, 76, 82, 79]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g2 = [88, 90, 86, 92, 89]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g3 = [84, 85, 83, 87, 86]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means: 79, 89, 85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F, p = stats.f_oneway(g1, g2, g3)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print(round(F, 1), round(p, 5))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30.4  2e-05  -&gt; reject H0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non-parametric twin: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H, p = stats.kruskal(g1, g2, g3)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print(round(H, 2), round(p, 4))  # 11.82  0.0027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Text 0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1"/>
          <p:cNvSpPr/>
          <p:nvPr/>
        </p:nvSpPr>
        <p:spPr>
          <a:xfrm>
            <a:off x="457200" y="64738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8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40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9" name="Text 2"/>
          <p:cNvSpPr/>
          <p:nvPr/>
        </p:nvSpPr>
        <p:spPr>
          <a:xfrm>
            <a:off x="548640" y="457200"/>
            <a:ext cx="96919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Aft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er 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a 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Sig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nifi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ca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nt 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AN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OV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A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Shape 3"/>
          <p:cNvSpPr/>
          <p:nvPr/>
        </p:nvSpPr>
        <p:spPr>
          <a:xfrm>
            <a:off x="548640" y="1737360"/>
            <a:ext cx="5485680" cy="402264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Shape 4"/>
          <p:cNvSpPr/>
          <p:nvPr/>
        </p:nvSpPr>
        <p:spPr>
          <a:xfrm>
            <a:off x="777240" y="1965960"/>
            <a:ext cx="5028480" cy="45648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5"/>
          <p:cNvSpPr/>
          <p:nvPr/>
        </p:nvSpPr>
        <p:spPr>
          <a:xfrm>
            <a:off x="777240" y="1965960"/>
            <a:ext cx="5028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The follow-up question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 6"/>
          <p:cNvSpPr/>
          <p:nvPr/>
        </p:nvSpPr>
        <p:spPr>
          <a:xfrm>
            <a:off x="822960" y="2697480"/>
            <a:ext cx="4937040" cy="29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Which groups differ from which?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Run post-hoc comparisons, e.g. Tukey’s HSD.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These adjust for multiple comparisons.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Shape 7"/>
          <p:cNvSpPr/>
          <p:nvPr/>
        </p:nvSpPr>
        <p:spPr>
          <a:xfrm>
            <a:off x="6172200" y="1737360"/>
            <a:ext cx="5485680" cy="402264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Shape 8"/>
          <p:cNvSpPr/>
          <p:nvPr/>
        </p:nvSpPr>
        <p:spPr>
          <a:xfrm>
            <a:off x="6400800" y="1965960"/>
            <a:ext cx="5028480" cy="45648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9"/>
          <p:cNvSpPr/>
          <p:nvPr/>
        </p:nvSpPr>
        <p:spPr>
          <a:xfrm>
            <a:off x="6400800" y="1965960"/>
            <a:ext cx="5028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Assumptions to check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10"/>
          <p:cNvSpPr/>
          <p:nvPr/>
        </p:nvSpPr>
        <p:spPr>
          <a:xfrm>
            <a:off x="6446520" y="2697480"/>
            <a:ext cx="4937040" cy="29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Independent observations.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Roughly normal within each group (Shapiro-Wilk).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Similar spread across groups.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If violated → Kruskal-Wallis.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Text 0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1"/>
          <p:cNvSpPr/>
          <p:nvPr/>
        </p:nvSpPr>
        <p:spPr>
          <a:xfrm>
            <a:off x="457200" y="64738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0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40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1" name="Shape 2"/>
          <p:cNvSpPr/>
          <p:nvPr/>
        </p:nvSpPr>
        <p:spPr>
          <a:xfrm>
            <a:off x="548640" y="502920"/>
            <a:ext cx="566280" cy="56628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3"/>
          <p:cNvSpPr/>
          <p:nvPr/>
        </p:nvSpPr>
        <p:spPr>
          <a:xfrm>
            <a:off x="548640" y="502920"/>
            <a:ext cx="5662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◎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 4"/>
          <p:cNvSpPr/>
          <p:nvPr/>
        </p:nvSpPr>
        <p:spPr>
          <a:xfrm>
            <a:off x="1261800" y="50292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4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5"/>
          <p:cNvSpPr/>
          <p:nvPr/>
        </p:nvSpPr>
        <p:spPr>
          <a:xfrm>
            <a:off x="1261800" y="777240"/>
            <a:ext cx="96004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Practice Set — ANOVA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6"/>
          <p:cNvSpPr/>
          <p:nvPr/>
        </p:nvSpPr>
        <p:spPr>
          <a:xfrm>
            <a:off x="548640" y="1417320"/>
            <a:ext cx="10514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Try these yourself first — pencil, paper or a quick Python cell.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Shape 7"/>
          <p:cNvSpPr/>
          <p:nvPr/>
        </p:nvSpPr>
        <p:spPr>
          <a:xfrm>
            <a:off x="548640" y="1965960"/>
            <a:ext cx="11063520" cy="8222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Shape 8"/>
          <p:cNvSpPr/>
          <p:nvPr/>
        </p:nvSpPr>
        <p:spPr>
          <a:xfrm>
            <a:off x="731520" y="2203560"/>
            <a:ext cx="346680" cy="34668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9"/>
          <p:cNvSpPr/>
          <p:nvPr/>
        </p:nvSpPr>
        <p:spPr>
          <a:xfrm>
            <a:off x="731520" y="220356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 10"/>
          <p:cNvSpPr/>
          <p:nvPr/>
        </p:nvSpPr>
        <p:spPr>
          <a:xfrm>
            <a:off x="1234440" y="1965960"/>
            <a:ext cx="101491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What is the H₀ of a one-way ANOVA?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Shape 11"/>
          <p:cNvSpPr/>
          <p:nvPr/>
        </p:nvSpPr>
        <p:spPr>
          <a:xfrm>
            <a:off x="548640" y="2926080"/>
            <a:ext cx="11063520" cy="8222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Shape 12"/>
          <p:cNvSpPr/>
          <p:nvPr/>
        </p:nvSpPr>
        <p:spPr>
          <a:xfrm>
            <a:off x="731520" y="3163680"/>
            <a:ext cx="346680" cy="34668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13"/>
          <p:cNvSpPr/>
          <p:nvPr/>
        </p:nvSpPr>
        <p:spPr>
          <a:xfrm>
            <a:off x="731520" y="316368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14"/>
          <p:cNvSpPr/>
          <p:nvPr/>
        </p:nvSpPr>
        <p:spPr>
          <a:xfrm>
            <a:off x="1234440" y="2926080"/>
            <a:ext cx="101491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Four groups → how many pairwise t-tests would that take?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Shape 15"/>
          <p:cNvSpPr/>
          <p:nvPr/>
        </p:nvSpPr>
        <p:spPr>
          <a:xfrm>
            <a:off x="548640" y="3886200"/>
            <a:ext cx="11063520" cy="8222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Shape 16"/>
          <p:cNvSpPr/>
          <p:nvPr/>
        </p:nvSpPr>
        <p:spPr>
          <a:xfrm>
            <a:off x="731520" y="4123800"/>
            <a:ext cx="346680" cy="34668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17"/>
          <p:cNvSpPr/>
          <p:nvPr/>
        </p:nvSpPr>
        <p:spPr>
          <a:xfrm>
            <a:off x="731520" y="412380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18"/>
          <p:cNvSpPr/>
          <p:nvPr/>
        </p:nvSpPr>
        <p:spPr>
          <a:xfrm>
            <a:off x="1234440" y="3886200"/>
            <a:ext cx="101491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ANOVA gives p = 0.001. Can you say which group is best? Why not?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Shape 19"/>
          <p:cNvSpPr/>
          <p:nvPr/>
        </p:nvSpPr>
        <p:spPr>
          <a:xfrm>
            <a:off x="548640" y="4846320"/>
            <a:ext cx="11063520" cy="8222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Shape 20"/>
          <p:cNvSpPr/>
          <p:nvPr/>
        </p:nvSpPr>
        <p:spPr>
          <a:xfrm>
            <a:off x="731520" y="5083920"/>
            <a:ext cx="346680" cy="34668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 21"/>
          <p:cNvSpPr/>
          <p:nvPr/>
        </p:nvSpPr>
        <p:spPr>
          <a:xfrm>
            <a:off x="731520" y="508392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22"/>
          <p:cNvSpPr/>
          <p:nvPr/>
        </p:nvSpPr>
        <p:spPr>
          <a:xfrm>
            <a:off x="1234440" y="4846320"/>
            <a:ext cx="101491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Python: rerun the ANOVA after changing g1 to [88, 90, 86, 92, 89]. What happens to p?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Text 0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26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3" name="Shape 1"/>
          <p:cNvSpPr/>
          <p:nvPr/>
        </p:nvSpPr>
        <p:spPr>
          <a:xfrm>
            <a:off x="9692640" y="-1463040"/>
            <a:ext cx="3839760" cy="3839760"/>
          </a:xfrm>
          <a:prstGeom prst="ellipse">
            <a:avLst/>
          </a:prstGeom>
          <a:solidFill>
            <a:srgbClr val="262758">
              <a:alpha val="55000"/>
            </a:srgbClr>
          </a:solidFill>
          <a:ln w="12700">
            <a:solidFill>
              <a:srgbClr val="2627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4" name="Shape 2"/>
          <p:cNvSpPr/>
          <p:nvPr/>
        </p:nvSpPr>
        <p:spPr>
          <a:xfrm>
            <a:off x="-1645920" y="4754880"/>
            <a:ext cx="3474000" cy="3474000"/>
          </a:xfrm>
          <a:prstGeom prst="ellipse">
            <a:avLst/>
          </a:prstGeom>
          <a:solidFill>
            <a:srgbClr val="11362E">
              <a:alpha val="45000"/>
            </a:srgbClr>
          </a:solidFill>
          <a:ln w="12700">
            <a:solidFill>
              <a:srgbClr val="1136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3"/>
          <p:cNvSpPr/>
          <p:nvPr/>
        </p:nvSpPr>
        <p:spPr>
          <a:xfrm>
            <a:off x="640080" y="2331720"/>
            <a:ext cx="91432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PART 5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 4"/>
          <p:cNvSpPr/>
          <p:nvPr/>
        </p:nvSpPr>
        <p:spPr>
          <a:xfrm>
            <a:off x="640080" y="2743200"/>
            <a:ext cx="1033200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Chi-Square Test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 5"/>
          <p:cNvSpPr/>
          <p:nvPr/>
        </p:nvSpPr>
        <p:spPr>
          <a:xfrm>
            <a:off x="640080" y="3977640"/>
            <a:ext cx="969192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When your data are counts and categories, not measurements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Text 0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 1"/>
          <p:cNvSpPr/>
          <p:nvPr/>
        </p:nvSpPr>
        <p:spPr>
          <a:xfrm>
            <a:off x="457200" y="64738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0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40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1" name="Text 2"/>
          <p:cNvSpPr/>
          <p:nvPr/>
        </p:nvSpPr>
        <p:spPr>
          <a:xfrm>
            <a:off x="548640" y="457200"/>
            <a:ext cx="96919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Testing Categorical Data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Shape 3"/>
          <p:cNvSpPr/>
          <p:nvPr/>
        </p:nvSpPr>
        <p:spPr>
          <a:xfrm>
            <a:off x="548640" y="1737360"/>
            <a:ext cx="2925360" cy="4022640"/>
          </a:xfrm>
          <a:prstGeom prst="roundRect">
            <a:avLst>
              <a:gd name="adj" fmla="val 375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3" name="Shape 4"/>
          <p:cNvSpPr/>
          <p:nvPr/>
        </p:nvSpPr>
        <p:spPr>
          <a:xfrm>
            <a:off x="1600200" y="2103120"/>
            <a:ext cx="822240" cy="822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 5"/>
          <p:cNvSpPr/>
          <p:nvPr/>
        </p:nvSpPr>
        <p:spPr>
          <a:xfrm>
            <a:off x="1600200" y="2103120"/>
            <a:ext cx="82224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χ²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 6"/>
          <p:cNvSpPr/>
          <p:nvPr/>
        </p:nvSpPr>
        <p:spPr>
          <a:xfrm>
            <a:off x="731520" y="3154680"/>
            <a:ext cx="2559600" cy="23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Do two categories go together?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 7"/>
          <p:cNvSpPr/>
          <p:nvPr/>
        </p:nvSpPr>
        <p:spPr>
          <a:xfrm>
            <a:off x="3749040" y="1737360"/>
            <a:ext cx="790884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Use when both variables are categories — e.g. app user vs. renewed.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It compares observed counts to the counts expected if there were no relationship.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Formula: χ² = Σ (O − E)² / E.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H₀: the variables are independent.  Big χ² → evidence of association.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Text 0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 1"/>
          <p:cNvSpPr/>
          <p:nvPr/>
        </p:nvSpPr>
        <p:spPr>
          <a:xfrm>
            <a:off x="457200" y="64738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9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40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0" name="Text 2"/>
          <p:cNvSpPr/>
          <p:nvPr/>
        </p:nvSpPr>
        <p:spPr>
          <a:xfrm>
            <a:off x="548640" y="457200"/>
            <a:ext cx="96919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Chi-Square Test in Python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 3"/>
          <p:cNvSpPr/>
          <p:nvPr/>
        </p:nvSpPr>
        <p:spPr>
          <a:xfrm>
            <a:off x="548640" y="1737360"/>
            <a:ext cx="539424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Table: rows = app users / non-users; columns = renewed / not renewed.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Expected counts come from the row and column totals.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 &lt; 0.05 → the variables are related.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Shape 4"/>
          <p:cNvSpPr/>
          <p:nvPr/>
        </p:nvSpPr>
        <p:spPr>
          <a:xfrm>
            <a:off x="6172200" y="1737360"/>
            <a:ext cx="5485680" cy="402264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3" name="Shape 5"/>
          <p:cNvSpPr/>
          <p:nvPr/>
        </p:nvSpPr>
        <p:spPr>
          <a:xfrm>
            <a:off x="6336720" y="1883520"/>
            <a:ext cx="99720" cy="9972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4" name="Shape 6"/>
          <p:cNvSpPr/>
          <p:nvPr/>
        </p:nvSpPr>
        <p:spPr>
          <a:xfrm>
            <a:off x="6537960" y="1883520"/>
            <a:ext cx="99720" cy="9972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Shape 7"/>
          <p:cNvSpPr/>
          <p:nvPr/>
        </p:nvSpPr>
        <p:spPr>
          <a:xfrm>
            <a:off x="6739200" y="1883520"/>
            <a:ext cx="99720" cy="9972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 8"/>
          <p:cNvSpPr/>
          <p:nvPr/>
        </p:nvSpPr>
        <p:spPr>
          <a:xfrm>
            <a:off x="6373440" y="2148840"/>
            <a:ext cx="5119920" cy="351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             renewed  not renewed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obs = np.array([[40, 10],      # app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            [25, 25]])     # no app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chi2, p, dof, exp = stats.chi2_contingency(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obs, correction=False)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print(round(chi2, 2), round(p, 4), dof)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9.89  0.0017  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print(exp)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[[32.5 17.5]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 [32.5 17.5]]  &lt;- expected if independent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Text 0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 1"/>
          <p:cNvSpPr/>
          <p:nvPr/>
        </p:nvSpPr>
        <p:spPr>
          <a:xfrm>
            <a:off x="457200" y="64738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9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40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0" name="Shape 2"/>
          <p:cNvSpPr/>
          <p:nvPr/>
        </p:nvSpPr>
        <p:spPr>
          <a:xfrm>
            <a:off x="548640" y="502920"/>
            <a:ext cx="566280" cy="56628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 3"/>
          <p:cNvSpPr/>
          <p:nvPr/>
        </p:nvSpPr>
        <p:spPr>
          <a:xfrm>
            <a:off x="548640" y="502920"/>
            <a:ext cx="5662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◎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 4"/>
          <p:cNvSpPr/>
          <p:nvPr/>
        </p:nvSpPr>
        <p:spPr>
          <a:xfrm>
            <a:off x="1261800" y="50292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 5"/>
          <p:cNvSpPr/>
          <p:nvPr/>
        </p:nvSpPr>
        <p:spPr>
          <a:xfrm>
            <a:off x="1261800" y="777240"/>
            <a:ext cx="96004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Practice Set — Chi-Square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 6"/>
          <p:cNvSpPr/>
          <p:nvPr/>
        </p:nvSpPr>
        <p:spPr>
          <a:xfrm>
            <a:off x="548640" y="1417320"/>
            <a:ext cx="10514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Try these yourself first — pencil, paper or a quick Python cell.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Shape 7"/>
          <p:cNvSpPr/>
          <p:nvPr/>
        </p:nvSpPr>
        <p:spPr>
          <a:xfrm>
            <a:off x="548640" y="1965960"/>
            <a:ext cx="11063520" cy="8222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Shape 8"/>
          <p:cNvSpPr/>
          <p:nvPr/>
        </p:nvSpPr>
        <p:spPr>
          <a:xfrm>
            <a:off x="731520" y="2203560"/>
            <a:ext cx="346680" cy="34668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 9"/>
          <p:cNvSpPr/>
          <p:nvPr/>
        </p:nvSpPr>
        <p:spPr>
          <a:xfrm>
            <a:off x="731520" y="220356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 10"/>
          <p:cNvSpPr/>
          <p:nvPr/>
        </p:nvSpPr>
        <p:spPr>
          <a:xfrm>
            <a:off x="1234440" y="1965960"/>
            <a:ext cx="101491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Which test: relation between favourite sport and city?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Shape 11"/>
          <p:cNvSpPr/>
          <p:nvPr/>
        </p:nvSpPr>
        <p:spPr>
          <a:xfrm>
            <a:off x="548640" y="2926080"/>
            <a:ext cx="11063520" cy="8222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Shape 12"/>
          <p:cNvSpPr/>
          <p:nvPr/>
        </p:nvSpPr>
        <p:spPr>
          <a:xfrm>
            <a:off x="731520" y="3163680"/>
            <a:ext cx="346680" cy="34668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 13"/>
          <p:cNvSpPr/>
          <p:nvPr/>
        </p:nvSpPr>
        <p:spPr>
          <a:xfrm>
            <a:off x="731520" y="316368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 14"/>
          <p:cNvSpPr/>
          <p:nvPr/>
        </p:nvSpPr>
        <p:spPr>
          <a:xfrm>
            <a:off x="1234440" y="2926080"/>
            <a:ext cx="101491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What does a large χ² value tell you?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Shape 15"/>
          <p:cNvSpPr/>
          <p:nvPr/>
        </p:nvSpPr>
        <p:spPr>
          <a:xfrm>
            <a:off x="548640" y="3886200"/>
            <a:ext cx="11063520" cy="8222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Shape 16"/>
          <p:cNvSpPr/>
          <p:nvPr/>
        </p:nvSpPr>
        <p:spPr>
          <a:xfrm>
            <a:off x="731520" y="4123800"/>
            <a:ext cx="346680" cy="34668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 17"/>
          <p:cNvSpPr/>
          <p:nvPr/>
        </p:nvSpPr>
        <p:spPr>
          <a:xfrm>
            <a:off x="731520" y="412380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Text 18"/>
          <p:cNvSpPr/>
          <p:nvPr/>
        </p:nvSpPr>
        <p:spPr>
          <a:xfrm>
            <a:off x="1234440" y="3886200"/>
            <a:ext cx="101491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Why can’t you use a t-test on categorical data?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Shape 19"/>
          <p:cNvSpPr/>
          <p:nvPr/>
        </p:nvSpPr>
        <p:spPr>
          <a:xfrm>
            <a:off x="548640" y="4846320"/>
            <a:ext cx="11063520" cy="8222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Shape 20"/>
          <p:cNvSpPr/>
          <p:nvPr/>
        </p:nvSpPr>
        <p:spPr>
          <a:xfrm>
            <a:off x="731520" y="5083920"/>
            <a:ext cx="346680" cy="34668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 21"/>
          <p:cNvSpPr/>
          <p:nvPr/>
        </p:nvSpPr>
        <p:spPr>
          <a:xfrm>
            <a:off x="731520" y="508392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 22"/>
          <p:cNvSpPr/>
          <p:nvPr/>
        </p:nvSpPr>
        <p:spPr>
          <a:xfrm>
            <a:off x="1234440" y="4846320"/>
            <a:ext cx="101491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Python: change the counts so app and non-app are identical. What happens to χ² and p?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Text 0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30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2" name="Shape 1"/>
          <p:cNvSpPr/>
          <p:nvPr/>
        </p:nvSpPr>
        <p:spPr>
          <a:xfrm>
            <a:off x="9692640" y="-1463040"/>
            <a:ext cx="3839760" cy="3839760"/>
          </a:xfrm>
          <a:prstGeom prst="ellipse">
            <a:avLst/>
          </a:prstGeom>
          <a:solidFill>
            <a:srgbClr val="262758">
              <a:alpha val="55000"/>
            </a:srgbClr>
          </a:solidFill>
          <a:ln w="12700">
            <a:solidFill>
              <a:srgbClr val="2627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3" name="Shape 2"/>
          <p:cNvSpPr/>
          <p:nvPr/>
        </p:nvSpPr>
        <p:spPr>
          <a:xfrm>
            <a:off x="-1645920" y="4754880"/>
            <a:ext cx="3474000" cy="3474000"/>
          </a:xfrm>
          <a:prstGeom prst="ellipse">
            <a:avLst/>
          </a:prstGeom>
          <a:solidFill>
            <a:srgbClr val="11362E">
              <a:alpha val="45000"/>
            </a:srgbClr>
          </a:solidFill>
          <a:ln w="12700">
            <a:solidFill>
              <a:srgbClr val="1136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 3"/>
          <p:cNvSpPr/>
          <p:nvPr/>
        </p:nvSpPr>
        <p:spPr>
          <a:xfrm>
            <a:off x="640080" y="2331720"/>
            <a:ext cx="91432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PART 6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5" name="Text 4"/>
          <p:cNvSpPr/>
          <p:nvPr/>
        </p:nvSpPr>
        <p:spPr>
          <a:xfrm>
            <a:off x="640080" y="2743200"/>
            <a:ext cx="1033200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Awareness &amp; A/B Testing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 5"/>
          <p:cNvSpPr/>
          <p:nvPr/>
        </p:nvSpPr>
        <p:spPr>
          <a:xfrm>
            <a:off x="640080" y="3977640"/>
            <a:ext cx="969192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A peek at the wider family — then the most practical test in industry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Text 0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Text 1"/>
          <p:cNvSpPr/>
          <p:nvPr/>
        </p:nvSpPr>
        <p:spPr>
          <a:xfrm>
            <a:off x="457200" y="64738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19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40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0" name="Text 2"/>
          <p:cNvSpPr/>
          <p:nvPr/>
        </p:nvSpPr>
        <p:spPr>
          <a:xfrm>
            <a:off x="548640" y="457200"/>
            <a:ext cx="96919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Awareness: The Wider Test Family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Shape 3"/>
          <p:cNvSpPr/>
          <p:nvPr/>
        </p:nvSpPr>
        <p:spPr>
          <a:xfrm>
            <a:off x="548640" y="1737360"/>
            <a:ext cx="3519720" cy="40226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Shape 4"/>
          <p:cNvSpPr/>
          <p:nvPr/>
        </p:nvSpPr>
        <p:spPr>
          <a:xfrm>
            <a:off x="777240" y="1965960"/>
            <a:ext cx="456480" cy="45648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 5"/>
          <p:cNvSpPr/>
          <p:nvPr/>
        </p:nvSpPr>
        <p:spPr>
          <a:xfrm>
            <a:off x="777240" y="1965960"/>
            <a:ext cx="456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 6"/>
          <p:cNvSpPr/>
          <p:nvPr/>
        </p:nvSpPr>
        <p:spPr>
          <a:xfrm>
            <a:off x="777240" y="2651760"/>
            <a:ext cx="30625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MANOVA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Text 7"/>
          <p:cNvSpPr/>
          <p:nvPr/>
        </p:nvSpPr>
        <p:spPr>
          <a:xfrm>
            <a:off x="777240" y="3520440"/>
            <a:ext cx="3062520" cy="210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Like ANOVA, but compares groups on several numeric outcomes at once (e.g. math AND reading scores).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Shape 8"/>
          <p:cNvSpPr/>
          <p:nvPr/>
        </p:nvSpPr>
        <p:spPr>
          <a:xfrm>
            <a:off x="4343400" y="1737360"/>
            <a:ext cx="3519720" cy="40226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Shape 9"/>
          <p:cNvSpPr/>
          <p:nvPr/>
        </p:nvSpPr>
        <p:spPr>
          <a:xfrm>
            <a:off x="4572000" y="1965960"/>
            <a:ext cx="456480" cy="45648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 10"/>
          <p:cNvSpPr/>
          <p:nvPr/>
        </p:nvSpPr>
        <p:spPr>
          <a:xfrm>
            <a:off x="4572000" y="1965960"/>
            <a:ext cx="456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Text 11"/>
          <p:cNvSpPr/>
          <p:nvPr/>
        </p:nvSpPr>
        <p:spPr>
          <a:xfrm>
            <a:off x="4572000" y="2651760"/>
            <a:ext cx="30625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Mann-Whitney U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Text 12"/>
          <p:cNvSpPr/>
          <p:nvPr/>
        </p:nvSpPr>
        <p:spPr>
          <a:xfrm>
            <a:off x="4572000" y="3520440"/>
            <a:ext cx="3062520" cy="210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Non-parametric stand-in for the independent t-test. Compares ranks, handles skew and outliers.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Shape 13"/>
          <p:cNvSpPr/>
          <p:nvPr/>
        </p:nvSpPr>
        <p:spPr>
          <a:xfrm>
            <a:off x="8138160" y="1737360"/>
            <a:ext cx="3519720" cy="40226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Shape 14"/>
          <p:cNvSpPr/>
          <p:nvPr/>
        </p:nvSpPr>
        <p:spPr>
          <a:xfrm>
            <a:off x="8366760" y="1965960"/>
            <a:ext cx="456480" cy="45648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Text 15"/>
          <p:cNvSpPr/>
          <p:nvPr/>
        </p:nvSpPr>
        <p:spPr>
          <a:xfrm>
            <a:off x="8366760" y="1965960"/>
            <a:ext cx="456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Text 16"/>
          <p:cNvSpPr/>
          <p:nvPr/>
        </p:nvSpPr>
        <p:spPr>
          <a:xfrm>
            <a:off x="8366760" y="2651760"/>
            <a:ext cx="30625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Kruskal-Wallis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Text 17"/>
          <p:cNvSpPr/>
          <p:nvPr/>
        </p:nvSpPr>
        <p:spPr>
          <a:xfrm>
            <a:off x="8366760" y="3520440"/>
            <a:ext cx="3062520" cy="210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Non-parametric stand-in for one-way ANOVA across 3+ groups.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Text 0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Text 1"/>
          <p:cNvSpPr/>
          <p:nvPr/>
        </p:nvSpPr>
        <p:spPr>
          <a:xfrm>
            <a:off x="457200" y="64738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38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40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9" name="Text 2"/>
          <p:cNvSpPr/>
          <p:nvPr/>
        </p:nvSpPr>
        <p:spPr>
          <a:xfrm>
            <a:off x="548640" y="457200"/>
            <a:ext cx="96919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Mann-Whitney in Python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Text 3"/>
          <p:cNvSpPr/>
          <p:nvPr/>
        </p:nvSpPr>
        <p:spPr>
          <a:xfrm>
            <a:off x="548640" y="1737360"/>
            <a:ext cx="539424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Data with an extreme outlier (40, 35) break t-test assumptions.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Mann-Whitney compares ranks, so outliers matter far less.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Same decision rule: compare p to α.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Shape 4"/>
          <p:cNvSpPr/>
          <p:nvPr/>
        </p:nvSpPr>
        <p:spPr>
          <a:xfrm>
            <a:off x="6172200" y="1737360"/>
            <a:ext cx="5485680" cy="402264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2" name="Shape 5"/>
          <p:cNvSpPr/>
          <p:nvPr/>
        </p:nvSpPr>
        <p:spPr>
          <a:xfrm>
            <a:off x="6336720" y="1883520"/>
            <a:ext cx="99720" cy="9972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3" name="Shape 6"/>
          <p:cNvSpPr/>
          <p:nvPr/>
        </p:nvSpPr>
        <p:spPr>
          <a:xfrm>
            <a:off x="6537960" y="1883520"/>
            <a:ext cx="99720" cy="9972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Shape 7"/>
          <p:cNvSpPr/>
          <p:nvPr/>
        </p:nvSpPr>
        <p:spPr>
          <a:xfrm>
            <a:off x="6739200" y="1883520"/>
            <a:ext cx="99720" cy="9972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Text 8"/>
          <p:cNvSpPr/>
          <p:nvPr/>
        </p:nvSpPr>
        <p:spPr>
          <a:xfrm>
            <a:off x="6373440" y="2148840"/>
            <a:ext cx="5119920" cy="351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x = [3, 5, 4, 6, 7, 5, 40, 6]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y = [8, 9, 12, 10, 35, 11, 9, 13]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U, p = stats.mannwhitneyu(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x, y, alternative="two-sided")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print(U, round(p, 4))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8.0  0.0134  -&gt; reject H0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group y is typically larger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despite the outliers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Text 0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Text 1"/>
          <p:cNvSpPr/>
          <p:nvPr/>
        </p:nvSpPr>
        <p:spPr>
          <a:xfrm>
            <a:off x="457200" y="64738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48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40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9" name="Text 2"/>
          <p:cNvSpPr/>
          <p:nvPr/>
        </p:nvSpPr>
        <p:spPr>
          <a:xfrm>
            <a:off x="548640" y="457200"/>
            <a:ext cx="96919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A/B Testing: Hypothesis Testing in the Wild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Shape 3"/>
          <p:cNvSpPr/>
          <p:nvPr/>
        </p:nvSpPr>
        <p:spPr>
          <a:xfrm>
            <a:off x="548640" y="1737360"/>
            <a:ext cx="2925360" cy="4022640"/>
          </a:xfrm>
          <a:prstGeom prst="roundRect">
            <a:avLst>
              <a:gd name="adj" fmla="val 375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1" name="Shape 4"/>
          <p:cNvSpPr/>
          <p:nvPr/>
        </p:nvSpPr>
        <p:spPr>
          <a:xfrm>
            <a:off x="1600200" y="2103120"/>
            <a:ext cx="822240" cy="822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Text 5"/>
          <p:cNvSpPr/>
          <p:nvPr/>
        </p:nvSpPr>
        <p:spPr>
          <a:xfrm>
            <a:off x="1600200" y="2103120"/>
            <a:ext cx="82224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A/B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Text 6"/>
          <p:cNvSpPr/>
          <p:nvPr/>
        </p:nvSpPr>
        <p:spPr>
          <a:xfrm>
            <a:off x="731520" y="3154680"/>
            <a:ext cx="2559600" cy="23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Two versions, one winner — decided by data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Text 7"/>
          <p:cNvSpPr/>
          <p:nvPr/>
        </p:nvSpPr>
        <p:spPr>
          <a:xfrm>
            <a:off x="3749040" y="1737360"/>
            <a:ext cx="790884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Show version A to some users and version B to others, chosen at random.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Measure a metric — conversion, clicks, time on page.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H₀: the versions perform equally.  H₁: they differ.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Decide sample size and α BEFORE launching, and do not stop early when p dips below 0.05.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Text 0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Text 1"/>
          <p:cNvSpPr/>
          <p:nvPr/>
        </p:nvSpPr>
        <p:spPr>
          <a:xfrm>
            <a:off x="457200" y="64738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57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40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8" name="Text 2"/>
          <p:cNvSpPr/>
          <p:nvPr/>
        </p:nvSpPr>
        <p:spPr>
          <a:xfrm>
            <a:off x="548640" y="457200"/>
            <a:ext cx="96919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A/B Test: Two-Proportion Z-Test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Text 3"/>
          <p:cNvSpPr/>
          <p:nvPr/>
        </p:nvSpPr>
        <p:spPr>
          <a:xfrm>
            <a:off x="548640" y="1737360"/>
            <a:ext cx="539424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Old page: 120 of 2,400 converted (5.0%).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New page: 156 of 2,400 converted (6.5%).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Same chi-square p-value gives the same answer: χ² = z².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460" name="Shape 4"/>
          <p:cNvSpPr/>
          <p:nvPr/>
        </p:nvSpPr>
        <p:spPr>
          <a:xfrm>
            <a:off x="6172200" y="1737360"/>
            <a:ext cx="5485680" cy="402264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1" name="Shape 5"/>
          <p:cNvSpPr/>
          <p:nvPr/>
        </p:nvSpPr>
        <p:spPr>
          <a:xfrm>
            <a:off x="6336720" y="1883520"/>
            <a:ext cx="99720" cy="9972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2" name="Shape 6"/>
          <p:cNvSpPr/>
          <p:nvPr/>
        </p:nvSpPr>
        <p:spPr>
          <a:xfrm>
            <a:off x="6537960" y="1883520"/>
            <a:ext cx="99720" cy="9972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Shape 7"/>
          <p:cNvSpPr/>
          <p:nvPr/>
        </p:nvSpPr>
        <p:spPr>
          <a:xfrm>
            <a:off x="6739200" y="1883520"/>
            <a:ext cx="99720" cy="9972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Text 8"/>
          <p:cNvSpPr/>
          <p:nvPr/>
        </p:nvSpPr>
        <p:spPr>
          <a:xfrm>
            <a:off x="6373440" y="2148840"/>
            <a:ext cx="5119920" cy="351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c1, n1 = 120, 2400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c2, n2 = 156, 2400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p1, p2 = c1/n1, c2/n2     # 0.05, 0.065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pp = (c1 + c2) / (n1 + n2)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se = np.sqrt(pp*(1-pp)*(1/n1 + 1/n2))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z = (p2 - p1) / se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 = 2 * (1 - stats.norm.cdf(abs(z)))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print(round(z, 2), round(p, 4))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2.23  0.0256  -&gt; reject H0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new page wins at alpha = 0.05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Text 0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Text 1"/>
          <p:cNvSpPr/>
          <p:nvPr/>
        </p:nvSpPr>
        <p:spPr>
          <a:xfrm>
            <a:off x="457200" y="64738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67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40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8" name="Shape 2"/>
          <p:cNvSpPr/>
          <p:nvPr/>
        </p:nvSpPr>
        <p:spPr>
          <a:xfrm>
            <a:off x="548640" y="502920"/>
            <a:ext cx="566280" cy="56628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9" name="Text 3"/>
          <p:cNvSpPr/>
          <p:nvPr/>
        </p:nvSpPr>
        <p:spPr>
          <a:xfrm>
            <a:off x="548640" y="502920"/>
            <a:ext cx="5662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◎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Text 4"/>
          <p:cNvSpPr/>
          <p:nvPr/>
        </p:nvSpPr>
        <p:spPr>
          <a:xfrm>
            <a:off x="1261800" y="50292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6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Text 5"/>
          <p:cNvSpPr/>
          <p:nvPr/>
        </p:nvSpPr>
        <p:spPr>
          <a:xfrm>
            <a:off x="1261800" y="777240"/>
            <a:ext cx="96004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Practice Set — Awareness &amp; A/B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Text 6"/>
          <p:cNvSpPr/>
          <p:nvPr/>
        </p:nvSpPr>
        <p:spPr>
          <a:xfrm>
            <a:off x="548640" y="1417320"/>
            <a:ext cx="10514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Try these yourself first — pencil, paper or a quick Python cell.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Shape 7"/>
          <p:cNvSpPr/>
          <p:nvPr/>
        </p:nvSpPr>
        <p:spPr>
          <a:xfrm>
            <a:off x="548640" y="1965960"/>
            <a:ext cx="11063520" cy="8222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Shape 8"/>
          <p:cNvSpPr/>
          <p:nvPr/>
        </p:nvSpPr>
        <p:spPr>
          <a:xfrm>
            <a:off x="731520" y="2203560"/>
            <a:ext cx="346680" cy="34668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Text 9"/>
          <p:cNvSpPr/>
          <p:nvPr/>
        </p:nvSpPr>
        <p:spPr>
          <a:xfrm>
            <a:off x="731520" y="220356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Text 10"/>
          <p:cNvSpPr/>
          <p:nvPr/>
        </p:nvSpPr>
        <p:spPr>
          <a:xfrm>
            <a:off x="1234440" y="1965960"/>
            <a:ext cx="101491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Which non-parametric test replaces the independent t-test?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Shape 11"/>
          <p:cNvSpPr/>
          <p:nvPr/>
        </p:nvSpPr>
        <p:spPr>
          <a:xfrm>
            <a:off x="548640" y="2926080"/>
            <a:ext cx="11063520" cy="8222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Shape 12"/>
          <p:cNvSpPr/>
          <p:nvPr/>
        </p:nvSpPr>
        <p:spPr>
          <a:xfrm>
            <a:off x="731520" y="3163680"/>
            <a:ext cx="346680" cy="34668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Text 13"/>
          <p:cNvSpPr/>
          <p:nvPr/>
        </p:nvSpPr>
        <p:spPr>
          <a:xfrm>
            <a:off x="731520" y="316368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Text 14"/>
          <p:cNvSpPr/>
          <p:nvPr/>
        </p:nvSpPr>
        <p:spPr>
          <a:xfrm>
            <a:off x="1234440" y="2926080"/>
            <a:ext cx="101491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A/B test: p = 0.04 after day 2 of a planned 14-day run. Should you stop? Why not?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Shape 15"/>
          <p:cNvSpPr/>
          <p:nvPr/>
        </p:nvSpPr>
        <p:spPr>
          <a:xfrm>
            <a:off x="548640" y="3886200"/>
            <a:ext cx="11063520" cy="8222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Shape 16"/>
          <p:cNvSpPr/>
          <p:nvPr/>
        </p:nvSpPr>
        <p:spPr>
          <a:xfrm>
            <a:off x="731520" y="4123800"/>
            <a:ext cx="346680" cy="34668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Text 17"/>
          <p:cNvSpPr/>
          <p:nvPr/>
        </p:nvSpPr>
        <p:spPr>
          <a:xfrm>
            <a:off x="731520" y="412380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Text 18"/>
          <p:cNvSpPr/>
          <p:nvPr/>
        </p:nvSpPr>
        <p:spPr>
          <a:xfrm>
            <a:off x="1234440" y="3886200"/>
            <a:ext cx="101491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1.5-point lift is significant. What else would you check before shipping?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Shape 19"/>
          <p:cNvSpPr/>
          <p:nvPr/>
        </p:nvSpPr>
        <p:spPr>
          <a:xfrm>
            <a:off x="548640" y="4846320"/>
            <a:ext cx="11063520" cy="8222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Shape 20"/>
          <p:cNvSpPr/>
          <p:nvPr/>
        </p:nvSpPr>
        <p:spPr>
          <a:xfrm>
            <a:off x="731520" y="5083920"/>
            <a:ext cx="346680" cy="34668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Text 21"/>
          <p:cNvSpPr/>
          <p:nvPr/>
        </p:nvSpPr>
        <p:spPr>
          <a:xfrm>
            <a:off x="731520" y="508392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Text 22"/>
          <p:cNvSpPr/>
          <p:nvPr/>
        </p:nvSpPr>
        <p:spPr>
          <a:xfrm>
            <a:off x="1234440" y="4846320"/>
            <a:ext cx="101491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Python: rerun the A/B code with n = 600 each and the same rates. What changes?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Text 0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36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0" name="Shape 1"/>
          <p:cNvSpPr/>
          <p:nvPr/>
        </p:nvSpPr>
        <p:spPr>
          <a:xfrm>
            <a:off x="9692640" y="-1463040"/>
            <a:ext cx="3839760" cy="3839760"/>
          </a:xfrm>
          <a:prstGeom prst="ellipse">
            <a:avLst/>
          </a:prstGeom>
          <a:solidFill>
            <a:srgbClr val="262758">
              <a:alpha val="55000"/>
            </a:srgbClr>
          </a:solidFill>
          <a:ln w="12700">
            <a:solidFill>
              <a:srgbClr val="2627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1" name="Shape 2"/>
          <p:cNvSpPr/>
          <p:nvPr/>
        </p:nvSpPr>
        <p:spPr>
          <a:xfrm>
            <a:off x="-1645920" y="4754880"/>
            <a:ext cx="3474000" cy="3474000"/>
          </a:xfrm>
          <a:prstGeom prst="ellipse">
            <a:avLst/>
          </a:prstGeom>
          <a:solidFill>
            <a:srgbClr val="11362E">
              <a:alpha val="45000"/>
            </a:srgbClr>
          </a:solidFill>
          <a:ln w="12700">
            <a:solidFill>
              <a:srgbClr val="1136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2" name="Text 3"/>
          <p:cNvSpPr/>
          <p:nvPr/>
        </p:nvSpPr>
        <p:spPr>
          <a:xfrm>
            <a:off x="640080" y="2331720"/>
            <a:ext cx="91432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TASKS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3" name="Text 4"/>
          <p:cNvSpPr/>
          <p:nvPr/>
        </p:nvSpPr>
        <p:spPr>
          <a:xfrm>
            <a:off x="640080" y="2743200"/>
            <a:ext cx="1033200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Your Turn: Three Task Sets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4" name="Text 5"/>
          <p:cNvSpPr/>
          <p:nvPr/>
        </p:nvSpPr>
        <p:spPr>
          <a:xfrm>
            <a:off x="640080" y="3977640"/>
            <a:ext cx="969192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Practise in Python — pick the right test, then run it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Text 0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Text 1"/>
          <p:cNvSpPr/>
          <p:nvPr/>
        </p:nvSpPr>
        <p:spPr>
          <a:xfrm>
            <a:off x="457200" y="64738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97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40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8" name="Shape 2"/>
          <p:cNvSpPr/>
          <p:nvPr/>
        </p:nvSpPr>
        <p:spPr>
          <a:xfrm>
            <a:off x="548640" y="502920"/>
            <a:ext cx="566280" cy="56628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9" name="Text 3"/>
          <p:cNvSpPr/>
          <p:nvPr/>
        </p:nvSpPr>
        <p:spPr>
          <a:xfrm>
            <a:off x="548640" y="502920"/>
            <a:ext cx="5662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Text 4"/>
          <p:cNvSpPr/>
          <p:nvPr/>
        </p:nvSpPr>
        <p:spPr>
          <a:xfrm>
            <a:off x="1261800" y="50292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TASK 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Text 5"/>
          <p:cNvSpPr/>
          <p:nvPr/>
        </p:nvSpPr>
        <p:spPr>
          <a:xfrm>
            <a:off x="1261800" y="777240"/>
            <a:ext cx="96004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Normality &amp; t-Tests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Text 6"/>
          <p:cNvSpPr/>
          <p:nvPr/>
        </p:nvSpPr>
        <p:spPr>
          <a:xfrm>
            <a:off x="548640" y="1417320"/>
            <a:ext cx="10514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Use numpy and scipy.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Shape 7"/>
          <p:cNvSpPr/>
          <p:nvPr/>
        </p:nvSpPr>
        <p:spPr>
          <a:xfrm>
            <a:off x="548640" y="1965960"/>
            <a:ext cx="11063520" cy="8222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Shape 8"/>
          <p:cNvSpPr/>
          <p:nvPr/>
        </p:nvSpPr>
        <p:spPr>
          <a:xfrm>
            <a:off x="731520" y="2203560"/>
            <a:ext cx="346680" cy="34668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Text 9"/>
          <p:cNvSpPr/>
          <p:nvPr/>
        </p:nvSpPr>
        <p:spPr>
          <a:xfrm>
            <a:off x="731520" y="220356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Text 10"/>
          <p:cNvSpPr/>
          <p:nvPr/>
        </p:nvSpPr>
        <p:spPr>
          <a:xfrm>
            <a:off x="1234440" y="1965960"/>
            <a:ext cx="101491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Make two groups of 12 scores each (you choose the values).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Shape 11"/>
          <p:cNvSpPr/>
          <p:nvPr/>
        </p:nvSpPr>
        <p:spPr>
          <a:xfrm>
            <a:off x="548640" y="2926080"/>
            <a:ext cx="11063520" cy="8222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Shape 12"/>
          <p:cNvSpPr/>
          <p:nvPr/>
        </p:nvSpPr>
        <p:spPr>
          <a:xfrm>
            <a:off x="731520" y="3163680"/>
            <a:ext cx="346680" cy="34668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Text 13"/>
          <p:cNvSpPr/>
          <p:nvPr/>
        </p:nvSpPr>
        <p:spPr>
          <a:xfrm>
            <a:off x="731520" y="316368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Text 14"/>
          <p:cNvSpPr/>
          <p:nvPr/>
        </p:nvSpPr>
        <p:spPr>
          <a:xfrm>
            <a:off x="1234440" y="2926080"/>
            <a:ext cx="101491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Run Shapiro-Wilk on both groups. State the result.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Shape 15"/>
          <p:cNvSpPr/>
          <p:nvPr/>
        </p:nvSpPr>
        <p:spPr>
          <a:xfrm>
            <a:off x="548640" y="3886200"/>
            <a:ext cx="11063520" cy="8222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Shape 16"/>
          <p:cNvSpPr/>
          <p:nvPr/>
        </p:nvSpPr>
        <p:spPr>
          <a:xfrm>
            <a:off x="731520" y="4123800"/>
            <a:ext cx="346680" cy="34668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Text 17"/>
          <p:cNvSpPr/>
          <p:nvPr/>
        </p:nvSpPr>
        <p:spPr>
          <a:xfrm>
            <a:off x="731520" y="412380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Text 18"/>
          <p:cNvSpPr/>
          <p:nvPr/>
        </p:nvSpPr>
        <p:spPr>
          <a:xfrm>
            <a:off x="1234440" y="3886200"/>
            <a:ext cx="101491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Run Welch’s two-sample t-test and decide at 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α = 0.05.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Shape 19"/>
          <p:cNvSpPr/>
          <p:nvPr/>
        </p:nvSpPr>
        <p:spPr>
          <a:xfrm>
            <a:off x="548640" y="4846320"/>
            <a:ext cx="11063520" cy="8222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Shape 20"/>
          <p:cNvSpPr/>
          <p:nvPr/>
        </p:nvSpPr>
        <p:spPr>
          <a:xfrm>
            <a:off x="731520" y="5083920"/>
            <a:ext cx="346680" cy="34668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Text 21"/>
          <p:cNvSpPr/>
          <p:nvPr/>
        </p:nvSpPr>
        <p:spPr>
          <a:xfrm>
            <a:off x="731520" y="508392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Text 22"/>
          <p:cNvSpPr/>
          <p:nvPr/>
        </p:nvSpPr>
        <p:spPr>
          <a:xfrm>
            <a:off x="1234440" y="4846320"/>
            <a:ext cx="101491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Write the conclusion in one plain-English sentence.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Text 0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Text 1"/>
          <p:cNvSpPr/>
          <p:nvPr/>
        </p:nvSpPr>
        <p:spPr>
          <a:xfrm>
            <a:off x="457200" y="64738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21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40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2" name="Shape 2"/>
          <p:cNvSpPr/>
          <p:nvPr/>
        </p:nvSpPr>
        <p:spPr>
          <a:xfrm>
            <a:off x="548640" y="502920"/>
            <a:ext cx="566280" cy="56628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3" name="Text 3"/>
          <p:cNvSpPr/>
          <p:nvPr/>
        </p:nvSpPr>
        <p:spPr>
          <a:xfrm>
            <a:off x="548640" y="502920"/>
            <a:ext cx="5662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2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Text 4"/>
          <p:cNvSpPr/>
          <p:nvPr/>
        </p:nvSpPr>
        <p:spPr>
          <a:xfrm>
            <a:off x="1261800" y="50292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TASK 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Text 5"/>
          <p:cNvSpPr/>
          <p:nvPr/>
        </p:nvSpPr>
        <p:spPr>
          <a:xfrm>
            <a:off x="1261800" y="777240"/>
            <a:ext cx="96004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ANOVA &amp; Chi-Square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6" name="Text 6"/>
          <p:cNvSpPr/>
          <p:nvPr/>
        </p:nvSpPr>
        <p:spPr>
          <a:xfrm>
            <a:off x="548640" y="1417320"/>
            <a:ext cx="10514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Two different data types, two different tests.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Shape 7"/>
          <p:cNvSpPr/>
          <p:nvPr/>
        </p:nvSpPr>
        <p:spPr>
          <a:xfrm>
            <a:off x="548640" y="1965960"/>
            <a:ext cx="11063520" cy="8222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Shape 8"/>
          <p:cNvSpPr/>
          <p:nvPr/>
        </p:nvSpPr>
        <p:spPr>
          <a:xfrm>
            <a:off x="731520" y="2203560"/>
            <a:ext cx="346680" cy="34668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" name="Text 9"/>
          <p:cNvSpPr/>
          <p:nvPr/>
        </p:nvSpPr>
        <p:spPr>
          <a:xfrm>
            <a:off x="731520" y="220356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Text 10"/>
          <p:cNvSpPr/>
          <p:nvPr/>
        </p:nvSpPr>
        <p:spPr>
          <a:xfrm>
            <a:off x="1234440" y="1965960"/>
            <a:ext cx="101491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Create 3 groups of 8 values; run f_oneway and kruskal.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Shape 11"/>
          <p:cNvSpPr/>
          <p:nvPr/>
        </p:nvSpPr>
        <p:spPr>
          <a:xfrm>
            <a:off x="548640" y="2926080"/>
            <a:ext cx="11063520" cy="8222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Shape 12"/>
          <p:cNvSpPr/>
          <p:nvPr/>
        </p:nvSpPr>
        <p:spPr>
          <a:xfrm>
            <a:off x="731520" y="3163680"/>
            <a:ext cx="346680" cy="34668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Text 13"/>
          <p:cNvSpPr/>
          <p:nvPr/>
        </p:nvSpPr>
        <p:spPr>
          <a:xfrm>
            <a:off x="731520" y="316368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Text 14"/>
          <p:cNvSpPr/>
          <p:nvPr/>
        </p:nvSpPr>
        <p:spPr>
          <a:xfrm>
            <a:off x="1234440" y="2926080"/>
            <a:ext cx="101491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Compare both p-values and say which test fits and why.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5" name="Shape 15"/>
          <p:cNvSpPr/>
          <p:nvPr/>
        </p:nvSpPr>
        <p:spPr>
          <a:xfrm>
            <a:off x="548640" y="3886200"/>
            <a:ext cx="11063520" cy="8222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Shape 16"/>
          <p:cNvSpPr/>
          <p:nvPr/>
        </p:nvSpPr>
        <p:spPr>
          <a:xfrm>
            <a:off x="731520" y="4123800"/>
            <a:ext cx="346680" cy="34668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7" name="Text 17"/>
          <p:cNvSpPr/>
          <p:nvPr/>
        </p:nvSpPr>
        <p:spPr>
          <a:xfrm>
            <a:off x="731520" y="412380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Text 18"/>
          <p:cNvSpPr/>
          <p:nvPr/>
        </p:nvSpPr>
        <p:spPr>
          <a:xfrm>
            <a:off x="1234440" y="3886200"/>
            <a:ext cx="101491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Build a 2×2 table of counts and run chi2_contingency.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Shape 19"/>
          <p:cNvSpPr/>
          <p:nvPr/>
        </p:nvSpPr>
        <p:spPr>
          <a:xfrm>
            <a:off x="548640" y="4846320"/>
            <a:ext cx="11063520" cy="8222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0" name="Shape 20"/>
          <p:cNvSpPr/>
          <p:nvPr/>
        </p:nvSpPr>
        <p:spPr>
          <a:xfrm>
            <a:off x="731520" y="5083920"/>
            <a:ext cx="346680" cy="34668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1" name="Text 21"/>
          <p:cNvSpPr/>
          <p:nvPr/>
        </p:nvSpPr>
        <p:spPr>
          <a:xfrm>
            <a:off x="731520" y="508392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2" name="Text 22"/>
          <p:cNvSpPr/>
          <p:nvPr/>
        </p:nvSpPr>
        <p:spPr>
          <a:xfrm>
            <a:off x="1234440" y="4846320"/>
            <a:ext cx="101491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Print the expected counts and compare them to the observed ones.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Text 0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4" name="Text 1"/>
          <p:cNvSpPr/>
          <p:nvPr/>
        </p:nvSpPr>
        <p:spPr>
          <a:xfrm>
            <a:off x="457200" y="64738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45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40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6" name="Shape 2"/>
          <p:cNvSpPr/>
          <p:nvPr/>
        </p:nvSpPr>
        <p:spPr>
          <a:xfrm>
            <a:off x="548640" y="502920"/>
            <a:ext cx="566280" cy="56628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7" name="Text 3"/>
          <p:cNvSpPr/>
          <p:nvPr/>
        </p:nvSpPr>
        <p:spPr>
          <a:xfrm>
            <a:off x="548640" y="502920"/>
            <a:ext cx="5662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8" name="Text 4"/>
          <p:cNvSpPr/>
          <p:nvPr/>
        </p:nvSpPr>
        <p:spPr>
          <a:xfrm>
            <a:off x="1261800" y="50292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TASK 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9" name="Text 5"/>
          <p:cNvSpPr/>
          <p:nvPr/>
        </p:nvSpPr>
        <p:spPr>
          <a:xfrm>
            <a:off x="1261800" y="777240"/>
            <a:ext cx="96004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Choose the Test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Text 6"/>
          <p:cNvSpPr/>
          <p:nvPr/>
        </p:nvSpPr>
        <p:spPr>
          <a:xfrm>
            <a:off x="548640" y="1417320"/>
            <a:ext cx="10514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No code first — decide, then verify.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1" name="Shape 7"/>
          <p:cNvSpPr/>
          <p:nvPr/>
        </p:nvSpPr>
        <p:spPr>
          <a:xfrm>
            <a:off x="548640" y="1965960"/>
            <a:ext cx="11063520" cy="8222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2" name="Shape 8"/>
          <p:cNvSpPr/>
          <p:nvPr/>
        </p:nvSpPr>
        <p:spPr>
          <a:xfrm>
            <a:off x="731520" y="2203560"/>
            <a:ext cx="346680" cy="34668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Text 9"/>
          <p:cNvSpPr/>
          <p:nvPr/>
        </p:nvSpPr>
        <p:spPr>
          <a:xfrm>
            <a:off x="731520" y="220356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Text 10"/>
          <p:cNvSpPr/>
          <p:nvPr/>
        </p:nvSpPr>
        <p:spPr>
          <a:xfrm>
            <a:off x="1234440" y="1965960"/>
            <a:ext cx="101491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For 6 scenarios of your own, name the correct test.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5" name="Shape 11"/>
          <p:cNvSpPr/>
          <p:nvPr/>
        </p:nvSpPr>
        <p:spPr>
          <a:xfrm>
            <a:off x="548640" y="2926080"/>
            <a:ext cx="11063520" cy="8222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Shape 12"/>
          <p:cNvSpPr/>
          <p:nvPr/>
        </p:nvSpPr>
        <p:spPr>
          <a:xfrm>
            <a:off x="731520" y="3163680"/>
            <a:ext cx="346680" cy="34668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Text 13"/>
          <p:cNvSpPr/>
          <p:nvPr/>
        </p:nvSpPr>
        <p:spPr>
          <a:xfrm>
            <a:off x="731520" y="316368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8" name="Text 14"/>
          <p:cNvSpPr/>
          <p:nvPr/>
        </p:nvSpPr>
        <p:spPr>
          <a:xfrm>
            <a:off x="1234440" y="2926080"/>
            <a:ext cx="101491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Mark each as parametric or non-parametric.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9" name="Shape 15"/>
          <p:cNvSpPr/>
          <p:nvPr/>
        </p:nvSpPr>
        <p:spPr>
          <a:xfrm>
            <a:off x="548640" y="3886200"/>
            <a:ext cx="11063520" cy="8222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0" name="Shape 16"/>
          <p:cNvSpPr/>
          <p:nvPr/>
        </p:nvSpPr>
        <p:spPr>
          <a:xfrm>
            <a:off x="731520" y="4123800"/>
            <a:ext cx="346680" cy="34668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1" name="Text 17"/>
          <p:cNvSpPr/>
          <p:nvPr/>
        </p:nvSpPr>
        <p:spPr>
          <a:xfrm>
            <a:off x="731520" y="412380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2" name="Text 18"/>
          <p:cNvSpPr/>
          <p:nvPr/>
        </p:nvSpPr>
        <p:spPr>
          <a:xfrm>
            <a:off x="1234440" y="3886200"/>
            <a:ext cx="101491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Run two of them in Python on made-up data.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Shape 19"/>
          <p:cNvSpPr/>
          <p:nvPr/>
        </p:nvSpPr>
        <p:spPr>
          <a:xfrm>
            <a:off x="548640" y="4846320"/>
            <a:ext cx="11063520" cy="8222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4" name="Shape 20"/>
          <p:cNvSpPr/>
          <p:nvPr/>
        </p:nvSpPr>
        <p:spPr>
          <a:xfrm>
            <a:off x="731520" y="5083920"/>
            <a:ext cx="346680" cy="34668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5" name="Text 21"/>
          <p:cNvSpPr/>
          <p:nvPr/>
        </p:nvSpPr>
        <p:spPr>
          <a:xfrm>
            <a:off x="731520" y="508392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6" name="Text 22"/>
          <p:cNvSpPr/>
          <p:nvPr/>
        </p:nvSpPr>
        <p:spPr>
          <a:xfrm>
            <a:off x="1234440" y="4846320"/>
            <a:ext cx="101491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Explain one case where the “wrong” test would mislead.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Text 0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40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8" name="Text 1"/>
          <p:cNvSpPr/>
          <p:nvPr/>
        </p:nvSpPr>
        <p:spPr>
          <a:xfrm>
            <a:off x="457200" y="64738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69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40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0" name="Text 2"/>
          <p:cNvSpPr/>
          <p:nvPr/>
        </p:nvSpPr>
        <p:spPr>
          <a:xfrm>
            <a:off x="548640" y="457200"/>
            <a:ext cx="96919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Mini Project: Run a Real A/B Test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1" name="Shape 3"/>
          <p:cNvSpPr/>
          <p:nvPr/>
        </p:nvSpPr>
        <p:spPr>
          <a:xfrm>
            <a:off x="548640" y="1737360"/>
            <a:ext cx="2925360" cy="4022640"/>
          </a:xfrm>
          <a:prstGeom prst="roundRect">
            <a:avLst>
              <a:gd name="adj" fmla="val 375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2" name="Shape 4"/>
          <p:cNvSpPr/>
          <p:nvPr/>
        </p:nvSpPr>
        <p:spPr>
          <a:xfrm>
            <a:off x="1600200" y="2103120"/>
            <a:ext cx="822240" cy="822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3" name="Text 5"/>
          <p:cNvSpPr/>
          <p:nvPr/>
        </p:nvSpPr>
        <p:spPr>
          <a:xfrm>
            <a:off x="1600200" y="2103120"/>
            <a:ext cx="82224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✦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4" name="Text 6"/>
          <p:cNvSpPr/>
          <p:nvPr/>
        </p:nvSpPr>
        <p:spPr>
          <a:xfrm>
            <a:off x="731520" y="3154680"/>
            <a:ext cx="2559600" cy="23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From question to decision, using the right test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5" name="Text 7"/>
          <p:cNvSpPr/>
          <p:nvPr/>
        </p:nvSpPr>
        <p:spPr>
          <a:xfrm>
            <a:off x="3749040" y="1737360"/>
            <a:ext cx="790884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Pick a real comparison: two study methods, two ad texts, two UI colours.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Collect or simulate data for each group (at least 30 per group).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Check normality, pick the right test, set α first, then run it.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Write a 6-sentence report: question, test chosen, p, decision, effect size, one limitation.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Text 0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41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7" name="Text 1"/>
          <p:cNvSpPr/>
          <p:nvPr/>
        </p:nvSpPr>
        <p:spPr>
          <a:xfrm>
            <a:off x="457200" y="64738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78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40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9" name="Text 2"/>
          <p:cNvSpPr/>
          <p:nvPr/>
        </p:nvSpPr>
        <p:spPr>
          <a:xfrm>
            <a:off x="548640" y="457200"/>
            <a:ext cx="96919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Mini Project: Starter Template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0" name="Text 3"/>
          <p:cNvSpPr/>
          <p:nvPr/>
        </p:nvSpPr>
        <p:spPr>
          <a:xfrm>
            <a:off x="548640" y="1737360"/>
            <a:ext cx="539424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State H₀, H₁ and α first.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Let Shapiro-Wilk pick the path.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Report the test name, p-value and a plain-English decision.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581" name="Shape 4"/>
          <p:cNvSpPr/>
          <p:nvPr/>
        </p:nvSpPr>
        <p:spPr>
          <a:xfrm>
            <a:off x="6172200" y="1737360"/>
            <a:ext cx="5485680" cy="402264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2" name="Shape 5"/>
          <p:cNvSpPr/>
          <p:nvPr/>
        </p:nvSpPr>
        <p:spPr>
          <a:xfrm>
            <a:off x="6336720" y="1883520"/>
            <a:ext cx="99720" cy="9972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3" name="Shape 6"/>
          <p:cNvSpPr/>
          <p:nvPr/>
        </p:nvSpPr>
        <p:spPr>
          <a:xfrm>
            <a:off x="6537960" y="1883520"/>
            <a:ext cx="99720" cy="9972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4" name="Shape 7"/>
          <p:cNvSpPr/>
          <p:nvPr/>
        </p:nvSpPr>
        <p:spPr>
          <a:xfrm>
            <a:off x="6739200" y="1883520"/>
            <a:ext cx="99720" cy="9972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5" name="Text 8"/>
          <p:cNvSpPr/>
          <p:nvPr/>
        </p:nvSpPr>
        <p:spPr>
          <a:xfrm>
            <a:off x="6373440" y="2148840"/>
            <a:ext cx="5119920" cy="351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import numpy as np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from scipy import stats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H0: ___   H1: ___   alpha = 0.05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a = np.array([...])   # group A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b = np.array([...])   # group B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_, pa = stats.shapiro(a)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_, pb = stats.shapiro(b)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if pa &gt; 0.05 and pb &gt; 0.05: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stat, p = stats.ttest_ind(a, b, equal_var=False)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else: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stat, p = stats.mannwhitneyu(a, b)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print(p)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Text 0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42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7" name="Shape 1"/>
          <p:cNvSpPr/>
          <p:nvPr/>
        </p:nvSpPr>
        <p:spPr>
          <a:xfrm>
            <a:off x="9692640" y="-1463040"/>
            <a:ext cx="3839760" cy="3839760"/>
          </a:xfrm>
          <a:prstGeom prst="ellipse">
            <a:avLst/>
          </a:prstGeom>
          <a:solidFill>
            <a:srgbClr val="262758">
              <a:alpha val="55000"/>
            </a:srgbClr>
          </a:solidFill>
          <a:ln w="12700">
            <a:solidFill>
              <a:srgbClr val="2627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8" name="Shape 2"/>
          <p:cNvSpPr/>
          <p:nvPr/>
        </p:nvSpPr>
        <p:spPr>
          <a:xfrm>
            <a:off x="-1645920" y="4754880"/>
            <a:ext cx="3474000" cy="3474000"/>
          </a:xfrm>
          <a:prstGeom prst="ellipse">
            <a:avLst/>
          </a:prstGeom>
          <a:solidFill>
            <a:srgbClr val="11362E">
              <a:alpha val="45000"/>
            </a:srgbClr>
          </a:solidFill>
          <a:ln w="12700">
            <a:solidFill>
              <a:srgbClr val="1136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9" name="Text 3"/>
          <p:cNvSpPr/>
          <p:nvPr/>
        </p:nvSpPr>
        <p:spPr>
          <a:xfrm>
            <a:off x="640080" y="1371600"/>
            <a:ext cx="91432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SESSION 22 COMPLETE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0" name="Text 4"/>
          <p:cNvSpPr/>
          <p:nvPr/>
        </p:nvSpPr>
        <p:spPr>
          <a:xfrm>
            <a:off x="640080" y="1783080"/>
            <a:ext cx="1033200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What You Can Do Now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1" name="Text 5"/>
          <p:cNvSpPr/>
          <p:nvPr/>
        </p:nvSpPr>
        <p:spPr>
          <a:xfrm>
            <a:off x="640080" y="2926080"/>
            <a:ext cx="10057680" cy="182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E0E7FF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E0E7FF"/>
                </a:solidFill>
                <a:effectLst/>
                <a:uFillTx/>
                <a:latin typeface="Hanken Grotesk"/>
                <a:ea typeface="Hanken Grotesk"/>
              </a:rPr>
              <a:t>Pick the right test with the decision framework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E0E7FF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E0E7FF"/>
                </a:solidFill>
                <a:effectLst/>
                <a:uFillTx/>
                <a:latin typeface="Hanken Grotesk"/>
                <a:ea typeface="Hanken Grotesk"/>
              </a:rPr>
              <a:t>Check normality with Shapiro-Wilk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E0E7FF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E0E7FF"/>
                </a:solidFill>
                <a:effectLst/>
                <a:uFillTx/>
                <a:latin typeface="Hanken Grotesk"/>
                <a:ea typeface="Hanken Grotesk"/>
              </a:rPr>
              <a:t>Run t-tests, ANOVA and chi-square in scipy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E0E7FF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E0E7FF"/>
                </a:solidFill>
                <a:effectLst/>
                <a:uFillTx/>
                <a:latin typeface="Hanken Grotesk"/>
                <a:ea typeface="Hanken Grotesk"/>
              </a:rPr>
              <a:t>Explain why repeated t-tests inflate errors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E0E7FF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E0E7FF"/>
                </a:solidFill>
                <a:effectLst/>
                <a:uFillTx/>
                <a:latin typeface="Hanken Grotesk"/>
                <a:ea typeface="Hanken Grotesk"/>
              </a:rPr>
              <a:t>Design and read a simple A/B test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2" name="Text 6"/>
          <p:cNvSpPr/>
          <p:nvPr/>
        </p:nvSpPr>
        <p:spPr>
          <a:xfrm>
            <a:off x="640080" y="5120640"/>
            <a:ext cx="105148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DD4BF"/>
                </a:solidFill>
                <a:effectLst/>
                <a:uFillTx/>
                <a:latin typeface="Hanken Grotesk"/>
                <a:ea typeface="Hanken Grotesk"/>
              </a:rPr>
              <a:t>Next up — Session 23: Linear Algebra · vectors, matrices and the language NumPy speaks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Application>LibreOffice/26.2.6.3$Linux_X86_64 LibreOffice_project/620$Build-3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2026-10-01T05:06:03Z</dcterms:created>
  <dc:creator>PptxGenJS</dc:creator>
  <dc:description/>
  <dc:language>en-US</dc:language>
  <cp:lastModifiedBy/>
  <dcterms:modified xsi:type="dcterms:W3CDTF">2026-10-01T21:00:19Z</dcterms:modified>
  <cp:revision>9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42</vt:i4>
  </property>
  <property fmtid="{D5CDD505-2E9C-101B-9397-08002B2CF9AE}" pid="3" name="PresentationFormat">
    <vt:lpwstr>On-screen Show (16:9)</vt:lpwstr>
  </property>
  <property fmtid="{D5CDD505-2E9C-101B-9397-08002B2CF9AE}" pid="4" name="Slides">
    <vt:i4>42</vt:i4>
  </property>
</Properties>
</file>