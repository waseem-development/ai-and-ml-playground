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2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B2857C7-A2F8-438B-ADD1-5A6A671D4F4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11D707-537D-4958-AF22-558A68C097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B4D7D6-9B16-4944-8000-B973545B22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4D274F-B624-4880-B296-3112DD44F3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999FD1-45C7-4774-B9FE-1118F35FEB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BF4F04-0546-4F89-BBC2-9D0D6D3E69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AEEDF7-A623-475E-B53E-434D6858E5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4441F9-1FCF-4936-BD3F-A2EF7FEE3B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2228C9-6005-483F-B937-E137901AFF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C9B127-C845-430B-B3AE-3B41895031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85AC51-DB00-4E72-95C3-67CA7FD73C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9C23E3-341E-45CC-8B8E-7CA1E501C4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694DE0-91C3-4113-A46C-1613B70988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9148C9-8322-405D-98FE-08A6182E64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C2FEEE-D6F3-4331-ACC1-00846A93FB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2A564D-C95C-4172-A4E1-E993CC36A1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A44FB0-6806-4D46-A68B-506386642B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6E548C-2C61-4623-9D3A-E2F0033861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420E39-7F52-4B2C-AF90-D7D334FD57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86EB76-7130-41C5-B4EF-EC42F4D803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A20306-9007-4D94-9F76-9851D97119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3B166D-371D-4283-A157-57B170E60A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53FE56-205B-4AB4-A6A7-A78EF103E9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1EB564-AD56-415A-9A4E-096FC645FA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7506B2-21DC-41EA-9E31-1FD82AB3AB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0D5D91-7AEE-4B87-A1E1-406B69C639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05CD94-DEC1-4A61-8C82-73DD451197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0B151C-986C-4D7A-B9DC-68C234A823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B90B7F-BF36-4129-87A0-CE5CF8F1FE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135FBC-3BC7-4423-B089-C645F95B43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AB17EA-8FD8-402D-8188-68ADF66DDB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EA205B-454B-45CE-A1AF-98907C5523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FF953B-05CF-4D86-8CCA-BCC9744D3C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15D2BA-213E-484E-A849-0AE367FAA4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57941E-015A-48F1-A176-4B4C91C5FF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A437B9-C50E-49A6-8012-40635D78C7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842C35-8799-496C-A87F-3A42948317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02CEE-9447-4FD9-A54D-5A329682B5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F9CD4F-80CE-4FDC-9D77-339109871A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DF5335-CE20-4EA5-BF54-CDA10289D1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65B93C-58F6-4EBB-BE97-E3F566D902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4EABFE-B1CB-432D-898F-6CEDACC686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E9E9DC-AEF5-4A1A-A23D-77DB796AC1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8F7367-9587-48EF-90D2-2C298A5A93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76BA6B-69E2-4BD2-B902-D3C376B198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11FC14-F5E2-4927-BD07-E596058428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778240" y="-2194560"/>
            <a:ext cx="5486040" cy="548604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5943600" y="5212080"/>
            <a:ext cx="1462680" cy="1462680"/>
          </a:xfrm>
          <a:prstGeom prst="ellipse">
            <a:avLst/>
          </a:prstGeom>
          <a:solidFill>
            <a:srgbClr val="4C112D">
              <a:alpha val="45000"/>
            </a:srgbClr>
          </a:solidFill>
          <a:ln w="12700">
            <a:solidFill>
              <a:srgbClr val="4C11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685800" y="457200"/>
            <a:ext cx="2651400" cy="93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Shape 5"/>
          <p:cNvSpPr/>
          <p:nvPr/>
        </p:nvSpPr>
        <p:spPr>
          <a:xfrm>
            <a:off x="713160" y="2331720"/>
            <a:ext cx="3931560" cy="29232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13160" y="23317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SESSION 21  ·  AI &amp; ML PLAYGROUND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58440" y="27889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Inferential Statistics I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713160" y="370332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Confidence Intervals, Hypothesis Testing, p-Values, Errors &amp; the Z-Test — with Python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713160" y="457200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13160" y="4663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CodeByPaxto: The AI &amp; ML Playground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713160" y="50018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Hafiz Waseem Ahmed (Paxto)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548640" y="137160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731520" y="15177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731520" y="1517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1234440" y="1371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From sample to population — point vs. interval estimates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548640" y="208476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731520" y="223128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731520" y="2231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1234440" y="2084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Confidence intervals — building them and reading them correctly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548640" y="279792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731520" y="29444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731520" y="2944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1234440" y="279792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hypothesis-testing framework — H₀, H₁ and 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548640" y="351144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731520" y="365760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731520" y="3657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1234440" y="351144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p-values — what they mean and what they do not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548640" y="422460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731520" y="43707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731520" y="4370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1234440" y="4224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Type I &amp; Type II errors — and statistical power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3"/>
          <p:cNvSpPr/>
          <p:nvPr/>
        </p:nvSpPr>
        <p:spPr>
          <a:xfrm>
            <a:off x="548640" y="493776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731520" y="508392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731520" y="5083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1234440" y="4937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Z-test — one full worked example in Python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548640" y="565092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8"/>
          <p:cNvSpPr/>
          <p:nvPr/>
        </p:nvSpPr>
        <p:spPr>
          <a:xfrm>
            <a:off x="731520" y="57974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731520" y="5797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0"/>
          <p:cNvSpPr/>
          <p:nvPr/>
        </p:nvSpPr>
        <p:spPr>
          <a:xfrm>
            <a:off x="1234440" y="565092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Tasks and a mini project: a complete hypothesis test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From Sample to Population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one big question inferential statistics exists to answer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Big Question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What can a small sample tell us about everyone?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We almost never measure the whole population — too costly, too slow, sometimes impossible.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We measure a sample and ask: how far can we trust it to describe the population?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Inferential statistics gives an honest answer, with the uncertainty attached.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Sample statistic (x̄) ≈ population parameter (μ) — but never exactly equal.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Point Estimate vs. Interval Estimate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Point estimate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single number: “average IQ is 105”.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Simple and easy to report.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Almost surely off by a little — it hides how much.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Changes with every new sample.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Interval estimate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range: “average IQ is between 100 and 110”.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Admits uncertainty openly.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Width shows how precise we are.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Wider interval = less certainty.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Point &amp; Interval Estimates in 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Python’s numpy gives the point estimate in one line.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scipy’s sem() gives the standard error — the “typical wobble” of the mean.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Next part: turn these two numbers into an interval.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iq = np.array([108, 99, 112, 105, 97, 110,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     103, 115, 101, 106])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point estimate: one number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xbar = iq.mean()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print(xbar)            # 105.6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standard error: spread of the mean itself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se = stats.sem(iq)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print(round(se, 2))    # 1.84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Sample to Population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Name the parameter and the statistic: you survey 200 of 10,000 students on weekly study hours.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is a single point estimate almost never exactly right?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Which is more informative: “mean = 50” or “mean between 47 and 53”? Why?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If you collect a bigger sample, what should happen to the standard error?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Confidence Intervals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 range of plausible values — built from your sample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 Confidence Interval?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±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Estimate, plus a margin on both sides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confidence interval is a range built around a point estimate.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confidence level (usually 95%) describes the method’s long-run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reliability.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More confidence needs a wider interval; more data makes it narrower.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Common levels: 90%, 95%, 99%.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Calculating a Confidence Interval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interval has the same shape: point estimate ± critical value × standard error.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Critical value for 95% is z* = 1.96; for 99% it is 2.58.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scipy can compute the whole interval for you.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CI = estimate ± critical × 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xbar, sigma, n = 105, 15, 36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se = sigma / np.sqrt(n)        # 2.5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z_star = stats.norm.ppf(0.975) # 1.96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margin = z_star * se           # 4.9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print(xbar - margin, xbar + margin)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100.1  109.9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or let scipy do it: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print(stats.norm.interval(0.95,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loc=xbar, scale=se))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Repeated-Sampling Picture: 20 Intervals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548640" y="1600200"/>
            <a:ext cx="694908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2296800" y="1892520"/>
            <a:ext cx="286740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5"/>
          <p:cNvSpPr/>
          <p:nvPr/>
        </p:nvSpPr>
        <p:spPr>
          <a:xfrm>
            <a:off x="3684960" y="184716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6"/>
          <p:cNvSpPr/>
          <p:nvPr/>
        </p:nvSpPr>
        <p:spPr>
          <a:xfrm>
            <a:off x="3247920" y="2075400"/>
            <a:ext cx="286740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7"/>
          <p:cNvSpPr/>
          <p:nvPr/>
        </p:nvSpPr>
        <p:spPr>
          <a:xfrm>
            <a:off x="4636080" y="203004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1711440" y="2258280"/>
            <a:ext cx="286776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9"/>
          <p:cNvSpPr/>
          <p:nvPr/>
        </p:nvSpPr>
        <p:spPr>
          <a:xfrm>
            <a:off x="3099960" y="221292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0"/>
          <p:cNvSpPr/>
          <p:nvPr/>
        </p:nvSpPr>
        <p:spPr>
          <a:xfrm>
            <a:off x="2808720" y="2441160"/>
            <a:ext cx="286776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1"/>
          <p:cNvSpPr/>
          <p:nvPr/>
        </p:nvSpPr>
        <p:spPr>
          <a:xfrm>
            <a:off x="4197240" y="239580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2"/>
          <p:cNvSpPr/>
          <p:nvPr/>
        </p:nvSpPr>
        <p:spPr>
          <a:xfrm>
            <a:off x="3686760" y="2624040"/>
            <a:ext cx="286740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3"/>
          <p:cNvSpPr/>
          <p:nvPr/>
        </p:nvSpPr>
        <p:spPr>
          <a:xfrm>
            <a:off x="5074920" y="257868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4"/>
          <p:cNvSpPr/>
          <p:nvPr/>
        </p:nvSpPr>
        <p:spPr>
          <a:xfrm>
            <a:off x="2077200" y="2806920"/>
            <a:ext cx="286776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5"/>
          <p:cNvSpPr/>
          <p:nvPr/>
        </p:nvSpPr>
        <p:spPr>
          <a:xfrm>
            <a:off x="3465720" y="276156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6"/>
          <p:cNvSpPr/>
          <p:nvPr/>
        </p:nvSpPr>
        <p:spPr>
          <a:xfrm>
            <a:off x="2662560" y="2989800"/>
            <a:ext cx="286740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7"/>
          <p:cNvSpPr/>
          <p:nvPr/>
        </p:nvSpPr>
        <p:spPr>
          <a:xfrm>
            <a:off x="4050720" y="294444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8"/>
          <p:cNvSpPr/>
          <p:nvPr/>
        </p:nvSpPr>
        <p:spPr>
          <a:xfrm>
            <a:off x="1345680" y="3172680"/>
            <a:ext cx="286776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9"/>
          <p:cNvSpPr/>
          <p:nvPr/>
        </p:nvSpPr>
        <p:spPr>
          <a:xfrm>
            <a:off x="2734200" y="312732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0"/>
          <p:cNvSpPr/>
          <p:nvPr/>
        </p:nvSpPr>
        <p:spPr>
          <a:xfrm>
            <a:off x="3028320" y="3355560"/>
            <a:ext cx="286740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1"/>
          <p:cNvSpPr/>
          <p:nvPr/>
        </p:nvSpPr>
        <p:spPr>
          <a:xfrm>
            <a:off x="4416480" y="331020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2"/>
          <p:cNvSpPr/>
          <p:nvPr/>
        </p:nvSpPr>
        <p:spPr>
          <a:xfrm>
            <a:off x="2442960" y="3538440"/>
            <a:ext cx="286776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3"/>
          <p:cNvSpPr/>
          <p:nvPr/>
        </p:nvSpPr>
        <p:spPr>
          <a:xfrm>
            <a:off x="3831480" y="349308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4"/>
          <p:cNvSpPr/>
          <p:nvPr/>
        </p:nvSpPr>
        <p:spPr>
          <a:xfrm>
            <a:off x="3394080" y="3721320"/>
            <a:ext cx="286740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5"/>
          <p:cNvSpPr/>
          <p:nvPr/>
        </p:nvSpPr>
        <p:spPr>
          <a:xfrm>
            <a:off x="4782240" y="367596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6"/>
          <p:cNvSpPr/>
          <p:nvPr/>
        </p:nvSpPr>
        <p:spPr>
          <a:xfrm>
            <a:off x="1931040" y="3904200"/>
            <a:ext cx="286740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7"/>
          <p:cNvSpPr/>
          <p:nvPr/>
        </p:nvSpPr>
        <p:spPr>
          <a:xfrm>
            <a:off x="3319200" y="385884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8"/>
          <p:cNvSpPr/>
          <p:nvPr/>
        </p:nvSpPr>
        <p:spPr>
          <a:xfrm>
            <a:off x="2882160" y="4087080"/>
            <a:ext cx="286740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9"/>
          <p:cNvSpPr/>
          <p:nvPr/>
        </p:nvSpPr>
        <p:spPr>
          <a:xfrm>
            <a:off x="4270320" y="404172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30"/>
          <p:cNvSpPr/>
          <p:nvPr/>
        </p:nvSpPr>
        <p:spPr>
          <a:xfrm>
            <a:off x="4345200" y="4269960"/>
            <a:ext cx="2867400" cy="360"/>
          </a:xfrm>
          <a:prstGeom prst="line">
            <a:avLst/>
          </a:prstGeom>
          <a:ln w="254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31"/>
          <p:cNvSpPr/>
          <p:nvPr/>
        </p:nvSpPr>
        <p:spPr>
          <a:xfrm>
            <a:off x="5733360" y="4224600"/>
            <a:ext cx="91080" cy="91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32"/>
          <p:cNvSpPr/>
          <p:nvPr/>
        </p:nvSpPr>
        <p:spPr>
          <a:xfrm>
            <a:off x="2223720" y="4452840"/>
            <a:ext cx="286740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3"/>
          <p:cNvSpPr/>
          <p:nvPr/>
        </p:nvSpPr>
        <p:spPr>
          <a:xfrm>
            <a:off x="3611880" y="440748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4"/>
          <p:cNvSpPr/>
          <p:nvPr/>
        </p:nvSpPr>
        <p:spPr>
          <a:xfrm>
            <a:off x="3174480" y="4635720"/>
            <a:ext cx="286776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5"/>
          <p:cNvSpPr/>
          <p:nvPr/>
        </p:nvSpPr>
        <p:spPr>
          <a:xfrm>
            <a:off x="4563000" y="459036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6"/>
          <p:cNvSpPr/>
          <p:nvPr/>
        </p:nvSpPr>
        <p:spPr>
          <a:xfrm>
            <a:off x="1565280" y="4818600"/>
            <a:ext cx="286740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7"/>
          <p:cNvSpPr/>
          <p:nvPr/>
        </p:nvSpPr>
        <p:spPr>
          <a:xfrm>
            <a:off x="2953440" y="477324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38"/>
          <p:cNvSpPr/>
          <p:nvPr/>
        </p:nvSpPr>
        <p:spPr>
          <a:xfrm>
            <a:off x="2735640" y="5001480"/>
            <a:ext cx="286776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9"/>
          <p:cNvSpPr/>
          <p:nvPr/>
        </p:nvSpPr>
        <p:spPr>
          <a:xfrm>
            <a:off x="4123800" y="495612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40"/>
          <p:cNvSpPr/>
          <p:nvPr/>
        </p:nvSpPr>
        <p:spPr>
          <a:xfrm>
            <a:off x="2516400" y="5184360"/>
            <a:ext cx="286740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41"/>
          <p:cNvSpPr/>
          <p:nvPr/>
        </p:nvSpPr>
        <p:spPr>
          <a:xfrm>
            <a:off x="3904560" y="513900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42"/>
          <p:cNvSpPr/>
          <p:nvPr/>
        </p:nvSpPr>
        <p:spPr>
          <a:xfrm>
            <a:off x="3321000" y="5367240"/>
            <a:ext cx="2867400" cy="360"/>
          </a:xfrm>
          <a:prstGeom prst="line">
            <a:avLst/>
          </a:prstGeom>
          <a:ln w="254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3"/>
          <p:cNvSpPr/>
          <p:nvPr/>
        </p:nvSpPr>
        <p:spPr>
          <a:xfrm>
            <a:off x="4709160" y="5321880"/>
            <a:ext cx="91080" cy="9108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44"/>
          <p:cNvSpPr/>
          <p:nvPr/>
        </p:nvSpPr>
        <p:spPr>
          <a:xfrm>
            <a:off x="4023360" y="1737360"/>
            <a:ext cx="360" cy="3886200"/>
          </a:xfrm>
          <a:prstGeom prst="line">
            <a:avLst/>
          </a:prstGeom>
          <a:ln w="25400">
            <a:solidFill>
              <a:srgbClr val="2DD4B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5"/>
          <p:cNvSpPr/>
          <p:nvPr/>
        </p:nvSpPr>
        <p:spPr>
          <a:xfrm>
            <a:off x="2560320" y="56509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true mean μ (unknown in real life)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46"/>
          <p:cNvSpPr/>
          <p:nvPr/>
        </p:nvSpPr>
        <p:spPr>
          <a:xfrm>
            <a:off x="7772400" y="1600200"/>
            <a:ext cx="3885840" cy="4343040"/>
          </a:xfrm>
          <a:prstGeom prst="roundRect">
            <a:avLst>
              <a:gd name="adj" fmla="val 2824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7"/>
          <p:cNvSpPr/>
          <p:nvPr/>
        </p:nvSpPr>
        <p:spPr>
          <a:xfrm>
            <a:off x="8046720" y="1828800"/>
            <a:ext cx="33372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19 of 20 capture 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Each bar = one researcher’s sample, one interval.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Purple bars catch the true mean.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rose bar missed — that is the “5%” in 95% confidence.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Simulating the Repeated-Sampling Idea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Run 1,000 imaginary studies, each with its own sample and interval.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Count how many intervals contain the true mean (100).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About 95% do — that is what “95% confidence” promises.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np.random.default_rng(0)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hits =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for _ in range(1000):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s = rng.normal(100, 15, size=36)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m = s.mean()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lo, hi = m - 1.96*2.5, m + 1.96*2.5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hits += (lo &lt;= 100 &lt;= hi)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print(hits / 1000)   # ≈ 0.95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“95% Confident” — Right vs. Wrong Reading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✗  Common wrong reading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“There is a 95% chance the true mean is inside this interval.”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Once computed, μ is fixed — it is either inside or it is not.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✓  Correct reading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“If we repeated the study many times, about 95% of such intervals would capture the true mean.”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95% belongs to the method, not to one interval.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Real World: Reading a Poll’s Margin of Error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“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5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2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%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rt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rr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±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3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%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”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is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rt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=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z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*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×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√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(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p̂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(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1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−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p̂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)/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ll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ll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≈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1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0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0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0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—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ili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 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±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3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%</a:t>
            </a: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p_hat, n = 0.52, 1000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se = np.sqrt(p_hat * (1 - p_hat) / 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margin = 1.96 * 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print(round(margin, 3))   # 0.031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52% ± 3.1%  →  48.9% to 55.1%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That range includes 50%, so the race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is too close to call.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Confidence Intervals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548640" y="1965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8"/>
          <p:cNvSpPr/>
          <p:nvPr/>
        </p:nvSpPr>
        <p:spPr>
          <a:xfrm>
            <a:off x="731520" y="21578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9"/>
          <p:cNvSpPr/>
          <p:nvPr/>
        </p:nvSpPr>
        <p:spPr>
          <a:xfrm>
            <a:off x="731520" y="2157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0"/>
          <p:cNvSpPr/>
          <p:nvPr/>
        </p:nvSpPr>
        <p:spPr>
          <a:xfrm>
            <a:off x="1234440" y="1965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x̄ = 50, SE = 2. Build the 95% interval (use z* = 1.96).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1"/>
          <p:cNvSpPr/>
          <p:nvPr/>
        </p:nvSpPr>
        <p:spPr>
          <a:xfrm>
            <a:off x="548640" y="2825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2"/>
          <p:cNvSpPr/>
          <p:nvPr/>
        </p:nvSpPr>
        <p:spPr>
          <a:xfrm>
            <a:off x="731520" y="3017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3"/>
          <p:cNvSpPr/>
          <p:nvPr/>
        </p:nvSpPr>
        <p:spPr>
          <a:xfrm>
            <a:off x="731520" y="3017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4"/>
          <p:cNvSpPr/>
          <p:nvPr/>
        </p:nvSpPr>
        <p:spPr>
          <a:xfrm>
            <a:off x="1234440" y="2825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Would a 99% interval for the same data be wider or narrower?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5"/>
          <p:cNvSpPr/>
          <p:nvPr/>
        </p:nvSpPr>
        <p:spPr>
          <a:xfrm>
            <a:off x="548640" y="3684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6"/>
          <p:cNvSpPr/>
          <p:nvPr/>
        </p:nvSpPr>
        <p:spPr>
          <a:xfrm>
            <a:off x="731520" y="3877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7"/>
          <p:cNvSpPr/>
          <p:nvPr/>
        </p:nvSpPr>
        <p:spPr>
          <a:xfrm>
            <a:off x="731520" y="3877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8"/>
          <p:cNvSpPr/>
          <p:nvPr/>
        </p:nvSpPr>
        <p:spPr>
          <a:xfrm>
            <a:off x="1234440" y="3684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in one sentence what “95% confidence” does NOT mean.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9"/>
          <p:cNvSpPr/>
          <p:nvPr/>
        </p:nvSpPr>
        <p:spPr>
          <a:xfrm>
            <a:off x="548640" y="4544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0"/>
          <p:cNvSpPr/>
          <p:nvPr/>
        </p:nvSpPr>
        <p:spPr>
          <a:xfrm>
            <a:off x="731520" y="4736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1"/>
          <p:cNvSpPr/>
          <p:nvPr/>
        </p:nvSpPr>
        <p:spPr>
          <a:xfrm>
            <a:off x="731520" y="4736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2"/>
          <p:cNvSpPr/>
          <p:nvPr/>
        </p:nvSpPr>
        <p:spPr>
          <a:xfrm>
            <a:off x="1234440" y="4544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poll shows 48% ± 4%. Is it fair to say the candidate is losing?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3"/>
          <p:cNvSpPr/>
          <p:nvPr/>
        </p:nvSpPr>
        <p:spPr>
          <a:xfrm>
            <a:off x="548640" y="5403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4"/>
          <p:cNvSpPr/>
          <p:nvPr/>
        </p:nvSpPr>
        <p:spPr>
          <a:xfrm>
            <a:off x="731520" y="5596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5"/>
          <p:cNvSpPr/>
          <p:nvPr/>
        </p:nvSpPr>
        <p:spPr>
          <a:xfrm>
            <a:off x="731520" y="5596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6"/>
          <p:cNvSpPr/>
          <p:nvPr/>
        </p:nvSpPr>
        <p:spPr>
          <a:xfrm>
            <a:off x="1234440" y="5403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change n to 4000 in the poll code. What happens to the margin?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The Hypothesis Testing Framework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 disciplined way to test a claim against data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Hypothesis Testing: The Courtroom Analogy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⚖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Innocent until proven guilty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defendant is presumed innocent — the null hypothesis, H₀ (“nothing is going on”).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Evidence (your data) is weighed against that presumption.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Convict (reject H₀) only if the evidence is strong beyond reasonable doubt.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 enough evidence ≠ innocent — only “not proven guilty”.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Null (H₀) vs. Alternative (H₁)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H₀ — the null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“no effect / no difference” claim.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Always contains an equals sign: μ = 100.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we assume is true until data argue otherwise.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H₁ — the alternative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effect you suspect: μ ≠ 100 (two-tailed), μ &gt; 100 or μ &lt; 100 (one-tailed).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Accepted only if H₀ is rejected.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Decide direction BEFORE looking at data.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Set Up the Test Before Seeing Data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54864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77724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77724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77724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State hypotheses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77724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Write H₀ and H₁ clearly, including the direction (one- or two-tailed).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8"/>
          <p:cNvSpPr/>
          <p:nvPr/>
        </p:nvSpPr>
        <p:spPr>
          <a:xfrm>
            <a:off x="339480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362340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362340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1"/>
          <p:cNvSpPr/>
          <p:nvPr/>
        </p:nvSpPr>
        <p:spPr>
          <a:xfrm>
            <a:off x="362340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Choose α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362340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Pick your significance level now — usually 0.05.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3"/>
          <p:cNvSpPr/>
          <p:nvPr/>
        </p:nvSpPr>
        <p:spPr>
          <a:xfrm>
            <a:off x="624096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4"/>
          <p:cNvSpPr/>
          <p:nvPr/>
        </p:nvSpPr>
        <p:spPr>
          <a:xfrm>
            <a:off x="646956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5"/>
          <p:cNvSpPr/>
          <p:nvPr/>
        </p:nvSpPr>
        <p:spPr>
          <a:xfrm>
            <a:off x="646956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646956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Collect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7"/>
          <p:cNvSpPr/>
          <p:nvPr/>
        </p:nvSpPr>
        <p:spPr>
          <a:xfrm>
            <a:off x="646956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Only now look at the sample and compute the test statistic.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8"/>
          <p:cNvSpPr/>
          <p:nvPr/>
        </p:nvSpPr>
        <p:spPr>
          <a:xfrm>
            <a:off x="908676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9"/>
          <p:cNvSpPr/>
          <p:nvPr/>
        </p:nvSpPr>
        <p:spPr>
          <a:xfrm>
            <a:off x="931536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0"/>
          <p:cNvSpPr/>
          <p:nvPr/>
        </p:nvSpPr>
        <p:spPr>
          <a:xfrm>
            <a:off x="931536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1"/>
          <p:cNvSpPr/>
          <p:nvPr/>
        </p:nvSpPr>
        <p:spPr>
          <a:xfrm>
            <a:off x="931536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Decide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2"/>
          <p:cNvSpPr/>
          <p:nvPr/>
        </p:nvSpPr>
        <p:spPr>
          <a:xfrm>
            <a:off x="931536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Compare evidence to α; report your conclusion in plain words.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Significance Level (α) in 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α is the false-alarm risk you accept, committed to in advance.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fixes the “rejection zone” — where the test statistic must land.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Two-tailed splits α across both ends.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alpha = 0.05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two-tailed critical values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crit = stats.norm.ppf(1 - alpha/2)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print(round(crit, 2))   # 1.96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reject H0 if |z| &gt; 1.96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one-tailed (right side only)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crit1 = stats.norm.ppf(1 - alpha)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print(round(crit1, 2))  # 1.64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Hypothesis Framework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café claims average wait is 5 minutes. Write H₀ and H₁ (two-tailed).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must α be chosen before the data are collected?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When is a one-tailed test justified? Give an example.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the courtroom analogy, what is “beyond reasonable doubt” in statistics?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p-Values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most used — and most misunderstood — number in statistics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a p-Value Actually Measures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How surprising is this data, if H₀ is true?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p-value is the probability of data at least this extreme, assuming H₀ is true.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Small p → the data would be rare under H₀ → doubt about H₀.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Large p → the data are perfectly ordinary under H₀.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measures surprise, not truth.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p-Value as a Shaded Tail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4"/>
          <p:cNvSpPr/>
          <p:nvPr/>
        </p:nvSpPr>
        <p:spPr>
          <a:xfrm>
            <a:off x="914400" y="5067360"/>
            <a:ext cx="91080" cy="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440" rIns="90000" bIns="-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5"/>
          <p:cNvSpPr/>
          <p:nvPr/>
        </p:nvSpPr>
        <p:spPr>
          <a:xfrm>
            <a:off x="1005840" y="5064120"/>
            <a:ext cx="91080" cy="10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6"/>
          <p:cNvSpPr/>
          <p:nvPr/>
        </p:nvSpPr>
        <p:spPr>
          <a:xfrm>
            <a:off x="1097280" y="5060160"/>
            <a:ext cx="91080" cy="144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240" rIns="90000" bIns="-30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7"/>
          <p:cNvSpPr/>
          <p:nvPr/>
        </p:nvSpPr>
        <p:spPr>
          <a:xfrm>
            <a:off x="1188720" y="5054400"/>
            <a:ext cx="91080" cy="201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8"/>
          <p:cNvSpPr/>
          <p:nvPr/>
        </p:nvSpPr>
        <p:spPr>
          <a:xfrm>
            <a:off x="1280160" y="5047200"/>
            <a:ext cx="91080" cy="273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280" rIns="90000" bIns="-17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9"/>
          <p:cNvSpPr/>
          <p:nvPr/>
        </p:nvSpPr>
        <p:spPr>
          <a:xfrm>
            <a:off x="1371600" y="5037480"/>
            <a:ext cx="91080" cy="37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0" rIns="90000" bIns="-72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0"/>
          <p:cNvSpPr/>
          <p:nvPr/>
        </p:nvSpPr>
        <p:spPr>
          <a:xfrm>
            <a:off x="1463040" y="5024520"/>
            <a:ext cx="91080" cy="50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1"/>
          <p:cNvSpPr/>
          <p:nvPr/>
        </p:nvSpPr>
        <p:spPr>
          <a:xfrm>
            <a:off x="1554480" y="5008320"/>
            <a:ext cx="91080" cy="66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2"/>
          <p:cNvSpPr/>
          <p:nvPr/>
        </p:nvSpPr>
        <p:spPr>
          <a:xfrm>
            <a:off x="1645920" y="4987800"/>
            <a:ext cx="91080" cy="86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3"/>
          <p:cNvSpPr/>
          <p:nvPr/>
        </p:nvSpPr>
        <p:spPr>
          <a:xfrm>
            <a:off x="1737360" y="4961880"/>
            <a:ext cx="91080" cy="1126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4"/>
          <p:cNvSpPr/>
          <p:nvPr/>
        </p:nvSpPr>
        <p:spPr>
          <a:xfrm>
            <a:off x="1828800" y="4929840"/>
            <a:ext cx="91080" cy="144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5"/>
          <p:cNvSpPr/>
          <p:nvPr/>
        </p:nvSpPr>
        <p:spPr>
          <a:xfrm>
            <a:off x="1920240" y="4890600"/>
            <a:ext cx="91080" cy="1839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16"/>
          <p:cNvSpPr/>
          <p:nvPr/>
        </p:nvSpPr>
        <p:spPr>
          <a:xfrm>
            <a:off x="2011680" y="4842720"/>
            <a:ext cx="91080" cy="2318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17"/>
          <p:cNvSpPr/>
          <p:nvPr/>
        </p:nvSpPr>
        <p:spPr>
          <a:xfrm>
            <a:off x="2103120" y="4785480"/>
            <a:ext cx="91080" cy="2890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8"/>
          <p:cNvSpPr/>
          <p:nvPr/>
        </p:nvSpPr>
        <p:spPr>
          <a:xfrm>
            <a:off x="2194560" y="4718160"/>
            <a:ext cx="91080" cy="3564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9"/>
          <p:cNvSpPr/>
          <p:nvPr/>
        </p:nvSpPr>
        <p:spPr>
          <a:xfrm>
            <a:off x="2286000" y="4638960"/>
            <a:ext cx="91080" cy="4356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20"/>
          <p:cNvSpPr/>
          <p:nvPr/>
        </p:nvSpPr>
        <p:spPr>
          <a:xfrm>
            <a:off x="2377440" y="4547880"/>
            <a:ext cx="91080" cy="5266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21"/>
          <p:cNvSpPr/>
          <p:nvPr/>
        </p:nvSpPr>
        <p:spPr>
          <a:xfrm>
            <a:off x="2468880" y="4443840"/>
            <a:ext cx="91080" cy="63072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22"/>
          <p:cNvSpPr/>
          <p:nvPr/>
        </p:nvSpPr>
        <p:spPr>
          <a:xfrm>
            <a:off x="2560320" y="4326840"/>
            <a:ext cx="91080" cy="74772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23"/>
          <p:cNvSpPr/>
          <p:nvPr/>
        </p:nvSpPr>
        <p:spPr>
          <a:xfrm>
            <a:off x="2651760" y="4196880"/>
            <a:ext cx="91080" cy="8776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24"/>
          <p:cNvSpPr/>
          <p:nvPr/>
        </p:nvSpPr>
        <p:spPr>
          <a:xfrm>
            <a:off x="2743200" y="4055040"/>
            <a:ext cx="91080" cy="101952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25"/>
          <p:cNvSpPr/>
          <p:nvPr/>
        </p:nvSpPr>
        <p:spPr>
          <a:xfrm>
            <a:off x="2834640" y="3901680"/>
            <a:ext cx="91080" cy="11728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26"/>
          <p:cNvSpPr/>
          <p:nvPr/>
        </p:nvSpPr>
        <p:spPr>
          <a:xfrm>
            <a:off x="2926080" y="3738960"/>
            <a:ext cx="91080" cy="13356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7"/>
          <p:cNvSpPr/>
          <p:nvPr/>
        </p:nvSpPr>
        <p:spPr>
          <a:xfrm>
            <a:off x="3017520" y="3568320"/>
            <a:ext cx="91080" cy="150624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28"/>
          <p:cNvSpPr/>
          <p:nvPr/>
        </p:nvSpPr>
        <p:spPr>
          <a:xfrm>
            <a:off x="3108960" y="3393360"/>
            <a:ext cx="91080" cy="16812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29"/>
          <p:cNvSpPr/>
          <p:nvPr/>
        </p:nvSpPr>
        <p:spPr>
          <a:xfrm>
            <a:off x="3200400" y="3216240"/>
            <a:ext cx="91080" cy="185832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30"/>
          <p:cNvSpPr/>
          <p:nvPr/>
        </p:nvSpPr>
        <p:spPr>
          <a:xfrm>
            <a:off x="3291840" y="3041280"/>
            <a:ext cx="91080" cy="20332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31"/>
          <p:cNvSpPr/>
          <p:nvPr/>
        </p:nvSpPr>
        <p:spPr>
          <a:xfrm>
            <a:off x="3383280" y="2872080"/>
            <a:ext cx="91080" cy="22024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32"/>
          <p:cNvSpPr/>
          <p:nvPr/>
        </p:nvSpPr>
        <p:spPr>
          <a:xfrm>
            <a:off x="3474720" y="2712240"/>
            <a:ext cx="91080" cy="236232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33"/>
          <p:cNvSpPr/>
          <p:nvPr/>
        </p:nvSpPr>
        <p:spPr>
          <a:xfrm>
            <a:off x="3566160" y="2566080"/>
            <a:ext cx="91080" cy="25084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34"/>
          <p:cNvSpPr/>
          <p:nvPr/>
        </p:nvSpPr>
        <p:spPr>
          <a:xfrm>
            <a:off x="3657600" y="2437560"/>
            <a:ext cx="91080" cy="26370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35"/>
          <p:cNvSpPr/>
          <p:nvPr/>
        </p:nvSpPr>
        <p:spPr>
          <a:xfrm>
            <a:off x="3749040" y="2329920"/>
            <a:ext cx="91080" cy="274464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36"/>
          <p:cNvSpPr/>
          <p:nvPr/>
        </p:nvSpPr>
        <p:spPr>
          <a:xfrm>
            <a:off x="3840480" y="2246400"/>
            <a:ext cx="91080" cy="282816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37"/>
          <p:cNvSpPr/>
          <p:nvPr/>
        </p:nvSpPr>
        <p:spPr>
          <a:xfrm>
            <a:off x="3931920" y="2189160"/>
            <a:ext cx="91080" cy="28854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38"/>
          <p:cNvSpPr/>
          <p:nvPr/>
        </p:nvSpPr>
        <p:spPr>
          <a:xfrm>
            <a:off x="4023360" y="2160360"/>
            <a:ext cx="91080" cy="29142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39"/>
          <p:cNvSpPr/>
          <p:nvPr/>
        </p:nvSpPr>
        <p:spPr>
          <a:xfrm>
            <a:off x="4114800" y="2160360"/>
            <a:ext cx="91080" cy="29142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40"/>
          <p:cNvSpPr/>
          <p:nvPr/>
        </p:nvSpPr>
        <p:spPr>
          <a:xfrm>
            <a:off x="4206240" y="2189160"/>
            <a:ext cx="91080" cy="28854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41"/>
          <p:cNvSpPr/>
          <p:nvPr/>
        </p:nvSpPr>
        <p:spPr>
          <a:xfrm>
            <a:off x="4297680" y="2246400"/>
            <a:ext cx="91080" cy="282816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42"/>
          <p:cNvSpPr/>
          <p:nvPr/>
        </p:nvSpPr>
        <p:spPr>
          <a:xfrm>
            <a:off x="4389120" y="2329920"/>
            <a:ext cx="91080" cy="274464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43"/>
          <p:cNvSpPr/>
          <p:nvPr/>
        </p:nvSpPr>
        <p:spPr>
          <a:xfrm>
            <a:off x="4480560" y="2437560"/>
            <a:ext cx="91080" cy="26370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44"/>
          <p:cNvSpPr/>
          <p:nvPr/>
        </p:nvSpPr>
        <p:spPr>
          <a:xfrm>
            <a:off x="4572000" y="2566080"/>
            <a:ext cx="91080" cy="25084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45"/>
          <p:cNvSpPr/>
          <p:nvPr/>
        </p:nvSpPr>
        <p:spPr>
          <a:xfrm>
            <a:off x="4663440" y="2712240"/>
            <a:ext cx="91080" cy="236232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46"/>
          <p:cNvSpPr/>
          <p:nvPr/>
        </p:nvSpPr>
        <p:spPr>
          <a:xfrm>
            <a:off x="4754880" y="2872080"/>
            <a:ext cx="91080" cy="22024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47"/>
          <p:cNvSpPr/>
          <p:nvPr/>
        </p:nvSpPr>
        <p:spPr>
          <a:xfrm>
            <a:off x="4846320" y="3041280"/>
            <a:ext cx="91080" cy="20332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48"/>
          <p:cNvSpPr/>
          <p:nvPr/>
        </p:nvSpPr>
        <p:spPr>
          <a:xfrm>
            <a:off x="4937760" y="3216240"/>
            <a:ext cx="91080" cy="185832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49"/>
          <p:cNvSpPr/>
          <p:nvPr/>
        </p:nvSpPr>
        <p:spPr>
          <a:xfrm>
            <a:off x="5029200" y="3393360"/>
            <a:ext cx="91080" cy="16812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50"/>
          <p:cNvSpPr/>
          <p:nvPr/>
        </p:nvSpPr>
        <p:spPr>
          <a:xfrm>
            <a:off x="5120640" y="3568320"/>
            <a:ext cx="91080" cy="150624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51"/>
          <p:cNvSpPr/>
          <p:nvPr/>
        </p:nvSpPr>
        <p:spPr>
          <a:xfrm>
            <a:off x="5212080" y="3738960"/>
            <a:ext cx="91080" cy="13356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52"/>
          <p:cNvSpPr/>
          <p:nvPr/>
        </p:nvSpPr>
        <p:spPr>
          <a:xfrm>
            <a:off x="5303520" y="3901680"/>
            <a:ext cx="91080" cy="11728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53"/>
          <p:cNvSpPr/>
          <p:nvPr/>
        </p:nvSpPr>
        <p:spPr>
          <a:xfrm>
            <a:off x="5394960" y="4055040"/>
            <a:ext cx="91080" cy="101952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54"/>
          <p:cNvSpPr/>
          <p:nvPr/>
        </p:nvSpPr>
        <p:spPr>
          <a:xfrm>
            <a:off x="5486400" y="4196880"/>
            <a:ext cx="91080" cy="8776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55"/>
          <p:cNvSpPr/>
          <p:nvPr/>
        </p:nvSpPr>
        <p:spPr>
          <a:xfrm>
            <a:off x="5577840" y="4326840"/>
            <a:ext cx="91080" cy="74772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56"/>
          <p:cNvSpPr/>
          <p:nvPr/>
        </p:nvSpPr>
        <p:spPr>
          <a:xfrm>
            <a:off x="5669280" y="4443840"/>
            <a:ext cx="91080" cy="63072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57"/>
          <p:cNvSpPr/>
          <p:nvPr/>
        </p:nvSpPr>
        <p:spPr>
          <a:xfrm>
            <a:off x="5760720" y="4547880"/>
            <a:ext cx="91080" cy="52668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58"/>
          <p:cNvSpPr/>
          <p:nvPr/>
        </p:nvSpPr>
        <p:spPr>
          <a:xfrm>
            <a:off x="5852160" y="4638960"/>
            <a:ext cx="91080" cy="435600"/>
          </a:xfrm>
          <a:prstGeom prst="rect">
            <a:avLst/>
          </a:prstGeom>
          <a:solidFill>
            <a:srgbClr val="D9D7F7"/>
          </a:solidFill>
          <a:ln w="1270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59"/>
          <p:cNvSpPr/>
          <p:nvPr/>
        </p:nvSpPr>
        <p:spPr>
          <a:xfrm>
            <a:off x="5943600" y="4718160"/>
            <a:ext cx="91080" cy="3564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60"/>
          <p:cNvSpPr/>
          <p:nvPr/>
        </p:nvSpPr>
        <p:spPr>
          <a:xfrm>
            <a:off x="6035040" y="4785480"/>
            <a:ext cx="91080" cy="2890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61"/>
          <p:cNvSpPr/>
          <p:nvPr/>
        </p:nvSpPr>
        <p:spPr>
          <a:xfrm>
            <a:off x="6126480" y="4842720"/>
            <a:ext cx="91080" cy="2318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62"/>
          <p:cNvSpPr/>
          <p:nvPr/>
        </p:nvSpPr>
        <p:spPr>
          <a:xfrm>
            <a:off x="6217920" y="4890600"/>
            <a:ext cx="91080" cy="1839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63"/>
          <p:cNvSpPr/>
          <p:nvPr/>
        </p:nvSpPr>
        <p:spPr>
          <a:xfrm>
            <a:off x="6309360" y="4929840"/>
            <a:ext cx="91080" cy="144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64"/>
          <p:cNvSpPr/>
          <p:nvPr/>
        </p:nvSpPr>
        <p:spPr>
          <a:xfrm>
            <a:off x="6400800" y="4961880"/>
            <a:ext cx="91080" cy="1126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65"/>
          <p:cNvSpPr/>
          <p:nvPr/>
        </p:nvSpPr>
        <p:spPr>
          <a:xfrm>
            <a:off x="6492240" y="4987800"/>
            <a:ext cx="91080" cy="86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120" rIns="90000" bIns="42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66"/>
          <p:cNvSpPr/>
          <p:nvPr/>
        </p:nvSpPr>
        <p:spPr>
          <a:xfrm>
            <a:off x="6583680" y="5008320"/>
            <a:ext cx="91080" cy="66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67"/>
          <p:cNvSpPr/>
          <p:nvPr/>
        </p:nvSpPr>
        <p:spPr>
          <a:xfrm>
            <a:off x="6675120" y="5024520"/>
            <a:ext cx="91080" cy="50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68"/>
          <p:cNvSpPr/>
          <p:nvPr/>
        </p:nvSpPr>
        <p:spPr>
          <a:xfrm>
            <a:off x="6766560" y="5037480"/>
            <a:ext cx="91080" cy="37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0" rIns="90000" bIns="-72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69"/>
          <p:cNvSpPr/>
          <p:nvPr/>
        </p:nvSpPr>
        <p:spPr>
          <a:xfrm>
            <a:off x="6858000" y="5047200"/>
            <a:ext cx="91080" cy="273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280" rIns="90000" bIns="-17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70"/>
          <p:cNvSpPr/>
          <p:nvPr/>
        </p:nvSpPr>
        <p:spPr>
          <a:xfrm>
            <a:off x="6949440" y="5054400"/>
            <a:ext cx="91080" cy="201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71"/>
          <p:cNvSpPr/>
          <p:nvPr/>
        </p:nvSpPr>
        <p:spPr>
          <a:xfrm>
            <a:off x="7040880" y="5060160"/>
            <a:ext cx="91080" cy="144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240" rIns="90000" bIns="-30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72"/>
          <p:cNvSpPr/>
          <p:nvPr/>
        </p:nvSpPr>
        <p:spPr>
          <a:xfrm>
            <a:off x="7132320" y="5064120"/>
            <a:ext cx="91080" cy="10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73"/>
          <p:cNvSpPr/>
          <p:nvPr/>
        </p:nvSpPr>
        <p:spPr>
          <a:xfrm>
            <a:off x="7223760" y="5067360"/>
            <a:ext cx="91080" cy="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440" rIns="90000" bIns="-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74"/>
          <p:cNvSpPr/>
          <p:nvPr/>
        </p:nvSpPr>
        <p:spPr>
          <a:xfrm>
            <a:off x="914400" y="5074920"/>
            <a:ext cx="6400800" cy="360"/>
          </a:xfrm>
          <a:prstGeom prst="line">
            <a:avLst/>
          </a:prstGeom>
          <a:ln w="15875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75"/>
          <p:cNvSpPr/>
          <p:nvPr/>
        </p:nvSpPr>
        <p:spPr>
          <a:xfrm>
            <a:off x="1920240" y="514800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z = −2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76"/>
          <p:cNvSpPr/>
          <p:nvPr/>
        </p:nvSpPr>
        <p:spPr>
          <a:xfrm>
            <a:off x="3749040" y="514800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z = 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77"/>
          <p:cNvSpPr/>
          <p:nvPr/>
        </p:nvSpPr>
        <p:spPr>
          <a:xfrm>
            <a:off x="5577840" y="514800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z = +2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78"/>
          <p:cNvSpPr/>
          <p:nvPr/>
        </p:nvSpPr>
        <p:spPr>
          <a:xfrm>
            <a:off x="2743200" y="18288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Curve if H₀ were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79"/>
          <p:cNvSpPr/>
          <p:nvPr/>
        </p:nvSpPr>
        <p:spPr>
          <a:xfrm>
            <a:off x="914400" y="420624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3F5E"/>
                </a:solidFill>
                <a:effectLst/>
                <a:uFillTx/>
                <a:latin typeface="Hanken Grotesk"/>
                <a:ea typeface="Hanken Grotesk"/>
              </a:rPr>
              <a:t>each tail ≈ 2.3%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80"/>
          <p:cNvSpPr/>
          <p:nvPr/>
        </p:nvSpPr>
        <p:spPr>
          <a:xfrm>
            <a:off x="5852160" y="420624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43F5E"/>
                </a:solidFill>
                <a:effectLst/>
                <a:uFillTx/>
                <a:latin typeface="Hanken Grotesk"/>
                <a:ea typeface="Hanken Grotesk"/>
              </a:rPr>
              <a:t>each tail ≈ 2.3%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81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82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Observed z = 2.0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Rose area = chance of a result this extreme (or more) if H₀ is true.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Both tails ≈ 0.0455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so p ≈ 0.046 &lt; 0.05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5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Common Misreadings of 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✗  What p is NOT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 “the probability H₀ is true”.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 “the probability the result is due to chance”.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 &gt; 0.05 does NOT prove “no effect”.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Small p does NOT mean a big or important effect.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✓  What p IS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statement about the data, assuming H₀.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Non-significant = “not enough evidence”, not “no effect”.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Pair p with an effect size and a confidence interval.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Judge importance by size, not by p alone.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Decision Rule: Compare p to α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If p ≤ α → reject H₀ (statistically significant).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If p &gt; α → fail to reject H₀.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Wording matters: never say “accept H₀” or “prove H₁”.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z =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 = 2 * (1 - stats.norm.cdf(abs(z)))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print(round(p, 4))      # 0.0455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alpha = 0.05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if p &lt;= alpha: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print("Reject H0")      # &lt;-- this 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else: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print("Fail to reject H0")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p-Values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 = 0.03 and α = 0.05. What is your decision?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 = 0.20. Can you say “there is no effect”? Why not?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True or false: p = 0.01 means H₀ has a 1% chance of being true.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compute the two-tailed p for z = 1.0, 2.0 and 3.0. What pattern do you see?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Type I &amp; Type II Errors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Tests can be wrong — knowing how is the point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Two Ways to Be Wrong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Type I — false alarm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Reject H₀ when it is actually true.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Probability = α (you chose it!).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Example: declaring a useless drug effective.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Type II — missed signal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Fail to reject H₀ when it is actually false.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Probability = β.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Power = 1 − β: the chance of catching a real effect.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Decision Matrix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3"/>
          <p:cNvSpPr/>
          <p:nvPr/>
        </p:nvSpPr>
        <p:spPr>
          <a:xfrm>
            <a:off x="2651760" y="16459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Reality →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4"/>
          <p:cNvSpPr/>
          <p:nvPr/>
        </p:nvSpPr>
        <p:spPr>
          <a:xfrm>
            <a:off x="2651760" y="1965960"/>
            <a:ext cx="4023000" cy="36540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5"/>
          <p:cNvSpPr/>
          <p:nvPr/>
        </p:nvSpPr>
        <p:spPr>
          <a:xfrm>
            <a:off x="2651760" y="196596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H₀ is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6"/>
          <p:cNvSpPr/>
          <p:nvPr/>
        </p:nvSpPr>
        <p:spPr>
          <a:xfrm>
            <a:off x="6766560" y="1965960"/>
            <a:ext cx="4023000" cy="36540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7"/>
          <p:cNvSpPr/>
          <p:nvPr/>
        </p:nvSpPr>
        <p:spPr>
          <a:xfrm>
            <a:off x="6766560" y="196596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H₀ is FALSE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8"/>
          <p:cNvSpPr/>
          <p:nvPr/>
        </p:nvSpPr>
        <p:spPr>
          <a:xfrm>
            <a:off x="548640" y="2377440"/>
            <a:ext cx="1919880" cy="1599840"/>
          </a:xfrm>
          <a:prstGeom prst="roundRect">
            <a:avLst>
              <a:gd name="adj" fmla="val 6857"/>
            </a:avLst>
          </a:prstGeom>
          <a:solidFill>
            <a:srgbClr val="231F71"/>
          </a:solidFill>
          <a:ln w="12700">
            <a:solidFill>
              <a:srgbClr val="231F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9"/>
          <p:cNvSpPr/>
          <p:nvPr/>
        </p:nvSpPr>
        <p:spPr>
          <a:xfrm>
            <a:off x="640080" y="2377440"/>
            <a:ext cx="17370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Your decision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Reject H₀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0"/>
          <p:cNvSpPr/>
          <p:nvPr/>
        </p:nvSpPr>
        <p:spPr>
          <a:xfrm>
            <a:off x="548640" y="4069080"/>
            <a:ext cx="1919880" cy="1599840"/>
          </a:xfrm>
          <a:prstGeom prst="roundRect">
            <a:avLst>
              <a:gd name="adj" fmla="val 6857"/>
            </a:avLst>
          </a:prstGeom>
          <a:solidFill>
            <a:srgbClr val="231F71"/>
          </a:solidFill>
          <a:ln w="12700">
            <a:solidFill>
              <a:srgbClr val="231F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1"/>
          <p:cNvSpPr/>
          <p:nvPr/>
        </p:nvSpPr>
        <p:spPr>
          <a:xfrm>
            <a:off x="640080" y="4069080"/>
            <a:ext cx="17370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Your decision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Fail to reject H₀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12"/>
          <p:cNvSpPr/>
          <p:nvPr/>
        </p:nvSpPr>
        <p:spPr>
          <a:xfrm>
            <a:off x="2651760" y="2377440"/>
            <a:ext cx="4023000" cy="1599840"/>
          </a:xfrm>
          <a:prstGeom prst="roundRect">
            <a:avLst>
              <a:gd name="adj" fmla="val 6857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3"/>
          <p:cNvSpPr/>
          <p:nvPr/>
        </p:nvSpPr>
        <p:spPr>
          <a:xfrm>
            <a:off x="2834640" y="2377440"/>
            <a:ext cx="36572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5B1A54"/>
                </a:solidFill>
                <a:effectLst/>
                <a:uFillTx/>
                <a:latin typeface="Bricolage Grotesque"/>
                <a:ea typeface="Bricolage Grotesque"/>
              </a:rPr>
              <a:t>Type I Error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1A54"/>
                </a:solidFill>
                <a:effectLst/>
                <a:uFillTx/>
                <a:latin typeface="Hanken Grotesk"/>
                <a:ea typeface="Hanken Grotesk"/>
              </a:rPr>
              <a:t>False alarm · prob = 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14"/>
          <p:cNvSpPr/>
          <p:nvPr/>
        </p:nvSpPr>
        <p:spPr>
          <a:xfrm>
            <a:off x="6766560" y="2377440"/>
            <a:ext cx="4023000" cy="1599840"/>
          </a:xfrm>
          <a:prstGeom prst="roundRect">
            <a:avLst>
              <a:gd name="adj" fmla="val 6857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5"/>
          <p:cNvSpPr/>
          <p:nvPr/>
        </p:nvSpPr>
        <p:spPr>
          <a:xfrm>
            <a:off x="6949440" y="2377440"/>
            <a:ext cx="36572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Correct 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Detected a real effect · power = 1 − 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16"/>
          <p:cNvSpPr/>
          <p:nvPr/>
        </p:nvSpPr>
        <p:spPr>
          <a:xfrm>
            <a:off x="2651760" y="4069080"/>
            <a:ext cx="4023000" cy="1599840"/>
          </a:xfrm>
          <a:prstGeom prst="roundRect">
            <a:avLst>
              <a:gd name="adj" fmla="val 6857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7"/>
          <p:cNvSpPr/>
          <p:nvPr/>
        </p:nvSpPr>
        <p:spPr>
          <a:xfrm>
            <a:off x="2834640" y="4069080"/>
            <a:ext cx="36572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Correct 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Rightly saw nothing · prob = 1 − 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8"/>
          <p:cNvSpPr/>
          <p:nvPr/>
        </p:nvSpPr>
        <p:spPr>
          <a:xfrm>
            <a:off x="6766560" y="4069080"/>
            <a:ext cx="4023000" cy="1599840"/>
          </a:xfrm>
          <a:prstGeom prst="roundRect">
            <a:avLst>
              <a:gd name="adj" fmla="val 6857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9"/>
          <p:cNvSpPr/>
          <p:nvPr/>
        </p:nvSpPr>
        <p:spPr>
          <a:xfrm>
            <a:off x="6949440" y="4069080"/>
            <a:ext cx="36572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5B1A54"/>
                </a:solidFill>
                <a:effectLst/>
                <a:uFillTx/>
                <a:latin typeface="Bricolage Grotesque"/>
                <a:ea typeface="Bricolage Grotesque"/>
              </a:rPr>
              <a:t>Type II Error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1A54"/>
                </a:solidFill>
                <a:effectLst/>
                <a:uFillTx/>
                <a:latin typeface="Hanken Grotesk"/>
                <a:ea typeface="Hanken Grotesk"/>
              </a:rPr>
              <a:t>Missed signal · prob = 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Seeing α and Power by Simulation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Simulate 10,000 studies where H₀ is true: about 5% will falsely reject (= α).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Now simulate where the true mean is 105: the share of rejections is the power.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turns abstract rates into counts you can see.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def reject(mu, k=10000):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x = rng.normal(mu, 15, size=(k, 36))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z = (x.mean(axis=1) - 100) / 2.5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p = 2 * (1 - stats.norm.cdf(abs(z)))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return (p &lt; 0.05).mean()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print(reject(100))  # ≈ 0.05  Type I rate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print(reject(105))  # ≈ 0.52  power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β = 1 - power ≈ 0.48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Tradeoff — and Why More Data Helps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⇄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Lower α, higher β — unless you add data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Making α smaller (stricter) makes Type II errors more likely.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cannot drive both to zero with a fixed sample.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larger n shrinks the standard error — which lowers both kinds of error.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Plan sample size before collecting data to reach about 80% power.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Type I &amp; II Errors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7"/>
          <p:cNvSpPr/>
          <p:nvPr/>
        </p:nvSpPr>
        <p:spPr>
          <a:xfrm>
            <a:off x="548640" y="1965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8"/>
          <p:cNvSpPr/>
          <p:nvPr/>
        </p:nvSpPr>
        <p:spPr>
          <a:xfrm>
            <a:off x="731520" y="21578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9"/>
          <p:cNvSpPr/>
          <p:nvPr/>
        </p:nvSpPr>
        <p:spPr>
          <a:xfrm>
            <a:off x="731520" y="2157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0"/>
          <p:cNvSpPr/>
          <p:nvPr/>
        </p:nvSpPr>
        <p:spPr>
          <a:xfrm>
            <a:off x="1234440" y="1965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smoke alarm rings with no fire. Type I or Type II?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1"/>
          <p:cNvSpPr/>
          <p:nvPr/>
        </p:nvSpPr>
        <p:spPr>
          <a:xfrm>
            <a:off x="548640" y="2825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2"/>
          <p:cNvSpPr/>
          <p:nvPr/>
        </p:nvSpPr>
        <p:spPr>
          <a:xfrm>
            <a:off x="731520" y="3017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13"/>
          <p:cNvSpPr/>
          <p:nvPr/>
        </p:nvSpPr>
        <p:spPr>
          <a:xfrm>
            <a:off x="731520" y="3017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4"/>
          <p:cNvSpPr/>
          <p:nvPr/>
        </p:nvSpPr>
        <p:spPr>
          <a:xfrm>
            <a:off x="1234440" y="2825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medical test misses a real disease. Type I or Type II?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15"/>
          <p:cNvSpPr/>
          <p:nvPr/>
        </p:nvSpPr>
        <p:spPr>
          <a:xfrm>
            <a:off x="548640" y="3684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16"/>
          <p:cNvSpPr/>
          <p:nvPr/>
        </p:nvSpPr>
        <p:spPr>
          <a:xfrm>
            <a:off x="731520" y="3877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17"/>
          <p:cNvSpPr/>
          <p:nvPr/>
        </p:nvSpPr>
        <p:spPr>
          <a:xfrm>
            <a:off x="731520" y="3877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18"/>
          <p:cNvSpPr/>
          <p:nvPr/>
        </p:nvSpPr>
        <p:spPr>
          <a:xfrm>
            <a:off x="1234440" y="3684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If power is 0.80, what is β?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19"/>
          <p:cNvSpPr/>
          <p:nvPr/>
        </p:nvSpPr>
        <p:spPr>
          <a:xfrm>
            <a:off x="548640" y="4544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20"/>
          <p:cNvSpPr/>
          <p:nvPr/>
        </p:nvSpPr>
        <p:spPr>
          <a:xfrm>
            <a:off x="731520" y="4736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21"/>
          <p:cNvSpPr/>
          <p:nvPr/>
        </p:nvSpPr>
        <p:spPr>
          <a:xfrm>
            <a:off x="731520" y="4736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22"/>
          <p:cNvSpPr/>
          <p:nvPr/>
        </p:nvSpPr>
        <p:spPr>
          <a:xfrm>
            <a:off x="1234440" y="4544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is lowering α from 0.05 to 0.01 not a free improvement?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23"/>
          <p:cNvSpPr/>
          <p:nvPr/>
        </p:nvSpPr>
        <p:spPr>
          <a:xfrm>
            <a:off x="548640" y="5403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24"/>
          <p:cNvSpPr/>
          <p:nvPr/>
        </p:nvSpPr>
        <p:spPr>
          <a:xfrm>
            <a:off x="731520" y="5596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25"/>
          <p:cNvSpPr/>
          <p:nvPr/>
        </p:nvSpPr>
        <p:spPr>
          <a:xfrm>
            <a:off x="731520" y="5596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26"/>
          <p:cNvSpPr/>
          <p:nvPr/>
        </p:nvSpPr>
        <p:spPr>
          <a:xfrm>
            <a:off x="1234440" y="5403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run reject(105) with n = 100 instead of 36. What happens to power?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The Z-Test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Putting intervals, hypotheses and p-values together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 Z-Test?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Z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Is the sample mean far from the claimed mean?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Compares a sample mean to a known population mean.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Used when the population σ is known (or n is large, roughly 30+).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Data should be roughly normal, or n large enough for the Central Limit Theorem.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Result: a z-score — how many standard errors away from H₀.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Z-Test Formula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z = (x̄ − μ₀) / (σ / √n)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Numerator: how far the sample is from the claim.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Denominator: the standard error — the expected wobble.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Big |z| means the sample is hard to explain under H₀.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z = (xbar - mu0) / (sigma / sqrt(n))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def z_test(xbar, mu0, sigma, n):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se = sigma / np.sqrt(n)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z = (xbar - mu0) / 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p = 2 * (1 - stats.norm.cdf(abs(z)))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return z, 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statsmodels also has ztest() for raw data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axto  ·  AI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&amp; ML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Playgrou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nd  · 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Hafiz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Waseem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Ahmed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Worked Example: The IQ Supplement Claim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Claim: a supplement raises IQ above 100 (σ = 15).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36 users average 105.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H₀: μ = 100   H₁: μ ≠ 100   α = 0.05.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z = 5 / 2.5 = 2.0, p = 0.0455 &lt; 0.05 → reject H₀.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95% CI (100.1 to 109.9) excludes 100 — it agrees.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xbar, mu0, sigma, n = 105, 100, 15, 36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z, p = z_test(xbar, mu0, sigma, n)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print(round(z, 2), round(p, 4))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2.0  0.0455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se = sigma / np.sqrt(n)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print(stats.norm.interval(0.95, xbar, se))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(100.1, 109.9)  100 is outside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Decision: p &lt; 0.05  -&gt;  reject H0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Evidence of an effect; CI shows its size.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3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The Z-Test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z: x̄ = 52, μ₀ = 50, σ = 10, n = 25.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Is the result significant at α = 0.05? Find p with Python.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Rerun the IQ example with n = 100 and x̄ = 105. What changes?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does the confidence interval agree with the test decision?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Your Turn: Three Task Sets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Practise in Python — small steps, real numbers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3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Estimate &amp; Interval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Use numpy and scipy.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Create 15 exam scores. Compute the mean and standard error.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95% and a 99% confidence interval for the mean.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Compare the widths and explain the difference in one sentence.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a margin of error for a poll of 800 people with 45% support.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7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Hypothesis Setup &amp; p-Values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Write the hypotheses before computing.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Claim: the average delivery time is 30 min. Write H₀, H₁ and α.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critical values for one- and two-tailed tests.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z = 1.5, 2.2 and 2.8 compute two-tailed p-values and decide.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each decision in plain English, avoiding “accept H₀”.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1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Errors &amp; Power Simulation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Run the simulation from Part 5.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Estimate the Type I error rate with 10,000 simulated studies.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Estimate power for true means 102, 105 and 110 (n = 36).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Repeat with n = 100. Record how power changes.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Summarise the α, β and sample-size tradeoff in 3 sentences.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Test a Real Claim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✦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 complete hypothesis test from start to finish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Pick a claim with a known benchmark (e.g. “average sleep is 8 hours”).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Collect a sample of 30+ values from classmates, or find a public dataset.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State H₀, H₁, α; run the z-test in Python; build a 95% CI.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Write a 5-sentence conclusion: decision, p-value, CI, limits, one possible error type.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Starter Template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Fill in the blanks, then extend it with your own data.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Always state the hypotheses as comments first.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Report p, the CI and a plain-English conclusion.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716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H0: mu = ___   H1: mu != ___   alpha = 0.05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data = np.array([...])   # your sample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mu0, sigma = ___, ___    # known benchmark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n = len(data)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se = sigma / np.sqrt(n)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z = (data.mean() - mu0) / 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 = 2 * (1 - stats.norm.cdf(abs(z)))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ci = stats.norm.interval(0.95, data.mean(), se)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print(z, p, ci)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45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3"/>
          <p:cNvSpPr/>
          <p:nvPr/>
        </p:nvSpPr>
        <p:spPr>
          <a:xfrm>
            <a:off x="640080" y="137160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SESSION 21 COMPLETE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4"/>
          <p:cNvSpPr/>
          <p:nvPr/>
        </p:nvSpPr>
        <p:spPr>
          <a:xfrm>
            <a:off x="640080" y="178308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What You Can Do Now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5"/>
          <p:cNvSpPr/>
          <p:nvPr/>
        </p:nvSpPr>
        <p:spPr>
          <a:xfrm>
            <a:off x="640080" y="2926080"/>
            <a:ext cx="10058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Build and correctly interpret a confidence interval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Frame H₀, H₁ and α before seeing data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Read a p-value without the common myths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Explain Type I / Type II errors and power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Run a full Z-test in Python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6"/>
          <p:cNvSpPr/>
          <p:nvPr/>
        </p:nvSpPr>
        <p:spPr>
          <a:xfrm>
            <a:off x="640080" y="512064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Hanken Grotesk"/>
                <a:ea typeface="Hanken Grotesk"/>
              </a:rPr>
              <a:t>Next up — Session 22: Inferential Statistics II · “Which test do I use?”, t-tests, ANOVA, chi-square and A/B testing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2026-10-01T04:59:33Z</dcterms:created>
  <dc:creator>PptxGenJS</dc:creator>
  <dc:description/>
  <dc:language>en-US</dc:language>
  <cp:lastModifiedBy/>
  <dcterms:modified xsi:type="dcterms:W3CDTF">2026-10-01T20:42:37Z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On-screen Show (16:9)</vt:lpwstr>
  </property>
  <property fmtid="{D5CDD505-2E9C-101B-9397-08002B2CF9AE}" pid="4" name="Slides">
    <vt:i4>45</vt:i4>
  </property>
</Properties>
</file>