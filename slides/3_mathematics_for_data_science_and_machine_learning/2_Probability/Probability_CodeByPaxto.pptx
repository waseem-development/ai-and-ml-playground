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7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8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ebd1ebe-0229-3059-b2e4-7e196ec1fe1a}">
          <p14:sldIdLst>
            <p14:sldId id="256"/>
            <p14:sldId id="257"/>
            <p14:sldId id="258"/>
          </p14:sldIdLst>
        </p14:section>
        <p14:section name="Part 1 — Foundations" id="{a275a368-f037-b37a-7339-c5594120b6d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rt 2 — Combining Probabilities" id="{a842ed16-ef2c-4084-5607-2064ef5e0f49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art 3 — Conditional Probability &amp; Bayes" id="{dfe9222c-8cd5-1233-804c-b7a8af19dfd6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Part 4 — Distributions &amp; the CLT" id="{08f15bcc-57b1-0101-cdf6-32b8da65da46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Tasks &amp; Mini Project" id="{3497cc7c-0872-92a1-d2f9-6e70041ee3ed}">
          <p14:sldIdLst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Running proportion of heads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 of heads</c:v>
                </c:pt>
              </c:strCache>
            </c:strRef>
          </c:tx>
          <c:spPr>
            <a:solidFill>
              <a:srgbClr val="8C8AE0"/>
            </a:solidFill>
            <a:ln w="38100" cap="flat">
              <a:solidFill>
                <a:srgbClr val="8C8A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8AE0"/>
              </a:solidFill>
              <a:ln w="9525" cap="flat">
                <a:solidFill>
                  <a:srgbClr val="8C8A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500</c:v>
                  </c:pt>
                  <c:pt idx="6">
                    <c:v>1000</c:v>
                  </c:pt>
                  <c:pt idx="7">
                    <c:v>2000</c:v>
                  </c:pt>
                  <c:pt idx="8">
                    <c:v>5000</c:v>
                  </c:pt>
                  <c:pt idx="9">
                    <c:v>10000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</c:v>
                </c:pt>
                <c:pt idx="1">
                  <c:v>0.55</c:v>
                </c:pt>
                <c:pt idx="2">
                  <c:v>0.54</c:v>
                </c:pt>
                <c:pt idx="3">
                  <c:v>0.56</c:v>
                </c:pt>
                <c:pt idx="4">
                  <c:v>0.525</c:v>
                </c:pt>
                <c:pt idx="5">
                  <c:v>0.528</c:v>
                </c:pt>
                <c:pt idx="6">
                  <c:v>0.516</c:v>
                </c:pt>
                <c:pt idx="7">
                  <c:v>0.505</c:v>
                </c:pt>
                <c:pt idx="8">
                  <c:v>0.501</c:v>
                </c:pt>
                <c:pt idx="9">
                  <c:v>0.493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True P = 0.5</c:v>
                </c:pt>
              </c:strCache>
            </c:strRef>
          </c:tx>
          <c:spPr>
            <a:solidFill>
              <a:srgbClr val="2DD4BF"/>
            </a:solidFill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500</c:v>
                  </c:pt>
                  <c:pt idx="6">
                    <c:v>1000</c:v>
                  </c:pt>
                  <c:pt idx="7">
                    <c:v>2000</c:v>
                  </c:pt>
                  <c:pt idx="8">
                    <c:v>5000</c:v>
                  </c:pt>
                  <c:pt idx="9">
                    <c:v>10000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Number of flips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46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P(all heads) after n flips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P(all heads)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</c:v>
                </c:pt>
                <c:pt idx="1">
                  <c:v>0.25</c:v>
                </c:pt>
                <c:pt idx="2">
                  <c:v>0.125</c:v>
                </c:pt>
                <c:pt idx="3">
                  <c:v>0.0625</c:v>
                </c:pt>
                <c:pt idx="4">
                  <c:v>0.0312</c:v>
                </c:pt>
                <c:pt idx="5">
                  <c:v>0.0156</c:v>
                </c:pt>
                <c:pt idx="6">
                  <c:v>0.0078</c:v>
                </c:pt>
                <c:pt idx="7">
                  <c:v>0.0039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Number of flips in a row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P(disease | positive test) for a 95%-accurate test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P(disease | positive)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0.1%</c:v>
                  </c:pt>
                  <c:pt idx="1">
                    <c:v>1%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1.9</c:v>
                </c:pt>
                <c:pt idx="1">
                  <c:v>16.1</c:v>
                </c:pt>
                <c:pt idx="2">
                  <c:v>50</c:v>
                </c:pt>
                <c:pt idx="3">
                  <c:v>67.9</c:v>
                </c:pt>
                <c:pt idx="4">
                  <c:v>82.6</c:v>
                </c:pt>
                <c:pt idx="5">
                  <c:v>95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How common the disease is (the prior)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Uniform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0.16666666666666666</c:v>
                </c:pt>
                <c:pt idx="1">
                  <c:v>0.16666666666666666</c:v>
                </c:pt>
                <c:pt idx="2">
                  <c:v>0.16666666666666666</c:v>
                </c:pt>
                <c:pt idx="3">
                  <c:v>0.16666666666666666</c:v>
                </c:pt>
                <c:pt idx="4">
                  <c:v>0.16666666666666666</c:v>
                </c:pt>
                <c:pt idx="5">
                  <c:v>0.16666666666666666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Binomial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0.001</c:v>
                </c:pt>
                <c:pt idx="1">
                  <c:v>0.0098</c:v>
                </c:pt>
                <c:pt idx="2">
                  <c:v>0.0439</c:v>
                </c:pt>
                <c:pt idx="3">
                  <c:v>0.1172</c:v>
                </c:pt>
                <c:pt idx="4">
                  <c:v>0.2051</c:v>
                </c:pt>
                <c:pt idx="5">
                  <c:v>0.2461</c:v>
                </c:pt>
                <c:pt idx="6">
                  <c:v>0.2051</c:v>
                </c:pt>
                <c:pt idx="7">
                  <c:v>0.1172</c:v>
                </c:pt>
                <c:pt idx="8">
                  <c:v>0.0439</c:v>
                </c:pt>
                <c:pt idx="9">
                  <c:v>0.0098</c:v>
                </c:pt>
                <c:pt idx="10">
                  <c:v>0.001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 </c:v>
                  </c:pt>
                  <c:pt idx="1">
                    <c:v>-3</c:v>
                  </c:pt>
                  <c:pt idx="2">
                    <c:v> </c:v>
                  </c:pt>
                  <c:pt idx="3">
                    <c:v>-2</c:v>
                  </c:pt>
                  <c:pt idx="4">
                    <c:v> </c:v>
                  </c:pt>
                  <c:pt idx="5">
                    <c:v>-1</c:v>
                  </c:pt>
                  <c:pt idx="6">
                    <c:v> </c:v>
                  </c:pt>
                  <c:pt idx="7">
                    <c:v>0</c:v>
                  </c:pt>
                  <c:pt idx="8">
                    <c:v> </c:v>
                  </c:pt>
                  <c:pt idx="9">
                    <c:v>1</c:v>
                  </c:pt>
                  <c:pt idx="10">
                    <c:v> </c:v>
                  </c:pt>
                  <c:pt idx="11">
                    <c:v>2</c:v>
                  </c:pt>
                  <c:pt idx="12">
                    <c:v> </c:v>
                  </c:pt>
                  <c:pt idx="13">
                    <c:v>3</c:v>
                  </c:pt>
                  <c:pt idx="14">
                    <c:v> 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0.0009</c:v>
                </c:pt>
                <c:pt idx="1">
                  <c:v>0.0044</c:v>
                </c:pt>
                <c:pt idx="2">
                  <c:v>0.0175</c:v>
                </c:pt>
                <c:pt idx="3">
                  <c:v>0.054</c:v>
                </c:pt>
                <c:pt idx="4">
                  <c:v>0.1295</c:v>
                </c:pt>
                <c:pt idx="5">
                  <c:v>0.242</c:v>
                </c:pt>
                <c:pt idx="6">
                  <c:v>0.3521</c:v>
                </c:pt>
                <c:pt idx="7">
                  <c:v>0.3989</c:v>
                </c:pt>
                <c:pt idx="8">
                  <c:v>0.3521</c:v>
                </c:pt>
                <c:pt idx="9">
                  <c:v>0.242</c:v>
                </c:pt>
                <c:pt idx="10">
                  <c:v>0.1295</c:v>
                </c:pt>
                <c:pt idx="11">
                  <c:v>0.054</c:v>
                </c:pt>
                <c:pt idx="12">
                  <c:v>0.0175</c:v>
                </c:pt>
                <c:pt idx="13">
                  <c:v>0.0044</c:v>
                </c:pt>
                <c:pt idx="14">
                  <c:v>0.0009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P(X = k) for n = 10, p = 0.5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P(X = k)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0.001</c:v>
                </c:pt>
                <c:pt idx="1">
                  <c:v>0.0098</c:v>
                </c:pt>
                <c:pt idx="2">
                  <c:v>0.0439</c:v>
                </c:pt>
                <c:pt idx="3">
                  <c:v>0.1172</c:v>
                </c:pt>
                <c:pt idx="4">
                  <c:v>0.2051</c:v>
                </c:pt>
                <c:pt idx="5">
                  <c:v>0.2461</c:v>
                </c:pt>
                <c:pt idx="6">
                  <c:v>0.2051</c:v>
                </c:pt>
                <c:pt idx="7">
                  <c:v>0.1172</c:v>
                </c:pt>
                <c:pt idx="8">
                  <c:v>0.0439</c:v>
                </c:pt>
                <c:pt idx="9">
                  <c:v>0.0098</c:v>
                </c:pt>
                <c:pt idx="10">
                  <c:v>0.001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Number of heads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Standard normal curve (z-scores)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±1σ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Sheet1!$A$2:$A$34</c:f>
              <c:multiLvlStrCache>
                <c:ptCount val="33"/>
                <c:lvl>
                  <c:pt idx="0">
                    <c:v>-4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-3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-2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-1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0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3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4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0.3011</c:v>
                </c:pt>
                <c:pt idx="14">
                  <c:v>0.3521</c:v>
                </c:pt>
                <c:pt idx="15">
                  <c:v>0.3867</c:v>
                </c:pt>
                <c:pt idx="16">
                  <c:v>0.3989</c:v>
                </c:pt>
                <c:pt idx="17">
                  <c:v>0.3867</c:v>
                </c:pt>
                <c:pt idx="18">
                  <c:v>0.3521</c:v>
                </c:pt>
                <c:pt idx="19">
                  <c:v>0.3011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±1σ to ±2σ</c:v>
                </c:pt>
              </c:strCache>
            </c:strRef>
          </c:tx>
          <c:spPr>
            <a:solidFill>
              <a:srgbClr val="B9B8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Sheet1!$A$2:$A$34</c:f>
              <c:multiLvlStrCache>
                <c:ptCount val="33"/>
                <c:lvl>
                  <c:pt idx="0">
                    <c:v>-4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-3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-2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-1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0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3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4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0.0863</c:v>
                </c:pt>
                <c:pt idx="10">
                  <c:v>0.1295</c:v>
                </c:pt>
                <c:pt idx="11">
                  <c:v>0.1826</c:v>
                </c:pt>
                <c:pt idx="12">
                  <c:v>0.242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0.242</c:v>
                </c:pt>
                <c:pt idx="21">
                  <c:v>0.1826</c:v>
                </c:pt>
                <c:pt idx="22">
                  <c:v>0.1295</c:v>
                </c:pt>
                <c:pt idx="23">
                  <c:v>0.0863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±2σ to ±3σ</c:v>
                </c:pt>
              </c:strCache>
            </c:strRef>
          </c:tx>
          <c:spPr>
            <a:solidFill>
              <a:srgbClr val="D9D7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Sheet1!$A$2:$A$34</c:f>
              <c:multiLvlStrCache>
                <c:ptCount val="33"/>
                <c:lvl>
                  <c:pt idx="0">
                    <c:v>-4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-3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-2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-1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0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3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4</c:v>
                  </c:pt>
                </c:lvl>
              </c:multiLvlStrCache>
            </c:multiLvl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0.0091</c:v>
                </c:pt>
                <c:pt idx="6">
                  <c:v>0.0175</c:v>
                </c:pt>
                <c:pt idx="7">
                  <c:v>0.0317</c:v>
                </c:pt>
                <c:pt idx="8">
                  <c:v>0.054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0.054</c:v>
                </c:pt>
                <c:pt idx="25">
                  <c:v>0.0317</c:v>
                </c:pt>
                <c:pt idx="26">
                  <c:v>0.0175</c:v>
                </c:pt>
                <c:pt idx="27">
                  <c:v>0.0091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Beyond ±3σ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Sheet1!$A$2:$A$34</c:f>
              <c:multiLvlStrCache>
                <c:ptCount val="33"/>
                <c:lvl>
                  <c:pt idx="0">
                    <c:v>-4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-3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-2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-1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0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3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4</c:v>
                  </c:pt>
                </c:lvl>
              </c:multiLvlStrCache>
            </c:multiLvl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0.0001</c:v>
                </c:pt>
                <c:pt idx="1">
                  <c:v>0.0004</c:v>
                </c:pt>
                <c:pt idx="2">
                  <c:v>0.0009</c:v>
                </c:pt>
                <c:pt idx="3">
                  <c:v>0.002</c:v>
                </c:pt>
                <c:pt idx="4">
                  <c:v>0.0044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0.0044</c:v>
                </c:pt>
                <c:pt idx="29">
                  <c:v>0.002</c:v>
                </c:pt>
                <c:pt idx="30">
                  <c:v>0.0009</c:v>
                </c:pt>
                <c:pt idx="31">
                  <c:v>0.0004</c:v>
                </c:pt>
                <c:pt idx="32">
                  <c:v>0.0001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z-score (standard deviations from the mean)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46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 population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32.79</c:v>
                </c:pt>
                <c:pt idx="1">
                  <c:v>22.17</c:v>
                </c:pt>
                <c:pt idx="2">
                  <c:v>14.88</c:v>
                </c:pt>
                <c:pt idx="3">
                  <c:v>9.85</c:v>
                </c:pt>
                <c:pt idx="4">
                  <c:v>6.72</c:v>
                </c:pt>
                <c:pt idx="5">
                  <c:v>4.42</c:v>
                </c:pt>
                <c:pt idx="6">
                  <c:v>3.02</c:v>
                </c:pt>
                <c:pt idx="7">
                  <c:v>2</c:v>
                </c:pt>
                <c:pt idx="8">
                  <c:v>1.39</c:v>
                </c:pt>
                <c:pt idx="9">
                  <c:v>0.87</c:v>
                </c:pt>
                <c:pt idx="10">
                  <c:v>0.67</c:v>
                </c:pt>
                <c:pt idx="11">
                  <c:v>0.39</c:v>
                </c:pt>
                <c:pt idx="12">
                  <c:v>0.26</c:v>
                </c:pt>
                <c:pt idx="13">
                  <c:v>0.19</c:v>
                </c:pt>
                <c:pt idx="14">
                  <c:v>0.12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means, n = 5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0.27</c:v>
                </c:pt>
                <c:pt idx="1">
                  <c:v>5.03</c:v>
                </c:pt>
                <c:pt idx="2">
                  <c:v>13.43</c:v>
                </c:pt>
                <c:pt idx="3">
                  <c:v>18.47</c:v>
                </c:pt>
                <c:pt idx="4">
                  <c:v>18.8</c:v>
                </c:pt>
                <c:pt idx="5">
                  <c:v>16.73</c:v>
                </c:pt>
                <c:pt idx="6">
                  <c:v>10.2</c:v>
                </c:pt>
                <c:pt idx="7">
                  <c:v>6.73</c:v>
                </c:pt>
                <c:pt idx="8">
                  <c:v>4.27</c:v>
                </c:pt>
                <c:pt idx="9">
                  <c:v>2.93</c:v>
                </c:pt>
                <c:pt idx="10">
                  <c:v>1.47</c:v>
                </c:pt>
                <c:pt idx="11">
                  <c:v>0.83</c:v>
                </c:pt>
                <c:pt idx="12">
                  <c:v>0.53</c:v>
                </c:pt>
                <c:pt idx="13">
                  <c:v>0.1</c:v>
                </c:pt>
                <c:pt idx="14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means, n = 30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  <c:pt idx="9">
                    <c:v>13</c:v>
                  </c:pt>
                  <c:pt idx="10">
                    <c:v>14</c:v>
                  </c:pt>
                  <c:pt idx="11">
                    <c:v>15</c:v>
                  </c:pt>
                  <c:pt idx="12">
                    <c:v>16</c:v>
                  </c:pt>
                  <c:pt idx="13">
                    <c:v>17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0.33</c:v>
                </c:pt>
                <c:pt idx="2">
                  <c:v>3.23</c:v>
                </c:pt>
                <c:pt idx="3">
                  <c:v>10.03</c:v>
                </c:pt>
                <c:pt idx="4">
                  <c:v>16.57</c:v>
                </c:pt>
                <c:pt idx="5">
                  <c:v>20.47</c:v>
                </c:pt>
                <c:pt idx="6">
                  <c:v>19.77</c:v>
                </c:pt>
                <c:pt idx="7">
                  <c:v>14.9</c:v>
                </c:pt>
                <c:pt idx="8">
                  <c:v>8.13</c:v>
                </c:pt>
                <c:pt idx="9">
                  <c:v>4</c:v>
                </c:pt>
                <c:pt idx="10">
                  <c:v>1.87</c:v>
                </c:pt>
                <c:pt idx="11">
                  <c:v>0.47</c:v>
                </c:pt>
                <c:pt idx="12">
                  <c:v>0.13</c:v>
                </c:pt>
                <c:pt idx="13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20. Probability is the bridge between descriptive statistics (Sessions 18–19) and inferential statistics (Sessions 21–22).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concept today follows the same rhythm: explanation, then a picture, then a few lines of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for a time they said 'probably' — then show that probability makes that precise.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along the teal diagonal: 1+6, 2+5, 3+4, 4+3, 5+2, 6+1.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as standard error: more data, less wobble.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overlap: both circles include it, so a plain sum counts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Deciding whether events are independent is often the hardest judgement call in a real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Conditioning means: throw away every outcome where B is false, then count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for Bayes: a test gives P(positive | disease), but a patient needs P(disease | positive).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hypothesis (has the disease). B = evidence (tested positive).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Disease prevalence 1%, test sensitivity 95%, specificity 95%. Read left to right: split by disease, then by test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shape fits depends entirely on what you are measuring.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19's empirical rule, now stated as probabilities.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theorem is why Sessions 21 and 22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simulation: exponential population (mean 10), 3,000 samples at each size. Histograms show the share of means in each 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DARK_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_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ARK_END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2651760" cy="86227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1F5F9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13232" y="370332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94A3B8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5" name="Shape 0"/>
          <p:cNvSpPr/>
          <p:nvPr/>
        </p:nvSpPr>
        <p:spPr>
          <a:xfrm>
            <a:off x="713232" y="4572000"/>
            <a:ext cx="2926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713232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CodeByPaxto: The AI &amp; ML Playground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713232" y="5001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Hafiz Waseem Ahmed (Paxto)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1F5F9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94A3B8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78308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1F5F9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100584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0E7FF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2120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2DD4B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46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  ·  AI &amp; ML Playground  ·  Hafiz Waseem Ahmed (Paxto)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B1B2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ASKS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46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  ·  AI &amp; ML Playground  ·  Hafiz Waseem Ahmed (Paxto)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300" b="1" dirty="0">
                <a:solidFill>
                  <a:srgbClr val="1B1B20"/>
                </a:solidFill>
              </a:defRPr>
            </a:lvl1pPr>
          </a:lstStyle>
          <a:p>
            <a:pPr algn="l" indent="0" marL="0">
              <a:buNone/>
            </a:pPr>
            <a:endParaRPr lang="en-US" sz="23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i="1" dirty="0">
                <a:solidFill>
                  <a:srgbClr val="47465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ssion pill"/>
          <p:cNvSpPr/>
          <p:nvPr/>
        </p:nvSpPr>
        <p:spPr>
          <a:xfrm>
            <a:off x="713232" y="2331720"/>
            <a:ext cx="393192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Session label"/>
          <p:cNvSpPr txBox="1"/>
          <p:nvPr/>
        </p:nvSpPr>
        <p:spPr>
          <a:xfrm>
            <a:off x="713232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20  ·  AI &amp; ML PLAYGROUND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58368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Probability</a:t>
            </a:r>
            <a:endParaRPr lang="en-US" sz="4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3232" y="3703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Rules, Conditional Probability, Bayes’ Theorem &amp; the Central Limit Theorem — with Python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We’re Covering Today</a:t>
            </a:r>
            <a:endParaRPr lang="en-US" sz="2600" dirty="0"/>
          </a:p>
        </p:txBody>
      </p:sp>
      <p:sp>
        <p:nvSpPr>
          <p:cNvPr id="3" name="Row 1"/>
          <p:cNvSpPr/>
          <p:nvPr/>
        </p:nvSpPr>
        <p:spPr>
          <a:xfrm>
            <a:off x="548640" y="1371600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Row chip 1"/>
          <p:cNvSpPr/>
          <p:nvPr/>
        </p:nvSpPr>
        <p:spPr>
          <a:xfrm>
            <a:off x="731520" y="1517904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Row number 1"/>
          <p:cNvSpPr txBox="1"/>
          <p:nvPr/>
        </p:nvSpPr>
        <p:spPr>
          <a:xfrm>
            <a:off x="731520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Row text 1"/>
          <p:cNvSpPr txBox="1"/>
          <p:nvPr/>
        </p:nvSpPr>
        <p:spPr>
          <a:xfrm>
            <a:off x="1234440" y="137160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probability is — sample space, events and the basic rules</a:t>
            </a:r>
            <a:endParaRPr lang="en-US" sz="1400" dirty="0"/>
          </a:p>
        </p:txBody>
      </p:sp>
      <p:sp>
        <p:nvSpPr>
          <p:cNvPr id="7" name="Row 2"/>
          <p:cNvSpPr/>
          <p:nvPr/>
        </p:nvSpPr>
        <p:spPr>
          <a:xfrm>
            <a:off x="548640" y="2084832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2"/>
          <p:cNvSpPr/>
          <p:nvPr/>
        </p:nvSpPr>
        <p:spPr>
          <a:xfrm>
            <a:off x="731520" y="223113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2"/>
          <p:cNvSpPr txBox="1"/>
          <p:nvPr/>
        </p:nvSpPr>
        <p:spPr>
          <a:xfrm>
            <a:off x="73152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Row text 2"/>
          <p:cNvSpPr txBox="1"/>
          <p:nvPr/>
        </p:nvSpPr>
        <p:spPr>
          <a:xfrm>
            <a:off x="1234440" y="2084832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Combining probabilities — “or”, “and” and independence</a:t>
            </a:r>
            <a:endParaRPr lang="en-US" sz="1400" dirty="0"/>
          </a:p>
        </p:txBody>
      </p:sp>
      <p:sp>
        <p:nvSpPr>
          <p:cNvPr id="11" name="Row 3"/>
          <p:cNvSpPr/>
          <p:nvPr/>
        </p:nvSpPr>
        <p:spPr>
          <a:xfrm>
            <a:off x="548640" y="2798064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3"/>
          <p:cNvSpPr/>
          <p:nvPr/>
        </p:nvSpPr>
        <p:spPr>
          <a:xfrm>
            <a:off x="731520" y="294436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3"/>
          <p:cNvSpPr txBox="1"/>
          <p:nvPr/>
        </p:nvSpPr>
        <p:spPr>
          <a:xfrm>
            <a:off x="7315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Row text 3"/>
          <p:cNvSpPr txBox="1"/>
          <p:nvPr/>
        </p:nvSpPr>
        <p:spPr>
          <a:xfrm>
            <a:off x="1234440" y="2798064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Conditional probability — how new information changes the odds</a:t>
            </a:r>
            <a:endParaRPr lang="en-US" sz="1400" dirty="0"/>
          </a:p>
        </p:txBody>
      </p:sp>
      <p:sp>
        <p:nvSpPr>
          <p:cNvPr id="15" name="Row 4"/>
          <p:cNvSpPr/>
          <p:nvPr/>
        </p:nvSpPr>
        <p:spPr>
          <a:xfrm>
            <a:off x="548640" y="3511296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4"/>
          <p:cNvSpPr/>
          <p:nvPr/>
        </p:nvSpPr>
        <p:spPr>
          <a:xfrm>
            <a:off x="731520" y="365760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4"/>
          <p:cNvSpPr txBox="1"/>
          <p:nvPr/>
        </p:nvSpPr>
        <p:spPr>
          <a:xfrm>
            <a:off x="73152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Row text 4"/>
          <p:cNvSpPr txBox="1"/>
          <p:nvPr/>
        </p:nvSpPr>
        <p:spPr>
          <a:xfrm>
            <a:off x="1234440" y="3511296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Bayes’ Theorem — updating belief, and the medical-test paradox</a:t>
            </a:r>
            <a:endParaRPr lang="en-US" sz="1400" dirty="0"/>
          </a:p>
        </p:txBody>
      </p:sp>
      <p:sp>
        <p:nvSpPr>
          <p:cNvPr id="19" name="Row 5"/>
          <p:cNvSpPr/>
          <p:nvPr/>
        </p:nvSpPr>
        <p:spPr>
          <a:xfrm>
            <a:off x="548640" y="4224528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5"/>
          <p:cNvSpPr/>
          <p:nvPr/>
        </p:nvSpPr>
        <p:spPr>
          <a:xfrm>
            <a:off x="731520" y="4370832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5"/>
          <p:cNvSpPr txBox="1"/>
          <p:nvPr/>
        </p:nvSpPr>
        <p:spPr>
          <a:xfrm>
            <a:off x="73152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Row text 5"/>
          <p:cNvSpPr txBox="1"/>
          <p:nvPr/>
        </p:nvSpPr>
        <p:spPr>
          <a:xfrm>
            <a:off x="1234440" y="4224528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Distributions — Uniform, Binomial and Normal</a:t>
            </a:r>
            <a:endParaRPr lang="en-US" sz="1400" dirty="0"/>
          </a:p>
        </p:txBody>
      </p:sp>
      <p:sp>
        <p:nvSpPr>
          <p:cNvPr id="23" name="Row 6"/>
          <p:cNvSpPr/>
          <p:nvPr/>
        </p:nvSpPr>
        <p:spPr>
          <a:xfrm>
            <a:off x="548640" y="4937760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4" name="Row chip 6"/>
          <p:cNvSpPr/>
          <p:nvPr/>
        </p:nvSpPr>
        <p:spPr>
          <a:xfrm>
            <a:off x="731520" y="5084064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Row number 6"/>
          <p:cNvSpPr txBox="1"/>
          <p:nvPr/>
        </p:nvSpPr>
        <p:spPr>
          <a:xfrm>
            <a:off x="73152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Row text 6"/>
          <p:cNvSpPr txBox="1"/>
          <p:nvPr/>
        </p:nvSpPr>
        <p:spPr>
          <a:xfrm>
            <a:off x="1234440" y="493776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Central Limit Theorem — why inferential tests are allowed to work</a:t>
            </a:r>
            <a:endParaRPr lang="en-US" sz="1400" dirty="0"/>
          </a:p>
        </p:txBody>
      </p:sp>
      <p:sp>
        <p:nvSpPr>
          <p:cNvPr id="27" name="Row 7"/>
          <p:cNvSpPr/>
          <p:nvPr/>
        </p:nvSpPr>
        <p:spPr>
          <a:xfrm>
            <a:off x="548640" y="5650992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8" name="Row chip 7"/>
          <p:cNvSpPr/>
          <p:nvPr/>
        </p:nvSpPr>
        <p:spPr>
          <a:xfrm>
            <a:off x="731520" y="579729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Row number 7"/>
          <p:cNvSpPr txBox="1"/>
          <p:nvPr/>
        </p:nvSpPr>
        <p:spPr>
          <a:xfrm>
            <a:off x="731520" y="5797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Row text 7"/>
          <p:cNvSpPr txBox="1"/>
          <p:nvPr/>
        </p:nvSpPr>
        <p:spPr>
          <a:xfrm>
            <a:off x="1234440" y="5650992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 and a mini project: Bayes’ Theorem in a real decision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Python Setup for This Session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Three tools cover everything today: numpy, scipy and itertools (built in).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numpy simulates random events; scipy.stats gives exact probabilities.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snippet is small — copy, run, then change the numbers.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One-time install (in your terminal):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pip install numpy scipy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import numpy as np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from scipy import stats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import itertools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np.random.default_rng(42)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fixed seed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print(rng.integers(1, 7))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# a die roll: 1 to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Foundations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The vocabulary and the basic rules everything else builds 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Probability, Really?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number for uncertainty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probability is a number from 0 to 1: 0 means impossible, 1 means certain.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replaces vague words like “probably” with something you can calculate.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p-values, confidence levels and significance (Sessions 21–22) are all probability statements.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 already reason this way informally — today adds precise rules.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&amp; Events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possible outcome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sample space is the set of every possible outcome: 6 die faces, 2 coin sides, 52 cards.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 event is any subset you care about: “an even number”, “a heart”, “at least one head”.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With equally likely outcomes, a probability is just counting: favorable ÷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other rule today builds on this idea.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Picture: Two Dice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of 36 outcomes sum to 7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cell is one outcome; the number inside is the sum.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teal diagonal is the event “sum = 7”.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P(sum = 7) = 6/36 = 1/6 ≈ 0.167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No other sum can be made in as many ways.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55A7"/>
                </a:solidFill>
              </a:rPr>
              <a:t>Two dice: all 36 outcomes</a:t>
            </a:r>
            <a:endParaRPr lang="en-US" sz="1400" dirty="0"/>
          </a:p>
        </p:txBody>
      </p:sp>
      <p:sp>
        <p:nvSpPr>
          <p:cNvPr id="9" name="Die 1 label 1"/>
          <p:cNvSpPr txBox="1"/>
          <p:nvPr/>
        </p:nvSpPr>
        <p:spPr>
          <a:xfrm>
            <a:off x="2468880" y="248716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Die 2 label 1"/>
          <p:cNvSpPr txBox="1"/>
          <p:nvPr/>
        </p:nvSpPr>
        <p:spPr>
          <a:xfrm>
            <a:off x="2880360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Dice cell 1-1"/>
          <p:cNvSpPr/>
          <p:nvPr/>
        </p:nvSpPr>
        <p:spPr>
          <a:xfrm>
            <a:off x="2907792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Dice cell 1-2"/>
          <p:cNvSpPr/>
          <p:nvPr/>
        </p:nvSpPr>
        <p:spPr>
          <a:xfrm>
            <a:off x="3438144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Dice cell 1-3"/>
          <p:cNvSpPr/>
          <p:nvPr/>
        </p:nvSpPr>
        <p:spPr>
          <a:xfrm>
            <a:off x="3968496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Dice cell 1-4"/>
          <p:cNvSpPr/>
          <p:nvPr/>
        </p:nvSpPr>
        <p:spPr>
          <a:xfrm>
            <a:off x="4498848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Dice cell 1-5"/>
          <p:cNvSpPr/>
          <p:nvPr/>
        </p:nvSpPr>
        <p:spPr>
          <a:xfrm>
            <a:off x="5029200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16" name="Dice cell 1-6"/>
          <p:cNvSpPr/>
          <p:nvPr/>
        </p:nvSpPr>
        <p:spPr>
          <a:xfrm>
            <a:off x="5559552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17" name="Die 1 label 2"/>
          <p:cNvSpPr txBox="1"/>
          <p:nvPr/>
        </p:nvSpPr>
        <p:spPr>
          <a:xfrm>
            <a:off x="2468880" y="30175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Die 2 label 2"/>
          <p:cNvSpPr txBox="1"/>
          <p:nvPr/>
        </p:nvSpPr>
        <p:spPr>
          <a:xfrm>
            <a:off x="3410712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Dice cell 2-1"/>
          <p:cNvSpPr/>
          <p:nvPr/>
        </p:nvSpPr>
        <p:spPr>
          <a:xfrm>
            <a:off x="2907792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Dice cell 2-2"/>
          <p:cNvSpPr/>
          <p:nvPr/>
        </p:nvSpPr>
        <p:spPr>
          <a:xfrm>
            <a:off x="3438144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Dice cell 2-3"/>
          <p:cNvSpPr/>
          <p:nvPr/>
        </p:nvSpPr>
        <p:spPr>
          <a:xfrm>
            <a:off x="3968496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Dice cell 2-4"/>
          <p:cNvSpPr/>
          <p:nvPr/>
        </p:nvSpPr>
        <p:spPr>
          <a:xfrm>
            <a:off x="4498848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Dice cell 2-5"/>
          <p:cNvSpPr/>
          <p:nvPr/>
        </p:nvSpPr>
        <p:spPr>
          <a:xfrm>
            <a:off x="5029200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Dice cell 2-6"/>
          <p:cNvSpPr/>
          <p:nvPr/>
        </p:nvSpPr>
        <p:spPr>
          <a:xfrm>
            <a:off x="5559552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25" name="Die 1 label 3"/>
          <p:cNvSpPr txBox="1"/>
          <p:nvPr/>
        </p:nvSpPr>
        <p:spPr>
          <a:xfrm>
            <a:off x="2468880" y="3547872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Die 2 label 3"/>
          <p:cNvSpPr txBox="1"/>
          <p:nvPr/>
        </p:nvSpPr>
        <p:spPr>
          <a:xfrm>
            <a:off x="3941064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Dice cell 3-1"/>
          <p:cNvSpPr/>
          <p:nvPr/>
        </p:nvSpPr>
        <p:spPr>
          <a:xfrm>
            <a:off x="2907792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Dice cell 3-2"/>
          <p:cNvSpPr/>
          <p:nvPr/>
        </p:nvSpPr>
        <p:spPr>
          <a:xfrm>
            <a:off x="3438144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Dice cell 3-3"/>
          <p:cNvSpPr/>
          <p:nvPr/>
        </p:nvSpPr>
        <p:spPr>
          <a:xfrm>
            <a:off x="3968496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Dice cell 3-4"/>
          <p:cNvSpPr/>
          <p:nvPr/>
        </p:nvSpPr>
        <p:spPr>
          <a:xfrm>
            <a:off x="4498848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Dice cell 3-5"/>
          <p:cNvSpPr/>
          <p:nvPr/>
        </p:nvSpPr>
        <p:spPr>
          <a:xfrm>
            <a:off x="5029200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32" name="Dice cell 3-6"/>
          <p:cNvSpPr/>
          <p:nvPr/>
        </p:nvSpPr>
        <p:spPr>
          <a:xfrm>
            <a:off x="5559552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33" name="Die 1 label 4"/>
          <p:cNvSpPr txBox="1"/>
          <p:nvPr/>
        </p:nvSpPr>
        <p:spPr>
          <a:xfrm>
            <a:off x="2468880" y="4078224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Die 2 label 4"/>
          <p:cNvSpPr txBox="1"/>
          <p:nvPr/>
        </p:nvSpPr>
        <p:spPr>
          <a:xfrm>
            <a:off x="4471416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Dice cell 4-1"/>
          <p:cNvSpPr/>
          <p:nvPr/>
        </p:nvSpPr>
        <p:spPr>
          <a:xfrm>
            <a:off x="2907792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Dice cell 4-2"/>
          <p:cNvSpPr/>
          <p:nvPr/>
        </p:nvSpPr>
        <p:spPr>
          <a:xfrm>
            <a:off x="3438144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Dice cell 4-3"/>
          <p:cNvSpPr/>
          <p:nvPr/>
        </p:nvSpPr>
        <p:spPr>
          <a:xfrm>
            <a:off x="3968496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Dice cell 4-4"/>
          <p:cNvSpPr/>
          <p:nvPr/>
        </p:nvSpPr>
        <p:spPr>
          <a:xfrm>
            <a:off x="4498848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39" name="Dice cell 4-5"/>
          <p:cNvSpPr/>
          <p:nvPr/>
        </p:nvSpPr>
        <p:spPr>
          <a:xfrm>
            <a:off x="5029200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40" name="Dice cell 4-6"/>
          <p:cNvSpPr/>
          <p:nvPr/>
        </p:nvSpPr>
        <p:spPr>
          <a:xfrm>
            <a:off x="5559552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Die 1 label 5"/>
          <p:cNvSpPr txBox="1"/>
          <p:nvPr/>
        </p:nvSpPr>
        <p:spPr>
          <a:xfrm>
            <a:off x="2468880" y="4608576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Die 2 label 5"/>
          <p:cNvSpPr txBox="1"/>
          <p:nvPr/>
        </p:nvSpPr>
        <p:spPr>
          <a:xfrm>
            <a:off x="5001768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Dice cell 5-1"/>
          <p:cNvSpPr/>
          <p:nvPr/>
        </p:nvSpPr>
        <p:spPr>
          <a:xfrm>
            <a:off x="2907792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Dice cell 5-2"/>
          <p:cNvSpPr/>
          <p:nvPr/>
        </p:nvSpPr>
        <p:spPr>
          <a:xfrm>
            <a:off x="3438144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45" name="Dice cell 5-3"/>
          <p:cNvSpPr/>
          <p:nvPr/>
        </p:nvSpPr>
        <p:spPr>
          <a:xfrm>
            <a:off x="3968496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46" name="Dice cell 5-4"/>
          <p:cNvSpPr/>
          <p:nvPr/>
        </p:nvSpPr>
        <p:spPr>
          <a:xfrm>
            <a:off x="4498848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47" name="Dice cell 5-5"/>
          <p:cNvSpPr/>
          <p:nvPr/>
        </p:nvSpPr>
        <p:spPr>
          <a:xfrm>
            <a:off x="5029200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48" name="Dice cell 5-6"/>
          <p:cNvSpPr/>
          <p:nvPr/>
        </p:nvSpPr>
        <p:spPr>
          <a:xfrm>
            <a:off x="5559552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11</a:t>
            </a:r>
            <a:endParaRPr lang="en-US" sz="1300" dirty="0"/>
          </a:p>
        </p:txBody>
      </p:sp>
      <p:sp>
        <p:nvSpPr>
          <p:cNvPr id="49" name="Die 1 label 6"/>
          <p:cNvSpPr txBox="1"/>
          <p:nvPr/>
        </p:nvSpPr>
        <p:spPr>
          <a:xfrm>
            <a:off x="2468880" y="513892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6</a:t>
            </a:r>
            <a:endParaRPr lang="en-US" sz="1200" dirty="0"/>
          </a:p>
        </p:txBody>
      </p:sp>
      <p:sp>
        <p:nvSpPr>
          <p:cNvPr id="50" name="Die 2 label 6"/>
          <p:cNvSpPr txBox="1"/>
          <p:nvPr/>
        </p:nvSpPr>
        <p:spPr>
          <a:xfrm>
            <a:off x="5532120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6</a:t>
            </a:r>
            <a:endParaRPr lang="en-US" sz="1200" dirty="0"/>
          </a:p>
        </p:txBody>
      </p:sp>
      <p:sp>
        <p:nvSpPr>
          <p:cNvPr id="51" name="Dice cell 6-1"/>
          <p:cNvSpPr/>
          <p:nvPr/>
        </p:nvSpPr>
        <p:spPr>
          <a:xfrm>
            <a:off x="2907792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52" name="Dice cell 6-2"/>
          <p:cNvSpPr/>
          <p:nvPr/>
        </p:nvSpPr>
        <p:spPr>
          <a:xfrm>
            <a:off x="3438144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Dice cell 6-3"/>
          <p:cNvSpPr/>
          <p:nvPr/>
        </p:nvSpPr>
        <p:spPr>
          <a:xfrm>
            <a:off x="3968496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54" name="Dice cell 6-4"/>
          <p:cNvSpPr/>
          <p:nvPr/>
        </p:nvSpPr>
        <p:spPr>
          <a:xfrm>
            <a:off x="4498848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55" name="Dice cell 6-5"/>
          <p:cNvSpPr/>
          <p:nvPr/>
        </p:nvSpPr>
        <p:spPr>
          <a:xfrm>
            <a:off x="5029200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11</a:t>
            </a:r>
            <a:endParaRPr lang="en-US" sz="1300" dirty="0"/>
          </a:p>
        </p:txBody>
      </p:sp>
      <p:sp>
        <p:nvSpPr>
          <p:cNvPr id="56" name="Dice cell 6-6"/>
          <p:cNvSpPr/>
          <p:nvPr/>
        </p:nvSpPr>
        <p:spPr>
          <a:xfrm>
            <a:off x="5559552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12</a:t>
            </a:r>
            <a:endParaRPr lang="en-US" sz="1300" dirty="0"/>
          </a:p>
        </p:txBody>
      </p:sp>
      <p:sp>
        <p:nvSpPr>
          <p:cNvPr id="57" name="Grid caption"/>
          <p:cNvSpPr txBox="1"/>
          <p:nvPr/>
        </p:nvSpPr>
        <p:spPr>
          <a:xfrm>
            <a:off x="777240" y="56692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rows = die 1  ·  columns = die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itertools.product lists every outcome of a repeated experiment.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 event is just a filter on that list.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Probability = len(event) / len(space).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import itertools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dice = list(itertools.product(range(1, 7), repeat=2))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print(len(dice))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 # 36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sum7 = [d for d in dice if sum(d) == 7]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print(len(sum7))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 # 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print(round(len(sum7) / len(dice),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0.1667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Probability Is Counting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equally likely outcomes: P(event) = favorable ÷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Always between 0 and 1 — an answer like 1.4 means a mistake.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Complement rule: P(not A) = 1 − P(A).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P(event) = favorable / total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die = [1, 2, 3, 4, 5, 6]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even = [x for x in die if x % 2 == 0]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p_even = len(even) / len(die)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print(p_even)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    # 0.5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complement rule: P(not A) = 1 - P(A)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print(1 - p_even)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# 0.5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Probability as Long-Run Frequency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More flips, steadier answer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After 10 flips: 70% heads. After 10,000 flips: 49.3%.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Probability is the value the proportion settles toward as trials grow.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This is the Law of Large Numbers.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Small samples are noisy — remember this in Sessions 21–22.</a:t>
            </a:r>
            <a:endParaRPr lang="en-US" sz="1400" dirty="0"/>
          </a:p>
        </p:txBody>
      </p:sp>
      <p:graphicFrame>
        <p:nvGraphicFramePr>
          <p:cNvPr id="8" name="Running proportion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Simulating a Coin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numpy draws random flips: 1 = heads, 0 = tails.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mean of the flips is the proportion of heads.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Bigger n → closer to the true 0.5.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np.random.default_rng(7)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flips = rng.integers(0, 2, size=10_000)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# 1 = heads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for n in [10, 100, 1000, 10_000]: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print(n, flips[:n].mean())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     0.7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100    0.56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1000   0.516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10000  0.4926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Foundations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the full sample space for flipping two coins.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P(drawing a King) from a 52-card deck, then P(not a King).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Why would a probability of 1.4 signal a mistake in a calculation?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Python: use itertools to find P(sum = 8) for two dice.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Combining Probabilities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Real questions involve more than one event — here is how “or” and “and”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Addition Rule — “OR”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Mutually exclusive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events can never happen together.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Just add: P(A or B) = P(A) + P(B).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Example: a 2 or a 5 on one die → 1/6 + 1/6 = 1/3.</a:t>
            </a:r>
            <a:endParaRPr lang="en-US" sz="1600" dirty="0"/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Overlapping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events can happen together.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Subtract the overlap: P(A or B) = P(A) + P(B) − P(A and B).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Example: a heart or a King → 13/52 + 4/52 − 1/52 = 16/52.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Overlap Is Counted Twice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or B) = 0.6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P(A) = 0.4, P(B) = 0.3, P(A and B) = 0.1.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Adding 0.4 + 0.3 counts the overlap twice.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Subtract it once: 0.4 + 0.3 − 0.1 = 0.6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number in the picture is the probability of that region.</a:t>
            </a:r>
            <a:endParaRPr lang="en-US" sz="1400" dirty="0"/>
          </a:p>
        </p:txBody>
      </p:sp>
      <p:sp>
        <p:nvSpPr>
          <p:cNvPr id="8" name="Sample space box"/>
          <p:cNvSpPr/>
          <p:nvPr/>
        </p:nvSpPr>
        <p:spPr>
          <a:xfrm>
            <a:off x="914400" y="2103120"/>
            <a:ext cx="6492240" cy="3520440"/>
          </a:xfrm>
          <a:prstGeom prst="roundRect">
            <a:avLst>
              <a:gd name="adj" fmla="val 2597"/>
            </a:avLst>
          </a:prstGeom>
          <a:solidFill>
            <a:srgbClr val="F6F4FF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 label"/>
          <p:cNvSpPr txBox="1"/>
          <p:nvPr/>
        </p:nvSpPr>
        <p:spPr>
          <a:xfrm>
            <a:off x="105156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S  (sample space)</a:t>
            </a:r>
            <a:endParaRPr lang="en-US" sz="1200" dirty="0"/>
          </a:p>
        </p:txBody>
      </p:sp>
      <p:sp>
        <p:nvSpPr>
          <p:cNvPr id="10" name="Circle A"/>
          <p:cNvSpPr/>
          <p:nvPr/>
        </p:nvSpPr>
        <p:spPr>
          <a:xfrm>
            <a:off x="2011680" y="251460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Circle B"/>
          <p:cNvSpPr/>
          <p:nvPr/>
        </p:nvSpPr>
        <p:spPr>
          <a:xfrm>
            <a:off x="3749040" y="2514600"/>
            <a:ext cx="2560320" cy="256032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Venn A"/>
          <p:cNvSpPr txBox="1"/>
          <p:nvPr/>
        </p:nvSpPr>
        <p:spPr>
          <a:xfrm>
            <a:off x="228600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Venn 0.3"/>
          <p:cNvSpPr txBox="1"/>
          <p:nvPr/>
        </p:nvSpPr>
        <p:spPr>
          <a:xfrm>
            <a:off x="228600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0.3</a:t>
            </a:r>
            <a:endParaRPr lang="en-US" sz="2200" dirty="0"/>
          </a:p>
        </p:txBody>
      </p:sp>
      <p:sp>
        <p:nvSpPr>
          <p:cNvPr id="14" name="Venn A ∩ B"/>
          <p:cNvSpPr txBox="1"/>
          <p:nvPr/>
        </p:nvSpPr>
        <p:spPr>
          <a:xfrm>
            <a:off x="3749040" y="3429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∩ B</a:t>
            </a:r>
            <a:endParaRPr lang="en-US" sz="1200" dirty="0"/>
          </a:p>
        </p:txBody>
      </p:sp>
      <p:sp>
        <p:nvSpPr>
          <p:cNvPr id="15" name="Venn 0.1"/>
          <p:cNvSpPr txBox="1"/>
          <p:nvPr/>
        </p:nvSpPr>
        <p:spPr>
          <a:xfrm>
            <a:off x="374904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0.1</a:t>
            </a:r>
            <a:endParaRPr lang="en-US" sz="2000" dirty="0"/>
          </a:p>
        </p:txBody>
      </p:sp>
      <p:sp>
        <p:nvSpPr>
          <p:cNvPr id="16" name="Venn B"/>
          <p:cNvSpPr txBox="1"/>
          <p:nvPr/>
        </p:nvSpPr>
        <p:spPr>
          <a:xfrm>
            <a:off x="475488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Venn 0.2"/>
          <p:cNvSpPr txBox="1"/>
          <p:nvPr/>
        </p:nvSpPr>
        <p:spPr>
          <a:xfrm>
            <a:off x="475488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0.2</a:t>
            </a:r>
            <a:endParaRPr lang="en-US" sz="2200" dirty="0"/>
          </a:p>
        </p:txBody>
      </p:sp>
      <p:sp>
        <p:nvSpPr>
          <p:cNvPr id="18" name="Venn caption"/>
          <p:cNvSpPr txBox="1"/>
          <p:nvPr/>
        </p:nvSpPr>
        <p:spPr>
          <a:xfrm>
            <a:off x="1051560" y="5166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P(A) = 0.3 + 0.1 = 0.4     P(B) = 0.2 + 0.1 = 0.3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Addition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overlap → plain addition.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Overlap → subtract the shared part once.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Whenever you can, check against counting a real deck.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No overlap: a 2 OR a 5 on one die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 = 1/6 + 1/6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# 0.333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Overlap: a heart OR a King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p_heart, p_king, p_both = 13/52, 4/52, 1/52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p_or = p_heart + p_king - p_both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print(round(p_or,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# 0.308  (= 16/52)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Multiplication Rule — “AND”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Both must happen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gives the probability that A and B both happen.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independent events, multiply: P(A and B) = P(A) × P(B).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Two heads in a row: 0.5 × 0.5 = 0.25.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extra requirement shrinks the probability.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Probabilities Shrink Fast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heads in a row: 0.4%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extra flip multiplies the chance by 0.5.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8 in a row is 1 in 256.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Asking for more things to happen together makes the whole less likely.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Rare chains are rarer than they feel.</a:t>
            </a:r>
            <a:endParaRPr lang="en-US" sz="1400" dirty="0"/>
          </a:p>
        </p:txBody>
      </p:sp>
      <p:graphicFrame>
        <p:nvGraphicFramePr>
          <p:cNvPr id="7" name="Shrinking probability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Multiplication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Independent events: multiply the individual probabilities.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simulation is a good sanity check on the maths.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100,000 trials land very close to 0.25.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Two heads in a row (independent)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print(0.5 * 0.5)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 # 0.25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A 6 on a die, then an Ace from a deck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print(round((1/6) * (4/52),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0.0128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Check the first one by simulation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np.random.default_rng(1)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a = rng.integers(0, 2, 100_000)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b = rng.integers(0, 2, 100_000)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print(((a + b) == 2).mean())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0.24955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vs. Dependent Events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Independent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event has no effect on the other.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Examples: separate coin flips, two different dice.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Multiply directly: P(A) × P(B).</a:t>
            </a:r>
            <a:endParaRPr lang="en-US" sz="1600" dirty="0"/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Dependent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event changes the other’s probability.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Example: drawing cards without replacement.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conditional probability — coming up in Part 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Without Replacement: Two Aces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After one Ace is drawn, only 3 Aces are left in 51 cards.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 the second draw depends on the first.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Treating it as independent gives a wrong answer.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Two Aces in a row, WITHOUT replacement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p_first  = 4 / 52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p_second = 3 / 51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# one Ace is already gone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print(round(p_first * p_second,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0.0045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Wrong: pretending the draws are independent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print(round((4/52) ** 2,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# 0.0059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Combining Probabilities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P(drawing a heart OR a spade) from a standard deck.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P(rolling a 3 on one die AND flipping heads on one coin).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 “it rains today” and “traffic is heavy today” independent or dependent? Why?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P(A) = 0.4, P(B) = 0.3, P(A and B) = 0.1. Find P(A or B) in Python.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Conditional Probability &amp; Bayes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What happens to a probability once you learn something new — the most useful idea in this session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Conditional Probability?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Given this, what about that?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P(A | B) is the probability of A, given that B already happened.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bar means “given” — it is not division.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New information changes probabilities: rain is likelier given dark clouds.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Bayes’ Theorem is built entirely on this idea.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Given a Face Card, the Deck Shrinks to 12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P(King | face card)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Given: the card is a face card.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sample space shrinks from 52 cards to 12.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4 of those 12 are Kings.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 = 4/12 = 1/3 ≈ 0.333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With no information, P(King) is only 4/52 ≈ 0.077.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55A7"/>
                </a:solidFill>
              </a:rPr>
              <a:t>A standard 52-card deck: 13 ranks × 4 suits</a:t>
            </a:r>
            <a:endParaRPr lang="en-US" sz="1400" dirty="0"/>
          </a:p>
        </p:txBody>
      </p:sp>
      <p:sp>
        <p:nvSpPr>
          <p:cNvPr id="9" name="Suit ♠"/>
          <p:cNvSpPr txBox="1"/>
          <p:nvPr/>
        </p:nvSpPr>
        <p:spPr>
          <a:xfrm>
            <a:off x="1280160" y="23317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800" dirty="0"/>
          </a:p>
        </p:txBody>
      </p:sp>
      <p:sp>
        <p:nvSpPr>
          <p:cNvPr id="10" name="Card A♠"/>
          <p:cNvSpPr/>
          <p:nvPr/>
        </p:nvSpPr>
        <p:spPr>
          <a:xfrm>
            <a:off x="1737360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A</a:t>
            </a:r>
            <a:endParaRPr lang="en-US" sz="1100" dirty="0"/>
          </a:p>
        </p:txBody>
      </p:sp>
      <p:sp>
        <p:nvSpPr>
          <p:cNvPr id="11" name="Card 2♠"/>
          <p:cNvSpPr/>
          <p:nvPr/>
        </p:nvSpPr>
        <p:spPr>
          <a:xfrm>
            <a:off x="2176272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rd 3♠"/>
          <p:cNvSpPr/>
          <p:nvPr/>
        </p:nvSpPr>
        <p:spPr>
          <a:xfrm>
            <a:off x="2615184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Card 4♠"/>
          <p:cNvSpPr/>
          <p:nvPr/>
        </p:nvSpPr>
        <p:spPr>
          <a:xfrm>
            <a:off x="3054096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Card 5♠"/>
          <p:cNvSpPr/>
          <p:nvPr/>
        </p:nvSpPr>
        <p:spPr>
          <a:xfrm>
            <a:off x="3493008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5</a:t>
            </a:r>
            <a:endParaRPr lang="en-US" sz="1100" dirty="0"/>
          </a:p>
        </p:txBody>
      </p:sp>
      <p:sp>
        <p:nvSpPr>
          <p:cNvPr id="15" name="Card 6♠"/>
          <p:cNvSpPr/>
          <p:nvPr/>
        </p:nvSpPr>
        <p:spPr>
          <a:xfrm>
            <a:off x="3931920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6</a:t>
            </a:r>
            <a:endParaRPr lang="en-US" sz="1100" dirty="0"/>
          </a:p>
        </p:txBody>
      </p:sp>
      <p:sp>
        <p:nvSpPr>
          <p:cNvPr id="16" name="Card 7♠"/>
          <p:cNvSpPr/>
          <p:nvPr/>
        </p:nvSpPr>
        <p:spPr>
          <a:xfrm>
            <a:off x="4370832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7</a:t>
            </a:r>
            <a:endParaRPr lang="en-US" sz="1100" dirty="0"/>
          </a:p>
        </p:txBody>
      </p:sp>
      <p:sp>
        <p:nvSpPr>
          <p:cNvPr id="17" name="Card 8♠"/>
          <p:cNvSpPr/>
          <p:nvPr/>
        </p:nvSpPr>
        <p:spPr>
          <a:xfrm>
            <a:off x="4809744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8</a:t>
            </a:r>
            <a:endParaRPr lang="en-US" sz="1100" dirty="0"/>
          </a:p>
        </p:txBody>
      </p:sp>
      <p:sp>
        <p:nvSpPr>
          <p:cNvPr id="18" name="Card 9♠"/>
          <p:cNvSpPr/>
          <p:nvPr/>
        </p:nvSpPr>
        <p:spPr>
          <a:xfrm>
            <a:off x="5248656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9</a:t>
            </a:r>
            <a:endParaRPr lang="en-US" sz="1100" dirty="0"/>
          </a:p>
        </p:txBody>
      </p:sp>
      <p:sp>
        <p:nvSpPr>
          <p:cNvPr id="19" name="Card 10♠"/>
          <p:cNvSpPr/>
          <p:nvPr/>
        </p:nvSpPr>
        <p:spPr>
          <a:xfrm>
            <a:off x="5687568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10</a:t>
            </a:r>
            <a:endParaRPr lang="en-US" sz="1100" dirty="0"/>
          </a:p>
        </p:txBody>
      </p:sp>
      <p:sp>
        <p:nvSpPr>
          <p:cNvPr id="20" name="Card J♠"/>
          <p:cNvSpPr/>
          <p:nvPr/>
        </p:nvSpPr>
        <p:spPr>
          <a:xfrm>
            <a:off x="6126480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</a:t>
            </a:r>
            <a:endParaRPr lang="en-US" sz="1100" dirty="0"/>
          </a:p>
        </p:txBody>
      </p:sp>
      <p:sp>
        <p:nvSpPr>
          <p:cNvPr id="21" name="Card Q♠"/>
          <p:cNvSpPr/>
          <p:nvPr/>
        </p:nvSpPr>
        <p:spPr>
          <a:xfrm>
            <a:off x="6565392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22" name="Card K♠"/>
          <p:cNvSpPr/>
          <p:nvPr/>
        </p:nvSpPr>
        <p:spPr>
          <a:xfrm>
            <a:off x="7004304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K</a:t>
            </a:r>
            <a:endParaRPr lang="en-US" sz="1100" dirty="0"/>
          </a:p>
        </p:txBody>
      </p:sp>
      <p:sp>
        <p:nvSpPr>
          <p:cNvPr id="23" name="Suit ♥"/>
          <p:cNvSpPr txBox="1"/>
          <p:nvPr/>
        </p:nvSpPr>
        <p:spPr>
          <a:xfrm>
            <a:off x="1280160" y="2770632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800" dirty="0"/>
          </a:p>
        </p:txBody>
      </p:sp>
      <p:sp>
        <p:nvSpPr>
          <p:cNvPr id="24" name="Card A♥"/>
          <p:cNvSpPr/>
          <p:nvPr/>
        </p:nvSpPr>
        <p:spPr>
          <a:xfrm>
            <a:off x="1737360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A</a:t>
            </a:r>
            <a:endParaRPr lang="en-US" sz="1100" dirty="0"/>
          </a:p>
        </p:txBody>
      </p:sp>
      <p:sp>
        <p:nvSpPr>
          <p:cNvPr id="25" name="Card 2♥"/>
          <p:cNvSpPr/>
          <p:nvPr/>
        </p:nvSpPr>
        <p:spPr>
          <a:xfrm>
            <a:off x="2176272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Card 3♥"/>
          <p:cNvSpPr/>
          <p:nvPr/>
        </p:nvSpPr>
        <p:spPr>
          <a:xfrm>
            <a:off x="2615184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Card 4♥"/>
          <p:cNvSpPr/>
          <p:nvPr/>
        </p:nvSpPr>
        <p:spPr>
          <a:xfrm>
            <a:off x="3054096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Card 5♥"/>
          <p:cNvSpPr/>
          <p:nvPr/>
        </p:nvSpPr>
        <p:spPr>
          <a:xfrm>
            <a:off x="3493008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Card 6♥"/>
          <p:cNvSpPr/>
          <p:nvPr/>
        </p:nvSpPr>
        <p:spPr>
          <a:xfrm>
            <a:off x="3931920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Card 7♥"/>
          <p:cNvSpPr/>
          <p:nvPr/>
        </p:nvSpPr>
        <p:spPr>
          <a:xfrm>
            <a:off x="4370832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7</a:t>
            </a:r>
            <a:endParaRPr lang="en-US" sz="1100" dirty="0"/>
          </a:p>
        </p:txBody>
      </p:sp>
      <p:sp>
        <p:nvSpPr>
          <p:cNvPr id="31" name="Card 8♥"/>
          <p:cNvSpPr/>
          <p:nvPr/>
        </p:nvSpPr>
        <p:spPr>
          <a:xfrm>
            <a:off x="4809744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8</a:t>
            </a:r>
            <a:endParaRPr lang="en-US" sz="1100" dirty="0"/>
          </a:p>
        </p:txBody>
      </p:sp>
      <p:sp>
        <p:nvSpPr>
          <p:cNvPr id="32" name="Card 9♥"/>
          <p:cNvSpPr/>
          <p:nvPr/>
        </p:nvSpPr>
        <p:spPr>
          <a:xfrm>
            <a:off x="5248656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9</a:t>
            </a:r>
            <a:endParaRPr lang="en-US" sz="1100" dirty="0"/>
          </a:p>
        </p:txBody>
      </p:sp>
      <p:sp>
        <p:nvSpPr>
          <p:cNvPr id="33" name="Card 10♥"/>
          <p:cNvSpPr/>
          <p:nvPr/>
        </p:nvSpPr>
        <p:spPr>
          <a:xfrm>
            <a:off x="5687568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10</a:t>
            </a:r>
            <a:endParaRPr lang="en-US" sz="1100" dirty="0"/>
          </a:p>
        </p:txBody>
      </p:sp>
      <p:sp>
        <p:nvSpPr>
          <p:cNvPr id="34" name="Card J♥"/>
          <p:cNvSpPr/>
          <p:nvPr/>
        </p:nvSpPr>
        <p:spPr>
          <a:xfrm>
            <a:off x="6126480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</a:t>
            </a:r>
            <a:endParaRPr lang="en-US" sz="1100" dirty="0"/>
          </a:p>
        </p:txBody>
      </p:sp>
      <p:sp>
        <p:nvSpPr>
          <p:cNvPr id="35" name="Card Q♥"/>
          <p:cNvSpPr/>
          <p:nvPr/>
        </p:nvSpPr>
        <p:spPr>
          <a:xfrm>
            <a:off x="6565392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36" name="Card K♥"/>
          <p:cNvSpPr/>
          <p:nvPr/>
        </p:nvSpPr>
        <p:spPr>
          <a:xfrm>
            <a:off x="7004304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K</a:t>
            </a:r>
            <a:endParaRPr lang="en-US" sz="1100" dirty="0"/>
          </a:p>
        </p:txBody>
      </p:sp>
      <p:sp>
        <p:nvSpPr>
          <p:cNvPr id="37" name="Suit ♦"/>
          <p:cNvSpPr txBox="1"/>
          <p:nvPr/>
        </p:nvSpPr>
        <p:spPr>
          <a:xfrm>
            <a:off x="1280160" y="3209544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800" dirty="0"/>
          </a:p>
        </p:txBody>
      </p:sp>
      <p:sp>
        <p:nvSpPr>
          <p:cNvPr id="38" name="Card A♦"/>
          <p:cNvSpPr/>
          <p:nvPr/>
        </p:nvSpPr>
        <p:spPr>
          <a:xfrm>
            <a:off x="1737360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A</a:t>
            </a:r>
            <a:endParaRPr lang="en-US" sz="1100" dirty="0"/>
          </a:p>
        </p:txBody>
      </p:sp>
      <p:sp>
        <p:nvSpPr>
          <p:cNvPr id="39" name="Card 2♦"/>
          <p:cNvSpPr/>
          <p:nvPr/>
        </p:nvSpPr>
        <p:spPr>
          <a:xfrm>
            <a:off x="2176272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2</a:t>
            </a:r>
            <a:endParaRPr lang="en-US" sz="1100" dirty="0"/>
          </a:p>
        </p:txBody>
      </p:sp>
      <p:sp>
        <p:nvSpPr>
          <p:cNvPr id="40" name="Card 3♦"/>
          <p:cNvSpPr/>
          <p:nvPr/>
        </p:nvSpPr>
        <p:spPr>
          <a:xfrm>
            <a:off x="2615184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3</a:t>
            </a:r>
            <a:endParaRPr lang="en-US" sz="1100" dirty="0"/>
          </a:p>
        </p:txBody>
      </p:sp>
      <p:sp>
        <p:nvSpPr>
          <p:cNvPr id="41" name="Card 4♦"/>
          <p:cNvSpPr/>
          <p:nvPr/>
        </p:nvSpPr>
        <p:spPr>
          <a:xfrm>
            <a:off x="3054096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Card 5♦"/>
          <p:cNvSpPr/>
          <p:nvPr/>
        </p:nvSpPr>
        <p:spPr>
          <a:xfrm>
            <a:off x="3493008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Card 6♦"/>
          <p:cNvSpPr/>
          <p:nvPr/>
        </p:nvSpPr>
        <p:spPr>
          <a:xfrm>
            <a:off x="3931920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6</a:t>
            </a:r>
            <a:endParaRPr lang="en-US" sz="1100" dirty="0"/>
          </a:p>
        </p:txBody>
      </p:sp>
      <p:sp>
        <p:nvSpPr>
          <p:cNvPr id="44" name="Card 7♦"/>
          <p:cNvSpPr/>
          <p:nvPr/>
        </p:nvSpPr>
        <p:spPr>
          <a:xfrm>
            <a:off x="4370832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7</a:t>
            </a:r>
            <a:endParaRPr lang="en-US" sz="1100" dirty="0"/>
          </a:p>
        </p:txBody>
      </p:sp>
      <p:sp>
        <p:nvSpPr>
          <p:cNvPr id="45" name="Card 8♦"/>
          <p:cNvSpPr/>
          <p:nvPr/>
        </p:nvSpPr>
        <p:spPr>
          <a:xfrm>
            <a:off x="4809744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8</a:t>
            </a:r>
            <a:endParaRPr lang="en-US" sz="1100" dirty="0"/>
          </a:p>
        </p:txBody>
      </p:sp>
      <p:sp>
        <p:nvSpPr>
          <p:cNvPr id="46" name="Card 9♦"/>
          <p:cNvSpPr/>
          <p:nvPr/>
        </p:nvSpPr>
        <p:spPr>
          <a:xfrm>
            <a:off x="5248656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9</a:t>
            </a:r>
            <a:endParaRPr lang="en-US" sz="1100" dirty="0"/>
          </a:p>
        </p:txBody>
      </p:sp>
      <p:sp>
        <p:nvSpPr>
          <p:cNvPr id="47" name="Card 10♦"/>
          <p:cNvSpPr/>
          <p:nvPr/>
        </p:nvSpPr>
        <p:spPr>
          <a:xfrm>
            <a:off x="5687568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10</a:t>
            </a:r>
            <a:endParaRPr lang="en-US" sz="1100" dirty="0"/>
          </a:p>
        </p:txBody>
      </p:sp>
      <p:sp>
        <p:nvSpPr>
          <p:cNvPr id="48" name="Card J♦"/>
          <p:cNvSpPr/>
          <p:nvPr/>
        </p:nvSpPr>
        <p:spPr>
          <a:xfrm>
            <a:off x="6126480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</a:t>
            </a:r>
            <a:endParaRPr lang="en-US" sz="1100" dirty="0"/>
          </a:p>
        </p:txBody>
      </p:sp>
      <p:sp>
        <p:nvSpPr>
          <p:cNvPr id="49" name="Card Q♦"/>
          <p:cNvSpPr/>
          <p:nvPr/>
        </p:nvSpPr>
        <p:spPr>
          <a:xfrm>
            <a:off x="6565392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50" name="Card K♦"/>
          <p:cNvSpPr/>
          <p:nvPr/>
        </p:nvSpPr>
        <p:spPr>
          <a:xfrm>
            <a:off x="7004304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K</a:t>
            </a:r>
            <a:endParaRPr lang="en-US" sz="1100" dirty="0"/>
          </a:p>
        </p:txBody>
      </p:sp>
      <p:sp>
        <p:nvSpPr>
          <p:cNvPr id="51" name="Suit ♣"/>
          <p:cNvSpPr txBox="1"/>
          <p:nvPr/>
        </p:nvSpPr>
        <p:spPr>
          <a:xfrm>
            <a:off x="1280160" y="3648456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800" dirty="0"/>
          </a:p>
        </p:txBody>
      </p:sp>
      <p:sp>
        <p:nvSpPr>
          <p:cNvPr id="52" name="Card A♣"/>
          <p:cNvSpPr/>
          <p:nvPr/>
        </p:nvSpPr>
        <p:spPr>
          <a:xfrm>
            <a:off x="1737360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A</a:t>
            </a:r>
            <a:endParaRPr lang="en-US" sz="1100" dirty="0"/>
          </a:p>
        </p:txBody>
      </p:sp>
      <p:sp>
        <p:nvSpPr>
          <p:cNvPr id="53" name="Card 2♣"/>
          <p:cNvSpPr/>
          <p:nvPr/>
        </p:nvSpPr>
        <p:spPr>
          <a:xfrm>
            <a:off x="2176272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2</a:t>
            </a:r>
            <a:endParaRPr lang="en-US" sz="1100" dirty="0"/>
          </a:p>
        </p:txBody>
      </p:sp>
      <p:sp>
        <p:nvSpPr>
          <p:cNvPr id="54" name="Card 3♣"/>
          <p:cNvSpPr/>
          <p:nvPr/>
        </p:nvSpPr>
        <p:spPr>
          <a:xfrm>
            <a:off x="2615184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3</a:t>
            </a:r>
            <a:endParaRPr lang="en-US" sz="1100" dirty="0"/>
          </a:p>
        </p:txBody>
      </p:sp>
      <p:sp>
        <p:nvSpPr>
          <p:cNvPr id="55" name="Card 4♣"/>
          <p:cNvSpPr/>
          <p:nvPr/>
        </p:nvSpPr>
        <p:spPr>
          <a:xfrm>
            <a:off x="3054096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4</a:t>
            </a:r>
            <a:endParaRPr lang="en-US" sz="1100" dirty="0"/>
          </a:p>
        </p:txBody>
      </p:sp>
      <p:sp>
        <p:nvSpPr>
          <p:cNvPr id="56" name="Card 5♣"/>
          <p:cNvSpPr/>
          <p:nvPr/>
        </p:nvSpPr>
        <p:spPr>
          <a:xfrm>
            <a:off x="3493008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5</a:t>
            </a:r>
            <a:endParaRPr lang="en-US" sz="1100" dirty="0"/>
          </a:p>
        </p:txBody>
      </p:sp>
      <p:sp>
        <p:nvSpPr>
          <p:cNvPr id="57" name="Card 6♣"/>
          <p:cNvSpPr/>
          <p:nvPr/>
        </p:nvSpPr>
        <p:spPr>
          <a:xfrm>
            <a:off x="3931920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6</a:t>
            </a:r>
            <a:endParaRPr lang="en-US" sz="1100" dirty="0"/>
          </a:p>
        </p:txBody>
      </p:sp>
      <p:sp>
        <p:nvSpPr>
          <p:cNvPr id="58" name="Card 7♣"/>
          <p:cNvSpPr/>
          <p:nvPr/>
        </p:nvSpPr>
        <p:spPr>
          <a:xfrm>
            <a:off x="4370832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7</a:t>
            </a:r>
            <a:endParaRPr lang="en-US" sz="1100" dirty="0"/>
          </a:p>
        </p:txBody>
      </p:sp>
      <p:sp>
        <p:nvSpPr>
          <p:cNvPr id="59" name="Card 8♣"/>
          <p:cNvSpPr/>
          <p:nvPr/>
        </p:nvSpPr>
        <p:spPr>
          <a:xfrm>
            <a:off x="4809744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8</a:t>
            </a:r>
            <a:endParaRPr lang="en-US" sz="1100" dirty="0"/>
          </a:p>
        </p:txBody>
      </p:sp>
      <p:sp>
        <p:nvSpPr>
          <p:cNvPr id="60" name="Card 9♣"/>
          <p:cNvSpPr/>
          <p:nvPr/>
        </p:nvSpPr>
        <p:spPr>
          <a:xfrm>
            <a:off x="5248656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9</a:t>
            </a:r>
            <a:endParaRPr lang="en-US" sz="1100" dirty="0"/>
          </a:p>
        </p:txBody>
      </p:sp>
      <p:sp>
        <p:nvSpPr>
          <p:cNvPr id="61" name="Card 10♣"/>
          <p:cNvSpPr/>
          <p:nvPr/>
        </p:nvSpPr>
        <p:spPr>
          <a:xfrm>
            <a:off x="5687568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10</a:t>
            </a:r>
            <a:endParaRPr lang="en-US" sz="1100" dirty="0"/>
          </a:p>
        </p:txBody>
      </p:sp>
      <p:sp>
        <p:nvSpPr>
          <p:cNvPr id="62" name="Card J♣"/>
          <p:cNvSpPr/>
          <p:nvPr/>
        </p:nvSpPr>
        <p:spPr>
          <a:xfrm>
            <a:off x="6126480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</a:t>
            </a:r>
            <a:endParaRPr lang="en-US" sz="1100" dirty="0"/>
          </a:p>
        </p:txBody>
      </p:sp>
      <p:sp>
        <p:nvSpPr>
          <p:cNvPr id="63" name="Card Q♣"/>
          <p:cNvSpPr/>
          <p:nvPr/>
        </p:nvSpPr>
        <p:spPr>
          <a:xfrm>
            <a:off x="6565392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64" name="Card K♣"/>
          <p:cNvSpPr/>
          <p:nvPr/>
        </p:nvSpPr>
        <p:spPr>
          <a:xfrm>
            <a:off x="7004304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K</a:t>
            </a:r>
            <a:endParaRPr lang="en-US" sz="1100" dirty="0"/>
          </a:p>
        </p:txBody>
      </p:sp>
      <p:sp>
        <p:nvSpPr>
          <p:cNvPr id="65" name="Legend swatch"/>
          <p:cNvSpPr/>
          <p:nvPr/>
        </p:nvSpPr>
        <p:spPr>
          <a:xfrm>
            <a:off x="109728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6" name="Legend text"/>
          <p:cNvSpPr txBox="1"/>
          <p:nvPr/>
        </p:nvSpPr>
        <p:spPr>
          <a:xfrm>
            <a:off x="1389888" y="4398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Jack or Queen — 8 cards</a:t>
            </a:r>
            <a:endParaRPr lang="en-US" sz="1200" dirty="0"/>
          </a:p>
        </p:txBody>
      </p:sp>
      <p:sp>
        <p:nvSpPr>
          <p:cNvPr id="67" name="Legend swatch"/>
          <p:cNvSpPr/>
          <p:nvPr/>
        </p:nvSpPr>
        <p:spPr>
          <a:xfrm>
            <a:off x="416052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8" name="Legend text"/>
          <p:cNvSpPr txBox="1"/>
          <p:nvPr/>
        </p:nvSpPr>
        <p:spPr>
          <a:xfrm>
            <a:off x="4453128" y="4398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King — 4 cards</a:t>
            </a:r>
            <a:endParaRPr lang="en-US" sz="1200" dirty="0"/>
          </a:p>
        </p:txBody>
      </p:sp>
      <p:sp>
        <p:nvSpPr>
          <p:cNvPr id="69" name="Legend swatch"/>
          <p:cNvSpPr/>
          <p:nvPr/>
        </p:nvSpPr>
        <p:spPr>
          <a:xfrm>
            <a:off x="603504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D7F7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70" name="Legend text"/>
          <p:cNvSpPr txBox="1"/>
          <p:nvPr/>
        </p:nvSpPr>
        <p:spPr>
          <a:xfrm>
            <a:off x="6327648" y="4398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Other — 40</a:t>
            </a:r>
            <a:endParaRPr lang="en-US" sz="1200" dirty="0"/>
          </a:p>
        </p:txBody>
      </p:sp>
      <p:sp>
        <p:nvSpPr>
          <p:cNvPr id="71" name="Grid caption"/>
          <p:cNvSpPr txBox="1"/>
          <p:nvPr/>
        </p:nvSpPr>
        <p:spPr>
          <a:xfrm>
            <a:off x="914400" y="4937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F71"/>
                </a:solidFill>
              </a:rPr>
              <a:t>Given “face card”, only the purple and teal cards are still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Conditional Probability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Build the deck, then filter to the “given” group.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Count how many in that group also satisfy the event.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Formula: P(A | B) = P(A and B) ÷ P(B).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ranks = "A 2 3 4 5 6 7 8 9 10 J Q K".split()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deck = [(r, s) for r in ranks for s in "SHDC"]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Given: the card is a face card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face = [c for c in deck if c[0] in ("J", "Q", "K")]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kings = [c for c in face if c[0] == "K"]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print(len(face), len(kings))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12  4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print(len(kings) / len(face))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# 0.3333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P(A | B) Is Not P(B | A)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P(King | face card)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Given a face card, how likely is a King?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 of the 12 face cards are Kings.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 = 4/12 ≈ 0.33</a:t>
            </a:r>
            <a:endParaRPr lang="en-US" sz="1600" dirty="0"/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P(face card | King)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Given a King, how likely is a face card?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4 Kings are face cards.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 = 4/4 = 1.0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Bayes’ Theorem — Updating Beliefs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Flip the condition around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 often know P(evidence | hypothesis) but want P(hypothesis | evidence).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test gives P(positive | disease); a patient wants P(disease | positive).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Bayes’ Theorem flips the condition and updates your belief.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powers spam filters, diagnosis tools and Naive Bayes in ML.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Four Parts of Bayes’ Theorem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tep chip 1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77724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P(A)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77724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What you believed before seeing any evidence.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38328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tep chip 2"/>
          <p:cNvSpPr/>
          <p:nvPr/>
        </p:nvSpPr>
        <p:spPr>
          <a:xfrm>
            <a:off x="361188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3611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tep title 2"/>
          <p:cNvSpPr txBox="1"/>
          <p:nvPr/>
        </p:nvSpPr>
        <p:spPr>
          <a:xfrm>
            <a:off x="361188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Likelihood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 | A)</a:t>
            </a:r>
            <a:endParaRPr lang="en-US" sz="1600" dirty="0"/>
          </a:p>
        </p:txBody>
      </p:sp>
      <p:sp>
        <p:nvSpPr>
          <p:cNvPr id="12" name="Step text 2"/>
          <p:cNvSpPr txBox="1"/>
          <p:nvPr/>
        </p:nvSpPr>
        <p:spPr>
          <a:xfrm>
            <a:off x="361188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How probable the evidence is if the hypothesis is true.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21792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tep chip 3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tep title 3"/>
          <p:cNvSpPr txBox="1"/>
          <p:nvPr/>
        </p:nvSpPr>
        <p:spPr>
          <a:xfrm>
            <a:off x="644652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Evidence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P(B)</a:t>
            </a:r>
            <a:endParaRPr lang="en-US" sz="1600" dirty="0"/>
          </a:p>
        </p:txBody>
      </p:sp>
      <p:sp>
        <p:nvSpPr>
          <p:cNvPr id="17" name="Step text 3"/>
          <p:cNvSpPr txBox="1"/>
          <p:nvPr/>
        </p:nvSpPr>
        <p:spPr>
          <a:xfrm>
            <a:off x="644652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The overall chance of seeing this evidence — it normalizes the result.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05256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9" name="Step chip 4"/>
          <p:cNvSpPr/>
          <p:nvPr/>
        </p:nvSpPr>
        <p:spPr>
          <a:xfrm>
            <a:off x="928116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tep number 4"/>
          <p:cNvSpPr txBox="1"/>
          <p:nvPr/>
        </p:nvSpPr>
        <p:spPr>
          <a:xfrm>
            <a:off x="92811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tep title 4"/>
          <p:cNvSpPr txBox="1"/>
          <p:nvPr/>
        </p:nvSpPr>
        <p:spPr>
          <a:xfrm>
            <a:off x="928116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Posterior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| B)</a:t>
            </a:r>
            <a:endParaRPr lang="en-US" sz="1600" dirty="0"/>
          </a:p>
        </p:txBody>
      </p:sp>
      <p:sp>
        <p:nvSpPr>
          <p:cNvPr id="22" name="Step text 4"/>
          <p:cNvSpPr txBox="1"/>
          <p:nvPr/>
        </p:nvSpPr>
        <p:spPr>
          <a:xfrm>
            <a:off x="928116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Your updated belief after the evidence.</a:t>
            </a:r>
            <a:endParaRPr lang="en-US" sz="1400" dirty="0"/>
          </a:p>
        </p:txBody>
      </p:sp>
      <p:sp>
        <p:nvSpPr>
          <p:cNvPr id="23" name="Formula banner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Formula"/>
          <p:cNvSpPr txBox="1"/>
          <p:nvPr/>
        </p:nvSpPr>
        <p:spPr>
          <a:xfrm>
            <a:off x="548640" y="4983480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| B)  =  P(B | A) × P(A)  ÷  P(B)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posterior  =  likelihood × prior  ÷ 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 Medical Test: Out of 10,000 People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590 positives, only 95 are sick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95 true positives + 495 false positives = 590 positive tests.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P(disease | positive) = 95 / 590 ≈ 16%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big healthy group makes far more false alarms than the small sick group makes true hits.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755A7"/>
                </a:solidFill>
              </a:rPr>
              <a:t>Disease prevalence 1% · test is 95% accurate</a:t>
            </a:r>
            <a:endParaRPr lang="en-US" sz="1300" dirty="0"/>
          </a:p>
        </p:txBody>
      </p:sp>
      <p:sp>
        <p:nvSpPr>
          <p:cNvPr id="9" name="Tree root"/>
          <p:cNvSpPr/>
          <p:nvPr/>
        </p:nvSpPr>
        <p:spPr>
          <a:xfrm>
            <a:off x="777240" y="3337560"/>
            <a:ext cx="15544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10,000 people</a:t>
            </a:r>
            <a:endParaRPr lang="en-US" sz="1300" dirty="0"/>
          </a:p>
        </p:txBody>
      </p:sp>
      <p:sp>
        <p:nvSpPr>
          <p:cNvPr id="10" name="Tree sick"/>
          <p:cNvSpPr/>
          <p:nvPr/>
        </p:nvSpPr>
        <p:spPr>
          <a:xfrm>
            <a:off x="3063240" y="2423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Has disease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  (1%)</a:t>
            </a:r>
            <a:endParaRPr lang="en-US" sz="1300" dirty="0"/>
          </a:p>
        </p:txBody>
      </p:sp>
      <p:sp>
        <p:nvSpPr>
          <p:cNvPr id="11" name="Tree healthy"/>
          <p:cNvSpPr/>
          <p:nvPr/>
        </p:nvSpPr>
        <p:spPr>
          <a:xfrm>
            <a:off x="3063240" y="42519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disease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9,900  (99%)</a:t>
            </a:r>
            <a:endParaRPr lang="en-US" sz="1300" dirty="0"/>
          </a:p>
        </p:txBody>
      </p:sp>
      <p:sp>
        <p:nvSpPr>
          <p:cNvPr id="12" name="Tree branch"/>
          <p:cNvSpPr/>
          <p:nvPr/>
        </p:nvSpPr>
        <p:spPr>
          <a:xfrm flipV="1">
            <a:off x="2331720" y="2788920"/>
            <a:ext cx="731520" cy="9144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3" name="Tree branch"/>
          <p:cNvSpPr/>
          <p:nvPr/>
        </p:nvSpPr>
        <p:spPr>
          <a:xfrm>
            <a:off x="2331720" y="3703320"/>
            <a:ext cx="731520" cy="9144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4" name="Leaf true positive"/>
          <p:cNvSpPr/>
          <p:nvPr/>
        </p:nvSpPr>
        <p:spPr>
          <a:xfrm>
            <a:off x="5806440" y="210312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+   95</a:t>
            </a:r>
            <a:endParaRPr lang="en-US" sz="1300" dirty="0"/>
          </a:p>
        </p:txBody>
      </p:sp>
      <p:sp>
        <p:nvSpPr>
          <p:cNvPr id="15" name="Leaf false negative"/>
          <p:cNvSpPr/>
          <p:nvPr/>
        </p:nvSpPr>
        <p:spPr>
          <a:xfrm>
            <a:off x="5806440" y="297180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−   5</a:t>
            </a:r>
            <a:endParaRPr lang="en-US" sz="1300" dirty="0"/>
          </a:p>
        </p:txBody>
      </p:sp>
      <p:sp>
        <p:nvSpPr>
          <p:cNvPr id="16" name="Leaf false positive"/>
          <p:cNvSpPr/>
          <p:nvPr/>
        </p:nvSpPr>
        <p:spPr>
          <a:xfrm>
            <a:off x="5806440" y="393192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+   495</a:t>
            </a:r>
            <a:endParaRPr lang="en-US" sz="1300" dirty="0"/>
          </a:p>
        </p:txBody>
      </p:sp>
      <p:sp>
        <p:nvSpPr>
          <p:cNvPr id="17" name="Leaf true negative"/>
          <p:cNvSpPr/>
          <p:nvPr/>
        </p:nvSpPr>
        <p:spPr>
          <a:xfrm>
            <a:off x="5806440" y="480060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−   9,405</a:t>
            </a:r>
            <a:endParaRPr lang="en-US" sz="1300" dirty="0"/>
          </a:p>
        </p:txBody>
      </p:sp>
      <p:sp>
        <p:nvSpPr>
          <p:cNvPr id="18" name="Tree branch"/>
          <p:cNvSpPr/>
          <p:nvPr/>
        </p:nvSpPr>
        <p:spPr>
          <a:xfrm flipV="1">
            <a:off x="4892040" y="2359152"/>
            <a:ext cx="914400" cy="429768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9" name="Tree branch"/>
          <p:cNvSpPr/>
          <p:nvPr/>
        </p:nvSpPr>
        <p:spPr>
          <a:xfrm>
            <a:off x="4892040" y="2788920"/>
            <a:ext cx="914400" cy="429768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0" name="Tree branch"/>
          <p:cNvSpPr/>
          <p:nvPr/>
        </p:nvSpPr>
        <p:spPr>
          <a:xfrm flipV="1">
            <a:off x="4892040" y="4187952"/>
            <a:ext cx="914400" cy="4572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1" name="Tree branch"/>
          <p:cNvSpPr/>
          <p:nvPr/>
        </p:nvSpPr>
        <p:spPr>
          <a:xfrm>
            <a:off x="4892040" y="4617720"/>
            <a:ext cx="914400" cy="438912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2" name="Tree legend"/>
          <p:cNvSpPr txBox="1"/>
          <p:nvPr/>
        </p:nvSpPr>
        <p:spPr>
          <a:xfrm>
            <a:off x="777240" y="55321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teal = true positives     rose = false positives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Why Prevalence Changes Everything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Same test, different priors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test is 95% accurate in every bar.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At 1% prevalence a positive is right only 16% of the time (the rose bar).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The prior matters as much as the test.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At 50% prevalence the same positive is 95% reliable.</a:t>
            </a:r>
            <a:endParaRPr lang="en-US" sz="1400" dirty="0"/>
          </a:p>
        </p:txBody>
      </p:sp>
      <p:graphicFrame>
        <p:nvGraphicFramePr>
          <p:cNvPr id="7" name="Prevalence posterior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Bayes’ Theorem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One small function turns the formula into code.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Inputs: prior, sensitivity and specificity.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Output: P(disease | positive) = 0.161.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def bayes(prior, sens, spec):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# P(positive) = true + false positives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p_pos = sens * prior + (1 - spec) * (1 - prior)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return sens * prior / p_pos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1% prevalence, 95% sensitivity, 95% specificity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post = bayes(0.01, 0.95, 0.95)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print(round(post,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# 0.161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A Second Positive Test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Today’s posterior becomes tomorrow’s prior.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One positive: 16%. Two positives: 78.5%.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why doctors order a confirmatory test.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uses bayes() from the previous slide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the posterior after test 1 is the prior for test 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p1 = bayes(0.01, 0.95, 0.95)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after 1st positive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p2 = bayes(p1, 0.95, 0.95)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# after 2nd positive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print(round(p1,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# 0.161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print(round(p2,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# 0.785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Conditional Probability &amp; Bayes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P(Queen | the card is red) by counting in Python.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the difference between P(A | B) and P(B | A) using your own example.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filter flags 98% of real spam, and only 1% of all email is spam. Why can a “spam” flag still be wrong?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Python: run bayes(0.05, 0.90, 0.90). Is the answer higher or lower than you expected?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Distributions &amp; the CLT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Shapes that describe which outcomes are likely — and the theorem that makes inference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a Probability Distribution?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shape of possible outcomes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distribution lists every possible outcome and how likely each one is.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Its shape — flat, lopsided, bell-shaped — reveals the process behind the data.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Today: Uniform, Binomial and Normal.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extends Session 19’s histograms to true, known probabilities.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Three Shapes, Three Stories</a:t>
            </a:r>
            <a:endParaRPr lang="en-US" sz="2600" dirty="0"/>
          </a:p>
        </p:txBody>
      </p:sp>
      <p:sp>
        <p:nvSpPr>
          <p:cNvPr id="3" name="Shape card 1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hape pill 1"/>
          <p:cNvSpPr/>
          <p:nvPr/>
        </p:nvSpPr>
        <p:spPr>
          <a:xfrm>
            <a:off x="7772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head 1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Uniform</a:t>
            </a:r>
            <a:endParaRPr lang="en-US" sz="1500" dirty="0"/>
          </a:p>
        </p:txBody>
      </p:sp>
      <p:graphicFrame>
        <p:nvGraphicFramePr>
          <p:cNvPr id="6" name="Uniform mini chart" descr=""/>
          <p:cNvGraphicFramePr/>
          <p:nvPr/>
        </p:nvGraphicFramePr>
        <p:xfrm>
          <a:off x="6858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caption 1"/>
          <p:cNvSpPr txBox="1"/>
          <p:nvPr/>
        </p:nvSpPr>
        <p:spPr>
          <a:xfrm>
            <a:off x="7772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outcome equally likely — a fair die.</a:t>
            </a:r>
            <a:endParaRPr lang="en-US" sz="1400" dirty="0"/>
          </a:p>
        </p:txBody>
      </p:sp>
      <p:sp>
        <p:nvSpPr>
          <p:cNvPr id="8" name="Shape card 2"/>
          <p:cNvSpPr/>
          <p:nvPr/>
        </p:nvSpPr>
        <p:spPr>
          <a:xfrm>
            <a:off x="43205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hape pill 2"/>
          <p:cNvSpPr/>
          <p:nvPr/>
        </p:nvSpPr>
        <p:spPr>
          <a:xfrm>
            <a:off x="45491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head 2"/>
          <p:cNvSpPr txBox="1"/>
          <p:nvPr/>
        </p:nvSpPr>
        <p:spPr>
          <a:xfrm>
            <a:off x="45491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Binomial</a:t>
            </a:r>
            <a:endParaRPr lang="en-US" sz="1500" dirty="0"/>
          </a:p>
        </p:txBody>
      </p:sp>
      <p:graphicFrame>
        <p:nvGraphicFramePr>
          <p:cNvPr id="11" name="Binomial mini chart" descr=""/>
          <p:cNvGraphicFramePr/>
          <p:nvPr/>
        </p:nvGraphicFramePr>
        <p:xfrm>
          <a:off x="44577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caption 2"/>
          <p:cNvSpPr txBox="1"/>
          <p:nvPr/>
        </p:nvSpPr>
        <p:spPr>
          <a:xfrm>
            <a:off x="45491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Successes in a fixed number of trials — heads in 10 flips.</a:t>
            </a:r>
            <a:endParaRPr lang="en-US" sz="1400" dirty="0"/>
          </a:p>
        </p:txBody>
      </p:sp>
      <p:sp>
        <p:nvSpPr>
          <p:cNvPr id="13" name="Shape card 3"/>
          <p:cNvSpPr/>
          <p:nvPr/>
        </p:nvSpPr>
        <p:spPr>
          <a:xfrm>
            <a:off x="80924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hape pill 3"/>
          <p:cNvSpPr/>
          <p:nvPr/>
        </p:nvSpPr>
        <p:spPr>
          <a:xfrm>
            <a:off x="83210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head 3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Normal</a:t>
            </a:r>
            <a:endParaRPr lang="en-US" sz="1500" dirty="0"/>
          </a:p>
        </p:txBody>
      </p:sp>
      <p:graphicFrame>
        <p:nvGraphicFramePr>
          <p:cNvPr id="16" name="Normal mini chart" descr=""/>
          <p:cNvGraphicFramePr/>
          <p:nvPr/>
        </p:nvGraphicFramePr>
        <p:xfrm>
          <a:off x="82296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Shape caption 3"/>
          <p:cNvSpPr txBox="1"/>
          <p:nvPr/>
        </p:nvSpPr>
        <p:spPr>
          <a:xfrm>
            <a:off x="83210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bell curve — heights, errors, test scores.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Uniform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Uniform: every outcome has the same probability.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stats.randint models a fair die — faces 1 to 6.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6,000 simulated rolls land near 1,000 per face.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die = stats.randint(1, 7)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# faces 1 to 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print(round(die.pmf(3),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# 0.1667  P(X = 3)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print(round(die.cdf(4),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# 0.6667  P(X &lt;= 4)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np.random.default_rng(3)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rolls = rng.integers(1, 7, size=6000)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print(np.bincount(rolls)[1:])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[1032 1017 1003  960 1005  983]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Binomial Distribution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Successes in fixed trials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Counts successes in n independent trials, each with probability p.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heads in 10 fair flips (n = 10, p = 0.5).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Mean = n × p, so 5 heads on average.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Used for conversions, defects and yes/no survey counts.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Binomial: Heads in 10 Fair Flips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P(exactly 5) = 0.246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Teal bar: exactly 5 heads — the single most likely outcome.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Rose bars: 8 or more heads, P ≈ 0.055.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Extreme results sit in the thin tails.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Mean = 5, standard deviation ≈ 1.58.</a:t>
            </a:r>
            <a:endParaRPr lang="en-US" sz="1400" dirty="0"/>
          </a:p>
        </p:txBody>
      </p:sp>
      <p:graphicFrame>
        <p:nvGraphicFramePr>
          <p:cNvPr id="7" name="Binomial pmf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Binomial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.pmf() gives P(X = k) exactly.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.cdf() gives P(X ≤ k) — a running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 1 − cdf for “more than” questions.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heads = stats.binom(n=10, p=0.5)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print(round(heads.pmf(5),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0.246  P(exactly 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print(round(heads.cdf(3),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0.172  P(at most 3)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print(round(1 - heads.cdf(7),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# 0.055  P(8 or more)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print(heads.mean())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# 5.0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print(round(heads.std(), 2))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# 1.58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Normal Distribution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Nature’s favorite shape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classic symmetric bell curve: most values sit near the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Height, blood pressure, measurement error and test scores follow it closely.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Two numbers define it: the mean (centre) and the standard deviation (width).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the curve behind Session 19’s empirical rule.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Normal Curve and the 68–95–99.7 Rule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much sits where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68% of values fall within ±1σ of the mean.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95% fall within ±2σ.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99.7% fall within ±3σ.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Beyond ±3σ (rose, barely visible): about 0.3% in total.</a:t>
            </a:r>
            <a:endParaRPr lang="en-US" sz="1400" dirty="0"/>
          </a:p>
        </p:txBody>
      </p:sp>
      <p:graphicFrame>
        <p:nvGraphicFramePr>
          <p:cNvPr id="8" name="Normal curve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Empirical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stats.norm.cdf(z) gives P(Z ≤ z).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Subtract two cdf values to get a range.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These are the empirical-rule numbers, now exact.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z = stats.norm(loc=0, scale=1)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P(within 1, 2, 3 standard deviations)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print(round(z.cdf(1) - z.cdf(-1),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0.683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print(round(z.cdf(2) - z.cdf(-2),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0.954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print(round(z.cdf(3) - z.cdf(-3),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0.997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Normal Tail Probabilities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Real data needs only a mean and a standard deviation.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IQ ~ Normal(mean 100, SD 15).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ppf is the reverse of cdf: probability in, value out.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the mechanism behind the z-test in Session 21.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iq = stats.norm(loc=100, scale=15)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print(round(1 - iq.cdf(130),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# 0.0228  P(IQ &gt; 130)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print(round(iq.cdf(85),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# 0.1587  P(IQ &lt; 85)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which IQ marks the top 2.5%?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print(round(iq.ppf(0.975), 1))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# 129.4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Central Limit Theorem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Normal, no matter the source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Take many samples from any population and compute each sample’s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Those means form a normal distribution — even if the population is skewed.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needs a large enough sample: n ≥ 30 is the usual rule of thumb.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why inferential tests can assume normality on messy data.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CLT in Pictures</a:t>
            </a:r>
            <a:endParaRPr lang="en-US" sz="2600" dirty="0"/>
          </a:p>
        </p:txBody>
      </p:sp>
      <p:sp>
        <p:nvSpPr>
          <p:cNvPr id="3" name="CLT card 1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LT pill 1"/>
          <p:cNvSpPr/>
          <p:nvPr/>
        </p:nvSpPr>
        <p:spPr>
          <a:xfrm>
            <a:off x="7772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LT head 1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population</a:t>
            </a:r>
            <a:endParaRPr lang="en-US" sz="1500" dirty="0"/>
          </a:p>
        </p:txBody>
      </p:sp>
      <p:graphicFrame>
        <p:nvGraphicFramePr>
          <p:cNvPr id="6" name="The population histogram" descr=""/>
          <p:cNvGraphicFramePr/>
          <p:nvPr/>
        </p:nvGraphicFramePr>
        <p:xfrm>
          <a:off x="6858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LT caption 1"/>
          <p:cNvSpPr txBox="1"/>
          <p:nvPr/>
        </p:nvSpPr>
        <p:spPr>
          <a:xfrm>
            <a:off x="7772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Heavily skewed — real data rarely looks normal.</a:t>
            </a:r>
            <a:endParaRPr lang="en-US" sz="1400" dirty="0"/>
          </a:p>
        </p:txBody>
      </p:sp>
      <p:sp>
        <p:nvSpPr>
          <p:cNvPr id="8" name="CLT card 2"/>
          <p:cNvSpPr/>
          <p:nvPr/>
        </p:nvSpPr>
        <p:spPr>
          <a:xfrm>
            <a:off x="43205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CLT pill 2"/>
          <p:cNvSpPr/>
          <p:nvPr/>
        </p:nvSpPr>
        <p:spPr>
          <a:xfrm>
            <a:off x="45491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LT head 2"/>
          <p:cNvSpPr txBox="1"/>
          <p:nvPr/>
        </p:nvSpPr>
        <p:spPr>
          <a:xfrm>
            <a:off x="45491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means, n = 5</a:t>
            </a:r>
            <a:endParaRPr lang="en-US" sz="1500" dirty="0"/>
          </a:p>
        </p:txBody>
      </p:sp>
      <p:graphicFrame>
        <p:nvGraphicFramePr>
          <p:cNvPr id="11" name="Sample means, n = 5 histogram" descr=""/>
          <p:cNvGraphicFramePr/>
          <p:nvPr/>
        </p:nvGraphicFramePr>
        <p:xfrm>
          <a:off x="44577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CLT caption 2"/>
          <p:cNvSpPr txBox="1"/>
          <p:nvPr/>
        </p:nvSpPr>
        <p:spPr>
          <a:xfrm>
            <a:off x="45491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Already smoothing out, even from skewed data.</a:t>
            </a:r>
            <a:endParaRPr lang="en-US" sz="1400" dirty="0"/>
          </a:p>
        </p:txBody>
      </p:sp>
      <p:sp>
        <p:nvSpPr>
          <p:cNvPr id="13" name="CLT card 3"/>
          <p:cNvSpPr/>
          <p:nvPr/>
        </p:nvSpPr>
        <p:spPr>
          <a:xfrm>
            <a:off x="80924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CLT pill 3"/>
          <p:cNvSpPr/>
          <p:nvPr/>
        </p:nvSpPr>
        <p:spPr>
          <a:xfrm>
            <a:off x="83210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CLT head 3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means, n = 30</a:t>
            </a:r>
            <a:endParaRPr lang="en-US" sz="1500" dirty="0"/>
          </a:p>
        </p:txBody>
      </p:sp>
      <p:graphicFrame>
        <p:nvGraphicFramePr>
          <p:cNvPr id="16" name="Sample means, n = 30 histogram" descr=""/>
          <p:cNvGraphicFramePr/>
          <p:nvPr/>
        </p:nvGraphicFramePr>
        <p:xfrm>
          <a:off x="82296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CLT caption 3"/>
          <p:cNvSpPr txBox="1"/>
          <p:nvPr/>
        </p:nvSpPr>
        <p:spPr>
          <a:xfrm>
            <a:off x="83210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Nearly normal, whatever the population shape.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Simulating the CLT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skewed population: exponential, mean ≈ 10.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2,000 samples at each size and keep every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σ/√n predicts how widely those means spread.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np.random.default_rng(42)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pop = rng.exponential(scale=10, size=100_000)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print(round(pop.mean(), 1), round(pop.std(), 1))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10.0  10.1   (heavily skewed)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for n in [5, 30]: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means = [rng.choice(pop, n).mean()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for _ in range(2000)]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print(n, round(np.std(means), 2))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5   4.45   (theory: 10/sqrt(5)  = 4.47)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30  1.81   (theory: 10/sqrt(30) = 1.83)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Why the CLT Matters for What Comes Next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tep chip 1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77724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Any population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77724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Skewed, uniform or lumpy — the original shape does not matter.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432816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tep chip 2"/>
          <p:cNvSpPr/>
          <p:nvPr/>
        </p:nvSpPr>
        <p:spPr>
          <a:xfrm>
            <a:off x="455676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4556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tep title 2"/>
          <p:cNvSpPr txBox="1"/>
          <p:nvPr/>
        </p:nvSpPr>
        <p:spPr>
          <a:xfrm>
            <a:off x="455676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Large enough n</a:t>
            </a:r>
            <a:endParaRPr lang="en-US" sz="1600" dirty="0"/>
          </a:p>
        </p:txBody>
      </p:sp>
      <p:sp>
        <p:nvSpPr>
          <p:cNvPr id="12" name="Step text 2"/>
          <p:cNvSpPr txBox="1"/>
          <p:nvPr/>
        </p:nvSpPr>
        <p:spPr>
          <a:xfrm>
            <a:off x="455676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n ≥ 30 is a rule of thumb, not a hard law. Very skewed data may need more.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810768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tep chip 3"/>
          <p:cNvSpPr/>
          <p:nvPr/>
        </p:nvSpPr>
        <p:spPr>
          <a:xfrm>
            <a:off x="833628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833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tep title 3"/>
          <p:cNvSpPr txBox="1"/>
          <p:nvPr/>
        </p:nvSpPr>
        <p:spPr>
          <a:xfrm>
            <a:off x="833628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 ≈ Normal</a:t>
            </a:r>
            <a:endParaRPr lang="en-US" sz="1600" dirty="0"/>
          </a:p>
        </p:txBody>
      </p:sp>
      <p:sp>
        <p:nvSpPr>
          <p:cNvPr id="17" name="Step text 3"/>
          <p:cNvSpPr txBox="1"/>
          <p:nvPr/>
        </p:nvSpPr>
        <p:spPr>
          <a:xfrm>
            <a:off x="833628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So the z-tests and t-tests in Sessions 21–22 may assume normality.</a:t>
            </a:r>
            <a:endParaRPr lang="en-US" sz="1400" dirty="0"/>
          </a:p>
        </p:txBody>
      </p:sp>
      <p:sp>
        <p:nvSpPr>
          <p:cNvPr id="18" name="Standard error banner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tandard error text"/>
          <p:cNvSpPr txBox="1"/>
          <p:nvPr/>
        </p:nvSpPr>
        <p:spPr>
          <a:xfrm>
            <a:off x="548640" y="4983480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 = σ / √n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more data you collect, the tighter the sample means cluster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Distributions &amp; the CLT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a real-world example each of a Uniform, a Binomial and a Normal variable.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stats.norm to find the probability a value falls within 1 SD of the mean.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Why does the CLT matter when your original data is heavily skewed?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Why is n = 30 a rule of thumb rather than a hard requirement?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Your Turn: Three Task Sets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Practise in Python — small steps, real numbers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Counting &amp; Combining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Use itertools and numpy.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the two-dice sample space. Find P(sum = 7) and P(sum ≥ 10).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P(two Aces in a row, no replacement), then confirm it by simulating 100,000 deals.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P(heart or spade) by hand, then verify by counting a deck list.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 10,000 pairs of coin flips and compare P(two heads) to 0.25.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Conditional Probability &amp; Bayes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Write the formula as a function, then test it.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P(Queen | red card) by counting a deck.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bayes(prior, sens, spec) and test it with 5% prevalence and 90% accuracy.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Loop over prevalence 0.1% to 50% and print each posterior. What pattern do you see?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twice for two positive tests. Report both posteriors.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3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Distributions &amp; the CLT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Simulate it, then compare with the theory.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 30 die rolls and average them. Repeat 10 times, then 1,000 times. Describe the shape.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stats.binom to find P(8 or more heads in 10 flips).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stats.norm to find the probability of a value more than 2 SD above the mean.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 the CLT demo with a uniform population. Do the sample means still look normal?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Mini Project: Bayes’ Theorem in a Real Decision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complete Bayes decision, start to finish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Pick a real scenario: spam filter, fraud alert, defect scanner or background check.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Estimate three numbers: the prior, the true-positive rate and the false-positive rate.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Build a tree for 1,000+ people and compute the posterior in Python.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5 sentences: is the result more or less trustworthy than gut instinct, and why?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Mini Project: Starter Template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Fill in the blanks, then extend it.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your assumptions as comments first.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Simulate 1,000+ people to confirm the maths.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Fill in the blanks, then extend it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prior = ____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P(problem) before any alert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sens  = ____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P(alert | real problem)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fpr   = ____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P(alert | no problem)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p_alert = sens * prior + fpr * (1 - prior)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posterior = sens * prior / p_alert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print(round(posterior, 3))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next: simulate 1,000+ people and compare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20 COMPLETE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783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What You Can Do Now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Calculate probabilities by counting and by simulation</a:t>
            </a:r>
            <a:endParaRPr lang="en-US" sz="1500" dirty="0"/>
          </a:p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Combine events with the Addition and Multiplication Rules</a:t>
            </a:r>
            <a:endParaRPr lang="en-US" sz="1500" dirty="0"/>
          </a:p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Compute conditional probabilities and apply Bayes’ Theorem</a:t>
            </a:r>
            <a:endParaRPr lang="en-US" sz="1500" dirty="0"/>
          </a:p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Recognise Uniform, Binomial and Normal distributions</a:t>
            </a:r>
            <a:endParaRPr lang="en-US" sz="1500" dirty="0"/>
          </a:p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Explain the Central Limit Theorem — and demonstrate it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Next up — Session 21: Inferential Statistics I · confidence intervals, hypothesis tests and p-values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ByPaxto">
  <a:themeElements>
    <a:clrScheme name="CodeByPaxto">
      <a:dk1>
        <a:srgbClr val="1B1B20"/>
      </a:dk1>
      <a:lt1>
        <a:srgbClr val="FFFFFF"/>
      </a:lt1>
      <a:dk2>
        <a:srgbClr val="0B0F17"/>
      </a:dk2>
      <a:lt2>
        <a:srgbClr val="FCF8FF"/>
      </a:lt2>
      <a:accent1>
        <a:srgbClr val="8C8AE0"/>
      </a:accent1>
      <a:accent2>
        <a:srgbClr val="2DD4BF"/>
      </a:accent2>
      <a:accent3>
        <a:srgbClr val="BBEDDC"/>
      </a:accent3>
      <a:accent4>
        <a:srgbClr val="F43F5E"/>
      </a:accent4>
      <a:accent5>
        <a:srgbClr val="262758"/>
      </a:accent5>
      <a:accent6>
        <a:srgbClr val="5755A7"/>
      </a:accent6>
      <a:hlink>
        <a:srgbClr val="5755A7"/>
      </a:hlink>
      <a:folHlink>
        <a:srgbClr val="8C8AE0"/>
      </a:folHlink>
    </a:clrScheme>
    <a:fontScheme name="CodeByPaxto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CodeByPaxto: The AI &amp; ML Playground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— Session 20</dc:title>
  <dc:subject>PptxGenJS Presentation</dc:subject>
  <dc:creator>Hafiz Waseem Ahmed (Paxto)</dc:creator>
  <cp:lastModifiedBy>Hafiz Waseem Ahmed (Paxto)</cp:lastModifiedBy>
  <cp:revision>1</cp:revision>
  <dcterms:created xsi:type="dcterms:W3CDTF">2026-10-10T15:42:32Z</dcterms:created>
  <dcterms:modified xsi:type="dcterms:W3CDTF">2026-10-10T15:42:32Z</dcterms:modified>
</cp:coreProperties>
</file>