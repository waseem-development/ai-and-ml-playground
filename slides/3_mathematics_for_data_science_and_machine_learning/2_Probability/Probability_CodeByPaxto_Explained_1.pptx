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7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8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13" r:id="rId64"/>
    <p:sldId id="262" r:id="rId8"/>
    <p:sldId id="263" r:id="rId9"/>
    <p:sldId id="264" r:id="rId10"/>
    <p:sldId id="265" r:id="rId11"/>
    <p:sldId id="266" r:id="rId12"/>
    <p:sldId id="267" r:id="rId13"/>
    <p:sldId id="268" r:id="rId14"/>
    <p:sldId id="314" r:id="rId65"/>
    <p:sldId id="315" r:id="rId66"/>
    <p:sldId id="316" r:id="rId67"/>
    <p:sldId id="317" r:id="rId68"/>
    <p:sldId id="318" r:id="rId69"/>
    <p:sldId id="269" r:id="rId15"/>
    <p:sldId id="270" r:id="rId16"/>
    <p:sldId id="330" r:id="rId81"/>
    <p:sldId id="329" r:id="rId80"/>
    <p:sldId id="271" r:id="rId17"/>
    <p:sldId id="319" r:id="rId70"/>
    <p:sldId id="320" r:id="rId71"/>
    <p:sldId id="321" r:id="rId72"/>
    <p:sldId id="322" r:id="rId73"/>
    <p:sldId id="323" r:id="rId74"/>
    <p:sldId id="272" r:id="rId18"/>
    <p:sldId id="273" r:id="rId19"/>
    <p:sldId id="274" r:id="rId20"/>
    <p:sldId id="275" r:id="rId21"/>
    <p:sldId id="276" r:id="rId22"/>
    <p:sldId id="324" r:id="rId75"/>
    <p:sldId id="325" r:id="rId76"/>
    <p:sldId id="277" r:id="rId23"/>
    <p:sldId id="278" r:id="rId24"/>
    <p:sldId id="279" r:id="rId25"/>
    <p:sldId id="326" r:id="rId77"/>
    <p:sldId id="280" r:id="rId26"/>
    <p:sldId id="281" r:id="rId27"/>
    <p:sldId id="282" r:id="rId28"/>
    <p:sldId id="283" r:id="rId29"/>
    <p:sldId id="284" r:id="rId30"/>
    <p:sldId id="327" r:id="rId78"/>
    <p:sldId id="328" r:id="rId79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ebd1ebe-0229-3059-b2e4-7e196ec1fe1a}">
          <p14:sldIdLst>
            <p14:sldId id="256"/>
            <p14:sldId id="257"/>
            <p14:sldId id="258"/>
          </p14:sldIdLst>
        </p14:section>
        <p14:section name="Part 1 — Foundations" id="{a275a368-f037-b37a-7339-c5594120b6d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art 2 — Combining Probabilities" id="{a842ed16-ef2c-4084-5607-2064ef5e0f49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Part 3 — Conditional Probability &amp; Bayes" id="{dfe9222c-8cd5-1233-804c-b7a8af19dfd6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Part 4 — Distributions &amp; the CLT" id="{08f15bcc-57b1-0101-cdf6-32b8da65da46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Tasks &amp; Mini Project" id="{3497cc7c-0872-92a1-d2f9-6e70041ee3ed}">
          <p14:sldIdLst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  <Relationship Id="rId64" Type="http://schemas.openxmlformats.org/officeDocument/2006/relationships/slide" Target="slides/slide58.xml"/>
  <Relationship Id="rId65" Type="http://schemas.openxmlformats.org/officeDocument/2006/relationships/slide" Target="slides/slide59.xml"/>
  <Relationship Id="rId66" Type="http://schemas.openxmlformats.org/officeDocument/2006/relationships/slide" Target="slides/slide60.xml"/>
  <Relationship Id="rId67" Type="http://schemas.openxmlformats.org/officeDocument/2006/relationships/slide" Target="slides/slide61.xml"/>
  <Relationship Id="rId68" Type="http://schemas.openxmlformats.org/officeDocument/2006/relationships/slide" Target="slides/slide62.xml"/>
  <Relationship Id="rId69" Type="http://schemas.openxmlformats.org/officeDocument/2006/relationships/slide" Target="slides/slide63.xml"/>
  <Relationship Id="rId70" Type="http://schemas.openxmlformats.org/officeDocument/2006/relationships/slide" Target="slides/slide64.xml"/>
  <Relationship Id="rId71" Type="http://schemas.openxmlformats.org/officeDocument/2006/relationships/slide" Target="slides/slide65.xml"/>
  <Relationship Id="rId72" Type="http://schemas.openxmlformats.org/officeDocument/2006/relationships/slide" Target="slides/slide66.xml"/>
  <Relationship Id="rId73" Type="http://schemas.openxmlformats.org/officeDocument/2006/relationships/slide" Target="slides/slide67.xml"/>
  <Relationship Id="rId74" Type="http://schemas.openxmlformats.org/officeDocument/2006/relationships/slide" Target="slides/slide68.xml"/>
  <Relationship Id="rId75" Type="http://schemas.openxmlformats.org/officeDocument/2006/relationships/slide" Target="slides/slide69.xml"/>
  <Relationship Id="rId76" Type="http://schemas.openxmlformats.org/officeDocument/2006/relationships/slide" Target="slides/slide70.xml"/>
  <Relationship Id="rId77" Type="http://schemas.openxmlformats.org/officeDocument/2006/relationships/slide" Target="slides/slide71.xml"/>
  <Relationship Id="rId78" Type="http://schemas.openxmlformats.org/officeDocument/2006/relationships/slide" Target="slides/slide72.xml"/>
  <Relationship Id="rId79" Type="http://schemas.openxmlformats.org/officeDocument/2006/relationships/slide" Target="slides/slide73.xml"/>
  <Relationship Id="rId80" Type="http://schemas.openxmlformats.org/officeDocument/2006/relationships/slide" Target="slides/slide74.xml"/>
  <Relationship Id="rId81" Type="http://schemas.openxmlformats.org/officeDocument/2006/relationships/slide" Target="slides/slide75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755A7"/>
                </a:solidFill>
                <a:latin typeface="+mn-lt"/>
              </a:rPr>
              <a:t>Running proportion of heads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Proportion of heads</c:v>
                </c:pt>
              </c:strCache>
            </c:strRef>
          </c:tx>
          <c:spPr>
            <a:solidFill>
              <a:srgbClr val="8C8AE0"/>
            </a:solidFill>
            <a:ln w="38100" cap="flat">
              <a:solidFill>
                <a:srgbClr val="8C8A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C8AE0"/>
              </a:solidFill>
              <a:ln w="9525" cap="flat">
                <a:solidFill>
                  <a:srgbClr val="8C8A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</c:v>
                  </c:pt>
                  <c:pt idx="1">
                    <c:v>20</c:v>
                  </c:pt>
                  <c:pt idx="2">
                    <c:v>50</c:v>
                  </c:pt>
                  <c:pt idx="3">
                    <c:v>100</c:v>
                  </c:pt>
                  <c:pt idx="4">
                    <c:v>200</c:v>
                  </c:pt>
                  <c:pt idx="5">
                    <c:v>500</c:v>
                  </c:pt>
                  <c:pt idx="6">
                    <c:v>1000</c:v>
                  </c:pt>
                  <c:pt idx="7">
                    <c:v>2000</c:v>
                  </c:pt>
                  <c:pt idx="8">
                    <c:v>5000</c:v>
                  </c:pt>
                  <c:pt idx="9">
                    <c:v>10000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</c:v>
                </c:pt>
                <c:pt idx="1">
                  <c:v>0.55</c:v>
                </c:pt>
                <c:pt idx="2">
                  <c:v>0.54</c:v>
                </c:pt>
                <c:pt idx="3">
                  <c:v>0.56</c:v>
                </c:pt>
                <c:pt idx="4">
                  <c:v>0.525</c:v>
                </c:pt>
                <c:pt idx="5">
                  <c:v>0.528</c:v>
                </c:pt>
                <c:pt idx="6">
                  <c:v>0.516</c:v>
                </c:pt>
                <c:pt idx="7">
                  <c:v>0.505</c:v>
                </c:pt>
                <c:pt idx="8">
                  <c:v>0.501</c:v>
                </c:pt>
                <c:pt idx="9">
                  <c:v>0.493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True P = 0.5</c:v>
                </c:pt>
              </c:strCache>
            </c:strRef>
          </c:tx>
          <c:spPr>
            <a:solidFill>
              <a:srgbClr val="2DD4BF"/>
            </a:solidFill>
            <a:ln w="38100" cap="flat">
              <a:solidFill>
                <a:srgbClr val="2DD4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</c:v>
                  </c:pt>
                  <c:pt idx="1">
                    <c:v>20</c:v>
                  </c:pt>
                  <c:pt idx="2">
                    <c:v>50</c:v>
                  </c:pt>
                  <c:pt idx="3">
                    <c:v>100</c:v>
                  </c:pt>
                  <c:pt idx="4">
                    <c:v>200</c:v>
                  </c:pt>
                  <c:pt idx="5">
                    <c:v>500</c:v>
                  </c:pt>
                  <c:pt idx="6">
                    <c:v>1000</c:v>
                  </c:pt>
                  <c:pt idx="7">
                    <c:v>2000</c:v>
                  </c:pt>
                  <c:pt idx="8">
                    <c:v>5000</c:v>
                  </c:pt>
                  <c:pt idx="9">
                    <c:v>10000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4651"/>
                    </a:solidFill>
                    <a:latin typeface="+mn-lt"/>
                  </a:rPr>
                  <a:t>Number of flips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4"/>
        </c:scaling>
        <c:delete val="0"/>
        <c:axPos val="l"/>
        <c:majorGridlines>
          <c:spPr>
            <a:ln w="9525" cap="flat">
              <a:solidFill>
                <a:srgbClr val="E5E3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46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755A7"/>
                </a:solidFill>
                <a:latin typeface="+mn-lt"/>
              </a:rPr>
              <a:t>P(all heads) after n flips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P(all heads)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</c:v>
                </c:pt>
                <c:pt idx="1">
                  <c:v>0.25</c:v>
                </c:pt>
                <c:pt idx="2">
                  <c:v>0.125</c:v>
                </c:pt>
                <c:pt idx="3">
                  <c:v>0.0625</c:v>
                </c:pt>
                <c:pt idx="4">
                  <c:v>0.0312</c:v>
                </c:pt>
                <c:pt idx="5">
                  <c:v>0.0156</c:v>
                </c:pt>
                <c:pt idx="6">
                  <c:v>0.0078</c:v>
                </c:pt>
                <c:pt idx="7">
                  <c:v>0.0039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4651"/>
                    </a:solidFill>
                    <a:latin typeface="+mn-lt"/>
                  </a:rPr>
                  <a:t>Number of flips in a row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E5E3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755A7"/>
                </a:solidFill>
                <a:latin typeface="+mn-lt"/>
              </a:rPr>
              <a:t>P(disease | positive test) for a 95%-accurate test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P(disease | positive)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0.1%</c:v>
                  </c:pt>
                  <c:pt idx="1">
                    <c:v>1%</c:v>
                  </c:pt>
                  <c:pt idx="2">
                    <c:v>5%</c:v>
                  </c:pt>
                  <c:pt idx="3">
                    <c:v>10%</c:v>
                  </c:pt>
                  <c:pt idx="4">
                    <c:v>20%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1.9</c:v>
                </c:pt>
                <c:pt idx="1">
                  <c:v>16.1</c:v>
                </c:pt>
                <c:pt idx="2">
                  <c:v>50</c:v>
                </c:pt>
                <c:pt idx="3">
                  <c:v>67.9</c:v>
                </c:pt>
                <c:pt idx="4">
                  <c:v>82.6</c:v>
                </c:pt>
                <c:pt idx="5">
                  <c:v>95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4651"/>
                    </a:solidFill>
                    <a:latin typeface="+mn-lt"/>
                  </a:rPr>
                  <a:t>How common the disease is (the prior)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3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Uniform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0.16666666666666666</c:v>
                </c:pt>
                <c:pt idx="1">
                  <c:v>0.16666666666666666</c:v>
                </c:pt>
                <c:pt idx="2">
                  <c:v>0.16666666666666666</c:v>
                </c:pt>
                <c:pt idx="3">
                  <c:v>0.16666666666666666</c:v>
                </c:pt>
                <c:pt idx="4">
                  <c:v>0.16666666666666666</c:v>
                </c:pt>
                <c:pt idx="5">
                  <c:v>0.16666666666666666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Binomial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0.001</c:v>
                </c:pt>
                <c:pt idx="1">
                  <c:v>0.0098</c:v>
                </c:pt>
                <c:pt idx="2">
                  <c:v>0.0439</c:v>
                </c:pt>
                <c:pt idx="3">
                  <c:v>0.1172</c:v>
                </c:pt>
                <c:pt idx="4">
                  <c:v>0.2051</c:v>
                </c:pt>
                <c:pt idx="5">
                  <c:v>0.2461</c:v>
                </c:pt>
                <c:pt idx="6">
                  <c:v>0.2051</c:v>
                </c:pt>
                <c:pt idx="7">
                  <c:v>0.1172</c:v>
                </c:pt>
                <c:pt idx="8">
                  <c:v>0.0439</c:v>
                </c:pt>
                <c:pt idx="9">
                  <c:v>0.0098</c:v>
                </c:pt>
                <c:pt idx="10">
                  <c:v>0.001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 </c:v>
                  </c:pt>
                  <c:pt idx="1">
                    <c:v>-3</c:v>
                  </c:pt>
                  <c:pt idx="2">
                    <c:v> </c:v>
                  </c:pt>
                  <c:pt idx="3">
                    <c:v>-2</c:v>
                  </c:pt>
                  <c:pt idx="4">
                    <c:v> </c:v>
                  </c:pt>
                  <c:pt idx="5">
                    <c:v>-1</c:v>
                  </c:pt>
                  <c:pt idx="6">
                    <c:v> </c:v>
                  </c:pt>
                  <c:pt idx="7">
                    <c:v>0</c:v>
                  </c:pt>
                  <c:pt idx="8">
                    <c:v> </c:v>
                  </c:pt>
                  <c:pt idx="9">
                    <c:v>1</c:v>
                  </c:pt>
                  <c:pt idx="10">
                    <c:v> </c:v>
                  </c:pt>
                  <c:pt idx="11">
                    <c:v>2</c:v>
                  </c:pt>
                  <c:pt idx="12">
                    <c:v> </c:v>
                  </c:pt>
                  <c:pt idx="13">
                    <c:v>3</c:v>
                  </c:pt>
                  <c:pt idx="14">
                    <c:v> 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0.0009</c:v>
                </c:pt>
                <c:pt idx="1">
                  <c:v>0.0044</c:v>
                </c:pt>
                <c:pt idx="2">
                  <c:v>0.0175</c:v>
                </c:pt>
                <c:pt idx="3">
                  <c:v>0.054</c:v>
                </c:pt>
                <c:pt idx="4">
                  <c:v>0.1295</c:v>
                </c:pt>
                <c:pt idx="5">
                  <c:v>0.242</c:v>
                </c:pt>
                <c:pt idx="6">
                  <c:v>0.3521</c:v>
                </c:pt>
                <c:pt idx="7">
                  <c:v>0.3989</c:v>
                </c:pt>
                <c:pt idx="8">
                  <c:v>0.3521</c:v>
                </c:pt>
                <c:pt idx="9">
                  <c:v>0.242</c:v>
                </c:pt>
                <c:pt idx="10">
                  <c:v>0.1295</c:v>
                </c:pt>
                <c:pt idx="11">
                  <c:v>0.054</c:v>
                </c:pt>
                <c:pt idx="12">
                  <c:v>0.0175</c:v>
                </c:pt>
                <c:pt idx="13">
                  <c:v>0.0044</c:v>
                </c:pt>
                <c:pt idx="14">
                  <c:v>0.0009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755A7"/>
                </a:solidFill>
                <a:latin typeface="+mn-lt"/>
              </a:rPr>
              <a:t>P(X = k) for n = 10, p = 0.5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P(X = k)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C8AE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0.001</c:v>
                </c:pt>
                <c:pt idx="1">
                  <c:v>0.0098</c:v>
                </c:pt>
                <c:pt idx="2">
                  <c:v>0.0439</c:v>
                </c:pt>
                <c:pt idx="3">
                  <c:v>0.1172</c:v>
                </c:pt>
                <c:pt idx="4">
                  <c:v>0.2051</c:v>
                </c:pt>
                <c:pt idx="5">
                  <c:v>0.2461</c:v>
                </c:pt>
                <c:pt idx="6">
                  <c:v>0.2051</c:v>
                </c:pt>
                <c:pt idx="7">
                  <c:v>0.1172</c:v>
                </c:pt>
                <c:pt idx="8">
                  <c:v>0.0439</c:v>
                </c:pt>
                <c:pt idx="9">
                  <c:v>0.0098</c:v>
                </c:pt>
                <c:pt idx="10">
                  <c:v>0.001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4651"/>
                    </a:solidFill>
                    <a:latin typeface="+mn-lt"/>
                  </a:rPr>
                  <a:t>Number of heads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majorGridlines>
          <c:spPr>
            <a:ln w="9525" cap="flat">
              <a:solidFill>
                <a:srgbClr val="E5E3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755A7"/>
                </a:solidFill>
                <a:latin typeface="+mn-lt"/>
              </a:rPr>
              <a:t>Standard normal curve (z-scores)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±1σ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Sheet1!$A$2:$A$34</c:f>
              <c:multiLvlStrCache>
                <c:ptCount val="33"/>
                <c:lvl>
                  <c:pt idx="0">
                    <c:v>-4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-3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-2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-1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0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3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4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0.3011</c:v>
                </c:pt>
                <c:pt idx="14">
                  <c:v>0.3521</c:v>
                </c:pt>
                <c:pt idx="15">
                  <c:v>0.3867</c:v>
                </c:pt>
                <c:pt idx="16">
                  <c:v>0.3989</c:v>
                </c:pt>
                <c:pt idx="17">
                  <c:v>0.3867</c:v>
                </c:pt>
                <c:pt idx="18">
                  <c:v>0.3521</c:v>
                </c:pt>
                <c:pt idx="19">
                  <c:v>0.3011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±1σ to ±2σ</c:v>
                </c:pt>
              </c:strCache>
            </c:strRef>
          </c:tx>
          <c:spPr>
            <a:solidFill>
              <a:srgbClr val="B9B8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Sheet1!$A$2:$A$34</c:f>
              <c:multiLvlStrCache>
                <c:ptCount val="33"/>
                <c:lvl>
                  <c:pt idx="0">
                    <c:v>-4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-3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-2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-1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0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3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4</c:v>
                  </c:pt>
                </c:lvl>
              </c:multiLvlStrCache>
            </c:multiLvl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0.0863</c:v>
                </c:pt>
                <c:pt idx="10">
                  <c:v>0.1295</c:v>
                </c:pt>
                <c:pt idx="11">
                  <c:v>0.1826</c:v>
                </c:pt>
                <c:pt idx="12">
                  <c:v>0.242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0.242</c:v>
                </c:pt>
                <c:pt idx="21">
                  <c:v>0.1826</c:v>
                </c:pt>
                <c:pt idx="22">
                  <c:v>0.1295</c:v>
                </c:pt>
                <c:pt idx="23">
                  <c:v>0.0863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±2σ to ±3σ</c:v>
                </c:pt>
              </c:strCache>
            </c:strRef>
          </c:tx>
          <c:spPr>
            <a:solidFill>
              <a:srgbClr val="D9D7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Sheet1!$A$2:$A$34</c:f>
              <c:multiLvlStrCache>
                <c:ptCount val="33"/>
                <c:lvl>
                  <c:pt idx="0">
                    <c:v>-4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-3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-2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-1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0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3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4</c:v>
                  </c:pt>
                </c:lvl>
              </c:multiLvlStrCache>
            </c:multiLvl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0.0091</c:v>
                </c:pt>
                <c:pt idx="6">
                  <c:v>0.0175</c:v>
                </c:pt>
                <c:pt idx="7">
                  <c:v>0.0317</c:v>
                </c:pt>
                <c:pt idx="8">
                  <c:v>0.054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0.054</c:v>
                </c:pt>
                <c:pt idx="25">
                  <c:v>0.0317</c:v>
                </c:pt>
                <c:pt idx="26">
                  <c:v>0.0175</c:v>
                </c:pt>
                <c:pt idx="27">
                  <c:v>0.0091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Beyond ±3σ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Sheet1!$A$2:$A$34</c:f>
              <c:multiLvlStrCache>
                <c:ptCount val="33"/>
                <c:lvl>
                  <c:pt idx="0">
                    <c:v>-4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-3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-2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-1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0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3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4</c:v>
                  </c:pt>
                </c:lvl>
              </c:multiLvlStrCache>
            </c:multiLvlStrRef>
          </c:cat>
          <c:val>
            <c:numRef>
              <c:f>Sheet1!$E$2:$E$34</c:f>
              <c:numCache>
                <c:formatCode>General</c:formatCode>
                <c:ptCount val="33"/>
                <c:pt idx="0">
                  <c:v>0.0001</c:v>
                </c:pt>
                <c:pt idx="1">
                  <c:v>0.0004</c:v>
                </c:pt>
                <c:pt idx="2">
                  <c:v>0.0009</c:v>
                </c:pt>
                <c:pt idx="3">
                  <c:v>0.002</c:v>
                </c:pt>
                <c:pt idx="4">
                  <c:v>0.0044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0.0044</c:v>
                </c:pt>
                <c:pt idx="29">
                  <c:v>0.002</c:v>
                </c:pt>
                <c:pt idx="30">
                  <c:v>0.0009</c:v>
                </c:pt>
                <c:pt idx="31">
                  <c:v>0.0004</c:v>
                </c:pt>
                <c:pt idx="32">
                  <c:v>0.0001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474651"/>
                    </a:solidFill>
                    <a:latin typeface="+mn-lt"/>
                  </a:rPr>
                  <a:t>z-score (standard deviations from the mean)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46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 population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0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  <c:pt idx="4">
                    <c:v>16</c:v>
                  </c:pt>
                  <c:pt idx="5">
                    <c:v>20</c:v>
                  </c:pt>
                  <c:pt idx="6">
                    <c:v>24</c:v>
                  </c:pt>
                  <c:pt idx="7">
                    <c:v>28</c:v>
                  </c:pt>
                  <c:pt idx="8">
                    <c:v>32</c:v>
                  </c:pt>
                  <c:pt idx="9">
                    <c:v>36</c:v>
                  </c:pt>
                  <c:pt idx="10">
                    <c:v>40</c:v>
                  </c:pt>
                  <c:pt idx="11">
                    <c:v>44</c:v>
                  </c:pt>
                  <c:pt idx="12">
                    <c:v>48</c:v>
                  </c:pt>
                  <c:pt idx="13">
                    <c:v>52</c:v>
                  </c:pt>
                  <c:pt idx="14">
                    <c:v>56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32.79</c:v>
                </c:pt>
                <c:pt idx="1">
                  <c:v>22.17</c:v>
                </c:pt>
                <c:pt idx="2">
                  <c:v>14.88</c:v>
                </c:pt>
                <c:pt idx="3">
                  <c:v>9.85</c:v>
                </c:pt>
                <c:pt idx="4">
                  <c:v>6.72</c:v>
                </c:pt>
                <c:pt idx="5">
                  <c:v>4.42</c:v>
                </c:pt>
                <c:pt idx="6">
                  <c:v>3.02</c:v>
                </c:pt>
                <c:pt idx="7">
                  <c:v>2</c:v>
                </c:pt>
                <c:pt idx="8">
                  <c:v>1.39</c:v>
                </c:pt>
                <c:pt idx="9">
                  <c:v>0.87</c:v>
                </c:pt>
                <c:pt idx="10">
                  <c:v>0.67</c:v>
                </c:pt>
                <c:pt idx="11">
                  <c:v>0.39</c:v>
                </c:pt>
                <c:pt idx="12">
                  <c:v>0.26</c:v>
                </c:pt>
                <c:pt idx="13">
                  <c:v>0.19</c:v>
                </c:pt>
                <c:pt idx="14">
                  <c:v>0.12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 means, n = 5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  <c:pt idx="12">
                    <c:v>24</c:v>
                  </c:pt>
                  <c:pt idx="13">
                    <c:v>26</c:v>
                  </c:pt>
                  <c:pt idx="14">
                    <c:v>28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0.27</c:v>
                </c:pt>
                <c:pt idx="1">
                  <c:v>5.03</c:v>
                </c:pt>
                <c:pt idx="2">
                  <c:v>13.43</c:v>
                </c:pt>
                <c:pt idx="3">
                  <c:v>18.47</c:v>
                </c:pt>
                <c:pt idx="4">
                  <c:v>18.8</c:v>
                </c:pt>
                <c:pt idx="5">
                  <c:v>16.73</c:v>
                </c:pt>
                <c:pt idx="6">
                  <c:v>10.2</c:v>
                </c:pt>
                <c:pt idx="7">
                  <c:v>6.73</c:v>
                </c:pt>
                <c:pt idx="8">
                  <c:v>4.27</c:v>
                </c:pt>
                <c:pt idx="9">
                  <c:v>2.93</c:v>
                </c:pt>
                <c:pt idx="10">
                  <c:v>1.47</c:v>
                </c:pt>
                <c:pt idx="11">
                  <c:v>0.83</c:v>
                </c:pt>
                <c:pt idx="12">
                  <c:v>0.53</c:v>
                </c:pt>
                <c:pt idx="13">
                  <c:v>0.1</c:v>
                </c:pt>
                <c:pt idx="14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 means, n = 30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9</c:v>
                  </c:pt>
                  <c:pt idx="6">
                    <c:v>10</c:v>
                  </c:pt>
                  <c:pt idx="7">
                    <c:v>11</c:v>
                  </c:pt>
                  <c:pt idx="8">
                    <c:v>12</c:v>
                  </c:pt>
                  <c:pt idx="9">
                    <c:v>13</c:v>
                  </c:pt>
                  <c:pt idx="10">
                    <c:v>14</c:v>
                  </c:pt>
                  <c:pt idx="11">
                    <c:v>15</c:v>
                  </c:pt>
                  <c:pt idx="12">
                    <c:v>16</c:v>
                  </c:pt>
                  <c:pt idx="13">
                    <c:v>17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0.33</c:v>
                </c:pt>
                <c:pt idx="2">
                  <c:v>3.23</c:v>
                </c:pt>
                <c:pt idx="3">
                  <c:v>10.03</c:v>
                </c:pt>
                <c:pt idx="4">
                  <c:v>16.57</c:v>
                </c:pt>
                <c:pt idx="5">
                  <c:v>20.47</c:v>
                </c:pt>
                <c:pt idx="6">
                  <c:v>19.77</c:v>
                </c:pt>
                <c:pt idx="7">
                  <c:v>14.9</c:v>
                </c:pt>
                <c:pt idx="8">
                  <c:v>8.13</c:v>
                </c:pt>
                <c:pt idx="9">
                  <c:v>4</c:v>
                </c:pt>
                <c:pt idx="10">
                  <c:v>1.87</c:v>
                </c:pt>
                <c:pt idx="11">
                  <c:v>0.47</c:v>
                </c:pt>
                <c:pt idx="12">
                  <c:v>0.13</c:v>
                </c:pt>
                <c:pt idx="13">
                  <c:v>0.07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20. Probability is the bridge between descriptive statistics (Sessions 18–19) and inferential statistics (Sessions 21–22).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concept today follows the same rhythm: explanation, then a picture, then a few lines of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for a time they said 'probably' — then show that probability makes that precise.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along the teal diagonal: 1+6, 2+5, 3+4, 4+3, 5+2, 6+1.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idea as standard error: more data, less wobble.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overlap: both circles include it, so a plain sum counts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Deciding whether events are independent is often the hardest judgement call in a real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Conditioning means: throw away every outcome where B is false, then count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 for Bayes: a test gives P(positive | disease), but a patient needs P(disease | positive).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= hypothesis (has the disease). B = evidence (tested positive).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Disease prevalence 1%, test sensitivity 95%, specificity 95%. Read left to right: split by disease, then by test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shape fits depends entirely on what you are measuring.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19's empirical rule, now stated as probabilities.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theorem is why Sessions 21 and 22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simulation: exponential population (mean 10), 3,000 samples at each size. Histograms show the share of means in each bin.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DARK_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_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DARK_END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2651760" cy="862279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1F5F9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13232" y="3703320"/>
            <a:ext cx="9601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94A3B8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5" name="Shape 0"/>
          <p:cNvSpPr/>
          <p:nvPr/>
        </p:nvSpPr>
        <p:spPr>
          <a:xfrm>
            <a:off x="713232" y="4572000"/>
            <a:ext cx="2926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713232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CodeByPaxto: The AI &amp; ML Playground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713232" y="5001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Hafiz Waseem Ahmed (Paxto)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1F5F9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94A3B8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783080"/>
            <a:ext cx="10332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1F5F9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926080"/>
            <a:ext cx="100584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E0E7FF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52120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2DD4B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465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CodeByPaxto  ·  AI &amp; ML Playground  ·  Hafiz Waseem Ahmed (Paxto)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B1B2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ASKS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465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CodeByPaxto  ·  AI &amp; ML Playground  ·  Hafiz Waseem Ahmed (Paxto)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300" b="1" dirty="0">
                <a:solidFill>
                  <a:srgbClr val="1B1B20"/>
                </a:solidFill>
              </a:defRPr>
            </a:lvl1pPr>
          </a:lstStyle>
          <a:p>
            <a:pPr algn="l" indent="0" marL="0">
              <a:buNone/>
            </a:pPr>
            <a:endParaRPr lang="en-US" sz="23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i="1" dirty="0">
                <a:solidFill>
                  <a:srgbClr val="47465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chart" Target="/ppt/charts/chart11.xml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ssion pill"/>
          <p:cNvSpPr/>
          <p:nvPr/>
        </p:nvSpPr>
        <p:spPr>
          <a:xfrm>
            <a:off x="713232" y="2331720"/>
            <a:ext cx="393192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Session label"/>
          <p:cNvSpPr txBox="1"/>
          <p:nvPr/>
        </p:nvSpPr>
        <p:spPr>
          <a:xfrm>
            <a:off x="713232" y="2331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7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 20  ·  AI &amp; ML PLAYGROUND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58368" y="2788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Probability</a:t>
            </a:r>
            <a:endParaRPr lang="en-US" sz="4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3232" y="3703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94A3B8"/>
                </a:solidFill>
              </a:rPr>
              <a:t>Rules, Conditional Probability, Bayes’ Theorem &amp; the Central Limit Theorem — with Python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What We’re Covering Today</a:t>
            </a:r>
            <a:endParaRPr lang="en-US" sz="2600" dirty="0"/>
          </a:p>
        </p:txBody>
      </p:sp>
      <p:sp>
        <p:nvSpPr>
          <p:cNvPr id="3" name="Row 1"/>
          <p:cNvSpPr/>
          <p:nvPr/>
        </p:nvSpPr>
        <p:spPr>
          <a:xfrm>
            <a:off x="548640" y="1371600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Row chip 1"/>
          <p:cNvSpPr/>
          <p:nvPr/>
        </p:nvSpPr>
        <p:spPr>
          <a:xfrm>
            <a:off x="731520" y="1517904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Row number 1"/>
          <p:cNvSpPr txBox="1"/>
          <p:nvPr/>
        </p:nvSpPr>
        <p:spPr>
          <a:xfrm>
            <a:off x="731520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Row text 1"/>
          <p:cNvSpPr txBox="1"/>
          <p:nvPr/>
        </p:nvSpPr>
        <p:spPr>
          <a:xfrm>
            <a:off x="1234440" y="137160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probability is — sample space, events and the basic rules</a:t>
            </a:r>
            <a:endParaRPr lang="en-US" sz="1400" dirty="0"/>
          </a:p>
        </p:txBody>
      </p:sp>
      <p:sp>
        <p:nvSpPr>
          <p:cNvPr id="7" name="Row 2"/>
          <p:cNvSpPr/>
          <p:nvPr/>
        </p:nvSpPr>
        <p:spPr>
          <a:xfrm>
            <a:off x="548640" y="2084832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2"/>
          <p:cNvSpPr/>
          <p:nvPr/>
        </p:nvSpPr>
        <p:spPr>
          <a:xfrm>
            <a:off x="731520" y="223113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2"/>
          <p:cNvSpPr txBox="1"/>
          <p:nvPr/>
        </p:nvSpPr>
        <p:spPr>
          <a:xfrm>
            <a:off x="73152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Row text 2"/>
          <p:cNvSpPr txBox="1"/>
          <p:nvPr/>
        </p:nvSpPr>
        <p:spPr>
          <a:xfrm>
            <a:off x="1234440" y="2084832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Combining probabilities — “or”, “and” and independence</a:t>
            </a:r>
            <a:endParaRPr lang="en-US" sz="1400" dirty="0"/>
          </a:p>
        </p:txBody>
      </p:sp>
      <p:sp>
        <p:nvSpPr>
          <p:cNvPr id="11" name="Row 3"/>
          <p:cNvSpPr/>
          <p:nvPr/>
        </p:nvSpPr>
        <p:spPr>
          <a:xfrm>
            <a:off x="548640" y="2798064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3"/>
          <p:cNvSpPr/>
          <p:nvPr/>
        </p:nvSpPr>
        <p:spPr>
          <a:xfrm>
            <a:off x="731520" y="294436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3"/>
          <p:cNvSpPr txBox="1"/>
          <p:nvPr/>
        </p:nvSpPr>
        <p:spPr>
          <a:xfrm>
            <a:off x="7315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Row text 3"/>
          <p:cNvSpPr txBox="1"/>
          <p:nvPr/>
        </p:nvSpPr>
        <p:spPr>
          <a:xfrm>
            <a:off x="1234440" y="2798064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Conditional probability — how new information changes the odds</a:t>
            </a:r>
            <a:endParaRPr lang="en-US" sz="1400" dirty="0"/>
          </a:p>
        </p:txBody>
      </p:sp>
      <p:sp>
        <p:nvSpPr>
          <p:cNvPr id="15" name="Row 4"/>
          <p:cNvSpPr/>
          <p:nvPr/>
        </p:nvSpPr>
        <p:spPr>
          <a:xfrm>
            <a:off x="548640" y="3511296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4"/>
          <p:cNvSpPr/>
          <p:nvPr/>
        </p:nvSpPr>
        <p:spPr>
          <a:xfrm>
            <a:off x="731520" y="365760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4"/>
          <p:cNvSpPr txBox="1"/>
          <p:nvPr/>
        </p:nvSpPr>
        <p:spPr>
          <a:xfrm>
            <a:off x="73152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Row text 4"/>
          <p:cNvSpPr txBox="1"/>
          <p:nvPr/>
        </p:nvSpPr>
        <p:spPr>
          <a:xfrm>
            <a:off x="1234440" y="3511296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Bayes’ Theorem — updating belief, and the medical-test paradox</a:t>
            </a:r>
            <a:endParaRPr lang="en-US" sz="1400" dirty="0"/>
          </a:p>
        </p:txBody>
      </p:sp>
      <p:sp>
        <p:nvSpPr>
          <p:cNvPr id="19" name="Row 5"/>
          <p:cNvSpPr/>
          <p:nvPr/>
        </p:nvSpPr>
        <p:spPr>
          <a:xfrm>
            <a:off x="548640" y="4224528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5"/>
          <p:cNvSpPr/>
          <p:nvPr/>
        </p:nvSpPr>
        <p:spPr>
          <a:xfrm>
            <a:off x="731520" y="4370832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5"/>
          <p:cNvSpPr txBox="1"/>
          <p:nvPr/>
        </p:nvSpPr>
        <p:spPr>
          <a:xfrm>
            <a:off x="73152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Row text 5"/>
          <p:cNvSpPr txBox="1"/>
          <p:nvPr/>
        </p:nvSpPr>
        <p:spPr>
          <a:xfrm>
            <a:off x="1234440" y="4224528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Distributions — Uniform, Binomial and Normal</a:t>
            </a:r>
            <a:endParaRPr lang="en-US" sz="1400" dirty="0"/>
          </a:p>
        </p:txBody>
      </p:sp>
      <p:sp>
        <p:nvSpPr>
          <p:cNvPr id="23" name="Row 6"/>
          <p:cNvSpPr/>
          <p:nvPr/>
        </p:nvSpPr>
        <p:spPr>
          <a:xfrm>
            <a:off x="548640" y="4937760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4" name="Row chip 6"/>
          <p:cNvSpPr/>
          <p:nvPr/>
        </p:nvSpPr>
        <p:spPr>
          <a:xfrm>
            <a:off x="731520" y="5084064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Row number 6"/>
          <p:cNvSpPr txBox="1"/>
          <p:nvPr/>
        </p:nvSpPr>
        <p:spPr>
          <a:xfrm>
            <a:off x="731520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Row text 6"/>
          <p:cNvSpPr txBox="1"/>
          <p:nvPr/>
        </p:nvSpPr>
        <p:spPr>
          <a:xfrm>
            <a:off x="1234440" y="493776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Central Limit Theorem — why inferential tests are allowed to work</a:t>
            </a:r>
            <a:endParaRPr lang="en-US" sz="1400" dirty="0"/>
          </a:p>
        </p:txBody>
      </p:sp>
      <p:sp>
        <p:nvSpPr>
          <p:cNvPr id="27" name="Row 7"/>
          <p:cNvSpPr/>
          <p:nvPr/>
        </p:nvSpPr>
        <p:spPr>
          <a:xfrm>
            <a:off x="548640" y="5650992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8" name="Row chip 7"/>
          <p:cNvSpPr/>
          <p:nvPr/>
        </p:nvSpPr>
        <p:spPr>
          <a:xfrm>
            <a:off x="731520" y="579729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Row number 7"/>
          <p:cNvSpPr txBox="1"/>
          <p:nvPr/>
        </p:nvSpPr>
        <p:spPr>
          <a:xfrm>
            <a:off x="731520" y="5797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Row text 7"/>
          <p:cNvSpPr txBox="1"/>
          <p:nvPr/>
        </p:nvSpPr>
        <p:spPr>
          <a:xfrm>
            <a:off x="1234440" y="5650992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Tasks and a mini project: Bayes’ Theorem in a real decision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Python Setup for This Session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Three tools cover everything today: numpy, scipy and itertools (built in).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numpy simulates random events; scipy.stats gives exact probabilities.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Every snippet is small — copy, run, then change the numbers.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One-time install (in your terminal):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pip install numpy scipy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import numpy as np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from scipy import stats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import itertools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rng = np.random.default_rng(42)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fixed seed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print(rng.integers(1, 7))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# a die roll: 1 to 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Foundations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The vocabulary and the basic rules everything else builds 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What Is Probability, Really?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number for uncertainty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probability is a number from 0 to 1: 0 means impossible, 1 means certain.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replaces vague words like “probably” with something you can calculate.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p-values, confidence levels and significance (Sessions 21–22) are all probability statements.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You already reason this way informally — today adds precise rules.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Sample Space &amp; Events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Every possible outcome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sample space is the set of every possible outcome: 6 die faces, 2 coin sides, 40 students.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 event is any subset you care about: “an even number”, “a student who knows ML”, “at least one head”.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With equally likely outcomes, a probability is just counting: favorable ÷ total.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Every other rule today builds on this idea.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Sample Space Picture: Two Dice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 of 36 outcomes sum to 7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Each cell is one outcome; the number inside is the sum.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The teal diagonal is the event “sum = 7”.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P(sum = 7) = 6/36 = 1/6 ≈ 0.167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No other sum can be made in as many ways.</a:t>
            </a:r>
            <a:endParaRPr lang="en-US" sz="1400" dirty="0"/>
          </a:p>
        </p:txBody>
      </p:sp>
      <p:sp>
        <p:nvSpPr>
          <p:cNvPr id="8" name="Graph title"/>
          <p:cNvSpPr txBox="1"/>
          <p:nvPr/>
        </p:nvSpPr>
        <p:spPr>
          <a:xfrm>
            <a:off x="777240" y="175564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755A7"/>
                </a:solidFill>
              </a:rPr>
              <a:t>Two dice: all 36 outcomes</a:t>
            </a:r>
            <a:endParaRPr lang="en-US" sz="1400" dirty="0"/>
          </a:p>
        </p:txBody>
      </p:sp>
      <p:sp>
        <p:nvSpPr>
          <p:cNvPr id="9" name="Die 1 label 1"/>
          <p:cNvSpPr txBox="1"/>
          <p:nvPr/>
        </p:nvSpPr>
        <p:spPr>
          <a:xfrm>
            <a:off x="2468880" y="2487168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Die 2 label 1"/>
          <p:cNvSpPr txBox="1"/>
          <p:nvPr/>
        </p:nvSpPr>
        <p:spPr>
          <a:xfrm>
            <a:off x="2880360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Dice cell 1-1"/>
          <p:cNvSpPr/>
          <p:nvPr/>
        </p:nvSpPr>
        <p:spPr>
          <a:xfrm>
            <a:off x="2907792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Dice cell 1-2"/>
          <p:cNvSpPr/>
          <p:nvPr/>
        </p:nvSpPr>
        <p:spPr>
          <a:xfrm>
            <a:off x="3438144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Dice cell 1-3"/>
          <p:cNvSpPr/>
          <p:nvPr/>
        </p:nvSpPr>
        <p:spPr>
          <a:xfrm>
            <a:off x="3968496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Dice cell 1-4"/>
          <p:cNvSpPr/>
          <p:nvPr/>
        </p:nvSpPr>
        <p:spPr>
          <a:xfrm>
            <a:off x="4498848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Dice cell 1-5"/>
          <p:cNvSpPr/>
          <p:nvPr/>
        </p:nvSpPr>
        <p:spPr>
          <a:xfrm>
            <a:off x="5029200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16" name="Dice cell 1-6"/>
          <p:cNvSpPr/>
          <p:nvPr/>
        </p:nvSpPr>
        <p:spPr>
          <a:xfrm>
            <a:off x="5559552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17" name="Die 1 label 2"/>
          <p:cNvSpPr txBox="1"/>
          <p:nvPr/>
        </p:nvSpPr>
        <p:spPr>
          <a:xfrm>
            <a:off x="2468880" y="301752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Die 2 label 2"/>
          <p:cNvSpPr txBox="1"/>
          <p:nvPr/>
        </p:nvSpPr>
        <p:spPr>
          <a:xfrm>
            <a:off x="3410712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Dice cell 2-1"/>
          <p:cNvSpPr/>
          <p:nvPr/>
        </p:nvSpPr>
        <p:spPr>
          <a:xfrm>
            <a:off x="2907792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Dice cell 2-2"/>
          <p:cNvSpPr/>
          <p:nvPr/>
        </p:nvSpPr>
        <p:spPr>
          <a:xfrm>
            <a:off x="3438144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Dice cell 2-3"/>
          <p:cNvSpPr/>
          <p:nvPr/>
        </p:nvSpPr>
        <p:spPr>
          <a:xfrm>
            <a:off x="3968496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Dice cell 2-4"/>
          <p:cNvSpPr/>
          <p:nvPr/>
        </p:nvSpPr>
        <p:spPr>
          <a:xfrm>
            <a:off x="4498848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23" name="Dice cell 2-5"/>
          <p:cNvSpPr/>
          <p:nvPr/>
        </p:nvSpPr>
        <p:spPr>
          <a:xfrm>
            <a:off x="5029200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Dice cell 2-6"/>
          <p:cNvSpPr/>
          <p:nvPr/>
        </p:nvSpPr>
        <p:spPr>
          <a:xfrm>
            <a:off x="5559552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25" name="Die 1 label 3"/>
          <p:cNvSpPr txBox="1"/>
          <p:nvPr/>
        </p:nvSpPr>
        <p:spPr>
          <a:xfrm>
            <a:off x="2468880" y="3547872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Die 2 label 3"/>
          <p:cNvSpPr txBox="1"/>
          <p:nvPr/>
        </p:nvSpPr>
        <p:spPr>
          <a:xfrm>
            <a:off x="3941064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Dice cell 3-1"/>
          <p:cNvSpPr/>
          <p:nvPr/>
        </p:nvSpPr>
        <p:spPr>
          <a:xfrm>
            <a:off x="2907792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Dice cell 3-2"/>
          <p:cNvSpPr/>
          <p:nvPr/>
        </p:nvSpPr>
        <p:spPr>
          <a:xfrm>
            <a:off x="3438144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Dice cell 3-3"/>
          <p:cNvSpPr/>
          <p:nvPr/>
        </p:nvSpPr>
        <p:spPr>
          <a:xfrm>
            <a:off x="3968496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Dice cell 3-4"/>
          <p:cNvSpPr/>
          <p:nvPr/>
        </p:nvSpPr>
        <p:spPr>
          <a:xfrm>
            <a:off x="4498848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Dice cell 3-5"/>
          <p:cNvSpPr/>
          <p:nvPr/>
        </p:nvSpPr>
        <p:spPr>
          <a:xfrm>
            <a:off x="5029200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32" name="Dice cell 3-6"/>
          <p:cNvSpPr/>
          <p:nvPr/>
        </p:nvSpPr>
        <p:spPr>
          <a:xfrm>
            <a:off x="5559552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9</a:t>
            </a:r>
            <a:endParaRPr lang="en-US" sz="1300" dirty="0"/>
          </a:p>
        </p:txBody>
      </p:sp>
      <p:sp>
        <p:nvSpPr>
          <p:cNvPr id="33" name="Die 1 label 4"/>
          <p:cNvSpPr txBox="1"/>
          <p:nvPr/>
        </p:nvSpPr>
        <p:spPr>
          <a:xfrm>
            <a:off x="2468880" y="4078224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Die 2 label 4"/>
          <p:cNvSpPr txBox="1"/>
          <p:nvPr/>
        </p:nvSpPr>
        <p:spPr>
          <a:xfrm>
            <a:off x="4471416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Dice cell 4-1"/>
          <p:cNvSpPr/>
          <p:nvPr/>
        </p:nvSpPr>
        <p:spPr>
          <a:xfrm>
            <a:off x="2907792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Dice cell 4-2"/>
          <p:cNvSpPr/>
          <p:nvPr/>
        </p:nvSpPr>
        <p:spPr>
          <a:xfrm>
            <a:off x="3438144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Dice cell 4-3"/>
          <p:cNvSpPr/>
          <p:nvPr/>
        </p:nvSpPr>
        <p:spPr>
          <a:xfrm>
            <a:off x="3968496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38" name="Dice cell 4-4"/>
          <p:cNvSpPr/>
          <p:nvPr/>
        </p:nvSpPr>
        <p:spPr>
          <a:xfrm>
            <a:off x="4498848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39" name="Dice cell 4-5"/>
          <p:cNvSpPr/>
          <p:nvPr/>
        </p:nvSpPr>
        <p:spPr>
          <a:xfrm>
            <a:off x="5029200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9</a:t>
            </a:r>
            <a:endParaRPr lang="en-US" sz="1300" dirty="0"/>
          </a:p>
        </p:txBody>
      </p:sp>
      <p:sp>
        <p:nvSpPr>
          <p:cNvPr id="40" name="Dice cell 4-6"/>
          <p:cNvSpPr/>
          <p:nvPr/>
        </p:nvSpPr>
        <p:spPr>
          <a:xfrm>
            <a:off x="5559552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10</a:t>
            </a:r>
            <a:endParaRPr lang="en-US" sz="1300" dirty="0"/>
          </a:p>
        </p:txBody>
      </p:sp>
      <p:sp>
        <p:nvSpPr>
          <p:cNvPr id="41" name="Die 1 label 5"/>
          <p:cNvSpPr txBox="1"/>
          <p:nvPr/>
        </p:nvSpPr>
        <p:spPr>
          <a:xfrm>
            <a:off x="2468880" y="4608576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Die 2 label 5"/>
          <p:cNvSpPr txBox="1"/>
          <p:nvPr/>
        </p:nvSpPr>
        <p:spPr>
          <a:xfrm>
            <a:off x="5001768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Dice cell 5-1"/>
          <p:cNvSpPr/>
          <p:nvPr/>
        </p:nvSpPr>
        <p:spPr>
          <a:xfrm>
            <a:off x="2907792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44" name="Dice cell 5-2"/>
          <p:cNvSpPr/>
          <p:nvPr/>
        </p:nvSpPr>
        <p:spPr>
          <a:xfrm>
            <a:off x="3438144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45" name="Dice cell 5-3"/>
          <p:cNvSpPr/>
          <p:nvPr/>
        </p:nvSpPr>
        <p:spPr>
          <a:xfrm>
            <a:off x="3968496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46" name="Dice cell 5-4"/>
          <p:cNvSpPr/>
          <p:nvPr/>
        </p:nvSpPr>
        <p:spPr>
          <a:xfrm>
            <a:off x="4498848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9</a:t>
            </a:r>
            <a:endParaRPr lang="en-US" sz="1300" dirty="0"/>
          </a:p>
        </p:txBody>
      </p:sp>
      <p:sp>
        <p:nvSpPr>
          <p:cNvPr id="47" name="Dice cell 5-5"/>
          <p:cNvSpPr/>
          <p:nvPr/>
        </p:nvSpPr>
        <p:spPr>
          <a:xfrm>
            <a:off x="5029200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10</a:t>
            </a:r>
            <a:endParaRPr lang="en-US" sz="1300" dirty="0"/>
          </a:p>
        </p:txBody>
      </p:sp>
      <p:sp>
        <p:nvSpPr>
          <p:cNvPr id="48" name="Dice cell 5-6"/>
          <p:cNvSpPr/>
          <p:nvPr/>
        </p:nvSpPr>
        <p:spPr>
          <a:xfrm>
            <a:off x="5559552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11</a:t>
            </a:r>
            <a:endParaRPr lang="en-US" sz="1300" dirty="0"/>
          </a:p>
        </p:txBody>
      </p:sp>
      <p:sp>
        <p:nvSpPr>
          <p:cNvPr id="49" name="Die 1 label 6"/>
          <p:cNvSpPr txBox="1"/>
          <p:nvPr/>
        </p:nvSpPr>
        <p:spPr>
          <a:xfrm>
            <a:off x="2468880" y="5138928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6</a:t>
            </a:r>
            <a:endParaRPr lang="en-US" sz="1200" dirty="0"/>
          </a:p>
        </p:txBody>
      </p:sp>
      <p:sp>
        <p:nvSpPr>
          <p:cNvPr id="50" name="Die 2 label 6"/>
          <p:cNvSpPr txBox="1"/>
          <p:nvPr/>
        </p:nvSpPr>
        <p:spPr>
          <a:xfrm>
            <a:off x="5532120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4651"/>
                </a:solidFill>
              </a:rPr>
              <a:t>6</a:t>
            </a:r>
            <a:endParaRPr lang="en-US" sz="1200" dirty="0"/>
          </a:p>
        </p:txBody>
      </p:sp>
      <p:sp>
        <p:nvSpPr>
          <p:cNvPr id="51" name="Dice cell 6-1"/>
          <p:cNvSpPr/>
          <p:nvPr/>
        </p:nvSpPr>
        <p:spPr>
          <a:xfrm>
            <a:off x="2907792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52" name="Dice cell 6-2"/>
          <p:cNvSpPr/>
          <p:nvPr/>
        </p:nvSpPr>
        <p:spPr>
          <a:xfrm>
            <a:off x="3438144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Dice cell 6-3"/>
          <p:cNvSpPr/>
          <p:nvPr/>
        </p:nvSpPr>
        <p:spPr>
          <a:xfrm>
            <a:off x="3968496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9</a:t>
            </a:r>
            <a:endParaRPr lang="en-US" sz="1300" dirty="0"/>
          </a:p>
        </p:txBody>
      </p:sp>
      <p:sp>
        <p:nvSpPr>
          <p:cNvPr id="54" name="Dice cell 6-4"/>
          <p:cNvSpPr/>
          <p:nvPr/>
        </p:nvSpPr>
        <p:spPr>
          <a:xfrm>
            <a:off x="4498848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10</a:t>
            </a:r>
            <a:endParaRPr lang="en-US" sz="1300" dirty="0"/>
          </a:p>
        </p:txBody>
      </p:sp>
      <p:sp>
        <p:nvSpPr>
          <p:cNvPr id="55" name="Dice cell 6-5"/>
          <p:cNvSpPr/>
          <p:nvPr/>
        </p:nvSpPr>
        <p:spPr>
          <a:xfrm>
            <a:off x="5029200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11</a:t>
            </a:r>
            <a:endParaRPr lang="en-US" sz="1300" dirty="0"/>
          </a:p>
        </p:txBody>
      </p:sp>
      <p:sp>
        <p:nvSpPr>
          <p:cNvPr id="56" name="Dice cell 6-6"/>
          <p:cNvSpPr/>
          <p:nvPr/>
        </p:nvSpPr>
        <p:spPr>
          <a:xfrm>
            <a:off x="5559552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12</a:t>
            </a:r>
            <a:endParaRPr lang="en-US" sz="1300" dirty="0"/>
          </a:p>
        </p:txBody>
      </p:sp>
      <p:sp>
        <p:nvSpPr>
          <p:cNvPr id="57" name="Grid caption"/>
          <p:cNvSpPr txBox="1"/>
          <p:nvPr/>
        </p:nvSpPr>
        <p:spPr>
          <a:xfrm>
            <a:off x="777240" y="56692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rows = die 1  ·  columns = die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Sample Space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itertools.product lists every outcome of a repeated experiment.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 event is just a filter on that list.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Probability = len(event) / len(space).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import itertools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dice = list(itertools.product(range(1, 7), repeat=2))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print(len(dice))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  # 36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sum7 = [d for d in dice if sum(d) == 7]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print(len(sum7))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  # 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print(round(len(sum7) / len(dice),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0.1667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Probability Is Counting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 equally likely outcomes: P(event) = favorable ÷ total.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Always between 0 and 1 — an answer like 1.4 means a mistake.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Complement rule: P(not A) = 1 − P(A).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P(event) = favorable / total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die = [1, 2, 3, 4, 5, 6]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even = [x for x in die if x % 2 == 0]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p_even = len(even) / len(die)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print(p_even)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     # 0.5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complement rule: P(not A) = 1 - P(A)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print(1 - p_even)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 # 0.5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Probability as Long-Run Frequency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More flips, steadier answer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After 10 flips: 70% heads. After 10,000 flips: 49.3%.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Probability is the value the proportion settles toward as trials grow.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This is the Law of Large Numbers.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Small samples are noisy — remember this in Sessions 21–22.</a:t>
            </a:r>
            <a:endParaRPr lang="en-US" sz="1400" dirty="0"/>
          </a:p>
        </p:txBody>
      </p:sp>
      <p:graphicFrame>
        <p:nvGraphicFramePr>
          <p:cNvPr id="8" name="Running proportion chart" descr=""/>
          <p:cNvGraphicFramePr/>
          <p:nvPr/>
        </p:nvGraphicFramePr>
        <p:xfrm>
          <a:off x="731520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Simulating a Coin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numpy draws random flips: 1 = heads, 0 = tails.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mean of the flips is the proportion of heads.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Bigger n → closer to the true 0.5.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rng = np.random.default_rng(7)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flips = rng.integers(0, 2, size=10_000)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# 1 = heads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for n in [10, 100, 1000, 10_000]: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print(n, flips[:n].mean())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10     0.7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100    0.56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1000   0.516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10000  0.4926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Practice Set — Foundations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Try these yourself first — pencil, paper or a quick Python cell.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the full sample space for flipping two coins.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P(a random student knows FastAPI) if 28 of 40 do, then P(not).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Why would a probability of 1.4 signal a mistake in a calculation?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Python: use itertools to find P(sum = 8) for two dice.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Combining Probabilities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Real questions involve more than one event — here is how “or” and “and” 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Addition Rule — “OR”</a:t>
            </a:r>
            <a:endParaRPr lang="en-US" sz="2600" dirty="0"/>
          </a:p>
        </p:txBody>
      </p:sp>
      <p:sp>
        <p:nvSpPr>
          <p:cNvPr id="3" name="Compare card 1"/>
          <p:cNvSpPr/>
          <p:nvPr/>
        </p:nvSpPr>
        <p:spPr>
          <a:xfrm>
            <a:off x="54864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Header pill 1"/>
          <p:cNvSpPr/>
          <p:nvPr/>
        </p:nvSpPr>
        <p:spPr>
          <a:xfrm>
            <a:off x="77724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er text 1"/>
          <p:cNvSpPr txBox="1"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Mutually exclusive</a:t>
            </a:r>
            <a:endParaRPr lang="en-US" sz="1500" dirty="0"/>
          </a:p>
        </p:txBody>
      </p:sp>
      <p:sp>
        <p:nvSpPr>
          <p:cNvPr id="6" name="Card bullets 1"/>
          <p:cNvSpPr txBox="1"/>
          <p:nvPr/>
        </p:nvSpPr>
        <p:spPr>
          <a:xfrm>
            <a:off x="82296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events can never happen together.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Just add: P(A or B) = P(A) + P(B).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Example: a 2 or a 5 on one die → 1/6 + 1/6 = 1/3.</a:t>
            </a:r>
            <a:endParaRPr lang="en-US" sz="1600" dirty="0"/>
          </a:p>
        </p:txBody>
      </p:sp>
      <p:sp>
        <p:nvSpPr>
          <p:cNvPr id="7" name="Compare card 2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Header pill 2"/>
          <p:cNvSpPr/>
          <p:nvPr/>
        </p:nvSpPr>
        <p:spPr>
          <a:xfrm>
            <a:off x="640080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Header text 2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Overlapping</a:t>
            </a:r>
            <a:endParaRPr lang="en-US" sz="1500" dirty="0"/>
          </a:p>
        </p:txBody>
      </p:sp>
      <p:sp>
        <p:nvSpPr>
          <p:cNvPr id="10" name="Card bullets 2"/>
          <p:cNvSpPr txBox="1"/>
          <p:nvPr/>
        </p:nvSpPr>
        <p:spPr>
          <a:xfrm>
            <a:off x="644652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events can happen together.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Subtract the overlap: P(A or B) = P(A) + P(B) − P(A and B).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Example: FastAPI or ML → 28/40 + 20/40 − 8/40 = 1.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Overlap Is Counted Twice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 or B) = 0.6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P(A) = 0.4, P(B) = 0.3, P(A and B) = 0.1.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Adding 0.4 + 0.3 counts the overlap twice.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Subtract it once: 0.4 + 0.3 − 0.1 = 0.6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Each number in the picture is the probability of that region.</a:t>
            </a:r>
            <a:endParaRPr lang="en-US" sz="1400" dirty="0"/>
          </a:p>
        </p:txBody>
      </p:sp>
      <p:sp>
        <p:nvSpPr>
          <p:cNvPr id="8" name="Sample space box"/>
          <p:cNvSpPr/>
          <p:nvPr/>
        </p:nvSpPr>
        <p:spPr>
          <a:xfrm>
            <a:off x="914400" y="2103120"/>
            <a:ext cx="6492240" cy="3520440"/>
          </a:xfrm>
          <a:prstGeom prst="roundRect">
            <a:avLst>
              <a:gd name="adj" fmla="val 2597"/>
            </a:avLst>
          </a:prstGeom>
          <a:solidFill>
            <a:srgbClr val="F6F4FF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S label"/>
          <p:cNvSpPr txBox="1"/>
          <p:nvPr/>
        </p:nvSpPr>
        <p:spPr>
          <a:xfrm>
            <a:off x="105156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651"/>
                </a:solidFill>
              </a:rPr>
              <a:t>S  (sample space)</a:t>
            </a:r>
            <a:endParaRPr lang="en-US" sz="1200" dirty="0"/>
          </a:p>
        </p:txBody>
      </p:sp>
      <p:sp>
        <p:nvSpPr>
          <p:cNvPr id="10" name="Circle A"/>
          <p:cNvSpPr/>
          <p:nvPr/>
        </p:nvSpPr>
        <p:spPr>
          <a:xfrm>
            <a:off x="2011680" y="2514600"/>
            <a:ext cx="2560320" cy="256032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Circle B"/>
          <p:cNvSpPr/>
          <p:nvPr/>
        </p:nvSpPr>
        <p:spPr>
          <a:xfrm>
            <a:off x="3749040" y="2514600"/>
            <a:ext cx="2560320" cy="2560320"/>
          </a:xfrm>
          <a:prstGeom prst="ellipse">
            <a:avLst/>
          </a:prstGeom>
          <a:solidFill>
            <a:schemeClr val="accent2">
              <a:alpha val="60000"/>
            </a:schemeClr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2" name="Venn A"/>
          <p:cNvSpPr txBox="1"/>
          <p:nvPr/>
        </p:nvSpPr>
        <p:spPr>
          <a:xfrm>
            <a:off x="2286000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Venn 0.3"/>
          <p:cNvSpPr txBox="1"/>
          <p:nvPr/>
        </p:nvSpPr>
        <p:spPr>
          <a:xfrm>
            <a:off x="228600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0.3</a:t>
            </a:r>
            <a:endParaRPr lang="en-US" sz="2200" dirty="0"/>
          </a:p>
        </p:txBody>
      </p:sp>
      <p:sp>
        <p:nvSpPr>
          <p:cNvPr id="14" name="Venn A ∩ B"/>
          <p:cNvSpPr txBox="1"/>
          <p:nvPr/>
        </p:nvSpPr>
        <p:spPr>
          <a:xfrm>
            <a:off x="3749040" y="3429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∩ B</a:t>
            </a:r>
            <a:endParaRPr lang="en-US" sz="1200" dirty="0"/>
          </a:p>
        </p:txBody>
      </p:sp>
      <p:sp>
        <p:nvSpPr>
          <p:cNvPr id="15" name="Venn 0.1"/>
          <p:cNvSpPr txBox="1"/>
          <p:nvPr/>
        </p:nvSpPr>
        <p:spPr>
          <a:xfrm>
            <a:off x="3749040" y="3794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0.1</a:t>
            </a:r>
            <a:endParaRPr lang="en-US" sz="2000" dirty="0"/>
          </a:p>
        </p:txBody>
      </p:sp>
      <p:sp>
        <p:nvSpPr>
          <p:cNvPr id="16" name="Venn B"/>
          <p:cNvSpPr txBox="1"/>
          <p:nvPr/>
        </p:nvSpPr>
        <p:spPr>
          <a:xfrm>
            <a:off x="4754880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Venn 0.2"/>
          <p:cNvSpPr txBox="1"/>
          <p:nvPr/>
        </p:nvSpPr>
        <p:spPr>
          <a:xfrm>
            <a:off x="475488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0.2</a:t>
            </a:r>
            <a:endParaRPr lang="en-US" sz="2200" dirty="0"/>
          </a:p>
        </p:txBody>
      </p:sp>
      <p:sp>
        <p:nvSpPr>
          <p:cNvPr id="18" name="Venn caption"/>
          <p:cNvSpPr txBox="1"/>
          <p:nvPr/>
        </p:nvSpPr>
        <p:spPr>
          <a:xfrm>
            <a:off x="1051560" y="51663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</a:rPr>
              <a:t>P(A) = 0.3 + 0.1 = 0.4     P(B) = 0.2 + 0.1 = 0.3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Addition Rule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 overlap → plain addition.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Overlap → subtract the shared part once.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Whenever you can, check against counting a real class list.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No overlap: a 2 OR a 5 on one die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 = 1/6 + 1/6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# 0.333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Overlap: FastAPI OR ML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p_data, p_ml, p_both = 28/40, 20/40, 8/40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p_or = p_data + p_ml - p_both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print(round(p_or,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# 1.0  (= 40/40)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Multiplication Rule — “AND”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Both must happen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gives the probability that A and B both happen.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 independent events, multiply: P(A and B) = P(A) × P(B).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Two heads in a row: 0.5 × 0.5 = 0.25.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Every extra requirement shrinks the probability.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Probabilities Shrink Fast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 heads in a row: 0.4%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Each extra flip multiplies the chance by 0.5.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8 in a row is 1 in 256.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Asking for more things to happen together makes the whole less likely.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Rare chains are rarer than they feel.</a:t>
            </a:r>
            <a:endParaRPr lang="en-US" sz="1400" dirty="0"/>
          </a:p>
        </p:txBody>
      </p:sp>
      <p:graphicFrame>
        <p:nvGraphicFramePr>
          <p:cNvPr id="7" name="Shrinking probability chart" descr=""/>
          <p:cNvGraphicFramePr/>
          <p:nvPr/>
        </p:nvGraphicFramePr>
        <p:xfrm>
          <a:off x="731520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Multiplication Rule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Independent events: multiply the individual probabilities.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simulation is a good sanity check on the maths.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100,000 trials land very close to 0.25.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Two heads in a row (independent)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print(0.5 * 0.5)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  # 0.25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A 6 on a die, then a student who knows both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print(round((1/6) * (8/40),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0.0333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Check the first one by simulation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rng = np.random.default_rng(1)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a = rng.integers(0, 2, 100_000)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b = rng.integers(0, 2, 100_000)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print(((a + b) == 2).mean())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0.24955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Independent vs. Dependent Events</a:t>
            </a:r>
            <a:endParaRPr lang="en-US" sz="2600" dirty="0"/>
          </a:p>
        </p:txBody>
      </p:sp>
      <p:sp>
        <p:nvSpPr>
          <p:cNvPr id="3" name="Compare card 1"/>
          <p:cNvSpPr/>
          <p:nvPr/>
        </p:nvSpPr>
        <p:spPr>
          <a:xfrm>
            <a:off x="54864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Header pill 1"/>
          <p:cNvSpPr/>
          <p:nvPr/>
        </p:nvSpPr>
        <p:spPr>
          <a:xfrm>
            <a:off x="77724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er text 1"/>
          <p:cNvSpPr txBox="1"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Independent</a:t>
            </a:r>
            <a:endParaRPr lang="en-US" sz="1500" dirty="0"/>
          </a:p>
        </p:txBody>
      </p:sp>
      <p:sp>
        <p:nvSpPr>
          <p:cNvPr id="6" name="Card bullets 1"/>
          <p:cNvSpPr txBox="1"/>
          <p:nvPr/>
        </p:nvSpPr>
        <p:spPr>
          <a:xfrm>
            <a:off x="82296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event has no effect on the other.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Examples: separate coin flips, two different dice.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Multiply directly: P(A) × P(B).</a:t>
            </a:r>
            <a:endParaRPr lang="en-US" sz="1600" dirty="0"/>
          </a:p>
        </p:txBody>
      </p:sp>
      <p:sp>
        <p:nvSpPr>
          <p:cNvPr id="7" name="Compare card 2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Header pill 2"/>
          <p:cNvSpPr/>
          <p:nvPr/>
        </p:nvSpPr>
        <p:spPr>
          <a:xfrm>
            <a:off x="640080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Header text 2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Dependent</a:t>
            </a:r>
            <a:endParaRPr lang="en-US" sz="1500" dirty="0"/>
          </a:p>
        </p:txBody>
      </p:sp>
      <p:sp>
        <p:nvSpPr>
          <p:cNvPr id="10" name="Card bullets 2"/>
          <p:cNvSpPr txBox="1"/>
          <p:nvPr/>
        </p:nvSpPr>
        <p:spPr>
          <a:xfrm>
            <a:off x="644652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event changes the other’s probability.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Example: picking students without replacement.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Needs conditional probability — coming up in Part 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Without Replacement: Two “Both” Students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After one “both” student is picked, only 7 are left among 39 students.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 the second draw depends on the first.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Treating it as independent gives a wrong answer.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Two students who know both, WITHOUT replacement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p_first  = 8 / 40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p_second = 7 / 39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# one “both” student is already gone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print(round(p_first * p_second,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0.0359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Wrong: pretending the draws are independent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print(round((8/40) ** 2,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# 0.04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Practice Set — Combining Probabilities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Try these yourself first — pencil, paper or a quick Python cell.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a class of 40 (20 FastAPI only, 12 ML only, 8 both), find P(FastAPI only OR ML only).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P(rolling a 3 on one die AND flipping heads on one coin).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Are “it rains today” and “traffic is heavy today” independent or dependent? Why?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P(A) = 0.4, P(B) = 0.3, P(A and B) = 0.1. Find P(A or B) in Python.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Conditional Probability &amp; Bayes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What happens to a probability once you learn something new — the most useful idea in this session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What Is Conditional Probability?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Given this, what about that?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P(A | B) is the probability of A, given that B already happened.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bar means “given” — it is not division.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New information changes probabilities: rain is likelier given dark clouds.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Bayes’ Theorem is built entirely on this idea.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Given FastAPI, the Class Shrinks to 28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P(Both | FastAPI)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Given: the student knows FastAPI.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The sample space shrinks from 40 students to 28.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8 of those 28 know both.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P = 8/28 = 2/7 ≈ 0.286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With no information, P(Both) is only 8/40 = 0.20.</a:t>
            </a:r>
            <a:endParaRPr lang="en-US" sz="1400" dirty="0"/>
          </a:p>
        </p:txBody>
      </p:sp>
      <p:sp>
        <p:nvSpPr>
          <p:cNvPr id="8" name="Graph title"/>
          <p:cNvSpPr txBox="1"/>
          <p:nvPr/>
        </p:nvSpPr>
        <p:spPr>
          <a:xfrm>
            <a:off x="777240" y="175564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755A7"/>
                </a:solidFill>
              </a:rPr>
              <a:t>A class of 40 students: 4 rows × 10 seats</a:t>
            </a:r>
            <a:endParaRPr lang="en-US" sz="1400" dirty="0"/>
          </a:p>
        </p:txBody>
      </p:sp>
      <p:sp>
        <p:nvSpPr>
          <p:cNvPr id="9" name="Row label R1"/>
          <p:cNvSpPr txBox="1"/>
          <p:nvPr/>
        </p:nvSpPr>
        <p:spPr>
          <a:xfrm>
            <a:off x="1938024" y="233172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800" dirty="0"/>
          </a:p>
        </p:txBody>
      </p:sp>
      <p:sp>
        <p:nvSpPr>
          <p:cNvPr id="23" name="Row label R2"/>
          <p:cNvSpPr txBox="1"/>
          <p:nvPr/>
        </p:nvSpPr>
        <p:spPr>
          <a:xfrm>
            <a:off x="1938024" y="2770632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800" dirty="0"/>
          </a:p>
        </p:txBody>
      </p:sp>
      <p:sp>
        <p:nvSpPr>
          <p:cNvPr id="37" name="Row label R3"/>
          <p:cNvSpPr txBox="1"/>
          <p:nvPr/>
        </p:nvSpPr>
        <p:spPr>
          <a:xfrm>
            <a:off x="1938024" y="3209544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800" dirty="0"/>
          </a:p>
        </p:txBody>
      </p:sp>
      <p:sp>
        <p:nvSpPr>
          <p:cNvPr id="51" name="Row label R4"/>
          <p:cNvSpPr txBox="1"/>
          <p:nvPr/>
        </p:nvSpPr>
        <p:spPr>
          <a:xfrm>
            <a:off x="1938024" y="3648456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1800" dirty="0"/>
          </a:p>
        </p:txBody>
      </p:sp>
      <p:sp>
        <p:nvSpPr>
          <p:cNvPr id="10" name="Student R1-1 (D)"/>
          <p:cNvSpPr/>
          <p:nvPr/>
        </p:nvSpPr>
        <p:spPr>
          <a:xfrm>
            <a:off x="2395224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11" name="Student R1-2 (D)"/>
          <p:cNvSpPr/>
          <p:nvPr/>
        </p:nvSpPr>
        <p:spPr>
          <a:xfrm>
            <a:off x="2834136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12" name="Student R1-3 (D)"/>
          <p:cNvSpPr/>
          <p:nvPr/>
        </p:nvSpPr>
        <p:spPr>
          <a:xfrm>
            <a:off x="3273048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13" name="Student R1-4 (D)"/>
          <p:cNvSpPr/>
          <p:nvPr/>
        </p:nvSpPr>
        <p:spPr>
          <a:xfrm>
            <a:off x="3711960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14" name="Student R1-5 (D)"/>
          <p:cNvSpPr/>
          <p:nvPr/>
        </p:nvSpPr>
        <p:spPr>
          <a:xfrm>
            <a:off x="4150872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15" name="Student R1-6 (B)"/>
          <p:cNvSpPr/>
          <p:nvPr/>
        </p:nvSpPr>
        <p:spPr>
          <a:xfrm>
            <a:off x="4589784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Student R1-7 (B)"/>
          <p:cNvSpPr/>
          <p:nvPr/>
        </p:nvSpPr>
        <p:spPr>
          <a:xfrm>
            <a:off x="5028696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17" name="Student R1-8 (M)"/>
          <p:cNvSpPr/>
          <p:nvPr/>
        </p:nvSpPr>
        <p:spPr>
          <a:xfrm>
            <a:off x="5467608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18" name="Student R1-9 (M)"/>
          <p:cNvSpPr/>
          <p:nvPr/>
        </p:nvSpPr>
        <p:spPr>
          <a:xfrm>
            <a:off x="5906520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19" name="Student R1-10 (M)"/>
          <p:cNvSpPr/>
          <p:nvPr/>
        </p:nvSpPr>
        <p:spPr>
          <a:xfrm>
            <a:off x="6345432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20" name="Student R2-1 (D)"/>
          <p:cNvSpPr/>
          <p:nvPr/>
        </p:nvSpPr>
        <p:spPr>
          <a:xfrm>
            <a:off x="2395224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21" name="Student R2-2 (D)"/>
          <p:cNvSpPr/>
          <p:nvPr/>
        </p:nvSpPr>
        <p:spPr>
          <a:xfrm>
            <a:off x="2834136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22" name="Student R2-3 (D)"/>
          <p:cNvSpPr/>
          <p:nvPr/>
        </p:nvSpPr>
        <p:spPr>
          <a:xfrm>
            <a:off x="3273048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Student R2-4 (D)"/>
          <p:cNvSpPr/>
          <p:nvPr/>
        </p:nvSpPr>
        <p:spPr>
          <a:xfrm>
            <a:off x="3711960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25" name="Student R2-5 (D)"/>
          <p:cNvSpPr/>
          <p:nvPr/>
        </p:nvSpPr>
        <p:spPr>
          <a:xfrm>
            <a:off x="4150872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26" name="Student R2-6 (B)"/>
          <p:cNvSpPr/>
          <p:nvPr/>
        </p:nvSpPr>
        <p:spPr>
          <a:xfrm>
            <a:off x="4589784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27" name="Student R2-7 (B)"/>
          <p:cNvSpPr/>
          <p:nvPr/>
        </p:nvSpPr>
        <p:spPr>
          <a:xfrm>
            <a:off x="5028696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28" name="Student R2-8 (M)"/>
          <p:cNvSpPr/>
          <p:nvPr/>
        </p:nvSpPr>
        <p:spPr>
          <a:xfrm>
            <a:off x="5467608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29" name="Student R2-9 (M)"/>
          <p:cNvSpPr/>
          <p:nvPr/>
        </p:nvSpPr>
        <p:spPr>
          <a:xfrm>
            <a:off x="5906520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30" name="Student R2-10 (M)"/>
          <p:cNvSpPr/>
          <p:nvPr/>
        </p:nvSpPr>
        <p:spPr>
          <a:xfrm>
            <a:off x="6345432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31" name="Student R3-1 (D)"/>
          <p:cNvSpPr/>
          <p:nvPr/>
        </p:nvSpPr>
        <p:spPr>
          <a:xfrm>
            <a:off x="2395224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32" name="Student R3-2 (D)"/>
          <p:cNvSpPr/>
          <p:nvPr/>
        </p:nvSpPr>
        <p:spPr>
          <a:xfrm>
            <a:off x="2834136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33" name="Student R3-3 (D)"/>
          <p:cNvSpPr/>
          <p:nvPr/>
        </p:nvSpPr>
        <p:spPr>
          <a:xfrm>
            <a:off x="3273048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34" name="Student R3-4 (D)"/>
          <p:cNvSpPr/>
          <p:nvPr/>
        </p:nvSpPr>
        <p:spPr>
          <a:xfrm>
            <a:off x="3711960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35" name="Student R3-5 (D)"/>
          <p:cNvSpPr/>
          <p:nvPr/>
        </p:nvSpPr>
        <p:spPr>
          <a:xfrm>
            <a:off x="4150872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36" name="Student R3-6 (B)"/>
          <p:cNvSpPr/>
          <p:nvPr/>
        </p:nvSpPr>
        <p:spPr>
          <a:xfrm>
            <a:off x="4589784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38" name="Student R3-7 (B)"/>
          <p:cNvSpPr/>
          <p:nvPr/>
        </p:nvSpPr>
        <p:spPr>
          <a:xfrm>
            <a:off x="5028696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39" name="Student R3-8 (M)"/>
          <p:cNvSpPr/>
          <p:nvPr/>
        </p:nvSpPr>
        <p:spPr>
          <a:xfrm>
            <a:off x="5467608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40" name="Student R3-9 (M)"/>
          <p:cNvSpPr/>
          <p:nvPr/>
        </p:nvSpPr>
        <p:spPr>
          <a:xfrm>
            <a:off x="5906520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41" name="Student R3-10 (M)"/>
          <p:cNvSpPr/>
          <p:nvPr/>
        </p:nvSpPr>
        <p:spPr>
          <a:xfrm>
            <a:off x="6345432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42" name="Student R4-1 (D)"/>
          <p:cNvSpPr/>
          <p:nvPr/>
        </p:nvSpPr>
        <p:spPr>
          <a:xfrm>
            <a:off x="2395224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43" name="Student R4-2 (D)"/>
          <p:cNvSpPr/>
          <p:nvPr/>
        </p:nvSpPr>
        <p:spPr>
          <a:xfrm>
            <a:off x="2834136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44" name="Student R4-3 (D)"/>
          <p:cNvSpPr/>
          <p:nvPr/>
        </p:nvSpPr>
        <p:spPr>
          <a:xfrm>
            <a:off x="3273048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45" name="Student R4-4 (D)"/>
          <p:cNvSpPr/>
          <p:nvPr/>
        </p:nvSpPr>
        <p:spPr>
          <a:xfrm>
            <a:off x="3711960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46" name="Student R4-5 (D)"/>
          <p:cNvSpPr/>
          <p:nvPr/>
        </p:nvSpPr>
        <p:spPr>
          <a:xfrm>
            <a:off x="4150872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47" name="Student R4-6 (B)"/>
          <p:cNvSpPr/>
          <p:nvPr/>
        </p:nvSpPr>
        <p:spPr>
          <a:xfrm>
            <a:off x="4589784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48" name="Student R4-7 (B)"/>
          <p:cNvSpPr/>
          <p:nvPr/>
        </p:nvSpPr>
        <p:spPr>
          <a:xfrm>
            <a:off x="5028696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49" name="Student R4-8 (M)"/>
          <p:cNvSpPr/>
          <p:nvPr/>
        </p:nvSpPr>
        <p:spPr>
          <a:xfrm>
            <a:off x="5467608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50" name="Student R4-9 (M)"/>
          <p:cNvSpPr/>
          <p:nvPr/>
        </p:nvSpPr>
        <p:spPr>
          <a:xfrm>
            <a:off x="5906520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52" name="Student R4-10 (M)"/>
          <p:cNvSpPr/>
          <p:nvPr/>
        </p:nvSpPr>
        <p:spPr>
          <a:xfrm>
            <a:off x="6345432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65" name="Legend swatch"/>
          <p:cNvSpPr/>
          <p:nvPr/>
        </p:nvSpPr>
        <p:spPr>
          <a:xfrm>
            <a:off x="1097280" y="443484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6" name="Legend text"/>
          <p:cNvSpPr txBox="1"/>
          <p:nvPr/>
        </p:nvSpPr>
        <p:spPr>
          <a:xfrm>
            <a:off x="1389888" y="4398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651"/>
                </a:solidFill>
              </a:rPr>
              <a:t>FastAPI only — 20</a:t>
            </a:r>
            <a:endParaRPr lang="en-US" sz="1200" dirty="0"/>
          </a:p>
        </p:txBody>
      </p:sp>
      <p:sp>
        <p:nvSpPr>
          <p:cNvPr id="67" name="Legend swatch"/>
          <p:cNvSpPr/>
          <p:nvPr/>
        </p:nvSpPr>
        <p:spPr>
          <a:xfrm>
            <a:off x="4160520" y="443484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8" name="Legend text"/>
          <p:cNvSpPr txBox="1"/>
          <p:nvPr/>
        </p:nvSpPr>
        <p:spPr>
          <a:xfrm>
            <a:off x="4453128" y="4398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651"/>
                </a:solidFill>
              </a:rPr>
              <a:t>Both — 8</a:t>
            </a:r>
            <a:endParaRPr lang="en-US" sz="1200" dirty="0"/>
          </a:p>
        </p:txBody>
      </p:sp>
      <p:sp>
        <p:nvSpPr>
          <p:cNvPr id="69" name="Legend swatch"/>
          <p:cNvSpPr/>
          <p:nvPr/>
        </p:nvSpPr>
        <p:spPr>
          <a:xfrm>
            <a:off x="6035040" y="44348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D7F7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70" name="Legend text"/>
          <p:cNvSpPr txBox="1"/>
          <p:nvPr/>
        </p:nvSpPr>
        <p:spPr>
          <a:xfrm>
            <a:off x="6327648" y="4398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651"/>
                </a:solidFill>
              </a:rPr>
              <a:t>ML only — 12</a:t>
            </a:r>
            <a:endParaRPr lang="en-US" sz="1200" dirty="0"/>
          </a:p>
        </p:txBody>
      </p:sp>
      <p:sp>
        <p:nvSpPr>
          <p:cNvPr id="71" name="Grid caption"/>
          <p:cNvSpPr txBox="1"/>
          <p:nvPr/>
        </p:nvSpPr>
        <p:spPr>
          <a:xfrm>
            <a:off x="914400" y="49377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1F71"/>
                </a:solidFill>
              </a:rPr>
              <a:t>Given “FastAPI”, only the purple and teal students remain.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Conditional Probability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Build the class list, then filter to the “given” group.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Count how many in that group also satisfy the event.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Formula: P(A | B) = P(A and B) ÷ P(B).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20 FastAPI only (D), 12 ML only (M), 8 both (B)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students = ["D"] * 20 + ["M"] * 12 + ["B"] * 8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Given: the student knows FastAPI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data = [s for s in students if s in ("D", "B")]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both = [s for s in data if s == "B"]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print(len(data), len(both))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28  8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print(round(len(both) / len(data),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# 0.2857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P(A | B) Is Not P(B | A)</a:t>
            </a:r>
            <a:endParaRPr lang="en-US" sz="2600" dirty="0"/>
          </a:p>
        </p:txBody>
      </p:sp>
      <p:sp>
        <p:nvSpPr>
          <p:cNvPr id="3" name="Compare card 1"/>
          <p:cNvSpPr/>
          <p:nvPr/>
        </p:nvSpPr>
        <p:spPr>
          <a:xfrm>
            <a:off x="54864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Header pill 1"/>
          <p:cNvSpPr/>
          <p:nvPr/>
        </p:nvSpPr>
        <p:spPr>
          <a:xfrm>
            <a:off x="77724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er text 1"/>
          <p:cNvSpPr txBox="1"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P(Both | FastAPI)</a:t>
            </a:r>
            <a:endParaRPr lang="en-US" sz="1500" dirty="0"/>
          </a:p>
        </p:txBody>
      </p:sp>
      <p:sp>
        <p:nvSpPr>
          <p:cNvPr id="6" name="Card bullets 1"/>
          <p:cNvSpPr txBox="1"/>
          <p:nvPr/>
        </p:nvSpPr>
        <p:spPr>
          <a:xfrm>
            <a:off x="82296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Given FastAPI, how likely is Both?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 of the 28 FastAPI students know both.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 = 8/28 ≈ 0.29</a:t>
            </a:r>
            <a:endParaRPr lang="en-US" sz="1600" dirty="0"/>
          </a:p>
        </p:txBody>
      </p:sp>
      <p:sp>
        <p:nvSpPr>
          <p:cNvPr id="7" name="Compare card 2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Header pill 2"/>
          <p:cNvSpPr/>
          <p:nvPr/>
        </p:nvSpPr>
        <p:spPr>
          <a:xfrm>
            <a:off x="640080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Header text 2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P(FastAPI | Both)</a:t>
            </a:r>
            <a:endParaRPr lang="en-US" sz="1500" dirty="0"/>
          </a:p>
        </p:txBody>
      </p:sp>
      <p:sp>
        <p:nvSpPr>
          <p:cNvPr id="10" name="Card bullets 2"/>
          <p:cNvSpPr txBox="1"/>
          <p:nvPr/>
        </p:nvSpPr>
        <p:spPr>
          <a:xfrm>
            <a:off x="644652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Given Both, how likely is FastAPI?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8 “both” students know FastAPI.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 = 8/8 = 1.0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Bayes’ Theorem — Updating Beliefs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Flip the condition around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You often know P(evidence | hypothesis) but want P(hypothesis | evidence).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test gives P(positive | disease); a patient wants P(disease | positive).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Bayes’ Theorem flips the condition and updates your belief.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powers spam filters, diagnosis tools and Naive Bayes in ML.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Four Parts of Bayes’ Theorem</a:t>
            </a:r>
            <a:endParaRPr lang="en-US" sz="2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0020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Step chip 1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tep title 1"/>
          <p:cNvSpPr txBox="1"/>
          <p:nvPr/>
        </p:nvSpPr>
        <p:spPr>
          <a:xfrm>
            <a:off x="777240" y="2514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P(A)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77724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What you believed before seeing any evidence.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383280" y="160020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Step chip 2"/>
          <p:cNvSpPr/>
          <p:nvPr/>
        </p:nvSpPr>
        <p:spPr>
          <a:xfrm>
            <a:off x="361188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36118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tep title 2"/>
          <p:cNvSpPr txBox="1"/>
          <p:nvPr/>
        </p:nvSpPr>
        <p:spPr>
          <a:xfrm>
            <a:off x="3611880" y="2514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Likelihood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P(B | A)</a:t>
            </a:r>
            <a:endParaRPr lang="en-US" sz="1600" dirty="0"/>
          </a:p>
        </p:txBody>
      </p:sp>
      <p:sp>
        <p:nvSpPr>
          <p:cNvPr id="12" name="Step text 2"/>
          <p:cNvSpPr txBox="1"/>
          <p:nvPr/>
        </p:nvSpPr>
        <p:spPr>
          <a:xfrm>
            <a:off x="361188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How probable the evidence is if the hypothesis is true.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217920" y="160020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4" name="Step chip 3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tep number 3"/>
          <p:cNvSpPr txBox="1"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tep title 3"/>
          <p:cNvSpPr txBox="1"/>
          <p:nvPr/>
        </p:nvSpPr>
        <p:spPr>
          <a:xfrm>
            <a:off x="6446520" y="2514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Evidence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P(B)</a:t>
            </a:r>
            <a:endParaRPr lang="en-US" sz="1600" dirty="0"/>
          </a:p>
        </p:txBody>
      </p:sp>
      <p:sp>
        <p:nvSpPr>
          <p:cNvPr id="17" name="Step text 3"/>
          <p:cNvSpPr txBox="1"/>
          <p:nvPr/>
        </p:nvSpPr>
        <p:spPr>
          <a:xfrm>
            <a:off x="644652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The overall chance of seeing this evidence — it normalizes the result.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9052560" y="160020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9" name="Step chip 4"/>
          <p:cNvSpPr/>
          <p:nvPr/>
        </p:nvSpPr>
        <p:spPr>
          <a:xfrm>
            <a:off x="928116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Step number 4"/>
          <p:cNvSpPr txBox="1"/>
          <p:nvPr/>
        </p:nvSpPr>
        <p:spPr>
          <a:xfrm>
            <a:off x="92811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tep title 4"/>
          <p:cNvSpPr txBox="1"/>
          <p:nvPr/>
        </p:nvSpPr>
        <p:spPr>
          <a:xfrm>
            <a:off x="9281160" y="2514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Posterior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 | B)</a:t>
            </a:r>
            <a:endParaRPr lang="en-US" sz="1600" dirty="0"/>
          </a:p>
        </p:txBody>
      </p:sp>
      <p:sp>
        <p:nvSpPr>
          <p:cNvPr id="22" name="Step text 4"/>
          <p:cNvSpPr txBox="1"/>
          <p:nvPr/>
        </p:nvSpPr>
        <p:spPr>
          <a:xfrm>
            <a:off x="928116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Your updated belief after the evidence.</a:t>
            </a:r>
            <a:endParaRPr lang="en-US" sz="1400" dirty="0"/>
          </a:p>
        </p:txBody>
      </p:sp>
      <p:sp>
        <p:nvSpPr>
          <p:cNvPr id="23" name="Formula banner"/>
          <p:cNvSpPr/>
          <p:nvPr/>
        </p:nvSpPr>
        <p:spPr>
          <a:xfrm>
            <a:off x="548640" y="4983480"/>
            <a:ext cx="11109960" cy="96012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Formula"/>
          <p:cNvSpPr txBox="1"/>
          <p:nvPr/>
        </p:nvSpPr>
        <p:spPr>
          <a:xfrm>
            <a:off x="548640" y="4983480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 | B)  =  P(B | A) × P(A)  ÷  P(B)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posterior  =  likelihood × prior  ÷  evidence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Bayes Medical Test: Out of 10,000 People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590 positives, only 95 are sick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95 true positives + 495 false positives = 590 positive tests.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P(disease | positive) = 95 / 590 ≈ 16%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The big healthy group makes far more false alarms than the small sick group makes true hits.</a:t>
            </a:r>
            <a:endParaRPr lang="en-US" sz="1400" dirty="0"/>
          </a:p>
        </p:txBody>
      </p:sp>
      <p:sp>
        <p:nvSpPr>
          <p:cNvPr id="8" name="Graph title"/>
          <p:cNvSpPr txBox="1"/>
          <p:nvPr/>
        </p:nvSpPr>
        <p:spPr>
          <a:xfrm>
            <a:off x="777240" y="17556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755A7"/>
                </a:solidFill>
              </a:rPr>
              <a:t>Disease prevalence 1% · test is 95% accurate</a:t>
            </a:r>
            <a:endParaRPr lang="en-US" sz="1300" dirty="0"/>
          </a:p>
        </p:txBody>
      </p:sp>
      <p:sp>
        <p:nvSpPr>
          <p:cNvPr id="9" name="Tree root"/>
          <p:cNvSpPr/>
          <p:nvPr/>
        </p:nvSpPr>
        <p:spPr>
          <a:xfrm>
            <a:off x="777240" y="3337560"/>
            <a:ext cx="155448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10,000 people</a:t>
            </a:r>
            <a:endParaRPr lang="en-US" sz="1300" dirty="0"/>
          </a:p>
        </p:txBody>
      </p:sp>
      <p:sp>
        <p:nvSpPr>
          <p:cNvPr id="10" name="Tree sick"/>
          <p:cNvSpPr/>
          <p:nvPr/>
        </p:nvSpPr>
        <p:spPr>
          <a:xfrm>
            <a:off x="3063240" y="24231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Has disease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  (1%)</a:t>
            </a:r>
            <a:endParaRPr lang="en-US" sz="1300" dirty="0"/>
          </a:p>
        </p:txBody>
      </p:sp>
      <p:sp>
        <p:nvSpPr>
          <p:cNvPr id="11" name="Tree healthy"/>
          <p:cNvSpPr/>
          <p:nvPr/>
        </p:nvSpPr>
        <p:spPr>
          <a:xfrm>
            <a:off x="3063240" y="42519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disease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9,900  (99%)</a:t>
            </a:r>
            <a:endParaRPr lang="en-US" sz="1300" dirty="0"/>
          </a:p>
        </p:txBody>
      </p:sp>
      <p:sp>
        <p:nvSpPr>
          <p:cNvPr id="12" name="Tree branch"/>
          <p:cNvSpPr/>
          <p:nvPr/>
        </p:nvSpPr>
        <p:spPr>
          <a:xfrm flipV="1">
            <a:off x="2331720" y="2788920"/>
            <a:ext cx="731520" cy="914400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13" name="Tree branch"/>
          <p:cNvSpPr/>
          <p:nvPr/>
        </p:nvSpPr>
        <p:spPr>
          <a:xfrm>
            <a:off x="2331720" y="3703320"/>
            <a:ext cx="731520" cy="914400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14" name="Leaf true positive"/>
          <p:cNvSpPr/>
          <p:nvPr/>
        </p:nvSpPr>
        <p:spPr>
          <a:xfrm>
            <a:off x="5806440" y="210312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+   95</a:t>
            </a:r>
            <a:endParaRPr lang="en-US" sz="1300" dirty="0"/>
          </a:p>
        </p:txBody>
      </p:sp>
      <p:sp>
        <p:nvSpPr>
          <p:cNvPr id="15" name="Leaf false negative"/>
          <p:cNvSpPr/>
          <p:nvPr/>
        </p:nvSpPr>
        <p:spPr>
          <a:xfrm>
            <a:off x="5806440" y="297180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−   5</a:t>
            </a:r>
            <a:endParaRPr lang="en-US" sz="1300" dirty="0"/>
          </a:p>
        </p:txBody>
      </p:sp>
      <p:sp>
        <p:nvSpPr>
          <p:cNvPr id="16" name="Leaf false positive"/>
          <p:cNvSpPr/>
          <p:nvPr/>
        </p:nvSpPr>
        <p:spPr>
          <a:xfrm>
            <a:off x="5806440" y="393192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+   495</a:t>
            </a:r>
            <a:endParaRPr lang="en-US" sz="1300" dirty="0"/>
          </a:p>
        </p:txBody>
      </p:sp>
      <p:sp>
        <p:nvSpPr>
          <p:cNvPr id="17" name="Leaf true negative"/>
          <p:cNvSpPr/>
          <p:nvPr/>
        </p:nvSpPr>
        <p:spPr>
          <a:xfrm>
            <a:off x="5806440" y="480060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465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−   9,405</a:t>
            </a:r>
            <a:endParaRPr lang="en-US" sz="1300" dirty="0"/>
          </a:p>
        </p:txBody>
      </p:sp>
      <p:sp>
        <p:nvSpPr>
          <p:cNvPr id="18" name="Tree branch"/>
          <p:cNvSpPr/>
          <p:nvPr/>
        </p:nvSpPr>
        <p:spPr>
          <a:xfrm flipV="1">
            <a:off x="4892040" y="2359152"/>
            <a:ext cx="914400" cy="429768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19" name="Tree branch"/>
          <p:cNvSpPr/>
          <p:nvPr/>
        </p:nvSpPr>
        <p:spPr>
          <a:xfrm>
            <a:off x="4892040" y="2788920"/>
            <a:ext cx="914400" cy="429768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20" name="Tree branch"/>
          <p:cNvSpPr/>
          <p:nvPr/>
        </p:nvSpPr>
        <p:spPr>
          <a:xfrm flipV="1">
            <a:off x="4892040" y="4187952"/>
            <a:ext cx="914400" cy="457200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21" name="Tree branch"/>
          <p:cNvSpPr/>
          <p:nvPr/>
        </p:nvSpPr>
        <p:spPr>
          <a:xfrm>
            <a:off x="4892040" y="4617720"/>
            <a:ext cx="914400" cy="438912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22" name="Tree legend"/>
          <p:cNvSpPr txBox="1"/>
          <p:nvPr/>
        </p:nvSpPr>
        <p:spPr>
          <a:xfrm>
            <a:off x="777240" y="55321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4651"/>
                </a:solidFill>
              </a:rPr>
              <a:t>teal = true positives     rose = false positives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Why Prevalence Changes Everything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Same test, different priors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The test is 95% accurate in every bar.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At 1% prevalence a positive is right only 16% of the time (the rose bar).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The prior matters as much as the test.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At 50% prevalence the same positive is 95% reliable.</a:t>
            </a:r>
            <a:endParaRPr lang="en-US" sz="1400" dirty="0"/>
          </a:p>
        </p:txBody>
      </p:sp>
      <p:graphicFrame>
        <p:nvGraphicFramePr>
          <p:cNvPr id="7" name="Prevalence posterior chart" descr=""/>
          <p:cNvGraphicFramePr/>
          <p:nvPr/>
        </p:nvGraphicFramePr>
        <p:xfrm>
          <a:off x="731520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Bayes’ Theorem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One small function turns the formula into code.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Inputs: prior, sensitivity and specificity.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Output: P(disease | positive) = 0.161.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def bayes(prior, sens, spec):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# P(positive) = true + false positives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p_pos = sens * prior + (1 - spec) * (1 - prior)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return sens * prior / p_pos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1% prevalence, 95% sensitivity, 95% specificity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post = bayes(0.01, 0.95, 0.95)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print(round(post,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# 0.161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A Second Positive Test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Today’s posterior becomes tomorrow’s prior.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One positive: 16%. Two positives: 78.5%.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This is why doctors order a confirmatory test.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uses bayes() from the previous slide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the posterior after test 1 is the prior for test 2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p1 = bayes(0.01, 0.95, 0.95)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after 1st positive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p2 = bayes(p1, 0.95, 0.95)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# after 2nd positive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print(round(p1,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# 0.161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print(round(p2,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# 0.785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3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Practice Set — Conditional Probability &amp; Bayes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Try these yourself first — pencil, paper or a quick Python cell.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 of 40: 20 FastAPI only, 12 ML only, 8 both. Count P(FastAPI | ML) in Python.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Explain the difference between P(A | B) and P(B | A) using your own example.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filter flags 98% of real spam, and only 1% of all email is spam. Why can a “spam” flag still be wrong?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Python: run bayes(0.05, 0.90, 0.90). Is the answer higher or lower than you expected?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4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Distributions &amp; the CLT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Shapes that describe which outcomes are likely — and the theorem that makes inference 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What Is a Probability Distribution?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shape of possible outcomes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distribution lists every possible outcome and how likely each one is.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Its shape — flat, lopsided, bell-shaped — reveals the process behind the data.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Today: Uniform, Binomial and Normal.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extends Session 19’s histograms to true, known probabilities.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Three Shapes, Three Stories</a:t>
            </a:r>
            <a:endParaRPr lang="en-US" sz="2600" dirty="0"/>
          </a:p>
        </p:txBody>
      </p:sp>
      <p:sp>
        <p:nvSpPr>
          <p:cNvPr id="3" name="Shape card 1"/>
          <p:cNvSpPr/>
          <p:nvPr/>
        </p:nvSpPr>
        <p:spPr>
          <a:xfrm>
            <a:off x="5486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Shape pill 1"/>
          <p:cNvSpPr/>
          <p:nvPr/>
        </p:nvSpPr>
        <p:spPr>
          <a:xfrm>
            <a:off x="7772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hape head 1"/>
          <p:cNvSpPr txBox="1"/>
          <p:nvPr/>
        </p:nvSpPr>
        <p:spPr>
          <a:xfrm>
            <a:off x="7772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Uniform</a:t>
            </a:r>
            <a:endParaRPr lang="en-US" sz="1500" dirty="0"/>
          </a:p>
        </p:txBody>
      </p:sp>
      <p:graphicFrame>
        <p:nvGraphicFramePr>
          <p:cNvPr id="6" name="Uniform mini chart" descr=""/>
          <p:cNvGraphicFramePr/>
          <p:nvPr/>
        </p:nvGraphicFramePr>
        <p:xfrm>
          <a:off x="685800" y="2468880"/>
          <a:ext cx="3291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caption 1"/>
          <p:cNvSpPr txBox="1"/>
          <p:nvPr/>
        </p:nvSpPr>
        <p:spPr>
          <a:xfrm>
            <a:off x="7772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outcome equally likely — a fair die.</a:t>
            </a:r>
            <a:endParaRPr lang="en-US" sz="1400" dirty="0"/>
          </a:p>
        </p:txBody>
      </p:sp>
      <p:sp>
        <p:nvSpPr>
          <p:cNvPr id="8" name="Shape card 2"/>
          <p:cNvSpPr/>
          <p:nvPr/>
        </p:nvSpPr>
        <p:spPr>
          <a:xfrm>
            <a:off x="43205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Shape pill 2"/>
          <p:cNvSpPr/>
          <p:nvPr/>
        </p:nvSpPr>
        <p:spPr>
          <a:xfrm>
            <a:off x="45491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hape head 2"/>
          <p:cNvSpPr txBox="1"/>
          <p:nvPr/>
        </p:nvSpPr>
        <p:spPr>
          <a:xfrm>
            <a:off x="45491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Binomial</a:t>
            </a:r>
            <a:endParaRPr lang="en-US" sz="1500" dirty="0"/>
          </a:p>
        </p:txBody>
      </p:sp>
      <p:graphicFrame>
        <p:nvGraphicFramePr>
          <p:cNvPr id="11" name="Binomial mini chart" descr=""/>
          <p:cNvGraphicFramePr/>
          <p:nvPr/>
        </p:nvGraphicFramePr>
        <p:xfrm>
          <a:off x="4457700" y="2468880"/>
          <a:ext cx="3291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caption 2"/>
          <p:cNvSpPr txBox="1"/>
          <p:nvPr/>
        </p:nvSpPr>
        <p:spPr>
          <a:xfrm>
            <a:off x="45491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Successes in a fixed number of trials — heads in 10 flips.</a:t>
            </a:r>
            <a:endParaRPr lang="en-US" sz="1400" dirty="0"/>
          </a:p>
        </p:txBody>
      </p:sp>
      <p:sp>
        <p:nvSpPr>
          <p:cNvPr id="13" name="Shape card 3"/>
          <p:cNvSpPr/>
          <p:nvPr/>
        </p:nvSpPr>
        <p:spPr>
          <a:xfrm>
            <a:off x="80924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4" name="Shape pill 3"/>
          <p:cNvSpPr/>
          <p:nvPr/>
        </p:nvSpPr>
        <p:spPr>
          <a:xfrm>
            <a:off x="83210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head 3"/>
          <p:cNvSpPr txBox="1"/>
          <p:nvPr/>
        </p:nvSpPr>
        <p:spPr>
          <a:xfrm>
            <a:off x="83210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Normal</a:t>
            </a:r>
            <a:endParaRPr lang="en-US" sz="1500" dirty="0"/>
          </a:p>
        </p:txBody>
      </p:sp>
      <p:graphicFrame>
        <p:nvGraphicFramePr>
          <p:cNvPr id="16" name="Normal mini chart" descr=""/>
          <p:cNvGraphicFramePr/>
          <p:nvPr/>
        </p:nvGraphicFramePr>
        <p:xfrm>
          <a:off x="8229600" y="2468880"/>
          <a:ext cx="3291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Shape caption 3"/>
          <p:cNvSpPr txBox="1"/>
          <p:nvPr/>
        </p:nvSpPr>
        <p:spPr>
          <a:xfrm>
            <a:off x="83210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bell curve — heights, errors, test scores.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Uniform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Uniform: every outcome has the same probability.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stats.randint models a fair die — faces 1 to 6.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6,000 simulated rolls land near 1,000 per face.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die = stats.randint(1, 7)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# faces 1 to 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print(round(die.pmf(3),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# 0.1667  P(X = 3)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print(round(die.cdf(4),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# 0.6667  P(X &lt;= 4)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rng = np.random.default_rng(3)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rolls = rng.integers(1, 7, size=6000)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print(np.bincount(rolls)[1:])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[1032 1017 1003  960 1005  983]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Binomial Distribution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Successes in fixed trials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Counts successes in n independent trials, each with probability p.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Example: heads in 10 fair flips (n = 10, p = 0.5).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Mean = n × p, so 5 heads on average.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Used for conversions, defects and yes/no survey counts.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Binomial: Heads in 10 Fair Flips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P(exactly 5) = 0.246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Teal bar: exactly 5 heads — the single most likely outcome.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Rose bars: 8 or more heads, P ≈ 0.055.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Extreme results sit in the thin tails.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Mean = 5, standard deviation ≈ 1.58.</a:t>
            </a:r>
            <a:endParaRPr lang="en-US" sz="1400" dirty="0"/>
          </a:p>
        </p:txBody>
      </p:sp>
      <p:graphicFrame>
        <p:nvGraphicFramePr>
          <p:cNvPr id="7" name="Binomial pmf chart" descr=""/>
          <p:cNvGraphicFramePr/>
          <p:nvPr/>
        </p:nvGraphicFramePr>
        <p:xfrm>
          <a:off x="731520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Binomial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.pmf() gives P(X = k) exactly.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.cdf() gives P(X ≤ k) — a running total.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Use 1 − cdf for “more than” questions.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heads = stats.binom(n=10, p=0.5)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print(round(heads.pmf(5),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0.246  P(exactly 5)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print(round(heads.cdf(3),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0.172  P(at most 3)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print(round(1 - heads.cdf(7),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# 0.055  P(8 or more)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print(heads.mean())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   # 5.0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print(round(heads.std(), 2))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# 1.58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Normal Distribution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Nature’s favorite shape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classic symmetric bell curve: most values sit near the mean.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Height, blood pressure, measurement error and test scores follow it closely.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Two numbers define it: the mean (centre) and the standard deviation (width).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This is the curve behind Session 19’s empirical rule.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Normal Curve and the 68–95–99.7 Rule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much sits where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≈ 68% of values fall within ±1σ of the mean.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≈ 95% fall within ±2σ.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≈ 99.7% fall within ±3σ.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Beyond ±3σ (rose, barely visible): about 0.3% in total.</a:t>
            </a:r>
            <a:endParaRPr lang="en-US" sz="1400" dirty="0"/>
          </a:p>
        </p:txBody>
      </p:sp>
      <p:graphicFrame>
        <p:nvGraphicFramePr>
          <p:cNvPr id="8" name="Normal curve chart" descr=""/>
          <p:cNvGraphicFramePr/>
          <p:nvPr/>
        </p:nvGraphicFramePr>
        <p:xfrm>
          <a:off x="731520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Empirical Rule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stats.norm.cdf(z) gives P(Z ≤ z).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Subtract two cdf values to get a range.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These are the empirical-rule numbers, now exact.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z = stats.norm(loc=0, scale=1)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P(within 1, 2, 3 standard deviations)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print(round(z.cdf(1) - z.cdf(-1),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0.683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print(round(z.cdf(2) - z.cdf(-2),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0.954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print(round(z.cdf(3) - z.cdf(-3), 3))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0.997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Normal Tail Probabilities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Real data needs only a mean and a standard deviation.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Example: IQ ~ Normal(mean 100, SD 15).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ppf is the reverse of cdf: probability in, value out.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This is the mechanism behind the z-test in Session 21.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iq = stats.norm(loc=100, scale=15)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print(round(1 - iq.cdf(130),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# 0.0228  P(IQ &gt; 130)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print(round(iq.cdf(85), 4))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# 0.1587  P(IQ &lt; 85)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which IQ marks the top 2.5%?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print(round(iq.ppf(0.975), 1))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# 129.4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Central Limit Theorem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Normal, no matter the source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Take many samples from any population and compute each sample’s mean.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Those means form a normal distribution — even if the population is skewed.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needs a large enough sample: n ≥ 30 is the usual rule of thumb.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This is why inferential tests can assume normality on messy data.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CLT in Pictures</a:t>
            </a:r>
            <a:endParaRPr lang="en-US" sz="2600" dirty="0"/>
          </a:p>
        </p:txBody>
      </p:sp>
      <p:sp>
        <p:nvSpPr>
          <p:cNvPr id="3" name="CLT card 1"/>
          <p:cNvSpPr/>
          <p:nvPr/>
        </p:nvSpPr>
        <p:spPr>
          <a:xfrm>
            <a:off x="5486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LT pill 1"/>
          <p:cNvSpPr/>
          <p:nvPr/>
        </p:nvSpPr>
        <p:spPr>
          <a:xfrm>
            <a:off x="7772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LT head 1"/>
          <p:cNvSpPr txBox="1"/>
          <p:nvPr/>
        </p:nvSpPr>
        <p:spPr>
          <a:xfrm>
            <a:off x="7772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population</a:t>
            </a:r>
            <a:endParaRPr lang="en-US" sz="1500" dirty="0"/>
          </a:p>
        </p:txBody>
      </p:sp>
      <p:graphicFrame>
        <p:nvGraphicFramePr>
          <p:cNvPr id="6" name="The population histogram" descr=""/>
          <p:cNvGraphicFramePr/>
          <p:nvPr/>
        </p:nvGraphicFramePr>
        <p:xfrm>
          <a:off x="685800" y="2468880"/>
          <a:ext cx="3291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LT caption 1"/>
          <p:cNvSpPr txBox="1"/>
          <p:nvPr/>
        </p:nvSpPr>
        <p:spPr>
          <a:xfrm>
            <a:off x="7772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Heavily skewed — real data rarely looks normal.</a:t>
            </a:r>
            <a:endParaRPr lang="en-US" sz="1400" dirty="0"/>
          </a:p>
        </p:txBody>
      </p:sp>
      <p:sp>
        <p:nvSpPr>
          <p:cNvPr id="8" name="CLT card 2"/>
          <p:cNvSpPr/>
          <p:nvPr/>
        </p:nvSpPr>
        <p:spPr>
          <a:xfrm>
            <a:off x="43205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CLT pill 2"/>
          <p:cNvSpPr/>
          <p:nvPr/>
        </p:nvSpPr>
        <p:spPr>
          <a:xfrm>
            <a:off x="45491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LT head 2"/>
          <p:cNvSpPr txBox="1"/>
          <p:nvPr/>
        </p:nvSpPr>
        <p:spPr>
          <a:xfrm>
            <a:off x="45491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Sample means, n = 5</a:t>
            </a:r>
            <a:endParaRPr lang="en-US" sz="1500" dirty="0"/>
          </a:p>
        </p:txBody>
      </p:sp>
      <p:graphicFrame>
        <p:nvGraphicFramePr>
          <p:cNvPr id="11" name="Sample means, n = 5 histogram" descr=""/>
          <p:cNvGraphicFramePr/>
          <p:nvPr/>
        </p:nvGraphicFramePr>
        <p:xfrm>
          <a:off x="4457700" y="2468880"/>
          <a:ext cx="3291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CLT caption 2"/>
          <p:cNvSpPr txBox="1"/>
          <p:nvPr/>
        </p:nvSpPr>
        <p:spPr>
          <a:xfrm>
            <a:off x="45491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Already smoothing out, even from skewed data.</a:t>
            </a:r>
            <a:endParaRPr lang="en-US" sz="1400" dirty="0"/>
          </a:p>
        </p:txBody>
      </p:sp>
      <p:sp>
        <p:nvSpPr>
          <p:cNvPr id="13" name="CLT card 3"/>
          <p:cNvSpPr/>
          <p:nvPr/>
        </p:nvSpPr>
        <p:spPr>
          <a:xfrm>
            <a:off x="80924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4" name="CLT pill 3"/>
          <p:cNvSpPr/>
          <p:nvPr/>
        </p:nvSpPr>
        <p:spPr>
          <a:xfrm>
            <a:off x="83210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CLT head 3"/>
          <p:cNvSpPr txBox="1"/>
          <p:nvPr/>
        </p:nvSpPr>
        <p:spPr>
          <a:xfrm>
            <a:off x="83210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Sample means, n = 30</a:t>
            </a:r>
            <a:endParaRPr lang="en-US" sz="1500" dirty="0"/>
          </a:p>
        </p:txBody>
      </p:sp>
      <p:graphicFrame>
        <p:nvGraphicFramePr>
          <p:cNvPr id="16" name="Sample means, n = 30 histogram" descr=""/>
          <p:cNvGraphicFramePr/>
          <p:nvPr/>
        </p:nvGraphicFramePr>
        <p:xfrm>
          <a:off x="8229600" y="2468880"/>
          <a:ext cx="3291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CLT caption 3"/>
          <p:cNvSpPr txBox="1"/>
          <p:nvPr/>
        </p:nvSpPr>
        <p:spPr>
          <a:xfrm>
            <a:off x="83210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Nearly normal, whatever the population shape.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Simulating the CLT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skewed population: exponential, mean ≈ 10.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2,000 samples at each size and keep every mean.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σ/√n predicts how widely those means spread.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rng = np.random.default_rng(42)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pop = rng.exponential(scale=10, size=100_000)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print(round(pop.mean(), 1), round(pop.std(), 1))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10.0  10.1   (heavily skewed)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for n in [5, 30]: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means = [rng.choice(pop, n).mean()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    for _ in range(2000)]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print(n, round(np.std(means), 2))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5   4.45   (theory: 10/sqrt(5)  = 4.47)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30  1.81   (theory: 10/sqrt(30) = 1.83)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Why the CLT Matters for What Comes Next</a:t>
            </a:r>
            <a:endParaRPr lang="en-US" sz="2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00200"/>
            <a:ext cx="35509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Step chip 1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tep title 1"/>
          <p:cNvSpPr txBox="1"/>
          <p:nvPr/>
        </p:nvSpPr>
        <p:spPr>
          <a:xfrm>
            <a:off x="777240" y="2514600"/>
            <a:ext cx="309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Any population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777240" y="338328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Skewed, uniform or lumpy — the original shape does not matter.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4328160" y="1600200"/>
            <a:ext cx="35509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Step chip 2"/>
          <p:cNvSpPr/>
          <p:nvPr/>
        </p:nvSpPr>
        <p:spPr>
          <a:xfrm>
            <a:off x="455676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4556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tep title 2"/>
          <p:cNvSpPr txBox="1"/>
          <p:nvPr/>
        </p:nvSpPr>
        <p:spPr>
          <a:xfrm>
            <a:off x="4556760" y="2514600"/>
            <a:ext cx="309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Large enough n</a:t>
            </a:r>
            <a:endParaRPr lang="en-US" sz="1600" dirty="0"/>
          </a:p>
        </p:txBody>
      </p:sp>
      <p:sp>
        <p:nvSpPr>
          <p:cNvPr id="12" name="Step text 2"/>
          <p:cNvSpPr txBox="1"/>
          <p:nvPr/>
        </p:nvSpPr>
        <p:spPr>
          <a:xfrm>
            <a:off x="4556760" y="338328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n ≥ 30 is a rule of thumb, not a hard law. Very skewed data may need more.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8107680" y="1600200"/>
            <a:ext cx="35509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4" name="Step chip 3"/>
          <p:cNvSpPr/>
          <p:nvPr/>
        </p:nvSpPr>
        <p:spPr>
          <a:xfrm>
            <a:off x="833628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tep number 3"/>
          <p:cNvSpPr txBox="1"/>
          <p:nvPr/>
        </p:nvSpPr>
        <p:spPr>
          <a:xfrm>
            <a:off x="833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tep title 3"/>
          <p:cNvSpPr txBox="1"/>
          <p:nvPr/>
        </p:nvSpPr>
        <p:spPr>
          <a:xfrm>
            <a:off x="8336280" y="2514600"/>
            <a:ext cx="309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Sample means ≈ Normal</a:t>
            </a:r>
            <a:endParaRPr lang="en-US" sz="1600" dirty="0"/>
          </a:p>
        </p:txBody>
      </p:sp>
      <p:sp>
        <p:nvSpPr>
          <p:cNvPr id="17" name="Step text 3"/>
          <p:cNvSpPr txBox="1"/>
          <p:nvPr/>
        </p:nvSpPr>
        <p:spPr>
          <a:xfrm>
            <a:off x="8336280" y="338328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So the z-tests and t-tests in Sessions 21–22 may assume normality.</a:t>
            </a:r>
            <a:endParaRPr lang="en-US" sz="1400" dirty="0"/>
          </a:p>
        </p:txBody>
      </p:sp>
      <p:sp>
        <p:nvSpPr>
          <p:cNvPr id="18" name="Standard error banner"/>
          <p:cNvSpPr/>
          <p:nvPr/>
        </p:nvSpPr>
        <p:spPr>
          <a:xfrm>
            <a:off x="548640" y="4983480"/>
            <a:ext cx="11109960" cy="96012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Standard error text"/>
          <p:cNvSpPr txBox="1"/>
          <p:nvPr/>
        </p:nvSpPr>
        <p:spPr>
          <a:xfrm>
            <a:off x="548640" y="4983480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 = σ / √n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more data you collect, the tighter the sample means cluster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4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Practice Set — Distributions &amp; the CLT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Try these yourself first — pencil, paper or a quick Python cell.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 a real-world example each of a Uniform, a Binomial and a Normal variable.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stats.norm to find the probability a value falls within 1 SD of the mean.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Why does the CLT matter when your original data is heavily skewed?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Why is n = 30 a rule of thumb rather than a hard requirement?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Your Turn: Three Task Sets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Practise in Python — small steps, real numbers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1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Counting &amp; Combining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Use itertools and numpy.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the two-dice sample space. Find P(sum = 7) and P(sum ≥ 10).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a class of 40 (8 know both), find P(two “both” students in a row, no replacement), then simulate 100,000 picks.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that class (20 FastAPI only, 12 ML only), find P(FastAPI only or ML only) by hand, then count a class list.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Simulate 10,000 pairs of coin flips and compare P(two heads) to 0.25.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2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Conditional Probability &amp; Bayes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Write the formula as a function, then test it.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 of 40 (20 FastAPI only, 12 ML only, 8 both): compute P(ML | FastAPI) by counting.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bayes(prior, sens, spec) and test it with 5% prevalence and 90% accuracy.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Loop over prevalence 0.1% to 50% and print each posterior. What pattern do you see?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Update twice for two positive tests. Report both posteriors.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3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1B20"/>
                </a:solidFill>
              </a:rPr>
              <a:t>Distributions &amp; the CLT</a:t>
            </a:r>
            <a:endParaRPr lang="en-US" sz="23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4651"/>
                </a:solidFill>
              </a:rPr>
              <a:t>Simulate it, then compare with the theory.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Simulate 30 die rolls and average them. Repeat 10 times, then 1,000 times. Describe the shape.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stats.binom to find P(8 or more heads in 10 flips).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stats.norm to find the probability of a value more than 2 SD above the mean.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Repeat the CLT demo with a uniform population. Do the sample means still look normal?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Mini Project: Bayes’ Theorem in a Real Decision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complete Bayes decision, start to finish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Pick a real scenario: spam filter, fraud alert, defect scanner or background check.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Estimate three numbers: the prior, the true-positive rate and the false-positive rate.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Build a tree for 1,000+ people and compute the posterior in Python.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5 sentences: is the result more or less trustworthy than gut instinct, and why?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Mini Project: Starter Template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Fill in the blanks, then extend it.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your assumptions as comments first.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Simulate 1,000+ people to confirm the maths.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Fill in the blanks, then extend it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prior = ____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P(problem) before any alert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sens  = ____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P(alert | real problem)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fpr   = ____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P(alert | no problem)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p_alert = sens * prior + fpr * (1 - prior)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posterior = sens * prior / p_alert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print(round(posterior, 3))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next: simulate 1,000+ people and compare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 20 COMPLETE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783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What You Can Do Now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9260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54000" indent="-254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Calculate probabilities by counting and by simulation</a:t>
            </a:r>
            <a:endParaRPr lang="en-US" sz="1500" dirty="0"/>
          </a:p>
          <a:p>
            <a:pPr algn="l" marL="254000" indent="-254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Combine events with the Addition and Multiplication Rules</a:t>
            </a:r>
            <a:endParaRPr lang="en-US" sz="1500" dirty="0"/>
          </a:p>
          <a:p>
            <a:pPr algn="l" marL="254000" indent="-254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Compute conditional probabilities and apply Bayes’ Theorem</a:t>
            </a:r>
            <a:endParaRPr lang="en-US" sz="1500" dirty="0"/>
          </a:p>
          <a:p>
            <a:pPr algn="l" marL="254000" indent="-254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Recognise Uniform, Binomial and Normal distributions</a:t>
            </a:r>
            <a:endParaRPr lang="en-US" sz="1500" dirty="0"/>
          </a:p>
          <a:p>
            <a:pPr algn="l" marL="254000" indent="-254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Explain the Central Limit Theorem — and demonstrate it</a:t>
            </a: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Next up — Session 21: Inferential Statistics I · confidence intervals, hypothesis tests and p-values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Events as Sets: ∪, ∩ and Complement</a:t>
            </a:r>
            <a:endParaRPr lang="en-US" sz="2600" dirty="0"/>
          </a:p>
        </p:txBody>
      </p:sp>
      <p:sp>
        <p:nvSpPr>
          <p:cNvPr id="101" name="Shape 101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02" name="Text 102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 event is a </a:t>
            </a:r>
            <a:r>
              <a:rPr lang="en-US" sz="1800" b="1" dirty="0">
                <a:solidFill>
                  <a:schemeClr val="tx1"/>
                </a:solidFill>
              </a:rPr>
              <a:t>set</a:t>
            </a:r>
            <a:r>
              <a:rPr lang="en-US" sz="1800" dirty="0">
                <a:solidFill>
                  <a:schemeClr val="tx1"/>
                </a:solidFill>
              </a:rPr>
              <a:t> of outcomes, so events can be combined with set operations.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 ∪ B</a:t>
            </a:r>
            <a:r>
              <a:rPr lang="en-US" sz="1800" dirty="0">
                <a:solidFill>
                  <a:schemeClr val="tx1"/>
                </a:solidFill>
              </a:rPr>
              <a:t> (union): A </a:t>
            </a:r>
            <a:r>
              <a:rPr lang="en-US" sz="1800" b="1" dirty="0">
                <a:solidFill>
                  <a:schemeClr val="tx1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B happens — at least one of them.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 ∩ B</a:t>
            </a:r>
            <a:r>
              <a:rPr lang="en-US" sz="1800" dirty="0">
                <a:solidFill>
                  <a:schemeClr val="tx1"/>
                </a:solidFill>
              </a:rPr>
              <a:t> (intersection): A </a:t>
            </a:r>
            <a:r>
              <a:rPr lang="en-US" sz="1800" b="1" dirty="0">
                <a:solidFill>
                  <a:schemeClr val="tx1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B both happen.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Aᶜ</a:t>
            </a:r>
            <a:r>
              <a:rPr lang="en-US" sz="1800" dirty="0">
                <a:solidFill>
                  <a:schemeClr val="tx1"/>
                </a:solidFill>
              </a:rPr>
              <a:t> (complement): A does </a:t>
            </a:r>
            <a:r>
              <a:rPr lang="en-US" sz="1800" b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happen.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Every rule that follows is these symbols written inside P( ).</a:t>
            </a:r>
          </a:p>
        </p:txBody>
      </p:sp>
      <p:sp>
        <p:nvSpPr>
          <p:cNvPr id="103" name="Shape 103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04" name="Text 104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A ∪ B  =  A or B</a:t>
            </a:r>
          </a:p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A ∩ B  =  A and B</a:t>
            </a:r>
          </a:p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Aᶜ  =  not A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Read: union · intersection · complement</a:t>
            </a:r>
          </a:p>
        </p:txBody>
      </p:sp>
      <p:sp>
        <p:nvSpPr>
          <p:cNvPr id="106" name="Shape 106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07" name="Text 107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Class example: 40 students, A = knows FastAPI (28), B = knows ML (20). A ∪ B = all 40 students. A ∩ B = the 8 who know both.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Addition Rule: What Does It Answer?</a:t>
            </a:r>
            <a:endParaRPr lang="en-US" sz="2600" dirty="0"/>
          </a:p>
        </p:txBody>
      </p:sp>
      <p:sp>
        <p:nvSpPr>
          <p:cNvPr id="108" name="Shape 108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09" name="Text 109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chemeClr val="tx1"/>
                </a:solidFill>
              </a:rPr>
              <a:t>Addition Rule</a:t>
            </a:r>
            <a:r>
              <a:rPr lang="en-US" sz="1800" dirty="0">
                <a:solidFill>
                  <a:schemeClr val="tx1"/>
                </a:solidFill>
              </a:rPr>
              <a:t> finds the probability that </a:t>
            </a:r>
            <a:r>
              <a:rPr lang="en-US" sz="1800" b="1" dirty="0">
                <a:solidFill>
                  <a:schemeClr val="tx1"/>
                </a:solidFill>
              </a:rPr>
              <a:t>at least one</a:t>
            </a:r>
            <a:r>
              <a:rPr lang="en-US" sz="1800" dirty="0">
                <a:solidFill>
                  <a:schemeClr val="tx1"/>
                </a:solidFill>
              </a:rPr>
              <a:t> of two events occurs.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 plain words: the chance of </a:t>
            </a:r>
            <a:r>
              <a:rPr lang="en-US" sz="1800" b="1" dirty="0">
                <a:solidFill>
                  <a:schemeClr val="tx1"/>
                </a:solidFill>
              </a:rPr>
              <a:t>A or B</a:t>
            </a:r>
            <a:r>
              <a:rPr lang="en-US" sz="1800" dirty="0">
                <a:solidFill>
                  <a:schemeClr val="tx1"/>
                </a:solidFill>
              </a:rPr>
              <a:t> happening.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 probability language this is the </a:t>
            </a:r>
            <a:r>
              <a:rPr lang="en-US" sz="1800" b="1" dirty="0">
                <a:solidFill>
                  <a:schemeClr val="tx1"/>
                </a:solidFill>
              </a:rPr>
              <a:t>union</a:t>
            </a:r>
            <a:r>
              <a:rPr lang="en-US" sz="1800" dirty="0">
                <a:solidFill>
                  <a:schemeClr val="tx1"/>
                </a:solidFill>
              </a:rPr>
              <a:t>: P(A ∪ B).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“At least one” covers three cases: only A, only B, or both together.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Keyword to listen for in a question: </a:t>
            </a:r>
            <a:r>
              <a:rPr lang="en-US" sz="1800" b="1" dirty="0">
                <a:solidFill>
                  <a:schemeClr val="tx1"/>
                </a:solidFill>
              </a:rPr>
              <a:t>“or”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10" name="Shape 110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11" name="Text 111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ambria"/>
                <a:cs typeface="Cambria"/>
              </a:rPr>
              <a:t>P(A ∪ B)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Probability that A or B (or both) occurs</a:t>
            </a:r>
          </a:p>
        </p:txBody>
      </p:sp>
      <p:sp>
        <p:nvSpPr>
          <p:cNvPr id="113" name="Shape 113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14" name="Text 114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First question to ask: can A and B happen together? The answer decides which version of the rule to use.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General Addition Rule</a:t>
            </a:r>
            <a:endParaRPr lang="en-US" sz="2600" dirty="0"/>
          </a:p>
        </p:txBody>
      </p:sp>
      <p:sp>
        <p:nvSpPr>
          <p:cNvPr id="115" name="Shape 115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16" name="Text 116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General rule — valid for any two events A and B.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 ∪ B): probability of A </a:t>
            </a:r>
            <a:r>
              <a:rPr lang="en-US" sz="1800" b="1" dirty="0">
                <a:solidFill>
                  <a:schemeClr val="tx1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B occurring.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 ∩ B): probability that </a:t>
            </a:r>
            <a:r>
              <a:rPr lang="en-US" sz="1800" b="1" dirty="0">
                <a:solidFill>
                  <a:schemeClr val="tx1"/>
                </a:solidFill>
              </a:rPr>
              <a:t>both</a:t>
            </a:r>
            <a:r>
              <a:rPr lang="en-US" sz="1800" dirty="0">
                <a:solidFill>
                  <a:schemeClr val="tx1"/>
                </a:solidFill>
              </a:rPr>
              <a:t> A and B occur — the overlap.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Adding P(A) + P(B) counts the overlap twice, once inside each event.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 we subtract P(A ∩ B) to </a:t>
            </a:r>
            <a:r>
              <a:rPr lang="en-US" sz="1800" b="1" dirty="0">
                <a:solidFill>
                  <a:schemeClr val="tx1"/>
                </a:solidFill>
              </a:rPr>
              <a:t>avoid double-counting</a:t>
            </a:r>
            <a:r>
              <a:rPr lang="en-US" sz="1800" dirty="0">
                <a:solidFill>
                  <a:schemeClr val="tx1"/>
                </a:solidFill>
              </a:rPr>
              <a:t> the overlap.</a:t>
            </a:r>
          </a:p>
        </p:txBody>
      </p:sp>
      <p:sp>
        <p:nvSpPr>
          <p:cNvPr id="117" name="Shape 117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18" name="Text 118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P(A ∪ B) = P(A) + P(B)</a:t>
            </a:r>
          </a:p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− P(A ∩ B)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Works whether or not the events overlap</a:t>
            </a:r>
          </a:p>
        </p:txBody>
      </p:sp>
      <p:sp>
        <p:nvSpPr>
          <p:cNvPr id="120" name="Shape 120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21" name="Shape 121"/>
          <p:cNvSpPr/>
          <p:nvPr/>
        </p:nvSpPr>
        <p:spPr>
          <a:xfrm>
            <a:off x="8229600" y="3931920"/>
            <a:ext cx="1645920" cy="164592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</p:sp>
      <p:sp>
        <p:nvSpPr>
          <p:cNvPr id="122" name="Shape 122"/>
          <p:cNvSpPr/>
          <p:nvPr/>
        </p:nvSpPr>
        <p:spPr>
          <a:xfrm>
            <a:off x="9052560" y="3931920"/>
            <a:ext cx="1645920" cy="1645920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</p:sp>
      <p:sp>
        <p:nvSpPr>
          <p:cNvPr id="123" name="Text 123"/>
          <p:cNvSpPr txBox="1"/>
          <p:nvPr/>
        </p:nvSpPr>
        <p:spPr>
          <a:xfrm>
            <a:off x="8321040" y="45720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9921240" y="45720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8961120" y="452628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 ∩ B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Worked Example: FastAPI or ML</a:t>
            </a:r>
            <a:endParaRPr lang="en-US" sz="2600" dirty="0"/>
          </a:p>
        </p:txBody>
      </p:sp>
      <p:sp>
        <p:nvSpPr>
          <p:cNvPr id="126" name="Shape 126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27" name="Text 127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Pick one student from 40. Find P(FastAPI </a:t>
            </a:r>
            <a:r>
              <a:rPr lang="en-US" sz="1800" b="1" dirty="0">
                <a:solidFill>
                  <a:schemeClr val="tx1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ML).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= knows FastAPI: P(A) = 28/40. B = knows ML: P(B) = 20/40.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Overlap = students who know both: P(A ∩ B) = 8/40.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FastAPI and ML can happen together, so the events are </a:t>
            </a:r>
            <a:r>
              <a:rPr lang="en-US" sz="1800" b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mutually exclusive.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Check by counting: 20 FastAPI only + 12 ML only + 8 both = 40.</a:t>
            </a:r>
          </a:p>
        </p:txBody>
      </p:sp>
      <p:sp>
        <p:nvSpPr>
          <p:cNvPr id="128" name="Shape 128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29" name="Text 129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28/40 + 20/40 − 8/40</a:t>
            </a:r>
          </a:p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= 40/40 = 1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P(A ∪ B) for FastAPI or ML</a:t>
            </a:r>
          </a:p>
        </p:txBody>
      </p:sp>
      <p:sp>
        <p:nvSpPr>
          <p:cNvPr id="131" name="Shape 131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32" name="Text 132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Without the subtraction we would get 48/40 — above 1, because the 8 “both” students are counted twice.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Mutually Exclusive Events</a:t>
            </a:r>
            <a:endParaRPr lang="en-US" sz="2600" dirty="0"/>
          </a:p>
        </p:txBody>
      </p:sp>
      <p:sp>
        <p:nvSpPr>
          <p:cNvPr id="133" name="Shape 133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34" name="Text 134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Mutually exclusive</a:t>
            </a:r>
            <a:r>
              <a:rPr lang="en-US" sz="1800" dirty="0">
                <a:solidFill>
                  <a:schemeClr val="tx1"/>
                </a:solidFill>
              </a:rPr>
              <a:t> events cannot happen at the same time.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and B are mutually exclusive if P(A ∩ B) = 0 — the overlap is empty.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Examples: Heads </a:t>
            </a:r>
            <a:r>
              <a:rPr lang="en-US" sz="1800" b="1" dirty="0">
                <a:solidFill>
                  <a:schemeClr val="tx1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Tails on one toss; a 2 </a:t>
            </a:r>
            <a:r>
              <a:rPr lang="en-US" sz="1800" b="1" dirty="0">
                <a:solidFill>
                  <a:schemeClr val="tx1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a 5 on one die; “FastAPI only” </a:t>
            </a:r>
            <a:r>
              <a:rPr lang="en-US" sz="1800" b="1" dirty="0">
                <a:solidFill>
                  <a:schemeClr val="tx1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“ML only” for one student.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Not mutually exclusive: FastAPI and ML — a student who knows both is in each.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Careful: mutually exclusive does </a:t>
            </a:r>
            <a:r>
              <a:rPr lang="en-US" sz="1800" b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mean independent.</a:t>
            </a:r>
          </a:p>
        </p:txBody>
      </p:sp>
      <p:sp>
        <p:nvSpPr>
          <p:cNvPr id="135" name="Shape 135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36" name="Text 136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ambria"/>
                <a:cs typeface="Cambria"/>
              </a:rPr>
              <a:t>P(A ∩ B) = 0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Zero overlap — the circles do not touch</a:t>
            </a:r>
          </a:p>
        </p:txBody>
      </p:sp>
      <p:sp>
        <p:nvSpPr>
          <p:cNvPr id="138" name="Shape 138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39" name="Shape 139"/>
          <p:cNvSpPr/>
          <p:nvPr/>
        </p:nvSpPr>
        <p:spPr>
          <a:xfrm>
            <a:off x="7863840" y="3931920"/>
            <a:ext cx="1645920" cy="164592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</p:sp>
      <p:sp>
        <p:nvSpPr>
          <p:cNvPr id="140" name="Shape 140"/>
          <p:cNvSpPr/>
          <p:nvPr/>
        </p:nvSpPr>
        <p:spPr>
          <a:xfrm>
            <a:off x="9509760" y="3931920"/>
            <a:ext cx="1645920" cy="1645920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</p:sp>
      <p:sp>
        <p:nvSpPr>
          <p:cNvPr id="141" name="Text 141"/>
          <p:cNvSpPr txBox="1"/>
          <p:nvPr/>
        </p:nvSpPr>
        <p:spPr>
          <a:xfrm>
            <a:off x="7955279" y="45720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9601200" y="45720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Special Case: Mutually Exclusive Addition</a:t>
            </a:r>
            <a:endParaRPr lang="en-US" sz="2600" dirty="0"/>
          </a:p>
        </p:txBody>
      </p:sp>
      <p:sp>
        <p:nvSpPr>
          <p:cNvPr id="143" name="Shape 143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44" name="Text 144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If A and B are mutually exclusive, then P(A ∩ B) = 0.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general rule loses its last term — there is no overlap to subtract.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This is the simple </a:t>
            </a:r>
            <a:r>
              <a:rPr lang="en-US" sz="1800" b="1" dirty="0">
                <a:solidFill>
                  <a:schemeClr val="tx1"/>
                </a:solidFill>
              </a:rPr>
              <a:t>“just add”</a:t>
            </a:r>
            <a:r>
              <a:rPr lang="en-US" sz="1800" dirty="0">
                <a:solidFill>
                  <a:schemeClr val="tx1"/>
                </a:solidFill>
              </a:rPr>
              <a:t> version of the Addition Rule.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Example: FastAPI only </a:t>
            </a:r>
            <a:r>
              <a:rPr lang="en-US" sz="1800" b="1" dirty="0">
                <a:solidFill>
                  <a:schemeClr val="tx1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ML only → 20/40 + 12/40 = 32/40 = 4/5.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Example: a 2 </a:t>
            </a:r>
            <a:r>
              <a:rPr lang="en-US" sz="1800" b="1" dirty="0">
                <a:solidFill>
                  <a:schemeClr val="tx1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a 5 on one die → 1/6 + 1/6 = 1/3.</a:t>
            </a:r>
          </a:p>
        </p:txBody>
      </p:sp>
      <p:sp>
        <p:nvSpPr>
          <p:cNvPr id="145" name="Shape 145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46" name="Text 146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P(A ∪ B) = P(A) + P(B)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Use only when P(A ∩ B) = 0</a:t>
            </a:r>
          </a:p>
        </p:txBody>
      </p:sp>
      <p:sp>
        <p:nvSpPr>
          <p:cNvPr id="148" name="Shape 148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49" name="Shape 149"/>
          <p:cNvSpPr/>
          <p:nvPr/>
        </p:nvSpPr>
        <p:spPr>
          <a:xfrm>
            <a:off x="7863840" y="3931920"/>
            <a:ext cx="1645920" cy="164592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</p:sp>
      <p:sp>
        <p:nvSpPr>
          <p:cNvPr id="150" name="Shape 150"/>
          <p:cNvSpPr/>
          <p:nvPr/>
        </p:nvSpPr>
        <p:spPr>
          <a:xfrm>
            <a:off x="9509760" y="3931920"/>
            <a:ext cx="1645920" cy="1645920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</p:sp>
      <p:sp>
        <p:nvSpPr>
          <p:cNvPr id="151" name="Text 151"/>
          <p:cNvSpPr txBox="1"/>
          <p:nvPr/>
        </p:nvSpPr>
        <p:spPr>
          <a:xfrm>
            <a:off x="7955279" y="45720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9601200" y="45720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Multiplication Rule: What Does It Answer?</a:t>
            </a:r>
            <a:endParaRPr lang="en-US" sz="2600" dirty="0"/>
          </a:p>
        </p:txBody>
      </p:sp>
      <p:sp>
        <p:nvSpPr>
          <p:cNvPr id="153" name="Shape 153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54" name="Text 154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chemeClr val="tx1"/>
                </a:solidFill>
              </a:rPr>
              <a:t>Multiplication Rule</a:t>
            </a:r>
            <a:r>
              <a:rPr lang="en-US" sz="1800" dirty="0">
                <a:solidFill>
                  <a:schemeClr val="tx1"/>
                </a:solidFill>
              </a:rPr>
              <a:t> finds the probability that </a:t>
            </a:r>
            <a:r>
              <a:rPr lang="en-US" sz="1800" b="1" dirty="0">
                <a:solidFill>
                  <a:schemeClr val="tx1"/>
                </a:solidFill>
              </a:rPr>
              <a:t>two events happen together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 plain words: the chance of </a:t>
            </a:r>
            <a:r>
              <a:rPr lang="en-US" sz="1800" b="1" dirty="0">
                <a:solidFill>
                  <a:schemeClr val="tx1"/>
                </a:solidFill>
              </a:rPr>
              <a:t>A and B</a:t>
            </a:r>
            <a:r>
              <a:rPr lang="en-US" sz="1800" dirty="0">
                <a:solidFill>
                  <a:schemeClr val="tx1"/>
                </a:solidFill>
              </a:rPr>
              <a:t> both occurring.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 probability language this is the </a:t>
            </a:r>
            <a:r>
              <a:rPr lang="en-US" sz="1800" b="1" dirty="0">
                <a:solidFill>
                  <a:schemeClr val="tx1"/>
                </a:solidFill>
              </a:rPr>
              <a:t>intersection</a:t>
            </a:r>
            <a:r>
              <a:rPr lang="en-US" sz="1800" dirty="0">
                <a:solidFill>
                  <a:schemeClr val="tx1"/>
                </a:solidFill>
              </a:rPr>
              <a:t>: P(A ∩ B).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Keywords: </a:t>
            </a:r>
            <a:r>
              <a:rPr lang="en-US" sz="1800" b="1" dirty="0">
                <a:solidFill>
                  <a:schemeClr val="tx1"/>
                </a:solidFill>
              </a:rPr>
              <a:t>“and”</a:t>
            </a:r>
            <a:r>
              <a:rPr lang="en-US" sz="1800" dirty="0">
                <a:solidFill>
                  <a:schemeClr val="tx1"/>
                </a:solidFill>
              </a:rPr>
              <a:t>, “both”, “then”, “in a row”.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There are two versions: one for independent events, one for dependent events.</a:t>
            </a:r>
          </a:p>
        </p:txBody>
      </p:sp>
      <p:sp>
        <p:nvSpPr>
          <p:cNvPr id="155" name="Shape 155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56" name="Text 156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ambria"/>
                <a:cs typeface="Cambria"/>
              </a:rPr>
              <a:t>P(A ∩ B)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Probability that A and B both occur</a:t>
            </a:r>
          </a:p>
        </p:txBody>
      </p:sp>
      <p:sp>
        <p:nvSpPr>
          <p:cNvPr id="158" name="Shape 158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59" name="Text 159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Every extra “and” multiplies by a number below 1, so joint events are rarer than single events.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Independent Events</a:t>
            </a:r>
            <a:endParaRPr lang="en-US" sz="2600" dirty="0"/>
          </a:p>
        </p:txBody>
      </p:sp>
      <p:sp>
        <p:nvSpPr>
          <p:cNvPr id="160" name="Shape 160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61" name="Text 161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Independent events:</a:t>
            </a:r>
            <a:r>
              <a:rPr lang="en-US" sz="1800" dirty="0">
                <a:solidFill>
                  <a:schemeClr val="tx1"/>
                </a:solidFill>
              </a:rPr>
              <a:t> one event does </a:t>
            </a:r>
            <a:r>
              <a:rPr lang="en-US" sz="1800" b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affect the occurrence of the other.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and B are independent if P(A ∩ B) = P(A) · P(B).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Equivalent test: P(B | A) = P(B) — knowing A happened does not change B.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probability of both is simply the </a:t>
            </a:r>
            <a:r>
              <a:rPr lang="en-US" sz="1800" b="1" dirty="0">
                <a:solidFill>
                  <a:schemeClr val="tx1"/>
                </a:solidFill>
              </a:rPr>
              <a:t>product</a:t>
            </a:r>
            <a:r>
              <a:rPr lang="en-US" sz="1800" dirty="0">
                <a:solidFill>
                  <a:schemeClr val="tx1"/>
                </a:solidFill>
              </a:rPr>
              <a:t> of the individual probabilities.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 this version when one event does not affect the other.</a:t>
            </a:r>
          </a:p>
        </p:txBody>
      </p:sp>
      <p:sp>
        <p:nvSpPr>
          <p:cNvPr id="162" name="Shape 162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63" name="Text 163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P(A ∩ B) = P(A) · P(B)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Independent events</a:t>
            </a:r>
          </a:p>
        </p:txBody>
      </p:sp>
      <p:sp>
        <p:nvSpPr>
          <p:cNvPr id="165" name="Shape 165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66" name="Text 166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Typical independent cases: separate coin flips, different dice, draws </a:t>
            </a:r>
            <a:r>
              <a:rPr lang="en-US" sz="1600" b="1" dirty="0">
                <a:solidFill>
                  <a:schemeClr val="tx1"/>
                </a:solidFill>
              </a:rPr>
              <a:t>with</a:t>
            </a:r>
            <a:r>
              <a:rPr lang="en-US" sz="1600" dirty="0">
                <a:solidFill>
                  <a:schemeClr val="tx1"/>
                </a:solidFill>
              </a:rPr>
              <a:t> replacement.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Independent Events: Tossing a Coin Twice</a:t>
            </a:r>
            <a:endParaRPr lang="en-US" sz="2600" dirty="0"/>
          </a:p>
        </p:txBody>
      </p:sp>
      <p:sp>
        <p:nvSpPr>
          <p:cNvPr id="167" name="Shape 167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68" name="Text 168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Let </a:t>
            </a: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= the first toss is Heads. Let </a:t>
            </a: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= the second toss is Tails.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coin has no memory: the first toss cannot change the second.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 A and B are independent: P(A) = 1/2 and P(B) = 1/2.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Check with the sample space {HH, HT, TH, TT}: only HT matches — 1 of 4.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Another case: a 6 on a die </a:t>
            </a:r>
            <a:r>
              <a:rPr lang="en-US" sz="1800" b="1" dirty="0">
                <a:solidFill>
                  <a:schemeClr val="tx1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Heads on a coin → 1/6 · 1/2 = 1/12.</a:t>
            </a:r>
          </a:p>
        </p:txBody>
      </p:sp>
      <p:sp>
        <p:nvSpPr>
          <p:cNvPr id="169" name="Shape 169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70" name="Text 170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Cambria"/>
                <a:cs typeface="Cambria"/>
              </a:rPr>
              <a:t>P(A ∩ B) = 1/2 · 1/2</a:t>
            </a:r>
          </a:p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Cambria"/>
                <a:cs typeface="Cambria"/>
              </a:rPr>
              <a:t>= 1/4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Heads then Tails</a:t>
            </a:r>
          </a:p>
        </p:txBody>
      </p:sp>
      <p:sp>
        <p:nvSpPr>
          <p:cNvPr id="172" name="Shape 172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73" name="Text 173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product rule agrees with direct counting: 1 favourable outcome out of 4.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Dependent Events</a:t>
            </a:r>
            <a:endParaRPr lang="en-US" sz="2600" dirty="0"/>
          </a:p>
        </p:txBody>
      </p:sp>
      <p:sp>
        <p:nvSpPr>
          <p:cNvPr id="174" name="Shape 174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75" name="Text 175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Dependent events:</a:t>
            </a:r>
            <a:r>
              <a:rPr lang="en-US" sz="1800" dirty="0">
                <a:solidFill>
                  <a:schemeClr val="tx1"/>
                </a:solidFill>
              </a:rPr>
              <a:t> one event </a:t>
            </a:r>
            <a:r>
              <a:rPr lang="en-US" sz="1800" b="1" dirty="0">
                <a:solidFill>
                  <a:schemeClr val="tx1"/>
                </a:solidFill>
              </a:rPr>
              <a:t>affects the probability</a:t>
            </a:r>
            <a:r>
              <a:rPr lang="en-US" sz="1800" dirty="0">
                <a:solidFill>
                  <a:schemeClr val="tx1"/>
                </a:solidFill>
              </a:rPr>
              <a:t> of the other.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and B are dependent if P(A ∩ B) ≠ P(A) · P(B).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Equivalent test: P(B | A) ≠ P(B) — knowing A changes how likely B is.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Typical source: picking students </a:t>
            </a:r>
            <a:r>
              <a:rPr lang="en-US" sz="1800" b="1" dirty="0">
                <a:solidFill>
                  <a:schemeClr val="tx1"/>
                </a:solidFill>
              </a:rPr>
              <a:t>without replacement</a:t>
            </a:r>
            <a:r>
              <a:rPr lang="en-US" sz="1800" dirty="0">
                <a:solidFill>
                  <a:schemeClr val="tx1"/>
                </a:solidFill>
              </a:rPr>
              <a:t> — the class changes.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 real life, rain and heavy traffic are linked.</a:t>
            </a:r>
          </a:p>
        </p:txBody>
      </p:sp>
      <p:sp>
        <p:nvSpPr>
          <p:cNvPr id="176" name="Shape 176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77" name="Text 177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ambria"/>
                <a:cs typeface="Cambria"/>
              </a:rPr>
              <a:t>P(B | A) ≠ P(B)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Dependent events</a:t>
            </a:r>
          </a:p>
        </p:txBody>
      </p:sp>
      <p:sp>
        <p:nvSpPr>
          <p:cNvPr id="179" name="Shape 179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80" name="Text 180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Dependence needs conditional probability: P(B | A) is the probability of B given that A has happened.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Dependent Events: Two Picks Without Replacement</a:t>
            </a:r>
            <a:endParaRPr lang="en-US" sz="2600" dirty="0"/>
          </a:p>
        </p:txBody>
      </p:sp>
      <p:sp>
        <p:nvSpPr>
          <p:cNvPr id="181" name="Shape 181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82" name="Text 182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Class of 40 (8 know both). </a:t>
            </a: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= first pick knows both. </a:t>
            </a: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= second pick knows both, first student </a:t>
            </a:r>
            <a:r>
              <a:rPr lang="en-US" sz="1800" b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put back.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P(A) = 8/40.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“both” student is gone: 7 remain among 39, so P(B | A) = 7/39.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Multiply: first “both” student </a:t>
            </a:r>
            <a:r>
              <a:rPr lang="en-US" sz="1800" b="1" dirty="0">
                <a:solidFill>
                  <a:schemeClr val="tx1"/>
                </a:solidFill>
              </a:rPr>
              <a:t>and then</a:t>
            </a:r>
            <a:r>
              <a:rPr lang="en-US" sz="1800" dirty="0">
                <a:solidFill>
                  <a:schemeClr val="tx1"/>
                </a:solidFill>
              </a:rPr>
              <a:t> second one.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Wrongly treating them as independent gives (8/40)² = 0.04 — too high.</a:t>
            </a:r>
          </a:p>
        </p:txBody>
      </p:sp>
      <p:sp>
        <p:nvSpPr>
          <p:cNvPr id="183" name="Shape 183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84" name="Text 184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P(A ∩ B) = P(A) · P(B | A)</a:t>
            </a:r>
          </a:p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= 8/40 · 7/39 = 7/195 ≈ 0.0359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Two “both” students in a row</a:t>
            </a:r>
          </a:p>
        </p:txBody>
      </p:sp>
      <p:sp>
        <p:nvSpPr>
          <p:cNvPr id="186" name="Shape 186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87" name="Text 187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Same multiplication idea — only the second factor changes after the first draw.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Independent vs. Mutually Exclusive</a:t>
            </a:r>
            <a:endParaRPr lang="en-US" sz="2600" dirty="0"/>
          </a:p>
        </p:txBody>
      </p:sp>
      <p:sp>
        <p:nvSpPr>
          <p:cNvPr id="188" name="Shape 188"/>
          <p:cNvSpPr/>
          <p:nvPr/>
        </p:nvSpPr>
        <p:spPr>
          <a:xfrm>
            <a:off x="548640" y="1463040"/>
            <a:ext cx="5394960" cy="35661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89" name="Shape 189"/>
          <p:cNvSpPr/>
          <p:nvPr/>
        </p:nvSpPr>
        <p:spPr>
          <a:xfrm>
            <a:off x="777240" y="1691640"/>
            <a:ext cx="49377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90" name="Text 190"/>
          <p:cNvSpPr txBox="1"/>
          <p:nvPr/>
        </p:nvSpPr>
        <p:spPr>
          <a:xfrm>
            <a:off x="777240" y="1691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Independent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822959" y="2423160"/>
            <a:ext cx="484632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event does not change the other’s probability.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 ∩ B) = P(A) · P(B)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Both </a:t>
            </a:r>
            <a:r>
              <a:rPr lang="en-US" sz="1800" b="1" dirty="0">
                <a:solidFill>
                  <a:schemeClr val="tx1"/>
                </a:solidFill>
              </a:rPr>
              <a:t>can</a:t>
            </a:r>
            <a:r>
              <a:rPr lang="en-US" sz="1800" dirty="0">
                <a:solidFill>
                  <a:schemeClr val="tx1"/>
                </a:solidFill>
              </a:rPr>
              <a:t> happen together.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Example: Heads on coin 1 and Heads on coin 2.</a:t>
            </a:r>
          </a:p>
        </p:txBody>
      </p:sp>
      <p:sp>
        <p:nvSpPr>
          <p:cNvPr id="192" name="Shape 192"/>
          <p:cNvSpPr/>
          <p:nvPr/>
        </p:nvSpPr>
        <p:spPr>
          <a:xfrm>
            <a:off x="6309359" y="1463040"/>
            <a:ext cx="5394960" cy="35661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93" name="Shape 193"/>
          <p:cNvSpPr/>
          <p:nvPr/>
        </p:nvSpPr>
        <p:spPr>
          <a:xfrm>
            <a:off x="6537959" y="1691640"/>
            <a:ext cx="49377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94" name="Text 194"/>
          <p:cNvSpPr txBox="1"/>
          <p:nvPr/>
        </p:nvSpPr>
        <p:spPr>
          <a:xfrm>
            <a:off x="6537959" y="1691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2019"/>
                </a:solidFill>
              </a:rPr>
              <a:t>Mutually exclusive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6583679" y="2423160"/>
            <a:ext cx="484632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events cannot happen together.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 ∩ B) = 0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If A happens, B is </a:t>
            </a:r>
            <a:r>
              <a:rPr lang="en-US" sz="1800" b="1" dirty="0">
                <a:solidFill>
                  <a:schemeClr val="tx1"/>
                </a:solidFill>
              </a:rPr>
              <a:t>impossible</a:t>
            </a:r>
            <a:r>
              <a:rPr lang="en-US" sz="1800" dirty="0">
                <a:solidFill>
                  <a:schemeClr val="tx1"/>
                </a:solidFill>
              </a:rPr>
              <a:t> — they strongly affect each other.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Example: one die showing a 2 and a 5.</a:t>
            </a:r>
          </a:p>
        </p:txBody>
      </p:sp>
      <p:sp>
        <p:nvSpPr>
          <p:cNvPr id="196" name="Shape 196"/>
          <p:cNvSpPr/>
          <p:nvPr/>
        </p:nvSpPr>
        <p:spPr>
          <a:xfrm>
            <a:off x="548640" y="5212080"/>
            <a:ext cx="11155680" cy="594360"/>
          </a:xfrm>
          <a:prstGeom prst="roundRect">
            <a:avLst>
              <a:gd name="adj" fmla="val 20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97" name="Text 197"/>
          <p:cNvSpPr txBox="1"/>
          <p:nvPr/>
        </p:nvSpPr>
        <p:spPr>
          <a:xfrm>
            <a:off x="777240" y="5212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If P(A) &gt; 0 and P(B) &gt; 0, mutually exclusive events are always dependent.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Which Rule Do I Use?</a:t>
            </a:r>
            <a:endParaRPr lang="en-US" sz="2600" dirty="0"/>
          </a:p>
        </p:txBody>
      </p:sp>
      <p:sp>
        <p:nvSpPr>
          <p:cNvPr id="198" name="Shape 198"/>
          <p:cNvSpPr/>
          <p:nvPr/>
        </p:nvSpPr>
        <p:spPr>
          <a:xfrm>
            <a:off x="548640" y="1463040"/>
            <a:ext cx="5394960" cy="35661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99" name="Shape 199"/>
          <p:cNvSpPr/>
          <p:nvPr/>
        </p:nvSpPr>
        <p:spPr>
          <a:xfrm>
            <a:off x="777240" y="1691640"/>
            <a:ext cx="49377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00" name="Text 200"/>
          <p:cNvSpPr txBox="1"/>
          <p:nvPr/>
        </p:nvSpPr>
        <p:spPr>
          <a:xfrm>
            <a:off x="777240" y="1691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“OR” → Addition Rule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822959" y="2423160"/>
            <a:ext cx="484632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Look for: or, at least one, either.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Union: P(A ∪ B)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Overlap possible: P(A) + P(B) − P(A ∩ B)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Mutually exclusive: P(A) + P(B)</a:t>
            </a:r>
          </a:p>
        </p:txBody>
      </p:sp>
      <p:sp>
        <p:nvSpPr>
          <p:cNvPr id="202" name="Shape 202"/>
          <p:cNvSpPr/>
          <p:nvPr/>
        </p:nvSpPr>
        <p:spPr>
          <a:xfrm>
            <a:off x="6309359" y="1463040"/>
            <a:ext cx="5394960" cy="35661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203" name="Shape 203"/>
          <p:cNvSpPr/>
          <p:nvPr/>
        </p:nvSpPr>
        <p:spPr>
          <a:xfrm>
            <a:off x="6537959" y="1691640"/>
            <a:ext cx="49377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04" name="Text 204"/>
          <p:cNvSpPr txBox="1"/>
          <p:nvPr/>
        </p:nvSpPr>
        <p:spPr>
          <a:xfrm>
            <a:off x="6537959" y="1691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2019"/>
                </a:solidFill>
              </a:rPr>
              <a:t>“AND” → Multiplication Rule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6583679" y="2423160"/>
            <a:ext cx="484632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Look for: and, both, then, in a row.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Intersection: P(A ∩ B)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Independent: P(A) · P(B)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Dependent: P(A) · P(B | A)</a:t>
            </a:r>
          </a:p>
        </p:txBody>
      </p:sp>
      <p:sp>
        <p:nvSpPr>
          <p:cNvPr id="206" name="Shape 206"/>
          <p:cNvSpPr/>
          <p:nvPr/>
        </p:nvSpPr>
        <p:spPr>
          <a:xfrm>
            <a:off x="548640" y="5212080"/>
            <a:ext cx="11155680" cy="594360"/>
          </a:xfrm>
          <a:prstGeom prst="roundRect">
            <a:avLst>
              <a:gd name="adj" fmla="val 20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207" name="Text 207"/>
          <p:cNvSpPr txBox="1"/>
          <p:nvPr/>
        </p:nvSpPr>
        <p:spPr>
          <a:xfrm>
            <a:off x="777240" y="5212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Ask two questions every time: OR or AND? Then overlap or independence?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Conditional Probability: The Formula</a:t>
            </a:r>
            <a:endParaRPr lang="en-US" sz="2600" dirty="0"/>
          </a:p>
        </p:txBody>
      </p:sp>
      <p:sp>
        <p:nvSpPr>
          <p:cNvPr id="208" name="Shape 208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209" name="Text 209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 | B) is the probability of A </a:t>
            </a:r>
            <a:r>
              <a:rPr lang="en-US" sz="1800" b="1" dirty="0">
                <a:solidFill>
                  <a:schemeClr val="tx1"/>
                </a:solidFill>
              </a:rPr>
              <a:t>given that B has already happened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Knowing B shrinks the sample space to only the outcomes where B is true.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Inside that smaller world, count where A also happens: that is A ∩ B.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 divide: both happen ÷ B happens.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Example: P(Both | FastAPI) = (8/40) ÷ (28/40) = 8/28 = 2/7.</a:t>
            </a:r>
          </a:p>
        </p:txBody>
      </p:sp>
      <p:sp>
        <p:nvSpPr>
          <p:cNvPr id="210" name="Shape 210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211" name="Text 211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P(A | B) = P(A ∩ B) / P(B)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Requires P(B) &gt; 0</a:t>
            </a:r>
          </a:p>
        </p:txBody>
      </p:sp>
      <p:sp>
        <p:nvSpPr>
          <p:cNvPr id="213" name="Shape 213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214" name="Text 214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Rearranged, this is the Multiplication Rule for dependent events: P(A ∩ B) = P(B) · P(A | B).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Where Bayes’ Theorem Comes From</a:t>
            </a:r>
            <a:endParaRPr lang="en-US" sz="2600" dirty="0"/>
          </a:p>
        </p:txBody>
      </p:sp>
      <p:sp>
        <p:nvSpPr>
          <p:cNvPr id="215" name="Shape 215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216" name="Text 216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Write the Multiplication Rule two ways for the same event A ∩ B.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 ∩ B) = P(A | B) · P(B)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 ∩ B) = P(B | A) · P(A)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Both equal P(A ∩ B), so set them equal and divide by P(B).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result flips the condition: from P(B | A) to P(A | B).</a:t>
            </a:r>
          </a:p>
        </p:txBody>
      </p:sp>
      <p:sp>
        <p:nvSpPr>
          <p:cNvPr id="217" name="Shape 217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218" name="Text 218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P(A | B) = P(B | A) · P(A) / P(B)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Bayes’ Theorem</a:t>
            </a:r>
          </a:p>
        </p:txBody>
      </p:sp>
      <p:sp>
        <p:nvSpPr>
          <p:cNvPr id="220" name="Shape 220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221" name="Text 221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Posterior = likelihood × prior ÷ evidence.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Bayes Step by Step: The Medical Test</a:t>
            </a:r>
            <a:endParaRPr lang="en-US" sz="2600" dirty="0"/>
          </a:p>
        </p:txBody>
      </p:sp>
      <p:sp>
        <p:nvSpPr>
          <p:cNvPr id="222" name="Shape 222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223" name="Text 223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Let </a:t>
            </a:r>
            <a:r>
              <a:rPr lang="en-US" sz="1800" b="1" dirty="0">
                <a:solidFill>
                  <a:schemeClr val="tx1"/>
                </a:solidFill>
              </a:rPr>
              <a:t>D</a:t>
            </a:r>
            <a:r>
              <a:rPr lang="en-US" sz="1800" dirty="0">
                <a:solidFill>
                  <a:schemeClr val="tx1"/>
                </a:solidFill>
              </a:rPr>
              <a:t> = has the disease, </a:t>
            </a:r>
            <a:r>
              <a:rPr lang="en-US" sz="1800" b="1" dirty="0">
                <a:solidFill>
                  <a:schemeClr val="tx1"/>
                </a:solidFill>
              </a:rPr>
              <a:t>+</a:t>
            </a:r>
            <a:r>
              <a:rPr lang="en-US" sz="1800" dirty="0">
                <a:solidFill>
                  <a:schemeClr val="tx1"/>
                </a:solidFill>
              </a:rPr>
              <a:t> = tests positive.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P(D) = 0.01 (prior). P(+ | D) = 0.95. P(+ | Dᶜ) = 0.05.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Evidence: P(+) = 0.95·0.01 + 0.05·0.99 = 0.0095 + 0.0495 = 0.059.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Posterior: P(D | +) = 0.0095 ÷ 0.059 ≈ 0.161.</a:t>
            </a:r>
          </a:p>
          <a:p>
            <a:pPr algn="l" marL="285750" indent="-28575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positive test still leaves only about a 16% chance of disease.</a:t>
            </a:r>
          </a:p>
        </p:txBody>
      </p:sp>
      <p:sp>
        <p:nvSpPr>
          <p:cNvPr id="224" name="Shape 224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225" name="Text 225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P(D | +) = (0.95 × 0.01) / 0.059</a:t>
            </a:r>
          </a:p>
          <a:p>
            <a:pPr algn="ctr"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≈ 0.161</a:t>
            </a:r>
          </a:p>
        </p:txBody>
      </p:sp>
      <p:sp>
        <p:nvSpPr>
          <p:cNvPr id="226" name="Text 226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Posterior probability</a:t>
            </a:r>
          </a:p>
        </p:txBody>
      </p:sp>
      <p:sp>
        <p:nvSpPr>
          <p:cNvPr id="227" name="Shape 227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228" name="Text 228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P(+) adds every way to test positive: true positives </a:t>
            </a:r>
            <a:r>
              <a:rPr lang="en-US" sz="1600" b="1" dirty="0">
                <a:solidFill>
                  <a:schemeClr val="tx1"/>
                </a:solidFill>
              </a:rPr>
              <a:t>and</a:t>
            </a:r>
            <a:r>
              <a:rPr lang="en-US" sz="1600" dirty="0">
                <a:solidFill>
                  <a:schemeClr val="tx1"/>
                </a:solidFill>
              </a:rPr>
              <a:t> false positives.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Step by Step: Python OR Machine Learning</a:t>
            </a:r>
            <a:endParaRPr lang="en-US" sz="2600" dirty="0"/>
          </a:p>
        </p:txBody>
      </p:sp>
      <p:sp>
        <p:nvSpPr>
          <p:cNvPr id="117" name="Step card 1"/>
          <p:cNvSpPr/>
          <p:nvPr/>
        </p:nvSpPr>
        <p:spPr>
          <a:xfrm>
            <a:off x="548640" y="1600200"/>
            <a:ext cx="7223760" cy="10058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18" name="Step chip 1"/>
          <p:cNvSpPr/>
          <p:nvPr/>
        </p:nvSpPr>
        <p:spPr>
          <a:xfrm>
            <a:off x="731520" y="192938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9" name="Step number 1"/>
          <p:cNvSpPr txBox="1"/>
          <p:nvPr/>
        </p:nvSpPr>
        <p:spPr>
          <a:xfrm>
            <a:off x="731520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20" name="Step text 1"/>
          <p:cNvSpPr txBox="1"/>
          <p:nvPr/>
        </p:nvSpPr>
        <p:spPr>
          <a:xfrm>
            <a:off x="1234440" y="1600200"/>
            <a:ext cx="6355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474651"/>
                </a:solidFill>
              </a:rPr>
              <a:t>Step 1: Find the total who know Python.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1B2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P(A) = (12 + 8) / 40 = 20/40</a:t>
            </a:r>
            <a:endParaRPr lang="en-US" sz="1800" dirty="0"/>
          </a:p>
        </p:txBody>
      </p:sp>
      <p:sp>
        <p:nvSpPr>
          <p:cNvPr id="121" name="Step card 2"/>
          <p:cNvSpPr/>
          <p:nvPr/>
        </p:nvSpPr>
        <p:spPr>
          <a:xfrm>
            <a:off x="548640" y="2697480"/>
            <a:ext cx="7223760" cy="10058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2" name="Step chip 2"/>
          <p:cNvSpPr/>
          <p:nvPr/>
        </p:nvSpPr>
        <p:spPr>
          <a:xfrm>
            <a:off x="731520" y="30266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3" name="Step number 2"/>
          <p:cNvSpPr txBox="1"/>
          <p:nvPr/>
        </p:nvSpPr>
        <p:spPr>
          <a:xfrm>
            <a:off x="73152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24" name="Step text 2"/>
          <p:cNvSpPr txBox="1"/>
          <p:nvPr/>
        </p:nvSpPr>
        <p:spPr>
          <a:xfrm>
            <a:off x="1234440" y="2697480"/>
            <a:ext cx="6355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474651"/>
                </a:solidFill>
              </a:rPr>
              <a:t>Step 2: Find the total who know Machine Learning.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1B2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P(B) = (10 + 8) / 40 = 18/40</a:t>
            </a:r>
            <a:endParaRPr lang="en-US" sz="1800" dirty="0"/>
          </a:p>
        </p:txBody>
      </p:sp>
      <p:sp>
        <p:nvSpPr>
          <p:cNvPr id="125" name="Step card 3"/>
          <p:cNvSpPr/>
          <p:nvPr/>
        </p:nvSpPr>
        <p:spPr>
          <a:xfrm>
            <a:off x="548640" y="3794760"/>
            <a:ext cx="7223760" cy="10058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6" name="Step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7" name="Step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28" name="Step text 3"/>
          <p:cNvSpPr txBox="1"/>
          <p:nvPr/>
        </p:nvSpPr>
        <p:spPr>
          <a:xfrm>
            <a:off x="1234440" y="3794760"/>
            <a:ext cx="6355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474651"/>
                </a:solidFill>
              </a:rPr>
              <a:t>Step 3: Add both probabilities.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1B2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20/40 + 18/40 = 38/40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264B"/>
                </a:solidFill>
              </a:rPr>
              <a:t>Oops! The 8 students who know both subjects have been counted twice.</a:t>
            </a:r>
            <a:endParaRPr lang="en-US" sz="1200" dirty="0"/>
          </a:p>
        </p:txBody>
      </p:sp>
      <p:sp>
        <p:nvSpPr>
          <p:cNvPr id="129" name="Step card 4"/>
          <p:cNvSpPr/>
          <p:nvPr/>
        </p:nvSpPr>
        <p:spPr>
          <a:xfrm>
            <a:off x="548640" y="4892040"/>
            <a:ext cx="7223760" cy="10058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30" name="Step chip 4"/>
          <p:cNvSpPr/>
          <p:nvPr/>
        </p:nvSpPr>
        <p:spPr>
          <a:xfrm>
            <a:off x="731520" y="52212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1" name="Step number 4"/>
          <p:cNvSpPr txBox="1"/>
          <p:nvPr/>
        </p:nvSpPr>
        <p:spPr>
          <a:xfrm>
            <a:off x="731520" y="5221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132" name="Step text 4"/>
          <p:cNvSpPr txBox="1"/>
          <p:nvPr/>
        </p:nvSpPr>
        <p:spPr>
          <a:xfrm>
            <a:off x="1234440" y="4892040"/>
            <a:ext cx="6355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474651"/>
                </a:solidFill>
              </a:rPr>
              <a:t>Step 4: Subtract the overlap once.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1B2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 ∪ B) = (20 + 18 − 8) / 40 = 30/40 = 75%</a:t>
            </a:r>
            <a:endParaRPr lang="en-US" sz="1800" dirty="0"/>
          </a:p>
        </p:txBody>
      </p:sp>
      <p:sp>
        <p:nvSpPr>
          <p:cNvPr id="133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4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 ∪ B) = 75%</a:t>
            </a:r>
            <a:endParaRPr lang="en-US" sz="2000" dirty="0"/>
          </a:p>
        </p:txBody>
      </p:sp>
      <p:sp>
        <p:nvSpPr>
          <p:cNvPr id="135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The answer is 75%, or 30 out of 40 students.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Remember: Add both groups, subtract the students counted in both, and divide by the total number of students.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0"/>
                </a:solidFill>
              </a:rPr>
              <a:t>Python &amp; Machine Learning: The Overlap</a:t>
            </a:r>
            <a:endParaRPr lang="en-US" sz="2600" dirty="0"/>
          </a:p>
        </p:txBody>
      </p:sp>
      <p:sp>
        <p:nvSpPr>
          <p:cNvPr id="101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02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3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Class of 40 Students</a:t>
            </a:r>
            <a:endParaRPr lang="en-US" sz="2000" dirty="0"/>
          </a:p>
        </p:txBody>
      </p:sp>
      <p:sp>
        <p:nvSpPr>
          <p:cNvPr id="104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12 know only Python.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8 know both Python and Machine Learning.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10 know only Machine Learning.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10 know neither.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Question: What is the probability that a randomly selected student knows Python OR Machine Learning?</a:t>
            </a:r>
            <a:endParaRPr lang="en-US" sz="1400" dirty="0"/>
          </a:p>
        </p:txBody>
      </p:sp>
      <p:sp>
        <p:nvSpPr>
          <p:cNvPr id="105" name="Sample space box"/>
          <p:cNvSpPr/>
          <p:nvPr/>
        </p:nvSpPr>
        <p:spPr>
          <a:xfrm>
            <a:off x="914400" y="2103120"/>
            <a:ext cx="6492240" cy="3520440"/>
          </a:xfrm>
          <a:prstGeom prst="roundRect">
            <a:avLst>
              <a:gd name="adj" fmla="val 2597"/>
            </a:avLst>
          </a:prstGeom>
          <a:solidFill>
            <a:srgbClr val="F6F4FF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06" name="S label"/>
          <p:cNvSpPr txBox="1"/>
          <p:nvPr/>
        </p:nvSpPr>
        <p:spPr>
          <a:xfrm>
            <a:off x="105156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651"/>
                </a:solidFill>
              </a:rPr>
              <a:t>Class of 40 students</a:t>
            </a:r>
            <a:endParaRPr lang="en-US" sz="1200" dirty="0"/>
          </a:p>
        </p:txBody>
      </p:sp>
      <p:sp>
        <p:nvSpPr>
          <p:cNvPr id="107" name="Neither label"/>
          <p:cNvSpPr txBox="1"/>
          <p:nvPr/>
        </p:nvSpPr>
        <p:spPr>
          <a:xfrm>
            <a:off x="544068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74651"/>
                </a:solidFill>
              </a:rPr>
              <a:t>Neither: 10</a:t>
            </a:r>
            <a:endParaRPr lang="en-US" sz="1400" dirty="0"/>
          </a:p>
        </p:txBody>
      </p:sp>
      <p:sp>
        <p:nvSpPr>
          <p:cNvPr id="108" name="Circle Python"/>
          <p:cNvSpPr/>
          <p:nvPr/>
        </p:nvSpPr>
        <p:spPr>
          <a:xfrm>
            <a:off x="2011680" y="2514600"/>
            <a:ext cx="2560320" cy="256032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9" name="Circle Machine Learning"/>
          <p:cNvSpPr/>
          <p:nvPr/>
        </p:nvSpPr>
        <p:spPr>
          <a:xfrm>
            <a:off x="3749040" y="2514600"/>
            <a:ext cx="2560320" cy="2560320"/>
          </a:xfrm>
          <a:prstGeom prst="ellipse">
            <a:avLst/>
          </a:prstGeom>
          <a:solidFill>
            <a:schemeClr val="accent2">
              <a:alpha val="60000"/>
            </a:schemeClr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10" name="Venn Python"/>
          <p:cNvSpPr txBox="1"/>
          <p:nvPr/>
        </p:nvSpPr>
        <p:spPr>
          <a:xfrm>
            <a:off x="2286000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Python</a:t>
            </a:r>
            <a:endParaRPr lang="en-US" sz="1800" dirty="0"/>
          </a:p>
        </p:txBody>
      </p:sp>
      <p:sp>
        <p:nvSpPr>
          <p:cNvPr id="111" name="Venn 12"/>
          <p:cNvSpPr txBox="1"/>
          <p:nvPr/>
        </p:nvSpPr>
        <p:spPr>
          <a:xfrm>
            <a:off x="228600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</a:t>
            </a:r>
            <a:endParaRPr lang="en-US" sz="2200" dirty="0"/>
          </a:p>
        </p:txBody>
      </p:sp>
      <p:sp>
        <p:nvSpPr>
          <p:cNvPr id="112" name="Venn Both"/>
          <p:cNvSpPr txBox="1"/>
          <p:nvPr/>
        </p:nvSpPr>
        <p:spPr>
          <a:xfrm>
            <a:off x="3749040" y="3429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Both</a:t>
            </a:r>
            <a:endParaRPr lang="en-US" sz="1200" dirty="0"/>
          </a:p>
        </p:txBody>
      </p:sp>
      <p:sp>
        <p:nvSpPr>
          <p:cNvPr id="113" name="Venn 8"/>
          <p:cNvSpPr txBox="1"/>
          <p:nvPr/>
        </p:nvSpPr>
        <p:spPr>
          <a:xfrm>
            <a:off x="3749040" y="3794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2200" dirty="0"/>
          </a:p>
        </p:txBody>
      </p:sp>
      <p:sp>
        <p:nvSpPr>
          <p:cNvPr id="114" name="Venn Machine Learning"/>
          <p:cNvSpPr txBox="1"/>
          <p:nvPr/>
        </p:nvSpPr>
        <p:spPr>
          <a:xfrm>
            <a:off x="4754880" y="2651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15" name="Venn 10"/>
          <p:cNvSpPr txBox="1"/>
          <p:nvPr/>
        </p:nvSpPr>
        <p:spPr>
          <a:xfrm>
            <a:off x="475488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2200" dirty="0"/>
          </a:p>
        </p:txBody>
      </p:sp>
      <p:sp>
        <p:nvSpPr>
          <p:cNvPr id="116" name="Venn caption"/>
          <p:cNvSpPr txBox="1"/>
          <p:nvPr/>
        </p:nvSpPr>
        <p:spPr>
          <a:xfrm>
            <a:off x="1051560" y="51663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4651"/>
                </a:solidFill>
              </a:rPr>
              <a:t>The overlap holds the 8 students who know both subjects.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ByPaxto">
  <a:themeElements>
    <a:clrScheme name="CodeByPaxto">
      <a:dk1>
        <a:srgbClr val="1B1B20"/>
      </a:dk1>
      <a:lt1>
        <a:srgbClr val="FFFFFF"/>
      </a:lt1>
      <a:dk2>
        <a:srgbClr val="0B0F17"/>
      </a:dk2>
      <a:lt2>
        <a:srgbClr val="FCF8FF"/>
      </a:lt2>
      <a:accent1>
        <a:srgbClr val="8C8AE0"/>
      </a:accent1>
      <a:accent2>
        <a:srgbClr val="2DD4BF"/>
      </a:accent2>
      <a:accent3>
        <a:srgbClr val="BBEDDC"/>
      </a:accent3>
      <a:accent4>
        <a:srgbClr val="F43F5E"/>
      </a:accent4>
      <a:accent5>
        <a:srgbClr val="262758"/>
      </a:accent5>
      <a:accent6>
        <a:srgbClr val="5755A7"/>
      </a:accent6>
      <a:hlink>
        <a:srgbClr val="5755A7"/>
      </a:hlink>
      <a:folHlink>
        <a:srgbClr val="8C8AE0"/>
      </a:folHlink>
    </a:clrScheme>
    <a:fontScheme name="CodeByPaxto">
      <a:majorFont>
        <a:latin typeface="Bricolage Grotesq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anken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CodeByPaxto: The AI &amp; ML Playground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— Session 20</dc:title>
  <dc:subject>PptxGenJS Presentation</dc:subject>
  <dc:creator>Hafiz Waseem Ahmed (Paxto)</dc:creator>
  <cp:lastModifiedBy>Hafiz Waseem Ahmed (Paxto)</cp:lastModifiedBy>
  <cp:revision>1</cp:revision>
  <dcterms:created xsi:type="dcterms:W3CDTF">2026-10-10T15:42:32Z</dcterms:created>
  <dcterms:modified xsi:type="dcterms:W3CDTF">2026-10-10T15:42:32Z</dcterms:modified>
</cp:coreProperties>
</file>