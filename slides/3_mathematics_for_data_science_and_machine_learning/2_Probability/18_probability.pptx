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image" Target="../media/image-3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image" Target="../media/image-34-3.png"/><Relationship Id="rId4" Type="http://schemas.openxmlformats.org/officeDocument/2006/relationships/image" Target="../media/image-3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image" Target="../media/image-35-3.png"/><Relationship Id="rId4" Type="http://schemas.openxmlformats.org/officeDocument/2006/relationships/image" Target="../media/image-3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D6B0"/>
                </a:solidFill>
              </a:rPr>
              <a:t>✦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247120" y="5486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FFC94A"/>
                </a:solidFill>
              </a:rPr>
              <a:t>✦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640080" y="61264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8FB3"/>
                </a:solidFill>
              </a:rPr>
              <a:t>✦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338560" y="6035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7FE8"/>
                </a:solidFill>
              </a:rPr>
              <a:t>✦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 rot="-120000">
            <a:off x="1234440" y="1691640"/>
            <a:ext cx="9720072" cy="3520440"/>
          </a:xfrm>
          <a:prstGeom prst="roundRect">
            <a:avLst>
              <a:gd name="adj" fmla="val 5195"/>
            </a:avLst>
          </a:prstGeom>
          <a:solidFill>
            <a:srgbClr val="FFC94A"/>
          </a:solidFill>
          <a:ln/>
        </p:spPr>
      </p:sp>
      <p:sp>
        <p:nvSpPr>
          <p:cNvPr id="7" name="Shape 5"/>
          <p:cNvSpPr/>
          <p:nvPr/>
        </p:nvSpPr>
        <p:spPr>
          <a:xfrm>
            <a:off x="1051560" y="1508760"/>
            <a:ext cx="9720072" cy="3520440"/>
          </a:xfrm>
          <a:prstGeom prst="roundRect">
            <a:avLst>
              <a:gd name="adj" fmla="val 5195"/>
            </a:avLst>
          </a:prstGeom>
          <a:solidFill>
            <a:srgbClr val="8B7FE8"/>
          </a:solidFill>
          <a:ln/>
        </p:spPr>
      </p:sp>
      <p:sp>
        <p:nvSpPr>
          <p:cNvPr id="8" name="Shape 6"/>
          <p:cNvSpPr/>
          <p:nvPr/>
        </p:nvSpPr>
        <p:spPr>
          <a:xfrm>
            <a:off x="5367528" y="1874520"/>
            <a:ext cx="1097280" cy="10972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41264" y="2048256"/>
            <a:ext cx="749808" cy="74980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08760" y="2880360"/>
            <a:ext cx="8805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Probability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1508760" y="3794760"/>
            <a:ext cx="8805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Rules, Conditional Probability, Bayes’ Theorem &amp; the Central Limit Theorem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1508760" y="5394960"/>
            <a:ext cx="8805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20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914400" y="5989320"/>
            <a:ext cx="10360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CodeByPaxto: The AI &amp; ML Playground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914400" y="6291072"/>
            <a:ext cx="10360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Hafiz Waseem Ahmed (Paxto)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8B7FE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What We're Covering Today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9050">
            <a:solidFill>
              <a:srgbClr val="D8D2F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600200"/>
            <a:ext cx="11274552" cy="566928"/>
          </a:xfrm>
          <a:prstGeom prst="roundRect">
            <a:avLst>
              <a:gd name="adj" fmla="val 19355"/>
            </a:avLst>
          </a:prstGeom>
          <a:solidFill>
            <a:srgbClr val="EDE9FE"/>
          </a:solidFill>
          <a:ln w="12700">
            <a:solidFill>
              <a:srgbClr val="D8D2F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85800" y="1709928"/>
            <a:ext cx="347472" cy="347472"/>
          </a:xfrm>
          <a:prstGeom prst="ellipse">
            <a:avLst/>
          </a:prstGeom>
          <a:solidFill>
            <a:srgbClr val="8B7FE8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783080"/>
            <a:ext cx="201168" cy="2011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34440" y="1600200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probability actually is — sample space, events, and the basic rules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57200" y="2258568"/>
            <a:ext cx="11274552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8D2F5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85800" y="2368296"/>
            <a:ext cx="347472" cy="347472"/>
          </a:xfrm>
          <a:prstGeom prst="ellipse">
            <a:avLst/>
          </a:prstGeom>
          <a:solidFill>
            <a:srgbClr val="5FD6B0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2441448"/>
            <a:ext cx="201168" cy="2011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34440" y="225856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probabilities — the Addition Rule, the Multiplication Rule, and independence</a:t>
            </a:r>
            <a:endParaRPr lang="en-US" sz="1350" dirty="0"/>
          </a:p>
        </p:txBody>
      </p:sp>
      <p:sp>
        <p:nvSpPr>
          <p:cNvPr id="14" name="Shape 9"/>
          <p:cNvSpPr/>
          <p:nvPr/>
        </p:nvSpPr>
        <p:spPr>
          <a:xfrm>
            <a:off x="457200" y="2916936"/>
            <a:ext cx="11274552" cy="566928"/>
          </a:xfrm>
          <a:prstGeom prst="roundRect">
            <a:avLst>
              <a:gd name="adj" fmla="val 19355"/>
            </a:avLst>
          </a:prstGeom>
          <a:solidFill>
            <a:srgbClr val="EDE9FE"/>
          </a:solidFill>
          <a:ln w="12700">
            <a:solidFill>
              <a:srgbClr val="D8D2F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85800" y="3026664"/>
            <a:ext cx="347472" cy="347472"/>
          </a:xfrm>
          <a:prstGeom prst="ellipse">
            <a:avLst/>
          </a:prstGeom>
          <a:solidFill>
            <a:srgbClr val="FFC94A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3099816"/>
            <a:ext cx="201168" cy="20116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234440" y="291693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probability and Bayes’ Theorem — updating beliefs with new evidence</a:t>
            </a:r>
            <a:endParaRPr lang="en-US" sz="1350" dirty="0"/>
          </a:p>
        </p:txBody>
      </p:sp>
      <p:sp>
        <p:nvSpPr>
          <p:cNvPr id="18" name="Shape 12"/>
          <p:cNvSpPr/>
          <p:nvPr/>
        </p:nvSpPr>
        <p:spPr>
          <a:xfrm>
            <a:off x="457200" y="3575304"/>
            <a:ext cx="11274552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8D2F5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685800" y="3685032"/>
            <a:ext cx="347472" cy="347472"/>
          </a:xfrm>
          <a:prstGeom prst="ellipse">
            <a:avLst/>
          </a:prstGeom>
          <a:solidFill>
            <a:srgbClr val="FF8FB3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" y="3758184"/>
            <a:ext cx="201168" cy="20116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234440" y="3575304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distributions — Uniform, Binomial, and the Normal distribution</a:t>
            </a:r>
            <a:endParaRPr lang="en-US" sz="1350" dirty="0"/>
          </a:p>
        </p:txBody>
      </p:sp>
      <p:sp>
        <p:nvSpPr>
          <p:cNvPr id="22" name="Shape 15"/>
          <p:cNvSpPr/>
          <p:nvPr/>
        </p:nvSpPr>
        <p:spPr>
          <a:xfrm>
            <a:off x="457200" y="4233672"/>
            <a:ext cx="11274552" cy="566928"/>
          </a:xfrm>
          <a:prstGeom prst="roundRect">
            <a:avLst>
              <a:gd name="adj" fmla="val 19355"/>
            </a:avLst>
          </a:prstGeom>
          <a:solidFill>
            <a:srgbClr val="EDE9FE"/>
          </a:solidFill>
          <a:ln w="12700">
            <a:solidFill>
              <a:srgbClr val="D8D2F5"/>
            </a:solidFill>
            <a:prstDash val="solid"/>
          </a:ln>
        </p:spPr>
      </p:sp>
      <p:sp>
        <p:nvSpPr>
          <p:cNvPr id="23" name="Shape 16"/>
          <p:cNvSpPr/>
          <p:nvPr/>
        </p:nvSpPr>
        <p:spPr>
          <a:xfrm>
            <a:off x="685800" y="4343400"/>
            <a:ext cx="347472" cy="347472"/>
          </a:xfrm>
          <a:prstGeom prst="ellipse">
            <a:avLst/>
          </a:prstGeom>
          <a:solidFill>
            <a:srgbClr val="8B7FE8"/>
          </a:solidFill>
          <a:ln/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952" y="4416552"/>
            <a:ext cx="201168" cy="201168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234440" y="4233672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Central Limit Theorem — why inferential statistics is even allowed to work</a:t>
            </a:r>
            <a:endParaRPr lang="en-US" sz="1350" dirty="0"/>
          </a:p>
        </p:txBody>
      </p:sp>
      <p:sp>
        <p:nvSpPr>
          <p:cNvPr id="26" name="Shape 18"/>
          <p:cNvSpPr/>
          <p:nvPr/>
        </p:nvSpPr>
        <p:spPr>
          <a:xfrm>
            <a:off x="457200" y="4892040"/>
            <a:ext cx="11274552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8D2F5"/>
            </a:solidFill>
            <a:prstDash val="solid"/>
          </a:ln>
        </p:spPr>
      </p:sp>
      <p:sp>
        <p:nvSpPr>
          <p:cNvPr id="27" name="Shape 19"/>
          <p:cNvSpPr/>
          <p:nvPr/>
        </p:nvSpPr>
        <p:spPr>
          <a:xfrm>
            <a:off x="685800" y="5001768"/>
            <a:ext cx="347472" cy="347472"/>
          </a:xfrm>
          <a:prstGeom prst="ellipse">
            <a:avLst/>
          </a:prstGeom>
          <a:solidFill>
            <a:srgbClr val="5FD6B0"/>
          </a:solidFill>
          <a:ln/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8952" y="5074920"/>
            <a:ext cx="201168" cy="201168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1234440" y="4892040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tasks and a mini project — Bayes’ Theorem in a real decision</a:t>
            </a:r>
            <a:endParaRPr lang="en-US" sz="1350" dirty="0"/>
          </a:p>
        </p:txBody>
      </p:sp>
      <p:sp>
        <p:nvSpPr>
          <p:cNvPr id="30" name="Text 21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CodeByPaxto: The AI &amp; ML Playground  ·  Hafiz Waseem Ahmed (Paxto)</a:t>
            </a:r>
            <a:endParaRPr lang="en-US" sz="950" dirty="0"/>
          </a:p>
        </p:txBody>
      </p:sp>
      <p:sp>
        <p:nvSpPr>
          <p:cNvPr id="31" name="Text 22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D6B0"/>
                </a:solidFill>
              </a:rPr>
              <a:t>✦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247120" y="5486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FFC94A"/>
                </a:solidFill>
              </a:rPr>
              <a:t>✦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640080" y="61264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8FB3"/>
                </a:solidFill>
              </a:rPr>
              <a:t>✦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338560" y="6035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7FE8"/>
                </a:solidFill>
              </a:rPr>
              <a:t>✦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 rot="-90000">
            <a:off x="1874520" y="1325880"/>
            <a:ext cx="8805672" cy="777240"/>
          </a:xfrm>
          <a:prstGeom prst="roundRect">
            <a:avLst>
              <a:gd name="adj" fmla="val 17647"/>
            </a:avLst>
          </a:prstGeom>
          <a:solidFill>
            <a:srgbClr val="FFC94A"/>
          </a:solidFill>
          <a:ln/>
        </p:spPr>
      </p:sp>
      <p:sp>
        <p:nvSpPr>
          <p:cNvPr id="7" name="Shape 5"/>
          <p:cNvSpPr/>
          <p:nvPr/>
        </p:nvSpPr>
        <p:spPr>
          <a:xfrm>
            <a:off x="1691640" y="1188720"/>
            <a:ext cx="8805672" cy="777240"/>
          </a:xfrm>
          <a:prstGeom prst="roundRect">
            <a:avLst>
              <a:gd name="adj" fmla="val 17647"/>
            </a:avLst>
          </a:prstGeom>
          <a:solidFill>
            <a:srgbClr val="8B7FE8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0448" y="134874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91640" y="1188720"/>
            <a:ext cx="8805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97280" y="2331720"/>
            <a:ext cx="999439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Foundations</a:t>
            </a:r>
            <a:endParaRPr lang="en-US" sz="2900" dirty="0"/>
          </a:p>
        </p:txBody>
      </p:sp>
      <p:sp>
        <p:nvSpPr>
          <p:cNvPr id="11" name="Text 8"/>
          <p:cNvSpPr/>
          <p:nvPr/>
        </p:nvSpPr>
        <p:spPr>
          <a:xfrm>
            <a:off x="1737360" y="4434840"/>
            <a:ext cx="87142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vocabulary and basic rules every other idea in this session builds directly on top of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8B7FE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What Is Probability, Really?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9050">
            <a:solidFill>
              <a:srgbClr val="D8D2F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554480"/>
            <a:ext cx="3657600" cy="4663440"/>
          </a:xfrm>
          <a:prstGeom prst="roundRect">
            <a:avLst>
              <a:gd name="adj" fmla="val 4500"/>
            </a:avLst>
          </a:prstGeom>
          <a:solidFill>
            <a:srgbClr val="EDE9FE"/>
          </a:solidFill>
          <a:ln w="12700">
            <a:solidFill>
              <a:srgbClr val="D8D2F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508760" y="2194560"/>
            <a:ext cx="1554480" cy="1554480"/>
          </a:xfrm>
          <a:prstGeom prst="ellipse">
            <a:avLst/>
          </a:prstGeom>
          <a:solidFill>
            <a:srgbClr val="8B7FE8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6504" y="2423160"/>
            <a:ext cx="1088136" cy="10881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" y="397764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number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for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uncertainty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4572000" y="1737360"/>
            <a:ext cx="71323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is a number between 0 and 1 that measures how likely something is to happen — 0 means impossible, 1 means certain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It’s the mathematical language for describing uncertainty precisely, instead of vaguely saying "probably" or "unlikely"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inferential statistic you’ll meet in Sessions 21 and 22 — p-values, confidence levels, significance — is a probability statement wearing different clothes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already reason about probability informally all the time — this session gives that instinct precise, calculable rules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CodeByPaxto: The AI &amp; ML Playground  ·  Hafiz Waseem Ahmed (Paxto)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8B7FE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Sample Space &amp; Events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9050">
            <a:solidFill>
              <a:srgbClr val="D8D2F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554480"/>
            <a:ext cx="3657600" cy="4663440"/>
          </a:xfrm>
          <a:prstGeom prst="roundRect">
            <a:avLst>
              <a:gd name="adj" fmla="val 4500"/>
            </a:avLst>
          </a:prstGeom>
          <a:solidFill>
            <a:srgbClr val="EDE9FE"/>
          </a:solidFill>
          <a:ln w="12700">
            <a:solidFill>
              <a:srgbClr val="D8D2F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508760" y="2194560"/>
            <a:ext cx="1554480" cy="1554480"/>
          </a:xfrm>
          <a:prstGeom prst="ellipse">
            <a:avLst/>
          </a:prstGeom>
          <a:solidFill>
            <a:srgbClr val="8B7FE8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6504" y="2423160"/>
            <a:ext cx="1088136" cy="10881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" y="397764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Every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possible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outcome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4572000" y="1737360"/>
            <a:ext cx="71323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sample space is the complete set of every possible outcome of some random process — all 6 faces of a die, both sides of a coin, every card in a deck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event is any subset of the sample space you actually care about — "rolling an even number," "drawing a heart," "getting at least one head"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you know the sample space and can identify your event within it, calculating a basic probability is often just counting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foundation every other rule in this session builds on top of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CodeByPaxto: The AI &amp; ML Playground  ·  Hafiz Waseem Ahmed (Paxto)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8B7FE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Sample Space, Events &amp; "OR"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9050">
            <a:solidFill>
              <a:srgbClr val="D8D2F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14630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One Event Inside a Sample Space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22960" y="1920240"/>
            <a:ext cx="4754880" cy="37490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9050">
            <a:solidFill>
              <a:srgbClr val="D8D2F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60120" y="2011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(sample space)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1682496" y="2688336"/>
            <a:ext cx="109728" cy="109728"/>
          </a:xfrm>
          <a:prstGeom prst="ellipse">
            <a:avLst/>
          </a:prstGeom>
          <a:solidFill>
            <a:srgbClr val="685F8F"/>
          </a:solidFill>
          <a:ln/>
        </p:spPr>
      </p:sp>
      <p:sp>
        <p:nvSpPr>
          <p:cNvPr id="10" name="Shape 7"/>
          <p:cNvSpPr/>
          <p:nvPr/>
        </p:nvSpPr>
        <p:spPr>
          <a:xfrm>
            <a:off x="2231136" y="3328416"/>
            <a:ext cx="109728" cy="109728"/>
          </a:xfrm>
          <a:prstGeom prst="ellipse">
            <a:avLst/>
          </a:prstGeom>
          <a:solidFill>
            <a:srgbClr val="685F8F"/>
          </a:solidFill>
          <a:ln/>
        </p:spPr>
      </p:sp>
      <p:sp>
        <p:nvSpPr>
          <p:cNvPr id="11" name="Shape 8"/>
          <p:cNvSpPr/>
          <p:nvPr/>
        </p:nvSpPr>
        <p:spPr>
          <a:xfrm>
            <a:off x="2871216" y="2596896"/>
            <a:ext cx="109728" cy="109728"/>
          </a:xfrm>
          <a:prstGeom prst="ellipse">
            <a:avLst/>
          </a:prstGeom>
          <a:solidFill>
            <a:srgbClr val="685F8F"/>
          </a:solidFill>
          <a:ln/>
        </p:spPr>
      </p:sp>
      <p:sp>
        <p:nvSpPr>
          <p:cNvPr id="12" name="Shape 9"/>
          <p:cNvSpPr/>
          <p:nvPr/>
        </p:nvSpPr>
        <p:spPr>
          <a:xfrm>
            <a:off x="3511296" y="3511296"/>
            <a:ext cx="109728" cy="109728"/>
          </a:xfrm>
          <a:prstGeom prst="ellipse">
            <a:avLst/>
          </a:prstGeom>
          <a:solidFill>
            <a:srgbClr val="685F8F"/>
          </a:solidFill>
          <a:ln/>
        </p:spPr>
      </p:sp>
      <p:sp>
        <p:nvSpPr>
          <p:cNvPr id="13" name="Shape 10"/>
          <p:cNvSpPr/>
          <p:nvPr/>
        </p:nvSpPr>
        <p:spPr>
          <a:xfrm>
            <a:off x="4059936" y="2779776"/>
            <a:ext cx="109728" cy="109728"/>
          </a:xfrm>
          <a:prstGeom prst="ellipse">
            <a:avLst/>
          </a:prstGeom>
          <a:solidFill>
            <a:srgbClr val="685F8F"/>
          </a:solidFill>
          <a:ln/>
        </p:spPr>
      </p:sp>
      <p:sp>
        <p:nvSpPr>
          <p:cNvPr id="14" name="Shape 11"/>
          <p:cNvSpPr/>
          <p:nvPr/>
        </p:nvSpPr>
        <p:spPr>
          <a:xfrm>
            <a:off x="1865376" y="4242816"/>
            <a:ext cx="109728" cy="109728"/>
          </a:xfrm>
          <a:prstGeom prst="ellipse">
            <a:avLst/>
          </a:prstGeom>
          <a:solidFill>
            <a:srgbClr val="685F8F"/>
          </a:solidFill>
          <a:ln/>
        </p:spPr>
      </p:sp>
      <p:sp>
        <p:nvSpPr>
          <p:cNvPr id="15" name="Shape 12"/>
          <p:cNvSpPr/>
          <p:nvPr/>
        </p:nvSpPr>
        <p:spPr>
          <a:xfrm>
            <a:off x="2596896" y="4700016"/>
            <a:ext cx="109728" cy="109728"/>
          </a:xfrm>
          <a:prstGeom prst="ellipse">
            <a:avLst/>
          </a:prstGeom>
          <a:solidFill>
            <a:srgbClr val="685F8F"/>
          </a:solidFill>
          <a:ln/>
        </p:spPr>
      </p:sp>
      <p:sp>
        <p:nvSpPr>
          <p:cNvPr id="16" name="Shape 13"/>
          <p:cNvSpPr/>
          <p:nvPr/>
        </p:nvSpPr>
        <p:spPr>
          <a:xfrm>
            <a:off x="3511296" y="4882896"/>
            <a:ext cx="109728" cy="109728"/>
          </a:xfrm>
          <a:prstGeom prst="ellipse">
            <a:avLst/>
          </a:prstGeom>
          <a:solidFill>
            <a:srgbClr val="685F8F"/>
          </a:solidFill>
          <a:ln/>
        </p:spPr>
      </p:sp>
      <p:sp>
        <p:nvSpPr>
          <p:cNvPr id="17" name="Shape 14"/>
          <p:cNvSpPr/>
          <p:nvPr/>
        </p:nvSpPr>
        <p:spPr>
          <a:xfrm>
            <a:off x="4334256" y="4242816"/>
            <a:ext cx="109728" cy="109728"/>
          </a:xfrm>
          <a:prstGeom prst="ellipse">
            <a:avLst/>
          </a:prstGeom>
          <a:solidFill>
            <a:srgbClr val="685F8F"/>
          </a:solidFill>
          <a:ln/>
        </p:spPr>
      </p:sp>
      <p:sp>
        <p:nvSpPr>
          <p:cNvPr id="18" name="Shape 15"/>
          <p:cNvSpPr/>
          <p:nvPr/>
        </p:nvSpPr>
        <p:spPr>
          <a:xfrm>
            <a:off x="1499616" y="5065776"/>
            <a:ext cx="109728" cy="109728"/>
          </a:xfrm>
          <a:prstGeom prst="ellipse">
            <a:avLst/>
          </a:prstGeom>
          <a:solidFill>
            <a:srgbClr val="685F8F"/>
          </a:solidFill>
          <a:ln/>
        </p:spPr>
      </p:sp>
      <p:sp>
        <p:nvSpPr>
          <p:cNvPr id="19" name="Shape 16"/>
          <p:cNvSpPr/>
          <p:nvPr/>
        </p:nvSpPr>
        <p:spPr>
          <a:xfrm>
            <a:off x="4700016" y="5157216"/>
            <a:ext cx="109728" cy="109728"/>
          </a:xfrm>
          <a:prstGeom prst="ellipse">
            <a:avLst/>
          </a:prstGeom>
          <a:solidFill>
            <a:srgbClr val="685F8F"/>
          </a:solidFill>
          <a:ln/>
        </p:spPr>
      </p:sp>
      <p:sp>
        <p:nvSpPr>
          <p:cNvPr id="20" name="Shape 17"/>
          <p:cNvSpPr/>
          <p:nvPr/>
        </p:nvSpPr>
        <p:spPr>
          <a:xfrm>
            <a:off x="4882896" y="3419856"/>
            <a:ext cx="109728" cy="109728"/>
          </a:xfrm>
          <a:prstGeom prst="ellipse">
            <a:avLst/>
          </a:prstGeom>
          <a:solidFill>
            <a:srgbClr val="685F8F"/>
          </a:solidFill>
          <a:ln/>
        </p:spPr>
      </p:sp>
      <p:sp>
        <p:nvSpPr>
          <p:cNvPr id="21" name="Shape 18"/>
          <p:cNvSpPr/>
          <p:nvPr/>
        </p:nvSpPr>
        <p:spPr>
          <a:xfrm>
            <a:off x="1828800" y="3108960"/>
            <a:ext cx="2103120" cy="1645920"/>
          </a:xfrm>
          <a:prstGeom prst="ellipse">
            <a:avLst/>
          </a:prstGeom>
          <a:solidFill>
            <a:srgbClr val="8B7FE8">
              <a:alpha val="45000"/>
            </a:srgbClr>
          </a:solidFill>
          <a:ln w="25400">
            <a:solidFill>
              <a:srgbClr val="8B7FE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828800" y="48006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5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A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309360" y="1463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"A or B" — the Union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6309360" y="192024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9050">
            <a:solidFill>
              <a:srgbClr val="D8D2F5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858000" y="2926080"/>
            <a:ext cx="2377440" cy="2011680"/>
          </a:xfrm>
          <a:prstGeom prst="ellipse">
            <a:avLst/>
          </a:prstGeom>
          <a:solidFill>
            <a:srgbClr val="8B7FE8">
              <a:alpha val="55000"/>
            </a:srgbClr>
          </a:solidFill>
          <a:ln w="25400">
            <a:solidFill>
              <a:srgbClr val="8B7FE8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412480" y="2926080"/>
            <a:ext cx="2377440" cy="2011680"/>
          </a:xfrm>
          <a:prstGeom prst="ellipse">
            <a:avLst/>
          </a:prstGeom>
          <a:solidFill>
            <a:srgbClr val="5FD6B0">
              <a:alpha val="55000"/>
            </a:srgbClr>
          </a:solidFill>
          <a:ln w="25400">
            <a:solidFill>
              <a:srgbClr val="5FD6B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132320" y="36576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5FD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9966960" y="36576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9A7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8366760" y="36576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∩ B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822960" y="5806440"/>
            <a:ext cx="10543032" cy="685800"/>
          </a:xfrm>
          <a:prstGeom prst="roundRect">
            <a:avLst>
              <a:gd name="adj" fmla="val 13333"/>
            </a:avLst>
          </a:prstGeom>
          <a:solidFill>
            <a:srgbClr val="EDE9FE"/>
          </a:solidFill>
          <a:ln w="12700">
            <a:solidFill>
              <a:srgbClr val="D8D2F5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051560" y="5806440"/>
            <a:ext cx="10085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overlap (A ∩ B) gets counted once by each circle — which is exactly why the Addition Rule subtracts it back out.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CodeByPaxto: The AI &amp; ML Playground  ·  Hafiz Waseem Ahmed (Paxto)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8B7FE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Basic Probability Rules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9050">
            <a:solidFill>
              <a:srgbClr val="D8D2F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1828800"/>
            <a:ext cx="47548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equally likely outcomes, probability is simply a count: how many outcomes satisfy your event, divided by the total number of possible outcomes</a:t>
            </a:r>
            <a:endParaRPr lang="en-US" sz="1350" dirty="0"/>
          </a:p>
          <a:p>
            <a:pPr marL="203200" indent="-2032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probability must fall between 0 and 1 — anything outside that range signals a calculation error, not a genuinely new kind of probability</a:t>
            </a:r>
            <a:endParaRPr lang="en-US" sz="1350" dirty="0"/>
          </a:p>
          <a:p>
            <a:pPr marL="203200" indent="-2032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complement rule is a quick shortcut: the probability something does NOT happen is just 1 minus the probability that it does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0" y="1691640"/>
            <a:ext cx="6217920" cy="4343400"/>
          </a:xfrm>
          <a:prstGeom prst="roundRect">
            <a:avLst>
              <a:gd name="adj" fmla="val 3368"/>
            </a:avLst>
          </a:prstGeom>
          <a:solidFill>
            <a:srgbClr val="E3FBF3"/>
          </a:solidFill>
          <a:ln w="19050">
            <a:solidFill>
              <a:srgbClr val="5FD6B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06440" y="1965960"/>
            <a:ext cx="55778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6B5F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P(event) = (favorable outcomes) / (total outcomes)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6B5F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i="1" dirty="0">
                <a:solidFill>
                  <a:srgbClr val="685F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Example: rolling an even number on a 6-sided die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6B5F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P(even) = 3 / 6 = 0.5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6B5F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i="1" dirty="0">
                <a:solidFill>
                  <a:srgbClr val="685F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Complement rule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6B5F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P(not A) = 1 − P(A)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6B5F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P(not even) = 1 - 0.5 = 0.5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CodeByPaxto: The AI &amp; ML Playground  ·  Hafiz Waseem Ahmed (Paxto)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8B7FE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Practice Set — Foundations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9050">
            <a:solidFill>
              <a:srgbClr val="D8D2F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600200"/>
            <a:ext cx="11274552" cy="4480560"/>
          </a:xfrm>
          <a:prstGeom prst="roundRect">
            <a:avLst>
              <a:gd name="adj" fmla="val 3673"/>
            </a:avLst>
          </a:prstGeom>
          <a:solidFill>
            <a:srgbClr val="EDE9FE"/>
          </a:solidFill>
          <a:ln w="12700">
            <a:solidFill>
              <a:srgbClr val="D8D2F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Try these yourself first — that's the point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22960" y="2423160"/>
            <a:ext cx="384048" cy="384048"/>
          </a:xfrm>
          <a:prstGeom prst="ellipse">
            <a:avLst/>
          </a:prstGeom>
          <a:solidFill>
            <a:srgbClr val="8B7FE8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2423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435608" y="2423160"/>
            <a:ext cx="9582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the full sample space for flipping two coins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22960" y="3300984"/>
            <a:ext cx="384048" cy="384048"/>
          </a:xfrm>
          <a:prstGeom prst="ellipse">
            <a:avLst/>
          </a:prstGeom>
          <a:solidFill>
            <a:srgbClr val="8B7FE8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3300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35608" y="3300984"/>
            <a:ext cx="9582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the probability of drawing a King from a standard 52-card deck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22960" y="4178808"/>
            <a:ext cx="384048" cy="384048"/>
          </a:xfrm>
          <a:prstGeom prst="ellipse">
            <a:avLst/>
          </a:prstGeom>
          <a:solidFill>
            <a:srgbClr val="8B7FE8"/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" y="4178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35608" y="4178808"/>
            <a:ext cx="9582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the complement rule, calculate the probability of NOT rolling a 6 on a fair die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822960" y="5056632"/>
            <a:ext cx="384048" cy="384048"/>
          </a:xfrm>
          <a:prstGeom prst="ellipse">
            <a:avLst/>
          </a:prstGeom>
          <a:solidFill>
            <a:srgbClr val="8B7FE8"/>
          </a:solidFill>
          <a:ln/>
        </p:spPr>
      </p:sp>
      <p:sp>
        <p:nvSpPr>
          <p:cNvPr id="18" name="Text 15"/>
          <p:cNvSpPr/>
          <p:nvPr/>
        </p:nvSpPr>
        <p:spPr>
          <a:xfrm>
            <a:off x="822960" y="5056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35608" y="5056632"/>
            <a:ext cx="9582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Explain, in your own words, why a probability of 1.4 would signal a mistake in a calculation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CodeByPaxto: The AI &amp; ML Playground  ·  Hafiz Waseem Ahmed (Paxto)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D6B0"/>
                </a:solidFill>
              </a:rPr>
              <a:t>✦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247120" y="5486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FFC94A"/>
                </a:solidFill>
              </a:rPr>
              <a:t>✦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640080" y="61264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8FB3"/>
                </a:solidFill>
              </a:rPr>
              <a:t>✦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338560" y="6035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7FE8"/>
                </a:solidFill>
              </a:rPr>
              <a:t>✦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 rot="-90000">
            <a:off x="1874520" y="1325880"/>
            <a:ext cx="8805672" cy="777240"/>
          </a:xfrm>
          <a:prstGeom prst="roundRect">
            <a:avLst>
              <a:gd name="adj" fmla="val 17647"/>
            </a:avLst>
          </a:prstGeom>
          <a:solidFill>
            <a:srgbClr val="FFC94A"/>
          </a:solidFill>
          <a:ln/>
        </p:spPr>
      </p:sp>
      <p:sp>
        <p:nvSpPr>
          <p:cNvPr id="7" name="Shape 5"/>
          <p:cNvSpPr/>
          <p:nvPr/>
        </p:nvSpPr>
        <p:spPr>
          <a:xfrm>
            <a:off x="1691640" y="1188720"/>
            <a:ext cx="8805672" cy="777240"/>
          </a:xfrm>
          <a:prstGeom prst="roundRect">
            <a:avLst>
              <a:gd name="adj" fmla="val 17647"/>
            </a:avLst>
          </a:prstGeom>
          <a:solidFill>
            <a:srgbClr val="8B7FE8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0448" y="134874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91640" y="1188720"/>
            <a:ext cx="8805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97280" y="2331720"/>
            <a:ext cx="999439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Combining Probabilities</a:t>
            </a:r>
            <a:endParaRPr lang="en-US" sz="2900" dirty="0"/>
          </a:p>
        </p:txBody>
      </p:sp>
      <p:sp>
        <p:nvSpPr>
          <p:cNvPr id="11" name="Text 8"/>
          <p:cNvSpPr/>
          <p:nvPr/>
        </p:nvSpPr>
        <p:spPr>
          <a:xfrm>
            <a:off x="1737360" y="4434840"/>
            <a:ext cx="87142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questions rarely involve just one event — here’s how "and" and "or" actually work with probability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8B7FE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Addition Rule — "OR"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9050">
            <a:solidFill>
              <a:srgbClr val="D8D2F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1828800"/>
            <a:ext cx="47548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Addition Rule calculates the probability that AT LEAST ONE of two events happens — "event A or event B"</a:t>
            </a:r>
            <a:endParaRPr lang="en-US" sz="1350" dirty="0"/>
          </a:p>
          <a:p>
            <a:pPr marL="203200" indent="-2032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and B can never happen together (mutually exclusive), you simply add their probabilities</a:t>
            </a:r>
            <a:endParaRPr lang="en-US" sz="1350" dirty="0"/>
          </a:p>
          <a:p>
            <a:pPr marL="203200" indent="-2032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they CAN overlap, you have to subtract that overlap back out — otherwise you’d count it twice, exactly like the diagram on the last slide showed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0" y="1691640"/>
            <a:ext cx="6217920" cy="4343400"/>
          </a:xfrm>
          <a:prstGeom prst="roundRect">
            <a:avLst>
              <a:gd name="adj" fmla="val 3368"/>
            </a:avLst>
          </a:prstGeom>
          <a:solidFill>
            <a:srgbClr val="E3FBF3"/>
          </a:solidFill>
          <a:ln w="19050">
            <a:solidFill>
              <a:srgbClr val="5FD6B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06440" y="1965960"/>
            <a:ext cx="55778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i="1" dirty="0">
                <a:solidFill>
                  <a:srgbClr val="685F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Mutually exclusive (no overlap possible)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6B5F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P(A or B) = P(A) + P(B)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6B5F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i="1" dirty="0">
                <a:solidFill>
                  <a:srgbClr val="685F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Example: rolling a 2 OR a 5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6B5F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P(2 or 5) = 1/6 + 1/6 = 2/6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6B5F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i="1" dirty="0">
                <a:solidFill>
                  <a:srgbClr val="685F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When overlap IS possible, subtract it: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6B5F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P(A or B) = P(A) + P(B) − P(A and B)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CodeByPaxto: The AI &amp; ML Playground  ·  Hafiz Waseem Ahmed (Paxto)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8B7FE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Multiplication Rule — "AND"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9050">
            <a:solidFill>
              <a:srgbClr val="D8D2F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1828800"/>
            <a:ext cx="47548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Multiplication Rule calculates the probability that BOTH of two events happen — "event A and event B"</a:t>
            </a:r>
            <a:endParaRPr lang="en-US" sz="1350" dirty="0"/>
          </a:p>
          <a:p>
            <a:pPr marL="203200" indent="-2032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events are independent (one doesn’t affect the other), you simply multiply their individual probabilities</a:t>
            </a:r>
            <a:endParaRPr lang="en-US" sz="1350" dirty="0"/>
          </a:p>
          <a:p>
            <a:pPr marL="203200" indent="-2032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exactly why probabilities shrink fast as you require more and more things to all happen together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0" y="1691640"/>
            <a:ext cx="6217920" cy="4343400"/>
          </a:xfrm>
          <a:prstGeom prst="roundRect">
            <a:avLst>
              <a:gd name="adj" fmla="val 3368"/>
            </a:avLst>
          </a:prstGeom>
          <a:solidFill>
            <a:srgbClr val="E3FBF3"/>
          </a:solidFill>
          <a:ln w="19050">
            <a:solidFill>
              <a:srgbClr val="5FD6B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06440" y="1965960"/>
            <a:ext cx="55778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i="1" dirty="0">
                <a:solidFill>
                  <a:srgbClr val="685F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Independent events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6B5F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P(A and B) = P(A) × P(B)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6B5F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i="1" dirty="0">
                <a:solidFill>
                  <a:srgbClr val="685F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Example: flipping heads twice in a row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6B5F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P(heads, then heads) = 0.5 × 0.5 = 0.25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6B5F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i="1" dirty="0">
                <a:solidFill>
                  <a:srgbClr val="685F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Example: rolling a 6, then drawing an Ace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6B5F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P(6 and Ace) = (1/6) × (4/52) ≈ 0.013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CodeByPaxto: The AI &amp; ML Playground  ·  Hafiz Waseem Ahmed (Paxto)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8B7FE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Independent vs. Dependent Events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9050">
            <a:solidFill>
              <a:srgbClr val="D8D2F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554480"/>
            <a:ext cx="3657600" cy="4663440"/>
          </a:xfrm>
          <a:prstGeom prst="roundRect">
            <a:avLst>
              <a:gd name="adj" fmla="val 4500"/>
            </a:avLst>
          </a:prstGeom>
          <a:solidFill>
            <a:srgbClr val="EDE9FE"/>
          </a:solidFill>
          <a:ln w="12700">
            <a:solidFill>
              <a:srgbClr val="D8D2F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508760" y="2194560"/>
            <a:ext cx="1554480" cy="1554480"/>
          </a:xfrm>
          <a:prstGeom prst="ellipse">
            <a:avLst/>
          </a:prstGeom>
          <a:solidFill>
            <a:srgbClr val="8B7FE8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6504" y="2423160"/>
            <a:ext cx="1088136" cy="10881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" y="397764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Does one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affect the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other?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4572000" y="1737360"/>
            <a:ext cx="71323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events are independent if the outcome of one has absolutely no effect on the probability of the other — like separate coin flips or separate die rolls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events are dependent if one genuinely changes the probability of the other — drawing a card without replacement changes what’s left in the deck for the next draw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plain multiplication rule (P(A) × P(B)) only works for independent events — dependent events need conditional probability, covered next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Correctly identifying independence is often the hardest and most important judgment call in any real probability problem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CodeByPaxto: The AI &amp; ML Playground  ·  Hafiz Waseem Ahmed (Paxto)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8B7FE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Real-World Use: Dice and Cards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9050">
            <a:solidFill>
              <a:srgbClr val="D8D2F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1828800"/>
            <a:ext cx="47548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Dice, cards, and coins are the classic training ground for these rules precisely because their sample spaces are small and completely known</a:t>
            </a:r>
            <a:endParaRPr lang="en-US" sz="1350" dirty="0"/>
          </a:p>
          <a:p>
            <a:pPr marL="203200" indent="-2032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exact same Addition and Multiplication Rules scale up directly to real-world questions: "what’s the probability a user clicks OR converts," "what’s the probability of two independent system failures happening together"</a:t>
            </a:r>
            <a:endParaRPr lang="en-US" sz="1350" dirty="0"/>
          </a:p>
          <a:p>
            <a:pPr marL="203200" indent="-2032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Practicing with dice and cards first builds the intuition that transfers directly to messier, real data later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0" y="1691640"/>
            <a:ext cx="6217920" cy="4343400"/>
          </a:xfrm>
          <a:prstGeom prst="roundRect">
            <a:avLst>
              <a:gd name="adj" fmla="val 3368"/>
            </a:avLst>
          </a:prstGeom>
          <a:solidFill>
            <a:srgbClr val="E3FBF3"/>
          </a:solidFill>
          <a:ln w="19050">
            <a:solidFill>
              <a:srgbClr val="5FD6B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06440" y="1965960"/>
            <a:ext cx="55778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i="1" dirty="0">
                <a:solidFill>
                  <a:srgbClr val="685F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P(drawing a heart OR a King) — these overlap (King of Hearts)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6B5F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P(heart or King) = 13/52 + 4/52 - 1/52 = 16/52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6B5F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i="1" dirty="0">
                <a:solidFill>
                  <a:srgbClr val="685F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P(two dice both show 6) — independent events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6B5F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P(6 and 6) = (1/6) × (1/6) = 1/36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CodeByPaxto: The AI &amp; ML Playground  ·  Hafiz Waseem Ahmed (Paxto)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8B7FE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Practice Set — Combining Probabilities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9050">
            <a:solidFill>
              <a:srgbClr val="D8D2F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600200"/>
            <a:ext cx="11274552" cy="4480560"/>
          </a:xfrm>
          <a:prstGeom prst="roundRect">
            <a:avLst>
              <a:gd name="adj" fmla="val 3673"/>
            </a:avLst>
          </a:prstGeom>
          <a:solidFill>
            <a:srgbClr val="EDE9FE"/>
          </a:solidFill>
          <a:ln w="12700">
            <a:solidFill>
              <a:srgbClr val="D8D2F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Try these yourself first — that's the point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22960" y="2423160"/>
            <a:ext cx="384048" cy="384048"/>
          </a:xfrm>
          <a:prstGeom prst="ellipse">
            <a:avLst/>
          </a:prstGeom>
          <a:solidFill>
            <a:srgbClr val="8B7FE8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2423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435608" y="2423160"/>
            <a:ext cx="9582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the probability of drawing a heart OR a spade from a standard deck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22960" y="3300984"/>
            <a:ext cx="384048" cy="384048"/>
          </a:xfrm>
          <a:prstGeom prst="ellipse">
            <a:avLst/>
          </a:prstGeom>
          <a:solidFill>
            <a:srgbClr val="8B7FE8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3300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35608" y="3300984"/>
            <a:ext cx="9582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the probability of rolling a 3 on one die AND flipping heads on one coin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22960" y="4178808"/>
            <a:ext cx="384048" cy="384048"/>
          </a:xfrm>
          <a:prstGeom prst="ellipse">
            <a:avLst/>
          </a:prstGeom>
          <a:solidFill>
            <a:srgbClr val="8B7FE8"/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" y="4178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35608" y="4178808"/>
            <a:ext cx="9582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whether "it rains today" and "traffic is heavy today" are more likely independent or dependent events, and why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822960" y="5056632"/>
            <a:ext cx="384048" cy="384048"/>
          </a:xfrm>
          <a:prstGeom prst="ellipse">
            <a:avLst/>
          </a:prstGeom>
          <a:solidFill>
            <a:srgbClr val="8B7FE8"/>
          </a:solidFill>
          <a:ln/>
        </p:spPr>
      </p:sp>
      <p:sp>
        <p:nvSpPr>
          <p:cNvPr id="18" name="Text 15"/>
          <p:cNvSpPr/>
          <p:nvPr/>
        </p:nvSpPr>
        <p:spPr>
          <a:xfrm>
            <a:off x="822960" y="5056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35608" y="5056632"/>
            <a:ext cx="9582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events have P(A) = 0.4, P(B) = 0.3, and P(A and B) = 0.1. Calculate P(A or B)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CodeByPaxto: The AI &amp; ML Playground  ·  Hafiz Waseem Ahmed (Paxto)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D6B0"/>
                </a:solidFill>
              </a:rPr>
              <a:t>✦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247120" y="5486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FFC94A"/>
                </a:solidFill>
              </a:rPr>
              <a:t>✦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640080" y="61264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8FB3"/>
                </a:solidFill>
              </a:rPr>
              <a:t>✦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338560" y="6035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7FE8"/>
                </a:solidFill>
              </a:rPr>
              <a:t>✦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 rot="-90000">
            <a:off x="1874520" y="1325880"/>
            <a:ext cx="8805672" cy="777240"/>
          </a:xfrm>
          <a:prstGeom prst="roundRect">
            <a:avLst>
              <a:gd name="adj" fmla="val 17647"/>
            </a:avLst>
          </a:prstGeom>
          <a:solidFill>
            <a:srgbClr val="FFC94A"/>
          </a:solidFill>
          <a:ln/>
        </p:spPr>
      </p:sp>
      <p:sp>
        <p:nvSpPr>
          <p:cNvPr id="7" name="Shape 5"/>
          <p:cNvSpPr/>
          <p:nvPr/>
        </p:nvSpPr>
        <p:spPr>
          <a:xfrm>
            <a:off x="1691640" y="1188720"/>
            <a:ext cx="8805672" cy="777240"/>
          </a:xfrm>
          <a:prstGeom prst="roundRect">
            <a:avLst>
              <a:gd name="adj" fmla="val 17647"/>
            </a:avLst>
          </a:prstGeom>
          <a:solidFill>
            <a:srgbClr val="8B7FE8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0448" y="134874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91640" y="1188720"/>
            <a:ext cx="8805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97280" y="2331720"/>
            <a:ext cx="999439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Conditional Probability &amp; Bayes’ Theorem</a:t>
            </a:r>
            <a:endParaRPr lang="en-US" sz="2900" dirty="0"/>
          </a:p>
        </p:txBody>
      </p:sp>
      <p:sp>
        <p:nvSpPr>
          <p:cNvPr id="11" name="Text 8"/>
          <p:cNvSpPr/>
          <p:nvPr/>
        </p:nvSpPr>
        <p:spPr>
          <a:xfrm>
            <a:off x="1737360" y="4434840"/>
            <a:ext cx="87142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to a probability once you’re given new information — arguably the single most useful idea in this entire session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8B7FE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What Is Conditional Probability?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9050">
            <a:solidFill>
              <a:srgbClr val="D8D2F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554480"/>
            <a:ext cx="3657600" cy="4663440"/>
          </a:xfrm>
          <a:prstGeom prst="roundRect">
            <a:avLst>
              <a:gd name="adj" fmla="val 4500"/>
            </a:avLst>
          </a:prstGeom>
          <a:solidFill>
            <a:srgbClr val="EDE9FE"/>
          </a:solidFill>
          <a:ln w="12700">
            <a:solidFill>
              <a:srgbClr val="D8D2F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508760" y="2194560"/>
            <a:ext cx="1554480" cy="1554480"/>
          </a:xfrm>
          <a:prstGeom prst="ellipse">
            <a:avLst/>
          </a:prstGeom>
          <a:solidFill>
            <a:srgbClr val="8B7FE8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6504" y="2423160"/>
            <a:ext cx="1088136" cy="10881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" y="397764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Given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this, what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about that?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4572000" y="1737360"/>
            <a:ext cx="71323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probability asks: "given that we already know event B happened, what’s the probability of event A?"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written P(A | B), read as "the probability of A, given B" — the vertical bar means "given," not division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information genuinely changes probabilities — the probability it rains today is different from the probability it rains today GIVEN that the sky is already dark and cloudy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single idea is the foundation Bayes’ Theorem is built entirely on top of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CodeByPaxto: The AI &amp; ML Playground  ·  Hafiz Waseem Ahmed (Paxto)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8B7FE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Calculating Conditional Probability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9050">
            <a:solidFill>
              <a:srgbClr val="D8D2F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1828800"/>
            <a:ext cx="47548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probability narrows your sample space down to only the outcomes where the "given" condition is already true, then asks what fraction of THOSE also satisfy your event</a:t>
            </a:r>
            <a:endParaRPr lang="en-US" sz="1350" dirty="0"/>
          </a:p>
          <a:p>
            <a:pPr marL="203200" indent="-2032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formula is exactly what makes dependent events calculable — the missing piece the Multiplication Rule needed for events that do affect each other</a:t>
            </a:r>
            <a:endParaRPr lang="en-US" sz="1350" dirty="0"/>
          </a:p>
          <a:p>
            <a:pPr marL="203200" indent="-2032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the formula rearranges into the general Multiplication Rule: P(A and B) = P(A|B) × P(B)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0" y="1691640"/>
            <a:ext cx="6217920" cy="4343400"/>
          </a:xfrm>
          <a:prstGeom prst="roundRect">
            <a:avLst>
              <a:gd name="adj" fmla="val 3368"/>
            </a:avLst>
          </a:prstGeom>
          <a:solidFill>
            <a:srgbClr val="E3FBF3"/>
          </a:solidFill>
          <a:ln w="19050">
            <a:solidFill>
              <a:srgbClr val="5FD6B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06440" y="1965960"/>
            <a:ext cx="55778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6B5F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P(A | B) = P(A and B) / P(B)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6B5F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i="1" dirty="0">
                <a:solidFill>
                  <a:srgbClr val="685F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Example: P(drawing a King | the card is a face card)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i="1" dirty="0">
                <a:solidFill>
                  <a:srgbClr val="685F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Face cards: 12 total. Kings: 4 total.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6B5F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P(King | face card) = 4/52 ÷ 12/52 = 4/12 = 1/3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6B5F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i="1" dirty="0">
                <a:solidFill>
                  <a:srgbClr val="685F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General multiplication rule (works for dependent events too):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6B5F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P(A and B) = P(A | B) × P(B)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CodeByPaxto: The AI &amp; ML Playground  ·  Hafiz Waseem Ahmed (Paxto)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8B7FE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Bayes’ Theorem — Updating Beliefs With Evidence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9050">
            <a:solidFill>
              <a:srgbClr val="D8D2F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554480"/>
            <a:ext cx="3657600" cy="4663440"/>
          </a:xfrm>
          <a:prstGeom prst="roundRect">
            <a:avLst>
              <a:gd name="adj" fmla="val 4500"/>
            </a:avLst>
          </a:prstGeom>
          <a:solidFill>
            <a:srgbClr val="EDE9FE"/>
          </a:solidFill>
          <a:ln w="12700">
            <a:solidFill>
              <a:srgbClr val="D8D2F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508760" y="2194560"/>
            <a:ext cx="1554480" cy="1554480"/>
          </a:xfrm>
          <a:prstGeom prst="ellipse">
            <a:avLst/>
          </a:prstGeom>
          <a:solidFill>
            <a:srgbClr val="8B7FE8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6504" y="2423160"/>
            <a:ext cx="1088136" cy="10881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" y="397764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Flip the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condition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around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4572000" y="1737360"/>
            <a:ext cx="71323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Bayes’ Theorem answers a genuinely different, often more useful question: you know P(evidence | hypothesis), but what you actually want is P(hypothesis | evidence)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medical test tells you P(positive result | has disease) — but what a patient actually wants to know is P(has disease | positive result), which is NOT the same number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Bayes’ Theorem is the formula that flips a conditional probability around, updating an initial belief once new evidence arrives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exact mechanism is what powers spam filters, medical diagnosis tools, and the Naive Bayes classifier you’ll meet later in the ML phase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CodeByPaxto: The AI &amp; ML Playground  ·  Hafiz Waseem Ahmed (Paxto)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8B7FE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Bayes’ Theorem Formula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9050">
            <a:solidFill>
              <a:srgbClr val="D8D2F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1828800"/>
            <a:ext cx="47548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prior, P(A), is what you believed before seeing any evidence. The posterior, P(A|B), is your updated belief after the evidence</a:t>
            </a:r>
            <a:endParaRPr lang="en-US" sz="1350" dirty="0"/>
          </a:p>
          <a:p>
            <a:pPr marL="203200" indent="-2032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likelihood, P(B|A), is how probable the evidence would be if your hypothesis were true — this is usually the number you actually have data for</a:t>
            </a:r>
            <a:endParaRPr lang="en-US" sz="1350" dirty="0"/>
          </a:p>
          <a:p>
            <a:pPr marL="203200" indent="-2032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P(B) in the denominator normalizes everything so the result is a genuine, valid probability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0" y="1691640"/>
            <a:ext cx="6217920" cy="4343400"/>
          </a:xfrm>
          <a:prstGeom prst="roundRect">
            <a:avLst>
              <a:gd name="adj" fmla="val 3368"/>
            </a:avLst>
          </a:prstGeom>
          <a:solidFill>
            <a:srgbClr val="E3FBF3"/>
          </a:solidFill>
          <a:ln w="19050">
            <a:solidFill>
              <a:srgbClr val="5FD6B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06440" y="1965960"/>
            <a:ext cx="55778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6B5F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P(A | B) = ( P(B | A) × P(A) ) / P(B)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6B5F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i="1" dirty="0">
                <a:solidFill>
                  <a:srgbClr val="685F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 words: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i="1" dirty="0">
                <a:solidFill>
                  <a:srgbClr val="685F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posterior = (likelihood × prior) / evidence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6B5F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i="1" dirty="0">
                <a:solidFill>
                  <a:srgbClr val="685F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 = hypothesis (e.g. "has the disease")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i="1" dirty="0">
                <a:solidFill>
                  <a:srgbClr val="685F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 = evidence (e.g. "tested positive")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CodeByPaxto: The AI &amp; ML Playground  ·  Hafiz Waseem Ahmed (Paxto)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8B7FE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Bayes’ Theorem: A Medical Test Tree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9050">
            <a:solidFill>
              <a:srgbClr val="D8D2F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8640" y="2852928"/>
            <a:ext cx="2194560" cy="713232"/>
          </a:xfrm>
          <a:prstGeom prst="roundRect">
            <a:avLst>
              <a:gd name="adj" fmla="val 12821"/>
            </a:avLst>
          </a:prstGeom>
          <a:solidFill>
            <a:srgbClr val="8B7FE8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2852928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10,000 people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743200" y="3209544"/>
            <a:ext cx="914400" cy="-1188720"/>
          </a:xfrm>
          <a:prstGeom prst="line">
            <a:avLst/>
          </a:prstGeom>
          <a:noFill/>
          <a:ln w="19050">
            <a:solidFill>
              <a:srgbClr val="D8D2F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743200" y="3209544"/>
            <a:ext cx="914400" cy="1188720"/>
          </a:xfrm>
          <a:prstGeom prst="line">
            <a:avLst/>
          </a:prstGeom>
          <a:noFill/>
          <a:ln w="19050">
            <a:solidFill>
              <a:srgbClr val="D8D2F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657600" y="1709928"/>
            <a:ext cx="2468880" cy="621792"/>
          </a:xfrm>
          <a:prstGeom prst="roundRect">
            <a:avLst>
              <a:gd name="adj" fmla="val 11765"/>
            </a:avLst>
          </a:prstGeom>
          <a:solidFill>
            <a:srgbClr val="EDE9FE"/>
          </a:solidFill>
          <a:ln w="19050">
            <a:solidFill>
              <a:srgbClr val="8B7FE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657600" y="1709928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 disease: 100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D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(1% prior)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657600" y="4087368"/>
            <a:ext cx="2468880" cy="621792"/>
          </a:xfrm>
          <a:prstGeom prst="roundRect">
            <a:avLst>
              <a:gd name="adj" fmla="val 11765"/>
            </a:avLst>
          </a:prstGeom>
          <a:solidFill>
            <a:srgbClr val="E3FBF3"/>
          </a:solidFill>
          <a:ln w="19050">
            <a:solidFill>
              <a:srgbClr val="5FD6B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657600" y="4087368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disease: 9,900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D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(99% prior)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126480" y="2020824"/>
            <a:ext cx="914400" cy="-365760"/>
          </a:xfrm>
          <a:prstGeom prst="line">
            <a:avLst/>
          </a:prstGeom>
          <a:noFill/>
          <a:ln w="15875">
            <a:solidFill>
              <a:srgbClr val="D8D2F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126480" y="2020824"/>
            <a:ext cx="914400" cy="365760"/>
          </a:xfrm>
          <a:prstGeom prst="line">
            <a:avLst/>
          </a:prstGeom>
          <a:noFill/>
          <a:ln w="15875">
            <a:solidFill>
              <a:srgbClr val="D8D2F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126480" y="4398264"/>
            <a:ext cx="914400" cy="-365760"/>
          </a:xfrm>
          <a:prstGeom prst="line">
            <a:avLst/>
          </a:prstGeom>
          <a:noFill/>
          <a:ln w="15875">
            <a:solidFill>
              <a:srgbClr val="D8D2F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126480" y="4398264"/>
            <a:ext cx="914400" cy="365760"/>
          </a:xfrm>
          <a:prstGeom prst="line">
            <a:avLst/>
          </a:prstGeom>
          <a:noFill/>
          <a:ln w="15875">
            <a:solidFill>
              <a:srgbClr val="D8D2F5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040880" y="1417320"/>
            <a:ext cx="2834640" cy="475488"/>
          </a:xfrm>
          <a:prstGeom prst="roundRect">
            <a:avLst>
              <a:gd name="adj" fmla="val 11538"/>
            </a:avLst>
          </a:prstGeom>
          <a:solidFill>
            <a:srgbClr val="8B7FE8"/>
          </a:solidFill>
          <a:ln/>
        </p:spPr>
      </p:sp>
      <p:sp>
        <p:nvSpPr>
          <p:cNvPr id="19" name="Text 16"/>
          <p:cNvSpPr/>
          <p:nvPr/>
        </p:nvSpPr>
        <p:spPr>
          <a:xfrm>
            <a:off x="7040880" y="141732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 +: 95   (95% sensitivity)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7040880" y="2148840"/>
            <a:ext cx="2834640" cy="475488"/>
          </a:xfrm>
          <a:prstGeom prst="roundRect">
            <a:avLst>
              <a:gd name="adj" fmla="val 11538"/>
            </a:avLst>
          </a:prstGeom>
          <a:solidFill>
            <a:srgbClr val="EDE9FE"/>
          </a:solidFill>
          <a:ln w="12700">
            <a:solidFill>
              <a:srgbClr val="8B7F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040880" y="214884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 −: 5  (false negative)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7040880" y="3794760"/>
            <a:ext cx="2834640" cy="475488"/>
          </a:xfrm>
          <a:prstGeom prst="roundRect">
            <a:avLst>
              <a:gd name="adj" fmla="val 11538"/>
            </a:avLst>
          </a:prstGeom>
          <a:solidFill>
            <a:srgbClr val="E3FBF3"/>
          </a:solidFill>
          <a:ln w="12700">
            <a:solidFill>
              <a:srgbClr val="5FD6B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040880" y="379476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 +: 495  (false positive)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7040880" y="4526280"/>
            <a:ext cx="2834640" cy="475488"/>
          </a:xfrm>
          <a:prstGeom prst="roundRect">
            <a:avLst>
              <a:gd name="adj" fmla="val 11538"/>
            </a:avLst>
          </a:prstGeom>
          <a:solidFill>
            <a:srgbClr val="5FD6B0"/>
          </a:solidFill>
          <a:ln/>
        </p:spPr>
      </p:sp>
      <p:sp>
        <p:nvSpPr>
          <p:cNvPr id="25" name="Text 22"/>
          <p:cNvSpPr/>
          <p:nvPr/>
        </p:nvSpPr>
        <p:spPr>
          <a:xfrm>
            <a:off x="7040880" y="452628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 −: 9,405  (95% specificity)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914400" y="5257800"/>
            <a:ext cx="10360152" cy="960120"/>
          </a:xfrm>
          <a:prstGeom prst="roundRect">
            <a:avLst>
              <a:gd name="adj" fmla="val 11429"/>
            </a:avLst>
          </a:prstGeom>
          <a:solidFill>
            <a:srgbClr val="FFF6DC"/>
          </a:solidFill>
          <a:ln w="19050">
            <a:solidFill>
              <a:srgbClr val="FFC94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188720" y="5257800"/>
            <a:ext cx="98115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people who tested positive: </a:t>
            </a:r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 + 495 = 590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those, only 95 actually have the disease.  P(disease | positive test) = 95 / 590 </a:t>
            </a:r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6B5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16%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CodeByPaxto: The AI &amp; ML Playground  ·  Hafiz Waseem Ahmed (Paxto)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8B7FE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Real-World Use: The Medical Test Paradox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9050">
            <a:solidFill>
              <a:srgbClr val="D8D2F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1828800"/>
            <a:ext cx="47548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tree diagram just showed a genuinely counterintuitive result: even a 95%-accurate test, for a rare 1%-prevalence disease, gives a positive result that’s only right about 16% of the time</a:t>
            </a:r>
            <a:endParaRPr lang="en-US" sz="1350" dirty="0"/>
          </a:p>
          <a:p>
            <a:pPr marL="203200" indent="-2032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happens because false positives from the enormous "healthy" group vastly outnumber true positives from the tiny "sick" group — rare events are hard to detect reliably, even with a good test</a:t>
            </a:r>
            <a:endParaRPr lang="en-US" sz="1350" dirty="0"/>
          </a:p>
          <a:p>
            <a:pPr marL="203200" indent="-2032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exact paradox is why doctors run a second, follow-up test before acting on a single positive result — and why understanding priors matters enormously in any real decision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0" y="1691640"/>
            <a:ext cx="6217920" cy="4343400"/>
          </a:xfrm>
          <a:prstGeom prst="roundRect">
            <a:avLst>
              <a:gd name="adj" fmla="val 3368"/>
            </a:avLst>
          </a:prstGeom>
          <a:solidFill>
            <a:srgbClr val="E3FBF3"/>
          </a:solidFill>
          <a:ln w="19050">
            <a:solidFill>
              <a:srgbClr val="5FD6B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06440" y="1965960"/>
            <a:ext cx="55778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i="1" dirty="0">
                <a:solidFill>
                  <a:srgbClr val="685F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From the tree: 590 total positives, only 95 true positives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6B5F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P(disease | positive) = 95 / 590 ≈ 0.16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6B5F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i="1" dirty="0">
                <a:solidFill>
                  <a:srgbClr val="685F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Compare to the prior, before any test: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6B5F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P(disease) = 100 / 10,000 = 0.01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6B5F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i="1" dirty="0">
                <a:solidFill>
                  <a:srgbClr val="685F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The test moved belief from 1% to 16% —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i="1" dirty="0">
                <a:solidFill>
                  <a:srgbClr val="685F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 huge update, but still far from certainty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CodeByPaxto: The AI &amp; ML Playground  ·  Hafiz Waseem Ahmed (Paxto)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8B7FE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Practice Set — Conditional Probability &amp; Bayes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9050">
            <a:solidFill>
              <a:srgbClr val="D8D2F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600200"/>
            <a:ext cx="11274552" cy="4480560"/>
          </a:xfrm>
          <a:prstGeom prst="roundRect">
            <a:avLst>
              <a:gd name="adj" fmla="val 3673"/>
            </a:avLst>
          </a:prstGeom>
          <a:solidFill>
            <a:srgbClr val="EDE9FE"/>
          </a:solidFill>
          <a:ln w="12700">
            <a:solidFill>
              <a:srgbClr val="D8D2F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Try these yourself first — that's the point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22960" y="2423160"/>
            <a:ext cx="384048" cy="384048"/>
          </a:xfrm>
          <a:prstGeom prst="ellipse">
            <a:avLst/>
          </a:prstGeom>
          <a:solidFill>
            <a:srgbClr val="8B7FE8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2423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435608" y="2423160"/>
            <a:ext cx="9582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P(drawing a Queen | the card is red) from a standard deck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22960" y="3300984"/>
            <a:ext cx="384048" cy="384048"/>
          </a:xfrm>
          <a:prstGeom prst="ellipse">
            <a:avLst/>
          </a:prstGeom>
          <a:solidFill>
            <a:srgbClr val="8B7FE8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3300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35608" y="3300984"/>
            <a:ext cx="9582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in your own words the difference between P(A|B) and P(B|A), using your own example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22960" y="4178808"/>
            <a:ext cx="384048" cy="384048"/>
          </a:xfrm>
          <a:prstGeom prst="ellipse">
            <a:avLst/>
          </a:prstGeom>
          <a:solidFill>
            <a:srgbClr val="8B7FE8"/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" y="4178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35608" y="4178808"/>
            <a:ext cx="9582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spam filter is right 98% of the time when an email really is spam, and only 1% of real emails are actually spam. Explain, conceptually, why a "spam" flag still might not mean the email is truly spam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822960" y="5056632"/>
            <a:ext cx="384048" cy="384048"/>
          </a:xfrm>
          <a:prstGeom prst="ellipse">
            <a:avLst/>
          </a:prstGeom>
          <a:solidFill>
            <a:srgbClr val="8B7FE8"/>
          </a:solidFill>
          <a:ln/>
        </p:spPr>
      </p:sp>
      <p:sp>
        <p:nvSpPr>
          <p:cNvPr id="18" name="Text 15"/>
          <p:cNvSpPr/>
          <p:nvPr/>
        </p:nvSpPr>
        <p:spPr>
          <a:xfrm>
            <a:off x="822960" y="5056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35608" y="5056632"/>
            <a:ext cx="9582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doctors often order a second confirmatory test after one positive result, using what you learned about priors and false positives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CodeByPaxto: The AI &amp; ML Playground  ·  Hafiz Waseem Ahmed (Paxto)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D6B0"/>
                </a:solidFill>
              </a:rPr>
              <a:t>✦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247120" y="5486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FFC94A"/>
                </a:solidFill>
              </a:rPr>
              <a:t>✦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640080" y="61264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8FB3"/>
                </a:solidFill>
              </a:rPr>
              <a:t>✦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338560" y="6035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7FE8"/>
                </a:solidFill>
              </a:rPr>
              <a:t>✦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 rot="-90000">
            <a:off x="1874520" y="1325880"/>
            <a:ext cx="8805672" cy="777240"/>
          </a:xfrm>
          <a:prstGeom prst="roundRect">
            <a:avLst>
              <a:gd name="adj" fmla="val 17647"/>
            </a:avLst>
          </a:prstGeom>
          <a:solidFill>
            <a:srgbClr val="FFC94A"/>
          </a:solidFill>
          <a:ln/>
        </p:spPr>
      </p:sp>
      <p:sp>
        <p:nvSpPr>
          <p:cNvPr id="7" name="Shape 5"/>
          <p:cNvSpPr/>
          <p:nvPr/>
        </p:nvSpPr>
        <p:spPr>
          <a:xfrm>
            <a:off x="1691640" y="1188720"/>
            <a:ext cx="8805672" cy="777240"/>
          </a:xfrm>
          <a:prstGeom prst="roundRect">
            <a:avLst>
              <a:gd name="adj" fmla="val 17647"/>
            </a:avLst>
          </a:prstGeom>
          <a:solidFill>
            <a:srgbClr val="8B7FE8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0448" y="134874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91640" y="1188720"/>
            <a:ext cx="8805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97280" y="2331720"/>
            <a:ext cx="999439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Probability Distributions</a:t>
            </a:r>
            <a:endParaRPr lang="en-US" sz="2900" dirty="0"/>
          </a:p>
        </p:txBody>
      </p:sp>
      <p:sp>
        <p:nvSpPr>
          <p:cNvPr id="11" name="Text 8"/>
          <p:cNvSpPr/>
          <p:nvPr/>
        </p:nvSpPr>
        <p:spPr>
          <a:xfrm>
            <a:off x="1737360" y="4434840"/>
            <a:ext cx="87142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distribution is simply a shape describing which outcomes are likely, and which are rare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8B7FE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What Is a Probability Distribution?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9050">
            <a:solidFill>
              <a:srgbClr val="D8D2F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554480"/>
            <a:ext cx="3657600" cy="4663440"/>
          </a:xfrm>
          <a:prstGeom prst="roundRect">
            <a:avLst>
              <a:gd name="adj" fmla="val 4500"/>
            </a:avLst>
          </a:prstGeom>
          <a:solidFill>
            <a:srgbClr val="EDE9FE"/>
          </a:solidFill>
          <a:ln w="12700">
            <a:solidFill>
              <a:srgbClr val="D8D2F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508760" y="2194560"/>
            <a:ext cx="1554480" cy="1554480"/>
          </a:xfrm>
          <a:prstGeom prst="ellipse">
            <a:avLst/>
          </a:prstGeom>
          <a:solidFill>
            <a:srgbClr val="8B7FE8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6504" y="2423160"/>
            <a:ext cx="1088136" cy="10881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" y="397764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shape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of possible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outcomes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4572000" y="1737360"/>
            <a:ext cx="71323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probability distribution describes every possible outcome of a random process, along with exactly how likely each one is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overall shape traced by those likelihoods is the "distribution" — flat, lopsided, bell-shaped, or something else entirely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real-world situations naturally produce different shapes — recognizing the shape tells you an enormous amount about the process behind it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directly extends the density curve and histogram ideas from Session 19, now framed around true, known likelihoods rather than observed data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CodeByPaxto: The AI &amp; ML Playground  ·  Hafiz Waseem Ahmed (Paxto)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8B7FE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Distributions as Shapes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9050">
            <a:solidFill>
              <a:srgbClr val="D8D2F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11480" y="16459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Uniform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11480" y="2103120"/>
            <a:ext cx="243688" cy="2286000"/>
          </a:xfrm>
          <a:prstGeom prst="rect">
            <a:avLst/>
          </a:prstGeom>
          <a:solidFill>
            <a:srgbClr val="8B7FE8"/>
          </a:solidFill>
          <a:ln/>
        </p:spPr>
      </p:sp>
      <p:sp>
        <p:nvSpPr>
          <p:cNvPr id="8" name="Shape 5"/>
          <p:cNvSpPr/>
          <p:nvPr/>
        </p:nvSpPr>
        <p:spPr>
          <a:xfrm>
            <a:off x="708660" y="2103120"/>
            <a:ext cx="243688" cy="2286000"/>
          </a:xfrm>
          <a:prstGeom prst="rect">
            <a:avLst/>
          </a:prstGeom>
          <a:solidFill>
            <a:srgbClr val="8B7FE8"/>
          </a:solidFill>
          <a:ln/>
        </p:spPr>
      </p:sp>
      <p:sp>
        <p:nvSpPr>
          <p:cNvPr id="9" name="Shape 6"/>
          <p:cNvSpPr/>
          <p:nvPr/>
        </p:nvSpPr>
        <p:spPr>
          <a:xfrm>
            <a:off x="1005840" y="2103120"/>
            <a:ext cx="243688" cy="2286000"/>
          </a:xfrm>
          <a:prstGeom prst="rect">
            <a:avLst/>
          </a:prstGeom>
          <a:solidFill>
            <a:srgbClr val="8B7FE8"/>
          </a:solidFill>
          <a:ln/>
        </p:spPr>
      </p:sp>
      <p:sp>
        <p:nvSpPr>
          <p:cNvPr id="10" name="Shape 7"/>
          <p:cNvSpPr/>
          <p:nvPr/>
        </p:nvSpPr>
        <p:spPr>
          <a:xfrm>
            <a:off x="1303020" y="2103120"/>
            <a:ext cx="243688" cy="2286000"/>
          </a:xfrm>
          <a:prstGeom prst="rect">
            <a:avLst/>
          </a:prstGeom>
          <a:solidFill>
            <a:srgbClr val="8B7FE8"/>
          </a:solidFill>
          <a:ln/>
        </p:spPr>
      </p:sp>
      <p:sp>
        <p:nvSpPr>
          <p:cNvPr id="11" name="Shape 8"/>
          <p:cNvSpPr/>
          <p:nvPr/>
        </p:nvSpPr>
        <p:spPr>
          <a:xfrm>
            <a:off x="1600200" y="2103120"/>
            <a:ext cx="243688" cy="2286000"/>
          </a:xfrm>
          <a:prstGeom prst="rect">
            <a:avLst/>
          </a:prstGeom>
          <a:solidFill>
            <a:srgbClr val="8B7FE8"/>
          </a:solidFill>
          <a:ln/>
        </p:spPr>
      </p:sp>
      <p:sp>
        <p:nvSpPr>
          <p:cNvPr id="12" name="Shape 9"/>
          <p:cNvSpPr/>
          <p:nvPr/>
        </p:nvSpPr>
        <p:spPr>
          <a:xfrm>
            <a:off x="1897380" y="2103120"/>
            <a:ext cx="243688" cy="2286000"/>
          </a:xfrm>
          <a:prstGeom prst="rect">
            <a:avLst/>
          </a:prstGeom>
          <a:solidFill>
            <a:srgbClr val="8B7FE8"/>
          </a:solidFill>
          <a:ln/>
        </p:spPr>
      </p:sp>
      <p:sp>
        <p:nvSpPr>
          <p:cNvPr id="13" name="Shape 10"/>
          <p:cNvSpPr/>
          <p:nvPr/>
        </p:nvSpPr>
        <p:spPr>
          <a:xfrm>
            <a:off x="2194560" y="2103120"/>
            <a:ext cx="243688" cy="2286000"/>
          </a:xfrm>
          <a:prstGeom prst="rect">
            <a:avLst/>
          </a:prstGeom>
          <a:solidFill>
            <a:srgbClr val="8B7FE8"/>
          </a:solidFill>
          <a:ln/>
        </p:spPr>
      </p:sp>
      <p:sp>
        <p:nvSpPr>
          <p:cNvPr id="14" name="Shape 11"/>
          <p:cNvSpPr/>
          <p:nvPr/>
        </p:nvSpPr>
        <p:spPr>
          <a:xfrm>
            <a:off x="2491740" y="2103120"/>
            <a:ext cx="243688" cy="2286000"/>
          </a:xfrm>
          <a:prstGeom prst="rect">
            <a:avLst/>
          </a:prstGeom>
          <a:solidFill>
            <a:srgbClr val="8B7FE8"/>
          </a:solidFill>
          <a:ln/>
        </p:spPr>
      </p:sp>
      <p:sp>
        <p:nvSpPr>
          <p:cNvPr id="15" name="Shape 12"/>
          <p:cNvSpPr/>
          <p:nvPr/>
        </p:nvSpPr>
        <p:spPr>
          <a:xfrm>
            <a:off x="2788920" y="2103120"/>
            <a:ext cx="243688" cy="2286000"/>
          </a:xfrm>
          <a:prstGeom prst="rect">
            <a:avLst/>
          </a:prstGeom>
          <a:solidFill>
            <a:srgbClr val="8B7FE8"/>
          </a:solidFill>
          <a:ln/>
        </p:spPr>
      </p:sp>
      <p:sp>
        <p:nvSpPr>
          <p:cNvPr id="16" name="Shape 13"/>
          <p:cNvSpPr/>
          <p:nvPr/>
        </p:nvSpPr>
        <p:spPr>
          <a:xfrm>
            <a:off x="3086100" y="2103120"/>
            <a:ext cx="243688" cy="2286000"/>
          </a:xfrm>
          <a:prstGeom prst="rect">
            <a:avLst/>
          </a:prstGeom>
          <a:solidFill>
            <a:srgbClr val="8B7FE8"/>
          </a:solidFill>
          <a:ln/>
        </p:spPr>
      </p:sp>
      <p:sp>
        <p:nvSpPr>
          <p:cNvPr id="17" name="Shape 14"/>
          <p:cNvSpPr/>
          <p:nvPr/>
        </p:nvSpPr>
        <p:spPr>
          <a:xfrm>
            <a:off x="3383280" y="2103120"/>
            <a:ext cx="243688" cy="2286000"/>
          </a:xfrm>
          <a:prstGeom prst="rect">
            <a:avLst/>
          </a:prstGeom>
          <a:solidFill>
            <a:srgbClr val="8B7FE8"/>
          </a:solidFill>
          <a:ln/>
        </p:spPr>
      </p:sp>
      <p:sp>
        <p:nvSpPr>
          <p:cNvPr id="18" name="Shape 15"/>
          <p:cNvSpPr/>
          <p:nvPr/>
        </p:nvSpPr>
        <p:spPr>
          <a:xfrm>
            <a:off x="3680460" y="2103120"/>
            <a:ext cx="243688" cy="2286000"/>
          </a:xfrm>
          <a:prstGeom prst="rect">
            <a:avLst/>
          </a:prstGeom>
          <a:solidFill>
            <a:srgbClr val="8B7FE8"/>
          </a:solidFill>
          <a:ln/>
        </p:spPr>
      </p:sp>
      <p:sp>
        <p:nvSpPr>
          <p:cNvPr id="19" name="Shape 16"/>
          <p:cNvSpPr/>
          <p:nvPr/>
        </p:nvSpPr>
        <p:spPr>
          <a:xfrm>
            <a:off x="411480" y="4389120"/>
            <a:ext cx="3566160" cy="0"/>
          </a:xfrm>
          <a:prstGeom prst="line">
            <a:avLst/>
          </a:prstGeom>
          <a:noFill/>
          <a:ln w="19050">
            <a:solidFill>
              <a:srgbClr val="D8D2F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80560" y="16459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Binomial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4480560" y="4236720"/>
            <a:ext cx="292425" cy="152400"/>
          </a:xfrm>
          <a:prstGeom prst="rect">
            <a:avLst/>
          </a:prstGeom>
          <a:solidFill>
            <a:srgbClr val="5FD6B0"/>
          </a:solidFill>
          <a:ln/>
        </p:spPr>
      </p:sp>
      <p:sp>
        <p:nvSpPr>
          <p:cNvPr id="22" name="Shape 19"/>
          <p:cNvSpPr/>
          <p:nvPr/>
        </p:nvSpPr>
        <p:spPr>
          <a:xfrm>
            <a:off x="4837176" y="3931920"/>
            <a:ext cx="292425" cy="457200"/>
          </a:xfrm>
          <a:prstGeom prst="rect">
            <a:avLst/>
          </a:prstGeom>
          <a:solidFill>
            <a:srgbClr val="5FD6B0"/>
          </a:solidFill>
          <a:ln/>
        </p:spPr>
      </p:sp>
      <p:sp>
        <p:nvSpPr>
          <p:cNvPr id="23" name="Shape 20"/>
          <p:cNvSpPr/>
          <p:nvPr/>
        </p:nvSpPr>
        <p:spPr>
          <a:xfrm>
            <a:off x="5193792" y="3322320"/>
            <a:ext cx="292425" cy="1066800"/>
          </a:xfrm>
          <a:prstGeom prst="rect">
            <a:avLst/>
          </a:prstGeom>
          <a:solidFill>
            <a:srgbClr val="5FD6B0"/>
          </a:solidFill>
          <a:ln/>
        </p:spPr>
      </p:sp>
      <p:sp>
        <p:nvSpPr>
          <p:cNvPr id="24" name="Shape 21"/>
          <p:cNvSpPr/>
          <p:nvPr/>
        </p:nvSpPr>
        <p:spPr>
          <a:xfrm>
            <a:off x="5550408" y="2560320"/>
            <a:ext cx="292425" cy="1828800"/>
          </a:xfrm>
          <a:prstGeom prst="rect">
            <a:avLst/>
          </a:prstGeom>
          <a:solidFill>
            <a:srgbClr val="5FD6B0"/>
          </a:solidFill>
          <a:ln/>
        </p:spPr>
      </p:sp>
      <p:sp>
        <p:nvSpPr>
          <p:cNvPr id="25" name="Shape 22"/>
          <p:cNvSpPr/>
          <p:nvPr/>
        </p:nvSpPr>
        <p:spPr>
          <a:xfrm>
            <a:off x="5907024" y="2103120"/>
            <a:ext cx="292425" cy="2286000"/>
          </a:xfrm>
          <a:prstGeom prst="rect">
            <a:avLst/>
          </a:prstGeom>
          <a:solidFill>
            <a:srgbClr val="5FD6B0"/>
          </a:solidFill>
          <a:ln/>
        </p:spPr>
      </p:sp>
      <p:sp>
        <p:nvSpPr>
          <p:cNvPr id="26" name="Shape 23"/>
          <p:cNvSpPr/>
          <p:nvPr/>
        </p:nvSpPr>
        <p:spPr>
          <a:xfrm>
            <a:off x="6263640" y="2103120"/>
            <a:ext cx="292425" cy="2286000"/>
          </a:xfrm>
          <a:prstGeom prst="rect">
            <a:avLst/>
          </a:prstGeom>
          <a:solidFill>
            <a:srgbClr val="5FD6B0"/>
          </a:solidFill>
          <a:ln/>
        </p:spPr>
      </p:sp>
      <p:sp>
        <p:nvSpPr>
          <p:cNvPr id="27" name="Shape 24"/>
          <p:cNvSpPr/>
          <p:nvPr/>
        </p:nvSpPr>
        <p:spPr>
          <a:xfrm>
            <a:off x="6620256" y="2560320"/>
            <a:ext cx="292425" cy="1828800"/>
          </a:xfrm>
          <a:prstGeom prst="rect">
            <a:avLst/>
          </a:prstGeom>
          <a:solidFill>
            <a:srgbClr val="5FD6B0"/>
          </a:solidFill>
          <a:ln/>
        </p:spPr>
      </p:sp>
      <p:sp>
        <p:nvSpPr>
          <p:cNvPr id="28" name="Shape 25"/>
          <p:cNvSpPr/>
          <p:nvPr/>
        </p:nvSpPr>
        <p:spPr>
          <a:xfrm>
            <a:off x="6976872" y="3322320"/>
            <a:ext cx="292425" cy="1066800"/>
          </a:xfrm>
          <a:prstGeom prst="rect">
            <a:avLst/>
          </a:prstGeom>
          <a:solidFill>
            <a:srgbClr val="5FD6B0"/>
          </a:solidFill>
          <a:ln/>
        </p:spPr>
      </p:sp>
      <p:sp>
        <p:nvSpPr>
          <p:cNvPr id="29" name="Shape 26"/>
          <p:cNvSpPr/>
          <p:nvPr/>
        </p:nvSpPr>
        <p:spPr>
          <a:xfrm>
            <a:off x="7333488" y="3931920"/>
            <a:ext cx="292425" cy="457200"/>
          </a:xfrm>
          <a:prstGeom prst="rect">
            <a:avLst/>
          </a:prstGeom>
          <a:solidFill>
            <a:srgbClr val="5FD6B0"/>
          </a:solidFill>
          <a:ln/>
        </p:spPr>
      </p:sp>
      <p:sp>
        <p:nvSpPr>
          <p:cNvPr id="30" name="Shape 27"/>
          <p:cNvSpPr/>
          <p:nvPr/>
        </p:nvSpPr>
        <p:spPr>
          <a:xfrm>
            <a:off x="7690104" y="4236720"/>
            <a:ext cx="292425" cy="152400"/>
          </a:xfrm>
          <a:prstGeom prst="rect">
            <a:avLst/>
          </a:prstGeom>
          <a:solidFill>
            <a:srgbClr val="5FD6B0"/>
          </a:solidFill>
          <a:ln/>
        </p:spPr>
      </p:sp>
      <p:sp>
        <p:nvSpPr>
          <p:cNvPr id="31" name="Shape 28"/>
          <p:cNvSpPr/>
          <p:nvPr/>
        </p:nvSpPr>
        <p:spPr>
          <a:xfrm>
            <a:off x="4480560" y="4389120"/>
            <a:ext cx="3566160" cy="0"/>
          </a:xfrm>
          <a:prstGeom prst="line">
            <a:avLst/>
          </a:prstGeom>
          <a:noFill/>
          <a:ln w="19050">
            <a:solidFill>
              <a:srgbClr val="D8D2F5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549640" y="16459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Normal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8549640" y="4325620"/>
            <a:ext cx="162458" cy="63500"/>
          </a:xfrm>
          <a:prstGeom prst="rect">
            <a:avLst/>
          </a:prstGeom>
          <a:solidFill>
            <a:srgbClr val="FFC94A"/>
          </a:solidFill>
          <a:ln/>
        </p:spPr>
      </p:sp>
      <p:sp>
        <p:nvSpPr>
          <p:cNvPr id="34" name="Shape 31"/>
          <p:cNvSpPr/>
          <p:nvPr/>
        </p:nvSpPr>
        <p:spPr>
          <a:xfrm>
            <a:off x="8747760" y="4262120"/>
            <a:ext cx="162458" cy="127000"/>
          </a:xfrm>
          <a:prstGeom prst="rect">
            <a:avLst/>
          </a:prstGeom>
          <a:solidFill>
            <a:srgbClr val="FFC94A"/>
          </a:solidFill>
          <a:ln/>
        </p:spPr>
      </p:sp>
      <p:sp>
        <p:nvSpPr>
          <p:cNvPr id="35" name="Shape 32"/>
          <p:cNvSpPr/>
          <p:nvPr/>
        </p:nvSpPr>
        <p:spPr>
          <a:xfrm>
            <a:off x="8945880" y="4135120"/>
            <a:ext cx="162458" cy="254000"/>
          </a:xfrm>
          <a:prstGeom prst="rect">
            <a:avLst/>
          </a:prstGeom>
          <a:solidFill>
            <a:srgbClr val="FFC94A"/>
          </a:solidFill>
          <a:ln/>
        </p:spPr>
      </p:sp>
      <p:sp>
        <p:nvSpPr>
          <p:cNvPr id="36" name="Shape 33"/>
          <p:cNvSpPr/>
          <p:nvPr/>
        </p:nvSpPr>
        <p:spPr>
          <a:xfrm>
            <a:off x="9144000" y="3881120"/>
            <a:ext cx="162458" cy="508000"/>
          </a:xfrm>
          <a:prstGeom prst="rect">
            <a:avLst/>
          </a:prstGeom>
          <a:solidFill>
            <a:srgbClr val="FFC94A"/>
          </a:solidFill>
          <a:ln/>
        </p:spPr>
      </p:sp>
      <p:sp>
        <p:nvSpPr>
          <p:cNvPr id="37" name="Shape 34"/>
          <p:cNvSpPr/>
          <p:nvPr/>
        </p:nvSpPr>
        <p:spPr>
          <a:xfrm>
            <a:off x="9342120" y="3500120"/>
            <a:ext cx="162458" cy="889000"/>
          </a:xfrm>
          <a:prstGeom prst="rect">
            <a:avLst/>
          </a:prstGeom>
          <a:solidFill>
            <a:srgbClr val="FFC94A"/>
          </a:solidFill>
          <a:ln/>
        </p:spPr>
      </p:sp>
      <p:sp>
        <p:nvSpPr>
          <p:cNvPr id="38" name="Shape 35"/>
          <p:cNvSpPr/>
          <p:nvPr/>
        </p:nvSpPr>
        <p:spPr>
          <a:xfrm>
            <a:off x="9540240" y="3055620"/>
            <a:ext cx="162458" cy="1333500"/>
          </a:xfrm>
          <a:prstGeom prst="rect">
            <a:avLst/>
          </a:prstGeom>
          <a:solidFill>
            <a:srgbClr val="FFC94A"/>
          </a:solidFill>
          <a:ln/>
        </p:spPr>
      </p:sp>
      <p:sp>
        <p:nvSpPr>
          <p:cNvPr id="39" name="Shape 36"/>
          <p:cNvSpPr/>
          <p:nvPr/>
        </p:nvSpPr>
        <p:spPr>
          <a:xfrm>
            <a:off x="9738360" y="2611120"/>
            <a:ext cx="162458" cy="1778000"/>
          </a:xfrm>
          <a:prstGeom prst="rect">
            <a:avLst/>
          </a:prstGeom>
          <a:solidFill>
            <a:srgbClr val="FFC94A"/>
          </a:solidFill>
          <a:ln/>
        </p:spPr>
      </p:sp>
      <p:sp>
        <p:nvSpPr>
          <p:cNvPr id="40" name="Shape 37"/>
          <p:cNvSpPr/>
          <p:nvPr/>
        </p:nvSpPr>
        <p:spPr>
          <a:xfrm>
            <a:off x="9936480" y="2293620"/>
            <a:ext cx="162458" cy="2095500"/>
          </a:xfrm>
          <a:prstGeom prst="rect">
            <a:avLst/>
          </a:prstGeom>
          <a:solidFill>
            <a:srgbClr val="FFC94A"/>
          </a:solidFill>
          <a:ln/>
        </p:spPr>
      </p:sp>
      <p:sp>
        <p:nvSpPr>
          <p:cNvPr id="41" name="Shape 38"/>
          <p:cNvSpPr/>
          <p:nvPr/>
        </p:nvSpPr>
        <p:spPr>
          <a:xfrm>
            <a:off x="10134600" y="2103120"/>
            <a:ext cx="162458" cy="2286000"/>
          </a:xfrm>
          <a:prstGeom prst="rect">
            <a:avLst/>
          </a:prstGeom>
          <a:solidFill>
            <a:srgbClr val="FFC94A"/>
          </a:solidFill>
          <a:ln/>
        </p:spPr>
      </p:sp>
      <p:sp>
        <p:nvSpPr>
          <p:cNvPr id="42" name="Shape 39"/>
          <p:cNvSpPr/>
          <p:nvPr/>
        </p:nvSpPr>
        <p:spPr>
          <a:xfrm>
            <a:off x="10332720" y="2103120"/>
            <a:ext cx="162458" cy="2286000"/>
          </a:xfrm>
          <a:prstGeom prst="rect">
            <a:avLst/>
          </a:prstGeom>
          <a:solidFill>
            <a:srgbClr val="FFC94A"/>
          </a:solidFill>
          <a:ln/>
        </p:spPr>
      </p:sp>
      <p:sp>
        <p:nvSpPr>
          <p:cNvPr id="43" name="Shape 40"/>
          <p:cNvSpPr/>
          <p:nvPr/>
        </p:nvSpPr>
        <p:spPr>
          <a:xfrm>
            <a:off x="10530840" y="2293620"/>
            <a:ext cx="162458" cy="2095500"/>
          </a:xfrm>
          <a:prstGeom prst="rect">
            <a:avLst/>
          </a:prstGeom>
          <a:solidFill>
            <a:srgbClr val="FFC94A"/>
          </a:solidFill>
          <a:ln/>
        </p:spPr>
      </p:sp>
      <p:sp>
        <p:nvSpPr>
          <p:cNvPr id="44" name="Shape 41"/>
          <p:cNvSpPr/>
          <p:nvPr/>
        </p:nvSpPr>
        <p:spPr>
          <a:xfrm>
            <a:off x="10728960" y="2611120"/>
            <a:ext cx="162458" cy="1778000"/>
          </a:xfrm>
          <a:prstGeom prst="rect">
            <a:avLst/>
          </a:prstGeom>
          <a:solidFill>
            <a:srgbClr val="FFC94A"/>
          </a:solidFill>
          <a:ln/>
        </p:spPr>
      </p:sp>
      <p:sp>
        <p:nvSpPr>
          <p:cNvPr id="45" name="Shape 42"/>
          <p:cNvSpPr/>
          <p:nvPr/>
        </p:nvSpPr>
        <p:spPr>
          <a:xfrm>
            <a:off x="10927080" y="3055620"/>
            <a:ext cx="162458" cy="1333500"/>
          </a:xfrm>
          <a:prstGeom prst="rect">
            <a:avLst/>
          </a:prstGeom>
          <a:solidFill>
            <a:srgbClr val="FFC94A"/>
          </a:solidFill>
          <a:ln/>
        </p:spPr>
      </p:sp>
      <p:sp>
        <p:nvSpPr>
          <p:cNvPr id="46" name="Shape 43"/>
          <p:cNvSpPr/>
          <p:nvPr/>
        </p:nvSpPr>
        <p:spPr>
          <a:xfrm>
            <a:off x="11125200" y="3500120"/>
            <a:ext cx="162458" cy="889000"/>
          </a:xfrm>
          <a:prstGeom prst="rect">
            <a:avLst/>
          </a:prstGeom>
          <a:solidFill>
            <a:srgbClr val="FFC94A"/>
          </a:solidFill>
          <a:ln/>
        </p:spPr>
      </p:sp>
      <p:sp>
        <p:nvSpPr>
          <p:cNvPr id="47" name="Shape 44"/>
          <p:cNvSpPr/>
          <p:nvPr/>
        </p:nvSpPr>
        <p:spPr>
          <a:xfrm>
            <a:off x="11323320" y="3881120"/>
            <a:ext cx="162458" cy="508000"/>
          </a:xfrm>
          <a:prstGeom prst="rect">
            <a:avLst/>
          </a:prstGeom>
          <a:solidFill>
            <a:srgbClr val="FFC94A"/>
          </a:solidFill>
          <a:ln/>
        </p:spPr>
      </p:sp>
      <p:sp>
        <p:nvSpPr>
          <p:cNvPr id="48" name="Shape 45"/>
          <p:cNvSpPr/>
          <p:nvPr/>
        </p:nvSpPr>
        <p:spPr>
          <a:xfrm>
            <a:off x="11521440" y="4135120"/>
            <a:ext cx="162458" cy="254000"/>
          </a:xfrm>
          <a:prstGeom prst="rect">
            <a:avLst/>
          </a:prstGeom>
          <a:solidFill>
            <a:srgbClr val="FFC94A"/>
          </a:solidFill>
          <a:ln/>
        </p:spPr>
      </p:sp>
      <p:sp>
        <p:nvSpPr>
          <p:cNvPr id="49" name="Shape 46"/>
          <p:cNvSpPr/>
          <p:nvPr/>
        </p:nvSpPr>
        <p:spPr>
          <a:xfrm>
            <a:off x="11719560" y="4262120"/>
            <a:ext cx="162458" cy="127000"/>
          </a:xfrm>
          <a:prstGeom prst="rect">
            <a:avLst/>
          </a:prstGeom>
          <a:solidFill>
            <a:srgbClr val="FFC94A"/>
          </a:solidFill>
          <a:ln/>
        </p:spPr>
      </p:sp>
      <p:sp>
        <p:nvSpPr>
          <p:cNvPr id="50" name="Shape 47"/>
          <p:cNvSpPr/>
          <p:nvPr/>
        </p:nvSpPr>
        <p:spPr>
          <a:xfrm>
            <a:off x="11917680" y="4325620"/>
            <a:ext cx="162458" cy="63500"/>
          </a:xfrm>
          <a:prstGeom prst="rect">
            <a:avLst/>
          </a:prstGeom>
          <a:solidFill>
            <a:srgbClr val="FFC94A"/>
          </a:solidFill>
          <a:ln/>
        </p:spPr>
      </p:sp>
      <p:sp>
        <p:nvSpPr>
          <p:cNvPr id="51" name="Shape 48"/>
          <p:cNvSpPr/>
          <p:nvPr/>
        </p:nvSpPr>
        <p:spPr>
          <a:xfrm>
            <a:off x="8549640" y="4389120"/>
            <a:ext cx="3566160" cy="0"/>
          </a:xfrm>
          <a:prstGeom prst="line">
            <a:avLst/>
          </a:prstGeom>
          <a:noFill/>
          <a:ln w="19050">
            <a:solidFill>
              <a:srgbClr val="D8D2F5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457200" y="45720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</a:t>
            </a:r>
            <a:endParaRPr lang="en-US" sz="1050" dirty="0"/>
          </a:p>
        </p:txBody>
      </p:sp>
      <p:sp>
        <p:nvSpPr>
          <p:cNvPr id="53" name="Text 50"/>
          <p:cNvSpPr/>
          <p:nvPr/>
        </p:nvSpPr>
        <p:spPr>
          <a:xfrm>
            <a:off x="457200" y="482803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outcome equally likely — a fair die roll</a:t>
            </a:r>
            <a:endParaRPr lang="en-US" sz="1000" dirty="0"/>
          </a:p>
        </p:txBody>
      </p:sp>
      <p:sp>
        <p:nvSpPr>
          <p:cNvPr id="54" name="Text 51"/>
          <p:cNvSpPr/>
          <p:nvPr/>
        </p:nvSpPr>
        <p:spPr>
          <a:xfrm>
            <a:off x="4526280" y="45720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Binomial</a:t>
            </a:r>
            <a:endParaRPr lang="en-US" sz="1050" dirty="0"/>
          </a:p>
        </p:txBody>
      </p:sp>
      <p:sp>
        <p:nvSpPr>
          <p:cNvPr id="55" name="Text 52"/>
          <p:cNvSpPr/>
          <p:nvPr/>
        </p:nvSpPr>
        <p:spPr>
          <a:xfrm>
            <a:off x="4526280" y="482803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of success across fixed trials — number of heads in 10 flips</a:t>
            </a:r>
            <a:endParaRPr lang="en-US" sz="1000" dirty="0"/>
          </a:p>
        </p:txBody>
      </p:sp>
      <p:sp>
        <p:nvSpPr>
          <p:cNvPr id="56" name="Text 53"/>
          <p:cNvSpPr/>
          <p:nvPr/>
        </p:nvSpPr>
        <p:spPr>
          <a:xfrm>
            <a:off x="8595360" y="45720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050" dirty="0"/>
          </a:p>
        </p:txBody>
      </p:sp>
      <p:sp>
        <p:nvSpPr>
          <p:cNvPr id="57" name="Text 54"/>
          <p:cNvSpPr/>
          <p:nvPr/>
        </p:nvSpPr>
        <p:spPr>
          <a:xfrm>
            <a:off x="8595360" y="482803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classic bell curve — height, measurement error, and much more</a:t>
            </a:r>
            <a:endParaRPr lang="en-US" sz="1000" dirty="0"/>
          </a:p>
        </p:txBody>
      </p:sp>
      <p:sp>
        <p:nvSpPr>
          <p:cNvPr id="58" name="Text 55"/>
          <p:cNvSpPr/>
          <p:nvPr/>
        </p:nvSpPr>
        <p:spPr>
          <a:xfrm>
            <a:off x="731520" y="598932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probability distribution is just a shape describing how likely each possible outcome is — which shape fits depends entirely on what you’re measuring.</a:t>
            </a:r>
            <a:endParaRPr lang="en-US" sz="1200" dirty="0"/>
          </a:p>
        </p:txBody>
      </p:sp>
      <p:sp>
        <p:nvSpPr>
          <p:cNvPr id="59" name="Text 56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CodeByPaxto: The AI &amp; ML Playground  ·  Hafiz Waseem Ahmed (Paxto)</a:t>
            </a:r>
            <a:endParaRPr lang="en-US" sz="950" dirty="0"/>
          </a:p>
        </p:txBody>
      </p:sp>
      <p:sp>
        <p:nvSpPr>
          <p:cNvPr id="60" name="Text 5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8B7FE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Normal Distribution — Nature’s Favorite Shape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9050">
            <a:solidFill>
              <a:srgbClr val="D8D2F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554480"/>
            <a:ext cx="3657600" cy="4663440"/>
          </a:xfrm>
          <a:prstGeom prst="roundRect">
            <a:avLst>
              <a:gd name="adj" fmla="val 4500"/>
            </a:avLst>
          </a:prstGeom>
          <a:solidFill>
            <a:srgbClr val="EDE9FE"/>
          </a:solidFill>
          <a:ln w="12700">
            <a:solidFill>
              <a:srgbClr val="D8D2F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508760" y="2194560"/>
            <a:ext cx="1554480" cy="1554480"/>
          </a:xfrm>
          <a:prstGeom prst="ellipse">
            <a:avLst/>
          </a:prstGeom>
          <a:solidFill>
            <a:srgbClr val="8B7FE8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6504" y="2423160"/>
            <a:ext cx="1088136" cy="10881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" y="397764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Symmetric,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bell-shaped,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everywhere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4572000" y="1737360"/>
            <a:ext cx="71323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normal distribution is the classic symmetric bell curve — most values cluster near the mean, with progressively fewer values the further you go in either direction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shows up constantly in nature and measurement: height, blood pressure, measurement error, and test scores all tend to follow it closely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shape is completely defined by just two numbers: the mean (where it’s centered) and the standard deviation (how wide or narrow it is)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precisely the distribution the Empirical Rule from Session 19 was describing all along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CodeByPaxto: The AI &amp; ML Playground  ·  Hafiz Waseem Ahmed (Paxto)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8B7FE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Empirical Rule, Now in Probability Language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9050">
            <a:solidFill>
              <a:srgbClr val="D8D2F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1828800"/>
            <a:ext cx="47548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19 introduced the empirical rule as a description of your own data. Framed as probability, it becomes a statement about likelihood itself</a:t>
            </a:r>
            <a:endParaRPr lang="en-US" sz="1350" dirty="0"/>
          </a:p>
          <a:p>
            <a:pPr marL="203200" indent="-2032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reframing is exactly what lets you calculate things like "what’s the probability a randomly selected value falls above 2 standard deviations"</a:t>
            </a:r>
            <a:endParaRPr lang="en-US" sz="1350" dirty="0"/>
          </a:p>
          <a:p>
            <a:pPr marL="203200" indent="-2032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also the exact mechanism behind a z-test, which you’ll meet properly in Session 21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0" y="1691640"/>
            <a:ext cx="6217920" cy="4343400"/>
          </a:xfrm>
          <a:prstGeom prst="roundRect">
            <a:avLst>
              <a:gd name="adj" fmla="val 3368"/>
            </a:avLst>
          </a:prstGeom>
          <a:solidFill>
            <a:srgbClr val="E3FBF3"/>
          </a:solidFill>
          <a:ln w="19050">
            <a:solidFill>
              <a:srgbClr val="5FD6B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06440" y="1965960"/>
            <a:ext cx="55778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i="1" dirty="0">
                <a:solidFill>
                  <a:srgbClr val="685F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For a normally distributed variable: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6B5F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P(within 1 standard deviation of the mean)  ≈ 0.682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6B5F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P(within 2 standard deviations of the mean)  ≈ 0.954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6B5F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P(within 3 standard deviations of the mean)  ≈ 0.997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6B5F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i="1" dirty="0">
                <a:solidFill>
                  <a:srgbClr val="685F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So, roughly: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6B5F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P(more than 2 std devs above the mean)  ≈ (1 - 0.954) / 2 ≈ 0.023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CodeByPaxto: The AI &amp; ML Playground  ·  Hafiz Waseem Ahmed (Paxto)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8B7FE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Central Limit Theorem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9050">
            <a:solidFill>
              <a:srgbClr val="D8D2F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554480"/>
            <a:ext cx="3657600" cy="4663440"/>
          </a:xfrm>
          <a:prstGeom prst="roundRect">
            <a:avLst>
              <a:gd name="adj" fmla="val 4500"/>
            </a:avLst>
          </a:prstGeom>
          <a:solidFill>
            <a:srgbClr val="EDE9FE"/>
          </a:solidFill>
          <a:ln w="12700">
            <a:solidFill>
              <a:srgbClr val="D8D2F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508760" y="2194560"/>
            <a:ext cx="1554480" cy="1554480"/>
          </a:xfrm>
          <a:prstGeom prst="ellipse">
            <a:avLst/>
          </a:prstGeom>
          <a:solidFill>
            <a:srgbClr val="8B7FE8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6504" y="2423160"/>
            <a:ext cx="1088136" cy="10881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" y="397764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Normal,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 matter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source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4572000" y="1737360"/>
            <a:ext cx="71323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Central Limit Theorem states something remarkable: if you repeatedly take samples from ANY population and calculate each sample’s mean, those sample means form a normal distribution — regardless of the original population’s shape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holds even if the underlying population is heavily skewed, lumpy, or nothing like a bell curve at all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requirement is a large enough sample size — in practice, n = 30 or more is the commonly used rule of thumb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single theorem is the mathematical justification for why so many inferential tests are allowed to assume normality, even on real, messy, non-normal data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CodeByPaxto: The AI &amp; ML Playground  ·  Hafiz Waseem Ahmed (Paxto)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8B7FE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Central Limit Theorem, Visualized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9050">
            <a:solidFill>
              <a:srgbClr val="D8D2F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34340" y="178308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Population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34340" y="2286000"/>
            <a:ext cx="281178" cy="2103120"/>
          </a:xfrm>
          <a:prstGeom prst="rect">
            <a:avLst/>
          </a:prstGeom>
          <a:solidFill>
            <a:srgbClr val="FF8FB3"/>
          </a:solidFill>
          <a:ln/>
        </p:spPr>
      </p:sp>
      <p:sp>
        <p:nvSpPr>
          <p:cNvPr id="8" name="Shape 5"/>
          <p:cNvSpPr/>
          <p:nvPr/>
        </p:nvSpPr>
        <p:spPr>
          <a:xfrm>
            <a:off x="777240" y="2496312"/>
            <a:ext cx="281178" cy="1892808"/>
          </a:xfrm>
          <a:prstGeom prst="rect">
            <a:avLst/>
          </a:prstGeom>
          <a:solidFill>
            <a:srgbClr val="FF8FB3"/>
          </a:solidFill>
          <a:ln/>
        </p:spPr>
      </p:sp>
      <p:sp>
        <p:nvSpPr>
          <p:cNvPr id="9" name="Shape 6"/>
          <p:cNvSpPr/>
          <p:nvPr/>
        </p:nvSpPr>
        <p:spPr>
          <a:xfrm>
            <a:off x="1120140" y="2706624"/>
            <a:ext cx="281178" cy="1682496"/>
          </a:xfrm>
          <a:prstGeom prst="rect">
            <a:avLst/>
          </a:prstGeom>
          <a:solidFill>
            <a:srgbClr val="FF8FB3"/>
          </a:solidFill>
          <a:ln/>
        </p:spPr>
      </p:sp>
      <p:sp>
        <p:nvSpPr>
          <p:cNvPr id="10" name="Shape 7"/>
          <p:cNvSpPr/>
          <p:nvPr/>
        </p:nvSpPr>
        <p:spPr>
          <a:xfrm>
            <a:off x="1463040" y="2987040"/>
            <a:ext cx="281178" cy="1402080"/>
          </a:xfrm>
          <a:prstGeom prst="rect">
            <a:avLst/>
          </a:prstGeom>
          <a:solidFill>
            <a:srgbClr val="FF8FB3"/>
          </a:solidFill>
          <a:ln/>
        </p:spPr>
      </p:sp>
      <p:sp>
        <p:nvSpPr>
          <p:cNvPr id="11" name="Shape 8"/>
          <p:cNvSpPr/>
          <p:nvPr/>
        </p:nvSpPr>
        <p:spPr>
          <a:xfrm>
            <a:off x="1805940" y="3267456"/>
            <a:ext cx="281178" cy="1121664"/>
          </a:xfrm>
          <a:prstGeom prst="rect">
            <a:avLst/>
          </a:prstGeom>
          <a:solidFill>
            <a:srgbClr val="FF8FB3"/>
          </a:solidFill>
          <a:ln/>
        </p:spPr>
      </p:sp>
      <p:sp>
        <p:nvSpPr>
          <p:cNvPr id="12" name="Shape 9"/>
          <p:cNvSpPr/>
          <p:nvPr/>
        </p:nvSpPr>
        <p:spPr>
          <a:xfrm>
            <a:off x="2148840" y="3547872"/>
            <a:ext cx="281178" cy="841248"/>
          </a:xfrm>
          <a:prstGeom prst="rect">
            <a:avLst/>
          </a:prstGeom>
          <a:solidFill>
            <a:srgbClr val="FF8FB3"/>
          </a:solidFill>
          <a:ln/>
        </p:spPr>
      </p:sp>
      <p:sp>
        <p:nvSpPr>
          <p:cNvPr id="13" name="Shape 10"/>
          <p:cNvSpPr/>
          <p:nvPr/>
        </p:nvSpPr>
        <p:spPr>
          <a:xfrm>
            <a:off x="2491740" y="3758184"/>
            <a:ext cx="281178" cy="630936"/>
          </a:xfrm>
          <a:prstGeom prst="rect">
            <a:avLst/>
          </a:prstGeom>
          <a:solidFill>
            <a:srgbClr val="FF8FB3"/>
          </a:solidFill>
          <a:ln/>
        </p:spPr>
      </p:sp>
      <p:sp>
        <p:nvSpPr>
          <p:cNvPr id="14" name="Shape 11"/>
          <p:cNvSpPr/>
          <p:nvPr/>
        </p:nvSpPr>
        <p:spPr>
          <a:xfrm>
            <a:off x="2834640" y="3968496"/>
            <a:ext cx="281178" cy="420624"/>
          </a:xfrm>
          <a:prstGeom prst="rect">
            <a:avLst/>
          </a:prstGeom>
          <a:solidFill>
            <a:srgbClr val="FF8FB3"/>
          </a:solidFill>
          <a:ln/>
        </p:spPr>
      </p:sp>
      <p:sp>
        <p:nvSpPr>
          <p:cNvPr id="15" name="Shape 12"/>
          <p:cNvSpPr/>
          <p:nvPr/>
        </p:nvSpPr>
        <p:spPr>
          <a:xfrm>
            <a:off x="3177540" y="4108704"/>
            <a:ext cx="281178" cy="280416"/>
          </a:xfrm>
          <a:prstGeom prst="rect">
            <a:avLst/>
          </a:prstGeom>
          <a:solidFill>
            <a:srgbClr val="FF8FB3"/>
          </a:solidFill>
          <a:ln/>
        </p:spPr>
      </p:sp>
      <p:sp>
        <p:nvSpPr>
          <p:cNvPr id="16" name="Shape 13"/>
          <p:cNvSpPr/>
          <p:nvPr/>
        </p:nvSpPr>
        <p:spPr>
          <a:xfrm>
            <a:off x="3520440" y="4248912"/>
            <a:ext cx="281178" cy="140208"/>
          </a:xfrm>
          <a:prstGeom prst="rect">
            <a:avLst/>
          </a:prstGeom>
          <a:solidFill>
            <a:srgbClr val="FF8FB3"/>
          </a:solidFill>
          <a:ln/>
        </p:spPr>
      </p:sp>
      <p:sp>
        <p:nvSpPr>
          <p:cNvPr id="17" name="Shape 14"/>
          <p:cNvSpPr/>
          <p:nvPr/>
        </p:nvSpPr>
        <p:spPr>
          <a:xfrm>
            <a:off x="434340" y="4389120"/>
            <a:ext cx="3429000" cy="0"/>
          </a:xfrm>
          <a:prstGeom prst="line">
            <a:avLst/>
          </a:prstGeom>
          <a:noFill/>
          <a:ln w="19050">
            <a:solidFill>
              <a:srgbClr val="D8D2F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42900" y="452628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Heavily skewed — real data rarely looks normal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4366260" y="178308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Means of Samples (n=5)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4366260" y="4178808"/>
            <a:ext cx="281178" cy="210312"/>
          </a:xfrm>
          <a:prstGeom prst="rect">
            <a:avLst/>
          </a:prstGeom>
          <a:solidFill>
            <a:srgbClr val="5FD6B0"/>
          </a:solidFill>
          <a:ln/>
        </p:spPr>
      </p:sp>
      <p:sp>
        <p:nvSpPr>
          <p:cNvPr id="21" name="Shape 18"/>
          <p:cNvSpPr/>
          <p:nvPr/>
        </p:nvSpPr>
        <p:spPr>
          <a:xfrm>
            <a:off x="4709160" y="3828288"/>
            <a:ext cx="281178" cy="560832"/>
          </a:xfrm>
          <a:prstGeom prst="rect">
            <a:avLst/>
          </a:prstGeom>
          <a:solidFill>
            <a:srgbClr val="5FD6B0"/>
          </a:solidFill>
          <a:ln/>
        </p:spPr>
      </p:sp>
      <p:sp>
        <p:nvSpPr>
          <p:cNvPr id="22" name="Shape 19"/>
          <p:cNvSpPr/>
          <p:nvPr/>
        </p:nvSpPr>
        <p:spPr>
          <a:xfrm>
            <a:off x="5052060" y="3267456"/>
            <a:ext cx="281178" cy="1121664"/>
          </a:xfrm>
          <a:prstGeom prst="rect">
            <a:avLst/>
          </a:prstGeom>
          <a:solidFill>
            <a:srgbClr val="5FD6B0"/>
          </a:solidFill>
          <a:ln/>
        </p:spPr>
      </p:sp>
      <p:sp>
        <p:nvSpPr>
          <p:cNvPr id="23" name="Shape 20"/>
          <p:cNvSpPr/>
          <p:nvPr/>
        </p:nvSpPr>
        <p:spPr>
          <a:xfrm>
            <a:off x="5394960" y="2706624"/>
            <a:ext cx="281178" cy="1682496"/>
          </a:xfrm>
          <a:prstGeom prst="rect">
            <a:avLst/>
          </a:prstGeom>
          <a:solidFill>
            <a:srgbClr val="5FD6B0"/>
          </a:solidFill>
          <a:ln/>
        </p:spPr>
      </p:sp>
      <p:sp>
        <p:nvSpPr>
          <p:cNvPr id="24" name="Shape 21"/>
          <p:cNvSpPr/>
          <p:nvPr/>
        </p:nvSpPr>
        <p:spPr>
          <a:xfrm>
            <a:off x="5737860" y="2286000"/>
            <a:ext cx="281178" cy="2103120"/>
          </a:xfrm>
          <a:prstGeom prst="rect">
            <a:avLst/>
          </a:prstGeom>
          <a:solidFill>
            <a:srgbClr val="5FD6B0"/>
          </a:solidFill>
          <a:ln/>
        </p:spPr>
      </p:sp>
      <p:sp>
        <p:nvSpPr>
          <p:cNvPr id="25" name="Shape 22"/>
          <p:cNvSpPr/>
          <p:nvPr/>
        </p:nvSpPr>
        <p:spPr>
          <a:xfrm>
            <a:off x="6080760" y="2286000"/>
            <a:ext cx="281178" cy="2103120"/>
          </a:xfrm>
          <a:prstGeom prst="rect">
            <a:avLst/>
          </a:prstGeom>
          <a:solidFill>
            <a:srgbClr val="5FD6B0"/>
          </a:solidFill>
          <a:ln/>
        </p:spPr>
      </p:sp>
      <p:sp>
        <p:nvSpPr>
          <p:cNvPr id="26" name="Shape 23"/>
          <p:cNvSpPr/>
          <p:nvPr/>
        </p:nvSpPr>
        <p:spPr>
          <a:xfrm>
            <a:off x="6423660" y="2706624"/>
            <a:ext cx="281178" cy="1682496"/>
          </a:xfrm>
          <a:prstGeom prst="rect">
            <a:avLst/>
          </a:prstGeom>
          <a:solidFill>
            <a:srgbClr val="5FD6B0"/>
          </a:solidFill>
          <a:ln/>
        </p:spPr>
      </p:sp>
      <p:sp>
        <p:nvSpPr>
          <p:cNvPr id="27" name="Shape 24"/>
          <p:cNvSpPr/>
          <p:nvPr/>
        </p:nvSpPr>
        <p:spPr>
          <a:xfrm>
            <a:off x="6766560" y="3337560"/>
            <a:ext cx="281178" cy="1051560"/>
          </a:xfrm>
          <a:prstGeom prst="rect">
            <a:avLst/>
          </a:prstGeom>
          <a:solidFill>
            <a:srgbClr val="5FD6B0"/>
          </a:solidFill>
          <a:ln/>
        </p:spPr>
      </p:sp>
      <p:sp>
        <p:nvSpPr>
          <p:cNvPr id="28" name="Shape 25"/>
          <p:cNvSpPr/>
          <p:nvPr/>
        </p:nvSpPr>
        <p:spPr>
          <a:xfrm>
            <a:off x="7109460" y="3828288"/>
            <a:ext cx="281178" cy="560832"/>
          </a:xfrm>
          <a:prstGeom prst="rect">
            <a:avLst/>
          </a:prstGeom>
          <a:solidFill>
            <a:srgbClr val="5FD6B0"/>
          </a:solidFill>
          <a:ln/>
        </p:spPr>
      </p:sp>
      <p:sp>
        <p:nvSpPr>
          <p:cNvPr id="29" name="Shape 26"/>
          <p:cNvSpPr/>
          <p:nvPr/>
        </p:nvSpPr>
        <p:spPr>
          <a:xfrm>
            <a:off x="7452360" y="4178808"/>
            <a:ext cx="281178" cy="210312"/>
          </a:xfrm>
          <a:prstGeom prst="rect">
            <a:avLst/>
          </a:prstGeom>
          <a:solidFill>
            <a:srgbClr val="5FD6B0"/>
          </a:solidFill>
          <a:ln/>
        </p:spPr>
      </p:sp>
      <p:sp>
        <p:nvSpPr>
          <p:cNvPr id="30" name="Shape 27"/>
          <p:cNvSpPr/>
          <p:nvPr/>
        </p:nvSpPr>
        <p:spPr>
          <a:xfrm>
            <a:off x="4366260" y="4389120"/>
            <a:ext cx="3429000" cy="0"/>
          </a:xfrm>
          <a:prstGeom prst="line">
            <a:avLst/>
          </a:prstGeom>
          <a:noFill/>
          <a:ln w="19050">
            <a:solidFill>
              <a:srgbClr val="D8D2F5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274820" y="452628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smoothing out, even from skewed data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3817620" y="30632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85F8F"/>
                </a:solidFill>
              </a:rPr>
              <a:t>→</a:t>
            </a:r>
            <a:endParaRPr lang="en-US" sz="2200" dirty="0"/>
          </a:p>
        </p:txBody>
      </p:sp>
      <p:sp>
        <p:nvSpPr>
          <p:cNvPr id="33" name="Text 30"/>
          <p:cNvSpPr/>
          <p:nvPr/>
        </p:nvSpPr>
        <p:spPr>
          <a:xfrm>
            <a:off x="8298180" y="178308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Means of Samples (n=30)</a:t>
            </a:r>
            <a:endParaRPr lang="en-US" sz="1250" dirty="0"/>
          </a:p>
        </p:txBody>
      </p:sp>
      <p:sp>
        <p:nvSpPr>
          <p:cNvPr id="34" name="Shape 31"/>
          <p:cNvSpPr/>
          <p:nvPr/>
        </p:nvSpPr>
        <p:spPr>
          <a:xfrm>
            <a:off x="8298180" y="4330700"/>
            <a:ext cx="216291" cy="58420"/>
          </a:xfrm>
          <a:prstGeom prst="rect">
            <a:avLst/>
          </a:prstGeom>
          <a:solidFill>
            <a:srgbClr val="8B7FE8"/>
          </a:solidFill>
          <a:ln/>
        </p:spPr>
      </p:sp>
      <p:sp>
        <p:nvSpPr>
          <p:cNvPr id="35" name="Shape 32"/>
          <p:cNvSpPr/>
          <p:nvPr/>
        </p:nvSpPr>
        <p:spPr>
          <a:xfrm>
            <a:off x="8561949" y="4213860"/>
            <a:ext cx="216291" cy="175260"/>
          </a:xfrm>
          <a:prstGeom prst="rect">
            <a:avLst/>
          </a:prstGeom>
          <a:solidFill>
            <a:srgbClr val="8B7FE8"/>
          </a:solidFill>
          <a:ln/>
        </p:spPr>
      </p:sp>
      <p:sp>
        <p:nvSpPr>
          <p:cNvPr id="36" name="Shape 33"/>
          <p:cNvSpPr/>
          <p:nvPr/>
        </p:nvSpPr>
        <p:spPr>
          <a:xfrm>
            <a:off x="8825718" y="3921760"/>
            <a:ext cx="216291" cy="467360"/>
          </a:xfrm>
          <a:prstGeom prst="rect">
            <a:avLst/>
          </a:prstGeom>
          <a:solidFill>
            <a:srgbClr val="8B7FE8"/>
          </a:solidFill>
          <a:ln/>
        </p:spPr>
      </p:sp>
      <p:sp>
        <p:nvSpPr>
          <p:cNvPr id="37" name="Shape 34"/>
          <p:cNvSpPr/>
          <p:nvPr/>
        </p:nvSpPr>
        <p:spPr>
          <a:xfrm>
            <a:off x="9089488" y="3454400"/>
            <a:ext cx="216291" cy="934720"/>
          </a:xfrm>
          <a:prstGeom prst="rect">
            <a:avLst/>
          </a:prstGeom>
          <a:solidFill>
            <a:srgbClr val="8B7FE8"/>
          </a:solidFill>
          <a:ln/>
        </p:spPr>
      </p:sp>
      <p:sp>
        <p:nvSpPr>
          <p:cNvPr id="38" name="Shape 35"/>
          <p:cNvSpPr/>
          <p:nvPr/>
        </p:nvSpPr>
        <p:spPr>
          <a:xfrm>
            <a:off x="9353257" y="2870200"/>
            <a:ext cx="216291" cy="1518920"/>
          </a:xfrm>
          <a:prstGeom prst="rect">
            <a:avLst/>
          </a:prstGeom>
          <a:solidFill>
            <a:srgbClr val="8B7FE8"/>
          </a:solidFill>
          <a:ln/>
        </p:spPr>
      </p:sp>
      <p:sp>
        <p:nvSpPr>
          <p:cNvPr id="39" name="Shape 36"/>
          <p:cNvSpPr/>
          <p:nvPr/>
        </p:nvSpPr>
        <p:spPr>
          <a:xfrm>
            <a:off x="9617026" y="2402840"/>
            <a:ext cx="216291" cy="1986280"/>
          </a:xfrm>
          <a:prstGeom prst="rect">
            <a:avLst/>
          </a:prstGeom>
          <a:solidFill>
            <a:srgbClr val="8B7FE8"/>
          </a:solidFill>
          <a:ln/>
        </p:spPr>
      </p:sp>
      <p:sp>
        <p:nvSpPr>
          <p:cNvPr id="40" name="Shape 37"/>
          <p:cNvSpPr/>
          <p:nvPr/>
        </p:nvSpPr>
        <p:spPr>
          <a:xfrm>
            <a:off x="9880795" y="2286000"/>
            <a:ext cx="216291" cy="2103120"/>
          </a:xfrm>
          <a:prstGeom prst="rect">
            <a:avLst/>
          </a:prstGeom>
          <a:solidFill>
            <a:srgbClr val="8B7FE8"/>
          </a:solidFill>
          <a:ln/>
        </p:spPr>
      </p:sp>
      <p:sp>
        <p:nvSpPr>
          <p:cNvPr id="41" name="Shape 38"/>
          <p:cNvSpPr/>
          <p:nvPr/>
        </p:nvSpPr>
        <p:spPr>
          <a:xfrm>
            <a:off x="10144565" y="2402840"/>
            <a:ext cx="216291" cy="1986280"/>
          </a:xfrm>
          <a:prstGeom prst="rect">
            <a:avLst/>
          </a:prstGeom>
          <a:solidFill>
            <a:srgbClr val="8B7FE8"/>
          </a:solidFill>
          <a:ln/>
        </p:spPr>
      </p:sp>
      <p:sp>
        <p:nvSpPr>
          <p:cNvPr id="42" name="Shape 39"/>
          <p:cNvSpPr/>
          <p:nvPr/>
        </p:nvSpPr>
        <p:spPr>
          <a:xfrm>
            <a:off x="10408334" y="2870200"/>
            <a:ext cx="216291" cy="1518920"/>
          </a:xfrm>
          <a:prstGeom prst="rect">
            <a:avLst/>
          </a:prstGeom>
          <a:solidFill>
            <a:srgbClr val="8B7FE8"/>
          </a:solidFill>
          <a:ln/>
        </p:spPr>
      </p:sp>
      <p:sp>
        <p:nvSpPr>
          <p:cNvPr id="43" name="Shape 40"/>
          <p:cNvSpPr/>
          <p:nvPr/>
        </p:nvSpPr>
        <p:spPr>
          <a:xfrm>
            <a:off x="10672103" y="3454400"/>
            <a:ext cx="216291" cy="934720"/>
          </a:xfrm>
          <a:prstGeom prst="rect">
            <a:avLst/>
          </a:prstGeom>
          <a:solidFill>
            <a:srgbClr val="8B7FE8"/>
          </a:solidFill>
          <a:ln/>
        </p:spPr>
      </p:sp>
      <p:sp>
        <p:nvSpPr>
          <p:cNvPr id="44" name="Shape 41"/>
          <p:cNvSpPr/>
          <p:nvPr/>
        </p:nvSpPr>
        <p:spPr>
          <a:xfrm>
            <a:off x="10935872" y="3921760"/>
            <a:ext cx="216291" cy="467360"/>
          </a:xfrm>
          <a:prstGeom prst="rect">
            <a:avLst/>
          </a:prstGeom>
          <a:solidFill>
            <a:srgbClr val="8B7FE8"/>
          </a:solidFill>
          <a:ln/>
        </p:spPr>
      </p:sp>
      <p:sp>
        <p:nvSpPr>
          <p:cNvPr id="45" name="Shape 42"/>
          <p:cNvSpPr/>
          <p:nvPr/>
        </p:nvSpPr>
        <p:spPr>
          <a:xfrm>
            <a:off x="11199642" y="4213860"/>
            <a:ext cx="216291" cy="175260"/>
          </a:xfrm>
          <a:prstGeom prst="rect">
            <a:avLst/>
          </a:prstGeom>
          <a:solidFill>
            <a:srgbClr val="8B7FE8"/>
          </a:solidFill>
          <a:ln/>
        </p:spPr>
      </p:sp>
      <p:sp>
        <p:nvSpPr>
          <p:cNvPr id="46" name="Shape 43"/>
          <p:cNvSpPr/>
          <p:nvPr/>
        </p:nvSpPr>
        <p:spPr>
          <a:xfrm>
            <a:off x="11463411" y="4330700"/>
            <a:ext cx="216291" cy="58420"/>
          </a:xfrm>
          <a:prstGeom prst="rect">
            <a:avLst/>
          </a:prstGeom>
          <a:solidFill>
            <a:srgbClr val="8B7FE8"/>
          </a:solidFill>
          <a:ln/>
        </p:spPr>
      </p:sp>
      <p:sp>
        <p:nvSpPr>
          <p:cNvPr id="47" name="Shape 44"/>
          <p:cNvSpPr/>
          <p:nvPr/>
        </p:nvSpPr>
        <p:spPr>
          <a:xfrm>
            <a:off x="8298180" y="4389120"/>
            <a:ext cx="3429000" cy="0"/>
          </a:xfrm>
          <a:prstGeom prst="line">
            <a:avLst/>
          </a:prstGeom>
          <a:noFill/>
          <a:ln w="19050">
            <a:solidFill>
              <a:srgbClr val="D8D2F5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8206740" y="452628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perfectly normal, no matter the population shape</a:t>
            </a:r>
            <a:endParaRPr lang="en-US" sz="950" dirty="0"/>
          </a:p>
        </p:txBody>
      </p:sp>
      <p:sp>
        <p:nvSpPr>
          <p:cNvPr id="49" name="Text 46"/>
          <p:cNvSpPr/>
          <p:nvPr/>
        </p:nvSpPr>
        <p:spPr>
          <a:xfrm>
            <a:off x="7749540" y="30632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85F8F"/>
                </a:solidFill>
              </a:rPr>
              <a:t>→</a:t>
            </a:r>
            <a:endParaRPr lang="en-US" sz="2200" dirty="0"/>
          </a:p>
        </p:txBody>
      </p:sp>
      <p:sp>
        <p:nvSpPr>
          <p:cNvPr id="50" name="Shape 47"/>
          <p:cNvSpPr/>
          <p:nvPr/>
        </p:nvSpPr>
        <p:spPr>
          <a:xfrm>
            <a:off x="548640" y="562356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DE9FE"/>
          </a:solidFill>
          <a:ln w="12700">
            <a:solidFill>
              <a:srgbClr val="D8D2F5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822960" y="5623560"/>
            <a:ext cx="10543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matter how skewed the original population is, the distribution of SAMPLE MEANS becomes normal as sample size grows. This is what lets tests like the t-test assume normality safely.</a:t>
            </a:r>
            <a:endParaRPr lang="en-US" sz="1200" dirty="0"/>
          </a:p>
        </p:txBody>
      </p:sp>
      <p:sp>
        <p:nvSpPr>
          <p:cNvPr id="52" name="Text 49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CodeByPaxto: The AI &amp; ML Playground  ·  Hafiz Waseem Ahmed (Paxto)</a:t>
            </a:r>
            <a:endParaRPr lang="en-US" sz="950" dirty="0"/>
          </a:p>
        </p:txBody>
      </p:sp>
      <p:sp>
        <p:nvSpPr>
          <p:cNvPr id="53" name="Text 50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8B7FE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Why the Central Limit Theorem Matters for Everything Coming Next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9050">
            <a:solidFill>
              <a:srgbClr val="D8D2F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1828800"/>
            <a:ext cx="47548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21 and 22 rely on the assumption that a sample mean is approximately normally distributed — this theorem is the entire reason that assumption is allowed</a:t>
            </a:r>
            <a:endParaRPr lang="en-US" sz="1350" dirty="0"/>
          </a:p>
          <a:p>
            <a:pPr marL="203200" indent="-2032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it, a t-test or z-test would only be valid on data that already looked normal to begin with — which real-world data almost never fully does</a:t>
            </a:r>
            <a:endParaRPr lang="en-US" sz="1350" dirty="0"/>
          </a:p>
          <a:p>
            <a:pPr marL="203200" indent="-2032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single biggest reason the Central Limit Theorem is considered one of the most important results in all of statistics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0" y="1691640"/>
            <a:ext cx="6217920" cy="4343400"/>
          </a:xfrm>
          <a:prstGeom prst="roundRect">
            <a:avLst>
              <a:gd name="adj" fmla="val 3368"/>
            </a:avLst>
          </a:prstGeom>
          <a:solidFill>
            <a:srgbClr val="E3FBF3"/>
          </a:solidFill>
          <a:ln w="19050">
            <a:solidFill>
              <a:srgbClr val="5FD6B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06440" y="1965960"/>
            <a:ext cx="55778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i="1" dirty="0">
                <a:solidFill>
                  <a:srgbClr val="685F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The Central Limit Theorem, summarized: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6B5F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i="1" dirty="0">
                <a:solidFill>
                  <a:srgbClr val="685F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Population shape:  ANY shape (skewed, uniform, lumpy...)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i="1" dirty="0">
                <a:solidFill>
                  <a:srgbClr val="685F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Sample size:       large enough (commonly n &gt;= 30)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i="1" dirty="0">
                <a:solidFill>
                  <a:srgbClr val="685F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Result:            distribution of SAMPLE MEANS is ~Normal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6B5F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i="1" dirty="0">
                <a:solidFill>
                  <a:srgbClr val="685F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This is exactly what Session 21's hypothesis tests lean on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CodeByPaxto: The AI &amp; ML Playground  ·  Hafiz Waseem Ahmed (Paxto)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8B7FE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Practice Set — Probability Distributions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9050">
            <a:solidFill>
              <a:srgbClr val="D8D2F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600200"/>
            <a:ext cx="11274552" cy="4480560"/>
          </a:xfrm>
          <a:prstGeom prst="roundRect">
            <a:avLst>
              <a:gd name="adj" fmla="val 3673"/>
            </a:avLst>
          </a:prstGeom>
          <a:solidFill>
            <a:srgbClr val="EDE9FE"/>
          </a:solidFill>
          <a:ln w="12700">
            <a:solidFill>
              <a:srgbClr val="D8D2F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Try these yourself first — that's the point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22960" y="2423160"/>
            <a:ext cx="384048" cy="384048"/>
          </a:xfrm>
          <a:prstGeom prst="ellipse">
            <a:avLst/>
          </a:prstGeom>
          <a:solidFill>
            <a:srgbClr val="8B7FE8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2423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435608" y="2423160"/>
            <a:ext cx="9582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one real-world example each of a Uniform, a Binomial, and a Normal distribution, different from the ones in this session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22960" y="3300984"/>
            <a:ext cx="384048" cy="384048"/>
          </a:xfrm>
          <a:prstGeom prst="ellipse">
            <a:avLst/>
          </a:prstGeom>
          <a:solidFill>
            <a:srgbClr val="8B7FE8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3300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35608" y="3300984"/>
            <a:ext cx="9582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the empirical rule, estimate the probability a normally distributed value falls within 1 standard deviation of the mean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22960" y="4178808"/>
            <a:ext cx="384048" cy="384048"/>
          </a:xfrm>
          <a:prstGeom prst="ellipse">
            <a:avLst/>
          </a:prstGeom>
          <a:solidFill>
            <a:srgbClr val="8B7FE8"/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" y="4178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35608" y="4178808"/>
            <a:ext cx="9582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Explain, in your own words, why the Central Limit Theorem matters even when your original data is heavily skewed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822960" y="5056632"/>
            <a:ext cx="384048" cy="384048"/>
          </a:xfrm>
          <a:prstGeom prst="ellipse">
            <a:avLst/>
          </a:prstGeom>
          <a:solidFill>
            <a:srgbClr val="8B7FE8"/>
          </a:solidFill>
          <a:ln/>
        </p:spPr>
      </p:sp>
      <p:sp>
        <p:nvSpPr>
          <p:cNvPr id="18" name="Text 15"/>
          <p:cNvSpPr/>
          <p:nvPr/>
        </p:nvSpPr>
        <p:spPr>
          <a:xfrm>
            <a:off x="822960" y="5056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35608" y="5056632"/>
            <a:ext cx="9582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n = 30 is commonly used as a rule of thumb, rather than a hard mathematical requirement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CodeByPaxto: The AI &amp; ML Playground  ·  Hafiz Waseem Ahmed (Paxto)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D6B0"/>
                </a:solidFill>
              </a:rPr>
              <a:t>✦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247120" y="5486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FFC94A"/>
                </a:solidFill>
              </a:rPr>
              <a:t>✦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640080" y="61264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8FB3"/>
                </a:solidFill>
              </a:rPr>
              <a:t>✦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338560" y="6035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7FE8"/>
                </a:solidFill>
              </a:rPr>
              <a:t>✦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 rot="-90000">
            <a:off x="1874520" y="1325880"/>
            <a:ext cx="8805672" cy="777240"/>
          </a:xfrm>
          <a:prstGeom prst="roundRect">
            <a:avLst>
              <a:gd name="adj" fmla="val 17647"/>
            </a:avLst>
          </a:prstGeom>
          <a:solidFill>
            <a:srgbClr val="FFC94A"/>
          </a:solidFill>
          <a:ln/>
        </p:spPr>
      </p:sp>
      <p:sp>
        <p:nvSpPr>
          <p:cNvPr id="7" name="Shape 5"/>
          <p:cNvSpPr/>
          <p:nvPr/>
        </p:nvSpPr>
        <p:spPr>
          <a:xfrm>
            <a:off x="1691640" y="1188720"/>
            <a:ext cx="8805672" cy="777240"/>
          </a:xfrm>
          <a:prstGeom prst="roundRect">
            <a:avLst>
              <a:gd name="adj" fmla="val 17647"/>
            </a:avLst>
          </a:prstGeom>
          <a:solidFill>
            <a:srgbClr val="8B7FE8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0448" y="134874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91640" y="1188720"/>
            <a:ext cx="8805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INDUSTRY-STYLE TASKS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97280" y="2331720"/>
            <a:ext cx="999439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Build the Reasoning Every Inferential Test Depends On</a:t>
            </a:r>
            <a:endParaRPr lang="en-US" sz="2900" dirty="0"/>
          </a:p>
        </p:txBody>
      </p:sp>
      <p:sp>
        <p:nvSpPr>
          <p:cNvPr id="11" name="Text 8"/>
          <p:cNvSpPr/>
          <p:nvPr/>
        </p:nvSpPr>
        <p:spPr>
          <a:xfrm>
            <a:off x="1737360" y="4434840"/>
            <a:ext cx="87142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abstract dice-and-cards drills — conditional probability and Bayes’ Theorem are exactly how real decisions get made under uncertainty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8B7FE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Today's Tasks — Part A: Foundations &amp; Combining Probabilities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9050">
            <a:solidFill>
              <a:srgbClr val="D8D2F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600200"/>
            <a:ext cx="11274552" cy="4480560"/>
          </a:xfrm>
          <a:prstGeom prst="roundRect">
            <a:avLst>
              <a:gd name="adj" fmla="val 3673"/>
            </a:avLst>
          </a:prstGeom>
          <a:solidFill>
            <a:srgbClr val="FFF6DC"/>
          </a:solidFill>
          <a:ln w="12700">
            <a:solidFill>
              <a:srgbClr val="D8D2F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Small tasks — do them in order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22960" y="2423160"/>
            <a:ext cx="402336" cy="402336"/>
          </a:xfrm>
          <a:prstGeom prst="ellipse">
            <a:avLst/>
          </a:prstGeom>
          <a:solidFill>
            <a:srgbClr val="8B7FE8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2487168"/>
            <a:ext cx="283464" cy="28346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1371600" y="2441448"/>
            <a:ext cx="402336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8D2F5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1371600" y="2441448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5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920240" y="2423160"/>
            <a:ext cx="9509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out the full sample space for rolling two dice, and calculate the probability their sum equals 7.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822960" y="3593592"/>
            <a:ext cx="402336" cy="402336"/>
          </a:xfrm>
          <a:prstGeom prst="ellipse">
            <a:avLst/>
          </a:prstGeom>
          <a:solidFill>
            <a:srgbClr val="8B7FE8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3657600"/>
            <a:ext cx="283464" cy="283464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1371600" y="3611880"/>
            <a:ext cx="402336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8D2F5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1371600" y="3611880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5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1920240" y="3593592"/>
            <a:ext cx="9509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the probability of drawing two Aces in a row from a deck, without replacement, and explain why this requires the dependent-events version of the Multiplication Rule.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822960" y="4764024"/>
            <a:ext cx="402336" cy="402336"/>
          </a:xfrm>
          <a:prstGeom prst="ellipse">
            <a:avLst/>
          </a:prstGeom>
          <a:solidFill>
            <a:srgbClr val="8B7FE8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4828032"/>
            <a:ext cx="283464" cy="283464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1371600" y="4782312"/>
            <a:ext cx="402336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8D2F5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1371600" y="4782312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5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1920240" y="4764024"/>
            <a:ext cx="9509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 real news article or app that reports a probability or percentage, and identify whether it’s describing a single event or a combination of events.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CodeByPaxto: The AI &amp; ML Playground  ·  Hafiz Waseem Ahmed (Paxto)</a:t>
            </a:r>
            <a:endParaRPr lang="en-US" sz="950" dirty="0"/>
          </a:p>
        </p:txBody>
      </p:sp>
      <p:sp>
        <p:nvSpPr>
          <p:cNvPr id="24" name="Text 1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8B7FE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Today's Tasks — Part B: Conditional Probability &amp; Bayes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9050">
            <a:solidFill>
              <a:srgbClr val="D8D2F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600200"/>
            <a:ext cx="11274552" cy="4480560"/>
          </a:xfrm>
          <a:prstGeom prst="roundRect">
            <a:avLst>
              <a:gd name="adj" fmla="val 3673"/>
            </a:avLst>
          </a:prstGeom>
          <a:solidFill>
            <a:srgbClr val="FFF6DC"/>
          </a:solidFill>
          <a:ln w="12700">
            <a:solidFill>
              <a:srgbClr val="D8D2F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Small tasks — do them in order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22960" y="2423160"/>
            <a:ext cx="402336" cy="402336"/>
          </a:xfrm>
          <a:prstGeom prst="ellipse">
            <a:avLst/>
          </a:prstGeom>
          <a:solidFill>
            <a:srgbClr val="8B7FE8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2487168"/>
            <a:ext cx="283464" cy="28346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1371600" y="2441448"/>
            <a:ext cx="402336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8D2F5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1371600" y="2441448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5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920240" y="2423160"/>
            <a:ext cx="9509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own version of the medical test tree diagram using a disease with 5% prevalence and a test with 90% accuracy, and calculate P(disease | positive).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822960" y="3593592"/>
            <a:ext cx="402336" cy="402336"/>
          </a:xfrm>
          <a:prstGeom prst="ellipse">
            <a:avLst/>
          </a:prstGeom>
          <a:solidFill>
            <a:srgbClr val="8B7FE8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3657600"/>
            <a:ext cx="283464" cy="283464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1371600" y="3611880"/>
            <a:ext cx="402336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8D2F5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1371600" y="3611880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5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1920240" y="3593592"/>
            <a:ext cx="9509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Explain, using your own numbers, why a rarer disease makes a positive test result LESS trustworthy, even with the same test accuracy.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822960" y="4764024"/>
            <a:ext cx="402336" cy="402336"/>
          </a:xfrm>
          <a:prstGeom prst="ellipse">
            <a:avLst/>
          </a:prstGeom>
          <a:solidFill>
            <a:srgbClr val="8B7FE8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4828032"/>
            <a:ext cx="283464" cy="283464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1371600" y="4782312"/>
            <a:ext cx="402336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8D2F5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1371600" y="4782312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5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1920240" y="4764024"/>
            <a:ext cx="9509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a real-world decision (not medical) where Bayes’ Theorem’s "update your belief with new evidence" logic applies, and walk through it conceptually.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CodeByPaxto: The AI &amp; ML Playground  ·  Hafiz Waseem Ahmed (Paxto)</a:t>
            </a:r>
            <a:endParaRPr lang="en-US" sz="950" dirty="0"/>
          </a:p>
        </p:txBody>
      </p:sp>
      <p:sp>
        <p:nvSpPr>
          <p:cNvPr id="24" name="Text 1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8B7FE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Today's Tasks — Part C: Distributions &amp; the Central Limit Theorem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9050">
            <a:solidFill>
              <a:srgbClr val="D8D2F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600200"/>
            <a:ext cx="11274552" cy="4480560"/>
          </a:xfrm>
          <a:prstGeom prst="roundRect">
            <a:avLst>
              <a:gd name="adj" fmla="val 3673"/>
            </a:avLst>
          </a:prstGeom>
          <a:solidFill>
            <a:srgbClr val="FFF6DC"/>
          </a:solidFill>
          <a:ln w="12700">
            <a:solidFill>
              <a:srgbClr val="D8D2F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Small tasks — do them in order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22960" y="2423160"/>
            <a:ext cx="402336" cy="402336"/>
          </a:xfrm>
          <a:prstGeom prst="ellipse">
            <a:avLst/>
          </a:prstGeom>
          <a:solidFill>
            <a:srgbClr val="8B7FE8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2487168"/>
            <a:ext cx="283464" cy="28346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1371600" y="2441448"/>
            <a:ext cx="402336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8D2F5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1371600" y="2441448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5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920240" y="2423160"/>
            <a:ext cx="9509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(by hand or with simple code) rolling a die 30 times, calculate the average, and repeat this 10 times — describe the shape of those 10 averages.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822960" y="3593592"/>
            <a:ext cx="402336" cy="402336"/>
          </a:xfrm>
          <a:prstGeom prst="ellipse">
            <a:avLst/>
          </a:prstGeom>
          <a:solidFill>
            <a:srgbClr val="8B7FE8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3657600"/>
            <a:ext cx="283464" cy="283464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1371600" y="3611880"/>
            <a:ext cx="402336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8D2F5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1371600" y="3611880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5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1920240" y="3593592"/>
            <a:ext cx="9509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Explain, in your own words, why the Central Limit Theorem is described as one of the most important results in statistics.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822960" y="4764024"/>
            <a:ext cx="402336" cy="402336"/>
          </a:xfrm>
          <a:prstGeom prst="ellipse">
            <a:avLst/>
          </a:prstGeom>
          <a:solidFill>
            <a:srgbClr val="8B7FE8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4828032"/>
            <a:ext cx="283464" cy="283464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1371600" y="4782312"/>
            <a:ext cx="402336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8D2F5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1371600" y="4782312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5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1920240" y="4764024"/>
            <a:ext cx="9509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one variable from a real dataset and predict which distribution shape (Uniform, Binomial, or Normal) it most likely follows, and explain your reasoning.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CodeByPaxto: The AI &amp; ML Playground  ·  Hafiz Waseem Ahmed (Paxto)</a:t>
            </a:r>
            <a:endParaRPr lang="en-US" sz="950" dirty="0"/>
          </a:p>
        </p:txBody>
      </p:sp>
      <p:sp>
        <p:nvSpPr>
          <p:cNvPr id="24" name="Text 1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D6B0"/>
                </a:solidFill>
              </a:rPr>
              <a:t>✦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247120" y="5486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FFC94A"/>
                </a:solidFill>
              </a:rPr>
              <a:t>✦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640080" y="61264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8FB3"/>
                </a:solidFill>
              </a:rPr>
              <a:t>✦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338560" y="6035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7FE8"/>
                </a:solidFill>
              </a:rPr>
              <a:t>✦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 rot="-90000">
            <a:off x="1874520" y="1325880"/>
            <a:ext cx="8805672" cy="777240"/>
          </a:xfrm>
          <a:prstGeom prst="roundRect">
            <a:avLst>
              <a:gd name="adj" fmla="val 17647"/>
            </a:avLst>
          </a:prstGeom>
          <a:solidFill>
            <a:srgbClr val="FFC94A"/>
          </a:solidFill>
          <a:ln/>
        </p:spPr>
      </p:sp>
      <p:sp>
        <p:nvSpPr>
          <p:cNvPr id="7" name="Shape 5"/>
          <p:cNvSpPr/>
          <p:nvPr/>
        </p:nvSpPr>
        <p:spPr>
          <a:xfrm>
            <a:off x="1691640" y="1188720"/>
            <a:ext cx="8805672" cy="777240"/>
          </a:xfrm>
          <a:prstGeom prst="roundRect">
            <a:avLst>
              <a:gd name="adj" fmla="val 17647"/>
            </a:avLst>
          </a:prstGeom>
          <a:solidFill>
            <a:srgbClr val="8B7FE8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0448" y="134874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91640" y="1188720"/>
            <a:ext cx="8805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97280" y="2331720"/>
            <a:ext cx="999439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Put It All Together</a:t>
            </a:r>
            <a:endParaRPr lang="en-US" sz="2900" dirty="0"/>
          </a:p>
        </p:txBody>
      </p:sp>
      <p:sp>
        <p:nvSpPr>
          <p:cNvPr id="11" name="Text 8"/>
          <p:cNvSpPr/>
          <p:nvPr/>
        </p:nvSpPr>
        <p:spPr>
          <a:xfrm>
            <a:off x="1737360" y="4434840"/>
            <a:ext cx="87142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Bayes’ Theorem to a real, practical decision — not just a textbook disease example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8B7FE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Mini Project: Bayes’ Theorem in a Real Decision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9050">
            <a:solidFill>
              <a:srgbClr val="D8D2F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554480"/>
            <a:ext cx="3657600" cy="4663440"/>
          </a:xfrm>
          <a:prstGeom prst="roundRect">
            <a:avLst>
              <a:gd name="adj" fmla="val 4500"/>
            </a:avLst>
          </a:prstGeom>
          <a:solidFill>
            <a:srgbClr val="EDE9FE"/>
          </a:solidFill>
          <a:ln w="12700">
            <a:solidFill>
              <a:srgbClr val="D8D2F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508760" y="2194560"/>
            <a:ext cx="1554480" cy="1554480"/>
          </a:xfrm>
          <a:prstGeom prst="ellipse">
            <a:avLst/>
          </a:prstGeom>
          <a:solidFill>
            <a:srgbClr val="8B7FE8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6504" y="2423160"/>
            <a:ext cx="1088136" cy="10881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" y="397764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Every skill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from today,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combined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4572000" y="1737360"/>
            <a:ext cx="71323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real scenario with a clear prior, such as: a spam filter, a fraud-detection alert, a background-check false-positive rate, or a product-defect scanner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or reasonably estimate three numbers: the prior probability, and the test’s true-positive and false-positive rates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full tree diagram (like the medical test example) working through a population of at least 1,000, and calculate the final updated probability using Bayes’ Theorem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short, honest paragraph explaining whether the result is more or less trustworthy than most people’s gut instinct would assume, and why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CodeByPaxto: The AI &amp; ML Playground  ·  Hafiz Waseem Ahmed (Paxto)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D6B0"/>
                </a:solidFill>
              </a:rPr>
              <a:t>✦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247120" y="5486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FFC94A"/>
                </a:solidFill>
              </a:rPr>
              <a:t>✦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640080" y="61264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8FB3"/>
                </a:solidFill>
              </a:rPr>
              <a:t>✦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338560" y="6035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7FE8"/>
                </a:solidFill>
              </a:rPr>
              <a:t>✦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 rot="-90000">
            <a:off x="1874520" y="1325880"/>
            <a:ext cx="8805672" cy="777240"/>
          </a:xfrm>
          <a:prstGeom prst="roundRect">
            <a:avLst>
              <a:gd name="adj" fmla="val 17647"/>
            </a:avLst>
          </a:prstGeom>
          <a:solidFill>
            <a:srgbClr val="FFC94A"/>
          </a:solidFill>
          <a:ln/>
        </p:spPr>
      </p:sp>
      <p:sp>
        <p:nvSpPr>
          <p:cNvPr id="7" name="Shape 5"/>
          <p:cNvSpPr/>
          <p:nvPr/>
        </p:nvSpPr>
        <p:spPr>
          <a:xfrm>
            <a:off x="1691640" y="1188720"/>
            <a:ext cx="8805672" cy="777240"/>
          </a:xfrm>
          <a:prstGeom prst="roundRect">
            <a:avLst>
              <a:gd name="adj" fmla="val 17647"/>
            </a:avLst>
          </a:prstGeom>
          <a:solidFill>
            <a:srgbClr val="8B7FE8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0448" y="134874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91640" y="1188720"/>
            <a:ext cx="8805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97280" y="2331720"/>
            <a:ext cx="999439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2D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Probability is how uncertainty gets measured. Bayes’ Theorem updates belief with evidence — the Central Limit Theorem is why every test coming next is even allowed to work.</a:t>
            </a:r>
            <a:endParaRPr lang="en-US" sz="2900" dirty="0"/>
          </a:p>
        </p:txBody>
      </p:sp>
      <p:sp>
        <p:nvSpPr>
          <p:cNvPr id="11" name="Text 8"/>
          <p:cNvSpPr/>
          <p:nvPr/>
        </p:nvSpPr>
        <p:spPr>
          <a:xfrm>
            <a:off x="1737360" y="4434840"/>
            <a:ext cx="87142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session: Inferential Statistics I — confidence intervals, hypothesis testing, and p-values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2026-09-20T05:10:02Z</dcterms:created>
  <dcterms:modified xsi:type="dcterms:W3CDTF">2026-09-20T05:10:02Z</dcterms:modified>
</cp:coreProperties>
</file>