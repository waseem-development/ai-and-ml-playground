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31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314" r:id="rId16"/>
    <p:sldId id="315" r:id="rId17"/>
    <p:sldId id="316" r:id="rId18"/>
    <p:sldId id="317" r:id="rId19"/>
    <p:sldId id="318" r:id="rId20"/>
    <p:sldId id="269" r:id="rId21"/>
    <p:sldId id="270" r:id="rId22"/>
    <p:sldId id="330" r:id="rId23"/>
    <p:sldId id="329" r:id="rId24"/>
    <p:sldId id="271" r:id="rId25"/>
    <p:sldId id="319" r:id="rId26"/>
    <p:sldId id="320" r:id="rId27"/>
    <p:sldId id="321" r:id="rId28"/>
    <p:sldId id="322" r:id="rId29"/>
    <p:sldId id="323" r:id="rId30"/>
    <p:sldId id="272" r:id="rId31"/>
    <p:sldId id="273" r:id="rId32"/>
    <p:sldId id="274" r:id="rId33"/>
    <p:sldId id="275" r:id="rId34"/>
    <p:sldId id="276" r:id="rId35"/>
    <p:sldId id="324" r:id="rId36"/>
    <p:sldId id="325" r:id="rId37"/>
    <p:sldId id="277" r:id="rId38"/>
    <p:sldId id="278" r:id="rId39"/>
    <p:sldId id="279" r:id="rId40"/>
    <p:sldId id="326" r:id="rId41"/>
    <p:sldId id="280" r:id="rId42"/>
    <p:sldId id="281" r:id="rId43"/>
    <p:sldId id="282" r:id="rId44"/>
    <p:sldId id="283" r:id="rId45"/>
    <p:sldId id="284" r:id="rId46"/>
    <p:sldId id="327" r:id="rId47"/>
    <p:sldId id="328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  <p:sldId id="307" r:id="rId71"/>
    <p:sldId id="308" r:id="rId72"/>
    <p:sldId id="309" r:id="rId73"/>
    <p:sldId id="310" r:id="rId74"/>
    <p:sldId id="311" r:id="rId75"/>
    <p:sldId id="312" r:id="rId7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EBD1EBE-0229-3059-B2E4-7E196EC1FE1A}">
          <p14:sldIdLst>
            <p14:sldId id="256"/>
            <p14:sldId id="257"/>
            <p14:sldId id="258"/>
          </p14:sldIdLst>
        </p14:section>
        <p14:section name="Part 1 — Foundations" id="{A275A368-F037-B37A-7339-C5594120B6D5}">
          <p14:sldIdLst>
            <p14:sldId id="259"/>
            <p14:sldId id="260"/>
            <p14:sldId id="261"/>
            <p14:sldId id="313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rt 2 — Combining Probabilities" id="{A842ED16-EF2C-4084-5607-2064EF5E0F49}">
          <p14:sldIdLst>
            <p14:sldId id="268"/>
            <p14:sldId id="314"/>
            <p14:sldId id="315"/>
            <p14:sldId id="316"/>
            <p14:sldId id="317"/>
            <p14:sldId id="318"/>
            <p14:sldId id="269"/>
            <p14:sldId id="270"/>
            <p14:sldId id="330"/>
            <p14:sldId id="329"/>
            <p14:sldId id="271"/>
            <p14:sldId id="319"/>
            <p14:sldId id="320"/>
            <p14:sldId id="321"/>
            <p14:sldId id="322"/>
            <p14:sldId id="323"/>
            <p14:sldId id="272"/>
            <p14:sldId id="273"/>
            <p14:sldId id="274"/>
            <p14:sldId id="275"/>
            <p14:sldId id="276"/>
            <p14:sldId id="324"/>
            <p14:sldId id="325"/>
            <p14:sldId id="277"/>
          </p14:sldIdLst>
        </p14:section>
        <p14:section name="Part 3 — Conditional Probability &amp; Bayes" id="{DFE9222C-8CD5-1233-804C-B7A8AF19DFD6}">
          <p14:sldIdLst>
            <p14:sldId id="278"/>
            <p14:sldId id="279"/>
            <p14:sldId id="326"/>
            <p14:sldId id="280"/>
            <p14:sldId id="281"/>
            <p14:sldId id="282"/>
            <p14:sldId id="283"/>
            <p14:sldId id="284"/>
            <p14:sldId id="327"/>
            <p14:sldId id="328"/>
            <p14:sldId id="285"/>
            <p14:sldId id="286"/>
            <p14:sldId id="287"/>
            <p14:sldId id="288"/>
            <p14:sldId id="289"/>
          </p14:sldIdLst>
        </p14:section>
        <p14:section name="Part 4 — Distributions &amp; the CLT" id="{08F15BCC-57B1-0101-CDF6-32B8DA65DA46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Tasks &amp; Mini Project" id="{3497CC7C-0872-92A1-D2F9-6E70041EE3ED}">
          <p14:sldIdLst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2C4B38-1262-48C7-B86C-E4F174712AFC}" v="13" dt="2026-10-22T18:23:26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5/10/relationships/revisionInfo" Target="revisionInfo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5755A7"/>
                </a:solidFill>
                <a:latin typeface="+mn-lt"/>
              </a:rPr>
              <a:t>Running proportion of heads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 of heads</c:v>
                </c:pt>
              </c:strCache>
            </c:strRef>
          </c:tx>
          <c:spPr>
            <a:ln w="38100" cap="flat">
              <a:solidFill>
                <a:srgbClr val="8C8AE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8C8AE0"/>
              </a:solidFill>
              <a:ln w="9525" cap="flat">
                <a:solidFill>
                  <a:srgbClr val="8C8AE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10</c:v>
                </c:pt>
                <c:pt idx="1">
                  <c:v>20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  <c:pt idx="5">
                  <c:v>500</c:v>
                </c:pt>
                <c:pt idx="6">
                  <c:v>1000</c:v>
                </c:pt>
                <c:pt idx="7">
                  <c:v>2000</c:v>
                </c:pt>
                <c:pt idx="8">
                  <c:v>5000</c:v>
                </c:pt>
                <c:pt idx="9">
                  <c:v>10000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</c:v>
                </c:pt>
                <c:pt idx="1">
                  <c:v>0.55000000000000004</c:v>
                </c:pt>
                <c:pt idx="2">
                  <c:v>0.54</c:v>
                </c:pt>
                <c:pt idx="3">
                  <c:v>0.56000000000000005</c:v>
                </c:pt>
                <c:pt idx="4">
                  <c:v>0.52500000000000002</c:v>
                </c:pt>
                <c:pt idx="5">
                  <c:v>0.52800000000000002</c:v>
                </c:pt>
                <c:pt idx="6">
                  <c:v>0.51600000000000001</c:v>
                </c:pt>
                <c:pt idx="7">
                  <c:v>0.505</c:v>
                </c:pt>
                <c:pt idx="8">
                  <c:v>0.501</c:v>
                </c:pt>
                <c:pt idx="9">
                  <c:v>0.49299999999999999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EE-48C8-A195-1E540B22CC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True P = 0.5</c:v>
                </c:pt>
              </c:strCache>
            </c:strRef>
          </c:tx>
          <c:spPr>
            <a:ln w="38100" cap="flat">
              <a:solidFill>
                <a:srgbClr val="2DD4B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10</c:v>
                </c:pt>
                <c:pt idx="1">
                  <c:v>20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  <c:pt idx="5">
                  <c:v>500</c:v>
                </c:pt>
                <c:pt idx="6">
                  <c:v>1000</c:v>
                </c:pt>
                <c:pt idx="7">
                  <c:v>2000</c:v>
                </c:pt>
                <c:pt idx="8">
                  <c:v>5000</c:v>
                </c:pt>
                <c:pt idx="9">
                  <c:v>10000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EE-48C8-A195-1E540B22C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lang="en-US" sz="1100" b="0" i="0" u="none" strike="noStrike">
                    <a:solidFill>
                      <a:srgbClr val="474651"/>
                    </a:solidFill>
                    <a:latin typeface="+mn-lt"/>
                  </a:rPr>
                  <a:t>Number of flips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46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5755A7"/>
                </a:solidFill>
                <a:latin typeface="+mn-lt"/>
              </a:rPr>
              <a:t>P(all heads) after n flips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P(all heads)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</c:v>
                </c:pt>
                <c:pt idx="1">
                  <c:v>0.25</c:v>
                </c:pt>
                <c:pt idx="2">
                  <c:v>0.125</c:v>
                </c:pt>
                <c:pt idx="3">
                  <c:v>6.25E-2</c:v>
                </c:pt>
                <c:pt idx="4">
                  <c:v>3.1199999999999999E-2</c:v>
                </c:pt>
                <c:pt idx="5">
                  <c:v>1.5599999999999999E-2</c:v>
                </c:pt>
                <c:pt idx="6">
                  <c:v>7.7999999999999996E-3</c:v>
                </c:pt>
                <c:pt idx="7">
                  <c:v>3.8999999999999998E-3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04-48DA-B907-FDF1A1E78E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lang="en-US" sz="1100" b="0" i="0" u="none" strike="noStrike">
                    <a:solidFill>
                      <a:srgbClr val="474651"/>
                    </a:solidFill>
                    <a:latin typeface="+mn-lt"/>
                  </a:rPr>
                  <a:t>Number of flips in a row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5755A7"/>
                </a:solidFill>
                <a:latin typeface="+mn-lt"/>
              </a:rPr>
              <a:t>P(disease | positive test) for a 95%-accurate test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P(disease | positive)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8C-4910-B410-B27979157431}"/>
              </c:ext>
            </c:extLst>
          </c:dPt>
          <c:dPt>
            <c:idx val="1"/>
            <c:invertIfNegative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8C-4910-B410-B2797915743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58C-4910-B410-B2797915743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58C-4910-B410-B2797915743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58C-4910-B410-B2797915743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58C-4910-B410-B2797915743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B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0.1%</c:v>
                </c:pt>
                <c:pt idx="1">
                  <c:v>1%</c:v>
                </c:pt>
                <c:pt idx="2">
                  <c:v>5%</c:v>
                </c:pt>
                <c:pt idx="3">
                  <c:v>10%</c:v>
                </c:pt>
                <c:pt idx="4">
                  <c:v>20%</c:v>
                </c:pt>
                <c:pt idx="5">
                  <c:v>50%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1.9</c:v>
                </c:pt>
                <c:pt idx="1">
                  <c:v>16.100000000000001</c:v>
                </c:pt>
                <c:pt idx="2">
                  <c:v>50</c:v>
                </c:pt>
                <c:pt idx="3">
                  <c:v>67.900000000000006</c:v>
                </c:pt>
                <c:pt idx="4">
                  <c:v>82.6</c:v>
                </c:pt>
                <c:pt idx="5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8C-4910-B410-B279791574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lang="en-US" sz="1100" b="0" i="0" u="none" strike="noStrike">
                    <a:solidFill>
                      <a:srgbClr val="474651"/>
                    </a:solidFill>
                    <a:latin typeface="+mn-lt"/>
                  </a:rPr>
                  <a:t>How common the disease is (the prior)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Uniform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0.16666666666666666</c:v>
                </c:pt>
                <c:pt idx="1">
                  <c:v>0.16666666666666666</c:v>
                </c:pt>
                <c:pt idx="2">
                  <c:v>0.16666666666666666</c:v>
                </c:pt>
                <c:pt idx="3">
                  <c:v>0.16666666666666666</c:v>
                </c:pt>
                <c:pt idx="4">
                  <c:v>0.16666666666666666</c:v>
                </c:pt>
                <c:pt idx="5">
                  <c:v>0.16666666666666666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08-46CD-9292-AF9FA5FFB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Binomial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1E-3</c:v>
                </c:pt>
                <c:pt idx="1">
                  <c:v>9.7999999999999997E-3</c:v>
                </c:pt>
                <c:pt idx="2">
                  <c:v>4.3900000000000002E-2</c:v>
                </c:pt>
                <c:pt idx="3">
                  <c:v>0.1172</c:v>
                </c:pt>
                <c:pt idx="4">
                  <c:v>0.2051</c:v>
                </c:pt>
                <c:pt idx="5">
                  <c:v>0.24610000000000001</c:v>
                </c:pt>
                <c:pt idx="6">
                  <c:v>0.2051</c:v>
                </c:pt>
                <c:pt idx="7">
                  <c:v>0.1172</c:v>
                </c:pt>
                <c:pt idx="8">
                  <c:v>4.3900000000000002E-2</c:v>
                </c:pt>
                <c:pt idx="9">
                  <c:v>9.7999999999999997E-3</c:v>
                </c:pt>
                <c:pt idx="10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43-47C6-BBDB-C462D8CB6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8C8AE0"/>
            </a:solidFill>
            <a:effectLst/>
          </c:spPr>
          <c:cat>
            <c:strRef>
              <c:f>Sheet1!$A$2:$A$16</c:f>
              <c:strCache>
                <c:ptCount val="15"/>
                <c:pt idx="0">
                  <c:v> </c:v>
                </c:pt>
                <c:pt idx="1">
                  <c:v>-3</c:v>
                </c:pt>
                <c:pt idx="2">
                  <c:v> </c:v>
                </c:pt>
                <c:pt idx="3">
                  <c:v>-2</c:v>
                </c:pt>
                <c:pt idx="4">
                  <c:v> </c:v>
                </c:pt>
                <c:pt idx="5">
                  <c:v>-1</c:v>
                </c:pt>
                <c:pt idx="6">
                  <c:v> </c:v>
                </c:pt>
                <c:pt idx="7">
                  <c:v>0</c:v>
                </c:pt>
                <c:pt idx="8">
                  <c:v> </c:v>
                </c:pt>
                <c:pt idx="9">
                  <c:v>1</c:v>
                </c:pt>
                <c:pt idx="10">
                  <c:v> </c:v>
                </c:pt>
                <c:pt idx="11">
                  <c:v>2</c:v>
                </c:pt>
                <c:pt idx="12">
                  <c:v> </c:v>
                </c:pt>
                <c:pt idx="13">
                  <c:v>3</c:v>
                </c:pt>
                <c:pt idx="14">
                  <c:v> 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8.9999999999999998E-4</c:v>
                </c:pt>
                <c:pt idx="1">
                  <c:v>4.4000000000000003E-3</c:v>
                </c:pt>
                <c:pt idx="2">
                  <c:v>1.7500000000000002E-2</c:v>
                </c:pt>
                <c:pt idx="3">
                  <c:v>5.3999999999999999E-2</c:v>
                </c:pt>
                <c:pt idx="4">
                  <c:v>0.1295</c:v>
                </c:pt>
                <c:pt idx="5">
                  <c:v>0.24199999999999999</c:v>
                </c:pt>
                <c:pt idx="6">
                  <c:v>0.35210000000000002</c:v>
                </c:pt>
                <c:pt idx="7">
                  <c:v>0.39889999999999998</c:v>
                </c:pt>
                <c:pt idx="8">
                  <c:v>0.35210000000000002</c:v>
                </c:pt>
                <c:pt idx="9">
                  <c:v>0.24199999999999999</c:v>
                </c:pt>
                <c:pt idx="10">
                  <c:v>0.1295</c:v>
                </c:pt>
                <c:pt idx="11">
                  <c:v>5.3999999999999999E-2</c:v>
                </c:pt>
                <c:pt idx="12">
                  <c:v>1.7500000000000002E-2</c:v>
                </c:pt>
                <c:pt idx="13">
                  <c:v>4.4000000000000003E-3</c:v>
                </c:pt>
                <c:pt idx="14">
                  <c:v>8.9999999999999998E-4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E7-4F0F-AEA1-3D44EFA1C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5755A7"/>
                </a:solidFill>
                <a:latin typeface="+mn-lt"/>
              </a:rPr>
              <a:t>P(X = k) for n = 10, p = 0.5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P(X = k)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5C-476A-AB77-80C69DBD97C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A5C-476A-AB77-80C69DBD97C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A5C-476A-AB77-80C69DBD97C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A5C-476A-AB77-80C69DBD97C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A5C-476A-AB77-80C69DBD97CC}"/>
              </c:ext>
            </c:extLst>
          </c:dPt>
          <c:dPt>
            <c:idx val="5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A5C-476A-AB77-80C69DBD97C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A5C-476A-AB77-80C69DBD97C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A5C-476A-AB77-80C69DBD97CC}"/>
              </c:ext>
            </c:extLst>
          </c:dPt>
          <c:dPt>
            <c:idx val="8"/>
            <c:invertIfNegative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A5C-476A-AB77-80C69DBD97CC}"/>
              </c:ext>
            </c:extLst>
          </c:dPt>
          <c:dPt>
            <c:idx val="9"/>
            <c:invertIfNegative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A5C-476A-AB77-80C69DBD97CC}"/>
              </c:ext>
            </c:extLst>
          </c:dPt>
          <c:dPt>
            <c:idx val="10"/>
            <c:invertIfNegative val="0"/>
            <c:bubble3D val="0"/>
            <c:spPr>
              <a:solidFill>
                <a:srgbClr val="F4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0A5C-476A-AB77-80C69DBD97CC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B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1E-3</c:v>
                </c:pt>
                <c:pt idx="1">
                  <c:v>9.7999999999999997E-3</c:v>
                </c:pt>
                <c:pt idx="2">
                  <c:v>4.3900000000000002E-2</c:v>
                </c:pt>
                <c:pt idx="3">
                  <c:v>0.1172</c:v>
                </c:pt>
                <c:pt idx="4">
                  <c:v>0.2051</c:v>
                </c:pt>
                <c:pt idx="5">
                  <c:v>0.24610000000000001</c:v>
                </c:pt>
                <c:pt idx="6">
                  <c:v>0.2051</c:v>
                </c:pt>
                <c:pt idx="7">
                  <c:v>0.1172</c:v>
                </c:pt>
                <c:pt idx="8">
                  <c:v>4.3900000000000002E-2</c:v>
                </c:pt>
                <c:pt idx="9">
                  <c:v>9.7999999999999997E-3</c:v>
                </c:pt>
                <c:pt idx="10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0A5C-476A-AB77-80C69DBD97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lang="en-US" sz="1100" b="0" i="0" u="none" strike="noStrike">
                    <a:solidFill>
                      <a:srgbClr val="474651"/>
                    </a:solidFill>
                    <a:latin typeface="+mn-lt"/>
                  </a:rPr>
                  <a:t>Number of heads (k)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l"/>
        <c:majorGridlines>
          <c:spPr>
            <a:ln w="9525" cap="flat">
              <a:solidFill>
                <a:srgbClr val="E5E3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755A7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5755A7"/>
                </a:solidFill>
                <a:latin typeface="+mn-lt"/>
              </a:rPr>
              <a:t>Standard normal curve (z-scores)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±1σ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cat>
            <c:strRef>
              <c:f>Sheet1!$A$2:$A$34</c:f>
              <c:strCache>
                <c:ptCount val="33"/>
                <c:pt idx="0">
                  <c:v>-4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-3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-2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-1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0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1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2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3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4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0.30109999999999998</c:v>
                </c:pt>
                <c:pt idx="14">
                  <c:v>0.35210000000000002</c:v>
                </c:pt>
                <c:pt idx="15">
                  <c:v>0.38669999999999999</c:v>
                </c:pt>
                <c:pt idx="16">
                  <c:v>0.39889999999999998</c:v>
                </c:pt>
                <c:pt idx="17">
                  <c:v>0.38669999999999999</c:v>
                </c:pt>
                <c:pt idx="18">
                  <c:v>0.35210000000000002</c:v>
                </c:pt>
                <c:pt idx="19">
                  <c:v>0.30109999999999998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34-4E5E-8A46-756D212F9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±1σ to ±2σ</c:v>
                </c:pt>
              </c:strCache>
            </c:strRef>
          </c:tx>
          <c:spPr>
            <a:solidFill>
              <a:srgbClr val="B9B8EE"/>
            </a:solidFill>
            <a:effectLst/>
          </c:spPr>
          <c:invertIfNegative val="0"/>
          <c:cat>
            <c:strRef>
              <c:f>Sheet1!$A$2:$A$34</c:f>
              <c:strCache>
                <c:ptCount val="33"/>
                <c:pt idx="0">
                  <c:v>-4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-3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-2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-1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0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1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2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3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4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8.6300000000000002E-2</c:v>
                </c:pt>
                <c:pt idx="10">
                  <c:v>0.1295</c:v>
                </c:pt>
                <c:pt idx="11">
                  <c:v>0.18260000000000001</c:v>
                </c:pt>
                <c:pt idx="12">
                  <c:v>0.24199999999999999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0.24199999999999999</c:v>
                </c:pt>
                <c:pt idx="21">
                  <c:v>0.18260000000000001</c:v>
                </c:pt>
                <c:pt idx="22">
                  <c:v>0.1295</c:v>
                </c:pt>
                <c:pt idx="23">
                  <c:v>8.6300000000000002E-2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34-4E5E-8A46-756D212F9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±2σ to ±3σ</c:v>
                </c:pt>
              </c:strCache>
            </c:strRef>
          </c:tx>
          <c:spPr>
            <a:solidFill>
              <a:srgbClr val="D9D7F7"/>
            </a:solidFill>
            <a:effectLst/>
          </c:spPr>
          <c:invertIfNegative val="0"/>
          <c:cat>
            <c:strRef>
              <c:f>Sheet1!$A$2:$A$34</c:f>
              <c:strCache>
                <c:ptCount val="33"/>
                <c:pt idx="0">
                  <c:v>-4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-3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-2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-1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0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1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2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3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4</c:v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9.1000000000000004E-3</c:v>
                </c:pt>
                <c:pt idx="6">
                  <c:v>1.7500000000000002E-2</c:v>
                </c:pt>
                <c:pt idx="7">
                  <c:v>3.1699999999999999E-2</c:v>
                </c:pt>
                <c:pt idx="8">
                  <c:v>5.3999999999999999E-2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5.3999999999999999E-2</c:v>
                </c:pt>
                <c:pt idx="25">
                  <c:v>3.1699999999999999E-2</c:v>
                </c:pt>
                <c:pt idx="26">
                  <c:v>1.7500000000000002E-2</c:v>
                </c:pt>
                <c:pt idx="27">
                  <c:v>9.1000000000000004E-3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34-4E5E-8A46-756D212F929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Beyond ±3σ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Sheet1!$A$2:$A$34</c:f>
              <c:strCache>
                <c:ptCount val="33"/>
                <c:pt idx="0">
                  <c:v>-4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-3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-2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-1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0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1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2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3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4</c:v>
                </c:pt>
              </c:strCache>
            </c: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1E-4</c:v>
                </c:pt>
                <c:pt idx="1">
                  <c:v>4.0000000000000002E-4</c:v>
                </c:pt>
                <c:pt idx="2">
                  <c:v>8.9999999999999998E-4</c:v>
                </c:pt>
                <c:pt idx="3">
                  <c:v>2E-3</c:v>
                </c:pt>
                <c:pt idx="4">
                  <c:v>4.4000000000000003E-3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4.4000000000000003E-3</c:v>
                </c:pt>
                <c:pt idx="29">
                  <c:v>2E-3</c:v>
                </c:pt>
                <c:pt idx="30">
                  <c:v>8.9999999999999998E-4</c:v>
                </c:pt>
                <c:pt idx="31">
                  <c:v>4.0000000000000002E-4</c:v>
                </c:pt>
                <c:pt idx="32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34-4E5E-8A46-756D212F9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4651"/>
                    </a:solidFill>
                    <a:latin typeface="+mn-lt"/>
                  </a:defRPr>
                </a:pPr>
                <a:r>
                  <a:rPr lang="en-US" sz="1100" b="0" i="0" u="none" strike="noStrike">
                    <a:solidFill>
                      <a:srgbClr val="474651"/>
                    </a:solidFill>
                    <a:latin typeface="+mn-lt"/>
                  </a:rPr>
                  <a:t>z-score (standard deviations from the mean)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465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 population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32.79</c:v>
                </c:pt>
                <c:pt idx="1">
                  <c:v>22.17</c:v>
                </c:pt>
                <c:pt idx="2">
                  <c:v>14.88</c:v>
                </c:pt>
                <c:pt idx="3">
                  <c:v>9.85</c:v>
                </c:pt>
                <c:pt idx="4">
                  <c:v>6.72</c:v>
                </c:pt>
                <c:pt idx="5">
                  <c:v>4.42</c:v>
                </c:pt>
                <c:pt idx="6">
                  <c:v>3.02</c:v>
                </c:pt>
                <c:pt idx="7">
                  <c:v>2</c:v>
                </c:pt>
                <c:pt idx="8">
                  <c:v>1.39</c:v>
                </c:pt>
                <c:pt idx="9">
                  <c:v>0.87</c:v>
                </c:pt>
                <c:pt idx="10">
                  <c:v>0.67</c:v>
                </c:pt>
                <c:pt idx="11">
                  <c:v>0.39</c:v>
                </c:pt>
                <c:pt idx="12">
                  <c:v>0.26</c:v>
                </c:pt>
                <c:pt idx="13">
                  <c:v>0.19</c:v>
                </c:pt>
                <c:pt idx="1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E2-458A-818A-C8F67AD16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means, n = 5</c:v>
                </c:pt>
              </c:strCache>
            </c:strRef>
          </c:tx>
          <c:spPr>
            <a:solidFill>
              <a:srgbClr val="8C8AE0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0.27</c:v>
                </c:pt>
                <c:pt idx="1">
                  <c:v>5.03</c:v>
                </c:pt>
                <c:pt idx="2">
                  <c:v>13.43</c:v>
                </c:pt>
                <c:pt idx="3">
                  <c:v>18.47</c:v>
                </c:pt>
                <c:pt idx="4">
                  <c:v>18.8</c:v>
                </c:pt>
                <c:pt idx="5">
                  <c:v>16.73</c:v>
                </c:pt>
                <c:pt idx="6">
                  <c:v>10.199999999999999</c:v>
                </c:pt>
                <c:pt idx="7">
                  <c:v>6.73</c:v>
                </c:pt>
                <c:pt idx="8">
                  <c:v>4.2699999999999996</c:v>
                </c:pt>
                <c:pt idx="9">
                  <c:v>2.93</c:v>
                </c:pt>
                <c:pt idx="10">
                  <c:v>1.47</c:v>
                </c:pt>
                <c:pt idx="11">
                  <c:v>0.83</c:v>
                </c:pt>
                <c:pt idx="12">
                  <c:v>0.53</c:v>
                </c:pt>
                <c:pt idx="13">
                  <c:v>0.1</c:v>
                </c:pt>
                <c:pt idx="1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DF-4EC6-AAE2-C0AF854D6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means, n = 30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0.33</c:v>
                </c:pt>
                <c:pt idx="2">
                  <c:v>3.23</c:v>
                </c:pt>
                <c:pt idx="3">
                  <c:v>10.029999999999999</c:v>
                </c:pt>
                <c:pt idx="4">
                  <c:v>16.57</c:v>
                </c:pt>
                <c:pt idx="5">
                  <c:v>20.47</c:v>
                </c:pt>
                <c:pt idx="6">
                  <c:v>19.77</c:v>
                </c:pt>
                <c:pt idx="7">
                  <c:v>14.9</c:v>
                </c:pt>
                <c:pt idx="8">
                  <c:v>8.1300000000000008</c:v>
                </c:pt>
                <c:pt idx="9">
                  <c:v>4</c:v>
                </c:pt>
                <c:pt idx="10">
                  <c:v>1.87</c:v>
                </c:pt>
                <c:pt idx="11">
                  <c:v>0.47</c:v>
                </c:pt>
                <c:pt idx="12">
                  <c:v>0.13</c:v>
                </c:pt>
                <c:pt idx="13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EC-44F5-A570-0F6DEE6CDD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46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5D5E4-D93F-4E3F-B787-84F0DA43184E}" type="datetimeFigureOut"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3EBA9-1A4D-495B-91C8-AAE0C4293C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85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20. Probability is the bridge between descriptive statistics (Sessions 18–19) and inferential statistics (Sessions 21–22).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concept today follows the same rhythm: explanation, then a picture, then a few lines of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for a time they said 'probably' — then show that probability makes that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along the teal diagonal: 1+6, 2+5, 3+4, 4+3, 5+2, 6+1.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as standard error: more data, less wobble.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overlap: both circles include it, so a plain sum counts it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Deciding whether events are independent is often the hardest judgement call in a real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Conditioning means: throw away every outcome where B is false, then count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for Bayes: a test gives P(positive | disease), but a patient needs P(disease | positive).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hypothesis (has the disease). B = evidence (tested positive).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Disease prevalence 1%, test sensitivity 95%, specificity 95%. Read left to right: split by disease, then by test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shape fits depends entirely on what you are measuring.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19's empirical rule, now stated as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theorem is why Sessions 21 and 22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simulation: exponential population (mean 10), 3,000 samples at each size. Histograms show the share of means in each bin.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Plain-language intro to the PDF. Reference: Essential Math for Data Science (Thomas Nield, O’Reilly), Chapter 3, “The Probability Density Function (PDF)”. Stress: height is NOT probability; area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3-7 from Essential Math for Data Science (Nield, O’Reilly). Example: golden retriever weights, mean 64.43, SD 2.99. Explain: we can’t ask for P(exactly 64), only 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3-8 from Essential Math for Data Science (Nield, O’Reilly). Analogy: the CDF is a running total of the PDF’s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3-9 from Essential Math for Data Science (Nield, O’Reilly). Symmetry argument: 50% below the mean, 50%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 adapted from Essential Math for Data Science (Nield, O’Reilly), Chapter 3, Examples 3-9 to 3-11. norm.pdf is the curve height; norm.cdf is the area up to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3-10 and Example 3-11 from Essential Math for Data Science (Nield, O’Reilly), Chapter 3. Big area minus small area leaves the middle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3-11 from Essential Math for Data Science (Nield, O’Reilly). In SciPy the inverse CDF is norm.ppf (percent point function).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 adapted from Essential Math for Data Science (Nield, O’Reilly), Chapter 3, Examples 3-12 and 3-13. ppf = inverse CDF. Feeding random numbers between 0 and 1 into ppf simulates data that follows the Normal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"/>
            <a:ext cx="2651760" cy="862279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58368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1F5F9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13232" y="3703320"/>
            <a:ext cx="9601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94A3B8"/>
                </a:solidFill>
              </a:defRPr>
            </a:lvl1pPr>
          </a:lstStyle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5" name="Shape 0"/>
          <p:cNvSpPr/>
          <p:nvPr/>
        </p:nvSpPr>
        <p:spPr>
          <a:xfrm>
            <a:off x="713232" y="4572000"/>
            <a:ext cx="29260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713232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CodeByPaxto: The AI &amp; ML Playground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713232" y="5001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Hafiz Waseem Ahmed (Paxto)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1F5F9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94A3B8"/>
                </a:solidFill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78308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1F5F9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2926080"/>
            <a:ext cx="100584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E0E7FF"/>
                </a:solidFill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40080" y="52120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dirty="0">
                <a:solidFill>
                  <a:srgbClr val="2DD4BF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04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46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  ·  AI &amp; ML Playground  ·  Hafiz Waseem Ahmed (Paxto)</a:t>
            </a: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1B1B20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ASKS">
    <p:bg>
      <p:bgPr>
        <a:solidFill>
          <a:srgbClr val="F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38404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465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CodeByPaxto  ·  AI &amp; ML Playground  ·  Hafiz Waseem Ahmed (Paxto)</a:t>
            </a: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b="1" dirty="0">
                <a:solidFill>
                  <a:srgbClr val="1B1B20"/>
                </a:solidFill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i="1" dirty="0">
                <a:solidFill>
                  <a:srgbClr val="474651"/>
                </a:solidFill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chart" Target="../charts/char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chart" Target="../charts/char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chart" Target="../charts/chart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ssion pill"/>
          <p:cNvSpPr/>
          <p:nvPr/>
        </p:nvSpPr>
        <p:spPr>
          <a:xfrm>
            <a:off x="713232" y="2331720"/>
            <a:ext cx="393192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Session label"/>
          <p:cNvSpPr txBox="1"/>
          <p:nvPr/>
        </p:nvSpPr>
        <p:spPr>
          <a:xfrm>
            <a:off x="713232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7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20  ·  AI &amp; ML PLAYGROUND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658368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</a:rPr>
              <a:t>Probability</a:t>
            </a:r>
            <a:endParaRPr 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2" hasCustomPrompt="1"/>
          </p:nvPr>
        </p:nvSpPr>
        <p:spPr>
          <a:xfrm>
            <a:off x="713232" y="3703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94A3B8"/>
                </a:solidFill>
              </a:rPr>
              <a:t>Rules, Conditional Probability, Bayes’ Theorem &amp; the Central Limit Theorem — with Python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We’re Covering Today</a:t>
            </a:r>
            <a:endParaRPr lang="en-US" sz="2600" dirty="0"/>
          </a:p>
        </p:txBody>
      </p:sp>
      <p:sp>
        <p:nvSpPr>
          <p:cNvPr id="3" name="Row 1"/>
          <p:cNvSpPr/>
          <p:nvPr/>
        </p:nvSpPr>
        <p:spPr>
          <a:xfrm>
            <a:off x="548640" y="1371600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  <p:txBody>
          <a:bodyPr/>
          <a:p/>
        </p:txBody>
      </p:sp>
      <p:sp>
        <p:nvSpPr>
          <p:cNvPr id="4" name="Row chip 1"/>
          <p:cNvSpPr/>
          <p:nvPr/>
        </p:nvSpPr>
        <p:spPr>
          <a:xfrm>
            <a:off x="731520" y="1517904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5" name="Row number 1"/>
          <p:cNvSpPr txBox="1"/>
          <p:nvPr/>
        </p:nvSpPr>
        <p:spPr>
          <a:xfrm>
            <a:off x="731520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Row text 1"/>
          <p:cNvSpPr txBox="1"/>
          <p:nvPr/>
        </p:nvSpPr>
        <p:spPr>
          <a:xfrm>
            <a:off x="1234440" y="137160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probability is — sample space, events and the basic rules</a:t>
            </a:r>
            <a:endParaRPr lang="en-US" sz="1400" dirty="0"/>
          </a:p>
        </p:txBody>
      </p:sp>
      <p:sp>
        <p:nvSpPr>
          <p:cNvPr id="7" name="Row 2"/>
          <p:cNvSpPr/>
          <p:nvPr/>
        </p:nvSpPr>
        <p:spPr>
          <a:xfrm>
            <a:off x="548640" y="2084832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  <p:txBody>
          <a:bodyPr/>
          <a:p/>
        </p:txBody>
      </p:sp>
      <p:sp>
        <p:nvSpPr>
          <p:cNvPr id="8" name="Row chip 2"/>
          <p:cNvSpPr/>
          <p:nvPr/>
        </p:nvSpPr>
        <p:spPr>
          <a:xfrm>
            <a:off x="731520" y="223113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Row number 2"/>
          <p:cNvSpPr txBox="1"/>
          <p:nvPr/>
        </p:nvSpPr>
        <p:spPr>
          <a:xfrm>
            <a:off x="73152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Row text 2"/>
          <p:cNvSpPr txBox="1"/>
          <p:nvPr/>
        </p:nvSpPr>
        <p:spPr>
          <a:xfrm>
            <a:off x="1234440" y="2084832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Combining probabilities — “or”, “and” and independence</a:t>
            </a:r>
            <a:endParaRPr lang="en-US" sz="1400" dirty="0"/>
          </a:p>
        </p:txBody>
      </p:sp>
      <p:sp>
        <p:nvSpPr>
          <p:cNvPr id="11" name="Row 3"/>
          <p:cNvSpPr/>
          <p:nvPr/>
        </p:nvSpPr>
        <p:spPr>
          <a:xfrm>
            <a:off x="548640" y="2798064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  <p:txBody>
          <a:bodyPr/>
          <a:p/>
        </p:txBody>
      </p:sp>
      <p:sp>
        <p:nvSpPr>
          <p:cNvPr id="12" name="Row chip 3"/>
          <p:cNvSpPr/>
          <p:nvPr/>
        </p:nvSpPr>
        <p:spPr>
          <a:xfrm>
            <a:off x="731520" y="294436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3" name="Row number 3"/>
          <p:cNvSpPr txBox="1"/>
          <p:nvPr/>
        </p:nvSpPr>
        <p:spPr>
          <a:xfrm>
            <a:off x="73152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Row text 3"/>
          <p:cNvSpPr txBox="1"/>
          <p:nvPr/>
        </p:nvSpPr>
        <p:spPr>
          <a:xfrm>
            <a:off x="1234440" y="2798064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Conditional probability — how new information changes the odds</a:t>
            </a:r>
            <a:endParaRPr lang="en-US" sz="1400" dirty="0"/>
          </a:p>
        </p:txBody>
      </p:sp>
      <p:sp>
        <p:nvSpPr>
          <p:cNvPr id="15" name="Row 4"/>
          <p:cNvSpPr/>
          <p:nvPr/>
        </p:nvSpPr>
        <p:spPr>
          <a:xfrm>
            <a:off x="548640" y="3511296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  <p:txBody>
          <a:bodyPr/>
          <a:p/>
        </p:txBody>
      </p:sp>
      <p:sp>
        <p:nvSpPr>
          <p:cNvPr id="16" name="Row chip 4"/>
          <p:cNvSpPr/>
          <p:nvPr/>
        </p:nvSpPr>
        <p:spPr>
          <a:xfrm>
            <a:off x="731520" y="365760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7" name="Row number 4"/>
          <p:cNvSpPr txBox="1"/>
          <p:nvPr/>
        </p:nvSpPr>
        <p:spPr>
          <a:xfrm>
            <a:off x="73152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Row text 4"/>
          <p:cNvSpPr txBox="1"/>
          <p:nvPr/>
        </p:nvSpPr>
        <p:spPr>
          <a:xfrm>
            <a:off x="1234440" y="3511296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Bayes’ Theorem — updating belief, and the medical-test paradox</a:t>
            </a:r>
            <a:endParaRPr lang="en-US" sz="1400" dirty="0"/>
          </a:p>
        </p:txBody>
      </p:sp>
      <p:sp>
        <p:nvSpPr>
          <p:cNvPr id="19" name="Row 5"/>
          <p:cNvSpPr/>
          <p:nvPr/>
        </p:nvSpPr>
        <p:spPr>
          <a:xfrm>
            <a:off x="548640" y="4224528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  <p:txBody>
          <a:bodyPr/>
          <a:p/>
        </p:txBody>
      </p:sp>
      <p:sp>
        <p:nvSpPr>
          <p:cNvPr id="20" name="Row chip 5"/>
          <p:cNvSpPr/>
          <p:nvPr/>
        </p:nvSpPr>
        <p:spPr>
          <a:xfrm>
            <a:off x="731520" y="4370832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1" name="Row number 5"/>
          <p:cNvSpPr txBox="1"/>
          <p:nvPr/>
        </p:nvSpPr>
        <p:spPr>
          <a:xfrm>
            <a:off x="73152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Row text 5"/>
          <p:cNvSpPr txBox="1"/>
          <p:nvPr/>
        </p:nvSpPr>
        <p:spPr>
          <a:xfrm>
            <a:off x="1234440" y="4224528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Distributions — Uniform, Binomial, Normal, plus PDF, CDF and Inverse CDF</a:t>
            </a:r>
            <a:endParaRPr lang="en-US" sz="1400" dirty="0"/>
          </a:p>
        </p:txBody>
      </p:sp>
      <p:sp>
        <p:nvSpPr>
          <p:cNvPr id="23" name="Row 6"/>
          <p:cNvSpPr/>
          <p:nvPr/>
        </p:nvSpPr>
        <p:spPr>
          <a:xfrm>
            <a:off x="548640" y="4937760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  <p:txBody>
          <a:bodyPr/>
          <a:p/>
        </p:txBody>
      </p:sp>
      <p:sp>
        <p:nvSpPr>
          <p:cNvPr id="24" name="Row chip 6"/>
          <p:cNvSpPr/>
          <p:nvPr/>
        </p:nvSpPr>
        <p:spPr>
          <a:xfrm>
            <a:off x="731520" y="5084064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5" name="Row number 6"/>
          <p:cNvSpPr txBox="1"/>
          <p:nvPr/>
        </p:nvSpPr>
        <p:spPr>
          <a:xfrm>
            <a:off x="73152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Row text 6"/>
          <p:cNvSpPr txBox="1"/>
          <p:nvPr/>
        </p:nvSpPr>
        <p:spPr>
          <a:xfrm>
            <a:off x="1234440" y="4937760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Central Limit Theorem — why inferential tests are allowed to work</a:t>
            </a:r>
            <a:endParaRPr lang="en-US" sz="1400" dirty="0"/>
          </a:p>
        </p:txBody>
      </p:sp>
      <p:sp>
        <p:nvSpPr>
          <p:cNvPr id="27" name="Row 7"/>
          <p:cNvSpPr/>
          <p:nvPr/>
        </p:nvSpPr>
        <p:spPr>
          <a:xfrm>
            <a:off x="548640" y="5650992"/>
            <a:ext cx="11109960" cy="603504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  <p:txBody>
          <a:bodyPr/>
          <a:p/>
        </p:txBody>
      </p:sp>
      <p:sp>
        <p:nvSpPr>
          <p:cNvPr id="28" name="Row chip 7"/>
          <p:cNvSpPr/>
          <p:nvPr/>
        </p:nvSpPr>
        <p:spPr>
          <a:xfrm>
            <a:off x="731520" y="579729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9" name="Row number 7"/>
          <p:cNvSpPr txBox="1"/>
          <p:nvPr/>
        </p:nvSpPr>
        <p:spPr>
          <a:xfrm>
            <a:off x="731520" y="5797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Row text 7"/>
          <p:cNvSpPr txBox="1"/>
          <p:nvPr/>
        </p:nvSpPr>
        <p:spPr>
          <a:xfrm>
            <a:off x="1234440" y="5650992"/>
            <a:ext cx="10195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Tasks and a mini project: Bayes’ Theorem in a real decision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Python Setup for This Session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Three tools cover everything today: numpy, scipy and itertools (built in).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numpy simulates random events; scipy.stats gives exact probabilities.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snippet is small — copy, run, then change the numbers.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One-time install (in your terminal):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pip install numpy scipy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import numpy as np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from scipy import stats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import itertools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rng = np.random.default_rng(42)</a:t>
            </a: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# fixed seed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print(rng.integers(1, 7))</a:t>
            </a: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   # a die roll: 1 to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</a:rPr>
              <a:t>Foundations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</a:rPr>
              <a:t>The vocabulary and the basic rules everything else builds 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Probability, Really?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number for uncertainty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probability is a number from 0 to 1: 0 means impossible, 1 means certain.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replaces vague words like “probably” with something you can calculate.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p-values, confidence levels and significance (Sessions 21–22) are all probability statements.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 already reason this way informally — today adds precise rules.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&amp; Events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possible outcome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sample space is the set of every possible outcome: 6 die faces, 2 coin sides, 40 students.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 event is any subset you care about: “an even number”, “a student who knows ML”, “at least one head”.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With equally likely outcomes, a probability is just counting: favorable ÷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other rule today builds on this idea.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Events as Sets: ∪, ∩ and Complement</a:t>
            </a:r>
            <a:endParaRPr lang="en-US" sz="2600" dirty="0"/>
          </a:p>
        </p:txBody>
      </p:sp>
      <p:sp>
        <p:nvSpPr>
          <p:cNvPr id="101" name="Shape 101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02" name="Text 102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 event is a </a:t>
            </a:r>
            <a:r>
              <a:rPr lang="en-US" sz="1800" b="1" dirty="0">
                <a:solidFill>
                  <a:schemeClr val="tx1"/>
                </a:solidFill>
              </a:rPr>
              <a:t>set</a:t>
            </a:r>
            <a:r>
              <a:rPr lang="en-US" sz="1800" dirty="0">
                <a:solidFill>
                  <a:schemeClr val="tx1"/>
                </a:solidFill>
              </a:rPr>
              <a:t> of outcomes, so events can be combined with set operations.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 ∪ B</a:t>
            </a:r>
            <a:r>
              <a:rPr lang="en-US" sz="1800" dirty="0">
                <a:solidFill>
                  <a:schemeClr val="tx1"/>
                </a:solidFill>
              </a:rPr>
              <a:t> (union): A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B happens — at least one of them.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 ∩ B</a:t>
            </a:r>
            <a:r>
              <a:rPr lang="en-US" sz="1800" dirty="0">
                <a:solidFill>
                  <a:schemeClr val="tx1"/>
                </a:solidFill>
              </a:rPr>
              <a:t> (intersection): A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B both happen.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Aᶜ</a:t>
            </a:r>
            <a:r>
              <a:rPr lang="en-US" sz="1800" dirty="0">
                <a:solidFill>
                  <a:schemeClr val="tx1"/>
                </a:solidFill>
              </a:rPr>
              <a:t> (complement): A does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happen.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rule that follows is these symbols written inside P( ).</a:t>
            </a:r>
          </a:p>
        </p:txBody>
      </p:sp>
      <p:sp>
        <p:nvSpPr>
          <p:cNvPr id="103" name="Shape 103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04" name="Text 104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A ∪ B  =  A or B</a:t>
            </a:r>
          </a:p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A ∩ B  =  A and B</a:t>
            </a:r>
          </a:p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Aᶜ  =  not A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Read: union · intersection · complement</a:t>
            </a:r>
          </a:p>
        </p:txBody>
      </p:sp>
      <p:sp>
        <p:nvSpPr>
          <p:cNvPr id="106" name="Shape 106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07" name="Text 107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Class example: 40 students, A = knows FastAPI (28), B = knows ML (20). A ∪ B = all 40 students. A ∩ B = the 8 who know both.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Picture: Two Dice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of 36 outcomes sum to 7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cell is one outcome; the number inside is the sum.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teal diagonal is the event “sum = 7”.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P(sum = 7) = 6/36 = 1/6 ≈ 0.167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No other sum can be made in as many ways.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5A7"/>
                </a:solidFill>
              </a:rPr>
              <a:t>Two dice: all 36 outcomes</a:t>
            </a:r>
            <a:endParaRPr lang="en-US" sz="1400" dirty="0"/>
          </a:p>
        </p:txBody>
      </p:sp>
      <p:sp>
        <p:nvSpPr>
          <p:cNvPr id="9" name="Die 1 label 1"/>
          <p:cNvSpPr txBox="1"/>
          <p:nvPr/>
        </p:nvSpPr>
        <p:spPr>
          <a:xfrm>
            <a:off x="2468880" y="248716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Die 2 label 1"/>
          <p:cNvSpPr txBox="1"/>
          <p:nvPr/>
        </p:nvSpPr>
        <p:spPr>
          <a:xfrm>
            <a:off x="2880360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Dice cell 1-1"/>
          <p:cNvSpPr/>
          <p:nvPr/>
        </p:nvSpPr>
        <p:spPr>
          <a:xfrm>
            <a:off x="2907792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Dice cell 1-2"/>
          <p:cNvSpPr/>
          <p:nvPr/>
        </p:nvSpPr>
        <p:spPr>
          <a:xfrm>
            <a:off x="3438144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Dice cell 1-3"/>
          <p:cNvSpPr/>
          <p:nvPr/>
        </p:nvSpPr>
        <p:spPr>
          <a:xfrm>
            <a:off x="3968496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Dice cell 1-4"/>
          <p:cNvSpPr/>
          <p:nvPr/>
        </p:nvSpPr>
        <p:spPr>
          <a:xfrm>
            <a:off x="4498848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15" name="Dice cell 1-5"/>
          <p:cNvSpPr/>
          <p:nvPr/>
        </p:nvSpPr>
        <p:spPr>
          <a:xfrm>
            <a:off x="5029200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16" name="Dice cell 1-6"/>
          <p:cNvSpPr/>
          <p:nvPr/>
        </p:nvSpPr>
        <p:spPr>
          <a:xfrm>
            <a:off x="5559552" y="2514600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17" name="Die 1 label 2"/>
          <p:cNvSpPr txBox="1"/>
          <p:nvPr/>
        </p:nvSpPr>
        <p:spPr>
          <a:xfrm>
            <a:off x="2468880" y="30175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Die 2 label 2"/>
          <p:cNvSpPr txBox="1"/>
          <p:nvPr/>
        </p:nvSpPr>
        <p:spPr>
          <a:xfrm>
            <a:off x="3410712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Dice cell 2-1"/>
          <p:cNvSpPr/>
          <p:nvPr/>
        </p:nvSpPr>
        <p:spPr>
          <a:xfrm>
            <a:off x="2907792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Dice cell 2-2"/>
          <p:cNvSpPr/>
          <p:nvPr/>
        </p:nvSpPr>
        <p:spPr>
          <a:xfrm>
            <a:off x="3438144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Dice cell 2-3"/>
          <p:cNvSpPr/>
          <p:nvPr/>
        </p:nvSpPr>
        <p:spPr>
          <a:xfrm>
            <a:off x="3968496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Dice cell 2-4"/>
          <p:cNvSpPr/>
          <p:nvPr/>
        </p:nvSpPr>
        <p:spPr>
          <a:xfrm>
            <a:off x="4498848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Dice cell 2-5"/>
          <p:cNvSpPr/>
          <p:nvPr/>
        </p:nvSpPr>
        <p:spPr>
          <a:xfrm>
            <a:off x="5029200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Dice cell 2-6"/>
          <p:cNvSpPr/>
          <p:nvPr/>
        </p:nvSpPr>
        <p:spPr>
          <a:xfrm>
            <a:off x="5559552" y="304495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25" name="Die 1 label 3"/>
          <p:cNvSpPr txBox="1"/>
          <p:nvPr/>
        </p:nvSpPr>
        <p:spPr>
          <a:xfrm>
            <a:off x="2468880" y="3547872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Die 2 label 3"/>
          <p:cNvSpPr txBox="1"/>
          <p:nvPr/>
        </p:nvSpPr>
        <p:spPr>
          <a:xfrm>
            <a:off x="3941064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Dice cell 3-1"/>
          <p:cNvSpPr/>
          <p:nvPr/>
        </p:nvSpPr>
        <p:spPr>
          <a:xfrm>
            <a:off x="2907792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Dice cell 3-2"/>
          <p:cNvSpPr/>
          <p:nvPr/>
        </p:nvSpPr>
        <p:spPr>
          <a:xfrm>
            <a:off x="3438144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Dice cell 3-3"/>
          <p:cNvSpPr/>
          <p:nvPr/>
        </p:nvSpPr>
        <p:spPr>
          <a:xfrm>
            <a:off x="3968496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Dice cell 3-4"/>
          <p:cNvSpPr/>
          <p:nvPr/>
        </p:nvSpPr>
        <p:spPr>
          <a:xfrm>
            <a:off x="4498848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Dice cell 3-5"/>
          <p:cNvSpPr/>
          <p:nvPr/>
        </p:nvSpPr>
        <p:spPr>
          <a:xfrm>
            <a:off x="5029200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32" name="Dice cell 3-6"/>
          <p:cNvSpPr/>
          <p:nvPr/>
        </p:nvSpPr>
        <p:spPr>
          <a:xfrm>
            <a:off x="5559552" y="35753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33" name="Die 1 label 4"/>
          <p:cNvSpPr txBox="1"/>
          <p:nvPr/>
        </p:nvSpPr>
        <p:spPr>
          <a:xfrm>
            <a:off x="2468880" y="4078224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Die 2 label 4"/>
          <p:cNvSpPr txBox="1"/>
          <p:nvPr/>
        </p:nvSpPr>
        <p:spPr>
          <a:xfrm>
            <a:off x="4471416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Dice cell 4-1"/>
          <p:cNvSpPr/>
          <p:nvPr/>
        </p:nvSpPr>
        <p:spPr>
          <a:xfrm>
            <a:off x="2907792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Dice cell 4-2"/>
          <p:cNvSpPr/>
          <p:nvPr/>
        </p:nvSpPr>
        <p:spPr>
          <a:xfrm>
            <a:off x="3438144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Dice cell 4-3"/>
          <p:cNvSpPr/>
          <p:nvPr/>
        </p:nvSpPr>
        <p:spPr>
          <a:xfrm>
            <a:off x="3968496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Dice cell 4-4"/>
          <p:cNvSpPr/>
          <p:nvPr/>
        </p:nvSpPr>
        <p:spPr>
          <a:xfrm>
            <a:off x="4498848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39" name="Dice cell 4-5"/>
          <p:cNvSpPr/>
          <p:nvPr/>
        </p:nvSpPr>
        <p:spPr>
          <a:xfrm>
            <a:off x="5029200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40" name="Dice cell 4-6"/>
          <p:cNvSpPr/>
          <p:nvPr/>
        </p:nvSpPr>
        <p:spPr>
          <a:xfrm>
            <a:off x="5559552" y="410565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41" name="Die 1 label 5"/>
          <p:cNvSpPr txBox="1"/>
          <p:nvPr/>
        </p:nvSpPr>
        <p:spPr>
          <a:xfrm>
            <a:off x="2468880" y="4608576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Die 2 label 5"/>
          <p:cNvSpPr txBox="1"/>
          <p:nvPr/>
        </p:nvSpPr>
        <p:spPr>
          <a:xfrm>
            <a:off x="5001768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Dice cell 5-1"/>
          <p:cNvSpPr/>
          <p:nvPr/>
        </p:nvSpPr>
        <p:spPr>
          <a:xfrm>
            <a:off x="2907792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Dice cell 5-2"/>
          <p:cNvSpPr/>
          <p:nvPr/>
        </p:nvSpPr>
        <p:spPr>
          <a:xfrm>
            <a:off x="3438144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45" name="Dice cell 5-3"/>
          <p:cNvSpPr/>
          <p:nvPr/>
        </p:nvSpPr>
        <p:spPr>
          <a:xfrm>
            <a:off x="3968496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46" name="Dice cell 5-4"/>
          <p:cNvSpPr/>
          <p:nvPr/>
        </p:nvSpPr>
        <p:spPr>
          <a:xfrm>
            <a:off x="4498848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47" name="Dice cell 5-5"/>
          <p:cNvSpPr/>
          <p:nvPr/>
        </p:nvSpPr>
        <p:spPr>
          <a:xfrm>
            <a:off x="5029200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48" name="Dice cell 5-6"/>
          <p:cNvSpPr/>
          <p:nvPr/>
        </p:nvSpPr>
        <p:spPr>
          <a:xfrm>
            <a:off x="5559552" y="46360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11</a:t>
            </a:r>
            <a:endParaRPr lang="en-US" sz="1300" dirty="0"/>
          </a:p>
        </p:txBody>
      </p:sp>
      <p:sp>
        <p:nvSpPr>
          <p:cNvPr id="49" name="Die 1 label 6"/>
          <p:cNvSpPr txBox="1"/>
          <p:nvPr/>
        </p:nvSpPr>
        <p:spPr>
          <a:xfrm>
            <a:off x="2468880" y="513892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6</a:t>
            </a:r>
            <a:endParaRPr lang="en-US" sz="1200" dirty="0"/>
          </a:p>
        </p:txBody>
      </p:sp>
      <p:sp>
        <p:nvSpPr>
          <p:cNvPr id="50" name="Die 2 label 6"/>
          <p:cNvSpPr txBox="1"/>
          <p:nvPr/>
        </p:nvSpPr>
        <p:spPr>
          <a:xfrm>
            <a:off x="5532120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4651"/>
                </a:solidFill>
              </a:rPr>
              <a:t>6</a:t>
            </a:r>
            <a:endParaRPr lang="en-US" sz="1200" dirty="0"/>
          </a:p>
        </p:txBody>
      </p:sp>
      <p:sp>
        <p:nvSpPr>
          <p:cNvPr id="51" name="Dice cell 6-1"/>
          <p:cNvSpPr/>
          <p:nvPr/>
        </p:nvSpPr>
        <p:spPr>
          <a:xfrm>
            <a:off x="2907792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</a:rPr>
              <a:t>7</a:t>
            </a:r>
            <a:endParaRPr lang="en-US" sz="1300" dirty="0"/>
          </a:p>
        </p:txBody>
      </p:sp>
      <p:sp>
        <p:nvSpPr>
          <p:cNvPr id="52" name="Dice cell 6-2"/>
          <p:cNvSpPr/>
          <p:nvPr/>
        </p:nvSpPr>
        <p:spPr>
          <a:xfrm>
            <a:off x="3438144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Dice cell 6-3"/>
          <p:cNvSpPr/>
          <p:nvPr/>
        </p:nvSpPr>
        <p:spPr>
          <a:xfrm>
            <a:off x="3968496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9</a:t>
            </a:r>
            <a:endParaRPr lang="en-US" sz="1300" dirty="0"/>
          </a:p>
        </p:txBody>
      </p:sp>
      <p:sp>
        <p:nvSpPr>
          <p:cNvPr id="54" name="Dice cell 6-4"/>
          <p:cNvSpPr/>
          <p:nvPr/>
        </p:nvSpPr>
        <p:spPr>
          <a:xfrm>
            <a:off x="4498848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10</a:t>
            </a:r>
            <a:endParaRPr lang="en-US" sz="1300" dirty="0"/>
          </a:p>
        </p:txBody>
      </p:sp>
      <p:sp>
        <p:nvSpPr>
          <p:cNvPr id="55" name="Dice cell 6-5"/>
          <p:cNvSpPr/>
          <p:nvPr/>
        </p:nvSpPr>
        <p:spPr>
          <a:xfrm>
            <a:off x="5029200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11</a:t>
            </a:r>
            <a:endParaRPr lang="en-US" sz="1300" dirty="0"/>
          </a:p>
        </p:txBody>
      </p:sp>
      <p:sp>
        <p:nvSpPr>
          <p:cNvPr id="56" name="Dice cell 6-6"/>
          <p:cNvSpPr/>
          <p:nvPr/>
        </p:nvSpPr>
        <p:spPr>
          <a:xfrm>
            <a:off x="5559552" y="51663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12</a:t>
            </a:r>
            <a:endParaRPr lang="en-US" sz="1300" dirty="0"/>
          </a:p>
        </p:txBody>
      </p:sp>
      <p:sp>
        <p:nvSpPr>
          <p:cNvPr id="57" name="Grid caption"/>
          <p:cNvSpPr txBox="1"/>
          <p:nvPr/>
        </p:nvSpPr>
        <p:spPr>
          <a:xfrm>
            <a:off x="777240" y="56692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rows = die 1  ·  columns = die 2</a:t>
            </a:r>
            <a:endParaRPr lang="en-US" sz="11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Sample Space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itertools.product lists every outcome of a repeated experiment.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 event is just a filter on that list.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Probability = len(event) / len(space).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import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itertools</a:t>
            </a:r>
            <a:endParaRPr lang="en-US" sz="2000" err="1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dice = list(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itertools.product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(range(1, 7), repeat=2))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(dice))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   # 36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sum7 = [d for d in dice if sum(d) == 7]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(sum7))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   # 6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(sum7) /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(dice), 4))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# 0.1667</a:t>
            </a:r>
            <a:endParaRPr lang="en-US" sz="2000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Probability Is Counting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equally likely outcomes: P(event) = favorable ÷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Always between 0 and 1 — an answer like 1.4 means a mistake.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Complement rule: P(not A) = 1 − P(A).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P(event) = favorable / total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die = [1, 2, 3, 4, 5, 6]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even = [x for x in die if x % 2 == 0]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p_even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=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(even) /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(die)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p_even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      # 0.5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complement rule: P(</a:t>
            </a:r>
            <a:r>
              <a:rPr lang="en-US" sz="2000" i="1" dirty="0" err="1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not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A) = 1 - P(A)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print(1 -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p_even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  # 0.5</a:t>
            </a:r>
            <a:endParaRPr lang="en-US" sz="2000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Probability as Long-Run Frequency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More flips, steadier answer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After 10 flips: 70% heads. After 10,000 flips: 49.3%.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Probability is the value the proportion settles toward as trials grow.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This is the Law of Large Numbers.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Small samples are noisy — remember this in Sessions 21–22.</a:t>
            </a:r>
            <a:endParaRPr lang="en-US" sz="1400" dirty="0"/>
          </a:p>
        </p:txBody>
      </p:sp>
      <p:graphicFrame>
        <p:nvGraphicFramePr>
          <p:cNvPr id="8" name="Running proportion chart"/>
          <p:cNvGraphicFramePr/>
          <p:nvPr/>
        </p:nvGraphicFramePr>
        <p:xfrm>
          <a:off x="731520" y="173736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Simulating a Coin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numpy draws random flips: 1 = heads, 0 = tails.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mean of the flips is the proportion of heads.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Bigger n → closer to the true 0.5.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rng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=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np.random.default_rng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(7)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flips =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rng.integers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(0, 2, size=10_000)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# 1 = heads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for n in [10, 100, 1000, 10_000]: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   print(n, flips[:n].mean())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10     0.7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100    0.56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1000   0.516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10000  0.4926</a:t>
            </a:r>
            <a:endParaRPr lang="en-US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Foundations</a:t>
            </a:r>
            <a:endParaRPr lang="en-US" sz="23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List the full sample space for flipping two coins.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P(a random student knows FastAPI) if 28 of 40 do, then P(not).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Why would a probability of 1.4 signal a mistake in a calculation?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Python: use itertools to find P(sum = 8) for two dice.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</a:rPr>
              <a:t>Combining Probabilities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</a:rPr>
              <a:t>Real questions involve more than one event — here is how “or” and “and”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Addition Rule: What Does It Answer?</a:t>
            </a:r>
            <a:endParaRPr lang="en-US" sz="2600" dirty="0"/>
          </a:p>
        </p:txBody>
      </p:sp>
      <p:sp>
        <p:nvSpPr>
          <p:cNvPr id="108" name="Shape 108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</a:rPr>
              <a:t>Addition Rule</a:t>
            </a:r>
            <a:r>
              <a:rPr lang="en-US" sz="1800" dirty="0">
                <a:solidFill>
                  <a:schemeClr val="tx1"/>
                </a:solidFill>
              </a:rPr>
              <a:t> finds the probability that </a:t>
            </a:r>
            <a:r>
              <a:rPr lang="en-US" sz="1800" b="1" dirty="0">
                <a:solidFill>
                  <a:schemeClr val="tx1"/>
                </a:solidFill>
              </a:rPr>
              <a:t>at least one</a:t>
            </a:r>
            <a:r>
              <a:rPr lang="en-US" sz="1800" dirty="0">
                <a:solidFill>
                  <a:schemeClr val="tx1"/>
                </a:solidFill>
              </a:rPr>
              <a:t> of two events occurs.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plain words: the chance of </a:t>
            </a:r>
            <a:r>
              <a:rPr lang="en-US" sz="1800" b="1" dirty="0">
                <a:solidFill>
                  <a:schemeClr val="tx1"/>
                </a:solidFill>
              </a:rPr>
              <a:t>A or B</a:t>
            </a:r>
            <a:r>
              <a:rPr lang="en-US" sz="1800" dirty="0">
                <a:solidFill>
                  <a:schemeClr val="tx1"/>
                </a:solidFill>
              </a:rPr>
              <a:t> happening.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probability language this is the </a:t>
            </a:r>
            <a:r>
              <a:rPr lang="en-US" sz="1800" b="1" dirty="0">
                <a:solidFill>
                  <a:schemeClr val="tx1"/>
                </a:solidFill>
              </a:rPr>
              <a:t>union</a:t>
            </a:r>
            <a:r>
              <a:rPr lang="en-US" sz="1800" dirty="0">
                <a:solidFill>
                  <a:schemeClr val="tx1"/>
                </a:solidFill>
              </a:rPr>
              <a:t>: P(A ∪ B).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“At least one” covers three cases: only A, only B, or both together.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Keyword to listen for in a question: </a:t>
            </a:r>
            <a:r>
              <a:rPr lang="en-US" sz="1800" b="1" dirty="0">
                <a:solidFill>
                  <a:schemeClr val="tx1"/>
                </a:solidFill>
              </a:rPr>
              <a:t>“or”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0" name="Shape 110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11" name="Text 111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mbria"/>
                <a:cs typeface="Cambria"/>
              </a:rPr>
              <a:t>P(A ∪ B)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Probability that A or B (or both) occurs</a:t>
            </a:r>
          </a:p>
        </p:txBody>
      </p:sp>
      <p:sp>
        <p:nvSpPr>
          <p:cNvPr id="113" name="Shape 113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14" name="Text 114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First question to ask: can A and B happen together? The answer decides which version of the rule to use.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General Addition Rule</a:t>
            </a:r>
            <a:endParaRPr lang="en-US" sz="2600" dirty="0"/>
          </a:p>
        </p:txBody>
      </p:sp>
      <p:sp>
        <p:nvSpPr>
          <p:cNvPr id="115" name="Shape 115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16" name="Text 116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General rule — valid for any two events A and B.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∪ B): probability of A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B occurring.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B): probability that </a:t>
            </a:r>
            <a:r>
              <a:rPr lang="en-US" sz="1800" b="1" dirty="0">
                <a:solidFill>
                  <a:schemeClr val="tx1"/>
                </a:solidFill>
              </a:rPr>
              <a:t>both</a:t>
            </a:r>
            <a:r>
              <a:rPr lang="en-US" sz="1800" dirty="0">
                <a:solidFill>
                  <a:schemeClr val="tx1"/>
                </a:solidFill>
              </a:rPr>
              <a:t> A and B occur — the overlap.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Adding P(A) + P(B) counts the overlap twice, once inside each event.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 we subtract P(A ∩ B) to </a:t>
            </a:r>
            <a:r>
              <a:rPr lang="en-US" sz="1800" b="1" dirty="0">
                <a:solidFill>
                  <a:schemeClr val="tx1"/>
                </a:solidFill>
              </a:rPr>
              <a:t>avoid double-counting</a:t>
            </a:r>
            <a:r>
              <a:rPr lang="en-US" sz="1800" dirty="0">
                <a:solidFill>
                  <a:schemeClr val="tx1"/>
                </a:solidFill>
              </a:rPr>
              <a:t> the overlap.</a:t>
            </a:r>
          </a:p>
        </p:txBody>
      </p:sp>
      <p:sp>
        <p:nvSpPr>
          <p:cNvPr id="117" name="Shape 117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18" name="Text 118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∪ B) = P(A) + P(B)</a:t>
            </a:r>
          </a:p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− P(A ∩ B)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Works whether or not the events overlap</a:t>
            </a:r>
          </a:p>
        </p:txBody>
      </p:sp>
      <p:sp>
        <p:nvSpPr>
          <p:cNvPr id="120" name="Shape 120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21" name="Shape 121"/>
          <p:cNvSpPr/>
          <p:nvPr/>
        </p:nvSpPr>
        <p:spPr>
          <a:xfrm>
            <a:off x="8229600" y="3931920"/>
            <a:ext cx="1645920" cy="164592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122" name="Shape 122"/>
          <p:cNvSpPr/>
          <p:nvPr/>
        </p:nvSpPr>
        <p:spPr>
          <a:xfrm>
            <a:off x="9052560" y="3931920"/>
            <a:ext cx="1645920" cy="164592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</p:sp>
      <p:sp>
        <p:nvSpPr>
          <p:cNvPr id="123" name="Text 123"/>
          <p:cNvSpPr txBox="1"/>
          <p:nvPr/>
        </p:nvSpPr>
        <p:spPr>
          <a:xfrm>
            <a:off x="8321040" y="4572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9921240" y="4572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8961120" y="45262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 ∩ B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Worked Example: FastAPI or ML</a:t>
            </a:r>
            <a:endParaRPr lang="en-US" sz="2600" dirty="0"/>
          </a:p>
        </p:txBody>
      </p:sp>
      <p:sp>
        <p:nvSpPr>
          <p:cNvPr id="126" name="Shape 126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27" name="Text 127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Pick one student from 40. Find P(FastAPI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ML).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= knows FastAPI: P(A) = 28/40. B = knows ML: P(B) = 20/40.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Overlap = students who know both: P(A ∩ B) = 8/40.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FastAPI and ML can happen together, so the events are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mutually exclusive.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 by counting: 20 FastAPI only + 12 ML only + 8 both = 40.</a:t>
            </a:r>
          </a:p>
        </p:txBody>
      </p:sp>
      <p:sp>
        <p:nvSpPr>
          <p:cNvPr id="128" name="Shape 128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29" name="Text 129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28/40 + 20/40 − 8/40</a:t>
            </a:r>
          </a:p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= 40/40 = 1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P(A ∪ B) for FastAPI or ML</a:t>
            </a:r>
          </a:p>
        </p:txBody>
      </p:sp>
      <p:sp>
        <p:nvSpPr>
          <p:cNvPr id="131" name="Shape 131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32" name="Text 132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Without the subtraction we would get 48/40 — above 1, because the 8 “both” students are counted twice.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Mutually Exclusive Events</a:t>
            </a:r>
            <a:endParaRPr lang="en-US" sz="2600" dirty="0"/>
          </a:p>
        </p:txBody>
      </p:sp>
      <p:sp>
        <p:nvSpPr>
          <p:cNvPr id="133" name="Shape 133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34" name="Text 134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Mutually exclusive</a:t>
            </a:r>
            <a:r>
              <a:rPr lang="en-US" sz="1800" dirty="0">
                <a:solidFill>
                  <a:schemeClr val="tx1"/>
                </a:solidFill>
              </a:rPr>
              <a:t> events cannot happen at the same time.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and B are mutually exclusive if P(A ∩ B) = 0 — the overlap is empty.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Examples: Heads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Tails on one toss; a 2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a 5 on one die; “FastAPI only”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“ML only” for one student.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mutually exclusive: FastAPI and ML — a student who knows both is in each.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Careful: mutually exclusive does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mean independent.</a:t>
            </a:r>
          </a:p>
        </p:txBody>
      </p:sp>
      <p:sp>
        <p:nvSpPr>
          <p:cNvPr id="135" name="Shape 135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36" name="Text 136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mbria"/>
                <a:cs typeface="Cambria"/>
              </a:rPr>
              <a:t>P(A ∩ B) = 0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Zero overlap — the circles do not touch</a:t>
            </a:r>
          </a:p>
        </p:txBody>
      </p:sp>
      <p:sp>
        <p:nvSpPr>
          <p:cNvPr id="138" name="Shape 138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39" name="Shape 139"/>
          <p:cNvSpPr/>
          <p:nvPr/>
        </p:nvSpPr>
        <p:spPr>
          <a:xfrm>
            <a:off x="7863840" y="3931920"/>
            <a:ext cx="1645920" cy="164592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140" name="Shape 140"/>
          <p:cNvSpPr/>
          <p:nvPr/>
        </p:nvSpPr>
        <p:spPr>
          <a:xfrm>
            <a:off x="9509760" y="3931920"/>
            <a:ext cx="1645920" cy="164592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</p:sp>
      <p:sp>
        <p:nvSpPr>
          <p:cNvPr id="141" name="Text 141"/>
          <p:cNvSpPr txBox="1"/>
          <p:nvPr/>
        </p:nvSpPr>
        <p:spPr>
          <a:xfrm>
            <a:off x="7955279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9601200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Special Case: Mutually Exclusive Addition</a:t>
            </a:r>
            <a:endParaRPr lang="en-US" sz="2600" dirty="0"/>
          </a:p>
        </p:txBody>
      </p:sp>
      <p:sp>
        <p:nvSpPr>
          <p:cNvPr id="143" name="Shape 143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44" name="Text 144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A and B are mutually exclusive, then P(A ∩ B) = 0.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general rule loses its last term — there is no overlap to subtract.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This is the simple </a:t>
            </a:r>
            <a:r>
              <a:rPr lang="en-US" sz="1800" b="1" dirty="0">
                <a:solidFill>
                  <a:schemeClr val="tx1"/>
                </a:solidFill>
              </a:rPr>
              <a:t>“just add”</a:t>
            </a:r>
            <a:r>
              <a:rPr lang="en-US" sz="1800" dirty="0">
                <a:solidFill>
                  <a:schemeClr val="tx1"/>
                </a:solidFill>
              </a:rPr>
              <a:t> version of the Addition Rule.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FastAPI only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ML only → 20/40 + 12/40 = 32/40 = 4/5.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a 2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dirty="0">
                <a:solidFill>
                  <a:schemeClr val="tx1"/>
                </a:solidFill>
              </a:rPr>
              <a:t> a 5 on one die → 1/6 + 1/6 = 1/3.</a:t>
            </a:r>
          </a:p>
        </p:txBody>
      </p:sp>
      <p:sp>
        <p:nvSpPr>
          <p:cNvPr id="145" name="Shape 145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46" name="Text 146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∪ B) = P(A) + P(B)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Use only when P(A ∩ B) = 0</a:t>
            </a:r>
          </a:p>
        </p:txBody>
      </p:sp>
      <p:sp>
        <p:nvSpPr>
          <p:cNvPr id="148" name="Shape 148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49" name="Shape 149"/>
          <p:cNvSpPr/>
          <p:nvPr/>
        </p:nvSpPr>
        <p:spPr>
          <a:xfrm>
            <a:off x="7863840" y="3931920"/>
            <a:ext cx="1645920" cy="164592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150" name="Shape 150"/>
          <p:cNvSpPr/>
          <p:nvPr/>
        </p:nvSpPr>
        <p:spPr>
          <a:xfrm>
            <a:off x="9509760" y="3931920"/>
            <a:ext cx="1645920" cy="1645920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</p:sp>
      <p:sp>
        <p:nvSpPr>
          <p:cNvPr id="151" name="Text 151"/>
          <p:cNvSpPr txBox="1"/>
          <p:nvPr/>
        </p:nvSpPr>
        <p:spPr>
          <a:xfrm>
            <a:off x="7955279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9601200" y="45720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Addition Rule — “OR”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Mutually exclusive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The events can never happen together.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Just add: P(A or B) = P(A) + P(B).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Example: a 2 or a 5 on one die → 1/6 + 1/6 = 1/3.</a:t>
            </a:r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Overlapping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The events can happen together.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Subtract the overlap: P(A or B) = P(A) + P(B) − P(A and B).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Example: </a:t>
            </a:r>
            <a:r>
              <a:rPr lang="en-US" sz="2000" dirty="0" err="1"/>
              <a:t>FastAPI</a:t>
            </a:r>
            <a:r>
              <a:rPr lang="en-US" sz="2000" dirty="0"/>
              <a:t> or ML → 28/40 + 20/40 − 8/40 = 1.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Overlap Is Counted Twice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or B) = 0.6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P(A) = 0.4, P(B) = 0.3, P(A and B) = 0.1.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Adding 0.4 + 0.3 counts the overlap twice.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Subtract it once: 0.4 + 0.3 − 0.1 = 0.6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number in the picture is the probability of that region.</a:t>
            </a:r>
            <a:endParaRPr lang="en-US" sz="1400" dirty="0"/>
          </a:p>
        </p:txBody>
      </p:sp>
      <p:sp>
        <p:nvSpPr>
          <p:cNvPr id="8" name="Sample space box"/>
          <p:cNvSpPr/>
          <p:nvPr/>
        </p:nvSpPr>
        <p:spPr>
          <a:xfrm>
            <a:off x="914400" y="2103120"/>
            <a:ext cx="6492240" cy="3520440"/>
          </a:xfrm>
          <a:prstGeom prst="roundRect">
            <a:avLst>
              <a:gd name="adj" fmla="val 2597"/>
            </a:avLst>
          </a:prstGeom>
          <a:solidFill>
            <a:srgbClr val="F6F4FF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 label"/>
          <p:cNvSpPr txBox="1"/>
          <p:nvPr/>
        </p:nvSpPr>
        <p:spPr>
          <a:xfrm>
            <a:off x="105156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4651"/>
                </a:solidFill>
              </a:rPr>
              <a:t>S  (sample space)</a:t>
            </a:r>
            <a:endParaRPr lang="en-US" sz="1200" dirty="0"/>
          </a:p>
        </p:txBody>
      </p:sp>
      <p:sp>
        <p:nvSpPr>
          <p:cNvPr id="10" name="Circle A"/>
          <p:cNvSpPr/>
          <p:nvPr/>
        </p:nvSpPr>
        <p:spPr>
          <a:xfrm>
            <a:off x="2193650" y="251460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Circle B"/>
          <p:cNvSpPr/>
          <p:nvPr/>
        </p:nvSpPr>
        <p:spPr>
          <a:xfrm>
            <a:off x="3476085" y="2514600"/>
            <a:ext cx="2560320" cy="256032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Venn A"/>
          <p:cNvSpPr txBox="1"/>
          <p:nvPr/>
        </p:nvSpPr>
        <p:spPr>
          <a:xfrm>
            <a:off x="228600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Venn 0.3"/>
          <p:cNvSpPr txBox="1"/>
          <p:nvPr/>
        </p:nvSpPr>
        <p:spPr>
          <a:xfrm>
            <a:off x="228600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0.3</a:t>
            </a:r>
            <a:endParaRPr lang="en-US" sz="2200" dirty="0"/>
          </a:p>
        </p:txBody>
      </p:sp>
      <p:sp>
        <p:nvSpPr>
          <p:cNvPr id="14" name="Venn A ∩ B"/>
          <p:cNvSpPr txBox="1"/>
          <p:nvPr/>
        </p:nvSpPr>
        <p:spPr>
          <a:xfrm>
            <a:off x="3749040" y="3429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∩ B</a:t>
            </a:r>
            <a:endParaRPr lang="en-US" sz="1200" dirty="0"/>
          </a:p>
        </p:txBody>
      </p:sp>
      <p:sp>
        <p:nvSpPr>
          <p:cNvPr id="15" name="Venn 0.1"/>
          <p:cNvSpPr txBox="1"/>
          <p:nvPr/>
        </p:nvSpPr>
        <p:spPr>
          <a:xfrm>
            <a:off x="374904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0.1</a:t>
            </a:r>
            <a:endParaRPr lang="en-US" sz="2000" dirty="0"/>
          </a:p>
        </p:txBody>
      </p:sp>
      <p:sp>
        <p:nvSpPr>
          <p:cNvPr id="16" name="Venn B"/>
          <p:cNvSpPr txBox="1"/>
          <p:nvPr/>
        </p:nvSpPr>
        <p:spPr>
          <a:xfrm>
            <a:off x="475488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Venn 0.2"/>
          <p:cNvSpPr txBox="1"/>
          <p:nvPr/>
        </p:nvSpPr>
        <p:spPr>
          <a:xfrm>
            <a:off x="475488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0.2</a:t>
            </a:r>
            <a:endParaRPr lang="en-US" sz="2200" dirty="0"/>
          </a:p>
        </p:txBody>
      </p:sp>
      <p:sp>
        <p:nvSpPr>
          <p:cNvPr id="18" name="Venn caption"/>
          <p:cNvSpPr txBox="1"/>
          <p:nvPr/>
        </p:nvSpPr>
        <p:spPr>
          <a:xfrm>
            <a:off x="1051560" y="5166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</a:rPr>
              <a:t>P(A) = 0.3 + 0.1 = 0.4     P(B) = 0.2 + 0.1 = 0.3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Python &amp; Machine Learning: The Overlap</a:t>
            </a:r>
            <a:endParaRPr lang="en-US" sz="2600" dirty="0"/>
          </a:p>
        </p:txBody>
      </p:sp>
      <p:sp>
        <p:nvSpPr>
          <p:cNvPr id="101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02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3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Class of 40 Students</a:t>
            </a:r>
            <a:endParaRPr lang="en-US" sz="2000" dirty="0"/>
          </a:p>
        </p:txBody>
      </p:sp>
      <p:sp>
        <p:nvSpPr>
          <p:cNvPr id="104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12 know only Python.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8 know both Python and Machine Learning.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10 know only Machine Learning.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10 know neither.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Question: What is the probability that a randomly selected student knows Python OR Machine Learning?</a:t>
            </a:r>
            <a:endParaRPr lang="en-US" sz="1400" dirty="0"/>
          </a:p>
        </p:txBody>
      </p:sp>
      <p:sp>
        <p:nvSpPr>
          <p:cNvPr id="105" name="Sample space box"/>
          <p:cNvSpPr/>
          <p:nvPr/>
        </p:nvSpPr>
        <p:spPr>
          <a:xfrm>
            <a:off x="914400" y="2103120"/>
            <a:ext cx="6492240" cy="3520440"/>
          </a:xfrm>
          <a:prstGeom prst="roundRect">
            <a:avLst>
              <a:gd name="adj" fmla="val 2597"/>
            </a:avLst>
          </a:prstGeom>
          <a:solidFill>
            <a:srgbClr val="F6F4FF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06" name="S label"/>
          <p:cNvSpPr txBox="1"/>
          <p:nvPr/>
        </p:nvSpPr>
        <p:spPr>
          <a:xfrm>
            <a:off x="105156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4651"/>
                </a:solidFill>
              </a:rPr>
              <a:t>Class of 40 students</a:t>
            </a:r>
            <a:endParaRPr lang="en-US" sz="1200" dirty="0"/>
          </a:p>
        </p:txBody>
      </p:sp>
      <p:sp>
        <p:nvSpPr>
          <p:cNvPr id="107" name="Neither label"/>
          <p:cNvSpPr txBox="1"/>
          <p:nvPr/>
        </p:nvSpPr>
        <p:spPr>
          <a:xfrm>
            <a:off x="544068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74651"/>
                </a:solidFill>
              </a:rPr>
              <a:t>Neither: 10</a:t>
            </a:r>
            <a:endParaRPr lang="en-US" sz="1400" dirty="0"/>
          </a:p>
        </p:txBody>
      </p:sp>
      <p:sp>
        <p:nvSpPr>
          <p:cNvPr id="108" name="Circle Python"/>
          <p:cNvSpPr/>
          <p:nvPr/>
        </p:nvSpPr>
        <p:spPr>
          <a:xfrm>
            <a:off x="2011680" y="251460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9" name="Circle Machine Learning"/>
          <p:cNvSpPr/>
          <p:nvPr/>
        </p:nvSpPr>
        <p:spPr>
          <a:xfrm>
            <a:off x="3749040" y="2514600"/>
            <a:ext cx="2560320" cy="256032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0" name="Venn Python"/>
          <p:cNvSpPr txBox="1"/>
          <p:nvPr/>
        </p:nvSpPr>
        <p:spPr>
          <a:xfrm>
            <a:off x="228600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Python</a:t>
            </a:r>
            <a:endParaRPr lang="en-US" sz="1800" dirty="0"/>
          </a:p>
        </p:txBody>
      </p:sp>
      <p:sp>
        <p:nvSpPr>
          <p:cNvPr id="111" name="Venn 12"/>
          <p:cNvSpPr txBox="1"/>
          <p:nvPr/>
        </p:nvSpPr>
        <p:spPr>
          <a:xfrm>
            <a:off x="228600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2200" dirty="0"/>
          </a:p>
        </p:txBody>
      </p:sp>
      <p:sp>
        <p:nvSpPr>
          <p:cNvPr id="112" name="Venn Both"/>
          <p:cNvSpPr txBox="1"/>
          <p:nvPr/>
        </p:nvSpPr>
        <p:spPr>
          <a:xfrm>
            <a:off x="3749040" y="3429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Both</a:t>
            </a:r>
            <a:endParaRPr lang="en-US" sz="1200" dirty="0"/>
          </a:p>
        </p:txBody>
      </p:sp>
      <p:sp>
        <p:nvSpPr>
          <p:cNvPr id="113" name="Venn 8"/>
          <p:cNvSpPr txBox="1"/>
          <p:nvPr/>
        </p:nvSpPr>
        <p:spPr>
          <a:xfrm>
            <a:off x="3749040" y="3794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2200" dirty="0"/>
          </a:p>
        </p:txBody>
      </p:sp>
      <p:sp>
        <p:nvSpPr>
          <p:cNvPr id="114" name="Venn Machine Learning"/>
          <p:cNvSpPr txBox="1"/>
          <p:nvPr/>
        </p:nvSpPr>
        <p:spPr>
          <a:xfrm>
            <a:off x="4754880" y="2651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5" name="Venn 10"/>
          <p:cNvSpPr txBox="1"/>
          <p:nvPr/>
        </p:nvSpPr>
        <p:spPr>
          <a:xfrm>
            <a:off x="475488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2200" dirty="0"/>
          </a:p>
        </p:txBody>
      </p:sp>
      <p:sp>
        <p:nvSpPr>
          <p:cNvPr id="116" name="Venn caption"/>
          <p:cNvSpPr txBox="1"/>
          <p:nvPr/>
        </p:nvSpPr>
        <p:spPr>
          <a:xfrm>
            <a:off x="1051560" y="5166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4651"/>
                </a:solidFill>
              </a:rPr>
              <a:t>The overlap holds the 8 students who know both subjects.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Step by Step: Python OR Machine Learning</a:t>
            </a:r>
            <a:endParaRPr lang="en-US" sz="2600" dirty="0"/>
          </a:p>
        </p:txBody>
      </p:sp>
      <p:sp>
        <p:nvSpPr>
          <p:cNvPr id="117" name="Step card 1"/>
          <p:cNvSpPr/>
          <p:nvPr/>
        </p:nvSpPr>
        <p:spPr>
          <a:xfrm>
            <a:off x="548640" y="1600200"/>
            <a:ext cx="7223760" cy="10058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18" name="Step chip 1"/>
          <p:cNvSpPr/>
          <p:nvPr/>
        </p:nvSpPr>
        <p:spPr>
          <a:xfrm>
            <a:off x="731520" y="192938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9" name="Step number 1"/>
          <p:cNvSpPr txBox="1"/>
          <p:nvPr/>
        </p:nvSpPr>
        <p:spPr>
          <a:xfrm>
            <a:off x="731520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20" name="Step text 1"/>
          <p:cNvSpPr txBox="1"/>
          <p:nvPr/>
        </p:nvSpPr>
        <p:spPr>
          <a:xfrm>
            <a:off x="1234440" y="160020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74651"/>
                </a:solidFill>
              </a:rPr>
              <a:t>Step 1: Find the total who know Python.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1B2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P(A) = (12 + 8) / 40 = 20/40</a:t>
            </a:r>
            <a:endParaRPr lang="en-US" sz="1800" dirty="0"/>
          </a:p>
        </p:txBody>
      </p:sp>
      <p:sp>
        <p:nvSpPr>
          <p:cNvPr id="121" name="Step card 2"/>
          <p:cNvSpPr/>
          <p:nvPr/>
        </p:nvSpPr>
        <p:spPr>
          <a:xfrm>
            <a:off x="548640" y="2697480"/>
            <a:ext cx="7223760" cy="10058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2" name="Step chip 2"/>
          <p:cNvSpPr/>
          <p:nvPr/>
        </p:nvSpPr>
        <p:spPr>
          <a:xfrm>
            <a:off x="731520" y="30266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3" name="Step number 2"/>
          <p:cNvSpPr txBox="1"/>
          <p:nvPr/>
        </p:nvSpPr>
        <p:spPr>
          <a:xfrm>
            <a:off x="73152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24" name="Step text 2"/>
          <p:cNvSpPr txBox="1"/>
          <p:nvPr/>
        </p:nvSpPr>
        <p:spPr>
          <a:xfrm>
            <a:off x="1234440" y="269748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74651"/>
                </a:solidFill>
              </a:rPr>
              <a:t>Step 2: Find the total who know Machine Learning.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1B2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P(B) = (10 + 8) / 40 = 18/40</a:t>
            </a:r>
            <a:endParaRPr lang="en-US" sz="1800" dirty="0"/>
          </a:p>
        </p:txBody>
      </p:sp>
      <p:sp>
        <p:nvSpPr>
          <p:cNvPr id="125" name="Step card 3"/>
          <p:cNvSpPr/>
          <p:nvPr/>
        </p:nvSpPr>
        <p:spPr>
          <a:xfrm>
            <a:off x="548640" y="3794760"/>
            <a:ext cx="7223760" cy="10058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6" name="Step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7" name="Step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28" name="Step text 3"/>
          <p:cNvSpPr txBox="1"/>
          <p:nvPr/>
        </p:nvSpPr>
        <p:spPr>
          <a:xfrm>
            <a:off x="1234440" y="379476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74651"/>
                </a:solidFill>
              </a:rPr>
              <a:t>Step 3: Add both probabilities.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1B2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20/40 + 18/40 = 38/40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264B"/>
                </a:solidFill>
              </a:rPr>
              <a:t>Oops! The 8 students who know both subjects have been counted twice.</a:t>
            </a:r>
            <a:endParaRPr lang="en-US" sz="1200" dirty="0"/>
          </a:p>
        </p:txBody>
      </p:sp>
      <p:sp>
        <p:nvSpPr>
          <p:cNvPr id="129" name="Step card 4"/>
          <p:cNvSpPr/>
          <p:nvPr/>
        </p:nvSpPr>
        <p:spPr>
          <a:xfrm>
            <a:off x="548640" y="4892040"/>
            <a:ext cx="7223760" cy="10058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30" name="Step chip 4"/>
          <p:cNvSpPr/>
          <p:nvPr/>
        </p:nvSpPr>
        <p:spPr>
          <a:xfrm>
            <a:off x="731520" y="52212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1" name="Step number 4"/>
          <p:cNvSpPr txBox="1"/>
          <p:nvPr/>
        </p:nvSpPr>
        <p:spPr>
          <a:xfrm>
            <a:off x="731520" y="5221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132" name="Step text 4"/>
          <p:cNvSpPr txBox="1"/>
          <p:nvPr/>
        </p:nvSpPr>
        <p:spPr>
          <a:xfrm>
            <a:off x="1234440" y="489204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474651"/>
                </a:solidFill>
              </a:rPr>
              <a:t>Step 4: Subtract the overlap once.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B1B20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∪ B) = (20 + 18 − 8) / 40 = 30/40 = 75%</a:t>
            </a:r>
            <a:endParaRPr lang="en-US" sz="1800" dirty="0"/>
          </a:p>
        </p:txBody>
      </p:sp>
      <p:sp>
        <p:nvSpPr>
          <p:cNvPr id="133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4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∪ B) = 75%</a:t>
            </a:r>
            <a:endParaRPr lang="en-US" sz="2000" dirty="0"/>
          </a:p>
        </p:txBody>
      </p:sp>
      <p:sp>
        <p:nvSpPr>
          <p:cNvPr id="135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The answer is 75%, or 30 out of 40 students.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Remember: Add both groups, subtract the students counted in both, and divide by the total number of students.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Addition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overlap → plain addition.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Overlap → subtract the shared part once.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Whenever you can, check against counting a real class list.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No overlap: a 2 OR a 5 on one die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 = 1/6 + 1/6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print(round(p, 3))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 # 0.333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Overlap: </a:t>
            </a:r>
            <a:r>
              <a:rPr lang="en-US" sz="2000" i="1" dirty="0" err="1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FastAPI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OR ML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p_fast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,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p_ml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,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p_both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= 28/40, 20/40, 8/40</a:t>
            </a:r>
            <a:endParaRPr lang="en-US" sz="2000">
              <a:latin typeface="Hanken Grotesk"/>
              <a:ea typeface="Cantarell"/>
            </a:endParaRPr>
          </a:p>
          <a:p>
            <a:pPr>
              <a:lnSpc>
                <a:spcPct val="112000"/>
              </a:lnSpc>
            </a:pP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p_or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=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p_fast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+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p_ml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-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p_both</a:t>
            </a:r>
            <a:endParaRPr lang="en-US" sz="2000" dirty="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p_or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, 3))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# 1.0  (= 40/40)</a:t>
            </a:r>
            <a:endParaRPr lang="en-US" sz="2000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Multiplication Rule: What Does It Answer?</a:t>
            </a:r>
            <a:endParaRPr lang="en-US" sz="2600" dirty="0"/>
          </a:p>
        </p:txBody>
      </p:sp>
      <p:sp>
        <p:nvSpPr>
          <p:cNvPr id="153" name="Shape 153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54" name="Text 154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chemeClr val="tx1"/>
                </a:solidFill>
              </a:rPr>
              <a:t>Multiplication Rule</a:t>
            </a:r>
            <a:r>
              <a:rPr lang="en-US" sz="1800" dirty="0">
                <a:solidFill>
                  <a:schemeClr val="tx1"/>
                </a:solidFill>
              </a:rPr>
              <a:t> finds the probability that </a:t>
            </a:r>
            <a:r>
              <a:rPr lang="en-US" sz="1800" b="1" dirty="0">
                <a:solidFill>
                  <a:schemeClr val="tx1"/>
                </a:solidFill>
              </a:rPr>
              <a:t>two events happen together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plain words: the chance of </a:t>
            </a:r>
            <a:r>
              <a:rPr lang="en-US" sz="1800" b="1" dirty="0">
                <a:solidFill>
                  <a:schemeClr val="tx1"/>
                </a:solidFill>
              </a:rPr>
              <a:t>A and B</a:t>
            </a:r>
            <a:r>
              <a:rPr lang="en-US" sz="1800" dirty="0">
                <a:solidFill>
                  <a:schemeClr val="tx1"/>
                </a:solidFill>
              </a:rPr>
              <a:t> both occurring.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probability language this is the </a:t>
            </a:r>
            <a:r>
              <a:rPr lang="en-US" sz="1800" b="1" dirty="0">
                <a:solidFill>
                  <a:schemeClr val="tx1"/>
                </a:solidFill>
              </a:rPr>
              <a:t>intersection</a:t>
            </a:r>
            <a:r>
              <a:rPr lang="en-US" sz="1800" dirty="0">
                <a:solidFill>
                  <a:schemeClr val="tx1"/>
                </a:solidFill>
              </a:rPr>
              <a:t>: P(A ∩ B).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Keywords: </a:t>
            </a:r>
            <a:r>
              <a:rPr lang="en-US" sz="1800" b="1" dirty="0">
                <a:solidFill>
                  <a:schemeClr val="tx1"/>
                </a:solidFill>
              </a:rPr>
              <a:t>“and”</a:t>
            </a:r>
            <a:r>
              <a:rPr lang="en-US" sz="1800" dirty="0">
                <a:solidFill>
                  <a:schemeClr val="tx1"/>
                </a:solidFill>
              </a:rPr>
              <a:t>, “both”, “then”, “in a row”.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There are two versions: one for independent events, one for dependent events.</a:t>
            </a:r>
          </a:p>
        </p:txBody>
      </p:sp>
      <p:sp>
        <p:nvSpPr>
          <p:cNvPr id="155" name="Shape 155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56" name="Text 156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mbria"/>
                <a:cs typeface="Cambria"/>
              </a:rPr>
              <a:t>P(A ∩ B)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Probability that A and B both occur</a:t>
            </a:r>
          </a:p>
        </p:txBody>
      </p:sp>
      <p:sp>
        <p:nvSpPr>
          <p:cNvPr id="158" name="Shape 158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59" name="Text 159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Every extra “and” multiplies by a number below 1, so joint events are rarer than single events.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Events</a:t>
            </a:r>
            <a:endParaRPr lang="en-US" sz="2600" dirty="0"/>
          </a:p>
        </p:txBody>
      </p:sp>
      <p:sp>
        <p:nvSpPr>
          <p:cNvPr id="160" name="Shape 160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61" name="Text 161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Independent events:</a:t>
            </a:r>
            <a:r>
              <a:rPr lang="en-US" sz="1800" dirty="0">
                <a:solidFill>
                  <a:schemeClr val="tx1"/>
                </a:solidFill>
              </a:rPr>
              <a:t> one event does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affect the occurrence of the other.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and B are independent if P(A ∩ B) = P(A) · P(B).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Equivalent test: P(B | A) = P(B) — knowing A happened does not change B.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probability of both is simply the </a:t>
            </a:r>
            <a:r>
              <a:rPr lang="en-US" sz="1800" b="1" dirty="0">
                <a:solidFill>
                  <a:schemeClr val="tx1"/>
                </a:solidFill>
              </a:rPr>
              <a:t>product</a:t>
            </a:r>
            <a:r>
              <a:rPr lang="en-US" sz="1800" dirty="0">
                <a:solidFill>
                  <a:schemeClr val="tx1"/>
                </a:solidFill>
              </a:rPr>
              <a:t> of the individual probabilities.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this version when one event does not affect the other.</a:t>
            </a:r>
          </a:p>
        </p:txBody>
      </p:sp>
      <p:sp>
        <p:nvSpPr>
          <p:cNvPr id="162" name="Shape 162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63" name="Text 163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∩ B) = P(A) · P(B)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Independent events</a:t>
            </a:r>
          </a:p>
        </p:txBody>
      </p:sp>
      <p:sp>
        <p:nvSpPr>
          <p:cNvPr id="165" name="Shape 165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66" name="Text 166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Typical independent cases: separate coin flips, different dice, draws </a:t>
            </a:r>
            <a:r>
              <a:rPr lang="en-US" sz="1600" b="1" dirty="0">
                <a:solidFill>
                  <a:schemeClr val="tx1"/>
                </a:solidFill>
              </a:rPr>
              <a:t>with</a:t>
            </a:r>
            <a:r>
              <a:rPr lang="en-US" sz="1600" dirty="0">
                <a:solidFill>
                  <a:schemeClr val="tx1"/>
                </a:solidFill>
              </a:rPr>
              <a:t> replacement.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Events: Tossing a Coin Twice</a:t>
            </a:r>
            <a:endParaRPr lang="en-US" sz="2600" dirty="0"/>
          </a:p>
        </p:txBody>
      </p:sp>
      <p:sp>
        <p:nvSpPr>
          <p:cNvPr id="167" name="Shape 167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Let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= the first toss is Heads. Let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= the second toss is Tails.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coin has no memory: the first toss cannot change the second.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 A and B are independent: P(A) = 1/2 and P(B) = 1/2.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 with the sample space {HH, HT, TH, TT}: only HT matches — 1 of 4.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Another case: a 6 on a die </a:t>
            </a:r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dirty="0">
                <a:solidFill>
                  <a:schemeClr val="tx1"/>
                </a:solidFill>
              </a:rPr>
              <a:t> Heads on a coin → 1/6 · 1/2 = 1/12.</a:t>
            </a:r>
          </a:p>
        </p:txBody>
      </p:sp>
      <p:sp>
        <p:nvSpPr>
          <p:cNvPr id="169" name="Shape 169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70" name="Text 170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Cambria"/>
                <a:cs typeface="Cambria"/>
              </a:rPr>
              <a:t>P(A ∩ B) = 1/2 · 1/2</a:t>
            </a:r>
          </a:p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Cambria"/>
                <a:cs typeface="Cambria"/>
              </a:rPr>
              <a:t>= 1/4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Heads then Tails</a:t>
            </a:r>
          </a:p>
        </p:txBody>
      </p:sp>
      <p:sp>
        <p:nvSpPr>
          <p:cNvPr id="172" name="Shape 172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73" name="Text 173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/>
              <a:t>The product rule agrees with direct counting: 1 </a:t>
            </a:r>
            <a:r>
              <a:rPr lang="en-US" sz="1600"/>
              <a:t>favorable</a:t>
            </a:r>
            <a:r>
              <a:rPr lang="en-US" sz="1600" dirty="0"/>
              <a:t> outcome out of 4.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Dependent Events</a:t>
            </a:r>
            <a:endParaRPr lang="en-US" sz="2600" dirty="0"/>
          </a:p>
        </p:txBody>
      </p:sp>
      <p:sp>
        <p:nvSpPr>
          <p:cNvPr id="174" name="Shape 174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75" name="Text 175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Dependent events:</a:t>
            </a:r>
            <a:r>
              <a:rPr lang="en-US" sz="1800" dirty="0">
                <a:solidFill>
                  <a:schemeClr val="tx1"/>
                </a:solidFill>
              </a:rPr>
              <a:t> one event </a:t>
            </a:r>
            <a:r>
              <a:rPr lang="en-US" sz="1800" b="1" dirty="0">
                <a:solidFill>
                  <a:schemeClr val="tx1"/>
                </a:solidFill>
              </a:rPr>
              <a:t>affects the probability</a:t>
            </a:r>
            <a:r>
              <a:rPr lang="en-US" sz="1800" dirty="0">
                <a:solidFill>
                  <a:schemeClr val="tx1"/>
                </a:solidFill>
              </a:rPr>
              <a:t> of the other.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and B are dependent if P(A ∩ B) ≠ P(A) · P(B).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Equivalent test: P(B | A) ≠ P(B) — knowing A changes how likely B is.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Typical source: picking students </a:t>
            </a:r>
            <a:r>
              <a:rPr lang="en-US" sz="1800" b="1" dirty="0">
                <a:solidFill>
                  <a:schemeClr val="tx1"/>
                </a:solidFill>
              </a:rPr>
              <a:t>without replacement</a:t>
            </a:r>
            <a:r>
              <a:rPr lang="en-US" sz="1800" dirty="0">
                <a:solidFill>
                  <a:schemeClr val="tx1"/>
                </a:solidFill>
              </a:rPr>
              <a:t> — the class changes.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 real life, rain and heavy traffic are linked.</a:t>
            </a:r>
          </a:p>
        </p:txBody>
      </p:sp>
      <p:sp>
        <p:nvSpPr>
          <p:cNvPr id="176" name="Shape 176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77" name="Text 177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3200" b="1" dirty="0">
                <a:solidFill>
                  <a:schemeClr val="tx1"/>
                </a:solidFill>
                <a:latin typeface="Cambria"/>
                <a:cs typeface="Cambria"/>
              </a:rPr>
              <a:t>P(B | A) ≠ P(B)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Dependent events</a:t>
            </a:r>
          </a:p>
        </p:txBody>
      </p:sp>
      <p:sp>
        <p:nvSpPr>
          <p:cNvPr id="179" name="Shape 179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80" name="Text 180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Dependence needs conditional probability: P(B | A) is the probability of B given that A has happened.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Dependent Events: Two Picks Without Replacement</a:t>
            </a:r>
            <a:endParaRPr lang="en-US" sz="2600" dirty="0"/>
          </a:p>
        </p:txBody>
      </p:sp>
      <p:sp>
        <p:nvSpPr>
          <p:cNvPr id="181" name="Shape 181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82" name="Text 182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Class of 40 (8 know both).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= first pick knows both.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= second pick knows both, first student </a:t>
            </a:r>
            <a:r>
              <a:rPr lang="en-US" sz="1800" b="1" dirty="0">
                <a:solidFill>
                  <a:schemeClr val="tx1"/>
                </a:solidFill>
              </a:rPr>
              <a:t>not</a:t>
            </a:r>
            <a:r>
              <a:rPr lang="en-US" sz="1800" dirty="0">
                <a:solidFill>
                  <a:schemeClr val="tx1"/>
                </a:solidFill>
              </a:rPr>
              <a:t> put back.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P(A) = 8/40.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“both” student is gone: 7 remain among 39, so P(B | A) = 7/39.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Multiply: first “both” student </a:t>
            </a:r>
            <a:r>
              <a:rPr lang="en-US" sz="1800" b="1" dirty="0">
                <a:solidFill>
                  <a:schemeClr val="tx1"/>
                </a:solidFill>
              </a:rPr>
              <a:t>and then</a:t>
            </a:r>
            <a:r>
              <a:rPr lang="en-US" sz="1800" dirty="0">
                <a:solidFill>
                  <a:schemeClr val="tx1"/>
                </a:solidFill>
              </a:rPr>
              <a:t> second one.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Wrongly treating them as independent gives (8/40)² = 0.04 — too high.</a:t>
            </a:r>
          </a:p>
        </p:txBody>
      </p:sp>
      <p:sp>
        <p:nvSpPr>
          <p:cNvPr id="183" name="Shape 183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184" name="Text 184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P(A ∩ B) = P(A) · P(B | A)</a:t>
            </a:r>
          </a:p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= 8/40 · 7/39 = 7/195 ≈ 0.0359</a:t>
            </a:r>
          </a:p>
        </p:txBody>
      </p:sp>
      <p:sp>
        <p:nvSpPr>
          <p:cNvPr id="185" name="Text 185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Two “both” students in a row</a:t>
            </a:r>
          </a:p>
        </p:txBody>
      </p:sp>
      <p:sp>
        <p:nvSpPr>
          <p:cNvPr id="186" name="Shape 186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87" name="Text 187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Same multiplication idea — only the second factor changes after the first draw.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Multiplication Rule — “AND”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Both must happen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gives the probability that A and B both happen.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independent events, multiply: P(A and B) = P(A) × P(B).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Two heads in a row: 0.5 × 0.5 = 0.25.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extra requirement shrinks the probability.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Probabilities Shrink Fast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 heads in a row: 0.4%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Each extra flip multiplies the chance by 0.5.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8 in a row is 1 in 256.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Asking for more things to happen together makes the whole less likely.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Rare chains are rarer than they feel.</a:t>
            </a:r>
            <a:endParaRPr lang="en-US" sz="1400" dirty="0"/>
          </a:p>
        </p:txBody>
      </p:sp>
      <p:graphicFrame>
        <p:nvGraphicFramePr>
          <p:cNvPr id="7" name="Shrinking probability chart"/>
          <p:cNvGraphicFramePr/>
          <p:nvPr/>
        </p:nvGraphicFramePr>
        <p:xfrm>
          <a:off x="731520" y="173736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Multiplication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Independent events: multiply the individual probabilities.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simulation is a good sanity check on the maths.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100,000 trials land very close to 0.25.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Two heads in a row (independent)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print(0.5 * 0.5)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   # 0.25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A 6 on a die, then a student who knows both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print(round((1/6) * (8/40), 4))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# 0.0333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Check the first one by simulation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rng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=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np.random.default_rng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(1)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a =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rng.integers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(0, 2, 100_000)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b =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rng.integers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(0, 2, 100_000)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print(((a + b) == 2).mean())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# 0.24955</a:t>
            </a:r>
            <a:endParaRPr lang="en-US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vs. Dependent Events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Independent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One event has no effect on the other.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Examples: separate coin flips, two different dice.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Multiply directly: P(A) × P(B).</a:t>
            </a:r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Dependent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One event changes the other’s probability.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Example: picking students without replacement.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Needs conditional probability — coming up in Part 3.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Without Replacement: Two “Both” Students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After one “both” student is picked, only 7 are left among 39 students.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 the second draw depends on the first.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Treating it as independent gives a wrong answer.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Two students who know both, WITHOUT replacement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p_first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 = 8 / 40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p_second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= 7 / 39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# one “both” student is already gone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p_first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*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p_second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, 4))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# 0.0359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Wrong: pretending the draws are independent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print(round((8/40) ** 2, 4))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# 0.04</a:t>
            </a:r>
            <a:endParaRPr lang="en-US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Independent vs. Mutually Exclusive</a:t>
            </a:r>
            <a:endParaRPr lang="en-US" sz="2600" dirty="0"/>
          </a:p>
        </p:txBody>
      </p:sp>
      <p:sp>
        <p:nvSpPr>
          <p:cNvPr id="188" name="Shape 188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89" name="Shape 189"/>
          <p:cNvSpPr/>
          <p:nvPr/>
        </p:nvSpPr>
        <p:spPr>
          <a:xfrm>
            <a:off x="777240" y="1691640"/>
            <a:ext cx="49377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90" name="Text 190"/>
          <p:cNvSpPr txBox="1"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Independent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822959" y="242316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event does not change the other’s probability.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 = P(A) · P(B)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Both </a:t>
            </a:r>
            <a:r>
              <a:rPr lang="en-US" sz="1800" b="1" dirty="0">
                <a:solidFill>
                  <a:schemeClr val="tx1"/>
                </a:solidFill>
              </a:rPr>
              <a:t>can</a:t>
            </a:r>
            <a:r>
              <a:rPr lang="en-US" sz="1800" dirty="0">
                <a:solidFill>
                  <a:schemeClr val="tx1"/>
                </a:solidFill>
              </a:rPr>
              <a:t> happen together.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Heads on coin 1 and Heads on coin 2.</a:t>
            </a:r>
          </a:p>
        </p:txBody>
      </p:sp>
      <p:sp>
        <p:nvSpPr>
          <p:cNvPr id="192" name="Shape 192"/>
          <p:cNvSpPr/>
          <p:nvPr/>
        </p:nvSpPr>
        <p:spPr>
          <a:xfrm>
            <a:off x="6309359" y="1463040"/>
            <a:ext cx="5394960" cy="35661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93" name="Shape 193"/>
          <p:cNvSpPr/>
          <p:nvPr/>
        </p:nvSpPr>
        <p:spPr>
          <a:xfrm>
            <a:off x="6537959" y="1691640"/>
            <a:ext cx="49377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194" name="Text 194"/>
          <p:cNvSpPr txBox="1"/>
          <p:nvPr/>
        </p:nvSpPr>
        <p:spPr>
          <a:xfrm>
            <a:off x="6537959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2019"/>
                </a:solidFill>
              </a:rPr>
              <a:t>Mutually exclusive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6583679" y="242316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events cannot happen together.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 = 0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If A happens, B is </a:t>
            </a:r>
            <a:r>
              <a:rPr lang="en-US" sz="1800" b="1" dirty="0">
                <a:solidFill>
                  <a:schemeClr val="tx1"/>
                </a:solidFill>
              </a:rPr>
              <a:t>impossible</a:t>
            </a:r>
            <a:r>
              <a:rPr lang="en-US" sz="1800" dirty="0">
                <a:solidFill>
                  <a:schemeClr val="tx1"/>
                </a:solidFill>
              </a:rPr>
              <a:t> — they strongly affect each other.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one die showing a 2 and a 5.</a:t>
            </a:r>
          </a:p>
        </p:txBody>
      </p:sp>
      <p:sp>
        <p:nvSpPr>
          <p:cNvPr id="196" name="Shape 196"/>
          <p:cNvSpPr/>
          <p:nvPr/>
        </p:nvSpPr>
        <p:spPr>
          <a:xfrm>
            <a:off x="548640" y="5212080"/>
            <a:ext cx="11155680" cy="594360"/>
          </a:xfrm>
          <a:prstGeom prst="roundRect">
            <a:avLst>
              <a:gd name="adj" fmla="val 20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197" name="Text 197"/>
          <p:cNvSpPr txBox="1"/>
          <p:nvPr/>
        </p:nvSpPr>
        <p:spPr>
          <a:xfrm>
            <a:off x="777240" y="5212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If P(A) &gt; 0 and P(B) &gt; 0, mutually exclusive events are always dependent.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Which Rule Do I Use?</a:t>
            </a:r>
            <a:endParaRPr lang="en-US" sz="2600" dirty="0"/>
          </a:p>
        </p:txBody>
      </p:sp>
      <p:sp>
        <p:nvSpPr>
          <p:cNvPr id="198" name="Shape 198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199" name="Shape 199"/>
          <p:cNvSpPr/>
          <p:nvPr/>
        </p:nvSpPr>
        <p:spPr>
          <a:xfrm>
            <a:off x="777240" y="1691640"/>
            <a:ext cx="49377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00" name="Text 200"/>
          <p:cNvSpPr txBox="1"/>
          <p:nvPr/>
        </p:nvSpPr>
        <p:spPr>
          <a:xfrm>
            <a:off x="777240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“OR” → Addition Rule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822959" y="242316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Look for: or, at least one, either.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Union: P(A ∪ B)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Overlap possible: P(A) + P(B) − P(A ∩ B)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Mutually exclusive: P(A) + P(B)</a:t>
            </a:r>
          </a:p>
        </p:txBody>
      </p:sp>
      <p:sp>
        <p:nvSpPr>
          <p:cNvPr id="202" name="Shape 202"/>
          <p:cNvSpPr/>
          <p:nvPr/>
        </p:nvSpPr>
        <p:spPr>
          <a:xfrm>
            <a:off x="6309359" y="1463040"/>
            <a:ext cx="5394960" cy="356616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203" name="Shape 203"/>
          <p:cNvSpPr/>
          <p:nvPr/>
        </p:nvSpPr>
        <p:spPr>
          <a:xfrm>
            <a:off x="6537959" y="1691640"/>
            <a:ext cx="49377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204" name="Text 204"/>
          <p:cNvSpPr txBox="1"/>
          <p:nvPr/>
        </p:nvSpPr>
        <p:spPr>
          <a:xfrm>
            <a:off x="6537959" y="1691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2019"/>
                </a:solidFill>
              </a:rPr>
              <a:t>“AND” → Multiplication Rule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6583679" y="2423160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Look for: and, both, then, in a row.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Intersection: P(A ∩ B)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Independent: P(A) · P(B)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Dependent: P(A) · P(B | A)</a:t>
            </a:r>
          </a:p>
        </p:txBody>
      </p:sp>
      <p:sp>
        <p:nvSpPr>
          <p:cNvPr id="206" name="Shape 206"/>
          <p:cNvSpPr/>
          <p:nvPr/>
        </p:nvSpPr>
        <p:spPr>
          <a:xfrm>
            <a:off x="548640" y="5212080"/>
            <a:ext cx="11155680" cy="594360"/>
          </a:xfrm>
          <a:prstGeom prst="roundRect">
            <a:avLst>
              <a:gd name="adj" fmla="val 20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207" name="Text 207"/>
          <p:cNvSpPr txBox="1"/>
          <p:nvPr/>
        </p:nvSpPr>
        <p:spPr>
          <a:xfrm>
            <a:off x="777240" y="5212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Ask two questions every time: OR or AND? Then overlap or independence?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Combining Probabilities</a:t>
            </a:r>
            <a:endParaRPr lang="en-US" sz="23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 a class of 40 (20 FastAPI only, 12 ML only, 8 both), find P(FastAPI only OR ML only).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P(rolling a 3 on one die AND flipping heads on one coin).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Are “it rains today” and “traffic is heavy today” independent or dependent? Why?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P(A) = 0.4, P(B) = 0.3, P(A and B) = 0.1. Find P(A or B) in Python.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3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</a:rPr>
              <a:t>Conditional Probability &amp; Bayes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</a:rPr>
              <a:t>What happens to a probability once you learn something new — the most useful idea in this session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Conditional Probability?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Given this, what about that?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P(A | B) is the probability of A, given that B already happened.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bar means “given” — it is not division.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New information changes probabilities: rain is likelier given dark clouds.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Bayes’ Theorem is built entirely on this idea.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Conditional Probability: The Formula</a:t>
            </a:r>
            <a:endParaRPr lang="en-US" sz="2600" dirty="0"/>
          </a:p>
        </p:txBody>
      </p:sp>
      <p:sp>
        <p:nvSpPr>
          <p:cNvPr id="208" name="Shape 208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209" name="Text 209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/>
              <a:t>P(A | B) is the probability of </a:t>
            </a:r>
            <a:r>
              <a:rPr lang="en-US" sz="1800" b="1" dirty="0"/>
              <a:t>A given that B has already happened</a:t>
            </a:r>
            <a:r>
              <a:rPr lang="en-US" sz="1800" dirty="0"/>
              <a:t>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Knowing B shrinks the sample space to only the outcomes where B is true.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/>
              <a:t>Inside that smaller world, count where A also </a:t>
            </a:r>
            <a:r>
              <a:rPr lang="en-US" sz="1800" dirty="0" err="1"/>
              <a:t>happens:</a:t>
            </a:r>
            <a:r>
              <a:rPr lang="en-US" sz="1800" dirty="0"/>
              <a:t> that is A ∩ B.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 err="1"/>
              <a:t>So</a:t>
            </a:r>
            <a:r>
              <a:rPr lang="en-US" sz="1800" dirty="0"/>
              <a:t> divide: both happen ÷ B happens.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/>
              <a:t>Example: P(Both | </a:t>
            </a:r>
            <a:r>
              <a:rPr lang="en-US" sz="1800" dirty="0" err="1"/>
              <a:t>FastAPI</a:t>
            </a:r>
            <a:r>
              <a:rPr lang="en-US" sz="1800" dirty="0"/>
              <a:t>) = (8/40) ÷ (28/40) = 8/28 = 2/7.</a:t>
            </a:r>
          </a:p>
        </p:txBody>
      </p:sp>
      <p:sp>
        <p:nvSpPr>
          <p:cNvPr id="210" name="Shape 210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211" name="Text 211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| B) = P(A ∩ B) / P(B)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Requires P(B) &gt; 0</a:t>
            </a:r>
          </a:p>
        </p:txBody>
      </p:sp>
      <p:sp>
        <p:nvSpPr>
          <p:cNvPr id="213" name="Shape 213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214" name="Text 214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Rearranged, this is the Multiplication Rule for dependent events: P(A ∩ B) = P(B) · P(A | B).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Given FastAPI, the Class Shrinks to 28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P(Both | FastAPI)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Given: the student knows FastAPI.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sample space shrinks from 40 students to 28.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8 of those 28 know both.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 = 8/28 = 2/7 ≈ 0.286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With no information, P(Both) is only 8/40 = 0.20.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5A7"/>
                </a:solidFill>
              </a:rPr>
              <a:t>A class of 40 students: 4 rows × 10 seats</a:t>
            </a:r>
            <a:endParaRPr lang="en-US" sz="1400" dirty="0"/>
          </a:p>
        </p:txBody>
      </p:sp>
      <p:sp>
        <p:nvSpPr>
          <p:cNvPr id="9" name="Row label R1"/>
          <p:cNvSpPr txBox="1"/>
          <p:nvPr/>
        </p:nvSpPr>
        <p:spPr>
          <a:xfrm>
            <a:off x="1938024" y="23317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800" dirty="0"/>
          </a:p>
        </p:txBody>
      </p:sp>
      <p:sp>
        <p:nvSpPr>
          <p:cNvPr id="23" name="Row label R2"/>
          <p:cNvSpPr txBox="1"/>
          <p:nvPr/>
        </p:nvSpPr>
        <p:spPr>
          <a:xfrm>
            <a:off x="1938024" y="2770632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800" dirty="0"/>
          </a:p>
        </p:txBody>
      </p:sp>
      <p:sp>
        <p:nvSpPr>
          <p:cNvPr id="37" name="Row label R3"/>
          <p:cNvSpPr txBox="1"/>
          <p:nvPr/>
        </p:nvSpPr>
        <p:spPr>
          <a:xfrm>
            <a:off x="1938024" y="3209544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800" dirty="0"/>
          </a:p>
        </p:txBody>
      </p:sp>
      <p:sp>
        <p:nvSpPr>
          <p:cNvPr id="51" name="Row label R4"/>
          <p:cNvSpPr txBox="1"/>
          <p:nvPr/>
        </p:nvSpPr>
        <p:spPr>
          <a:xfrm>
            <a:off x="1938024" y="3648456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800" dirty="0"/>
          </a:p>
        </p:txBody>
      </p:sp>
      <p:sp>
        <p:nvSpPr>
          <p:cNvPr id="10" name="Student R1-1 (D)"/>
          <p:cNvSpPr/>
          <p:nvPr/>
        </p:nvSpPr>
        <p:spPr>
          <a:xfrm>
            <a:off x="2395224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1" name="Student R1-2 (D)"/>
          <p:cNvSpPr/>
          <p:nvPr/>
        </p:nvSpPr>
        <p:spPr>
          <a:xfrm>
            <a:off x="2834136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2" name="Student R1-3 (D)"/>
          <p:cNvSpPr/>
          <p:nvPr/>
        </p:nvSpPr>
        <p:spPr>
          <a:xfrm>
            <a:off x="3273048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3" name="Student R1-4 (D)"/>
          <p:cNvSpPr/>
          <p:nvPr/>
        </p:nvSpPr>
        <p:spPr>
          <a:xfrm>
            <a:off x="3711960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4" name="Student R1-5 (D)"/>
          <p:cNvSpPr/>
          <p:nvPr/>
        </p:nvSpPr>
        <p:spPr>
          <a:xfrm>
            <a:off x="4150872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15" name="Student R1-6 (B)"/>
          <p:cNvSpPr/>
          <p:nvPr/>
        </p:nvSpPr>
        <p:spPr>
          <a:xfrm>
            <a:off x="4589784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16" name="Student R1-7 (B)"/>
          <p:cNvSpPr/>
          <p:nvPr/>
        </p:nvSpPr>
        <p:spPr>
          <a:xfrm>
            <a:off x="5028696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17" name="Student R1-8 (M)"/>
          <p:cNvSpPr/>
          <p:nvPr/>
        </p:nvSpPr>
        <p:spPr>
          <a:xfrm>
            <a:off x="5467608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18" name="Student R1-9 (M)"/>
          <p:cNvSpPr/>
          <p:nvPr/>
        </p:nvSpPr>
        <p:spPr>
          <a:xfrm>
            <a:off x="5906520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19" name="Student R1-10 (M)"/>
          <p:cNvSpPr/>
          <p:nvPr/>
        </p:nvSpPr>
        <p:spPr>
          <a:xfrm>
            <a:off x="6345432" y="2331720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20" name="Student R2-1 (D)"/>
          <p:cNvSpPr/>
          <p:nvPr/>
        </p:nvSpPr>
        <p:spPr>
          <a:xfrm>
            <a:off x="2395224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1" name="Student R2-2 (D)"/>
          <p:cNvSpPr/>
          <p:nvPr/>
        </p:nvSpPr>
        <p:spPr>
          <a:xfrm>
            <a:off x="2834136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2" name="Student R2-3 (D)"/>
          <p:cNvSpPr/>
          <p:nvPr/>
        </p:nvSpPr>
        <p:spPr>
          <a:xfrm>
            <a:off x="3273048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4" name="Student R2-4 (D)"/>
          <p:cNvSpPr/>
          <p:nvPr/>
        </p:nvSpPr>
        <p:spPr>
          <a:xfrm>
            <a:off x="3711960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5" name="Student R2-5 (D)"/>
          <p:cNvSpPr/>
          <p:nvPr/>
        </p:nvSpPr>
        <p:spPr>
          <a:xfrm>
            <a:off x="4150872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26" name="Student R2-6 (B)"/>
          <p:cNvSpPr/>
          <p:nvPr/>
        </p:nvSpPr>
        <p:spPr>
          <a:xfrm>
            <a:off x="4589784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27" name="Student R2-7 (B)"/>
          <p:cNvSpPr/>
          <p:nvPr/>
        </p:nvSpPr>
        <p:spPr>
          <a:xfrm>
            <a:off x="5028696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28" name="Student R2-8 (M)"/>
          <p:cNvSpPr/>
          <p:nvPr/>
        </p:nvSpPr>
        <p:spPr>
          <a:xfrm>
            <a:off x="5467608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29" name="Student R2-9 (M)"/>
          <p:cNvSpPr/>
          <p:nvPr/>
        </p:nvSpPr>
        <p:spPr>
          <a:xfrm>
            <a:off x="5906520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30" name="Student R2-10 (M)"/>
          <p:cNvSpPr/>
          <p:nvPr/>
        </p:nvSpPr>
        <p:spPr>
          <a:xfrm>
            <a:off x="6345432" y="2770632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31" name="Student R3-1 (D)"/>
          <p:cNvSpPr/>
          <p:nvPr/>
        </p:nvSpPr>
        <p:spPr>
          <a:xfrm>
            <a:off x="2395224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2" name="Student R3-2 (D)"/>
          <p:cNvSpPr/>
          <p:nvPr/>
        </p:nvSpPr>
        <p:spPr>
          <a:xfrm>
            <a:off x="2834136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3" name="Student R3-3 (D)"/>
          <p:cNvSpPr/>
          <p:nvPr/>
        </p:nvSpPr>
        <p:spPr>
          <a:xfrm>
            <a:off x="3273048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4" name="Student R3-4 (D)"/>
          <p:cNvSpPr/>
          <p:nvPr/>
        </p:nvSpPr>
        <p:spPr>
          <a:xfrm>
            <a:off x="3711960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5" name="Student R3-5 (D)"/>
          <p:cNvSpPr/>
          <p:nvPr/>
        </p:nvSpPr>
        <p:spPr>
          <a:xfrm>
            <a:off x="4150872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36" name="Student R3-6 (B)"/>
          <p:cNvSpPr/>
          <p:nvPr/>
        </p:nvSpPr>
        <p:spPr>
          <a:xfrm>
            <a:off x="4589784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38" name="Student R3-7 (B)"/>
          <p:cNvSpPr/>
          <p:nvPr/>
        </p:nvSpPr>
        <p:spPr>
          <a:xfrm>
            <a:off x="5028696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39" name="Student R3-8 (M)"/>
          <p:cNvSpPr/>
          <p:nvPr/>
        </p:nvSpPr>
        <p:spPr>
          <a:xfrm>
            <a:off x="5467608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40" name="Student R3-9 (M)"/>
          <p:cNvSpPr/>
          <p:nvPr/>
        </p:nvSpPr>
        <p:spPr>
          <a:xfrm>
            <a:off x="5906520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41" name="Student R3-10 (M)"/>
          <p:cNvSpPr/>
          <p:nvPr/>
        </p:nvSpPr>
        <p:spPr>
          <a:xfrm>
            <a:off x="6345432" y="3209544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42" name="Student R4-1 (D)"/>
          <p:cNvSpPr/>
          <p:nvPr/>
        </p:nvSpPr>
        <p:spPr>
          <a:xfrm>
            <a:off x="2395224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3" name="Student R4-2 (D)"/>
          <p:cNvSpPr/>
          <p:nvPr/>
        </p:nvSpPr>
        <p:spPr>
          <a:xfrm>
            <a:off x="2834136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4" name="Student R4-3 (D)"/>
          <p:cNvSpPr/>
          <p:nvPr/>
        </p:nvSpPr>
        <p:spPr>
          <a:xfrm>
            <a:off x="3273048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5" name="Student R4-4 (D)"/>
          <p:cNvSpPr/>
          <p:nvPr/>
        </p:nvSpPr>
        <p:spPr>
          <a:xfrm>
            <a:off x="3711960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6" name="Student R4-5 (D)"/>
          <p:cNvSpPr/>
          <p:nvPr/>
        </p:nvSpPr>
        <p:spPr>
          <a:xfrm>
            <a:off x="4150872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</a:t>
            </a:r>
            <a:endParaRPr lang="en-US" sz="1100" dirty="0"/>
          </a:p>
        </p:txBody>
      </p:sp>
      <p:sp>
        <p:nvSpPr>
          <p:cNvPr id="47" name="Student R4-6 (B)"/>
          <p:cNvSpPr/>
          <p:nvPr/>
        </p:nvSpPr>
        <p:spPr>
          <a:xfrm>
            <a:off x="4589784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48" name="Student R4-7 (B)"/>
          <p:cNvSpPr/>
          <p:nvPr/>
        </p:nvSpPr>
        <p:spPr>
          <a:xfrm>
            <a:off x="5028696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19"/>
                </a:solidFill>
              </a:rPr>
              <a:t>B</a:t>
            </a:r>
            <a:endParaRPr lang="en-US" sz="1100" dirty="0"/>
          </a:p>
        </p:txBody>
      </p:sp>
      <p:sp>
        <p:nvSpPr>
          <p:cNvPr id="49" name="Student R4-8 (M)"/>
          <p:cNvSpPr/>
          <p:nvPr/>
        </p:nvSpPr>
        <p:spPr>
          <a:xfrm>
            <a:off x="5467608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50" name="Student R4-9 (M)"/>
          <p:cNvSpPr/>
          <p:nvPr/>
        </p:nvSpPr>
        <p:spPr>
          <a:xfrm>
            <a:off x="5906520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52" name="Student R4-10 (M)"/>
          <p:cNvSpPr/>
          <p:nvPr/>
        </p:nvSpPr>
        <p:spPr>
          <a:xfrm>
            <a:off x="6345432" y="3648456"/>
            <a:ext cx="393192" cy="393192"/>
          </a:xfrm>
          <a:prstGeom prst="roundRect">
            <a:avLst>
              <a:gd name="adj" fmla="val 11628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M</a:t>
            </a:r>
            <a:endParaRPr lang="en-US" sz="1100" dirty="0"/>
          </a:p>
        </p:txBody>
      </p:sp>
      <p:sp>
        <p:nvSpPr>
          <p:cNvPr id="65" name="Legend swatch"/>
          <p:cNvSpPr/>
          <p:nvPr/>
        </p:nvSpPr>
        <p:spPr>
          <a:xfrm>
            <a:off x="109728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6" name="Legend text"/>
          <p:cNvSpPr txBox="1"/>
          <p:nvPr/>
        </p:nvSpPr>
        <p:spPr>
          <a:xfrm>
            <a:off x="1389888" y="4398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4651"/>
                </a:solidFill>
              </a:rPr>
              <a:t>FastAPI only — 20</a:t>
            </a:r>
            <a:endParaRPr lang="en-US" sz="1200" dirty="0"/>
          </a:p>
        </p:txBody>
      </p:sp>
      <p:sp>
        <p:nvSpPr>
          <p:cNvPr id="67" name="Legend swatch"/>
          <p:cNvSpPr/>
          <p:nvPr/>
        </p:nvSpPr>
        <p:spPr>
          <a:xfrm>
            <a:off x="416052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8" name="Legend text"/>
          <p:cNvSpPr txBox="1"/>
          <p:nvPr/>
        </p:nvSpPr>
        <p:spPr>
          <a:xfrm>
            <a:off x="4453128" y="4398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4651"/>
                </a:solidFill>
              </a:rPr>
              <a:t>Both — 8</a:t>
            </a:r>
            <a:endParaRPr lang="en-US" sz="1200" dirty="0"/>
          </a:p>
        </p:txBody>
      </p:sp>
      <p:sp>
        <p:nvSpPr>
          <p:cNvPr id="69" name="Legend swatch"/>
          <p:cNvSpPr/>
          <p:nvPr/>
        </p:nvSpPr>
        <p:spPr>
          <a:xfrm>
            <a:off x="6035040" y="44348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D7F7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70" name="Legend text"/>
          <p:cNvSpPr txBox="1"/>
          <p:nvPr/>
        </p:nvSpPr>
        <p:spPr>
          <a:xfrm>
            <a:off x="6327648" y="4398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4651"/>
                </a:solidFill>
              </a:rPr>
              <a:t>ML only — 12</a:t>
            </a:r>
            <a:endParaRPr lang="en-US" sz="1200" dirty="0"/>
          </a:p>
        </p:txBody>
      </p:sp>
      <p:sp>
        <p:nvSpPr>
          <p:cNvPr id="71" name="Grid caption"/>
          <p:cNvSpPr txBox="1"/>
          <p:nvPr/>
        </p:nvSpPr>
        <p:spPr>
          <a:xfrm>
            <a:off x="914400" y="4937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1F71"/>
                </a:solidFill>
              </a:rPr>
              <a:t>Given “FastAPI”, only the purple and teal students remain.</a:t>
            </a:r>
            <a:endParaRPr lang="en-US" sz="14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Conditional Probability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Build the class list, then filter to the “given” group.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Count how many in that group also satisfy the event.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Formula: P(A | B) = P(A and B) ÷ P(B).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20 </a:t>
            </a:r>
            <a:r>
              <a:rPr lang="en-US" dirty="0" err="1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FastAPI</a:t>
            </a:r>
            <a:r>
              <a:rPr lang="en-US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only (D), 12 ML only (M), 8 both (B)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students = ["D"] * 20 + ["M"] * 12 + ["B"] * 8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Given: the student knows </a:t>
            </a:r>
            <a:r>
              <a:rPr lang="en-US" i="1" dirty="0" err="1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FastAPI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data = [s for s in students if s in ("D", "B")]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both = [s for s in data if s == "B"]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(data),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(both))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# 28  8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(both) /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len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(data), 4))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# 0.2857</a:t>
            </a:r>
            <a:endParaRPr lang="en-US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P(A | B) Is Not P(B | A)</a:t>
            </a:r>
            <a:endParaRPr lang="en-US" sz="2600" dirty="0"/>
          </a:p>
        </p:txBody>
      </p:sp>
      <p:sp>
        <p:nvSpPr>
          <p:cNvPr id="3" name="Compare card 1"/>
          <p:cNvSpPr/>
          <p:nvPr/>
        </p:nvSpPr>
        <p:spPr>
          <a:xfrm>
            <a:off x="54864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Header pill 1"/>
          <p:cNvSpPr/>
          <p:nvPr/>
        </p:nvSpPr>
        <p:spPr>
          <a:xfrm>
            <a:off x="77724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er text 1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P(Both | FastAPI)</a:t>
            </a:r>
            <a:endParaRPr lang="en-US" sz="1500" dirty="0"/>
          </a:p>
        </p:txBody>
      </p:sp>
      <p:sp>
        <p:nvSpPr>
          <p:cNvPr id="6" name="Card bullets 1"/>
          <p:cNvSpPr txBox="1"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Given </a:t>
            </a:r>
            <a:r>
              <a:rPr lang="en-US" sz="2000" dirty="0" err="1"/>
              <a:t>FastAPI</a:t>
            </a:r>
            <a:r>
              <a:rPr lang="en-US" sz="2000" dirty="0"/>
              <a:t>, how likely is Both?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8 of the 28 </a:t>
            </a:r>
            <a:r>
              <a:rPr lang="en-US" sz="2000" dirty="0" err="1"/>
              <a:t>FastAPI</a:t>
            </a:r>
            <a:r>
              <a:rPr lang="en-US" sz="2000" dirty="0"/>
              <a:t> students know both.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P = 8/28 ≈ 0.29</a:t>
            </a:r>
          </a:p>
        </p:txBody>
      </p:sp>
      <p:sp>
        <p:nvSpPr>
          <p:cNvPr id="7" name="Compare card 2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Header pill 2"/>
          <p:cNvSpPr/>
          <p:nvPr/>
        </p:nvSpPr>
        <p:spPr>
          <a:xfrm>
            <a:off x="6400800" y="1965960"/>
            <a:ext cx="5029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er text 2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P(FastAPI | Both)</a:t>
            </a:r>
            <a:endParaRPr lang="en-US" sz="1500" dirty="0"/>
          </a:p>
        </p:txBody>
      </p:sp>
      <p:sp>
        <p:nvSpPr>
          <p:cNvPr id="10" name="Card bullets 2"/>
          <p:cNvSpPr txBox="1"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Given Both, how likely is </a:t>
            </a:r>
            <a:r>
              <a:rPr lang="en-US" sz="2000" dirty="0" err="1"/>
              <a:t>FastAPI</a:t>
            </a:r>
            <a:r>
              <a:rPr lang="en-US" sz="2000" dirty="0"/>
              <a:t>?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All 8 “both” students know </a:t>
            </a:r>
            <a:r>
              <a:rPr lang="en-US" sz="2000" dirty="0" err="1"/>
              <a:t>FastAPI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P = 8/8 = 1.0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Bayes’ Theorem — Updating Beliefs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Flip the condition around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 often know P(evidence | hypothesis) but want P(hypothesis | evidence).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test gives P(positive | disease); a patient wants P(disease | positive).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Bayes’ Theorem flips the condition and updates your belief.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powers spam filters, diagnosis tools and Naive Bayes in ML.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Four Parts of Bayes’ Theorem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tep chip 1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77724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P(A)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77724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What you believed before seeing any evidence.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38328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tep chip 2"/>
          <p:cNvSpPr/>
          <p:nvPr/>
        </p:nvSpPr>
        <p:spPr>
          <a:xfrm>
            <a:off x="361188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3611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tep title 2"/>
          <p:cNvSpPr txBox="1"/>
          <p:nvPr/>
        </p:nvSpPr>
        <p:spPr>
          <a:xfrm>
            <a:off x="361188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Likelihood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 | A)</a:t>
            </a:r>
            <a:endParaRPr lang="en-US" sz="1600" dirty="0"/>
          </a:p>
        </p:txBody>
      </p:sp>
      <p:sp>
        <p:nvSpPr>
          <p:cNvPr id="12" name="Step text 2"/>
          <p:cNvSpPr txBox="1"/>
          <p:nvPr/>
        </p:nvSpPr>
        <p:spPr>
          <a:xfrm>
            <a:off x="361188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How probable the evidence is if the hypothesis is true.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21792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tep chip 3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tep title 3"/>
          <p:cNvSpPr txBox="1"/>
          <p:nvPr/>
        </p:nvSpPr>
        <p:spPr>
          <a:xfrm>
            <a:off x="644652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Evidence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P(B)</a:t>
            </a:r>
            <a:endParaRPr lang="en-US" sz="1600" dirty="0"/>
          </a:p>
        </p:txBody>
      </p:sp>
      <p:sp>
        <p:nvSpPr>
          <p:cNvPr id="17" name="Step text 3"/>
          <p:cNvSpPr txBox="1"/>
          <p:nvPr/>
        </p:nvSpPr>
        <p:spPr>
          <a:xfrm>
            <a:off x="644652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The overall chance of seeing this evidence — it normalizes the result.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052560" y="1600200"/>
            <a:ext cx="2606040" cy="31546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9" name="Step chip 4"/>
          <p:cNvSpPr/>
          <p:nvPr/>
        </p:nvSpPr>
        <p:spPr>
          <a:xfrm>
            <a:off x="928116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tep number 4"/>
          <p:cNvSpPr txBox="1"/>
          <p:nvPr/>
        </p:nvSpPr>
        <p:spPr>
          <a:xfrm>
            <a:off x="92811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tep title 4"/>
          <p:cNvSpPr txBox="1"/>
          <p:nvPr/>
        </p:nvSpPr>
        <p:spPr>
          <a:xfrm>
            <a:off x="9281160" y="2514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Posterior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| B)</a:t>
            </a:r>
            <a:endParaRPr lang="en-US" sz="1600" dirty="0"/>
          </a:p>
        </p:txBody>
      </p:sp>
      <p:sp>
        <p:nvSpPr>
          <p:cNvPr id="22" name="Step text 4"/>
          <p:cNvSpPr txBox="1"/>
          <p:nvPr/>
        </p:nvSpPr>
        <p:spPr>
          <a:xfrm>
            <a:off x="9281160" y="33832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Your updated belief after the evidence.</a:t>
            </a:r>
            <a:endParaRPr lang="en-US" sz="1400" dirty="0"/>
          </a:p>
        </p:txBody>
      </p:sp>
      <p:sp>
        <p:nvSpPr>
          <p:cNvPr id="23" name="Formula banner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Formula"/>
          <p:cNvSpPr txBox="1"/>
          <p:nvPr/>
        </p:nvSpPr>
        <p:spPr>
          <a:xfrm>
            <a:off x="548640" y="4983480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P(A | B)  =  P(B | A) × P(A)  ÷  P(B)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posterior  =  likelihood × prior  ÷ 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Where Bayes’ Theorem Comes From</a:t>
            </a:r>
            <a:endParaRPr lang="en-US" sz="2600" dirty="0"/>
          </a:p>
        </p:txBody>
      </p:sp>
      <p:sp>
        <p:nvSpPr>
          <p:cNvPr id="215" name="Shape 215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216" name="Text 216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Write the Multiplication Rule two ways for the same event A ∩ B.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 = P(A | B) · P(B)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P(A ∩ B) = P(B | A) · P(A)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Both equal P(A ∩ B), so set them equal and divide by P(B).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result flips the condition: from P(B | A) to P(A | B).</a:t>
            </a:r>
          </a:p>
        </p:txBody>
      </p:sp>
      <p:sp>
        <p:nvSpPr>
          <p:cNvPr id="217" name="Shape 217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218" name="Text 218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chemeClr val="tx1"/>
                </a:solidFill>
                <a:latin typeface="Cambria"/>
                <a:cs typeface="Cambria"/>
              </a:rPr>
              <a:t>P(A | B) = P(B | A) · P(A) / P(B)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Bayes’ Theorem</a:t>
            </a:r>
          </a:p>
        </p:txBody>
      </p:sp>
      <p:sp>
        <p:nvSpPr>
          <p:cNvPr id="220" name="Shape 220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221" name="Text 221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Posterior = likelihood × prior ÷ evidence.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 Step by Step: The Medical Test</a:t>
            </a:r>
            <a:endParaRPr lang="en-US" sz="2600" dirty="0"/>
          </a:p>
        </p:txBody>
      </p:sp>
      <p:sp>
        <p:nvSpPr>
          <p:cNvPr id="222" name="Shape 222"/>
          <p:cNvSpPr/>
          <p:nvPr/>
        </p:nvSpPr>
        <p:spPr>
          <a:xfrm>
            <a:off x="548640" y="1463040"/>
            <a:ext cx="6309360" cy="43434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</p:sp>
      <p:sp>
        <p:nvSpPr>
          <p:cNvPr id="223" name="Text 223"/>
          <p:cNvSpPr txBox="1"/>
          <p:nvPr/>
        </p:nvSpPr>
        <p:spPr>
          <a:xfrm>
            <a:off x="822960" y="1691640"/>
            <a:ext cx="5760720" cy="397763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Let </a:t>
            </a:r>
            <a:r>
              <a:rPr lang="en-US" sz="1800" b="1" dirty="0">
                <a:solidFill>
                  <a:schemeClr val="tx1"/>
                </a:solidFill>
              </a:rPr>
              <a:t>D</a:t>
            </a:r>
            <a:r>
              <a:rPr lang="en-US" sz="1800" dirty="0">
                <a:solidFill>
                  <a:schemeClr val="tx1"/>
                </a:solidFill>
              </a:rPr>
              <a:t> = has the disease, </a:t>
            </a:r>
            <a:r>
              <a:rPr lang="en-US" sz="1800" b="1" dirty="0">
                <a:solidFill>
                  <a:schemeClr val="tx1"/>
                </a:solidFill>
              </a:rPr>
              <a:t>+</a:t>
            </a:r>
            <a:r>
              <a:rPr lang="en-US" sz="1800" dirty="0">
                <a:solidFill>
                  <a:schemeClr val="tx1"/>
                </a:solidFill>
              </a:rPr>
              <a:t> = tests positive.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P(D) = 0.01 (prior). P(+ | D) = 0.95. P(+ | Dᶜ) = 0.05.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Evidence: P(+) = 0.95·0.01 + 0.05·0.99 = 0.0095 + 0.0495 = 0.059.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Posterior: P(D | +) = 0.0095 ÷ 0.059 ≈ 0.161.</a:t>
            </a:r>
          </a:p>
          <a:p>
            <a:pPr marL="285750" indent="-28575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positive test still leaves only about a 16% chance of disease.</a:t>
            </a:r>
          </a:p>
        </p:txBody>
      </p:sp>
      <p:sp>
        <p:nvSpPr>
          <p:cNvPr id="224" name="Shape 224"/>
          <p:cNvSpPr/>
          <p:nvPr/>
        </p:nvSpPr>
        <p:spPr>
          <a:xfrm>
            <a:off x="7086600" y="1463040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F1EFFC"/>
          </a:solidFill>
          <a:ln>
            <a:noFill/>
          </a:ln>
        </p:spPr>
      </p:sp>
      <p:sp>
        <p:nvSpPr>
          <p:cNvPr id="225" name="Text 225"/>
          <p:cNvSpPr txBox="1"/>
          <p:nvPr/>
        </p:nvSpPr>
        <p:spPr>
          <a:xfrm>
            <a:off x="7269480" y="1600200"/>
            <a:ext cx="4206240" cy="1508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P(D | +) = (0.95 × 0.01) / 0.059</a:t>
            </a:r>
          </a:p>
          <a:p>
            <a:pPr marL="0" indent="0" algn="ct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mbria"/>
                <a:cs typeface="Cambria"/>
              </a:rPr>
              <a:t>≈ 0.161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7269480" y="3108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474651"/>
                </a:solidFill>
              </a:rPr>
              <a:t>Posterior probability</a:t>
            </a:r>
          </a:p>
        </p:txBody>
      </p:sp>
      <p:sp>
        <p:nvSpPr>
          <p:cNvPr id="227" name="Shape 227"/>
          <p:cNvSpPr/>
          <p:nvPr/>
        </p:nvSpPr>
        <p:spPr>
          <a:xfrm>
            <a:off x="7086600" y="37947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DDF6F1"/>
          </a:solidFill>
          <a:ln>
            <a:noFill/>
          </a:ln>
        </p:spPr>
      </p:sp>
      <p:sp>
        <p:nvSpPr>
          <p:cNvPr id="228" name="Text 228"/>
          <p:cNvSpPr txBox="1"/>
          <p:nvPr/>
        </p:nvSpPr>
        <p:spPr>
          <a:xfrm>
            <a:off x="7315200" y="393192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P(+) adds every way to test positive: true positives </a:t>
            </a:r>
            <a:r>
              <a:rPr lang="en-US" sz="1600" b="1" dirty="0">
                <a:solidFill>
                  <a:schemeClr val="tx1"/>
                </a:solidFill>
              </a:rPr>
              <a:t>and</a:t>
            </a:r>
            <a:r>
              <a:rPr lang="en-US" sz="1600" dirty="0">
                <a:solidFill>
                  <a:schemeClr val="tx1"/>
                </a:solidFill>
              </a:rPr>
              <a:t> false positives.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 Medical Test: Out of 10,000 People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590 positives, only 95 are sick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95 true positives + 495 false positives = 590 positive tests.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P(disease | positive) = 95 / 590 ≈ 16%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big healthy group makes far more false alarms than the small sick group makes true hits.</a:t>
            </a:r>
            <a:endParaRPr lang="en-US" sz="1400" dirty="0"/>
          </a:p>
        </p:txBody>
      </p:sp>
      <p:sp>
        <p:nvSpPr>
          <p:cNvPr id="8" name="Graph title"/>
          <p:cNvSpPr txBox="1"/>
          <p:nvPr/>
        </p:nvSpPr>
        <p:spPr>
          <a:xfrm>
            <a:off x="777240" y="17556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755A7"/>
                </a:solidFill>
              </a:rPr>
              <a:t>Disease prevalence 1% · test is 95% accurate</a:t>
            </a:r>
            <a:endParaRPr lang="en-US" sz="1300" dirty="0"/>
          </a:p>
        </p:txBody>
      </p:sp>
      <p:sp>
        <p:nvSpPr>
          <p:cNvPr id="9" name="Tree root"/>
          <p:cNvSpPr/>
          <p:nvPr/>
        </p:nvSpPr>
        <p:spPr>
          <a:xfrm>
            <a:off x="777240" y="3337560"/>
            <a:ext cx="15544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10,000 people</a:t>
            </a:r>
            <a:endParaRPr lang="en-US" sz="1300" dirty="0"/>
          </a:p>
        </p:txBody>
      </p:sp>
      <p:sp>
        <p:nvSpPr>
          <p:cNvPr id="10" name="Tree sick"/>
          <p:cNvSpPr/>
          <p:nvPr/>
        </p:nvSpPr>
        <p:spPr>
          <a:xfrm>
            <a:off x="3063240" y="2423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Has disease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  (1%)</a:t>
            </a:r>
            <a:endParaRPr lang="en-US" sz="1300" dirty="0"/>
          </a:p>
        </p:txBody>
      </p:sp>
      <p:sp>
        <p:nvSpPr>
          <p:cNvPr id="11" name="Tree healthy"/>
          <p:cNvSpPr/>
          <p:nvPr/>
        </p:nvSpPr>
        <p:spPr>
          <a:xfrm>
            <a:off x="3063240" y="42519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D9D7F7"/>
          </a:solidFill>
          <a:ln w="12700">
            <a:solidFill>
              <a:srgbClr val="D9D7F7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disease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9,900  (99%)</a:t>
            </a:r>
            <a:endParaRPr lang="en-US" sz="1300" dirty="0"/>
          </a:p>
        </p:txBody>
      </p:sp>
      <p:sp>
        <p:nvSpPr>
          <p:cNvPr id="12" name="Tree branch"/>
          <p:cNvSpPr/>
          <p:nvPr/>
        </p:nvSpPr>
        <p:spPr>
          <a:xfrm flipV="1">
            <a:off x="2331720" y="2788920"/>
            <a:ext cx="731520" cy="9144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3" name="Tree branch"/>
          <p:cNvSpPr/>
          <p:nvPr/>
        </p:nvSpPr>
        <p:spPr>
          <a:xfrm>
            <a:off x="2331720" y="3703320"/>
            <a:ext cx="731520" cy="9144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4" name="Leaf true positive"/>
          <p:cNvSpPr/>
          <p:nvPr/>
        </p:nvSpPr>
        <p:spPr>
          <a:xfrm>
            <a:off x="5806440" y="210312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+   95</a:t>
            </a:r>
            <a:endParaRPr lang="en-US" sz="1300" dirty="0"/>
          </a:p>
        </p:txBody>
      </p:sp>
      <p:sp>
        <p:nvSpPr>
          <p:cNvPr id="15" name="Leaf false negative"/>
          <p:cNvSpPr/>
          <p:nvPr/>
        </p:nvSpPr>
        <p:spPr>
          <a:xfrm>
            <a:off x="5806440" y="297180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−   5</a:t>
            </a:r>
            <a:endParaRPr lang="en-US" sz="1300" dirty="0"/>
          </a:p>
        </p:txBody>
      </p:sp>
      <p:sp>
        <p:nvSpPr>
          <p:cNvPr id="16" name="Leaf false positive"/>
          <p:cNvSpPr/>
          <p:nvPr/>
        </p:nvSpPr>
        <p:spPr>
          <a:xfrm>
            <a:off x="5806440" y="393192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+   495</a:t>
            </a:r>
            <a:endParaRPr lang="en-US" sz="1300" dirty="0"/>
          </a:p>
        </p:txBody>
      </p:sp>
      <p:sp>
        <p:nvSpPr>
          <p:cNvPr id="17" name="Leaf true negative"/>
          <p:cNvSpPr/>
          <p:nvPr/>
        </p:nvSpPr>
        <p:spPr>
          <a:xfrm>
            <a:off x="5806440" y="4800600"/>
            <a:ext cx="178308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465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 −   9,405</a:t>
            </a:r>
            <a:endParaRPr lang="en-US" sz="1300" dirty="0"/>
          </a:p>
        </p:txBody>
      </p:sp>
      <p:sp>
        <p:nvSpPr>
          <p:cNvPr id="18" name="Tree branch"/>
          <p:cNvSpPr/>
          <p:nvPr/>
        </p:nvSpPr>
        <p:spPr>
          <a:xfrm flipV="1">
            <a:off x="4892040" y="2359152"/>
            <a:ext cx="914400" cy="429768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19" name="Tree branch"/>
          <p:cNvSpPr/>
          <p:nvPr/>
        </p:nvSpPr>
        <p:spPr>
          <a:xfrm>
            <a:off x="4892040" y="2788920"/>
            <a:ext cx="914400" cy="429768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0" name="Tree branch"/>
          <p:cNvSpPr/>
          <p:nvPr/>
        </p:nvSpPr>
        <p:spPr>
          <a:xfrm flipV="1">
            <a:off x="4892040" y="4187952"/>
            <a:ext cx="914400" cy="457200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1" name="Tree branch"/>
          <p:cNvSpPr/>
          <p:nvPr/>
        </p:nvSpPr>
        <p:spPr>
          <a:xfrm>
            <a:off x="4892040" y="4617720"/>
            <a:ext cx="914400" cy="438912"/>
          </a:xfrm>
          <a:prstGeom prst="line">
            <a:avLst/>
          </a:prstGeom>
          <a:noFill/>
          <a:ln w="19050">
            <a:solidFill>
              <a:srgbClr val="8C8AE0"/>
            </a:solidFill>
            <a:prstDash val="solid"/>
          </a:ln>
        </p:spPr>
      </p:sp>
      <p:sp>
        <p:nvSpPr>
          <p:cNvPr id="22" name="Tree legend"/>
          <p:cNvSpPr txBox="1"/>
          <p:nvPr/>
        </p:nvSpPr>
        <p:spPr>
          <a:xfrm>
            <a:off x="777240" y="55321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4651"/>
                </a:solidFill>
              </a:rPr>
              <a:t>teal = true positives     rose = false positives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Why Prevalence Changes Everything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Same test, different priors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The test is 95% accurate in every bar.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At 1% prevalence a positive is right only 16% of the time (the rose bar).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The prior matters as much as the test.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At 50% prevalence the same positive is 95% reliable.</a:t>
            </a:r>
            <a:endParaRPr lang="en-US" sz="1400" dirty="0"/>
          </a:p>
        </p:txBody>
      </p:sp>
      <p:graphicFrame>
        <p:nvGraphicFramePr>
          <p:cNvPr id="7" name="Prevalence posterior chart"/>
          <p:cNvGraphicFramePr/>
          <p:nvPr/>
        </p:nvGraphicFramePr>
        <p:xfrm>
          <a:off x="731520" y="173736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Bayes’ Theorem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One small function turns the formula into code.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Inputs: prior, sensitivity and specificity.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Output: P(disease | positive) = 0.161.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def bayes(prior,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sens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, spec):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# P(positive) = true + false positives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  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p_pos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=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sens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* prior + (1 - spec) * (1 - prior)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   return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sens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* prior /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p_pos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1% prevalence, 95% sensitivity, 95% specificity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post = bayes(0.01, 0.95, 0.95)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print(round(post, 3))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# 0.161</a:t>
            </a:r>
            <a:endParaRPr lang="en-US" sz="2000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A Second Positive Test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Today’s posterior becomes tomorrow’s prior.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One positive: 16%. Two positives: 78.5%.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why doctors order a confirmatory test.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uses bayes() from the previous slide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the posterior after test 1 is the prior for test 2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p1 = bayes(0.01, 0.95, 0.95)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# after 1st positive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p2 = bayes(p1, 0.95, 0.95)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# after 2nd positive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print(round(p1, 3))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# 0.161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print(round(p2, 3))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# 0.785</a:t>
            </a:r>
            <a:endParaRPr lang="en-US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Conditional Probability &amp; Bayes</a:t>
            </a:r>
            <a:endParaRPr lang="en-US" sz="23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 of 40: 20 FastAPI only, 12 ML only, 8 both. Count P(FastAPI | ML) in Python.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the difference between P(A | B) and P(B | A) using your own example.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filter flags 98% of real spam, and only 1% of all email is spam. Why can a “spam” flag still be wrong?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Python: run bayes(0.05, 0.90, 0.90). Is the answer higher or lower than you expected?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4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/>
              <a:t>Probability Distributions</a:t>
            </a:r>
            <a:r>
              <a:rPr lang="en-US" sz="4000" b="1">
                <a:solidFill>
                  <a:srgbClr val="F1F5F9"/>
                </a:solidFill>
              </a:rPr>
              <a:t> &amp; the CLT</a:t>
            </a:r>
            <a:endParaRPr lang="en-US" sz="40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</a:rPr>
              <a:t>Shapes that describe which outcomes are likely — and the theorem that makes inference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What Is a Probability Distribution?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shape of possible outcomes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distribution lists every possible outcome and how likely each one is.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Its shape — flat, lopsided, bell-shaped — reveals the process behind the data.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Today: Uniform, Binomial and Normal.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extends Session 19’s histograms to true, known probabilities.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Three Shapes, Three Stories</a:t>
            </a:r>
            <a:endParaRPr lang="en-US" sz="2600" dirty="0"/>
          </a:p>
        </p:txBody>
      </p:sp>
      <p:sp>
        <p:nvSpPr>
          <p:cNvPr id="3" name="Shape card 1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hape pill 1"/>
          <p:cNvSpPr/>
          <p:nvPr/>
        </p:nvSpPr>
        <p:spPr>
          <a:xfrm>
            <a:off x="7772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head 1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Uniform</a:t>
            </a:r>
            <a:endParaRPr lang="en-US" sz="1500" dirty="0"/>
          </a:p>
        </p:txBody>
      </p:sp>
      <p:graphicFrame>
        <p:nvGraphicFramePr>
          <p:cNvPr id="6" name="Uniform mini chart"/>
          <p:cNvGraphicFramePr/>
          <p:nvPr/>
        </p:nvGraphicFramePr>
        <p:xfrm>
          <a:off x="685800" y="2468880"/>
          <a:ext cx="3291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caption 1"/>
          <p:cNvSpPr txBox="1"/>
          <p:nvPr/>
        </p:nvSpPr>
        <p:spPr>
          <a:xfrm>
            <a:off x="7772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outcome equally likely — a fair die.</a:t>
            </a:r>
            <a:endParaRPr lang="en-US" sz="1400" dirty="0"/>
          </a:p>
        </p:txBody>
      </p:sp>
      <p:sp>
        <p:nvSpPr>
          <p:cNvPr id="8" name="Shape card 2"/>
          <p:cNvSpPr/>
          <p:nvPr/>
        </p:nvSpPr>
        <p:spPr>
          <a:xfrm>
            <a:off x="43205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hape pill 2"/>
          <p:cNvSpPr/>
          <p:nvPr/>
        </p:nvSpPr>
        <p:spPr>
          <a:xfrm>
            <a:off x="45491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head 2"/>
          <p:cNvSpPr txBox="1"/>
          <p:nvPr/>
        </p:nvSpPr>
        <p:spPr>
          <a:xfrm>
            <a:off x="45491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Binomial</a:t>
            </a:r>
            <a:endParaRPr lang="en-US" sz="1500" dirty="0"/>
          </a:p>
        </p:txBody>
      </p:sp>
      <p:graphicFrame>
        <p:nvGraphicFramePr>
          <p:cNvPr id="11" name="Binomial mini chart"/>
          <p:cNvGraphicFramePr/>
          <p:nvPr/>
        </p:nvGraphicFramePr>
        <p:xfrm>
          <a:off x="4457700" y="2468880"/>
          <a:ext cx="3291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caption 2"/>
          <p:cNvSpPr txBox="1"/>
          <p:nvPr/>
        </p:nvSpPr>
        <p:spPr>
          <a:xfrm>
            <a:off x="45491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Successes in a fixed number of trials — heads in 10 flips.</a:t>
            </a:r>
            <a:endParaRPr lang="en-US" sz="1400" dirty="0"/>
          </a:p>
        </p:txBody>
      </p:sp>
      <p:sp>
        <p:nvSpPr>
          <p:cNvPr id="13" name="Shape card 3"/>
          <p:cNvSpPr/>
          <p:nvPr/>
        </p:nvSpPr>
        <p:spPr>
          <a:xfrm>
            <a:off x="80924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hape pill 3"/>
          <p:cNvSpPr/>
          <p:nvPr/>
        </p:nvSpPr>
        <p:spPr>
          <a:xfrm>
            <a:off x="83210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head 3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Normal</a:t>
            </a:r>
            <a:endParaRPr lang="en-US" sz="1500" dirty="0"/>
          </a:p>
        </p:txBody>
      </p:sp>
      <p:graphicFrame>
        <p:nvGraphicFramePr>
          <p:cNvPr id="16" name="Normal mini chart"/>
          <p:cNvGraphicFramePr/>
          <p:nvPr/>
        </p:nvGraphicFramePr>
        <p:xfrm>
          <a:off x="8229600" y="2468880"/>
          <a:ext cx="3291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Shape caption 3"/>
          <p:cNvSpPr txBox="1"/>
          <p:nvPr/>
        </p:nvSpPr>
        <p:spPr>
          <a:xfrm>
            <a:off x="83210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bell curve — heights, errors, test scores.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Uniform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Uniform: every outcome has the same probability.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stats.randint models a fair die — faces 1 to 6.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6,000 simulated rolls land near 1,000 per face.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die =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stats.randint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(1, 7)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# faces 1 to 6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die.pmf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(3), 4))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# 0.1667  P(X = 3)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die.cdf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(4), 4))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# 0.6667  P(X &lt;= 4)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rng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=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np.random.default_rng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(3)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rolls =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rng.integers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(1, 7, size=6000)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np.bincount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(rolls)[1:])</a:t>
            </a:r>
            <a:endParaRPr lang="en-US" sz="200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# [1032 1017 1003  960 1005  983]</a:t>
            </a:r>
            <a:endParaRPr lang="en-US" sz="2000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Binomial Distribution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Successes in fixed trials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Counts successes in n independent trials, each with probability p.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heads in 10 fair flips (n = 10, p = 0.5).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Mean = n × p, so 5 heads on average.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Used for conversions, defects and yes/no survey counts.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Binomial: Heads in 10 Fair Flips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P(exactly 5) = 0.246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Teal bar: exactly 5 heads — the single most likely outcome.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Rose bars: 8 or more heads, P ≈ 0.055.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Extreme results sit in the thin tails.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Mean = 5, standard deviation ≈ 1.58.</a:t>
            </a:r>
            <a:endParaRPr lang="en-US" sz="1400" dirty="0"/>
          </a:p>
        </p:txBody>
      </p:sp>
      <p:graphicFrame>
        <p:nvGraphicFramePr>
          <p:cNvPr id="7" name="Binomial pmf chart"/>
          <p:cNvGraphicFramePr/>
          <p:nvPr/>
        </p:nvGraphicFramePr>
        <p:xfrm>
          <a:off x="731520" y="173736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Binomial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.pmf() gives P(X = k) exactly.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.cdf() gives P(X ≤ k) — a running total.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 1 − cdf for “more than” questions.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heads = </a:t>
            </a:r>
            <a:r>
              <a:rPr lang="en-US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stats.binom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(n=10, p=0.5)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 dirty="0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heads.pmf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(5), 3))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# 0.246  P(exactly 5)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heads.cdf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(3), 3))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# 0.172  P(at most 3)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print(round(1 - </a:t>
            </a:r>
            <a:r>
              <a:rPr lang="en-US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heads.cdf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(7), 3))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# 0.055  P(8 or more)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 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</a:t>
            </a:r>
            <a:r>
              <a:rPr lang="en-US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heads.mean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         # 5.0</a:t>
            </a:r>
            <a:endParaRPr lang="en-US">
              <a:latin typeface="Hanken Grotesk"/>
              <a:ea typeface="Cantarell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print(round(</a:t>
            </a:r>
            <a:r>
              <a:rPr lang="en-US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heads.std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/>
                <a:cs typeface="Cantarell" pitchFamily="34" charset="-120"/>
              </a:rPr>
              <a:t>(), 2))</a:t>
            </a:r>
            <a:r>
              <a:rPr lang="en-US" i="1" dirty="0">
                <a:solidFill>
                  <a:srgbClr val="94A3B8"/>
                </a:solidFill>
                <a:latin typeface="Cantarell"/>
                <a:ea typeface="Cantarell"/>
                <a:cs typeface="Cantarell" pitchFamily="34" charset="-120"/>
              </a:rPr>
              <a:t>       # 1.58</a:t>
            </a:r>
            <a:endParaRPr lang="en-US">
              <a:latin typeface="Hanken Grotesk"/>
              <a:ea typeface="Cantarel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Normal Distribution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Nature’s favorite shape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classic symmetric bell curve: most values sit near the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Height, blood pressure, measurement error and test scores follow it closely.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Two numbers define it: the mean (centre) and the standard deviation (width).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the curve behind Session 19’s empirical rule.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Normal Curve and the 68–95–99.7 Rule</a:t>
            </a:r>
            <a:endParaRPr lang="en-US" sz="2600" dirty="0"/>
          </a:p>
        </p:txBody>
      </p:sp>
      <p:sp>
        <p:nvSpPr>
          <p:cNvPr id="3" name="Graph card"/>
          <p:cNvSpPr/>
          <p:nvPr/>
        </p:nvSpPr>
        <p:spPr>
          <a:xfrm>
            <a:off x="548640" y="1600200"/>
            <a:ext cx="722376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allout card"/>
          <p:cNvSpPr/>
          <p:nvPr/>
        </p:nvSpPr>
        <p:spPr>
          <a:xfrm>
            <a:off x="7955280" y="1600200"/>
            <a:ext cx="3703320" cy="434340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Callout heading"/>
          <p:cNvSpPr txBox="1"/>
          <p:nvPr/>
        </p:nvSpPr>
        <p:spPr>
          <a:xfrm>
            <a:off x="8183880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much sits where</a:t>
            </a:r>
            <a:endParaRPr lang="en-US" sz="2000" dirty="0"/>
          </a:p>
        </p:txBody>
      </p:sp>
      <p:sp>
        <p:nvSpPr>
          <p:cNvPr id="6" name="Callout body"/>
          <p:cNvSpPr txBox="1"/>
          <p:nvPr/>
        </p:nvSpPr>
        <p:spPr>
          <a:xfrm>
            <a:off x="8183880" y="269748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68% of values fall within ±1σ of the mean.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95% fall within ±2σ.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002019"/>
                </a:solidFill>
              </a:rPr>
              <a:t>≈ 99.7% fall within ±3σ.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2019"/>
                </a:solidFill>
              </a:rPr>
              <a:t>Beyond ±3σ (rose, barely visible): about 0.3% in total.</a:t>
            </a:r>
            <a:endParaRPr lang="en-US" sz="1400" dirty="0"/>
          </a:p>
        </p:txBody>
      </p:sp>
      <p:graphicFrame>
        <p:nvGraphicFramePr>
          <p:cNvPr id="8" name="Normal curve chart"/>
          <p:cNvGraphicFramePr/>
          <p:nvPr/>
        </p:nvGraphicFramePr>
        <p:xfrm>
          <a:off x="731520" y="173736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Empirical Rule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stats.norm.cdf(z) gives P(Z ≤ z).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Subtract two cdf values to get a range.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These are the empirical-rule numbers, now exact.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z =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stats.norm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(loc=0, scale=1)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# P(within 1, 2, 3 standard deviations)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z.cdf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(1) -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z.cdf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(-1), 3))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 # 0.683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z.cdf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(2) -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z.cdf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(-2), 3))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 # 0.954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z.cdf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(3) -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z.cdf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(-3), 3))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 # 0.997</a:t>
            </a:r>
            <a:endParaRPr lang="en-US" sz="2000">
              <a:latin typeface="Hanken Grotesk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Normal Tail Probabilities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Real data needs only a mean and a standard deviation.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IQ ~ Normal(mean 100, SD 15).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ppf is the reverse of cdf: probability in, value out.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the mechanism behind the z-test in Session 21.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iq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=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stats.norm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(loc=100, scale=15)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print(round(1 - 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iq.cdf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(130), 4))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# 0.0228  P(IQ &gt; 130)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iq.cdf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(85), 4))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     # 0.1587  P(IQ &lt; 85)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# which IQ marks the top 2.5%?</a:t>
            </a:r>
            <a:endParaRPr lang="en-US" sz="2000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print(round(</a:t>
            </a:r>
            <a:r>
              <a:rPr lang="en-US" sz="2000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iq.ppf</a:t>
            </a:r>
            <a:r>
              <a:rPr lang="en-US" sz="2000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(0.975), 1))</a:t>
            </a:r>
            <a:r>
              <a:rPr lang="en-US" sz="2000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  # 129.4</a:t>
            </a:r>
            <a:endParaRPr lang="en-US" sz="2000">
              <a:latin typeface="Hanken Grotesk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Central Limit Theorem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Normal, no matter the source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Take many samples from any population and compute each sample’s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Those means form a normal distribution — even if the population is skewed.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It needs a large enough sample: n ≥ 30 is the usual rule of thumb.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This is why inferential tests can assume normality on messy data.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CLT in Pictures</a:t>
            </a:r>
            <a:endParaRPr lang="en-US" sz="2600" dirty="0"/>
          </a:p>
        </p:txBody>
      </p:sp>
      <p:sp>
        <p:nvSpPr>
          <p:cNvPr id="3" name="CLT card 1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CLT pill 1"/>
          <p:cNvSpPr/>
          <p:nvPr/>
        </p:nvSpPr>
        <p:spPr>
          <a:xfrm>
            <a:off x="7772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LT head 1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population</a:t>
            </a:r>
            <a:endParaRPr lang="en-US" sz="1500" dirty="0"/>
          </a:p>
        </p:txBody>
      </p:sp>
      <p:graphicFrame>
        <p:nvGraphicFramePr>
          <p:cNvPr id="6" name="The population histogram"/>
          <p:cNvGraphicFramePr/>
          <p:nvPr/>
        </p:nvGraphicFramePr>
        <p:xfrm>
          <a:off x="685800" y="2468880"/>
          <a:ext cx="3291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LT caption 1"/>
          <p:cNvSpPr txBox="1"/>
          <p:nvPr/>
        </p:nvSpPr>
        <p:spPr>
          <a:xfrm>
            <a:off x="7772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Heavily skewed — real data rarely looks normal.</a:t>
            </a:r>
            <a:endParaRPr lang="en-US" sz="1400" dirty="0"/>
          </a:p>
        </p:txBody>
      </p:sp>
      <p:sp>
        <p:nvSpPr>
          <p:cNvPr id="8" name="CLT card 2"/>
          <p:cNvSpPr/>
          <p:nvPr/>
        </p:nvSpPr>
        <p:spPr>
          <a:xfrm>
            <a:off x="43205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CLT pill 2"/>
          <p:cNvSpPr/>
          <p:nvPr/>
        </p:nvSpPr>
        <p:spPr>
          <a:xfrm>
            <a:off x="45491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LT head 2"/>
          <p:cNvSpPr txBox="1"/>
          <p:nvPr/>
        </p:nvSpPr>
        <p:spPr>
          <a:xfrm>
            <a:off x="45491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means, n = 5</a:t>
            </a:r>
            <a:endParaRPr lang="en-US" sz="1500" dirty="0"/>
          </a:p>
        </p:txBody>
      </p:sp>
      <p:graphicFrame>
        <p:nvGraphicFramePr>
          <p:cNvPr id="11" name="Sample means, n = 5 histogram"/>
          <p:cNvGraphicFramePr/>
          <p:nvPr/>
        </p:nvGraphicFramePr>
        <p:xfrm>
          <a:off x="4457700" y="2468880"/>
          <a:ext cx="3291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CLT caption 2"/>
          <p:cNvSpPr txBox="1"/>
          <p:nvPr/>
        </p:nvSpPr>
        <p:spPr>
          <a:xfrm>
            <a:off x="45491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Already smoothing out, even from skewed data.</a:t>
            </a:r>
            <a:endParaRPr lang="en-US" sz="1400" dirty="0"/>
          </a:p>
        </p:txBody>
      </p:sp>
      <p:sp>
        <p:nvSpPr>
          <p:cNvPr id="13" name="CLT card 3"/>
          <p:cNvSpPr/>
          <p:nvPr/>
        </p:nvSpPr>
        <p:spPr>
          <a:xfrm>
            <a:off x="80924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CLT pill 3"/>
          <p:cNvSpPr/>
          <p:nvPr/>
        </p:nvSpPr>
        <p:spPr>
          <a:xfrm>
            <a:off x="8321040" y="19202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CLT head 3"/>
          <p:cNvSpPr txBox="1"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means, n = 30</a:t>
            </a:r>
            <a:endParaRPr lang="en-US" sz="1500" dirty="0"/>
          </a:p>
        </p:txBody>
      </p:sp>
      <p:graphicFrame>
        <p:nvGraphicFramePr>
          <p:cNvPr id="16" name="Sample means, n = 30 histogram"/>
          <p:cNvGraphicFramePr/>
          <p:nvPr/>
        </p:nvGraphicFramePr>
        <p:xfrm>
          <a:off x="8229600" y="2468880"/>
          <a:ext cx="3291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CLT caption 3"/>
          <p:cNvSpPr txBox="1"/>
          <p:nvPr/>
        </p:nvSpPr>
        <p:spPr>
          <a:xfrm>
            <a:off x="83210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Nearly normal, whatever the population shape.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Simulating the CLT in Python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skewed population: exponential, mean ≈ 10.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2,000 samples at each size and keep every mean.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σ/√n predicts how widely those means spread.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rng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=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np.random.default_rng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(42)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pop = 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rng.exponential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(scale=10, size=100_000)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print(round(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pop.mean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(), 1), round(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pop.std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(), 1))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# 10.0  10.1   (heavily skewed)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for n in [5, 30]: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  means = [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rng.choice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(pop, n).mean()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           for _ in range(2000)]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    print(n, round(</a:t>
            </a:r>
            <a:r>
              <a:rPr lang="en-US" dirty="0" err="1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np.std</a:t>
            </a:r>
            <a:r>
              <a:rPr lang="en-US" dirty="0">
                <a:solidFill>
                  <a:srgbClr val="F1F5F9"/>
                </a:solidFill>
                <a:latin typeface="Cantarell"/>
                <a:ea typeface="Cantarell" pitchFamily="34" charset="-122"/>
                <a:cs typeface="Cantarell" pitchFamily="34" charset="-120"/>
              </a:rPr>
              <a:t>(means), 2))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# 5   4.45   (theory: 10/sqrt(5)  = 4.47)</a:t>
            </a:r>
            <a:endParaRPr lang="en-US">
              <a:latin typeface="Hanken Grotesk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i="1" dirty="0">
                <a:solidFill>
                  <a:srgbClr val="94A3B8"/>
                </a:solidFill>
                <a:latin typeface="Cantarell"/>
                <a:ea typeface="Cantarell" pitchFamily="34" charset="-122"/>
                <a:cs typeface="Cantarell" pitchFamily="34" charset="-120"/>
              </a:rPr>
              <a:t># 30  1.81   (theory: 10/sqrt(30) = 1.83)</a:t>
            </a:r>
            <a:endParaRPr lang="en-US">
              <a:latin typeface="Hanken Grotesk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Why the CLT Matters for What Comes Next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4" name="Step chip 1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77724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Any population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77724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Skewed, uniform or lumpy — the original shape does not matter.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432816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9" name="Step chip 2"/>
          <p:cNvSpPr/>
          <p:nvPr/>
        </p:nvSpPr>
        <p:spPr>
          <a:xfrm>
            <a:off x="455676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4556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tep title 2"/>
          <p:cNvSpPr txBox="1"/>
          <p:nvPr/>
        </p:nvSpPr>
        <p:spPr>
          <a:xfrm>
            <a:off x="455676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Large enough n</a:t>
            </a:r>
            <a:endParaRPr lang="en-US" sz="1600" dirty="0"/>
          </a:p>
        </p:txBody>
      </p:sp>
      <p:sp>
        <p:nvSpPr>
          <p:cNvPr id="12" name="Step text 2"/>
          <p:cNvSpPr txBox="1"/>
          <p:nvPr/>
        </p:nvSpPr>
        <p:spPr>
          <a:xfrm>
            <a:off x="455676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n ≥ 30 is a rule of thumb, not a hard law. Very skewed data may need more.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8107680" y="1600200"/>
            <a:ext cx="3550920" cy="315468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4" name="Step chip 3"/>
          <p:cNvSpPr/>
          <p:nvPr/>
        </p:nvSpPr>
        <p:spPr>
          <a:xfrm>
            <a:off x="8336280" y="1828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tep number 3"/>
          <p:cNvSpPr txBox="1"/>
          <p:nvPr/>
        </p:nvSpPr>
        <p:spPr>
          <a:xfrm>
            <a:off x="833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tep title 3"/>
          <p:cNvSpPr txBox="1"/>
          <p:nvPr/>
        </p:nvSpPr>
        <p:spPr>
          <a:xfrm>
            <a:off x="8336280" y="2514600"/>
            <a:ext cx="309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Sample means ≈ Normal</a:t>
            </a:r>
            <a:endParaRPr lang="en-US" sz="1600" dirty="0"/>
          </a:p>
        </p:txBody>
      </p:sp>
      <p:sp>
        <p:nvSpPr>
          <p:cNvPr id="17" name="Step text 3"/>
          <p:cNvSpPr txBox="1"/>
          <p:nvPr/>
        </p:nvSpPr>
        <p:spPr>
          <a:xfrm>
            <a:off x="8336280" y="3383280"/>
            <a:ext cx="309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4651"/>
                </a:solidFill>
              </a:rPr>
              <a:t>So the z-tests and t-tests in Sessions 21–22 may assume normality.</a:t>
            </a:r>
            <a:endParaRPr lang="en-US" sz="1400" dirty="0"/>
          </a:p>
        </p:txBody>
      </p:sp>
      <p:sp>
        <p:nvSpPr>
          <p:cNvPr id="18" name="Standard error banner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Standard error text"/>
          <p:cNvSpPr txBox="1"/>
          <p:nvPr/>
        </p:nvSpPr>
        <p:spPr>
          <a:xfrm>
            <a:off x="548640" y="4983480"/>
            <a:ext cx="11109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 = σ / √n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more data you collect, the tighter the sample means cluster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4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1B20"/>
                </a:solidFill>
              </a:rPr>
              <a:t>Practice Set — Distributions &amp; the CLT</a:t>
            </a:r>
            <a:endParaRPr lang="en-US" sz="23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4651"/>
                </a:solidFill>
              </a:rPr>
              <a:t>Try these yourself first — pencil, paper or a quick Python cell.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Give a real-world example each of a Uniform, a Binomial and a Normal variable.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stats.norm to find the probability a value falls within 1 SD of the mean.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Why does the CLT matter when your original data is heavily skewed?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Why is n = 30 a rule of thumb rather than a hard requirement?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TASKS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2743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1F5F9"/>
                </a:solidFill>
              </a:rPr>
              <a:t>Your Turn: Three Task Sets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977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</a:rPr>
              <a:t>Practise in Python — small steps, real numbers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1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1B20"/>
                </a:solidFill>
              </a:rPr>
              <a:t>Counting &amp; Combining</a:t>
            </a:r>
            <a:endParaRPr lang="en-US" sz="23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4651"/>
                </a:solidFill>
              </a:rPr>
              <a:t>Use itertools and numpy.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the two-dice sample space. Find P(sum = 7) and P(sum ≥ 10).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 a class of 40 (8 know both), find P(two “both” students in a row, no replacement), then simulate 100,000 picks.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 that class (20 FastAPI only, 12 ML only), find P(FastAPI only or ML only) by hand, then count a class list.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 10,000 pairs of coin flips and compare P(two heads) to 0.25.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70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2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1B20"/>
                </a:solidFill>
              </a:rPr>
              <a:t>Conditional Probability &amp; Bayes</a:t>
            </a:r>
            <a:endParaRPr lang="en-US" sz="23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4651"/>
                </a:solidFill>
              </a:rPr>
              <a:t>Write the formula as a function, then test it.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 of 40 (20 FastAPI only, 12 ML only, 8 both): compute P(ML | FastAPI) by counting.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Write bayes(prior, sens, spec) and test it with 5% prevalence and 90% accuracy.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Loop over prevalence 0.1% to 50% and print each posterior. What pattern do you see?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Update twice for two positive tests. Report both posteriors.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71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1261872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55A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TASK 3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261872" y="777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B1B20"/>
                </a:solidFill>
              </a:rPr>
              <a:t>Distributions &amp; the CLT</a:t>
            </a:r>
            <a:endParaRPr lang="en-US" sz="23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4651"/>
                </a:solidFill>
              </a:rPr>
              <a:t>Simulate it, then compare with the theory.</a:t>
            </a:r>
            <a:endParaRPr lang="en-US" sz="1300" dirty="0"/>
          </a:p>
        </p:txBody>
      </p:sp>
      <p:sp>
        <p:nvSpPr>
          <p:cNvPr id="5" name="Header chip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ader glyph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1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Row 1"/>
          <p:cNvSpPr/>
          <p:nvPr/>
        </p:nvSpPr>
        <p:spPr>
          <a:xfrm>
            <a:off x="548640" y="196596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8" name="Row chip 1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Row number 1"/>
          <p:cNvSpPr txBox="1"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Row text 1"/>
          <p:cNvSpPr txBox="1"/>
          <p:nvPr/>
        </p:nvSpPr>
        <p:spPr>
          <a:xfrm>
            <a:off x="1234440" y="19659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 30 die rolls and average them. Repeat 10 times, then 1,000 times. Describe the shape.</a:t>
            </a:r>
            <a:endParaRPr lang="en-US" sz="1400" dirty="0"/>
          </a:p>
        </p:txBody>
      </p:sp>
      <p:sp>
        <p:nvSpPr>
          <p:cNvPr id="11" name="Row 2"/>
          <p:cNvSpPr/>
          <p:nvPr/>
        </p:nvSpPr>
        <p:spPr>
          <a:xfrm>
            <a:off x="548640" y="292608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2" name="Row chip 2"/>
          <p:cNvSpPr/>
          <p:nvPr/>
        </p:nvSpPr>
        <p:spPr>
          <a:xfrm>
            <a:off x="731520" y="316382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Row number 2"/>
          <p:cNvSpPr txBox="1"/>
          <p:nvPr/>
        </p:nvSpPr>
        <p:spPr>
          <a:xfrm>
            <a:off x="7315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Row text 2"/>
          <p:cNvSpPr txBox="1"/>
          <p:nvPr/>
        </p:nvSpPr>
        <p:spPr>
          <a:xfrm>
            <a:off x="1234440" y="2926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stats.binom to find P(8 or more heads in 10 flips).</a:t>
            </a:r>
            <a:endParaRPr lang="en-US" sz="1400" dirty="0"/>
          </a:p>
        </p:txBody>
      </p:sp>
      <p:sp>
        <p:nvSpPr>
          <p:cNvPr id="15" name="Row 3"/>
          <p:cNvSpPr/>
          <p:nvPr/>
        </p:nvSpPr>
        <p:spPr>
          <a:xfrm>
            <a:off x="548640" y="388620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16" name="Row chip 3"/>
          <p:cNvSpPr/>
          <p:nvPr/>
        </p:nvSpPr>
        <p:spPr>
          <a:xfrm>
            <a:off x="731520" y="412394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ow number 3"/>
          <p:cNvSpPr txBox="1"/>
          <p:nvPr/>
        </p:nvSpPr>
        <p:spPr>
          <a:xfrm>
            <a:off x="73152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Row text 3"/>
          <p:cNvSpPr txBox="1"/>
          <p:nvPr/>
        </p:nvSpPr>
        <p:spPr>
          <a:xfrm>
            <a:off x="1234440" y="388620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stats.norm to find the probability of a value more than 2 SD above the mean.</a:t>
            </a:r>
            <a:endParaRPr lang="en-US" sz="1400" dirty="0"/>
          </a:p>
        </p:txBody>
      </p:sp>
      <p:sp>
        <p:nvSpPr>
          <p:cNvPr id="19" name="Row 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C8C5D3"/>
            </a:solidFill>
            <a:prstDash val="solid"/>
          </a:ln>
        </p:spPr>
      </p:sp>
      <p:sp>
        <p:nvSpPr>
          <p:cNvPr id="20" name="Row chip 4"/>
          <p:cNvSpPr/>
          <p:nvPr/>
        </p:nvSpPr>
        <p:spPr>
          <a:xfrm>
            <a:off x="731520" y="5084064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Row number 4"/>
          <p:cNvSpPr txBox="1"/>
          <p:nvPr/>
        </p:nvSpPr>
        <p:spPr>
          <a:xfrm>
            <a:off x="731520" y="5084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1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Row text 4"/>
          <p:cNvSpPr txBox="1"/>
          <p:nvPr/>
        </p:nvSpPr>
        <p:spPr>
          <a:xfrm>
            <a:off x="1234440" y="48463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Repeat the CLT demo with a uniform population. Do the sample means still look normal?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72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Mini Project: Bayes’ Theorem in a Real Decision</a:t>
            </a:r>
            <a:endParaRPr lang="en-US" sz="2600" dirty="0"/>
          </a:p>
        </p:txBody>
      </p:sp>
      <p:sp>
        <p:nvSpPr>
          <p:cNvPr id="3" name="Concept card"/>
          <p:cNvSpPr/>
          <p:nvPr/>
        </p:nvSpPr>
        <p:spPr>
          <a:xfrm>
            <a:off x="548640" y="1737360"/>
            <a:ext cx="292608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Glyph circle"/>
          <p:cNvSpPr/>
          <p:nvPr/>
        </p:nvSpPr>
        <p:spPr>
          <a:xfrm>
            <a:off x="1600200" y="2103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Glyph"/>
          <p:cNvSpPr txBox="1"/>
          <p:nvPr/>
        </p:nvSpPr>
        <p:spPr>
          <a:xfrm>
            <a:off x="1600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6" name="Card label"/>
          <p:cNvSpPr txBox="1"/>
          <p:nvPr/>
        </p:nvSpPr>
        <p:spPr>
          <a:xfrm>
            <a:off x="731520" y="315468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1F7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complete Bayes decision, start to finish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3749040" y="1737360"/>
            <a:ext cx="7909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Pick a real scenario: spam filter, fraud alert, defect scanner or background check.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Estimate three numbers: the prior, the true-positive rate and the false-positive rate.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Build a tree for 1,000+ people and compute the posterior in Python.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5 sentences: is the result more or less trustworthy than gut instinct, and why?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73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Mini Project: Starter Template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Fill in the blanks, then extend it.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your assumptions as comments first.</a:t>
            </a:r>
            <a:endParaRPr lang="en-US" sz="2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Simulate 1,000+ people to confirm the maths.</a:t>
            </a:r>
            <a:endParaRPr lang="en-US" sz="2200" dirty="0"/>
          </a:p>
        </p:txBody>
      </p:sp>
      <p:sp>
        <p:nvSpPr>
          <p:cNvPr id="4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prstDash val="solid"/>
          </a:ln>
        </p:spPr>
      </p:sp>
      <p:sp>
        <p:nvSpPr>
          <p:cNvPr id="7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373368" y="214884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Fill in the blanks, then extend it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prior = ____</a:t>
            </a: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P(problem) before any alert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sens  = ____</a:t>
            </a: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P(alert | real problem)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fpr   = ____</a:t>
            </a: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     # P(alert | no problem)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p_alert = sens * prior + fpr * (1 - prior)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posterior = sens * prior / p_alert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print(round(posterior, 3))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ntarell" pitchFamily="34" charset="0"/>
                <a:ea typeface="Cantarell" pitchFamily="34" charset="-122"/>
                <a:cs typeface="Cantarell" pitchFamily="34" charset="-120"/>
              </a:rPr>
              <a:t># next: simulate 1,000+ people and compare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74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D4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20 COMPLETE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783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</a:rPr>
              <a:t>What You Can Do Now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29260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Calculate probabilities by counting and by simulation</a:t>
            </a:r>
            <a:endParaRPr lang="en-US" sz="15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Combine events with the Addition and Multiplication Rules</a:t>
            </a:r>
            <a:endParaRPr lang="en-US" sz="15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Compute conditional probabilities and apply Bayes’ Theorem</a:t>
            </a:r>
            <a:endParaRPr lang="en-US" sz="15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Recognise Uniform, Binomial and Normal distributions</a:t>
            </a:r>
            <a:endParaRPr lang="en-US" sz="15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7FF"/>
                </a:solidFill>
              </a:rPr>
              <a:t>Explain the Central Limit Theorem — and demonstrate it</a:t>
            </a:r>
            <a:endParaRPr lang="en-US" sz="15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4008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D4BF"/>
                </a:solidFill>
              </a:rPr>
              <a:t>Next up — Session 21: Inferential Statistics I · confidence intervals, hypothesis tests and p-values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75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Probability Density Function (PDF)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  <p:sp>
        <p:nvSpPr>
          <p:cNvPr id="26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The PDF is the bell curve itself: its height shows how likely values are.</a:t>
            </a:r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Tall part = common values. Thin tails = rare values.</a:t>
            </a:r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Height alone is not a probability — the area under the curve is.</a:t>
            </a:r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Total area under the curve = 1 (100%).</a:t>
            </a:r>
          </a:p>
        </p:txBody>
      </p:sp>
      <p:sp>
        <p:nvSpPr>
          <p:cNvPr id="27" name="Formula card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375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label"/>
          <p:cNvSpPr txBox="1"/>
          <p:nvPr/>
        </p:nvSpPr>
        <p:spPr>
          <a:xfrm>
            <a:off x="6400800" y="19385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600" b="1" i="0">
                <a:solidFill>
                  <a:srgbClr val="231F71"/>
                </a:solidFill>
                <a:latin typeface="+mj-lt"/>
              </a:rPr>
              <a:t>The PDF of a Normal curve</a:t>
            </a:r>
          </a:p>
        </p:txBody>
      </p:sp>
      <p:sp>
        <p:nvSpPr>
          <p:cNvPr id="29" name="Formula"/>
          <p:cNvSpPr txBox="1"/>
          <p:nvPr/>
        </p:nvSpPr>
        <p:spPr>
          <a:xfrm>
            <a:off x="6400800" y="2377440"/>
            <a:ext cx="50292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400" b="1" i="0">
                <a:solidFill>
                  <a:srgbClr val="231F71"/>
                </a:solidFill>
              </a:rPr>
              <a:t>f(x) = 1 / (σ · √(2π))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2400" b="1" i="0">
                <a:solidFill>
                  <a:srgbClr val="231F71"/>
                </a:solidFill>
              </a:rPr>
              <a:t>× e^( −½ · ((x − μ) / σ)² )</a:t>
            </a:r>
          </a:p>
        </p:txBody>
      </p:sp>
      <p:sp>
        <p:nvSpPr>
          <p:cNvPr id="30" name="Formula parts"/>
          <p:cNvSpPr txBox="1"/>
          <p:nvPr/>
        </p:nvSpPr>
        <p:spPr>
          <a:xfrm>
            <a:off x="6400800" y="3337360"/>
            <a:ext cx="50292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500" b="0" i="0">
                <a:solidFill>
                  <a:srgbClr val="231F71"/>
                </a:solidFill>
              </a:rPr>
              <a:t>No need to memorise it — just know the parts:</a:t>
            </a:r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sz="1500" b="0" i="0">
                <a:solidFill>
                  <a:srgbClr val="231F71"/>
                </a:solidFill>
              </a:rPr>
              <a:t>x = the value you look up</a:t>
            </a:r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sz="1500" b="0" i="0">
                <a:solidFill>
                  <a:srgbClr val="231F71"/>
                </a:solidFill>
              </a:rPr>
              <a:t>μ = the mean (centre of the bell)</a:t>
            </a:r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sz="1500" b="0" i="0">
                <a:solidFill>
                  <a:srgbClr val="231F71"/>
                </a:solidFill>
              </a:rPr>
              <a:t>σ = the standard deviation (how wide)</a:t>
            </a:r>
          </a:p>
          <a:p>
            <a:pPr algn="l" marL="342900" indent="-342900">
              <a:spcAft>
                <a:spcPts val="0"/>
              </a:spcAft>
              <a:buSzPct val="100000"/>
              <a:buChar char="•"/>
            </a:pPr>
            <a:r>
              <a:rPr sz="1500" b="0" i="0">
                <a:solidFill>
                  <a:srgbClr val="231F71"/>
                </a:solidFill>
              </a:rPr>
              <a:t>e ≈ 2.718 (Euler’s number)</a:t>
            </a:r>
          </a:p>
        </p:txBody>
      </p:sp>
      <p:sp>
        <p:nvSpPr>
          <p:cNvPr id="31" name="Card footer"/>
          <p:cNvSpPr txBox="1"/>
          <p:nvPr/>
        </p:nvSpPr>
        <p:spPr>
          <a:xfrm>
            <a:off x="6400800" y="5029200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1" i="0">
                <a:solidFill>
                  <a:srgbClr val="231F71"/>
                </a:solidFill>
              </a:rPr>
              <a:t>SciPy does the maths: norm.pdf(x, mean, sd)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1">
                <a:solidFill>
                  <a:srgbClr val="474651"/>
                </a:solidFill>
              </a:rPr>
              <a:t>Source: Essential Math for Data Science — Thomas Nield (O’Reilly), Ch. 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Probability Is the Area Under the PDF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  <p:sp>
        <p:nvSpPr>
          <p:cNvPr id="26" name="Figure card"/>
          <p:cNvSpPr/>
          <p:nvPr/>
        </p:nvSpPr>
        <p:spPr>
          <a:xfrm>
            <a:off x="548640" y="1463040"/>
            <a:ext cx="5029200" cy="4270248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Book figure" descr="Golden retriever weights: bell curve with the 62 to 66 lb region shad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645920"/>
            <a:ext cx="3337560" cy="3337560"/>
          </a:xfrm>
          <a:prstGeom prst="rect">
            <a:avLst/>
          </a:prstGeom>
        </p:spPr>
      </p:pic>
      <p:sp>
        <p:nvSpPr>
          <p:cNvPr id="28" name="Figure source"/>
          <p:cNvSpPr txBox="1"/>
          <p:nvPr/>
        </p:nvSpPr>
        <p:spPr>
          <a:xfrm>
            <a:off x="731520" y="50932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050" b="0" i="0">
                <a:solidFill>
                  <a:srgbClr val="474651"/>
                </a:solidFill>
              </a:rPr>
              <a:t>Figure 3-7 · shaded area = P(62 ≤ weight ≤ 66 lb)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1">
                <a:solidFill>
                  <a:srgbClr val="474651"/>
                </a:solidFill>
              </a:rPr>
              <a:t>Source: Essential Math for Data Science — Thomas Nield (O’Reilly)</a:t>
            </a:r>
          </a:p>
        </p:txBody>
      </p:sp>
      <p:sp>
        <p:nvSpPr>
          <p:cNvPr id="29" name="Callout card"/>
          <p:cNvSpPr/>
          <p:nvPr/>
        </p:nvSpPr>
        <p:spPr>
          <a:xfrm>
            <a:off x="5852160" y="1463040"/>
            <a:ext cx="5806440" cy="4270248"/>
          </a:xfrm>
          <a:prstGeom prst="roundRect">
            <a:avLst>
              <a:gd name="adj" fmla="val 3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llout heading"/>
          <p:cNvSpPr txBox="1"/>
          <p:nvPr/>
        </p:nvSpPr>
        <p:spPr>
          <a:xfrm>
            <a:off x="6080760" y="166420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002019"/>
                </a:solidFill>
                <a:latin typeface="+mj-lt"/>
              </a:rPr>
              <a:t>Ask about a range, then find the area</a:t>
            </a:r>
          </a:p>
        </p:txBody>
      </p:sp>
      <p:sp>
        <p:nvSpPr>
          <p:cNvPr id="31" name="Callout body"/>
          <p:cNvSpPr txBox="1"/>
          <p:nvPr/>
        </p:nvSpPr>
        <p:spPr>
          <a:xfrm>
            <a:off x="6080760" y="2514600"/>
            <a:ext cx="5349240" cy="3081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002019"/>
                </a:solidFill>
              </a:rPr>
              <a:t>Golden retriever weights: mean 64.43 lb, SD 2.99 lb.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002019"/>
                </a:solidFill>
              </a:rPr>
              <a:t>The shaded slice between 62 and 66 lb is the probability of a dog landing in that range.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002019"/>
                </a:solidFill>
              </a:rPr>
              <a:t>The Normal curve is continuous, so one exact value (like 64.000 lb) has almost zero probability — we always ask about a range.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002019"/>
                </a:solidFill>
              </a:rPr>
              <a:t>Finding that area is the job of the CDF.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CDF: Area Up To a Point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  <p:sp>
        <p:nvSpPr>
          <p:cNvPr id="26" name="Figure card"/>
          <p:cNvSpPr/>
          <p:nvPr/>
        </p:nvSpPr>
        <p:spPr>
          <a:xfrm>
            <a:off x="548640" y="1463040"/>
            <a:ext cx="5029200" cy="4270248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Book figure" descr="PDF bell curve in red and its S-shaped CDF in blue for golden retriever weigh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97" y="1645920"/>
            <a:ext cx="3619086" cy="3337560"/>
          </a:xfrm>
          <a:prstGeom prst="rect">
            <a:avLst/>
          </a:prstGeom>
        </p:spPr>
      </p:pic>
      <p:sp>
        <p:nvSpPr>
          <p:cNvPr id="28" name="Figure source"/>
          <p:cNvSpPr txBox="1"/>
          <p:nvPr/>
        </p:nvSpPr>
        <p:spPr>
          <a:xfrm>
            <a:off x="731520" y="50932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050" b="0" i="0">
                <a:solidFill>
                  <a:srgbClr val="474651"/>
                </a:solidFill>
              </a:rPr>
              <a:t>Figure 3-8 · a PDF alongside its CDF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1">
                <a:solidFill>
                  <a:srgbClr val="474651"/>
                </a:solidFill>
              </a:rPr>
              <a:t>Source: Essential Math for Data Science — Thomas Nield (O’Reilly)</a:t>
            </a:r>
          </a:p>
        </p:txBody>
      </p:sp>
      <p:sp>
        <p:nvSpPr>
          <p:cNvPr id="29" name="Callout card"/>
          <p:cNvSpPr/>
          <p:nvPr/>
        </p:nvSpPr>
        <p:spPr>
          <a:xfrm>
            <a:off x="5852160" y="1463040"/>
            <a:ext cx="5806440" cy="4270248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llout heading"/>
          <p:cNvSpPr txBox="1"/>
          <p:nvPr/>
        </p:nvSpPr>
        <p:spPr>
          <a:xfrm>
            <a:off x="6080760" y="166420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231F71"/>
                </a:solidFill>
                <a:latin typeface="+mj-lt"/>
              </a:rPr>
              <a:t>CDF(x) = the area to the left of x</a:t>
            </a:r>
          </a:p>
        </p:txBody>
      </p:sp>
      <p:sp>
        <p:nvSpPr>
          <p:cNvPr id="31" name="Callout body"/>
          <p:cNvSpPr txBox="1"/>
          <p:nvPr/>
        </p:nvSpPr>
        <p:spPr>
          <a:xfrm>
            <a:off x="6080760" y="2514600"/>
            <a:ext cx="5349240" cy="3081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231F71"/>
                </a:solidFill>
              </a:rPr>
              <a:t>Red bell = the PDF. Blue S-curve = the CDF (CDF = Cumulative Distribution Function).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231F71"/>
                </a:solidFill>
              </a:rPr>
              <a:t>At any x on the bottom axis, the blue curve’s height is the probability of getting a value up to x.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231F71"/>
                </a:solidFill>
              </a:rPr>
              <a:t>It climbs from 0 (nothing collected yet) to 1 (everything collected).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231F71"/>
                </a:solidFill>
              </a:rPr>
              <a:t>The S is steepest where the bell is tallest.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CDF at the Mean Is 0.5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  <p:sp>
        <p:nvSpPr>
          <p:cNvPr id="26" name="Figure card"/>
          <p:cNvSpPr/>
          <p:nvPr/>
        </p:nvSpPr>
        <p:spPr>
          <a:xfrm>
            <a:off x="548640" y="1463040"/>
            <a:ext cx="5029200" cy="4270248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Book figure" descr="PDF and CDF for golden retriever weights with the area up to the mean shaded and a red X at 0.5 on the C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97" y="1645920"/>
            <a:ext cx="3619086" cy="3337560"/>
          </a:xfrm>
          <a:prstGeom prst="rect">
            <a:avLst/>
          </a:prstGeom>
        </p:spPr>
      </p:pic>
      <p:sp>
        <p:nvSpPr>
          <p:cNvPr id="28" name="Figure source"/>
          <p:cNvSpPr txBox="1"/>
          <p:nvPr/>
        </p:nvSpPr>
        <p:spPr>
          <a:xfrm>
            <a:off x="731520" y="50932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050" b="0" i="0">
                <a:solidFill>
                  <a:srgbClr val="474651"/>
                </a:solidFill>
              </a:rPr>
              <a:t>Figure 3-9 · PDF and CDF, area up to the mean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1">
                <a:solidFill>
                  <a:srgbClr val="474651"/>
                </a:solidFill>
              </a:rPr>
              <a:t>Source: Essential Math for Data Science — Thomas Nield (O’Reilly)</a:t>
            </a:r>
          </a:p>
        </p:txBody>
      </p:sp>
      <p:sp>
        <p:nvSpPr>
          <p:cNvPr id="29" name="Callout card"/>
          <p:cNvSpPr/>
          <p:nvPr/>
        </p:nvSpPr>
        <p:spPr>
          <a:xfrm>
            <a:off x="5852160" y="1463040"/>
            <a:ext cx="5806440" cy="4270248"/>
          </a:xfrm>
          <a:prstGeom prst="roundRect">
            <a:avLst>
              <a:gd name="adj" fmla="val 3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llout heading"/>
          <p:cNvSpPr txBox="1"/>
          <p:nvPr/>
        </p:nvSpPr>
        <p:spPr>
          <a:xfrm>
            <a:off x="6080760" y="166420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002019"/>
                </a:solidFill>
                <a:latin typeface="+mj-lt"/>
              </a:rPr>
              <a:t>Half the area sits left of the mean</a:t>
            </a:r>
          </a:p>
        </p:txBody>
      </p:sp>
      <p:sp>
        <p:nvSpPr>
          <p:cNvPr id="31" name="Callout body"/>
          <p:cNvSpPr txBox="1"/>
          <p:nvPr/>
        </p:nvSpPr>
        <p:spPr>
          <a:xfrm>
            <a:off x="6080760" y="2514600"/>
            <a:ext cx="5349240" cy="3081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002019"/>
                </a:solidFill>
              </a:rPr>
              <a:t>Shaded: all the area from far left up to the mean, 64.43 lb.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002019"/>
                </a:solidFill>
              </a:rPr>
              <a:t>The Normal curve is symmetric, so exactly half of the area lies on each side of the mean.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002019"/>
                </a:solidFill>
              </a:rPr>
              <a:t>That is why the CDF reads 0.5, or 50%, at the mean — the red X.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002019"/>
                </a:solidFill>
              </a:rPr>
              <a:t>To read a CDF: pick x on the bottom, go up to the blue curve, read the probability on the side.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PDF and CDF in Python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  <p:sp>
        <p:nvSpPr>
          <p:cNvPr id="26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norm.pdf(x, mean, sd) gives the curve’s height at x — a likelihood, not a probability.</a:t>
            </a:r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norm.cdf(x, mean, sd) gives the area up to x — a real probability.</a:t>
            </a:r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Half the area is below the mean, so the CDF at the mean is 0.5.</a:t>
            </a:r>
          </a:p>
        </p:txBody>
      </p:sp>
      <p:sp>
        <p:nvSpPr>
          <p:cNvPr id="27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00"/>
            </a:avLst>
          </a:prstGeom>
          <a:solidFill>
            <a:srgbClr val="0E1420"/>
          </a:solidFill>
          <a:ln w="12700">
            <a:solidFill>
              <a:srgbClr val="0E1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de"/>
          <p:cNvSpPr txBox="1"/>
          <p:nvPr/>
        </p:nvSpPr>
        <p:spPr>
          <a:xfrm>
            <a:off x="6373368" y="2139696"/>
            <a:ext cx="5084064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F1F5F9"/>
                </a:solidFill>
                <a:latin typeface="Cantarell"/>
              </a:rPr>
              <a:t>from scipy.stats import norm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F1F5F9"/>
                </a:solidFill>
                <a:latin typeface="Cantarell"/>
              </a:rPr>
              <a:t>mean, sd = 64.43, 2.99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1">
                <a:solidFill>
                  <a:srgbClr val="94A3B8"/>
                </a:solidFill>
                <a:latin typeface="Cantarell"/>
              </a:rPr>
              <a:t># curve height at the peak (a likelihood)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F1F5F9"/>
                </a:solidFill>
                <a:latin typeface="Cantarell"/>
              </a:rPr>
              <a:t>print(round(norm.pdf(64.43, mean, sd), 4))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1">
                <a:solidFill>
                  <a:srgbClr val="94A3B8"/>
                </a:solidFill>
                <a:latin typeface="Cantarell"/>
              </a:rPr>
              <a:t># 0.1334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F1F5F9"/>
                </a:solidFill>
                <a:latin typeface="Cantarell"/>
              </a:rPr>
              <a:t> 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1">
                <a:solidFill>
                  <a:srgbClr val="94A3B8"/>
                </a:solidFill>
                <a:latin typeface="Cantarell"/>
              </a:rPr>
              <a:t># area up to the mean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F1F5F9"/>
                </a:solidFill>
                <a:latin typeface="Cantarell"/>
              </a:rPr>
              <a:t>print(norm.cdf(64.43, mean, sd))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1">
                <a:solidFill>
                  <a:srgbClr val="94A3B8"/>
                </a:solidFill>
                <a:latin typeface="Cantarell"/>
              </a:rPr>
              <a:t># 0.5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F1F5F9"/>
                </a:solidFill>
                <a:latin typeface="Cantarell"/>
              </a:rPr>
              <a:t> 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1">
                <a:solidFill>
                  <a:srgbClr val="94A3B8"/>
                </a:solidFill>
                <a:latin typeface="Cantarell"/>
              </a:rPr>
              <a:t># area up to 66 lb = P(weight &lt;= 66)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F1F5F9"/>
                </a:solidFill>
                <a:latin typeface="Cantarell"/>
              </a:rPr>
              <a:t>print(round(norm.cdf(66, mean, sd), 4))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1">
                <a:solidFill>
                  <a:srgbClr val="94A3B8"/>
                </a:solidFill>
                <a:latin typeface="Cantarell"/>
              </a:rPr>
              <a:t># 0.7002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Middle Range: CDF(66) − CDF(62)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  <p:sp>
        <p:nvSpPr>
          <p:cNvPr id="26" name="Figure card"/>
          <p:cNvSpPr/>
          <p:nvPr/>
        </p:nvSpPr>
        <p:spPr>
          <a:xfrm>
            <a:off x="548640" y="1463040"/>
            <a:ext cx="6960513" cy="2807208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Book figure" descr="Three small PDF graphs: area up to 66 minus area up to 62 equals the area between 62 and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594750" cy="1874519"/>
          </a:xfrm>
          <a:prstGeom prst="rect">
            <a:avLst/>
          </a:prstGeom>
        </p:spPr>
      </p:pic>
      <p:sp>
        <p:nvSpPr>
          <p:cNvPr id="28" name="Figure source"/>
          <p:cNvSpPr txBox="1"/>
          <p:nvPr/>
        </p:nvSpPr>
        <p:spPr>
          <a:xfrm>
            <a:off x="731520" y="3611880"/>
            <a:ext cx="65947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050" b="0" i="0">
                <a:solidFill>
                  <a:srgbClr val="474651"/>
                </a:solidFill>
              </a:rPr>
              <a:t>Figure 3-10 · finding a middle range of probability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1">
                <a:solidFill>
                  <a:srgbClr val="474651"/>
                </a:solidFill>
              </a:rPr>
              <a:t>Source: Essential Math for Data Science — Thomas Nield (O’Reilly)</a:t>
            </a:r>
          </a:p>
        </p:txBody>
      </p:sp>
      <p:sp>
        <p:nvSpPr>
          <p:cNvPr id="29" name="Callout card"/>
          <p:cNvSpPr/>
          <p:nvPr/>
        </p:nvSpPr>
        <p:spPr>
          <a:xfrm>
            <a:off x="7783473" y="1463040"/>
            <a:ext cx="3875127" cy="2807208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llout heading"/>
          <p:cNvSpPr txBox="1"/>
          <p:nvPr/>
        </p:nvSpPr>
        <p:spPr>
          <a:xfrm>
            <a:off x="7984641" y="1645920"/>
            <a:ext cx="3472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800" b="1" i="0">
                <a:solidFill>
                  <a:srgbClr val="002019"/>
                </a:solidFill>
                <a:latin typeface="+mj-lt"/>
              </a:rPr>
              <a:t>Big area − small area</a:t>
            </a:r>
          </a:p>
        </p:txBody>
      </p:sp>
      <p:sp>
        <p:nvSpPr>
          <p:cNvPr id="31" name="Callout body"/>
          <p:cNvSpPr txBox="1"/>
          <p:nvPr/>
        </p:nvSpPr>
        <p:spPr>
          <a:xfrm>
            <a:off x="7984641" y="2148840"/>
            <a:ext cx="3472791" cy="198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800"/>
              </a:spcAft>
              <a:buNone/>
            </a:pPr>
            <a:r>
              <a:rPr sz="1600" b="1" i="0">
                <a:solidFill>
                  <a:srgbClr val="002019"/>
                </a:solidFill>
              </a:rPr>
              <a:t>0.7002 − 0.2082 = 0.4920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400" b="0" i="0">
                <a:solidFill>
                  <a:srgbClr val="002019"/>
                </a:solidFill>
              </a:rPr>
              <a:t>About 49.2% of golden retrievers weigh between 62 and 66 lb.</a:t>
            </a:r>
          </a:p>
        </p:txBody>
      </p:sp>
      <p:sp>
        <p:nvSpPr>
          <p:cNvPr id="32" name="Code window"/>
          <p:cNvSpPr/>
          <p:nvPr/>
        </p:nvSpPr>
        <p:spPr>
          <a:xfrm>
            <a:off x="548640" y="4498848"/>
            <a:ext cx="11109960" cy="1307592"/>
          </a:xfrm>
          <a:prstGeom prst="roundRect">
            <a:avLst>
              <a:gd name="adj" fmla="val 2700"/>
            </a:avLst>
          </a:prstGeom>
          <a:solidFill>
            <a:srgbClr val="0E1420"/>
          </a:solidFill>
          <a:ln w="12700">
            <a:solidFill>
              <a:srgbClr val="0E1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Window dot 1"/>
          <p:cNvSpPr/>
          <p:nvPr/>
        </p:nvSpPr>
        <p:spPr>
          <a:xfrm>
            <a:off x="713232" y="4645152"/>
            <a:ext cx="100584" cy="10058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Window dot 2"/>
          <p:cNvSpPr/>
          <p:nvPr/>
        </p:nvSpPr>
        <p:spPr>
          <a:xfrm>
            <a:off x="914400" y="4645152"/>
            <a:ext cx="100584" cy="100584"/>
          </a:xfrm>
          <a:prstGeom prst="ellipse">
            <a:avLst/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Window dot 3"/>
          <p:cNvSpPr/>
          <p:nvPr/>
        </p:nvSpPr>
        <p:spPr>
          <a:xfrm>
            <a:off x="1115568" y="4645152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de"/>
          <p:cNvSpPr txBox="1"/>
          <p:nvPr/>
        </p:nvSpPr>
        <p:spPr>
          <a:xfrm>
            <a:off x="749808" y="4901184"/>
            <a:ext cx="10707624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x = norm.cdf(66, mean, sd) - norm.cdf(62, mean, sd)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print(x) </a:t>
            </a:r>
            <a:r>
              <a:rPr sz="1600" b="0" i="1">
                <a:solidFill>
                  <a:srgbClr val="94A3B8"/>
                </a:solidFill>
                <a:latin typeface="Cantarell"/>
              </a:rPr>
              <a:t>  # 0.4920  -&gt;  P(62 &lt;= weight &lt;= 66)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Inverse CDF (PPF)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  <p:sp>
        <p:nvSpPr>
          <p:cNvPr id="26" name="Figure card"/>
          <p:cNvSpPr/>
          <p:nvPr/>
        </p:nvSpPr>
        <p:spPr>
          <a:xfrm>
            <a:off x="548640" y="1463040"/>
            <a:ext cx="5029200" cy="4270248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rgbClr val="C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Book figure" descr="Inverse CDF curve: probability on the horizontal axis, golden retriever weight on the vertical ax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141" y="1645920"/>
            <a:ext cx="3308197" cy="3337560"/>
          </a:xfrm>
          <a:prstGeom prst="rect">
            <a:avLst/>
          </a:prstGeom>
        </p:spPr>
      </p:pic>
      <p:sp>
        <p:nvSpPr>
          <p:cNvPr id="28" name="Figure source"/>
          <p:cNvSpPr txBox="1"/>
          <p:nvPr/>
        </p:nvSpPr>
        <p:spPr>
          <a:xfrm>
            <a:off x="731520" y="50932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1050" b="0" i="0">
                <a:solidFill>
                  <a:srgbClr val="474651"/>
                </a:solidFill>
              </a:rPr>
              <a:t>Figure 3-11 · the inverse CDF, also called the PPF or quantile function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050" b="0" i="1">
                <a:solidFill>
                  <a:srgbClr val="474651"/>
                </a:solidFill>
              </a:rPr>
              <a:t>Source: Essential Math for Data Science — Thomas Nield (O’Reilly)</a:t>
            </a:r>
          </a:p>
        </p:txBody>
      </p:sp>
      <p:sp>
        <p:nvSpPr>
          <p:cNvPr id="29" name="Callout card"/>
          <p:cNvSpPr/>
          <p:nvPr/>
        </p:nvSpPr>
        <p:spPr>
          <a:xfrm>
            <a:off x="5852160" y="1463040"/>
            <a:ext cx="5806440" cy="4270248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llout heading"/>
          <p:cNvSpPr txBox="1"/>
          <p:nvPr/>
        </p:nvSpPr>
        <p:spPr>
          <a:xfrm>
            <a:off x="6080760" y="166420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231F71"/>
                </a:solidFill>
                <a:latin typeface="+mj-lt"/>
              </a:rPr>
              <a:t>Flip the CDF: probability in, value out</a:t>
            </a:r>
          </a:p>
        </p:txBody>
      </p:sp>
      <p:sp>
        <p:nvSpPr>
          <p:cNvPr id="31" name="Callout body"/>
          <p:cNvSpPr txBox="1"/>
          <p:nvPr/>
        </p:nvSpPr>
        <p:spPr>
          <a:xfrm>
            <a:off x="6080760" y="2514600"/>
            <a:ext cx="5349240" cy="3081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231F71"/>
                </a:solidFill>
              </a:rPr>
              <a:t>CDF: give a weight, get a probability (the area up to it).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231F71"/>
                </a:solidFill>
              </a:rPr>
              <a:t>Inverse CDF (also called the PPF or quantile function): give a probability, get the weight.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0" i="0">
                <a:solidFill>
                  <a:srgbClr val="231F71"/>
                </a:solidFill>
              </a:rPr>
              <a:t>It is the same curve with its axes swapped.</a:t>
            </a:r>
          </a:p>
          <a:p>
            <a:pPr algn="l"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231F71"/>
                </a:solidFill>
              </a:rPr>
              <a:t>Example: 95% of golden retrievers weigh 69.35 lb or less.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457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0"/>
                </a:solidFill>
              </a:rPr>
              <a:t>The Inverse CDF in Python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4651"/>
                </a:solidFill>
                <a:latin typeface="Plus Jakarta Sans"/>
                <a:ea typeface="Plus Jakarta Sans"/>
                <a:cs typeface="Plus Jakarta Sans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  <p:sp>
        <p:nvSpPr>
          <p:cNvPr id="26" name="Bullets"/>
          <p:cNvSpPr txBox="1"/>
          <p:nvPr/>
        </p:nvSpPr>
        <p:spPr>
          <a:xfrm>
            <a:off x="548640" y="173736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norm.ppf(p, mean, sd) is the inverse CDF: probability in, value out.</a:t>
            </a:r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Here: 95% of golden retrievers weigh 69.348 lb or less.</a:t>
            </a:r>
          </a:p>
          <a:p>
            <a:pPr algn="l"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sz="2200" b="0" i="0">
                <a:solidFill>
                  <a:schemeClr val="tx1"/>
                </a:solidFill>
              </a:rPr>
              <a:t>Feed it random numbers between 0 and 1 to simulate realistic weights.</a:t>
            </a:r>
          </a:p>
        </p:txBody>
      </p:sp>
      <p:sp>
        <p:nvSpPr>
          <p:cNvPr id="27" name="Code window"/>
          <p:cNvSpPr/>
          <p:nvPr/>
        </p:nvSpPr>
        <p:spPr>
          <a:xfrm>
            <a:off x="6172200" y="1737360"/>
            <a:ext cx="5486400" cy="4023360"/>
          </a:xfrm>
          <a:prstGeom prst="roundRect">
            <a:avLst>
              <a:gd name="adj" fmla="val 2700"/>
            </a:avLst>
          </a:prstGeom>
          <a:solidFill>
            <a:srgbClr val="0E1420"/>
          </a:solidFill>
          <a:ln w="12700">
            <a:solidFill>
              <a:srgbClr val="0E14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Window dot 1"/>
          <p:cNvSpPr/>
          <p:nvPr/>
        </p:nvSpPr>
        <p:spPr>
          <a:xfrm>
            <a:off x="6336792" y="1883664"/>
            <a:ext cx="100584" cy="10058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Window dot 2"/>
          <p:cNvSpPr/>
          <p:nvPr/>
        </p:nvSpPr>
        <p:spPr>
          <a:xfrm>
            <a:off x="6537960" y="1883664"/>
            <a:ext cx="100584" cy="100584"/>
          </a:xfrm>
          <a:prstGeom prst="ellipse">
            <a:avLst/>
          </a:prstGeom>
          <a:solidFill>
            <a:srgbClr val="F9C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indow dot 3"/>
          <p:cNvSpPr/>
          <p:nvPr/>
        </p:nvSpPr>
        <p:spPr>
          <a:xfrm>
            <a:off x="6739128" y="1883664"/>
            <a:ext cx="100584" cy="100584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de"/>
          <p:cNvSpPr txBox="1"/>
          <p:nvPr/>
        </p:nvSpPr>
        <p:spPr>
          <a:xfrm>
            <a:off x="6373368" y="2139696"/>
            <a:ext cx="5084064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from scipy.stats import norm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import random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mean, sd = 64.43, 2.99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 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1">
                <a:solidFill>
                  <a:srgbClr val="94A3B8"/>
                </a:solidFill>
                <a:latin typeface="Cantarell"/>
              </a:rPr>
              <a:t># weight that 95% of dogs fall under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print(round(norm.ppf(0.95, mean, sd), 3))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1">
                <a:solidFill>
                  <a:srgbClr val="94A3B8"/>
                </a:solidFill>
                <a:latin typeface="Cantarell"/>
              </a:rPr>
              <a:t># 69.348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 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1">
                <a:solidFill>
                  <a:srgbClr val="94A3B8"/>
                </a:solidFill>
                <a:latin typeface="Cantarell"/>
              </a:rPr>
              <a:t># 1,000 random realistic weights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weights = []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for i in range(1000):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    p = random.uniform(0.0, 1.0)</a:t>
            </a:r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F1F5F9"/>
                </a:solidFill>
                <a:latin typeface="Cantarell"/>
              </a:rPr>
              <a:t>    weights.append(norm.ppf(p, mean, sd))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ByPaxto">
  <a:themeElements>
    <a:clrScheme name="CodeByPaxto">
      <a:dk1>
        <a:srgbClr val="1B1B20"/>
      </a:dk1>
      <a:lt1>
        <a:srgbClr val="FFFFFF"/>
      </a:lt1>
      <a:dk2>
        <a:srgbClr val="0B0F17"/>
      </a:dk2>
      <a:lt2>
        <a:srgbClr val="FCF8FF"/>
      </a:lt2>
      <a:accent1>
        <a:srgbClr val="8C8AE0"/>
      </a:accent1>
      <a:accent2>
        <a:srgbClr val="2DD4BF"/>
      </a:accent2>
      <a:accent3>
        <a:srgbClr val="BBEDDC"/>
      </a:accent3>
      <a:accent4>
        <a:srgbClr val="F43F5E"/>
      </a:accent4>
      <a:accent5>
        <a:srgbClr val="262758"/>
      </a:accent5>
      <a:accent6>
        <a:srgbClr val="5755A7"/>
      </a:accent6>
      <a:hlink>
        <a:srgbClr val="5755A7"/>
      </a:hlink>
      <a:folHlink>
        <a:srgbClr val="8C8AE0"/>
      </a:folHlink>
    </a:clrScheme>
    <a:fontScheme name="CodeByPaxto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75</Slides>
  <Notes>57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CodeByPaxto</vt:lpstr>
      <vt:lpstr>Probability</vt:lpstr>
      <vt:lpstr>What We’re Covering Today</vt:lpstr>
      <vt:lpstr>Python Setup for This Session</vt:lpstr>
      <vt:lpstr>Foundations</vt:lpstr>
      <vt:lpstr>What Is Probability, Really?</vt:lpstr>
      <vt:lpstr>Sample Space &amp; Events</vt:lpstr>
      <vt:lpstr>Events as Sets: ∪, ∩ and Complement</vt:lpstr>
      <vt:lpstr>Sample Space Picture: Two Dice</vt:lpstr>
      <vt:lpstr>Sample Space in Python</vt:lpstr>
      <vt:lpstr>Probability Is Counting</vt:lpstr>
      <vt:lpstr>Probability as Long-Run Frequency</vt:lpstr>
      <vt:lpstr>Simulating a Coin in Python</vt:lpstr>
      <vt:lpstr>Practice Set — Foundations</vt:lpstr>
      <vt:lpstr>Combining Probabilities</vt:lpstr>
      <vt:lpstr>Addition Rule: What Does It Answer?</vt:lpstr>
      <vt:lpstr>The General Addition Rule</vt:lpstr>
      <vt:lpstr>Worked Example: FastAPI or ML</vt:lpstr>
      <vt:lpstr>Mutually Exclusive Events</vt:lpstr>
      <vt:lpstr>Special Case: Mutually Exclusive Addition</vt:lpstr>
      <vt:lpstr>The Addition Rule — “OR”</vt:lpstr>
      <vt:lpstr>The Overlap Is Counted Twice</vt:lpstr>
      <vt:lpstr>Python &amp; Machine Learning: The Overlap</vt:lpstr>
      <vt:lpstr>Step by Step: Python OR Machine Learning</vt:lpstr>
      <vt:lpstr>The Addition Rule in Python</vt:lpstr>
      <vt:lpstr>Multiplication Rule: What Does It Answer?</vt:lpstr>
      <vt:lpstr>Independent Events</vt:lpstr>
      <vt:lpstr>Independent Events: Tossing a Coin Twice</vt:lpstr>
      <vt:lpstr>Dependent Events</vt:lpstr>
      <vt:lpstr>Dependent Events: Two Picks Without Replacement</vt:lpstr>
      <vt:lpstr>The Multiplication Rule — “AND”</vt:lpstr>
      <vt:lpstr>Probabilities Shrink Fast</vt:lpstr>
      <vt:lpstr>The Multiplication Rule in Python</vt:lpstr>
      <vt:lpstr>Independent vs. Dependent Events</vt:lpstr>
      <vt:lpstr>Without Replacement: Two “Both” Students</vt:lpstr>
      <vt:lpstr>Independent vs. Mutually Exclusive</vt:lpstr>
      <vt:lpstr>Which Rule Do I Use?</vt:lpstr>
      <vt:lpstr>Practice Set — Combining Probabilities</vt:lpstr>
      <vt:lpstr>Conditional Probability &amp; Bayes</vt:lpstr>
      <vt:lpstr>What Is Conditional Probability?</vt:lpstr>
      <vt:lpstr>Conditional Probability: The Formula</vt:lpstr>
      <vt:lpstr>Given FastAPI, the Class Shrinks to 28</vt:lpstr>
      <vt:lpstr>Conditional Probability in Python</vt:lpstr>
      <vt:lpstr>P(A | B) Is Not P(B | A)</vt:lpstr>
      <vt:lpstr>Bayes’ Theorem — Updating Beliefs</vt:lpstr>
      <vt:lpstr>The Four Parts of Bayes’ Theorem</vt:lpstr>
      <vt:lpstr>Where Bayes’ Theorem Comes From</vt:lpstr>
      <vt:lpstr>Bayes Step by Step: The Medical Test</vt:lpstr>
      <vt:lpstr>Bayes Medical Test: Out of 10,000 People</vt:lpstr>
      <vt:lpstr>Why Prevalence Changes Everything</vt:lpstr>
      <vt:lpstr>Bayes’ Theorem in Python</vt:lpstr>
      <vt:lpstr>A Second Positive Test</vt:lpstr>
      <vt:lpstr>Practice Set — Conditional Probability &amp; Bayes</vt:lpstr>
      <vt:lpstr>Probability Distributions &amp; the CLT</vt:lpstr>
      <vt:lpstr>What Is a Probability Distribution?</vt:lpstr>
      <vt:lpstr>Three Shapes, Three Stories</vt:lpstr>
      <vt:lpstr>Uniform in Python</vt:lpstr>
      <vt:lpstr>The Binomial Distribution</vt:lpstr>
      <vt:lpstr>Binomial: Heads in 10 Fair Flips</vt:lpstr>
      <vt:lpstr>Binomial in Python</vt:lpstr>
      <vt:lpstr>The Normal Distribution</vt:lpstr>
      <vt:lpstr>The Normal Curve and the 68–95–99.7 Rule</vt:lpstr>
      <vt:lpstr>The Empirical Rule in Python</vt:lpstr>
      <vt:lpstr>Normal Tail Probabilities</vt:lpstr>
      <vt:lpstr>The Central Limit Theorem</vt:lpstr>
      <vt:lpstr>The CLT in Pictures</vt:lpstr>
      <vt:lpstr>Simulating the CLT in Python</vt:lpstr>
      <vt:lpstr>Why the CLT Matters for What Comes Next</vt:lpstr>
      <vt:lpstr>Practice Set — Distributions &amp; the CLT</vt:lpstr>
      <vt:lpstr>Your Turn: Three Task Sets</vt:lpstr>
      <vt:lpstr>Counting &amp; Combining</vt:lpstr>
      <vt:lpstr>Conditional Probability &amp; Bayes</vt:lpstr>
      <vt:lpstr>Distributions &amp; the CLT</vt:lpstr>
      <vt:lpstr>Mini Project: Bayes’ Theorem in a Real Decision</vt:lpstr>
      <vt:lpstr>Mini Project: Starter Template</vt:lpstr>
      <vt:lpstr>What You Can Do Now</vt:lpstr>
    </vt:vector>
  </TitlesOfParts>
  <Company>CodeByPaxto: The AI &amp; ML Playground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— Session 20</dc:title>
  <dc:subject>PptxGenJS Presentation</dc:subject>
  <dc:creator>Hafiz Waseem Ahmed (Paxto)</dc:creator>
  <cp:lastModifiedBy>Hafiz Waseem Ahmed (Paxto)</cp:lastModifiedBy>
  <cp:revision>47</cp:revision>
  <dcterms:created xsi:type="dcterms:W3CDTF">2026-10-10T15:42:32Z</dcterms:created>
  <dcterms:modified xsi:type="dcterms:W3CDTF">2026-10-23T13:29:13Z</dcterms:modified>
</cp:coreProperties>
</file>