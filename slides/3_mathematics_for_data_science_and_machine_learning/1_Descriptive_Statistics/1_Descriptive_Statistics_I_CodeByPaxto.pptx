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BC5300-DFBB-46EB-A5A1-C44F3857E4D8}" v="200" dt="2026-10-03T15:41:00.0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microsoft.com/office/2015/10/relationships/revisionInfo" Target="revisionInfo.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 </a:t>
            </a: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F473489-892C-4C86-910D-23E20E42AEE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9" name="PlaceHolder 1"/>
          <p:cNvSpPr>
            <a:spLocks noGrp="1" noRot="1" noChangeAspect="1"/>
          </p:cNvSpPr>
          <p:nvPr>
            <p:ph type="sldImg"/>
          </p:nvPr>
        </p:nvSpPr>
        <p:spPr>
          <a:xfrm>
            <a:off x="685800" y="1143000"/>
            <a:ext cx="5486040" cy="3085920"/>
          </a:xfrm>
          <a:prstGeom prst="rect">
            <a:avLst/>
          </a:prstGeom>
          <a:ln w="0">
            <a:noFill/>
          </a:ln>
        </p:spPr>
      </p:sp>
      <p:sp>
        <p:nvSpPr>
          <p:cNvPr id="13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31"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AAB394D-6A9A-4325-8CD2-A8565021858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 name="PlaceHolder 1"/>
          <p:cNvSpPr>
            <a:spLocks noGrp="1" noRot="1" noChangeAspect="1"/>
          </p:cNvSpPr>
          <p:nvPr>
            <p:ph type="sldImg"/>
          </p:nvPr>
        </p:nvSpPr>
        <p:spPr>
          <a:xfrm>
            <a:off x="685800" y="1143000"/>
            <a:ext cx="5486040" cy="3085920"/>
          </a:xfrm>
          <a:prstGeom prst="rect">
            <a:avLst/>
          </a:prstGeom>
          <a:ln w="0">
            <a:noFill/>
          </a:ln>
        </p:spPr>
      </p:sp>
      <p:sp>
        <p:nvSpPr>
          <p:cNvPr id="13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34"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6193F5-5ACA-4BCD-A64F-22528B9FD542}"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5" name="PlaceHolder 1"/>
          <p:cNvSpPr>
            <a:spLocks noGrp="1" noRot="1" noChangeAspect="1"/>
          </p:cNvSpPr>
          <p:nvPr>
            <p:ph type="sldImg"/>
          </p:nvPr>
        </p:nvSpPr>
        <p:spPr>
          <a:xfrm>
            <a:off x="685800" y="1143000"/>
            <a:ext cx="5486040" cy="3085920"/>
          </a:xfrm>
          <a:prstGeom prst="rect">
            <a:avLst/>
          </a:prstGeom>
          <a:ln w="0">
            <a:noFill/>
          </a:ln>
        </p:spPr>
      </p:sp>
      <p:sp>
        <p:nvSpPr>
          <p:cNvPr id="13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37"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9F8001-1BBF-44CC-8949-14FAD9CFCA78}"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8" name="PlaceHolder 1"/>
          <p:cNvSpPr>
            <a:spLocks noGrp="1" noRot="1" noChangeAspect="1"/>
          </p:cNvSpPr>
          <p:nvPr>
            <p:ph type="sldImg"/>
          </p:nvPr>
        </p:nvSpPr>
        <p:spPr>
          <a:xfrm>
            <a:off x="685800" y="1143000"/>
            <a:ext cx="5486040" cy="3085920"/>
          </a:xfrm>
          <a:prstGeom prst="rect">
            <a:avLst/>
          </a:prstGeom>
          <a:ln w="0">
            <a:noFill/>
          </a:ln>
        </p:spPr>
      </p:sp>
      <p:sp>
        <p:nvSpPr>
          <p:cNvPr id="13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4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F430A71-115C-4A55-832D-AFCD9C007C3A}"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 name="PlaceHolder 1"/>
          <p:cNvSpPr>
            <a:spLocks noGrp="1" noRot="1" noChangeAspect="1"/>
          </p:cNvSpPr>
          <p:nvPr>
            <p:ph type="sldImg"/>
          </p:nvPr>
        </p:nvSpPr>
        <p:spPr>
          <a:xfrm>
            <a:off x="685800" y="1143000"/>
            <a:ext cx="5486040" cy="3085920"/>
          </a:xfrm>
          <a:prstGeom prst="rect">
            <a:avLst/>
          </a:prstGeom>
          <a:ln w="0">
            <a:noFill/>
          </a:ln>
        </p:spPr>
      </p:sp>
      <p:sp>
        <p:nvSpPr>
          <p:cNvPr id="13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4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EDF9B5A-5AD0-4F08-8787-03122D7AD848}"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 name="PlaceHolder 1"/>
          <p:cNvSpPr>
            <a:spLocks noGrp="1" noRot="1" noChangeAspect="1"/>
          </p:cNvSpPr>
          <p:nvPr>
            <p:ph type="sldImg"/>
          </p:nvPr>
        </p:nvSpPr>
        <p:spPr>
          <a:xfrm>
            <a:off x="685800" y="1143000"/>
            <a:ext cx="5486040" cy="3085920"/>
          </a:xfrm>
          <a:prstGeom prst="rect">
            <a:avLst/>
          </a:prstGeom>
          <a:ln w="0">
            <a:noFill/>
          </a:ln>
        </p:spPr>
      </p:sp>
      <p:sp>
        <p:nvSpPr>
          <p:cNvPr id="13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4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00645C2-3281-4199-9629-2B82EA2AC609}"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7" name="PlaceHolder 1"/>
          <p:cNvSpPr>
            <a:spLocks noGrp="1" noRot="1" noChangeAspect="1"/>
          </p:cNvSpPr>
          <p:nvPr>
            <p:ph type="sldImg"/>
          </p:nvPr>
        </p:nvSpPr>
        <p:spPr>
          <a:xfrm>
            <a:off x="685800" y="1143000"/>
            <a:ext cx="5486040" cy="3085920"/>
          </a:xfrm>
          <a:prstGeom prst="rect">
            <a:avLst/>
          </a:prstGeom>
          <a:ln w="0">
            <a:noFill/>
          </a:ln>
        </p:spPr>
      </p:sp>
      <p:sp>
        <p:nvSpPr>
          <p:cNvPr id="13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4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5A98DD-6B87-4C8D-BEDB-C590485BCA8F}"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0" name="PlaceHolder 1"/>
          <p:cNvSpPr>
            <a:spLocks noGrp="1" noRot="1" noChangeAspect="1"/>
          </p:cNvSpPr>
          <p:nvPr>
            <p:ph type="sldImg"/>
          </p:nvPr>
        </p:nvSpPr>
        <p:spPr>
          <a:xfrm>
            <a:off x="685800" y="1143000"/>
            <a:ext cx="5486040" cy="3085920"/>
          </a:xfrm>
          <a:prstGeom prst="rect">
            <a:avLst/>
          </a:prstGeom>
          <a:ln w="0">
            <a:noFill/>
          </a:ln>
        </p:spPr>
      </p:sp>
      <p:sp>
        <p:nvSpPr>
          <p:cNvPr id="13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52"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AF7A9C3-35D1-4F39-BAC8-3785CFF0A0E6}"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3" name="PlaceHolder 1"/>
          <p:cNvSpPr>
            <a:spLocks noGrp="1" noRot="1" noChangeAspect="1"/>
          </p:cNvSpPr>
          <p:nvPr>
            <p:ph type="sldImg"/>
          </p:nvPr>
        </p:nvSpPr>
        <p:spPr>
          <a:xfrm>
            <a:off x="685800" y="1143000"/>
            <a:ext cx="5486040" cy="3085920"/>
          </a:xfrm>
          <a:prstGeom prst="rect">
            <a:avLst/>
          </a:prstGeom>
          <a:ln w="0">
            <a:noFill/>
          </a:ln>
        </p:spPr>
      </p:sp>
      <p:sp>
        <p:nvSpPr>
          <p:cNvPr id="13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55"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D399B25-B24D-4471-9E4B-8EE3564A42AB}"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6" name="PlaceHolder 1"/>
          <p:cNvSpPr>
            <a:spLocks noGrp="1" noRot="1" noChangeAspect="1"/>
          </p:cNvSpPr>
          <p:nvPr>
            <p:ph type="sldImg"/>
          </p:nvPr>
        </p:nvSpPr>
        <p:spPr>
          <a:xfrm>
            <a:off x="685800" y="1143000"/>
            <a:ext cx="5486040" cy="3085920"/>
          </a:xfrm>
          <a:prstGeom prst="rect">
            <a:avLst/>
          </a:prstGeom>
          <a:ln w="0">
            <a:noFill/>
          </a:ln>
        </p:spPr>
      </p:sp>
      <p:sp>
        <p:nvSpPr>
          <p:cNvPr id="13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5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782361-6A52-4B4F-AE14-4CCC68316C92}"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 name="PlaceHolder 1"/>
          <p:cNvSpPr>
            <a:spLocks noGrp="1" noRot="1" noChangeAspect="1"/>
          </p:cNvSpPr>
          <p:nvPr>
            <p:ph type="sldImg"/>
          </p:nvPr>
        </p:nvSpPr>
        <p:spPr>
          <a:xfrm>
            <a:off x="685800" y="1143000"/>
            <a:ext cx="5486040" cy="3085920"/>
          </a:xfrm>
          <a:prstGeom prst="rect">
            <a:avLst/>
          </a:prstGeom>
          <a:ln w="0">
            <a:noFill/>
          </a:ln>
        </p:spPr>
      </p:sp>
      <p:sp>
        <p:nvSpPr>
          <p:cNvPr id="13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61"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B8833F5-2FE5-423D-88A1-B5A77EC23EE3}"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 name="PlaceHolder 1"/>
          <p:cNvSpPr>
            <a:spLocks noGrp="1" noRot="1" noChangeAspect="1"/>
          </p:cNvSpPr>
          <p:nvPr>
            <p:ph type="sldImg"/>
          </p:nvPr>
        </p:nvSpPr>
        <p:spPr>
          <a:xfrm>
            <a:off x="685800" y="1143000"/>
            <a:ext cx="5486040" cy="3085920"/>
          </a:xfrm>
          <a:prstGeom prst="rect">
            <a:avLst/>
          </a:prstGeom>
          <a:ln w="0">
            <a:noFill/>
          </a:ln>
        </p:spPr>
      </p:sp>
      <p:sp>
        <p:nvSpPr>
          <p:cNvPr id="13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64"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73CA353-176F-4F68-86E6-A96A7F25A687}"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5" name="PlaceHolder 1"/>
          <p:cNvSpPr>
            <a:spLocks noGrp="1" noRot="1" noChangeAspect="1"/>
          </p:cNvSpPr>
          <p:nvPr>
            <p:ph type="sldImg"/>
          </p:nvPr>
        </p:nvSpPr>
        <p:spPr>
          <a:xfrm>
            <a:off x="685800" y="1143000"/>
            <a:ext cx="5486040" cy="3085920"/>
          </a:xfrm>
          <a:prstGeom prst="rect">
            <a:avLst/>
          </a:prstGeom>
          <a:ln w="0">
            <a:noFill/>
          </a:ln>
        </p:spPr>
      </p:sp>
      <p:sp>
        <p:nvSpPr>
          <p:cNvPr id="13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67"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5BC4ABD-5365-4BA4-8592-D1EF52D3922B}"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8" name="PlaceHolder 1"/>
          <p:cNvSpPr>
            <a:spLocks noGrp="1" noRot="1" noChangeAspect="1"/>
          </p:cNvSpPr>
          <p:nvPr>
            <p:ph type="sldImg"/>
          </p:nvPr>
        </p:nvSpPr>
        <p:spPr>
          <a:xfrm>
            <a:off x="685800" y="1143000"/>
            <a:ext cx="5486040" cy="3085920"/>
          </a:xfrm>
          <a:prstGeom prst="rect">
            <a:avLst/>
          </a:prstGeom>
          <a:ln w="0">
            <a:noFill/>
          </a:ln>
        </p:spPr>
      </p:sp>
      <p:sp>
        <p:nvSpPr>
          <p:cNvPr id="13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70"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0420E60-8D98-49E6-81EB-4960F36D0E9A}"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1" name="PlaceHolder 1"/>
          <p:cNvSpPr>
            <a:spLocks noGrp="1" noRot="1" noChangeAspect="1"/>
          </p:cNvSpPr>
          <p:nvPr>
            <p:ph type="sldImg"/>
          </p:nvPr>
        </p:nvSpPr>
        <p:spPr>
          <a:xfrm>
            <a:off x="685800" y="1143000"/>
            <a:ext cx="5486040" cy="3085920"/>
          </a:xfrm>
          <a:prstGeom prst="rect">
            <a:avLst/>
          </a:prstGeom>
          <a:ln w="0">
            <a:noFill/>
          </a:ln>
        </p:spPr>
      </p:sp>
      <p:sp>
        <p:nvSpPr>
          <p:cNvPr id="13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73"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9E2FE5-BACB-4457-912D-9BA358C8B4C0}"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4" name="PlaceHolder 1"/>
          <p:cNvSpPr>
            <a:spLocks noGrp="1" noRot="1" noChangeAspect="1"/>
          </p:cNvSpPr>
          <p:nvPr>
            <p:ph type="sldImg"/>
          </p:nvPr>
        </p:nvSpPr>
        <p:spPr>
          <a:xfrm>
            <a:off x="685800" y="1143000"/>
            <a:ext cx="5486040" cy="3085920"/>
          </a:xfrm>
          <a:prstGeom prst="rect">
            <a:avLst/>
          </a:prstGeom>
          <a:ln w="0">
            <a:noFill/>
          </a:ln>
        </p:spPr>
      </p:sp>
      <p:sp>
        <p:nvSpPr>
          <p:cNvPr id="13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76"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A579E8E-3988-4A04-ADB2-61345105C270}"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7" name="PlaceHolder 1"/>
          <p:cNvSpPr>
            <a:spLocks noGrp="1" noRot="1" noChangeAspect="1"/>
          </p:cNvSpPr>
          <p:nvPr>
            <p:ph type="sldImg"/>
          </p:nvPr>
        </p:nvSpPr>
        <p:spPr>
          <a:xfrm>
            <a:off x="685800" y="1143000"/>
            <a:ext cx="5486040" cy="3085920"/>
          </a:xfrm>
          <a:prstGeom prst="rect">
            <a:avLst/>
          </a:prstGeom>
          <a:ln w="0">
            <a:noFill/>
          </a:ln>
        </p:spPr>
      </p:sp>
      <p:sp>
        <p:nvSpPr>
          <p:cNvPr id="13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79"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47A6F1-F633-4BF8-80B1-8F4F4269D9BE}"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 name="PlaceHolder 1"/>
          <p:cNvSpPr>
            <a:spLocks noGrp="1" noRot="1" noChangeAspect="1"/>
          </p:cNvSpPr>
          <p:nvPr>
            <p:ph type="sldImg"/>
          </p:nvPr>
        </p:nvSpPr>
        <p:spPr>
          <a:xfrm>
            <a:off x="685800" y="1143000"/>
            <a:ext cx="5486040" cy="3085920"/>
          </a:xfrm>
          <a:prstGeom prst="rect">
            <a:avLst/>
          </a:prstGeom>
          <a:ln w="0">
            <a:noFill/>
          </a:ln>
        </p:spPr>
      </p:sp>
      <p:sp>
        <p:nvSpPr>
          <p:cNvPr id="13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82"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1669B4E-EB1A-4F1B-9BB3-6EF57DCD5012}"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3" name="PlaceHolder 1"/>
          <p:cNvSpPr>
            <a:spLocks noGrp="1" noRot="1" noChangeAspect="1"/>
          </p:cNvSpPr>
          <p:nvPr>
            <p:ph type="sldImg"/>
          </p:nvPr>
        </p:nvSpPr>
        <p:spPr>
          <a:xfrm>
            <a:off x="685800" y="1143000"/>
            <a:ext cx="5486040" cy="3085920"/>
          </a:xfrm>
          <a:prstGeom prst="rect">
            <a:avLst/>
          </a:prstGeom>
          <a:ln w="0">
            <a:noFill/>
          </a:ln>
        </p:spPr>
      </p:sp>
      <p:sp>
        <p:nvSpPr>
          <p:cNvPr id="13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85"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F99113D-A813-4AB9-AAC8-48E353905479}"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6" name="PlaceHolder 1"/>
          <p:cNvSpPr>
            <a:spLocks noGrp="1" noRot="1" noChangeAspect="1"/>
          </p:cNvSpPr>
          <p:nvPr>
            <p:ph type="sldImg"/>
          </p:nvPr>
        </p:nvSpPr>
        <p:spPr>
          <a:xfrm>
            <a:off x="685800" y="1143000"/>
            <a:ext cx="5486040" cy="3085920"/>
          </a:xfrm>
          <a:prstGeom prst="rect">
            <a:avLst/>
          </a:prstGeom>
          <a:ln w="0">
            <a:noFill/>
          </a:ln>
        </p:spPr>
      </p:sp>
      <p:sp>
        <p:nvSpPr>
          <p:cNvPr id="13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88"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48DF700-7CCA-47FE-B7D0-6EB502BB8423}"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9" name="PlaceHolder 1"/>
          <p:cNvSpPr>
            <a:spLocks noGrp="1" noRot="1" noChangeAspect="1"/>
          </p:cNvSpPr>
          <p:nvPr>
            <p:ph type="sldImg"/>
          </p:nvPr>
        </p:nvSpPr>
        <p:spPr>
          <a:xfrm>
            <a:off x="685800" y="1143000"/>
            <a:ext cx="5486040" cy="3085920"/>
          </a:xfrm>
          <a:prstGeom prst="rect">
            <a:avLst/>
          </a:prstGeom>
          <a:ln w="0">
            <a:noFill/>
          </a:ln>
        </p:spPr>
      </p:sp>
      <p:sp>
        <p:nvSpPr>
          <p:cNvPr id="13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91"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8F6F43-4125-445E-AD22-557E7EAE0C91}" type="slidenum">
              <a:rPr lang="en-US" sz="1200" b="0" u="none" strike="noStrike">
                <a:solidFill>
                  <a:schemeClr val="dk1"/>
                </a:solidFill>
                <a:effectLst/>
                <a:uFillTx/>
                <a:latin typeface="+mn-lt"/>
                <a:ea typeface="+mn-ea"/>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 name="PlaceHolder 1"/>
          <p:cNvSpPr>
            <a:spLocks noGrp="1" noRot="1" noChangeAspect="1"/>
          </p:cNvSpPr>
          <p:nvPr>
            <p:ph type="sldImg"/>
          </p:nvPr>
        </p:nvSpPr>
        <p:spPr>
          <a:xfrm>
            <a:off x="685800" y="1143000"/>
            <a:ext cx="5486040" cy="3085920"/>
          </a:xfrm>
          <a:prstGeom prst="rect">
            <a:avLst/>
          </a:prstGeom>
          <a:ln w="0">
            <a:noFill/>
          </a:ln>
        </p:spPr>
      </p:sp>
      <p:sp>
        <p:nvSpPr>
          <p:cNvPr id="13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94"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2FC1A15-6081-4F9A-9AC0-79855B05CA8B}"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5" name="PlaceHolder 1"/>
          <p:cNvSpPr>
            <a:spLocks noGrp="1" noRot="1" noChangeAspect="1"/>
          </p:cNvSpPr>
          <p:nvPr>
            <p:ph type="sldImg"/>
          </p:nvPr>
        </p:nvSpPr>
        <p:spPr>
          <a:xfrm>
            <a:off x="685800" y="1143000"/>
            <a:ext cx="5486040" cy="3085920"/>
          </a:xfrm>
          <a:prstGeom prst="rect">
            <a:avLst/>
          </a:prstGeom>
          <a:ln w="0">
            <a:noFill/>
          </a:ln>
        </p:spPr>
      </p:sp>
      <p:sp>
        <p:nvSpPr>
          <p:cNvPr id="13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397"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1BEEF42-20BD-4C06-8757-31DF31446D65}" type="slidenum">
              <a:rPr lang="en-US" sz="1200" b="0" u="none" strike="noStrike">
                <a:solidFill>
                  <a:schemeClr val="dk1"/>
                </a:solidFill>
                <a:effectLst/>
                <a:uFillTx/>
                <a:latin typeface="+mn-lt"/>
                <a:ea typeface="+mn-ea"/>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8" name="PlaceHolder 1"/>
          <p:cNvSpPr>
            <a:spLocks noGrp="1" noRot="1" noChangeAspect="1"/>
          </p:cNvSpPr>
          <p:nvPr>
            <p:ph type="sldImg"/>
          </p:nvPr>
        </p:nvSpPr>
        <p:spPr>
          <a:xfrm>
            <a:off x="685800" y="1143000"/>
            <a:ext cx="5486040" cy="3085920"/>
          </a:xfrm>
          <a:prstGeom prst="rect">
            <a:avLst/>
          </a:prstGeom>
          <a:ln w="0">
            <a:noFill/>
          </a:ln>
        </p:spPr>
      </p:sp>
      <p:sp>
        <p:nvSpPr>
          <p:cNvPr id="13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00"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22BBB30-69E4-4228-92AD-B1A1C560FD09}" type="slidenum">
              <a:rPr lang="en-US" sz="1200" b="0" u="none" strike="noStrike">
                <a:solidFill>
                  <a:schemeClr val="dk1"/>
                </a:solidFill>
                <a:effectLst/>
                <a:uFillTx/>
                <a:latin typeface="+mn-lt"/>
                <a:ea typeface="+mn-ea"/>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1" name="PlaceHolder 1"/>
          <p:cNvSpPr>
            <a:spLocks noGrp="1" noRot="1" noChangeAspect="1"/>
          </p:cNvSpPr>
          <p:nvPr>
            <p:ph type="sldImg"/>
          </p:nvPr>
        </p:nvSpPr>
        <p:spPr>
          <a:xfrm>
            <a:off x="685800" y="1143000"/>
            <a:ext cx="5486040" cy="3085920"/>
          </a:xfrm>
          <a:prstGeom prst="rect">
            <a:avLst/>
          </a:prstGeom>
          <a:ln w="0">
            <a:noFill/>
          </a:ln>
        </p:spPr>
      </p:sp>
      <p:sp>
        <p:nvSpPr>
          <p:cNvPr id="14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03"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752A59F-113F-4C01-A612-FAFF37B8D0F5}"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 name="PlaceHolder 1"/>
          <p:cNvSpPr>
            <a:spLocks noGrp="1" noRot="1" noChangeAspect="1"/>
          </p:cNvSpPr>
          <p:nvPr>
            <p:ph type="sldImg"/>
          </p:nvPr>
        </p:nvSpPr>
        <p:spPr>
          <a:xfrm>
            <a:off x="685800" y="1143000"/>
            <a:ext cx="5486040" cy="3085920"/>
          </a:xfrm>
          <a:prstGeom prst="rect">
            <a:avLst/>
          </a:prstGeom>
          <a:ln w="0">
            <a:noFill/>
          </a:ln>
        </p:spPr>
      </p:sp>
      <p:sp>
        <p:nvSpPr>
          <p:cNvPr id="14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06"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7487575-C647-4605-9273-F77016DC64E0}"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7" name="PlaceHolder 1"/>
          <p:cNvSpPr>
            <a:spLocks noGrp="1" noRot="1" noChangeAspect="1"/>
          </p:cNvSpPr>
          <p:nvPr>
            <p:ph type="sldImg"/>
          </p:nvPr>
        </p:nvSpPr>
        <p:spPr>
          <a:xfrm>
            <a:off x="685800" y="1143000"/>
            <a:ext cx="5486040" cy="3085920"/>
          </a:xfrm>
          <a:prstGeom prst="rect">
            <a:avLst/>
          </a:prstGeom>
          <a:ln w="0">
            <a:noFill/>
          </a:ln>
        </p:spPr>
      </p:sp>
      <p:sp>
        <p:nvSpPr>
          <p:cNvPr id="14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09"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02024EF-12CF-43B8-BE94-93109183EBE2}"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 name="PlaceHolder 1"/>
          <p:cNvSpPr>
            <a:spLocks noGrp="1" noRot="1" noChangeAspect="1"/>
          </p:cNvSpPr>
          <p:nvPr>
            <p:ph type="sldImg"/>
          </p:nvPr>
        </p:nvSpPr>
        <p:spPr>
          <a:xfrm>
            <a:off x="685800" y="1143000"/>
            <a:ext cx="5486040" cy="3085920"/>
          </a:xfrm>
          <a:prstGeom prst="rect">
            <a:avLst/>
          </a:prstGeom>
          <a:ln w="0">
            <a:noFill/>
          </a:ln>
        </p:spPr>
      </p:sp>
      <p:sp>
        <p:nvSpPr>
          <p:cNvPr id="14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12"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B2006EB-52B2-43B4-9DEC-D652A9F8720B}" type="slidenum">
              <a:rPr lang="en-US" sz="1200" b="0" u="none" strike="noStrike">
                <a:solidFill>
                  <a:schemeClr val="dk1"/>
                </a:solidFill>
                <a:effectLst/>
                <a:uFillTx/>
                <a:latin typeface="+mn-lt"/>
                <a:ea typeface="+mn-ea"/>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 name="PlaceHolder 1"/>
          <p:cNvSpPr>
            <a:spLocks noGrp="1" noRot="1" noChangeAspect="1"/>
          </p:cNvSpPr>
          <p:nvPr>
            <p:ph type="sldImg"/>
          </p:nvPr>
        </p:nvSpPr>
        <p:spPr>
          <a:xfrm>
            <a:off x="685800" y="1143000"/>
            <a:ext cx="5486040" cy="3085920"/>
          </a:xfrm>
          <a:prstGeom prst="rect">
            <a:avLst/>
          </a:prstGeom>
          <a:ln w="0">
            <a:noFill/>
          </a:ln>
        </p:spPr>
      </p:sp>
      <p:sp>
        <p:nvSpPr>
          <p:cNvPr id="14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15"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F46818E-E36A-46FB-97F2-820B917E972A}"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6" name="PlaceHolder 1"/>
          <p:cNvSpPr>
            <a:spLocks noGrp="1" noRot="1" noChangeAspect="1"/>
          </p:cNvSpPr>
          <p:nvPr>
            <p:ph type="sldImg"/>
          </p:nvPr>
        </p:nvSpPr>
        <p:spPr>
          <a:xfrm>
            <a:off x="685800" y="1143000"/>
            <a:ext cx="5486040" cy="3085920"/>
          </a:xfrm>
          <a:prstGeom prst="rect">
            <a:avLst/>
          </a:prstGeom>
          <a:ln w="0">
            <a:noFill/>
          </a:ln>
        </p:spPr>
      </p:sp>
      <p:sp>
        <p:nvSpPr>
          <p:cNvPr id="14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18"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4B881C4-3FF6-48EE-B252-236C74CF0370}"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9" name="PlaceHolder 1"/>
          <p:cNvSpPr>
            <a:spLocks noGrp="1" noRot="1" noChangeAspect="1"/>
          </p:cNvSpPr>
          <p:nvPr>
            <p:ph type="sldImg"/>
          </p:nvPr>
        </p:nvSpPr>
        <p:spPr>
          <a:xfrm>
            <a:off x="685800" y="1143000"/>
            <a:ext cx="5486040" cy="3085920"/>
          </a:xfrm>
          <a:prstGeom prst="rect">
            <a:avLst/>
          </a:prstGeom>
          <a:ln w="0">
            <a:noFill/>
          </a:ln>
        </p:spPr>
      </p:sp>
      <p:sp>
        <p:nvSpPr>
          <p:cNvPr id="14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21"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008C323-3E48-4F22-8461-6695E0672800}" type="slidenum">
              <a:rPr lang="en-US" sz="1200" b="0" u="none" strike="noStrike">
                <a:solidFill>
                  <a:schemeClr val="dk1"/>
                </a:solidFill>
                <a:effectLst/>
                <a:uFillTx/>
                <a:latin typeface="+mn-lt"/>
                <a:ea typeface="+mn-ea"/>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2" name="PlaceHolder 1"/>
          <p:cNvSpPr>
            <a:spLocks noGrp="1" noRot="1" noChangeAspect="1"/>
          </p:cNvSpPr>
          <p:nvPr>
            <p:ph type="sldImg"/>
          </p:nvPr>
        </p:nvSpPr>
        <p:spPr>
          <a:xfrm>
            <a:off x="685800" y="1143000"/>
            <a:ext cx="5486040" cy="3085920"/>
          </a:xfrm>
          <a:prstGeom prst="rect">
            <a:avLst/>
          </a:prstGeom>
          <a:ln w="0">
            <a:noFill/>
          </a:ln>
        </p:spPr>
      </p:sp>
      <p:sp>
        <p:nvSpPr>
          <p:cNvPr id="14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24"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F0D25FE-4F8E-44BD-807F-B53699FB630C}"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5" name="PlaceHolder 1"/>
          <p:cNvSpPr>
            <a:spLocks noGrp="1" noRot="1" noChangeAspect="1"/>
          </p:cNvSpPr>
          <p:nvPr>
            <p:ph type="sldImg"/>
          </p:nvPr>
        </p:nvSpPr>
        <p:spPr>
          <a:xfrm>
            <a:off x="685800" y="1143000"/>
            <a:ext cx="5486040" cy="3085920"/>
          </a:xfrm>
          <a:prstGeom prst="rect">
            <a:avLst/>
          </a:prstGeom>
          <a:ln w="0">
            <a:noFill/>
          </a:ln>
        </p:spPr>
      </p:sp>
      <p:sp>
        <p:nvSpPr>
          <p:cNvPr id="14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27"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92A5936-5DC9-47DE-B00B-CCB74518CB4A}"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8" name="PlaceHolder 1"/>
          <p:cNvSpPr>
            <a:spLocks noGrp="1" noRot="1" noChangeAspect="1"/>
          </p:cNvSpPr>
          <p:nvPr>
            <p:ph type="sldImg"/>
          </p:nvPr>
        </p:nvSpPr>
        <p:spPr>
          <a:xfrm>
            <a:off x="685800" y="1143000"/>
            <a:ext cx="5486040" cy="3085920"/>
          </a:xfrm>
          <a:prstGeom prst="rect">
            <a:avLst/>
          </a:prstGeom>
          <a:ln w="0">
            <a:noFill/>
          </a:ln>
        </p:spPr>
      </p:sp>
      <p:sp>
        <p:nvSpPr>
          <p:cNvPr id="14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30"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F579C1E-D08C-4C3B-8BB1-C76416AF3399}"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1" name="PlaceHolder 1"/>
          <p:cNvSpPr>
            <a:spLocks noGrp="1" noRot="1" noChangeAspect="1"/>
          </p:cNvSpPr>
          <p:nvPr>
            <p:ph type="sldImg"/>
          </p:nvPr>
        </p:nvSpPr>
        <p:spPr>
          <a:xfrm>
            <a:off x="685800" y="1143000"/>
            <a:ext cx="5486040" cy="3085920"/>
          </a:xfrm>
          <a:prstGeom prst="rect">
            <a:avLst/>
          </a:prstGeom>
          <a:ln w="0">
            <a:noFill/>
          </a:ln>
        </p:spPr>
      </p:sp>
      <p:sp>
        <p:nvSpPr>
          <p:cNvPr id="14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33"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006702-2A4E-4634-B731-92C61A3E1EDE}"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 name="PlaceHolder 1"/>
          <p:cNvSpPr>
            <a:spLocks noGrp="1" noRot="1" noChangeAspect="1"/>
          </p:cNvSpPr>
          <p:nvPr>
            <p:ph type="sldImg"/>
          </p:nvPr>
        </p:nvSpPr>
        <p:spPr>
          <a:xfrm>
            <a:off x="685800" y="1143000"/>
            <a:ext cx="5486040" cy="3085920"/>
          </a:xfrm>
          <a:prstGeom prst="rect">
            <a:avLst/>
          </a:prstGeom>
          <a:ln w="0">
            <a:noFill/>
          </a:ln>
        </p:spPr>
      </p:sp>
      <p:sp>
        <p:nvSpPr>
          <p:cNvPr id="14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36"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C4871E6-3DDE-451B-B5CF-EE30DF99086C}"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7" name="PlaceHolder 1"/>
          <p:cNvSpPr>
            <a:spLocks noGrp="1" noRot="1" noChangeAspect="1"/>
          </p:cNvSpPr>
          <p:nvPr>
            <p:ph type="sldImg"/>
          </p:nvPr>
        </p:nvSpPr>
        <p:spPr>
          <a:xfrm>
            <a:off x="685800" y="1143000"/>
            <a:ext cx="5486040" cy="3085920"/>
          </a:xfrm>
          <a:prstGeom prst="rect">
            <a:avLst/>
          </a:prstGeom>
          <a:ln w="0">
            <a:noFill/>
          </a:ln>
        </p:spPr>
      </p:sp>
      <p:sp>
        <p:nvSpPr>
          <p:cNvPr id="14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39"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E8CD9FB-7A1C-4E79-84D8-9B373D35EC6E}" type="slidenum">
              <a:rPr lang="en-US" sz="1200" b="0" u="none" strike="noStrike">
                <a:solidFill>
                  <a:schemeClr val="dk1"/>
                </a:solidFill>
                <a:effectLst/>
                <a:uFillTx/>
                <a:latin typeface="+mn-lt"/>
                <a:ea typeface="+mn-ea"/>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0" name="PlaceHolder 1"/>
          <p:cNvSpPr>
            <a:spLocks noGrp="1" noRot="1" noChangeAspect="1"/>
          </p:cNvSpPr>
          <p:nvPr>
            <p:ph type="sldImg"/>
          </p:nvPr>
        </p:nvSpPr>
        <p:spPr>
          <a:xfrm>
            <a:off x="685800" y="1143000"/>
            <a:ext cx="5486040" cy="3085920"/>
          </a:xfrm>
          <a:prstGeom prst="rect">
            <a:avLst/>
          </a:prstGeom>
          <a:ln w="0">
            <a:noFill/>
          </a:ln>
        </p:spPr>
      </p:sp>
      <p:sp>
        <p:nvSpPr>
          <p:cNvPr id="14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42"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C015C23-B51F-432E-85E7-D9D2B9DA8F61}"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 name="PlaceHolder 1"/>
          <p:cNvSpPr>
            <a:spLocks noGrp="1" noRot="1" noChangeAspect="1"/>
          </p:cNvSpPr>
          <p:nvPr>
            <p:ph type="sldImg"/>
          </p:nvPr>
        </p:nvSpPr>
        <p:spPr>
          <a:xfrm>
            <a:off x="685800" y="1143000"/>
            <a:ext cx="5486040" cy="3085920"/>
          </a:xfrm>
          <a:prstGeom prst="rect">
            <a:avLst/>
          </a:prstGeom>
          <a:ln w="0">
            <a:noFill/>
          </a:ln>
        </p:spPr>
      </p:sp>
      <p:sp>
        <p:nvSpPr>
          <p:cNvPr id="14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45"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C681A23-FB37-493F-A5F1-6F86157C56BB}"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6" name="PlaceHolder 1"/>
          <p:cNvSpPr>
            <a:spLocks noGrp="1" noRot="1" noChangeAspect="1"/>
          </p:cNvSpPr>
          <p:nvPr>
            <p:ph type="sldImg"/>
          </p:nvPr>
        </p:nvSpPr>
        <p:spPr>
          <a:xfrm>
            <a:off x="685800" y="1143000"/>
            <a:ext cx="5486040" cy="3085920"/>
          </a:xfrm>
          <a:prstGeom prst="rect">
            <a:avLst/>
          </a:prstGeom>
          <a:ln w="0">
            <a:noFill/>
          </a:ln>
        </p:spPr>
      </p:sp>
      <p:sp>
        <p:nvSpPr>
          <p:cNvPr id="14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48"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2AF5FA-F30A-4E1D-912F-8807CD5F7162}" type="slidenum">
              <a:rPr lang="en-US" sz="1200" b="0" u="none" strike="noStrike">
                <a:solidFill>
                  <a:schemeClr val="dk1"/>
                </a:solidFill>
                <a:effectLst/>
                <a:uFillTx/>
                <a:latin typeface="+mn-lt"/>
                <a:ea typeface="+mn-ea"/>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9" name="PlaceHolder 1"/>
          <p:cNvSpPr>
            <a:spLocks noGrp="1" noRot="1" noChangeAspect="1"/>
          </p:cNvSpPr>
          <p:nvPr>
            <p:ph type="sldImg"/>
          </p:nvPr>
        </p:nvSpPr>
        <p:spPr>
          <a:xfrm>
            <a:off x="685800" y="1143000"/>
            <a:ext cx="5486040" cy="3085920"/>
          </a:xfrm>
          <a:prstGeom prst="rect">
            <a:avLst/>
          </a:prstGeom>
          <a:ln w="0">
            <a:noFill/>
          </a:ln>
        </p:spPr>
      </p:sp>
      <p:sp>
        <p:nvSpPr>
          <p:cNvPr id="14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51"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4DF13B6-CA73-4E56-9437-E348245D4BBA}" type="slidenum">
              <a:rPr lang="en-US" sz="1200" b="0" u="none" strike="noStrike">
                <a:solidFill>
                  <a:schemeClr val="dk1"/>
                </a:solidFill>
                <a:effectLst/>
                <a:uFillTx/>
                <a:latin typeface="+mn-lt"/>
                <a:ea typeface="+mn-ea"/>
              </a:rPr>
              <a:t>41</a:t>
            </a:fld>
            <a:endParaRPr lang="en-US" sz="1200" b="0" u="none" strike="noStrike">
              <a:solidFill>
                <a:srgbClr val="000000"/>
              </a:solidFill>
              <a:effectLst/>
              <a:uFillTx/>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2" name="PlaceHolder 1"/>
          <p:cNvSpPr>
            <a:spLocks noGrp="1" noRot="1" noChangeAspect="1"/>
          </p:cNvSpPr>
          <p:nvPr>
            <p:ph type="sldImg"/>
          </p:nvPr>
        </p:nvSpPr>
        <p:spPr>
          <a:xfrm>
            <a:off x="685800" y="1143000"/>
            <a:ext cx="5486040" cy="3085920"/>
          </a:xfrm>
          <a:prstGeom prst="rect">
            <a:avLst/>
          </a:prstGeom>
          <a:ln w="0">
            <a:noFill/>
          </a:ln>
        </p:spPr>
      </p:sp>
      <p:sp>
        <p:nvSpPr>
          <p:cNvPr id="14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54"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3C5A38D-1D10-41F8-A731-BA85B58FEB83}" type="slidenum">
              <a:rPr lang="en-US" sz="1200" b="0" u="none" strike="noStrike">
                <a:solidFill>
                  <a:schemeClr val="dk1"/>
                </a:solidFill>
                <a:effectLst/>
                <a:uFillTx/>
                <a:latin typeface="+mn-lt"/>
                <a:ea typeface="+mn-ea"/>
              </a:rPr>
              <a:t>42</a:t>
            </a:fld>
            <a:endParaRPr lang="en-US" sz="1200" b="0" u="none" strike="noStrike">
              <a:solidFill>
                <a:srgbClr val="000000"/>
              </a:solidFill>
              <a:effectLst/>
              <a:uFillTx/>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5" name="PlaceHolder 1"/>
          <p:cNvSpPr>
            <a:spLocks noGrp="1" noRot="1" noChangeAspect="1"/>
          </p:cNvSpPr>
          <p:nvPr>
            <p:ph type="sldImg"/>
          </p:nvPr>
        </p:nvSpPr>
        <p:spPr>
          <a:xfrm>
            <a:off x="685800" y="1143000"/>
            <a:ext cx="5486040" cy="3085920"/>
          </a:xfrm>
          <a:prstGeom prst="rect">
            <a:avLst/>
          </a:prstGeom>
          <a:ln w="0">
            <a:noFill/>
          </a:ln>
        </p:spPr>
      </p:sp>
      <p:sp>
        <p:nvSpPr>
          <p:cNvPr id="14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57"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503DFDB-2C33-4830-80BB-21DD427D7EA9}" type="slidenum">
              <a:rPr lang="en-US" sz="1200" b="0" u="none" strike="noStrike">
                <a:solidFill>
                  <a:schemeClr val="dk1"/>
                </a:solidFill>
                <a:effectLst/>
                <a:uFillTx/>
                <a:latin typeface="+mn-lt"/>
                <a:ea typeface="+mn-ea"/>
              </a:rPr>
              <a:t>43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8" name="PlaceHolder 1"/>
          <p:cNvSpPr>
            <a:spLocks noGrp="1" noRot="1" noChangeAspect="1"/>
          </p:cNvSpPr>
          <p:nvPr>
            <p:ph type="sldImg"/>
          </p:nvPr>
        </p:nvSpPr>
        <p:spPr>
          <a:xfrm>
            <a:off x="685800" y="1143000"/>
            <a:ext cx="5486040" cy="3085920"/>
          </a:xfrm>
          <a:prstGeom prst="rect">
            <a:avLst/>
          </a:prstGeom>
          <a:ln w="0">
            <a:noFill/>
          </a:ln>
        </p:spPr>
      </p:sp>
      <p:sp>
        <p:nvSpPr>
          <p:cNvPr id="14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60"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9572056-68A0-4B24-A3F0-85EF76717317}" type="slidenum">
              <a:rPr lang="en-US" sz="1200" b="0" u="none" strike="noStrike">
                <a:solidFill>
                  <a:schemeClr val="dk1"/>
                </a:solidFill>
                <a:effectLst/>
                <a:uFillTx/>
                <a:latin typeface="+mn-lt"/>
                <a:ea typeface="+mn-ea"/>
              </a:rPr>
              <a:t>44</a:t>
            </a:fld>
            <a:endParaRPr lang="en-US" sz="1200" b="0" u="none" strike="noStrike">
              <a:solidFill>
                <a:srgbClr val="000000"/>
              </a:solidFill>
              <a:effectLst/>
              <a:uFillTx/>
              <a:latin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1" name="PlaceHolder 1"/>
          <p:cNvSpPr>
            <a:spLocks noGrp="1" noRot="1" noChangeAspect="1"/>
          </p:cNvSpPr>
          <p:nvPr>
            <p:ph type="sldImg"/>
          </p:nvPr>
        </p:nvSpPr>
        <p:spPr>
          <a:xfrm>
            <a:off x="685800" y="1143000"/>
            <a:ext cx="5486040" cy="3085920"/>
          </a:xfrm>
          <a:prstGeom prst="rect">
            <a:avLst/>
          </a:prstGeom>
          <a:ln w="0">
            <a:noFill/>
          </a:ln>
        </p:spPr>
      </p:sp>
      <p:sp>
        <p:nvSpPr>
          <p:cNvPr id="14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63"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8E7E36B-F970-407B-AC51-5B91266373DF}" type="slidenum">
              <a:rPr lang="en-US" sz="1200" b="0" u="none" strike="noStrike">
                <a:solidFill>
                  <a:schemeClr val="dk1"/>
                </a:solidFill>
                <a:effectLst/>
                <a:uFillTx/>
                <a:latin typeface="+mn-lt"/>
                <a:ea typeface="+mn-ea"/>
              </a:rPr>
              <a:t>45</a:t>
            </a:fld>
            <a:endParaRPr lang="en-US" sz="1200" b="0" u="none" strike="noStrike">
              <a:solidFill>
                <a:srgbClr val="000000"/>
              </a:solidFill>
              <a:effectLst/>
              <a:uFillTx/>
              <a:latin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 name="PlaceHolder 1"/>
          <p:cNvSpPr>
            <a:spLocks noGrp="1" noRot="1" noChangeAspect="1"/>
          </p:cNvSpPr>
          <p:nvPr>
            <p:ph type="sldImg"/>
          </p:nvPr>
        </p:nvSpPr>
        <p:spPr>
          <a:xfrm>
            <a:off x="685800" y="1143000"/>
            <a:ext cx="5486040" cy="3085920"/>
          </a:xfrm>
          <a:prstGeom prst="rect">
            <a:avLst/>
          </a:prstGeom>
          <a:ln w="0">
            <a:noFill/>
          </a:ln>
        </p:spPr>
      </p:sp>
      <p:sp>
        <p:nvSpPr>
          <p:cNvPr id="14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66"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5B676B8-7EE8-4A21-9A0F-72EDED48932F}" type="slidenum">
              <a:rPr lang="en-US" sz="1200" b="0" u="none" strike="noStrike">
                <a:solidFill>
                  <a:schemeClr val="dk1"/>
                </a:solidFill>
                <a:effectLst/>
                <a:uFillTx/>
                <a:latin typeface="+mn-lt"/>
                <a:ea typeface="+mn-ea"/>
              </a:rPr>
              <a:t>46</a:t>
            </a:fld>
            <a:endParaRPr lang="en-US" sz="1200" b="0" u="none" strike="noStrike">
              <a:solidFill>
                <a:srgbClr val="000000"/>
              </a:solidFill>
              <a:effectLst/>
              <a:uFillTx/>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7" name="PlaceHolder 1"/>
          <p:cNvSpPr>
            <a:spLocks noGrp="1" noRot="1" noChangeAspect="1"/>
          </p:cNvSpPr>
          <p:nvPr>
            <p:ph type="sldImg"/>
          </p:nvPr>
        </p:nvSpPr>
        <p:spPr>
          <a:xfrm>
            <a:off x="685800" y="1143000"/>
            <a:ext cx="5486040" cy="3085920"/>
          </a:xfrm>
          <a:prstGeom prst="rect">
            <a:avLst/>
          </a:prstGeom>
          <a:ln w="0">
            <a:noFill/>
          </a:ln>
        </p:spPr>
      </p:sp>
      <p:sp>
        <p:nvSpPr>
          <p:cNvPr id="14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69"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6A7C24C-0D35-4591-8CF7-48E429F11352}" type="slidenum">
              <a:rPr lang="en-US" sz="1200" b="0" u="none" strike="noStrike">
                <a:solidFill>
                  <a:schemeClr val="dk1"/>
                </a:solidFill>
                <a:effectLst/>
                <a:uFillTx/>
                <a:latin typeface="+mn-lt"/>
                <a:ea typeface="+mn-ea"/>
              </a:rPr>
              <a:t>47</a:t>
            </a:fld>
            <a:endParaRPr lang="en-US" sz="1200" b="0" u="none" strike="noStrike">
              <a:solidFill>
                <a:srgbClr val="000000"/>
              </a:solidFill>
              <a:effectLst/>
              <a:uFillTx/>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0" name="PlaceHolder 1"/>
          <p:cNvSpPr>
            <a:spLocks noGrp="1" noRot="1" noChangeAspect="1"/>
          </p:cNvSpPr>
          <p:nvPr>
            <p:ph type="sldImg"/>
          </p:nvPr>
        </p:nvSpPr>
        <p:spPr>
          <a:xfrm>
            <a:off x="685800" y="1143000"/>
            <a:ext cx="5486040" cy="3085920"/>
          </a:xfrm>
          <a:prstGeom prst="rect">
            <a:avLst/>
          </a:prstGeom>
          <a:ln w="0">
            <a:noFill/>
          </a:ln>
        </p:spPr>
      </p:sp>
      <p:sp>
        <p:nvSpPr>
          <p:cNvPr id="14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72"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ABC89D0-D58C-4EA6-A2E6-61197F95D8D0}" type="slidenum">
              <a:rPr lang="en-US" sz="1200" b="0" u="none" strike="noStrike">
                <a:solidFill>
                  <a:schemeClr val="dk1"/>
                </a:solidFill>
                <a:effectLst/>
                <a:uFillTx/>
                <a:latin typeface="+mn-lt"/>
                <a:ea typeface="+mn-ea"/>
              </a:rPr>
              <a:t>48</a:t>
            </a:fld>
            <a:endParaRPr lang="en-US" sz="1200" b="0" u="none" strike="noStrike">
              <a:solidFill>
                <a:srgbClr val="000000"/>
              </a:solidFill>
              <a:effectLst/>
              <a:uFillTx/>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3" name="PlaceHolder 1"/>
          <p:cNvSpPr>
            <a:spLocks noGrp="1" noRot="1" noChangeAspect="1"/>
          </p:cNvSpPr>
          <p:nvPr>
            <p:ph type="sldImg"/>
          </p:nvPr>
        </p:nvSpPr>
        <p:spPr>
          <a:xfrm>
            <a:off x="685800" y="1143000"/>
            <a:ext cx="5486040" cy="3085920"/>
          </a:xfrm>
          <a:prstGeom prst="rect">
            <a:avLst/>
          </a:prstGeom>
          <a:ln w="0">
            <a:noFill/>
          </a:ln>
        </p:spPr>
      </p:sp>
      <p:sp>
        <p:nvSpPr>
          <p:cNvPr id="14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75"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9C6F54D-2D42-4C12-9838-A905ED67DAC5}" type="slidenum">
              <a:rPr lang="en-US" sz="1200" b="0" u="none" strike="noStrike">
                <a:solidFill>
                  <a:schemeClr val="dk1"/>
                </a:solidFill>
                <a:effectLst/>
                <a:uFillTx/>
                <a:latin typeface="+mn-lt"/>
                <a:ea typeface="+mn-ea"/>
              </a:rPr>
              <a:t>49</a:t>
            </a:fld>
            <a:endParaRPr lang="en-US" sz="1200" b="0" u="none" strike="noStrike">
              <a:solidFill>
                <a:srgbClr val="000000"/>
              </a:solidFill>
              <a:effectLst/>
              <a:uFillTx/>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6" name="PlaceHolder 1"/>
          <p:cNvSpPr>
            <a:spLocks noGrp="1" noRot="1" noChangeAspect="1"/>
          </p:cNvSpPr>
          <p:nvPr>
            <p:ph type="sldImg"/>
          </p:nvPr>
        </p:nvSpPr>
        <p:spPr>
          <a:xfrm>
            <a:off x="685800" y="1143000"/>
            <a:ext cx="5486040" cy="3085920"/>
          </a:xfrm>
          <a:prstGeom prst="rect">
            <a:avLst/>
          </a:prstGeom>
          <a:ln w="0">
            <a:noFill/>
          </a:ln>
        </p:spPr>
      </p:sp>
      <p:sp>
        <p:nvSpPr>
          <p:cNvPr id="14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78"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6D9CBD3-1A58-4A84-B38E-7887B17AF9DA}" type="slidenum">
              <a:rPr lang="en-US" sz="1200" b="0" u="none" strike="noStrike">
                <a:solidFill>
                  <a:schemeClr val="dk1"/>
                </a:solidFill>
                <a:effectLst/>
                <a:uFillTx/>
                <a:latin typeface="+mn-lt"/>
                <a:ea typeface="+mn-ea"/>
              </a:rPr>
              <a:t>50</a:t>
            </a:fld>
            <a:endParaRPr lang="en-US" sz="1200" b="0" u="none" strike="noStrike">
              <a:solidFill>
                <a:srgbClr val="000000"/>
              </a:solidFill>
              <a:effectLst/>
              <a:uFillTx/>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9" name="PlaceHolder 1"/>
          <p:cNvSpPr>
            <a:spLocks noGrp="1" noRot="1" noChangeAspect="1"/>
          </p:cNvSpPr>
          <p:nvPr>
            <p:ph type="sldImg"/>
          </p:nvPr>
        </p:nvSpPr>
        <p:spPr>
          <a:xfrm>
            <a:off x="685800" y="1143000"/>
            <a:ext cx="5486040" cy="3085920"/>
          </a:xfrm>
          <a:prstGeom prst="rect">
            <a:avLst/>
          </a:prstGeom>
          <a:ln w="0">
            <a:noFill/>
          </a:ln>
        </p:spPr>
      </p:sp>
      <p:sp>
        <p:nvSpPr>
          <p:cNvPr id="14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81"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6DE41B1-4943-4565-8666-037370B71DE4}" type="slidenum">
              <a:rPr lang="en-US" sz="1200" b="0" u="none" strike="noStrike">
                <a:solidFill>
                  <a:schemeClr val="dk1"/>
                </a:solidFill>
                <a:effectLst/>
                <a:uFillTx/>
                <a:latin typeface="+mn-lt"/>
                <a:ea typeface="+mn-ea"/>
              </a:rPr>
              <a:t>51</a:t>
            </a:fld>
            <a:endParaRPr lang="en-US" sz="1200" b="0" u="none" strike="noStrike">
              <a:solidFill>
                <a:srgbClr val="000000"/>
              </a:solidFill>
              <a:effectLst/>
              <a:uFillTx/>
              <a:latin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2" name="PlaceHolder 1"/>
          <p:cNvSpPr>
            <a:spLocks noGrp="1" noRot="1" noChangeAspect="1"/>
          </p:cNvSpPr>
          <p:nvPr>
            <p:ph type="sldImg"/>
          </p:nvPr>
        </p:nvSpPr>
        <p:spPr>
          <a:xfrm>
            <a:off x="685800" y="1143000"/>
            <a:ext cx="5486040" cy="3085920"/>
          </a:xfrm>
          <a:prstGeom prst="rect">
            <a:avLst/>
          </a:prstGeom>
          <a:ln w="0">
            <a:noFill/>
          </a:ln>
        </p:spPr>
      </p:sp>
      <p:sp>
        <p:nvSpPr>
          <p:cNvPr id="14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84"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F854F7-DC3A-439D-8F2D-1D1BFA4EECB6}" type="slidenum">
              <a:rPr lang="en-US" sz="1200" b="0" u="none" strike="noStrike">
                <a:solidFill>
                  <a:schemeClr val="dk1"/>
                </a:solidFill>
                <a:effectLst/>
                <a:uFillTx/>
                <a:latin typeface="+mn-lt"/>
                <a:ea typeface="+mn-ea"/>
              </a:rPr>
              <a:t>52</a:t>
            </a:fld>
            <a:endParaRPr lang="en-US" sz="1200" b="0" u="none" strike="noStrike">
              <a:solidFill>
                <a:srgbClr val="000000"/>
              </a:solidFill>
              <a:effectLst/>
              <a:uFillTx/>
              <a:latin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5" name="PlaceHolder 1"/>
          <p:cNvSpPr>
            <a:spLocks noGrp="1" noRot="1" noChangeAspect="1"/>
          </p:cNvSpPr>
          <p:nvPr>
            <p:ph type="sldImg"/>
          </p:nvPr>
        </p:nvSpPr>
        <p:spPr>
          <a:xfrm>
            <a:off x="685800" y="1143000"/>
            <a:ext cx="5486040" cy="3085920"/>
          </a:xfrm>
          <a:prstGeom prst="rect">
            <a:avLst/>
          </a:prstGeom>
          <a:ln w="0">
            <a:noFill/>
          </a:ln>
        </p:spPr>
      </p:sp>
      <p:sp>
        <p:nvSpPr>
          <p:cNvPr id="14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87"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9642821-3DCE-4C04-A77A-0118572E2E75}" type="slidenum">
              <a:rPr lang="en-US" sz="1200" b="0" u="none" strike="noStrike">
                <a:solidFill>
                  <a:schemeClr val="dk1"/>
                </a:solidFill>
                <a:effectLst/>
                <a:uFillTx/>
                <a:latin typeface="+mn-lt"/>
                <a:ea typeface="+mn-ea"/>
              </a:rPr>
              <a:t>53</a:t>
            </a:fld>
            <a:endParaRPr lang="en-US" sz="1200" b="0" u="none" strike="noStrike">
              <a:solidFill>
                <a:srgbClr val="000000"/>
              </a:solidFill>
              <a:effectLst/>
              <a:uFillTx/>
              <a:latin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8" name="PlaceHolder 1"/>
          <p:cNvSpPr>
            <a:spLocks noGrp="1" noRot="1" noChangeAspect="1"/>
          </p:cNvSpPr>
          <p:nvPr>
            <p:ph type="sldImg"/>
          </p:nvPr>
        </p:nvSpPr>
        <p:spPr>
          <a:xfrm>
            <a:off x="685800" y="1143000"/>
            <a:ext cx="5486040" cy="3085920"/>
          </a:xfrm>
          <a:prstGeom prst="rect">
            <a:avLst/>
          </a:prstGeom>
          <a:ln w="0">
            <a:noFill/>
          </a:ln>
        </p:spPr>
      </p:sp>
      <p:sp>
        <p:nvSpPr>
          <p:cNvPr id="14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90"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C384511-D045-4135-B67B-52DD4DC172A1}" type="slidenum">
              <a:rPr lang="en-US" sz="1200" b="0" u="none" strike="noStrike">
                <a:solidFill>
                  <a:schemeClr val="dk1"/>
                </a:solidFill>
                <a:effectLst/>
                <a:uFillTx/>
                <a:latin typeface="+mn-lt"/>
                <a:ea typeface="+mn-ea"/>
              </a:rPr>
              <a:t>55</a:t>
            </a:fld>
            <a:endParaRPr lang="en-US" sz="1200" b="0" u="none" strike="noStrike">
              <a:solidFill>
                <a:srgbClr val="000000"/>
              </a:solidFill>
              <a:effectLst/>
              <a:uFillTx/>
              <a:latin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1" name="PlaceHolder 1"/>
          <p:cNvSpPr>
            <a:spLocks noGrp="1" noRot="1" noChangeAspect="1"/>
          </p:cNvSpPr>
          <p:nvPr>
            <p:ph type="sldImg"/>
          </p:nvPr>
        </p:nvSpPr>
        <p:spPr>
          <a:xfrm>
            <a:off x="685800" y="1143000"/>
            <a:ext cx="5486040" cy="3085920"/>
          </a:xfrm>
          <a:prstGeom prst="rect">
            <a:avLst/>
          </a:prstGeom>
          <a:ln w="0">
            <a:noFill/>
          </a:ln>
        </p:spPr>
      </p:sp>
      <p:sp>
        <p:nvSpPr>
          <p:cNvPr id="14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93"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5469239-B022-471E-AB09-78644E6AC471}" type="slidenum">
              <a:rPr lang="en-US" sz="1200" b="0" u="none" strike="noStrike">
                <a:solidFill>
                  <a:schemeClr val="dk1"/>
                </a:solidFill>
                <a:effectLst/>
                <a:uFillTx/>
                <a:latin typeface="+mn-lt"/>
                <a:ea typeface="+mn-ea"/>
              </a:rPr>
              <a:t>56</a:t>
            </a:fld>
            <a:endParaRPr lang="en-US" sz="1200" b="0" u="none" strike="noStrike">
              <a:solidFill>
                <a:srgbClr val="000000"/>
              </a:solidFill>
              <a:effectLst/>
              <a:uFillTx/>
              <a:latin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4" name="PlaceHolder 1"/>
          <p:cNvSpPr>
            <a:spLocks noGrp="1" noRot="1" noChangeAspect="1"/>
          </p:cNvSpPr>
          <p:nvPr>
            <p:ph type="sldImg"/>
          </p:nvPr>
        </p:nvSpPr>
        <p:spPr>
          <a:xfrm>
            <a:off x="685800" y="1143000"/>
            <a:ext cx="5486040" cy="3085920"/>
          </a:xfrm>
          <a:prstGeom prst="rect">
            <a:avLst/>
          </a:prstGeom>
          <a:ln w="0">
            <a:noFill/>
          </a:ln>
        </p:spPr>
      </p:sp>
      <p:sp>
        <p:nvSpPr>
          <p:cNvPr id="14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96"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82EBD29-0823-417D-A169-FE0D893B0D06}" type="slidenum">
              <a:rPr lang="en-US" sz="1200" b="0" u="none" strike="noStrike">
                <a:solidFill>
                  <a:schemeClr val="dk1"/>
                </a:solidFill>
                <a:effectLst/>
                <a:uFillTx/>
                <a:latin typeface="+mn-lt"/>
                <a:ea typeface="+mn-ea"/>
              </a:rPr>
              <a:t>58</a:t>
            </a:fld>
            <a:endParaRPr lang="en-US" sz="1200" b="0" u="none" strike="noStrike">
              <a:solidFill>
                <a:srgbClr val="000000"/>
              </a:solidFill>
              <a:effectLst/>
              <a:uFillTx/>
              <a:latin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7" name="PlaceHolder 1"/>
          <p:cNvSpPr>
            <a:spLocks noGrp="1" noRot="1" noChangeAspect="1"/>
          </p:cNvSpPr>
          <p:nvPr>
            <p:ph type="sldImg"/>
          </p:nvPr>
        </p:nvSpPr>
        <p:spPr>
          <a:xfrm>
            <a:off x="685800" y="1143000"/>
            <a:ext cx="5486040" cy="3085920"/>
          </a:xfrm>
          <a:prstGeom prst="rect">
            <a:avLst/>
          </a:prstGeom>
          <a:ln w="0">
            <a:noFill/>
          </a:ln>
        </p:spPr>
      </p:sp>
      <p:sp>
        <p:nvSpPr>
          <p:cNvPr id="14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499"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BD62D65-995D-43C6-B21C-9353C42AF28C}" type="slidenum">
              <a:rPr lang="en-US" sz="1200" b="0" u="none" strike="noStrike">
                <a:solidFill>
                  <a:schemeClr val="dk1"/>
                </a:solidFill>
                <a:effectLst/>
                <a:uFillTx/>
                <a:latin typeface="+mn-lt"/>
                <a:ea typeface="+mn-ea"/>
              </a:rPr>
              <a:t>59</a:t>
            </a:fld>
            <a:endParaRPr lang="en-US" sz="1200" b="0" u="none" strike="noStrike">
              <a:solidFill>
                <a:srgbClr val="000000"/>
              </a:solidFill>
              <a:effectLst/>
              <a:uFillTx/>
              <a:latin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 name="PlaceHolder 1"/>
          <p:cNvSpPr>
            <a:spLocks noGrp="1" noRot="1" noChangeAspect="1"/>
          </p:cNvSpPr>
          <p:nvPr>
            <p:ph type="sldImg"/>
          </p:nvPr>
        </p:nvSpPr>
        <p:spPr>
          <a:xfrm>
            <a:off x="685800" y="1143000"/>
            <a:ext cx="5486040" cy="3085920"/>
          </a:xfrm>
          <a:prstGeom prst="rect">
            <a:avLst/>
          </a:prstGeom>
          <a:ln w="0">
            <a:noFill/>
          </a:ln>
        </p:spPr>
      </p:sp>
      <p:sp>
        <p:nvSpPr>
          <p:cNvPr id="15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02"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9CA3857-B81F-40EE-977E-8103CEC76590}" type="slidenum">
              <a:rPr lang="en-US" sz="1200" b="0" u="none" strike="noStrike">
                <a:solidFill>
                  <a:schemeClr val="dk1"/>
                </a:solidFill>
                <a:effectLst/>
                <a:uFillTx/>
                <a:latin typeface="+mn-lt"/>
                <a:ea typeface="+mn-ea"/>
              </a:rPr>
              <a:t>61</a:t>
            </a:fld>
            <a:endParaRPr lang="en-US" sz="1200" b="0" u="none" strike="noStrike">
              <a:solidFill>
                <a:srgbClr val="000000"/>
              </a:solidFill>
              <a:effectLst/>
              <a:uFillTx/>
              <a:latin typeface="Times New Roman"/>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2" name="PlaceHolder 1"/>
          <p:cNvSpPr>
            <a:spLocks noGrp="1" noRot="1" noChangeAspect="1"/>
          </p:cNvSpPr>
          <p:nvPr>
            <p:ph type="sldImg"/>
          </p:nvPr>
        </p:nvSpPr>
        <p:spPr>
          <a:xfrm>
            <a:off x="685800" y="1143000"/>
            <a:ext cx="5486040" cy="3085920"/>
          </a:xfrm>
          <a:prstGeom prst="rect">
            <a:avLst/>
          </a:prstGeom>
          <a:ln w="0">
            <a:noFill/>
          </a:ln>
        </p:spPr>
      </p:sp>
      <p:sp>
        <p:nvSpPr>
          <p:cNvPr id="15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14"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82FF289-070A-4F6C-9BC9-FD1D622C1643}" type="slidenum">
              <a:rPr lang="en-US" sz="1200" b="0" u="none" strike="noStrike">
                <a:solidFill>
                  <a:schemeClr val="dk1"/>
                </a:solidFill>
                <a:effectLst/>
                <a:uFillTx/>
                <a:latin typeface="+mn-lt"/>
                <a:ea typeface="+mn-ea"/>
              </a:rPr>
              <a:t>67</a:t>
            </a:fld>
            <a:endParaRPr lang="en-US" sz="1200" b="0" u="none" strike="noStrike">
              <a:solidFill>
                <a:srgbClr val="000000"/>
              </a:solidFill>
              <a:effectLst/>
              <a:uFillTx/>
              <a:latin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 name="PlaceHolder 1"/>
          <p:cNvSpPr>
            <a:spLocks noGrp="1" noRot="1" noChangeAspect="1"/>
          </p:cNvSpPr>
          <p:nvPr>
            <p:ph type="sldImg"/>
          </p:nvPr>
        </p:nvSpPr>
        <p:spPr>
          <a:xfrm>
            <a:off x="685800" y="1143000"/>
            <a:ext cx="5486040" cy="3085920"/>
          </a:xfrm>
          <a:prstGeom prst="rect">
            <a:avLst/>
          </a:prstGeom>
          <a:ln w="0">
            <a:noFill/>
          </a:ln>
        </p:spPr>
      </p:sp>
      <p:sp>
        <p:nvSpPr>
          <p:cNvPr id="15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17"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892AA9D-92E2-49BE-9F78-2AA638FB3EF9}" type="slidenum">
              <a:rPr lang="en-US" sz="1200" b="0" u="none" strike="noStrike">
                <a:solidFill>
                  <a:schemeClr val="dk1"/>
                </a:solidFill>
                <a:effectLst/>
                <a:uFillTx/>
                <a:latin typeface="+mn-lt"/>
                <a:ea typeface="+mn-ea"/>
              </a:rPr>
              <a:t>68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8" name="PlaceHolder 1"/>
          <p:cNvSpPr>
            <a:spLocks noGrp="1" noRot="1" noChangeAspect="1"/>
          </p:cNvSpPr>
          <p:nvPr>
            <p:ph type="sldImg"/>
          </p:nvPr>
        </p:nvSpPr>
        <p:spPr>
          <a:xfrm>
            <a:off x="685800" y="1143000"/>
            <a:ext cx="5486040" cy="3085920"/>
          </a:xfrm>
          <a:prstGeom prst="rect">
            <a:avLst/>
          </a:prstGeom>
          <a:ln w="0">
            <a:noFill/>
          </a:ln>
        </p:spPr>
      </p:sp>
      <p:sp>
        <p:nvSpPr>
          <p:cNvPr id="15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20"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C29FC4-85EC-45E0-AB92-0D13A18BE857}" type="slidenum">
              <a:rPr lang="en-US" sz="1200" b="0" u="none" strike="noStrike">
                <a:solidFill>
                  <a:schemeClr val="dk1"/>
                </a:solidFill>
                <a:effectLst/>
                <a:uFillTx/>
                <a:latin typeface="+mn-lt"/>
                <a:ea typeface="+mn-ea"/>
              </a:rPr>
              <a:t>69</a:t>
            </a:fld>
            <a:endParaRPr lang="en-US" sz="1200" b="0" u="none" strike="noStrike">
              <a:solidFill>
                <a:srgbClr val="000000"/>
              </a:solidFill>
              <a:effectLst/>
              <a:uFillTx/>
              <a:latin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1" name="PlaceHolder 1"/>
          <p:cNvSpPr>
            <a:spLocks noGrp="1" noRot="1" noChangeAspect="1"/>
          </p:cNvSpPr>
          <p:nvPr>
            <p:ph type="sldImg"/>
          </p:nvPr>
        </p:nvSpPr>
        <p:spPr>
          <a:xfrm>
            <a:off x="685800" y="1143000"/>
            <a:ext cx="5486040" cy="3085920"/>
          </a:xfrm>
          <a:prstGeom prst="rect">
            <a:avLst/>
          </a:prstGeom>
          <a:ln w="0">
            <a:noFill/>
          </a:ln>
        </p:spPr>
      </p:sp>
      <p:sp>
        <p:nvSpPr>
          <p:cNvPr id="15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23"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06091D8-AB55-4C48-93C1-FE62C98579DE}" type="slidenum">
              <a:rPr lang="en-US" sz="1200" b="0" u="none" strike="noStrike">
                <a:solidFill>
                  <a:schemeClr val="dk1"/>
                </a:solidFill>
                <a:effectLst/>
                <a:uFillTx/>
                <a:latin typeface="+mn-lt"/>
                <a:ea typeface="+mn-ea"/>
              </a:rPr>
              <a:t>70</a:t>
            </a:fld>
            <a:endParaRPr lang="en-US" sz="1200" b="0" u="none" strike="noStrike">
              <a:solidFill>
                <a:srgbClr val="000000"/>
              </a:solidFill>
              <a:effectLst/>
              <a:uFillTx/>
              <a:latin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4" name="PlaceHolder 1"/>
          <p:cNvSpPr>
            <a:spLocks noGrp="1" noRot="1" noChangeAspect="1"/>
          </p:cNvSpPr>
          <p:nvPr>
            <p:ph type="sldImg"/>
          </p:nvPr>
        </p:nvSpPr>
        <p:spPr>
          <a:xfrm>
            <a:off x="685800" y="1143000"/>
            <a:ext cx="5486040" cy="3085920"/>
          </a:xfrm>
          <a:prstGeom prst="rect">
            <a:avLst/>
          </a:prstGeom>
          <a:ln w="0">
            <a:noFill/>
          </a:ln>
        </p:spPr>
      </p:sp>
      <p:sp>
        <p:nvSpPr>
          <p:cNvPr id="15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26"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A496F35-705C-4BE6-83B0-663F61E18491}" type="slidenum">
              <a:rPr lang="en-US" sz="1200" b="0" u="none" strike="noStrike">
                <a:solidFill>
                  <a:schemeClr val="dk1"/>
                </a:solidFill>
                <a:effectLst/>
                <a:uFillTx/>
                <a:latin typeface="+mn-lt"/>
                <a:ea typeface="+mn-ea"/>
              </a:rPr>
              <a:t>71</a:t>
            </a:fld>
            <a:endParaRPr lang="en-US" sz="1200" b="0" u="none" strike="noStrike">
              <a:solidFill>
                <a:srgbClr val="000000"/>
              </a:solidFill>
              <a:effectLst/>
              <a:uFillTx/>
              <a:latin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7" name="PlaceHolder 1"/>
          <p:cNvSpPr>
            <a:spLocks noGrp="1" noRot="1" noChangeAspect="1"/>
          </p:cNvSpPr>
          <p:nvPr>
            <p:ph type="sldImg"/>
          </p:nvPr>
        </p:nvSpPr>
        <p:spPr>
          <a:xfrm>
            <a:off x="685800" y="1143000"/>
            <a:ext cx="5486040" cy="3085920"/>
          </a:xfrm>
          <a:prstGeom prst="rect">
            <a:avLst/>
          </a:prstGeom>
          <a:ln w="0">
            <a:noFill/>
          </a:ln>
        </p:spPr>
      </p:sp>
      <p:sp>
        <p:nvSpPr>
          <p:cNvPr id="15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29"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DBE7BC8-53A1-4557-9572-94963502D327}" type="slidenum">
              <a:rPr lang="en-US" sz="1200" b="0" u="none" strike="noStrike">
                <a:solidFill>
                  <a:schemeClr val="dk1"/>
                </a:solidFill>
                <a:effectLst/>
                <a:uFillTx/>
                <a:latin typeface="+mn-lt"/>
                <a:ea typeface="+mn-ea"/>
              </a:rPr>
              <a:t>72</a:t>
            </a:fld>
            <a:endParaRPr lang="en-US" sz="1200" b="0" u="none" strike="noStrike">
              <a:solidFill>
                <a:srgbClr val="000000"/>
              </a:solidFill>
              <a:effectLst/>
              <a:uFillTx/>
              <a:latin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0" name="PlaceHolder 1"/>
          <p:cNvSpPr>
            <a:spLocks noGrp="1" noRot="1" noChangeAspect="1"/>
          </p:cNvSpPr>
          <p:nvPr>
            <p:ph type="sldImg"/>
          </p:nvPr>
        </p:nvSpPr>
        <p:spPr>
          <a:xfrm>
            <a:off x="685800" y="1143000"/>
            <a:ext cx="5486040" cy="3085920"/>
          </a:xfrm>
          <a:prstGeom prst="rect">
            <a:avLst/>
          </a:prstGeom>
          <a:ln w="0">
            <a:noFill/>
          </a:ln>
        </p:spPr>
      </p:sp>
      <p:sp>
        <p:nvSpPr>
          <p:cNvPr id="15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32" name="PlaceHolder 3"/>
          <p:cNvSpPr>
            <a:spLocks noGrp="1"/>
          </p:cNvSpPr>
          <p:nvPr>
            <p:ph type="sldNum" idx="7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9F80D5-14A7-489A-AFA0-4DE39584434A}" type="slidenum">
              <a:rPr lang="en-US" sz="1200" b="0" u="none" strike="noStrike">
                <a:solidFill>
                  <a:schemeClr val="dk1"/>
                </a:solidFill>
                <a:effectLst/>
                <a:uFillTx/>
                <a:latin typeface="+mn-lt"/>
                <a:ea typeface="+mn-ea"/>
              </a:rPr>
              <a:t>73</a:t>
            </a:fld>
            <a:endParaRPr lang="en-US" sz="1200" b="0" u="none" strike="noStrike">
              <a:solidFill>
                <a:srgbClr val="000000"/>
              </a:solidFill>
              <a:effectLst/>
              <a:uFillTx/>
              <a:latin typeface="Times New Roman"/>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3" name="PlaceHolder 1"/>
          <p:cNvSpPr>
            <a:spLocks noGrp="1" noRot="1" noChangeAspect="1"/>
          </p:cNvSpPr>
          <p:nvPr>
            <p:ph type="sldImg"/>
          </p:nvPr>
        </p:nvSpPr>
        <p:spPr>
          <a:xfrm>
            <a:off x="685800" y="1143000"/>
            <a:ext cx="5486040" cy="3085920"/>
          </a:xfrm>
          <a:prstGeom prst="rect">
            <a:avLst/>
          </a:prstGeom>
          <a:ln w="0">
            <a:noFill/>
          </a:ln>
        </p:spPr>
      </p:sp>
      <p:sp>
        <p:nvSpPr>
          <p:cNvPr id="15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35" name="PlaceHolder 3"/>
          <p:cNvSpPr>
            <a:spLocks noGrp="1"/>
          </p:cNvSpPr>
          <p:nvPr>
            <p:ph type="sldNum" idx="7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61489CE-F208-4E75-812B-B64421D2AF5F}" type="slidenum">
              <a:rPr lang="en-US" sz="1200" b="0" u="none" strike="noStrike">
                <a:solidFill>
                  <a:schemeClr val="dk1"/>
                </a:solidFill>
                <a:effectLst/>
                <a:uFillTx/>
                <a:latin typeface="+mn-lt"/>
                <a:ea typeface="+mn-ea"/>
              </a:rPr>
              <a:t>74</a:t>
            </a:fld>
            <a:endParaRPr lang="en-US" sz="1200" b="0" u="none" strike="noStrike">
              <a:solidFill>
                <a:srgbClr val="000000"/>
              </a:solidFill>
              <a:effectLst/>
              <a:uFillTx/>
              <a:latin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 name="PlaceHolder 1"/>
          <p:cNvSpPr>
            <a:spLocks noGrp="1" noRot="1" noChangeAspect="1"/>
          </p:cNvSpPr>
          <p:nvPr>
            <p:ph type="sldImg"/>
          </p:nvPr>
        </p:nvSpPr>
        <p:spPr>
          <a:xfrm>
            <a:off x="685800" y="1143000"/>
            <a:ext cx="5486040" cy="3085920"/>
          </a:xfrm>
          <a:prstGeom prst="rect">
            <a:avLst/>
          </a:prstGeom>
          <a:ln w="0">
            <a:noFill/>
          </a:ln>
        </p:spPr>
      </p:sp>
      <p:sp>
        <p:nvSpPr>
          <p:cNvPr id="15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38" name="PlaceHolder 3"/>
          <p:cNvSpPr>
            <a:spLocks noGrp="1"/>
          </p:cNvSpPr>
          <p:nvPr>
            <p:ph type="sldNum" idx="7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9F9FBCE-8D61-4379-AC40-941DF98A522A}" type="slidenum">
              <a:rPr lang="en-US" sz="1200" b="0" u="none" strike="noStrike">
                <a:solidFill>
                  <a:schemeClr val="dk1"/>
                </a:solidFill>
                <a:effectLst/>
                <a:uFillTx/>
                <a:latin typeface="+mn-lt"/>
                <a:ea typeface="+mn-ea"/>
              </a:rPr>
              <a:t>75</a:t>
            </a:fld>
            <a:endParaRPr lang="en-US" sz="1200" b="0" u="none" strike="noStrike">
              <a:solidFill>
                <a:srgbClr val="000000"/>
              </a:solidFill>
              <a:effectLst/>
              <a:uFillTx/>
              <a:latin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9" name="PlaceHolder 1"/>
          <p:cNvSpPr>
            <a:spLocks noGrp="1" noRot="1" noChangeAspect="1"/>
          </p:cNvSpPr>
          <p:nvPr>
            <p:ph type="sldImg"/>
          </p:nvPr>
        </p:nvSpPr>
        <p:spPr>
          <a:xfrm>
            <a:off x="685800" y="1143000"/>
            <a:ext cx="5486040" cy="3085920"/>
          </a:xfrm>
          <a:prstGeom prst="rect">
            <a:avLst/>
          </a:prstGeom>
          <a:ln w="0">
            <a:noFill/>
          </a:ln>
        </p:spPr>
      </p:sp>
      <p:sp>
        <p:nvSpPr>
          <p:cNvPr id="15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41" name="PlaceHolder 3"/>
          <p:cNvSpPr>
            <a:spLocks noGrp="1"/>
          </p:cNvSpPr>
          <p:nvPr>
            <p:ph type="sldNum" idx="7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B05C181-F5D5-43C4-A016-013F2C1855D7}" type="slidenum">
              <a:rPr lang="en-US" sz="1200" b="0" u="none" strike="noStrike">
                <a:solidFill>
                  <a:schemeClr val="dk1"/>
                </a:solidFill>
                <a:effectLst/>
                <a:uFillTx/>
                <a:latin typeface="+mn-lt"/>
                <a:ea typeface="+mn-ea"/>
              </a:rPr>
              <a:t>76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2" name="PlaceHolder 1"/>
          <p:cNvSpPr>
            <a:spLocks noGrp="1" noRot="1" noChangeAspect="1"/>
          </p:cNvSpPr>
          <p:nvPr>
            <p:ph type="sldImg"/>
          </p:nvPr>
        </p:nvSpPr>
        <p:spPr>
          <a:xfrm>
            <a:off x="685800" y="1143000"/>
            <a:ext cx="5486040" cy="3085920"/>
          </a:xfrm>
          <a:prstGeom prst="rect">
            <a:avLst/>
          </a:prstGeom>
          <a:ln w="0">
            <a:noFill/>
          </a:ln>
        </p:spPr>
      </p:sp>
      <p:sp>
        <p:nvSpPr>
          <p:cNvPr id="15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44" name="PlaceHolder 3"/>
          <p:cNvSpPr>
            <a:spLocks noGrp="1"/>
          </p:cNvSpPr>
          <p:nvPr>
            <p:ph type="sldNum" idx="7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EF213BE-E611-4407-B1CA-8A4AC4AEC8C5}" type="slidenum">
              <a:rPr lang="en-US" sz="1200" b="0" u="none" strike="noStrike">
                <a:solidFill>
                  <a:schemeClr val="dk1"/>
                </a:solidFill>
                <a:effectLst/>
                <a:uFillTx/>
                <a:latin typeface="+mn-lt"/>
                <a:ea typeface="+mn-ea"/>
              </a:rPr>
              <a:t>77</a:t>
            </a:fld>
            <a:endParaRPr lang="en-US" sz="1200" b="0" u="none" strike="noStrike">
              <a:solidFill>
                <a:srgbClr val="000000"/>
              </a:solidFill>
              <a:effectLst/>
              <a:uFillTx/>
              <a:latin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5" name="PlaceHolder 1"/>
          <p:cNvSpPr>
            <a:spLocks noGrp="1" noRot="1" noChangeAspect="1"/>
          </p:cNvSpPr>
          <p:nvPr>
            <p:ph type="sldImg"/>
          </p:nvPr>
        </p:nvSpPr>
        <p:spPr>
          <a:xfrm>
            <a:off x="685800" y="1143000"/>
            <a:ext cx="5486040" cy="3085920"/>
          </a:xfrm>
          <a:prstGeom prst="rect">
            <a:avLst/>
          </a:prstGeom>
          <a:ln w="0">
            <a:noFill/>
          </a:ln>
        </p:spPr>
      </p:sp>
      <p:sp>
        <p:nvSpPr>
          <p:cNvPr id="15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47" name="PlaceHolder 3"/>
          <p:cNvSpPr>
            <a:spLocks noGrp="1"/>
          </p:cNvSpPr>
          <p:nvPr>
            <p:ph type="sldNum" idx="7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FFB6E2-E606-4F3F-93C1-967516053DE2}" type="slidenum">
              <a:rPr lang="en-US" sz="1200" b="0" u="none" strike="noStrike">
                <a:solidFill>
                  <a:schemeClr val="dk1"/>
                </a:solidFill>
                <a:effectLst/>
                <a:uFillTx/>
                <a:latin typeface="+mn-lt"/>
                <a:ea typeface="+mn-ea"/>
              </a:rPr>
              <a:t>78</a:t>
            </a:fld>
            <a:endParaRPr lang="en-US" sz="1200" b="0" u="none" strike="noStrike">
              <a:solidFill>
                <a:srgbClr val="000000"/>
              </a:solidFill>
              <a:effectLst/>
              <a:uFillTx/>
              <a:latin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8" name="PlaceHolder 1"/>
          <p:cNvSpPr>
            <a:spLocks noGrp="1" noRot="1" noChangeAspect="1"/>
          </p:cNvSpPr>
          <p:nvPr>
            <p:ph type="sldImg"/>
          </p:nvPr>
        </p:nvSpPr>
        <p:spPr>
          <a:xfrm>
            <a:off x="685800" y="1143000"/>
            <a:ext cx="5486040" cy="3085920"/>
          </a:xfrm>
          <a:prstGeom prst="rect">
            <a:avLst/>
          </a:prstGeom>
          <a:ln w="0">
            <a:noFill/>
          </a:ln>
        </p:spPr>
      </p:sp>
      <p:sp>
        <p:nvSpPr>
          <p:cNvPr id="15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50" name="PlaceHolder 3"/>
          <p:cNvSpPr>
            <a:spLocks noGrp="1"/>
          </p:cNvSpPr>
          <p:nvPr>
            <p:ph type="sldNum" idx="7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9D41EBD-AC44-4C2C-B520-B15A7A1C9B20}" type="slidenum">
              <a:rPr lang="en-US" sz="1200" b="0" u="none" strike="noStrike">
                <a:solidFill>
                  <a:schemeClr val="dk1"/>
                </a:solidFill>
                <a:effectLst/>
                <a:uFillTx/>
                <a:latin typeface="+mn-lt"/>
                <a:ea typeface="+mn-ea"/>
              </a:rPr>
              <a:t>79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1" name="PlaceHolder 1"/>
          <p:cNvSpPr>
            <a:spLocks noGrp="1" noRot="1" noChangeAspect="1"/>
          </p:cNvSpPr>
          <p:nvPr>
            <p:ph type="sldImg"/>
          </p:nvPr>
        </p:nvSpPr>
        <p:spPr>
          <a:xfrm>
            <a:off x="685800" y="1143000"/>
            <a:ext cx="5486040" cy="3085920"/>
          </a:xfrm>
          <a:prstGeom prst="rect">
            <a:avLst/>
          </a:prstGeom>
          <a:ln w="0">
            <a:noFill/>
          </a:ln>
        </p:spPr>
      </p:sp>
      <p:sp>
        <p:nvSpPr>
          <p:cNvPr id="15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53" name="PlaceHolder 3"/>
          <p:cNvSpPr>
            <a:spLocks noGrp="1"/>
          </p:cNvSpPr>
          <p:nvPr>
            <p:ph type="sldNum" idx="7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F3CB0CC-0E12-461C-8A19-4B2076AD9A76}"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4" name="PlaceHolder 1"/>
          <p:cNvSpPr>
            <a:spLocks noGrp="1" noRot="1" noChangeAspect="1"/>
          </p:cNvSpPr>
          <p:nvPr>
            <p:ph type="sldImg"/>
          </p:nvPr>
        </p:nvSpPr>
        <p:spPr>
          <a:xfrm>
            <a:off x="685800" y="1143000"/>
            <a:ext cx="5486040" cy="3085920"/>
          </a:xfrm>
          <a:prstGeom prst="rect">
            <a:avLst/>
          </a:prstGeom>
          <a:ln w="0">
            <a:noFill/>
          </a:ln>
        </p:spPr>
      </p:sp>
      <p:sp>
        <p:nvSpPr>
          <p:cNvPr id="15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56" name="PlaceHolder 3"/>
          <p:cNvSpPr>
            <a:spLocks noGrp="1"/>
          </p:cNvSpPr>
          <p:nvPr>
            <p:ph type="sldNum" idx="7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F72436E-723A-4954-AADB-265008A65043}" type="slidenum">
              <a:rPr lang="en-US" sz="1200" b="0" u="none" strike="noStrike">
                <a:solidFill>
                  <a:schemeClr val="dk1"/>
                </a:solidFill>
                <a:effectLst/>
                <a:uFillTx/>
                <a:latin typeface="+mn-lt"/>
                <a:ea typeface="+mn-ea"/>
              </a:rPr>
              <a:t>81</a:t>
            </a:fld>
            <a:endParaRPr lang="en-US" sz="1200" b="0" u="none" strike="noStrike">
              <a:solidFill>
                <a:srgbClr val="000000"/>
              </a:solidFill>
              <a:effectLst/>
              <a:uFillTx/>
              <a:latin typeface="Times New Roman"/>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7" name="PlaceHolder 1"/>
          <p:cNvSpPr>
            <a:spLocks noGrp="1" noRot="1" noChangeAspect="1"/>
          </p:cNvSpPr>
          <p:nvPr>
            <p:ph type="sldImg"/>
          </p:nvPr>
        </p:nvSpPr>
        <p:spPr>
          <a:xfrm>
            <a:off x="685800" y="1143000"/>
            <a:ext cx="5486040" cy="3085920"/>
          </a:xfrm>
          <a:prstGeom prst="rect">
            <a:avLst/>
          </a:prstGeom>
          <a:ln w="0">
            <a:noFill/>
          </a:ln>
        </p:spPr>
      </p:sp>
      <p:sp>
        <p:nvSpPr>
          <p:cNvPr id="15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59" name="PlaceHolder 3"/>
          <p:cNvSpPr>
            <a:spLocks noGrp="1"/>
          </p:cNvSpPr>
          <p:nvPr>
            <p:ph type="sldNum" idx="8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A20C662-8DCB-4AFB-863C-DA44706ACC76}" type="slidenum">
              <a:rPr lang="en-US" sz="1200" b="0" u="none" strike="noStrike">
                <a:solidFill>
                  <a:schemeClr val="dk1"/>
                </a:solidFill>
                <a:effectLst/>
                <a:uFillTx/>
                <a:latin typeface="+mn-lt"/>
                <a:ea typeface="+mn-ea"/>
              </a:rPr>
              <a:t>82</a:t>
            </a:fld>
            <a:endParaRPr lang="en-US" sz="1200" b="0" u="none" strike="noStrike">
              <a:solidFill>
                <a:srgbClr val="000000"/>
              </a:solidFill>
              <a:effectLst/>
              <a:uFillTx/>
              <a:latin typeface="Times New Roman"/>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0" name="PlaceHolder 1"/>
          <p:cNvSpPr>
            <a:spLocks noGrp="1" noRot="1" noChangeAspect="1"/>
          </p:cNvSpPr>
          <p:nvPr>
            <p:ph type="sldImg"/>
          </p:nvPr>
        </p:nvSpPr>
        <p:spPr>
          <a:xfrm>
            <a:off x="685800" y="1143000"/>
            <a:ext cx="5486040" cy="3085920"/>
          </a:xfrm>
          <a:prstGeom prst="rect">
            <a:avLst/>
          </a:prstGeom>
          <a:ln w="0">
            <a:noFill/>
          </a:ln>
        </p:spPr>
      </p:sp>
      <p:sp>
        <p:nvSpPr>
          <p:cNvPr id="15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62" name="PlaceHolder 3"/>
          <p:cNvSpPr>
            <a:spLocks noGrp="1"/>
          </p:cNvSpPr>
          <p:nvPr>
            <p:ph type="sldNum" idx="8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FC5375-DE80-485E-8BE6-F8E5EA469AC0}" type="slidenum">
              <a:rPr lang="en-US" sz="1200" b="0" u="none" strike="noStrike">
                <a:solidFill>
                  <a:schemeClr val="dk1"/>
                </a:solidFill>
                <a:effectLst/>
                <a:uFillTx/>
                <a:latin typeface="+mn-lt"/>
                <a:ea typeface="+mn-ea"/>
              </a:rPr>
              <a:t>83</a:t>
            </a:fld>
            <a:endParaRPr lang="en-US" sz="1200" b="0" u="none" strike="noStrike">
              <a:solidFill>
                <a:srgbClr val="000000"/>
              </a:solidFill>
              <a:effectLst/>
              <a:uFillTx/>
              <a:latin typeface="Times New Roman"/>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3" name="PlaceHolder 1"/>
          <p:cNvSpPr>
            <a:spLocks noGrp="1" noRot="1" noChangeAspect="1"/>
          </p:cNvSpPr>
          <p:nvPr>
            <p:ph type="sldImg"/>
          </p:nvPr>
        </p:nvSpPr>
        <p:spPr>
          <a:xfrm>
            <a:off x="685800" y="1143000"/>
            <a:ext cx="5486040" cy="3085920"/>
          </a:xfrm>
          <a:prstGeom prst="rect">
            <a:avLst/>
          </a:prstGeom>
          <a:ln w="0">
            <a:noFill/>
          </a:ln>
        </p:spPr>
      </p:sp>
      <p:sp>
        <p:nvSpPr>
          <p:cNvPr id="15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65" name="PlaceHolder 3"/>
          <p:cNvSpPr>
            <a:spLocks noGrp="1"/>
          </p:cNvSpPr>
          <p:nvPr>
            <p:ph type="sldNum" idx="8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2880D5-C00B-43CC-AFEB-0F6D0EBBAF68}" type="slidenum">
              <a:rPr lang="en-US" sz="1200" b="0" u="none" strike="noStrike">
                <a:solidFill>
                  <a:schemeClr val="dk1"/>
                </a:solidFill>
                <a:effectLst/>
                <a:uFillTx/>
                <a:latin typeface="+mn-lt"/>
                <a:ea typeface="+mn-ea"/>
              </a:rPr>
              <a:t>84</a:t>
            </a:fld>
            <a:endParaRPr lang="en-US" sz="1200" b="0" u="none" strike="noStrike">
              <a:solidFill>
                <a:srgbClr val="000000"/>
              </a:solidFill>
              <a:effectLst/>
              <a:uFillTx/>
              <a:latin typeface="Times New Roman"/>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 name="PlaceHolder 1"/>
          <p:cNvSpPr>
            <a:spLocks noGrp="1" noRot="1" noChangeAspect="1"/>
          </p:cNvSpPr>
          <p:nvPr>
            <p:ph type="sldImg"/>
          </p:nvPr>
        </p:nvSpPr>
        <p:spPr>
          <a:xfrm>
            <a:off x="685800" y="1143000"/>
            <a:ext cx="5486040" cy="3085920"/>
          </a:xfrm>
          <a:prstGeom prst="rect">
            <a:avLst/>
          </a:prstGeom>
          <a:ln w="0">
            <a:noFill/>
          </a:ln>
        </p:spPr>
      </p:sp>
      <p:sp>
        <p:nvSpPr>
          <p:cNvPr id="15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68" name="PlaceHolder 3"/>
          <p:cNvSpPr>
            <a:spLocks noGrp="1"/>
          </p:cNvSpPr>
          <p:nvPr>
            <p:ph type="sldNum" idx="8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49F3B5B-48C1-480A-90F3-8288ED1A0A5B}" type="slidenum">
              <a:rPr lang="en-US" sz="1200" b="0" u="none" strike="noStrike">
                <a:solidFill>
                  <a:schemeClr val="dk1"/>
                </a:solidFill>
                <a:effectLst/>
                <a:uFillTx/>
                <a:latin typeface="+mn-lt"/>
                <a:ea typeface="+mn-ea"/>
              </a:rPr>
              <a:t>85</a:t>
            </a:fld>
            <a:endParaRPr lang="en-US" sz="1200" b="0" u="none" strike="noStrike">
              <a:solidFill>
                <a:srgbClr val="000000"/>
              </a:solidFill>
              <a:effectLst/>
              <a:uFillTx/>
              <a:latin typeface="Times New Roman"/>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9" name="PlaceHolder 1"/>
          <p:cNvSpPr>
            <a:spLocks noGrp="1" noRot="1" noChangeAspect="1"/>
          </p:cNvSpPr>
          <p:nvPr>
            <p:ph type="sldImg"/>
          </p:nvPr>
        </p:nvSpPr>
        <p:spPr>
          <a:xfrm>
            <a:off x="685800" y="1143000"/>
            <a:ext cx="5486040" cy="3085920"/>
          </a:xfrm>
          <a:prstGeom prst="rect">
            <a:avLst/>
          </a:prstGeom>
          <a:ln w="0">
            <a:noFill/>
          </a:ln>
        </p:spPr>
      </p:sp>
      <p:sp>
        <p:nvSpPr>
          <p:cNvPr id="15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71" name="PlaceHolder 3"/>
          <p:cNvSpPr>
            <a:spLocks noGrp="1"/>
          </p:cNvSpPr>
          <p:nvPr>
            <p:ph type="sldNum" idx="8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EA5138C-E56D-4592-9807-FD202ADA15B9}" type="slidenum">
              <a:rPr lang="en-US" sz="1200" b="0" u="none" strike="noStrike">
                <a:solidFill>
                  <a:schemeClr val="dk1"/>
                </a:solidFill>
                <a:effectLst/>
                <a:uFillTx/>
                <a:latin typeface="+mn-lt"/>
                <a:ea typeface="+mn-ea"/>
              </a:rPr>
              <a:t>86</a:t>
            </a:fld>
            <a:endParaRPr lang="en-US" sz="1200" b="0" u="none" strike="noStrike">
              <a:solidFill>
                <a:srgbClr val="000000"/>
              </a:solidFill>
              <a:effectLst/>
              <a:uFillTx/>
              <a:latin typeface="Times New Roman"/>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2" name="PlaceHolder 1"/>
          <p:cNvSpPr>
            <a:spLocks noGrp="1" noRot="1" noChangeAspect="1"/>
          </p:cNvSpPr>
          <p:nvPr>
            <p:ph type="sldImg"/>
          </p:nvPr>
        </p:nvSpPr>
        <p:spPr>
          <a:xfrm>
            <a:off x="685800" y="1143000"/>
            <a:ext cx="5486040" cy="3085920"/>
          </a:xfrm>
          <a:prstGeom prst="rect">
            <a:avLst/>
          </a:prstGeom>
          <a:ln w="0">
            <a:noFill/>
          </a:ln>
        </p:spPr>
      </p:sp>
      <p:sp>
        <p:nvSpPr>
          <p:cNvPr id="15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74" name="PlaceHolder 3"/>
          <p:cNvSpPr>
            <a:spLocks noGrp="1"/>
          </p:cNvSpPr>
          <p:nvPr>
            <p:ph type="sldNum" idx="8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451845-5AFB-4142-BE2A-4D0E1CFC8070}" type="slidenum">
              <a:rPr lang="en-US" sz="1200" b="0" u="none" strike="noStrike">
                <a:solidFill>
                  <a:schemeClr val="dk1"/>
                </a:solidFill>
                <a:effectLst/>
                <a:uFillTx/>
                <a:latin typeface="+mn-lt"/>
                <a:ea typeface="+mn-ea"/>
              </a:rPr>
              <a:t>87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 name="PlaceHolder 1"/>
          <p:cNvSpPr>
            <a:spLocks noGrp="1" noRot="1" noChangeAspect="1"/>
          </p:cNvSpPr>
          <p:nvPr>
            <p:ph type="sldImg"/>
          </p:nvPr>
        </p:nvSpPr>
        <p:spPr>
          <a:xfrm>
            <a:off x="685800" y="1143000"/>
            <a:ext cx="5486040" cy="3085920"/>
          </a:xfrm>
          <a:prstGeom prst="rect">
            <a:avLst/>
          </a:prstGeom>
          <a:ln w="0">
            <a:noFill/>
          </a:ln>
        </p:spPr>
      </p:sp>
      <p:sp>
        <p:nvSpPr>
          <p:cNvPr id="15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buNone/>
            </a:pPr>
            <a:endParaRPr lang="en-US" sz="1800" b="0" u="none" strike="noStrike">
              <a:solidFill>
                <a:srgbClr val="000000"/>
              </a:solidFill>
              <a:effectLst/>
              <a:uFillTx/>
              <a:latin typeface="Arial"/>
            </a:endParaRPr>
          </a:p>
        </p:txBody>
      </p:sp>
      <p:sp>
        <p:nvSpPr>
          <p:cNvPr id="1577" name="PlaceHolder 3"/>
          <p:cNvSpPr>
            <a:spLocks noGrp="1"/>
          </p:cNvSpPr>
          <p:nvPr>
            <p:ph type="sldNum" idx="8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9ED02E8-F919-4A3C-AA70-CBA32D3023DD}" type="slidenum">
              <a:rPr lang="en-US" sz="1200" b="0" u="none" strike="noStrike">
                <a:solidFill>
                  <a:schemeClr val="dk1"/>
                </a:solidFill>
                <a:effectLst/>
                <a:uFillTx/>
                <a:latin typeface="+mn-lt"/>
                <a:ea typeface="+mn-ea"/>
              </a:rPr>
              <a:t>88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 name="Shape 0"/>
          <p:cNvSpPr/>
          <p:nvPr/>
        </p:nvSpPr>
        <p:spPr>
          <a:xfrm>
            <a:off x="8778240" y="-2194560"/>
            <a:ext cx="5486040" cy="548604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 name="Shape 2"/>
          <p:cNvSpPr/>
          <p:nvPr/>
        </p:nvSpPr>
        <p:spPr>
          <a:xfrm>
            <a:off x="5943600" y="5212080"/>
            <a:ext cx="1462680" cy="1462680"/>
          </a:xfrm>
          <a:prstGeom prst="ellipse">
            <a:avLst/>
          </a:prstGeom>
          <a:solidFill>
            <a:srgbClr val="4C112D">
              <a:alpha val="45000"/>
            </a:srgbClr>
          </a:solidFill>
          <a:ln w="12700">
            <a:solidFill>
              <a:srgbClr val="4C112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 name="Image 0" descr="/home/claude/assets/logo_card.png"/>
          <p:cNvPicPr/>
          <p:nvPr/>
        </p:nvPicPr>
        <p:blipFill>
          <a:blip r:embed="rId3"/>
          <a:stretch/>
        </p:blipFill>
        <p:spPr>
          <a:xfrm>
            <a:off x="731520" y="502920"/>
            <a:ext cx="2559960" cy="831600"/>
          </a:xfrm>
          <a:prstGeom prst="rect">
            <a:avLst/>
          </a:prstGeom>
          <a:noFill/>
          <a:ln w="0">
            <a:noFill/>
          </a:ln>
        </p:spPr>
      </p:pic>
      <p:sp>
        <p:nvSpPr>
          <p:cNvPr id="14" name="Shape 4"/>
          <p:cNvSpPr/>
          <p:nvPr/>
        </p:nvSpPr>
        <p:spPr>
          <a:xfrm>
            <a:off x="713160" y="2331720"/>
            <a:ext cx="3931560" cy="292320"/>
          </a:xfrm>
          <a:prstGeom prst="roundRect">
            <a:avLst>
              <a:gd name="adj" fmla="val 156250"/>
            </a:avLst>
          </a:prstGeom>
          <a:solidFill>
            <a:srgbClr val="262758"/>
          </a:solidFill>
          <a:ln w="12700">
            <a:solidFill>
              <a:srgbClr val="26275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 name="Text 5"/>
          <p:cNvSpPr/>
          <p:nvPr/>
        </p:nvSpPr>
        <p:spPr>
          <a:xfrm>
            <a:off x="713160" y="2331720"/>
            <a:ext cx="39315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E0E7FF"/>
                </a:solidFill>
                <a:effectLst/>
                <a:uFillTx/>
                <a:latin typeface="Plus Jakarta Sans"/>
                <a:ea typeface="Plus Jakarta Sans"/>
              </a:rPr>
              <a:t>SESSION 18  ·  AI &amp; ML PLAYGROUND</a:t>
            </a:r>
            <a:endParaRPr lang="en-US" sz="1100" b="0" u="none" strike="noStrike">
              <a:solidFill>
                <a:srgbClr val="FFFFFF"/>
              </a:solidFill>
              <a:effectLst/>
              <a:uFillTx/>
              <a:latin typeface="Arial"/>
            </a:endParaRPr>
          </a:p>
        </p:txBody>
      </p:sp>
      <p:sp>
        <p:nvSpPr>
          <p:cNvPr id="16" name="Text 6"/>
          <p:cNvSpPr/>
          <p:nvPr/>
        </p:nvSpPr>
        <p:spPr>
          <a:xfrm>
            <a:off x="658440" y="2788920"/>
            <a:ext cx="105152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Descriptive Statistics I</a:t>
            </a:r>
            <a:endParaRPr lang="en-US" sz="4000" b="0" u="none" strike="noStrike">
              <a:solidFill>
                <a:srgbClr val="FFFFFF"/>
              </a:solidFill>
              <a:effectLst/>
              <a:uFillTx/>
              <a:latin typeface="Arial"/>
            </a:endParaRPr>
          </a:p>
        </p:txBody>
      </p:sp>
      <p:sp>
        <p:nvSpPr>
          <p:cNvPr id="17" name="Text 7"/>
          <p:cNvSpPr/>
          <p:nvPr/>
        </p:nvSpPr>
        <p:spPr>
          <a:xfrm>
            <a:off x="713160" y="3703320"/>
            <a:ext cx="96008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0" u="none" strike="noStrike">
                <a:solidFill>
                  <a:srgbClr val="94A3B8"/>
                </a:solidFill>
                <a:effectLst/>
                <a:uFillTx/>
                <a:latin typeface="Hanken Grotesk"/>
                <a:ea typeface="Hanken Grotesk"/>
              </a:rPr>
              <a:t>What Statistics Is, Data Types, Measurement Scales, Errors, Every Chart You Need &amp; Central Tendency — with Python</a:t>
            </a:r>
            <a:endParaRPr lang="en-US" sz="1700" b="0" u="none" strike="noStrike">
              <a:solidFill>
                <a:srgbClr val="FFFFFF"/>
              </a:solidFill>
              <a:effectLst/>
              <a:uFillTx/>
              <a:latin typeface="Arial"/>
            </a:endParaRPr>
          </a:p>
        </p:txBody>
      </p:sp>
      <p:sp>
        <p:nvSpPr>
          <p:cNvPr id="18" name="Shape 8"/>
          <p:cNvSpPr/>
          <p:nvPr/>
        </p:nvSpPr>
        <p:spPr>
          <a:xfrm>
            <a:off x="713160" y="4572000"/>
            <a:ext cx="2926080" cy="360"/>
          </a:xfrm>
          <a:prstGeom prst="line">
            <a:avLst/>
          </a:prstGeom>
          <a:ln w="12700">
            <a:solidFill>
              <a:srgbClr val="1E293B"/>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9" name="Text 9"/>
          <p:cNvSpPr/>
          <p:nvPr/>
        </p:nvSpPr>
        <p:spPr>
          <a:xfrm>
            <a:off x="713160" y="4663440"/>
            <a:ext cx="5486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2DD4BF"/>
                </a:solidFill>
                <a:effectLst/>
                <a:uFillTx/>
                <a:latin typeface="Plus Jakarta Sans"/>
                <a:ea typeface="Plus Jakarta Sans"/>
              </a:rPr>
              <a:t>CodeByPaxto: The AI &amp; ML Playground</a:t>
            </a:r>
            <a:endParaRPr lang="en-US" sz="1300" b="0" u="none" strike="noStrike">
              <a:solidFill>
                <a:srgbClr val="FFFFFF"/>
              </a:solidFill>
              <a:effectLst/>
              <a:uFillTx/>
              <a:latin typeface="Arial"/>
            </a:endParaRPr>
          </a:p>
        </p:txBody>
      </p:sp>
      <p:sp>
        <p:nvSpPr>
          <p:cNvPr id="20" name="Text 10"/>
          <p:cNvSpPr/>
          <p:nvPr/>
        </p:nvSpPr>
        <p:spPr>
          <a:xfrm>
            <a:off x="713160" y="5001840"/>
            <a:ext cx="5486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94A3B8"/>
                </a:solidFill>
                <a:effectLst/>
                <a:uFillTx/>
                <a:latin typeface="Hanken Grotesk"/>
                <a:ea typeface="Hanken Grotesk"/>
              </a:rPr>
              <a:t>Hafiz Waseem Ahmed (Paxto)</a:t>
            </a:r>
            <a:endParaRPr lang="en-US" sz="1200" b="0" u="none" strike="noStrike">
              <a:solidFill>
                <a:srgbClr val="FFFFFF"/>
              </a:solidFill>
              <a:effectLst/>
              <a:uFillTx/>
              <a:latin typeface="Arial"/>
            </a:endParaRPr>
          </a:p>
        </p:txBody>
      </p:sp>
      <p:sp>
        <p:nvSpPr>
          <p:cNvPr id="21" name="Text 1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01</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02</a:t>
            </a:r>
            <a:endParaRPr lang="en-US" sz="900" b="0" u="none" strike="noStrike">
              <a:solidFill>
                <a:srgbClr val="000000"/>
              </a:solidFill>
              <a:effectLst/>
              <a:uFillTx/>
              <a:latin typeface="Arial"/>
            </a:endParaRPr>
          </a:p>
        </p:txBody>
      </p:sp>
      <p:pic>
        <p:nvPicPr>
          <p:cNvPr id="24" name="Image 0" descr="/home/claude/assets/logo_crop.png"/>
          <p:cNvPicPr/>
          <p:nvPr/>
        </p:nvPicPr>
        <p:blipFill>
          <a:blip r:embed="rId3"/>
          <a:stretch/>
        </p:blipFill>
        <p:spPr>
          <a:xfrm>
            <a:off x="11201400" y="384120"/>
            <a:ext cx="456840" cy="511560"/>
          </a:xfrm>
          <a:prstGeom prst="rect">
            <a:avLst/>
          </a:prstGeom>
          <a:noFill/>
          <a:ln w="0">
            <a:noFill/>
          </a:ln>
        </p:spPr>
      </p:pic>
      <p:sp>
        <p:nvSpPr>
          <p:cNvPr id="2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What We're Covering Today</a:t>
            </a:r>
            <a:endParaRPr lang="en-US" sz="2600" b="0" u="none" strike="noStrike">
              <a:solidFill>
                <a:srgbClr val="000000"/>
              </a:solidFill>
              <a:effectLst/>
              <a:uFillTx/>
              <a:latin typeface="Arial"/>
            </a:endParaRPr>
          </a:p>
        </p:txBody>
      </p:sp>
      <p:sp>
        <p:nvSpPr>
          <p:cNvPr id="26" name="Shape 3"/>
          <p:cNvSpPr/>
          <p:nvPr/>
        </p:nvSpPr>
        <p:spPr>
          <a:xfrm>
            <a:off x="548640" y="137160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 name="Shape 4"/>
          <p:cNvSpPr/>
          <p:nvPr/>
        </p:nvSpPr>
        <p:spPr>
          <a:xfrm>
            <a:off x="731520" y="148140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 name="Text 5"/>
          <p:cNvSpPr/>
          <p:nvPr/>
        </p:nvSpPr>
        <p:spPr>
          <a:xfrm>
            <a:off x="731520" y="148140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29" name="Text 6"/>
          <p:cNvSpPr/>
          <p:nvPr/>
        </p:nvSpPr>
        <p:spPr>
          <a:xfrm>
            <a:off x="1234440" y="137160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What statistics actually is, and the two types: descriptive vs. inferential</a:t>
            </a:r>
            <a:endParaRPr lang="en-US" sz="1400" b="0" u="none" strike="noStrike">
              <a:solidFill>
                <a:srgbClr val="000000"/>
              </a:solidFill>
              <a:effectLst/>
              <a:uFillTx/>
              <a:latin typeface="Arial"/>
            </a:endParaRPr>
          </a:p>
        </p:txBody>
      </p:sp>
      <p:sp>
        <p:nvSpPr>
          <p:cNvPr id="30" name="Shape 7"/>
          <p:cNvSpPr/>
          <p:nvPr/>
        </p:nvSpPr>
        <p:spPr>
          <a:xfrm>
            <a:off x="548640" y="199332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 name="Shape 8"/>
          <p:cNvSpPr/>
          <p:nvPr/>
        </p:nvSpPr>
        <p:spPr>
          <a:xfrm>
            <a:off x="731520" y="210312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 name="Text 9"/>
          <p:cNvSpPr/>
          <p:nvPr/>
        </p:nvSpPr>
        <p:spPr>
          <a:xfrm>
            <a:off x="731520" y="210312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33" name="Text 10"/>
          <p:cNvSpPr/>
          <p:nvPr/>
        </p:nvSpPr>
        <p:spPr>
          <a:xfrm>
            <a:off x="1234440" y="199332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Population vs. sample, and dependent vs. independent variables</a:t>
            </a:r>
            <a:endParaRPr lang="en-US" sz="1400" b="0" u="none" strike="noStrike">
              <a:solidFill>
                <a:srgbClr val="000000"/>
              </a:solidFill>
              <a:effectLst/>
              <a:uFillTx/>
              <a:latin typeface="Arial"/>
            </a:endParaRPr>
          </a:p>
        </p:txBody>
      </p:sp>
      <p:sp>
        <p:nvSpPr>
          <p:cNvPr id="34" name="Shape 11"/>
          <p:cNvSpPr/>
          <p:nvPr/>
        </p:nvSpPr>
        <p:spPr>
          <a:xfrm>
            <a:off x="548640" y="261504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 name="Shape 12"/>
          <p:cNvSpPr/>
          <p:nvPr/>
        </p:nvSpPr>
        <p:spPr>
          <a:xfrm>
            <a:off x="731520" y="272484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 name="Text 13"/>
          <p:cNvSpPr/>
          <p:nvPr/>
        </p:nvSpPr>
        <p:spPr>
          <a:xfrm>
            <a:off x="731520" y="272484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7" name="Text 14"/>
          <p:cNvSpPr/>
          <p:nvPr/>
        </p:nvSpPr>
        <p:spPr>
          <a:xfrm>
            <a:off x="1234440" y="261504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Collecting &amp; measuring data — sources, sampling techniques, and reliability vs. validity</a:t>
            </a:r>
            <a:endParaRPr lang="en-US" sz="1400" b="0" u="none" strike="noStrike">
              <a:solidFill>
                <a:srgbClr val="000000"/>
              </a:solidFill>
              <a:effectLst/>
              <a:uFillTx/>
              <a:latin typeface="Arial"/>
            </a:endParaRPr>
          </a:p>
        </p:txBody>
      </p:sp>
      <p:sp>
        <p:nvSpPr>
          <p:cNvPr id="38" name="Shape 15"/>
          <p:cNvSpPr/>
          <p:nvPr/>
        </p:nvSpPr>
        <p:spPr>
          <a:xfrm>
            <a:off x="548640" y="323712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 name="Shape 16"/>
          <p:cNvSpPr/>
          <p:nvPr/>
        </p:nvSpPr>
        <p:spPr>
          <a:xfrm>
            <a:off x="731520" y="334656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 name="Text 17"/>
          <p:cNvSpPr/>
          <p:nvPr/>
        </p:nvSpPr>
        <p:spPr>
          <a:xfrm>
            <a:off x="731520" y="33465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41" name="Text 18"/>
          <p:cNvSpPr/>
          <p:nvPr/>
        </p:nvSpPr>
        <p:spPr>
          <a:xfrm>
            <a:off x="1234440" y="323712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Types of data and the four measurement scales — and where each is used</a:t>
            </a:r>
            <a:endParaRPr lang="en-US" sz="1400" b="0" u="none" strike="noStrike">
              <a:solidFill>
                <a:srgbClr val="000000"/>
              </a:solidFill>
              <a:effectLst/>
              <a:uFillTx/>
              <a:latin typeface="Arial"/>
            </a:endParaRPr>
          </a:p>
        </p:txBody>
      </p:sp>
      <p:sp>
        <p:nvSpPr>
          <p:cNvPr id="42" name="Shape 19"/>
          <p:cNvSpPr/>
          <p:nvPr/>
        </p:nvSpPr>
        <p:spPr>
          <a:xfrm>
            <a:off x="548640" y="385884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 name="Shape 20"/>
          <p:cNvSpPr/>
          <p:nvPr/>
        </p:nvSpPr>
        <p:spPr>
          <a:xfrm>
            <a:off x="731520" y="396864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 name="Text 21"/>
          <p:cNvSpPr/>
          <p:nvPr/>
        </p:nvSpPr>
        <p:spPr>
          <a:xfrm>
            <a:off x="731520" y="396864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5</a:t>
            </a:r>
            <a:endParaRPr lang="en-US" sz="1300" b="0" u="none" strike="noStrike">
              <a:solidFill>
                <a:srgbClr val="000000"/>
              </a:solidFill>
              <a:effectLst/>
              <a:uFillTx/>
              <a:latin typeface="Arial"/>
            </a:endParaRPr>
          </a:p>
        </p:txBody>
      </p:sp>
      <p:sp>
        <p:nvSpPr>
          <p:cNvPr id="45" name="Text 22"/>
          <p:cNvSpPr/>
          <p:nvPr/>
        </p:nvSpPr>
        <p:spPr>
          <a:xfrm>
            <a:off x="1234440" y="385884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Errors and bias in data — what’s random, what’s systematic, and how to reduce it</a:t>
            </a:r>
            <a:endParaRPr lang="en-US" sz="1400" b="0" u="none" strike="noStrike">
              <a:solidFill>
                <a:srgbClr val="000000"/>
              </a:solidFill>
              <a:effectLst/>
              <a:uFillTx/>
              <a:latin typeface="Arial"/>
            </a:endParaRPr>
          </a:p>
        </p:txBody>
      </p:sp>
      <p:sp>
        <p:nvSpPr>
          <p:cNvPr id="46" name="Shape 23"/>
          <p:cNvSpPr/>
          <p:nvPr/>
        </p:nvSpPr>
        <p:spPr>
          <a:xfrm>
            <a:off x="548640" y="448056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 name="Shape 24"/>
          <p:cNvSpPr/>
          <p:nvPr/>
        </p:nvSpPr>
        <p:spPr>
          <a:xfrm>
            <a:off x="731520" y="459036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 name="Text 25"/>
          <p:cNvSpPr/>
          <p:nvPr/>
        </p:nvSpPr>
        <p:spPr>
          <a:xfrm>
            <a:off x="731520" y="459036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6</a:t>
            </a:r>
            <a:endParaRPr lang="en-US" sz="1300" b="0" u="none" strike="noStrike">
              <a:solidFill>
                <a:srgbClr val="000000"/>
              </a:solidFill>
              <a:effectLst/>
              <a:uFillTx/>
              <a:latin typeface="Arial"/>
            </a:endParaRPr>
          </a:p>
        </p:txBody>
      </p:sp>
      <p:sp>
        <p:nvSpPr>
          <p:cNvPr id="49" name="Text 26"/>
          <p:cNvSpPr/>
          <p:nvPr/>
        </p:nvSpPr>
        <p:spPr>
          <a:xfrm>
            <a:off x="1234440" y="448056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The complete chart &amp; graph catalog — when to use each, and when not to</a:t>
            </a:r>
            <a:endParaRPr lang="en-US" sz="1400" b="0" u="none" strike="noStrike">
              <a:solidFill>
                <a:srgbClr val="000000"/>
              </a:solidFill>
              <a:effectLst/>
              <a:uFillTx/>
              <a:latin typeface="Arial"/>
            </a:endParaRPr>
          </a:p>
        </p:txBody>
      </p:sp>
      <p:sp>
        <p:nvSpPr>
          <p:cNvPr id="50" name="Shape 27"/>
          <p:cNvSpPr/>
          <p:nvPr/>
        </p:nvSpPr>
        <p:spPr>
          <a:xfrm>
            <a:off x="548640" y="510228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 name="Shape 28"/>
          <p:cNvSpPr/>
          <p:nvPr/>
        </p:nvSpPr>
        <p:spPr>
          <a:xfrm>
            <a:off x="731520" y="521208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 name="Text 29"/>
          <p:cNvSpPr/>
          <p:nvPr/>
        </p:nvSpPr>
        <p:spPr>
          <a:xfrm>
            <a:off x="731520" y="521208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7</a:t>
            </a:r>
            <a:endParaRPr lang="en-US" sz="1300" b="0" u="none" strike="noStrike">
              <a:solidFill>
                <a:srgbClr val="000000"/>
              </a:solidFill>
              <a:effectLst/>
              <a:uFillTx/>
              <a:latin typeface="Arial"/>
            </a:endParaRPr>
          </a:p>
        </p:txBody>
      </p:sp>
      <p:sp>
        <p:nvSpPr>
          <p:cNvPr id="53" name="Text 30"/>
          <p:cNvSpPr/>
          <p:nvPr/>
        </p:nvSpPr>
        <p:spPr>
          <a:xfrm>
            <a:off x="1234440" y="510228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Measures of central tendency — mean, median, and mode</a:t>
            </a:r>
            <a:endParaRPr lang="en-US" sz="1400" b="0" u="none" strike="noStrike">
              <a:solidFill>
                <a:srgbClr val="000000"/>
              </a:solidFill>
              <a:effectLst/>
              <a:uFillTx/>
              <a:latin typeface="Arial"/>
            </a:endParaRPr>
          </a:p>
        </p:txBody>
      </p:sp>
      <p:sp>
        <p:nvSpPr>
          <p:cNvPr id="54" name="Shape 31"/>
          <p:cNvSpPr/>
          <p:nvPr/>
        </p:nvSpPr>
        <p:spPr>
          <a:xfrm>
            <a:off x="548640" y="5724000"/>
            <a:ext cx="11109600" cy="529920"/>
          </a:xfrm>
          <a:prstGeom prst="roundRect">
            <a:avLst>
              <a:gd name="adj" fmla="val 1724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 name="Shape 32"/>
          <p:cNvSpPr/>
          <p:nvPr/>
        </p:nvSpPr>
        <p:spPr>
          <a:xfrm>
            <a:off x="731520" y="5833800"/>
            <a:ext cx="310680" cy="310680"/>
          </a:xfrm>
          <a:prstGeom prst="roundRect">
            <a:avLst>
              <a:gd name="adj" fmla="val 29412"/>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 name="Text 33"/>
          <p:cNvSpPr/>
          <p:nvPr/>
        </p:nvSpPr>
        <p:spPr>
          <a:xfrm>
            <a:off x="731520" y="5833800"/>
            <a:ext cx="310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8</a:t>
            </a:r>
            <a:endParaRPr lang="en-US" sz="1300" b="0" u="none" strike="noStrike">
              <a:solidFill>
                <a:srgbClr val="000000"/>
              </a:solidFill>
              <a:effectLst/>
              <a:uFillTx/>
              <a:latin typeface="Arial"/>
            </a:endParaRPr>
          </a:p>
        </p:txBody>
      </p:sp>
      <p:sp>
        <p:nvSpPr>
          <p:cNvPr id="57" name="Text 34"/>
          <p:cNvSpPr/>
          <p:nvPr/>
        </p:nvSpPr>
        <p:spPr>
          <a:xfrm>
            <a:off x="1234440" y="5724000"/>
            <a:ext cx="101494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Today's tasks and a mini project — profiling a real dataset</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03</a:t>
            </a:r>
            <a:endParaRPr lang="en-US" sz="900" b="0" u="none" strike="noStrike">
              <a:solidFill>
                <a:srgbClr val="000000"/>
              </a:solidFill>
              <a:effectLst/>
              <a:uFillTx/>
              <a:latin typeface="Arial"/>
            </a:endParaRPr>
          </a:p>
        </p:txBody>
      </p:sp>
      <p:pic>
        <p:nvPicPr>
          <p:cNvPr id="60" name="Image 0" descr="/home/claude/assets/logo_crop.png"/>
          <p:cNvPicPr/>
          <p:nvPr/>
        </p:nvPicPr>
        <p:blipFill>
          <a:blip r:embed="rId3"/>
          <a:stretch/>
        </p:blipFill>
        <p:spPr>
          <a:xfrm>
            <a:off x="11201400" y="384120"/>
            <a:ext cx="456840" cy="511560"/>
          </a:xfrm>
          <a:prstGeom prst="rect">
            <a:avLst/>
          </a:prstGeom>
          <a:noFill/>
          <a:ln w="0">
            <a:noFill/>
          </a:ln>
        </p:spPr>
      </p:pic>
      <p:sp>
        <p:nvSpPr>
          <p:cNvPr id="61"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Your First Python Cell</a:t>
            </a:r>
            <a:endParaRPr lang="en-US" sz="2600" b="0" u="none" strike="noStrike">
              <a:solidFill>
                <a:srgbClr val="000000"/>
              </a:solidFill>
              <a:effectLst/>
              <a:uFillTx/>
              <a:latin typeface="Arial"/>
            </a:endParaRPr>
          </a:p>
        </p:txBody>
      </p:sp>
      <p:sp>
        <p:nvSpPr>
          <p:cNvPr id="62"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You do NOT need to know these libraries yet — copy, run, and read the comments.</a:t>
            </a:r>
            <a:endParaRPr lang="en-US" sz="2000" b="0" u="none" strike="noStrike">
              <a:solidFill>
                <a:srgbClr val="000000"/>
              </a:solidFill>
              <a:effectLst/>
              <a:uFillTx/>
              <a:latin typeface="Arial"/>
              <a:cs typeface="Arial"/>
            </a:endParaRPr>
          </a:p>
          <a:p>
            <a:pPr marL="342900" indent="-342900">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math and statistics ship with Python. </a:t>
            </a:r>
            <a:r>
              <a:rPr lang="en-US" sz="2000" b="0" u="none" strike="noStrike" dirty="0" err="1">
                <a:solidFill>
                  <a:srgbClr val="1B1B20"/>
                </a:solidFill>
                <a:effectLst/>
                <a:uFillTx/>
                <a:latin typeface="Hanken Grotesk"/>
                <a:ea typeface="Hanken Grotesk"/>
              </a:rPr>
              <a:t>numpy</a:t>
            </a:r>
            <a:r>
              <a:rPr lang="en-US" sz="2000" b="0" u="none" strike="noStrike" dirty="0">
                <a:solidFill>
                  <a:srgbClr val="1B1B20"/>
                </a:solidFill>
                <a:effectLst/>
                <a:uFillTx/>
                <a:latin typeface="Hanken Grotesk"/>
                <a:ea typeface="Hanken Grotesk"/>
              </a:rPr>
              <a:t>, pandas and </a:t>
            </a:r>
            <a:r>
              <a:rPr lang="en-US" sz="2000" b="0" u="none" strike="noStrike" dirty="0" err="1">
                <a:solidFill>
                  <a:srgbClr val="1B1B20"/>
                </a:solidFill>
                <a:effectLst/>
                <a:uFillTx/>
                <a:latin typeface="Hanken Grotesk"/>
                <a:ea typeface="Hanken Grotesk"/>
              </a:rPr>
              <a:t>scipy</a:t>
            </a:r>
            <a:r>
              <a:rPr lang="en-US" sz="2000" b="0" u="none" strike="noStrike" dirty="0">
                <a:solidFill>
                  <a:srgbClr val="1B1B20"/>
                </a:solidFill>
                <a:effectLst/>
                <a:uFillTx/>
                <a:latin typeface="Hanken Grotesk"/>
                <a:ea typeface="Hanken Grotesk"/>
              </a:rPr>
              <a:t> are one pip</a:t>
            </a:r>
            <a:r>
              <a:rPr lang="en-US" sz="2000" dirty="0">
                <a:solidFill>
                  <a:srgbClr val="1B1B20"/>
                </a:solidFill>
                <a:latin typeface="Hanken Grotesk"/>
                <a:ea typeface="Hanken Grotesk"/>
              </a:rPr>
              <a:t> / </a:t>
            </a:r>
            <a:r>
              <a:rPr lang="en-US" sz="2000" dirty="0" err="1">
                <a:solidFill>
                  <a:srgbClr val="1B1B20"/>
                </a:solidFill>
                <a:latin typeface="Hanken Grotesk"/>
                <a:ea typeface="Hanken Grotesk"/>
              </a:rPr>
              <a:t>conda</a:t>
            </a:r>
            <a:r>
              <a:rPr lang="en-US" sz="2000" b="0" u="none" strike="noStrike" dirty="0">
                <a:solidFill>
                  <a:srgbClr val="1B1B20"/>
                </a:solidFill>
                <a:effectLst/>
                <a:uFillTx/>
                <a:latin typeface="Hanken Grotesk"/>
                <a:ea typeface="Hanken Grotesk"/>
              </a:rPr>
              <a:t> install away.</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Every code slide today uses small, made-up data so you can run it anywhere.</a:t>
            </a:r>
            <a:endParaRPr lang="en-US" sz="2000" b="0" u="none" strike="noStrike">
              <a:solidFill>
                <a:srgbClr val="000000"/>
              </a:solidFill>
              <a:effectLst/>
              <a:uFillTx/>
              <a:latin typeface="Arial"/>
              <a:cs typeface="Arial"/>
            </a:endParaRPr>
          </a:p>
        </p:txBody>
      </p:sp>
      <p:sp>
        <p:nvSpPr>
          <p:cNvPr id="63"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4"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5"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66"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67"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i="1" u="none" strike="noStrike">
                <a:solidFill>
                  <a:srgbClr val="94A3B8"/>
                </a:solidFill>
                <a:effectLst/>
                <a:uFillTx/>
                <a:latin typeface="Cantarell"/>
                <a:ea typeface="Consolas"/>
              </a:rPr>
              <a:t># Built into Python: nothing to install</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math</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statistics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One-time install: pip install numpy pandas scipy</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numpy as np</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pandas as pd</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from scipy import stats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scores = [72, 85, 90, 66, 85]</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print(statistics.mean(scores))    </a:t>
            </a:r>
            <a:r>
              <a:rPr lang="en-US" sz="1300" b="0" i="1" u="none" strike="noStrike">
                <a:solidFill>
                  <a:srgbClr val="94A3B8"/>
                </a:solidFill>
                <a:effectLst/>
                <a:uFillTx/>
                <a:latin typeface="Cantarell"/>
                <a:ea typeface="Consolas"/>
              </a:rPr>
              <a:t># 79.6</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print(np.mean(scores))            </a:t>
            </a:r>
            <a:r>
              <a:rPr lang="en-US" sz="1300" b="0" i="1" u="none" strike="noStrike">
                <a:solidFill>
                  <a:srgbClr val="94A3B8"/>
                </a:solidFill>
                <a:effectLst/>
                <a:uFillTx/>
                <a:latin typeface="Cantarell"/>
                <a:ea typeface="Consolas"/>
              </a:rPr>
              <a:t># 79.6</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print(math.sqrt(16))              </a:t>
            </a:r>
            <a:r>
              <a:rPr lang="en-US" sz="1300" b="0" i="1" u="none" strike="noStrike">
                <a:solidFill>
                  <a:srgbClr val="94A3B8"/>
                </a:solidFill>
                <a:effectLst/>
                <a:uFillTx/>
                <a:latin typeface="Cantarell"/>
                <a:ea typeface="Consolas"/>
              </a:rPr>
              <a:t># 4.0</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68"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9"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PART 1</a:t>
            </a:r>
            <a:endParaRPr lang="en-US" sz="1400" b="0" u="none" strike="noStrike">
              <a:solidFill>
                <a:srgbClr val="FFFFFF"/>
              </a:solidFill>
              <a:effectLst/>
              <a:uFillTx/>
              <a:latin typeface="Arial"/>
            </a:endParaRPr>
          </a:p>
        </p:txBody>
      </p:sp>
      <p:sp>
        <p:nvSpPr>
          <p:cNvPr id="71"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What Is Statistics?</a:t>
            </a:r>
            <a:endParaRPr lang="en-US" sz="4000" b="0" u="none" strike="noStrike">
              <a:solidFill>
                <a:srgbClr val="FFFFFF"/>
              </a:solidFill>
              <a:effectLst/>
              <a:uFillTx/>
              <a:latin typeface="Arial"/>
            </a:endParaRPr>
          </a:p>
        </p:txBody>
      </p:sp>
      <p:sp>
        <p:nvSpPr>
          <p:cNvPr id="72"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Before any formula, a clear picture of what this field actually does, and the two very different jobs it does it for</a:t>
            </a:r>
            <a:endParaRPr lang="en-US" sz="1500" b="0" u="none" strike="noStrike">
              <a:solidFill>
                <a:srgbClr val="FFFFFF"/>
              </a:solidFill>
              <a:effectLst/>
              <a:uFillTx/>
              <a:latin typeface="Arial"/>
            </a:endParaRPr>
          </a:p>
        </p:txBody>
      </p:sp>
      <p:sp>
        <p:nvSpPr>
          <p:cNvPr id="73"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04</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4"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5"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05</a:t>
            </a:r>
            <a:endParaRPr lang="en-US" sz="900" b="0" u="none" strike="noStrike">
              <a:solidFill>
                <a:srgbClr val="000000"/>
              </a:solidFill>
              <a:effectLst/>
              <a:uFillTx/>
              <a:latin typeface="Arial"/>
            </a:endParaRPr>
          </a:p>
        </p:txBody>
      </p:sp>
      <p:pic>
        <p:nvPicPr>
          <p:cNvPr id="76" name="Image 0" descr="/home/claude/assets/logo_crop.png"/>
          <p:cNvPicPr/>
          <p:nvPr/>
        </p:nvPicPr>
        <p:blipFill>
          <a:blip r:embed="rId3"/>
          <a:stretch/>
        </p:blipFill>
        <p:spPr>
          <a:xfrm>
            <a:off x="11201400" y="384120"/>
            <a:ext cx="456840" cy="511560"/>
          </a:xfrm>
          <a:prstGeom prst="rect">
            <a:avLst/>
          </a:prstGeom>
          <a:noFill/>
          <a:ln w="0">
            <a:noFill/>
          </a:ln>
        </p:spPr>
      </p:pic>
      <p:sp>
        <p:nvSpPr>
          <p:cNvPr id="77"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What Is Statistics, Really?</a:t>
            </a:r>
            <a:endParaRPr lang="en-US" sz="2600" b="0" u="none" strike="noStrike">
              <a:solidFill>
                <a:srgbClr val="000000"/>
              </a:solidFill>
              <a:effectLst/>
              <a:uFillTx/>
              <a:latin typeface="Arial"/>
            </a:endParaRPr>
          </a:p>
        </p:txBody>
      </p:sp>
      <p:sp>
        <p:nvSpPr>
          <p:cNvPr id="78"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81"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Making sense of data</a:t>
            </a:r>
            <a:endParaRPr lang="en-US" sz="1700" b="0" u="none" strike="noStrike">
              <a:solidFill>
                <a:srgbClr val="000000"/>
              </a:solidFill>
              <a:effectLst/>
              <a:uFillTx/>
              <a:latin typeface="Arial"/>
            </a:endParaRPr>
          </a:p>
        </p:txBody>
      </p:sp>
      <p:sp>
        <p:nvSpPr>
          <p:cNvPr id="82"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Statistics is the field of collecting, organizing, summarizing, and drawing conclusions from data</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At its core, it answers two very different kinds of questions: "what does this data show?" and "what can this data tell me about something bigger than itself?"</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Every dataset is meaningless until statistics gives you a way to describe it, compare it, or trust (or doubt) a conclusion drawn from it</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is genuinely one of the most widely used branches of math in the world — not just in AI, but in every field that collects data of any kind</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83"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4"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06</a:t>
            </a:r>
            <a:endParaRPr lang="en-US" sz="900" b="0" u="none" strike="noStrike">
              <a:solidFill>
                <a:srgbClr val="000000"/>
              </a:solidFill>
              <a:effectLst/>
              <a:uFillTx/>
              <a:latin typeface="Arial"/>
            </a:endParaRPr>
          </a:p>
        </p:txBody>
      </p:sp>
      <p:pic>
        <p:nvPicPr>
          <p:cNvPr id="85" name="Image 0" descr="/home/claude/assets/logo_crop.png"/>
          <p:cNvPicPr/>
          <p:nvPr/>
        </p:nvPicPr>
        <p:blipFill>
          <a:blip r:embed="rId3"/>
          <a:stretch/>
        </p:blipFill>
        <p:spPr>
          <a:xfrm>
            <a:off x="11201400" y="384120"/>
            <a:ext cx="456840" cy="511560"/>
          </a:xfrm>
          <a:prstGeom prst="rect">
            <a:avLst/>
          </a:prstGeom>
          <a:noFill/>
          <a:ln w="0">
            <a:noFill/>
          </a:ln>
        </p:spPr>
      </p:pic>
      <p:sp>
        <p:nvSpPr>
          <p:cNvPr id="86"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Where Statistics Is Actually Used</a:t>
            </a:r>
            <a:endParaRPr lang="en-US" sz="2600" b="0" u="none" strike="noStrike">
              <a:solidFill>
                <a:srgbClr val="000000"/>
              </a:solidFill>
              <a:effectLst/>
              <a:uFillTx/>
              <a:latin typeface="Arial"/>
            </a:endParaRPr>
          </a:p>
        </p:txBody>
      </p:sp>
      <p:sp>
        <p:nvSpPr>
          <p:cNvPr id="87" name="Shape 3"/>
          <p:cNvSpPr/>
          <p:nvPr/>
        </p:nvSpPr>
        <p:spPr>
          <a:xfrm>
            <a:off x="54864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 name="Shape 4"/>
          <p:cNvSpPr/>
          <p:nvPr/>
        </p:nvSpPr>
        <p:spPr>
          <a:xfrm>
            <a:off x="160488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9" name="Text 5"/>
          <p:cNvSpPr/>
          <p:nvPr/>
        </p:nvSpPr>
        <p:spPr>
          <a:xfrm>
            <a:off x="160488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90" name="Shape 6"/>
          <p:cNvSpPr/>
          <p:nvPr/>
        </p:nvSpPr>
        <p:spPr>
          <a:xfrm>
            <a:off x="731520" y="2606040"/>
            <a:ext cx="2239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 name="Text 7"/>
          <p:cNvSpPr/>
          <p:nvPr/>
        </p:nvSpPr>
        <p:spPr>
          <a:xfrm>
            <a:off x="73152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Medicine &amp; Research</a:t>
            </a:r>
            <a:endParaRPr lang="en-US" sz="1400" b="0" u="none" strike="noStrike">
              <a:solidFill>
                <a:srgbClr val="000000"/>
              </a:solidFill>
              <a:effectLst/>
              <a:uFillTx/>
              <a:latin typeface="Arial"/>
            </a:endParaRPr>
          </a:p>
        </p:txBody>
      </p:sp>
      <p:sp>
        <p:nvSpPr>
          <p:cNvPr id="92" name="Text 8"/>
          <p:cNvSpPr/>
          <p:nvPr/>
        </p:nvSpPr>
        <p:spPr>
          <a:xfrm>
            <a:off x="77724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Clinical trials, drug effectiveness, and public health decisions all rest on statistical evidence</a:t>
            </a:r>
            <a:endParaRPr lang="en-US" sz="1300" b="0" u="none" strike="noStrike">
              <a:solidFill>
                <a:srgbClr val="000000"/>
              </a:solidFill>
              <a:effectLst/>
              <a:uFillTx/>
              <a:latin typeface="Arial"/>
            </a:endParaRPr>
          </a:p>
        </p:txBody>
      </p:sp>
      <p:sp>
        <p:nvSpPr>
          <p:cNvPr id="93" name="Shape 9"/>
          <p:cNvSpPr/>
          <p:nvPr/>
        </p:nvSpPr>
        <p:spPr>
          <a:xfrm>
            <a:off x="338328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 name="Shape 10"/>
          <p:cNvSpPr/>
          <p:nvPr/>
        </p:nvSpPr>
        <p:spPr>
          <a:xfrm>
            <a:off x="443952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5" name="Text 11"/>
          <p:cNvSpPr/>
          <p:nvPr/>
        </p:nvSpPr>
        <p:spPr>
          <a:xfrm>
            <a:off x="44395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96" name="Shape 12"/>
          <p:cNvSpPr/>
          <p:nvPr/>
        </p:nvSpPr>
        <p:spPr>
          <a:xfrm>
            <a:off x="3566160" y="2606040"/>
            <a:ext cx="2239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7" name="Text 13"/>
          <p:cNvSpPr/>
          <p:nvPr/>
        </p:nvSpPr>
        <p:spPr>
          <a:xfrm>
            <a:off x="356616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Business</a:t>
            </a:r>
            <a:endParaRPr lang="en-US" sz="1400" b="0" u="none" strike="noStrike">
              <a:solidFill>
                <a:srgbClr val="000000"/>
              </a:solidFill>
              <a:effectLst/>
              <a:uFillTx/>
              <a:latin typeface="Arial"/>
            </a:endParaRPr>
          </a:p>
        </p:txBody>
      </p:sp>
      <p:sp>
        <p:nvSpPr>
          <p:cNvPr id="98" name="Text 14"/>
          <p:cNvSpPr/>
          <p:nvPr/>
        </p:nvSpPr>
        <p:spPr>
          <a:xfrm>
            <a:off x="361188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Sales forecasting, customer segmentation, and A/B testing a new feature or price</a:t>
            </a:r>
            <a:endParaRPr lang="en-US" sz="1300" b="0" u="none" strike="noStrike">
              <a:solidFill>
                <a:srgbClr val="000000"/>
              </a:solidFill>
              <a:effectLst/>
              <a:uFillTx/>
              <a:latin typeface="Arial"/>
            </a:endParaRPr>
          </a:p>
        </p:txBody>
      </p:sp>
      <p:sp>
        <p:nvSpPr>
          <p:cNvPr id="99" name="Shape 15"/>
          <p:cNvSpPr/>
          <p:nvPr/>
        </p:nvSpPr>
        <p:spPr>
          <a:xfrm>
            <a:off x="621792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 name="Shape 16"/>
          <p:cNvSpPr/>
          <p:nvPr/>
        </p:nvSpPr>
        <p:spPr>
          <a:xfrm>
            <a:off x="727416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 name="Text 17"/>
          <p:cNvSpPr/>
          <p:nvPr/>
        </p:nvSpPr>
        <p:spPr>
          <a:xfrm>
            <a:off x="727416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102" name="Shape 18"/>
          <p:cNvSpPr/>
          <p:nvPr/>
        </p:nvSpPr>
        <p:spPr>
          <a:xfrm>
            <a:off x="6400800" y="2606040"/>
            <a:ext cx="2239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3" name="Text 19"/>
          <p:cNvSpPr/>
          <p:nvPr/>
        </p:nvSpPr>
        <p:spPr>
          <a:xfrm>
            <a:off x="640080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Sports</a:t>
            </a:r>
            <a:endParaRPr lang="en-US" sz="1400" b="0" u="none" strike="noStrike">
              <a:solidFill>
                <a:srgbClr val="000000"/>
              </a:solidFill>
              <a:effectLst/>
              <a:uFillTx/>
              <a:latin typeface="Arial"/>
            </a:endParaRPr>
          </a:p>
        </p:txBody>
      </p:sp>
      <p:sp>
        <p:nvSpPr>
          <p:cNvPr id="104" name="Text 20"/>
          <p:cNvSpPr/>
          <p:nvPr/>
        </p:nvSpPr>
        <p:spPr>
          <a:xfrm>
            <a:off x="644652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Player performance metrics, game strategy, and predicting match outcomes</a:t>
            </a:r>
            <a:endParaRPr lang="en-US" sz="1300" b="0" u="none" strike="noStrike">
              <a:solidFill>
                <a:srgbClr val="000000"/>
              </a:solidFill>
              <a:effectLst/>
              <a:uFillTx/>
              <a:latin typeface="Arial"/>
            </a:endParaRPr>
          </a:p>
        </p:txBody>
      </p:sp>
      <p:sp>
        <p:nvSpPr>
          <p:cNvPr id="105" name="Shape 21"/>
          <p:cNvSpPr/>
          <p:nvPr/>
        </p:nvSpPr>
        <p:spPr>
          <a:xfrm>
            <a:off x="905256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 name="Shape 22"/>
          <p:cNvSpPr/>
          <p:nvPr/>
        </p:nvSpPr>
        <p:spPr>
          <a:xfrm>
            <a:off x="10108800" y="1920240"/>
            <a:ext cx="493560" cy="493560"/>
          </a:xfrm>
          <a:prstGeom prst="roundRect">
            <a:avLst>
              <a:gd name="adj" fmla="val 18519"/>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 name="Text 23"/>
          <p:cNvSpPr/>
          <p:nvPr/>
        </p:nvSpPr>
        <p:spPr>
          <a:xfrm>
            <a:off x="101088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4</a:t>
            </a:r>
            <a:endParaRPr lang="en-US" sz="1600" b="0" u="none" strike="noStrike">
              <a:solidFill>
                <a:srgbClr val="000000"/>
              </a:solidFill>
              <a:effectLst/>
              <a:uFillTx/>
              <a:latin typeface="Arial"/>
            </a:endParaRPr>
          </a:p>
        </p:txBody>
      </p:sp>
      <p:sp>
        <p:nvSpPr>
          <p:cNvPr id="108" name="Shape 24"/>
          <p:cNvSpPr/>
          <p:nvPr/>
        </p:nvSpPr>
        <p:spPr>
          <a:xfrm>
            <a:off x="9235440" y="2606040"/>
            <a:ext cx="2239920" cy="456840"/>
          </a:xfrm>
          <a:prstGeom prst="roundRect">
            <a:avLst>
              <a:gd name="adj" fmla="val 50000"/>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 name="Text 25"/>
          <p:cNvSpPr/>
          <p:nvPr/>
        </p:nvSpPr>
        <p:spPr>
          <a:xfrm>
            <a:off x="923544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Government &amp; Policy</a:t>
            </a:r>
            <a:endParaRPr lang="en-US" sz="1400" b="0" u="none" strike="noStrike">
              <a:solidFill>
                <a:srgbClr val="000000"/>
              </a:solidFill>
              <a:effectLst/>
              <a:uFillTx/>
              <a:latin typeface="Arial"/>
            </a:endParaRPr>
          </a:p>
        </p:txBody>
      </p:sp>
      <p:sp>
        <p:nvSpPr>
          <p:cNvPr id="110" name="Text 26"/>
          <p:cNvSpPr/>
          <p:nvPr/>
        </p:nvSpPr>
        <p:spPr>
          <a:xfrm>
            <a:off x="928116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Census data, unemployment rates, and evidence behind public policy decisions</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07</a:t>
            </a:r>
            <a:endParaRPr lang="en-US" sz="900" b="0" u="none" strike="noStrike">
              <a:solidFill>
                <a:srgbClr val="000000"/>
              </a:solidFill>
              <a:effectLst/>
              <a:uFillTx/>
              <a:latin typeface="Arial"/>
            </a:endParaRPr>
          </a:p>
        </p:txBody>
      </p:sp>
      <p:pic>
        <p:nvPicPr>
          <p:cNvPr id="113" name="Image 0" descr="/home/claude/assets/logo_crop.png"/>
          <p:cNvPicPr/>
          <p:nvPr/>
        </p:nvPicPr>
        <p:blipFill>
          <a:blip r:embed="rId3"/>
          <a:stretch/>
        </p:blipFill>
        <p:spPr>
          <a:xfrm>
            <a:off x="11201400" y="384120"/>
            <a:ext cx="456840" cy="511560"/>
          </a:xfrm>
          <a:prstGeom prst="rect">
            <a:avLst/>
          </a:prstGeom>
          <a:noFill/>
          <a:ln w="0">
            <a:noFill/>
          </a:ln>
        </p:spPr>
      </p:pic>
      <p:sp>
        <p:nvSpPr>
          <p:cNvPr id="11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Descriptive vs. Inferential Statistics</a:t>
            </a:r>
            <a:endParaRPr lang="en-US" sz="2600" b="0" u="none" strike="noStrike">
              <a:solidFill>
                <a:srgbClr val="000000"/>
              </a:solidFill>
              <a:effectLst/>
              <a:uFillTx/>
              <a:latin typeface="Arial"/>
            </a:endParaRPr>
          </a:p>
        </p:txBody>
      </p:sp>
      <p:sp>
        <p:nvSpPr>
          <p:cNvPr id="115" name="Shape 3"/>
          <p:cNvSpPr/>
          <p:nvPr/>
        </p:nvSpPr>
        <p:spPr>
          <a:xfrm>
            <a:off x="54864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 name="Shape 4"/>
          <p:cNvSpPr/>
          <p:nvPr/>
        </p:nvSpPr>
        <p:spPr>
          <a:xfrm>
            <a:off x="777240" y="1965960"/>
            <a:ext cx="50288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7" name="Text 5"/>
          <p:cNvSpPr/>
          <p:nvPr/>
        </p:nvSpPr>
        <p:spPr>
          <a:xfrm>
            <a:off x="77724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Descriptive Statistics</a:t>
            </a:r>
            <a:endParaRPr lang="en-US" sz="1400" b="0" u="none" strike="noStrike">
              <a:solidFill>
                <a:srgbClr val="000000"/>
              </a:solidFill>
              <a:effectLst/>
              <a:uFillTx/>
              <a:latin typeface="Arial"/>
            </a:endParaRPr>
          </a:p>
        </p:txBody>
      </p:sp>
      <p:sp>
        <p:nvSpPr>
          <p:cNvPr id="118" name="Text 6"/>
          <p:cNvSpPr/>
          <p:nvPr/>
        </p:nvSpPr>
        <p:spPr>
          <a:xfrm>
            <a:off x="82296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03040" indent="-203040" defTabSz="914400">
              <a:lnSpc>
                <a:spcPct val="100000"/>
              </a:lnSpc>
              <a:spcAft>
                <a:spcPts val="901"/>
              </a:spcAft>
              <a:buClr>
                <a:srgbClr val="1B1B20"/>
              </a:buClr>
              <a:buFont typeface="Symbol" charset="2"/>
              <a:buChar char=""/>
            </a:pPr>
            <a:r>
              <a:rPr lang="en-US" sz="1400" b="0" u="none" strike="noStrike">
                <a:solidFill>
                  <a:srgbClr val="1B1B20"/>
                </a:solidFill>
                <a:effectLst/>
                <a:uFillTx/>
                <a:latin typeface="Hanken Grotesk"/>
                <a:ea typeface="Hanken Grotesk"/>
              </a:rPr>
              <a:t>Describes and summarizes the exact data you already have — nothing more</a:t>
            </a:r>
            <a:endParaRPr lang="en-US" sz="1400" b="0" u="none" strike="noStrike">
              <a:solidFill>
                <a:srgbClr val="000000"/>
              </a:solidFill>
              <a:effectLst/>
              <a:uFillTx/>
              <a:latin typeface="Arial"/>
            </a:endParaRPr>
          </a:p>
          <a:p>
            <a:pPr marL="203040" indent="-203040" defTabSz="914400">
              <a:lnSpc>
                <a:spcPct val="100000"/>
              </a:lnSpc>
              <a:spcAft>
                <a:spcPts val="901"/>
              </a:spcAft>
              <a:buClr>
                <a:srgbClr val="1B1B20"/>
              </a:buClr>
              <a:buFont typeface="Symbol" charset="2"/>
              <a:buChar char=""/>
            </a:pPr>
            <a:r>
              <a:rPr lang="en-US" sz="1400" b="0" u="none" strike="noStrike">
                <a:solidFill>
                  <a:srgbClr val="1B1B20"/>
                </a:solidFill>
                <a:effectLst/>
                <a:uFillTx/>
                <a:latin typeface="Hanken Grotesk"/>
                <a:ea typeface="Hanken Grotesk"/>
              </a:rPr>
              <a:t>Answers "what happened in THIS data?" — the average, the spread, the shape</a:t>
            </a:r>
            <a:endParaRPr lang="en-US" sz="1400" b="0" u="none" strike="noStrike">
              <a:solidFill>
                <a:srgbClr val="000000"/>
              </a:solidFill>
              <a:effectLst/>
              <a:uFillTx/>
              <a:latin typeface="Arial"/>
            </a:endParaRPr>
          </a:p>
          <a:p>
            <a:pPr marL="203040" indent="-203040" defTabSz="914400">
              <a:lnSpc>
                <a:spcPct val="100000"/>
              </a:lnSpc>
              <a:spcAft>
                <a:spcPts val="901"/>
              </a:spcAft>
              <a:buClr>
                <a:srgbClr val="1B1B20"/>
              </a:buClr>
              <a:buFont typeface="Symbol" charset="2"/>
              <a:buChar char=""/>
            </a:pPr>
            <a:r>
              <a:rPr lang="en-US" sz="1400" b="0" u="none" strike="noStrike">
                <a:solidFill>
                  <a:srgbClr val="1B1B20"/>
                </a:solidFill>
                <a:effectLst/>
                <a:uFillTx/>
                <a:latin typeface="Hanken Grotesk"/>
                <a:ea typeface="Hanken Grotesk"/>
              </a:rPr>
              <a:t>This entire session, and the next, live here</a:t>
            </a:r>
            <a:endParaRPr lang="en-US" sz="1400" b="0" u="none" strike="noStrike">
              <a:solidFill>
                <a:srgbClr val="000000"/>
              </a:solidFill>
              <a:effectLst/>
              <a:uFillTx/>
              <a:latin typeface="Arial"/>
            </a:endParaRPr>
          </a:p>
        </p:txBody>
      </p:sp>
      <p:sp>
        <p:nvSpPr>
          <p:cNvPr id="119" name="Shape 7"/>
          <p:cNvSpPr/>
          <p:nvPr/>
        </p:nvSpPr>
        <p:spPr>
          <a:xfrm>
            <a:off x="617220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 name="Shape 8"/>
          <p:cNvSpPr/>
          <p:nvPr/>
        </p:nvSpPr>
        <p:spPr>
          <a:xfrm>
            <a:off x="6400800" y="1965960"/>
            <a:ext cx="502884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 name="Text 9"/>
          <p:cNvSpPr/>
          <p:nvPr/>
        </p:nvSpPr>
        <p:spPr>
          <a:xfrm>
            <a:off x="640080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Inferential Statistics</a:t>
            </a:r>
            <a:endParaRPr lang="en-US" sz="1400" b="0" u="none" strike="noStrike">
              <a:solidFill>
                <a:srgbClr val="000000"/>
              </a:solidFill>
              <a:effectLst/>
              <a:uFillTx/>
              <a:latin typeface="Arial"/>
            </a:endParaRPr>
          </a:p>
        </p:txBody>
      </p:sp>
      <p:sp>
        <p:nvSpPr>
          <p:cNvPr id="122" name="Text 10"/>
          <p:cNvSpPr/>
          <p:nvPr/>
        </p:nvSpPr>
        <p:spPr>
          <a:xfrm>
            <a:off x="644652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03040" indent="-203040" defTabSz="914400">
              <a:lnSpc>
                <a:spcPct val="100000"/>
              </a:lnSpc>
              <a:spcAft>
                <a:spcPts val="901"/>
              </a:spcAft>
              <a:buClr>
                <a:srgbClr val="1B1B20"/>
              </a:buClr>
              <a:buFont typeface="Symbol" charset="2"/>
              <a:buChar char=""/>
            </a:pPr>
            <a:r>
              <a:rPr lang="en-US" sz="1400" b="0" u="none" strike="noStrike">
                <a:solidFill>
                  <a:srgbClr val="1B1B20"/>
                </a:solidFill>
                <a:effectLst/>
                <a:uFillTx/>
                <a:latin typeface="Hanken Grotesk"/>
                <a:ea typeface="Hanken Grotesk"/>
              </a:rPr>
              <a:t>Uses a smaller sample to draw conclusions about a larger population you didn’t fully measure</a:t>
            </a:r>
            <a:endParaRPr lang="en-US" sz="1400" b="0" u="none" strike="noStrike">
              <a:solidFill>
                <a:srgbClr val="000000"/>
              </a:solidFill>
              <a:effectLst/>
              <a:uFillTx/>
              <a:latin typeface="Arial"/>
            </a:endParaRPr>
          </a:p>
          <a:p>
            <a:pPr marL="203040" indent="-203040" defTabSz="914400">
              <a:lnSpc>
                <a:spcPct val="100000"/>
              </a:lnSpc>
              <a:spcAft>
                <a:spcPts val="901"/>
              </a:spcAft>
              <a:buClr>
                <a:srgbClr val="1B1B20"/>
              </a:buClr>
              <a:buFont typeface="Symbol" charset="2"/>
              <a:buChar char=""/>
            </a:pPr>
            <a:r>
              <a:rPr lang="en-US" sz="1400" b="0" u="none" strike="noStrike">
                <a:solidFill>
                  <a:srgbClr val="1B1B20"/>
                </a:solidFill>
                <a:effectLst/>
                <a:uFillTx/>
                <a:latin typeface="Hanken Grotesk"/>
                <a:ea typeface="Hanken Grotesk"/>
              </a:rPr>
              <a:t>Answers "what can I confidently CONCLUDE, beyond just this data?" — confidence, significance, hypothesis tests</a:t>
            </a:r>
            <a:endParaRPr lang="en-US" sz="1400" b="0" u="none" strike="noStrike">
              <a:solidFill>
                <a:srgbClr val="000000"/>
              </a:solidFill>
              <a:effectLst/>
              <a:uFillTx/>
              <a:latin typeface="Arial"/>
            </a:endParaRPr>
          </a:p>
          <a:p>
            <a:pPr marL="203040" indent="-203040" defTabSz="914400">
              <a:lnSpc>
                <a:spcPct val="100000"/>
              </a:lnSpc>
              <a:spcAft>
                <a:spcPts val="901"/>
              </a:spcAft>
              <a:buClr>
                <a:srgbClr val="1B1B20"/>
              </a:buClr>
              <a:buFont typeface="Symbol" charset="2"/>
              <a:buChar char=""/>
            </a:pPr>
            <a:r>
              <a:rPr lang="en-US" sz="1400" b="0" u="none" strike="noStrike">
                <a:solidFill>
                  <a:srgbClr val="1B1B20"/>
                </a:solidFill>
                <a:effectLst/>
                <a:uFillTx/>
                <a:latin typeface="Hanken Grotesk"/>
                <a:ea typeface="Hanken Grotesk"/>
              </a:rPr>
              <a:t>This is where the course goes in Sessions 21 and 22</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23"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4"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08</a:t>
            </a:r>
            <a:endParaRPr lang="en-US" sz="900" b="0" u="none" strike="noStrike">
              <a:solidFill>
                <a:srgbClr val="000000"/>
              </a:solidFill>
              <a:effectLst/>
              <a:uFillTx/>
              <a:latin typeface="Arial"/>
            </a:endParaRPr>
          </a:p>
        </p:txBody>
      </p:sp>
      <p:pic>
        <p:nvPicPr>
          <p:cNvPr id="125" name="Image 0" descr="/home/claude/assets/logo_crop.png"/>
          <p:cNvPicPr/>
          <p:nvPr/>
        </p:nvPicPr>
        <p:blipFill>
          <a:blip r:embed="rId3"/>
          <a:stretch/>
        </p:blipFill>
        <p:spPr>
          <a:xfrm>
            <a:off x="11201400" y="384120"/>
            <a:ext cx="456840" cy="511560"/>
          </a:xfrm>
          <a:prstGeom prst="rect">
            <a:avLst/>
          </a:prstGeom>
          <a:noFill/>
          <a:ln w="0">
            <a:noFill/>
          </a:ln>
        </p:spPr>
      </p:pic>
      <p:sp>
        <p:nvSpPr>
          <p:cNvPr id="126"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Population vs. Sample</a:t>
            </a:r>
            <a:endParaRPr lang="en-US" sz="2600" b="0" u="none" strike="noStrike">
              <a:solidFill>
                <a:srgbClr val="000000"/>
              </a:solidFill>
              <a:effectLst/>
              <a:uFillTx/>
              <a:latin typeface="Arial"/>
            </a:endParaRPr>
          </a:p>
        </p:txBody>
      </p:sp>
      <p:sp>
        <p:nvSpPr>
          <p:cNvPr id="127"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8"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130"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The whole group, vs. a slice of it</a:t>
            </a:r>
            <a:endParaRPr lang="en-US" sz="1700" b="0" u="none" strike="noStrike">
              <a:solidFill>
                <a:srgbClr val="000000"/>
              </a:solidFill>
              <a:effectLst/>
              <a:uFillTx/>
              <a:latin typeface="Arial"/>
            </a:endParaRPr>
          </a:p>
        </p:txBody>
      </p:sp>
      <p:sp>
        <p:nvSpPr>
          <p:cNvPr id="131"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 population is every single member of the group you actually care about — every voter, every customer, every product ever made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 sample is a smaller, manageable subset of that population, actually measured — usually because measuring the entire population is impossible or impractical</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Almost everything in real data science is a sample — you rarely have data on literally everyone or everything</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single distinction is the entire reason inferential statistics needs to exist at all — keep it in mind, it comes back constantly</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3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3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09</a:t>
            </a:r>
            <a:endParaRPr lang="en-US" sz="900" b="0" u="none" strike="noStrike">
              <a:solidFill>
                <a:srgbClr val="000000"/>
              </a:solidFill>
              <a:effectLst/>
              <a:uFillTx/>
              <a:latin typeface="Arial"/>
            </a:endParaRPr>
          </a:p>
        </p:txBody>
      </p:sp>
      <p:pic>
        <p:nvPicPr>
          <p:cNvPr id="134" name="Image 0" descr="/home/claude/assets/logo_crop.png"/>
          <p:cNvPicPr/>
          <p:nvPr/>
        </p:nvPicPr>
        <p:blipFill>
          <a:blip r:embed="rId3"/>
          <a:stretch/>
        </p:blipFill>
        <p:spPr>
          <a:xfrm>
            <a:off x="11201400" y="384120"/>
            <a:ext cx="456840" cy="511560"/>
          </a:xfrm>
          <a:prstGeom prst="rect">
            <a:avLst/>
          </a:prstGeom>
          <a:noFill/>
          <a:ln w="0">
            <a:noFill/>
          </a:ln>
        </p:spPr>
      </p:pic>
      <p:sp>
        <p:nvSpPr>
          <p:cNvPr id="13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Sample vs. Population in Python</a:t>
            </a:r>
            <a:endParaRPr lang="en-US" sz="2600" b="0" u="none" strike="noStrike">
              <a:solidFill>
                <a:srgbClr val="000000"/>
              </a:solidFill>
              <a:effectLst/>
              <a:uFillTx/>
              <a:latin typeface="Arial"/>
            </a:endParaRPr>
          </a:p>
        </p:txBody>
      </p:sp>
      <p:sp>
        <p:nvSpPr>
          <p:cNvPr id="136"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We invent a population of 10,000 scores, then measure only 100 of them.</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The sample mean lands close to the population mean — but almost never exactly on it.</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That small gap is exactly why inferential statistics exists.</a:t>
            </a:r>
            <a:endParaRPr lang="en-US" sz="2000" b="0" u="none" strike="noStrike" dirty="0">
              <a:solidFill>
                <a:srgbClr val="000000"/>
              </a:solidFill>
              <a:effectLst/>
              <a:uFillTx/>
              <a:latin typeface="Arial"/>
              <a:cs typeface="Arial"/>
            </a:endParaRPr>
          </a:p>
        </p:txBody>
      </p:sp>
      <p:sp>
        <p:nvSpPr>
          <p:cNvPr id="137"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8"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39"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40"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41"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u="none" strike="noStrike">
                <a:solidFill>
                  <a:srgbClr val="F1F5F9"/>
                </a:solidFill>
                <a:effectLst/>
                <a:uFillTx/>
                <a:latin typeface="Cantarell"/>
                <a:ea typeface="Consolas"/>
              </a:rPr>
              <a:t>import numpy as np</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rng = np.random.default_rng(42)</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population = rng.normal(70, 10, size=10_000)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sample = rng.choice(population, size=100,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replace=False)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print(round(population.mean(), 2))  </a:t>
            </a:r>
            <a:r>
              <a:rPr lang="en-US" sz="1300" b="0" i="1" u="none" strike="noStrike">
                <a:solidFill>
                  <a:srgbClr val="94A3B8"/>
                </a:solidFill>
                <a:effectLst/>
                <a:uFillTx/>
                <a:latin typeface="Cantarell"/>
                <a:ea typeface="Consolas"/>
              </a:rPr>
              <a:t># 69.9</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print(round(sample.mean(), 2))    </a:t>
            </a:r>
            <a:r>
              <a:rPr lang="en-US" sz="1300" b="0" i="1" u="none" strike="noStrike">
                <a:solidFill>
                  <a:srgbClr val="94A3B8"/>
                </a:solidFill>
                <a:effectLst/>
                <a:uFillTx/>
                <a:latin typeface="Cantarell"/>
                <a:ea typeface="Consolas"/>
              </a:rPr>
              <a:t># 71.11</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print(len(population), len(sample))  </a:t>
            </a:r>
            <a:r>
              <a:rPr lang="en-US" sz="1300" b="0" i="1" u="none" strike="noStrike">
                <a:solidFill>
                  <a:srgbClr val="94A3B8"/>
                </a:solidFill>
                <a:effectLst/>
                <a:uFillTx/>
                <a:latin typeface="Cantarell"/>
                <a:ea typeface="Consolas"/>
              </a:rPr>
              <a:t># 10000 100</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4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4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10</a:t>
            </a:r>
            <a:endParaRPr lang="en-US" sz="900" b="0" u="none" strike="noStrike">
              <a:solidFill>
                <a:srgbClr val="000000"/>
              </a:solidFill>
              <a:effectLst/>
              <a:uFillTx/>
              <a:latin typeface="Arial"/>
            </a:endParaRPr>
          </a:p>
        </p:txBody>
      </p:sp>
      <p:pic>
        <p:nvPicPr>
          <p:cNvPr id="144" name="Image 0" descr="/home/claude/assets/logo_crop.png"/>
          <p:cNvPicPr/>
          <p:nvPr/>
        </p:nvPicPr>
        <p:blipFill>
          <a:blip r:embed="rId3"/>
          <a:stretch/>
        </p:blipFill>
        <p:spPr>
          <a:xfrm>
            <a:off x="11201400" y="384120"/>
            <a:ext cx="456840" cy="511560"/>
          </a:xfrm>
          <a:prstGeom prst="rect">
            <a:avLst/>
          </a:prstGeom>
          <a:noFill/>
          <a:ln w="0">
            <a:noFill/>
          </a:ln>
        </p:spPr>
      </p:pic>
      <p:sp>
        <p:nvSpPr>
          <p:cNvPr id="14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Dependent vs. Independent Variables</a:t>
            </a:r>
            <a:endParaRPr lang="en-US" sz="2600" b="0" u="none" strike="noStrike">
              <a:solidFill>
                <a:srgbClr val="000000"/>
              </a:solidFill>
              <a:effectLst/>
              <a:uFillTx/>
              <a:latin typeface="Arial"/>
            </a:endParaRPr>
          </a:p>
        </p:txBody>
      </p:sp>
      <p:sp>
        <p:nvSpPr>
          <p:cNvPr id="146"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7"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8"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149"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Cause, and the effect</a:t>
            </a:r>
            <a:endParaRPr lang="en-US" sz="1700" b="0" u="none" strike="noStrike">
              <a:solidFill>
                <a:srgbClr val="000000"/>
              </a:solidFill>
              <a:effectLst/>
              <a:uFillTx/>
              <a:latin typeface="Arial"/>
            </a:endParaRPr>
          </a:p>
        </p:txBody>
      </p:sp>
      <p:sp>
        <p:nvSpPr>
          <p:cNvPr id="150"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An independent variable is the one you change, control, or use to explain something — it stands on its own, unaffected by the other variables in the study</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 dependent variable is the one you measure as an outcome — its value "depends on" the </a:t>
            </a:r>
            <a:r>
              <a:rPr lang="en-US" sz="2000" dirty="0">
                <a:solidFill>
                  <a:srgbClr val="1B1B20"/>
                </a:solidFill>
                <a:latin typeface="Hanken Grotesk"/>
                <a:ea typeface="Hanken Grotesk"/>
              </a:rPr>
              <a:t>independent</a:t>
            </a:r>
            <a:r>
              <a:rPr lang="en-US" sz="2000" b="0" u="none" strike="noStrike" dirty="0">
                <a:solidFill>
                  <a:srgbClr val="1B1B20"/>
                </a:solidFill>
                <a:effectLst/>
                <a:uFillTx/>
                <a:latin typeface="Hanken Grotesk"/>
                <a:ea typeface="Hanken Grotesk"/>
              </a:rPr>
              <a:t> variable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In "does study time affect exam score," study time is independent, exam score is dependent — the score depends on the hours studied, not the other way around</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distinction quietly decides which axis a variable belongs on in a scatter plot, and which side of a formula it belongs on in a regression — both coming up soon</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5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5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11</a:t>
            </a:r>
            <a:endParaRPr lang="en-US" sz="900" b="0" u="none" strike="noStrike">
              <a:solidFill>
                <a:srgbClr val="000000"/>
              </a:solidFill>
              <a:effectLst/>
              <a:uFillTx/>
              <a:latin typeface="Arial"/>
            </a:endParaRPr>
          </a:p>
        </p:txBody>
      </p:sp>
      <p:pic>
        <p:nvPicPr>
          <p:cNvPr id="153" name="Image 0" descr="/home/claude/assets/logo_crop.png"/>
          <p:cNvPicPr/>
          <p:nvPr/>
        </p:nvPicPr>
        <p:blipFill>
          <a:blip r:embed="rId3"/>
          <a:stretch/>
        </p:blipFill>
        <p:spPr>
          <a:xfrm>
            <a:off x="11201400" y="384120"/>
            <a:ext cx="456840" cy="511560"/>
          </a:xfrm>
          <a:prstGeom prst="rect">
            <a:avLst/>
          </a:prstGeom>
          <a:noFill/>
          <a:ln w="0">
            <a:noFill/>
          </a:ln>
        </p:spPr>
      </p:pic>
      <p:sp>
        <p:nvSpPr>
          <p:cNvPr id="15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Independent &amp; Dependent Variables in a Table</a:t>
            </a:r>
            <a:endParaRPr lang="en-US" sz="2600" b="0" u="none" strike="noStrike">
              <a:solidFill>
                <a:srgbClr val="000000"/>
              </a:solidFill>
              <a:effectLst/>
              <a:uFillTx/>
              <a:latin typeface="Arial"/>
            </a:endParaRPr>
          </a:p>
        </p:txBody>
      </p:sp>
      <p:sp>
        <p:nvSpPr>
          <p:cNvPr id="155"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pandas stores data as a table: each column is one variable.</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Put the independent variable in x and the dependent variable in y — you will reuse this habit in every ML model.</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Hanken Grotesk"/>
                <a:ea typeface="Hanken Grotesk"/>
              </a:rPr>
              <a:t>df</a:t>
            </a:r>
            <a:r>
              <a:rPr lang="en-US" sz="2000" b="0" u="none" strike="noStrike" dirty="0">
                <a:solidFill>
                  <a:srgbClr val="1B1B20"/>
                </a:solidFill>
                <a:effectLst/>
                <a:uFillTx/>
                <a:latin typeface="Hanken Grotesk"/>
                <a:ea typeface="Hanken Grotesk"/>
              </a:rPr>
              <a:t>["hours"] simply pulls out one column.</a:t>
            </a:r>
            <a:endParaRPr lang="en-US" sz="2000" b="0" u="none" strike="noStrike" dirty="0">
              <a:solidFill>
                <a:srgbClr val="000000"/>
              </a:solidFill>
              <a:effectLst/>
              <a:uFillTx/>
              <a:latin typeface="Arial"/>
              <a:cs typeface="Arial"/>
            </a:endParaRPr>
          </a:p>
        </p:txBody>
      </p:sp>
      <p:sp>
        <p:nvSpPr>
          <p:cNvPr id="156"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7"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58"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59"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60"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pandas as pd</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df = pd.DataFrame({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"hours": [1, 2, 3, 4, 5],       </a:t>
            </a:r>
            <a:r>
              <a:rPr lang="en-US" sz="1200" b="0" i="1" u="none" strike="noStrike">
                <a:solidFill>
                  <a:srgbClr val="94A3B8"/>
                </a:solidFill>
                <a:effectLst/>
                <a:uFillTx/>
                <a:latin typeface="Cantarell"/>
                <a:ea typeface="Consolas"/>
              </a:rPr>
              <a:t># independent (x)</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"score": [52, 60, 58, 71, 75],  </a:t>
            </a:r>
            <a:r>
              <a:rPr lang="en-US" sz="1200" b="0" i="1" u="none" strike="noStrike">
                <a:solidFill>
                  <a:srgbClr val="94A3B8"/>
                </a:solidFill>
                <a:effectLst/>
                <a:uFillTx/>
                <a:latin typeface="Cantarell"/>
                <a:ea typeface="Consolas"/>
              </a:rPr>
              <a:t># dependent (y)</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x = df["hours"]   </a:t>
            </a:r>
            <a:r>
              <a:rPr lang="en-US" sz="1200" b="0" i="1" u="none" strike="noStrike">
                <a:solidFill>
                  <a:srgbClr val="94A3B8"/>
                </a:solidFill>
                <a:effectLst/>
                <a:uFillTx/>
                <a:latin typeface="Cantarell"/>
                <a:ea typeface="Consolas"/>
              </a:rPr>
              <a:t># what we change or explain</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y = df["score"]   </a:t>
            </a:r>
            <a:r>
              <a:rPr lang="en-US" sz="1200" b="0" i="1" u="none" strike="noStrike">
                <a:solidFill>
                  <a:srgbClr val="94A3B8"/>
                </a:solidFill>
                <a:effectLst/>
                <a:uFillTx/>
                <a:latin typeface="Cantarell"/>
                <a:ea typeface="Consolas"/>
              </a:rPr>
              <a:t># what we measure as outcome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print(x.mean(), y.mean())         </a:t>
            </a:r>
            <a:r>
              <a:rPr lang="en-US" sz="1200" b="0" i="1" u="none" strike="noStrike">
                <a:solidFill>
                  <a:srgbClr val="94A3B8"/>
                </a:solidFill>
                <a:effectLst/>
                <a:uFillTx/>
                <a:latin typeface="Cantarell"/>
                <a:ea typeface="Consolas"/>
              </a:rPr>
              <a:t># 3.0 63.2</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print(df.shape)                   </a:t>
            </a:r>
            <a:r>
              <a:rPr lang="en-US" sz="1200" b="0" i="1" u="none" strike="noStrike">
                <a:solidFill>
                  <a:srgbClr val="94A3B8"/>
                </a:solidFill>
                <a:effectLst/>
                <a:uFillTx/>
                <a:latin typeface="Cantarell"/>
                <a:ea typeface="Consolas"/>
              </a:rPr>
              <a:t># (5, 2)</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6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6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12</a:t>
            </a:r>
            <a:endParaRPr lang="en-US" sz="900" b="0" u="none" strike="noStrike">
              <a:solidFill>
                <a:srgbClr val="000000"/>
              </a:solidFill>
              <a:effectLst/>
              <a:uFillTx/>
              <a:latin typeface="Arial"/>
            </a:endParaRPr>
          </a:p>
        </p:txBody>
      </p:sp>
      <p:pic>
        <p:nvPicPr>
          <p:cNvPr id="163" name="Image 0" descr="/home/claude/assets/logo_crop.png"/>
          <p:cNvPicPr/>
          <p:nvPr/>
        </p:nvPicPr>
        <p:blipFill>
          <a:blip r:embed="rId3"/>
          <a:stretch/>
        </p:blipFill>
        <p:spPr>
          <a:xfrm>
            <a:off x="11201400" y="384120"/>
            <a:ext cx="456840" cy="511560"/>
          </a:xfrm>
          <a:prstGeom prst="rect">
            <a:avLst/>
          </a:prstGeom>
          <a:noFill/>
          <a:ln w="0">
            <a:noFill/>
          </a:ln>
        </p:spPr>
      </p:pic>
      <p:sp>
        <p:nvSpPr>
          <p:cNvPr id="164"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5"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66"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PART 1</a:t>
            </a:r>
            <a:endParaRPr lang="en-US" sz="900" b="0" u="none" strike="noStrike">
              <a:solidFill>
                <a:srgbClr val="000000"/>
              </a:solidFill>
              <a:effectLst/>
              <a:uFillTx/>
              <a:latin typeface="Arial"/>
            </a:endParaRPr>
          </a:p>
        </p:txBody>
      </p:sp>
      <p:sp>
        <p:nvSpPr>
          <p:cNvPr id="167"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Practice Set — What Is Statistics?</a:t>
            </a:r>
            <a:endParaRPr lang="en-US" sz="2200" b="0" u="none" strike="noStrike">
              <a:solidFill>
                <a:srgbClr val="000000"/>
              </a:solidFill>
              <a:effectLst/>
              <a:uFillTx/>
              <a:latin typeface="Arial"/>
            </a:endParaRPr>
          </a:p>
        </p:txBody>
      </p:sp>
      <p:sp>
        <p:nvSpPr>
          <p:cNvPr id="168"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Try these yourself first — pencil, paper or a quick Python cell.</a:t>
            </a:r>
            <a:endParaRPr lang="en-US" sz="1200" b="0" u="none" strike="noStrike">
              <a:solidFill>
                <a:srgbClr val="000000"/>
              </a:solidFill>
              <a:effectLst/>
              <a:uFillTx/>
              <a:latin typeface="Arial"/>
            </a:endParaRPr>
          </a:p>
        </p:txBody>
      </p:sp>
      <p:sp>
        <p:nvSpPr>
          <p:cNvPr id="169"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0"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1"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72"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Name one real decision (personal, business, or public) that was likely made using statistics</a:t>
            </a:r>
            <a:endParaRPr lang="en-US" sz="1400" b="0" u="none" strike="noStrike">
              <a:solidFill>
                <a:srgbClr val="000000"/>
              </a:solidFill>
              <a:effectLst/>
              <a:uFillTx/>
              <a:latin typeface="Arial"/>
            </a:endParaRPr>
          </a:p>
        </p:txBody>
      </p:sp>
      <p:sp>
        <p:nvSpPr>
          <p:cNvPr id="173"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4"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5"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76"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a survey of 200 university students about study habits, identify the population and the sample</a:t>
            </a:r>
            <a:endParaRPr lang="en-US" sz="1400" b="0" u="none" strike="noStrike">
              <a:solidFill>
                <a:srgbClr val="000000"/>
              </a:solidFill>
              <a:effectLst/>
              <a:uFillTx/>
              <a:latin typeface="Arial"/>
            </a:endParaRPr>
          </a:p>
        </p:txBody>
      </p:sp>
      <p:sp>
        <p:nvSpPr>
          <p:cNvPr id="177"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8"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9"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80"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in your own words the difference between descriptive and inferential statistics, using your own example for each</a:t>
            </a:r>
            <a:endParaRPr lang="en-US" sz="1400" b="0" u="none" strike="noStrike">
              <a:solidFill>
                <a:srgbClr val="000000"/>
              </a:solidFill>
              <a:effectLst/>
              <a:uFillTx/>
              <a:latin typeface="Arial"/>
            </a:endParaRPr>
          </a:p>
        </p:txBody>
      </p:sp>
      <p:sp>
        <p:nvSpPr>
          <p:cNvPr id="181" name="Shape 19"/>
          <p:cNvSpPr/>
          <p:nvPr/>
        </p:nvSpPr>
        <p:spPr>
          <a:xfrm>
            <a:off x="548640" y="47638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2" name="Shape 20"/>
          <p:cNvSpPr/>
          <p:nvPr/>
        </p:nvSpPr>
        <p:spPr>
          <a:xfrm>
            <a:off x="731520" y="500184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3" name="Text 21"/>
          <p:cNvSpPr/>
          <p:nvPr/>
        </p:nvSpPr>
        <p:spPr>
          <a:xfrm>
            <a:off x="731520" y="50018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184" name="Text 22"/>
          <p:cNvSpPr/>
          <p:nvPr/>
        </p:nvSpPr>
        <p:spPr>
          <a:xfrm>
            <a:off x="1234440" y="47638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"does fertilizer amount affect plant height," identify the independent and dependent variable, and explain your reasoning</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85"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6"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7"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PART 2</a:t>
            </a:r>
            <a:endParaRPr lang="en-US" sz="1400" b="0" u="none" strike="noStrike">
              <a:solidFill>
                <a:srgbClr val="FFFFFF"/>
              </a:solidFill>
              <a:effectLst/>
              <a:uFillTx/>
              <a:latin typeface="Arial"/>
            </a:endParaRPr>
          </a:p>
        </p:txBody>
      </p:sp>
      <p:sp>
        <p:nvSpPr>
          <p:cNvPr id="188"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Collecting &amp; Measuring Data</a:t>
            </a:r>
            <a:endParaRPr lang="en-US" sz="4000" b="0" u="none" strike="noStrike">
              <a:solidFill>
                <a:srgbClr val="FFFFFF"/>
              </a:solidFill>
              <a:effectLst/>
              <a:uFillTx/>
              <a:latin typeface="Arial"/>
            </a:endParaRPr>
          </a:p>
        </p:txBody>
      </p:sp>
      <p:sp>
        <p:nvSpPr>
          <p:cNvPr id="189"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Where your data actually comes from, how it was sampled, and whether the way it was measured can even be trusted</a:t>
            </a:r>
            <a:endParaRPr lang="en-US" sz="1500" b="0" u="none" strike="noStrike">
              <a:solidFill>
                <a:srgbClr val="FFFFFF"/>
              </a:solidFill>
              <a:effectLst/>
              <a:uFillTx/>
              <a:latin typeface="Arial"/>
            </a:endParaRPr>
          </a:p>
        </p:txBody>
      </p:sp>
      <p:sp>
        <p:nvSpPr>
          <p:cNvPr id="190"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13</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9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9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14</a:t>
            </a:r>
            <a:endParaRPr lang="en-US" sz="900" b="0" u="none" strike="noStrike">
              <a:solidFill>
                <a:srgbClr val="000000"/>
              </a:solidFill>
              <a:effectLst/>
              <a:uFillTx/>
              <a:latin typeface="Arial"/>
            </a:endParaRPr>
          </a:p>
        </p:txBody>
      </p:sp>
      <p:pic>
        <p:nvPicPr>
          <p:cNvPr id="193" name="Image 0" descr="/home/claude/assets/logo_crop.png"/>
          <p:cNvPicPr/>
          <p:nvPr/>
        </p:nvPicPr>
        <p:blipFill>
          <a:blip r:embed="rId3"/>
          <a:stretch/>
        </p:blipFill>
        <p:spPr>
          <a:xfrm>
            <a:off x="11201400" y="384120"/>
            <a:ext cx="456840" cy="511560"/>
          </a:xfrm>
          <a:prstGeom prst="rect">
            <a:avLst/>
          </a:prstGeom>
          <a:noFill/>
          <a:ln w="0">
            <a:noFill/>
          </a:ln>
        </p:spPr>
      </p:pic>
      <p:sp>
        <p:nvSpPr>
          <p:cNvPr id="19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Primary vs. Secondary Data</a:t>
            </a:r>
            <a:endParaRPr lang="en-US" sz="2600" b="0" u="none" strike="noStrike">
              <a:solidFill>
                <a:srgbClr val="000000"/>
              </a:solidFill>
              <a:effectLst/>
              <a:uFillTx/>
              <a:latin typeface="Arial"/>
            </a:endParaRPr>
          </a:p>
        </p:txBody>
      </p:sp>
      <p:sp>
        <p:nvSpPr>
          <p:cNvPr id="195"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6"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7"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Δ</a:t>
            </a:r>
            <a:endParaRPr lang="en-US" sz="2800" b="0" u="none" strike="noStrike">
              <a:solidFill>
                <a:srgbClr val="000000"/>
              </a:solidFill>
              <a:effectLst/>
              <a:uFillTx/>
              <a:latin typeface="Arial"/>
            </a:endParaRPr>
          </a:p>
        </p:txBody>
      </p:sp>
      <p:sp>
        <p:nvSpPr>
          <p:cNvPr id="198"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Who collected it first</a:t>
            </a:r>
            <a:endParaRPr lang="en-US" sz="1700" b="0" u="none" strike="noStrike">
              <a:solidFill>
                <a:srgbClr val="000000"/>
              </a:solidFill>
              <a:effectLst/>
              <a:uFillTx/>
              <a:latin typeface="Arial"/>
            </a:endParaRPr>
          </a:p>
        </p:txBody>
      </p:sp>
      <p:sp>
        <p:nvSpPr>
          <p:cNvPr id="199"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Primary data is collected firsthand, specifically for your own purpose — your own survey, your own experiment, your own sensor readings</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Secondary data was collected by someone else, for a different original purpose, and you’re reusing it — government census data, a public dataset, a previous study’s results</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Primary data fits your exact question perfectly, but costs real time and money to collect. Secondary data is fast and often free, but may not perfectly match what you actually need</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Most real-world data science work is a mix of both — recognizing which kind you’re holding shapes how much you should trust and reshape it</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00"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01"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15</a:t>
            </a:r>
            <a:endParaRPr lang="en-US" sz="900" b="0" u="none" strike="noStrike">
              <a:solidFill>
                <a:srgbClr val="000000"/>
              </a:solidFill>
              <a:effectLst/>
              <a:uFillTx/>
              <a:latin typeface="Arial"/>
            </a:endParaRPr>
          </a:p>
        </p:txBody>
      </p:sp>
      <p:pic>
        <p:nvPicPr>
          <p:cNvPr id="202" name="Image 0" descr="/home/claude/assets/logo_crop.png"/>
          <p:cNvPicPr/>
          <p:nvPr/>
        </p:nvPicPr>
        <p:blipFill>
          <a:blip r:embed="rId3"/>
          <a:stretch/>
        </p:blipFill>
        <p:spPr>
          <a:xfrm>
            <a:off x="11201400" y="384120"/>
            <a:ext cx="456840" cy="511560"/>
          </a:xfrm>
          <a:prstGeom prst="rect">
            <a:avLst/>
          </a:prstGeom>
          <a:noFill/>
          <a:ln w="0">
            <a:noFill/>
          </a:ln>
        </p:spPr>
      </p:pic>
      <p:sp>
        <p:nvSpPr>
          <p:cNvPr id="203"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Sampling Types &amp; Techniques</a:t>
            </a:r>
            <a:endParaRPr lang="en-US" sz="2600" b="0" u="none" strike="noStrike">
              <a:solidFill>
                <a:srgbClr val="000000"/>
              </a:solidFill>
              <a:effectLst/>
              <a:uFillTx/>
              <a:latin typeface="Arial"/>
            </a:endParaRPr>
          </a:p>
        </p:txBody>
      </p:sp>
      <p:sp>
        <p:nvSpPr>
          <p:cNvPr id="204"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5"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6"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207"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How you pick the slice</a:t>
            </a:r>
            <a:endParaRPr lang="en-US" sz="1700" b="0" u="none" strike="noStrike">
              <a:solidFill>
                <a:srgbClr val="000000"/>
              </a:solidFill>
              <a:effectLst/>
              <a:uFillTx/>
              <a:latin typeface="Arial"/>
            </a:endParaRPr>
          </a:p>
        </p:txBody>
      </p:sp>
      <p:sp>
        <p:nvSpPr>
          <p:cNvPr id="208"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How a sample is chosen directly determines whether it can honestly represent the population it came from</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Probability sampling gives every member of the population a known chance of being selected — this is what makes inferential statistics (Sessions 21–22) mathematically valid at all</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Non-probability sampling doesn’t guarantee that — it’s often faster and cheaper, but carries a real risk of a biased, unrepresentative sample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next slide walks through the specific techniques inside each category</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09"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10"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16</a:t>
            </a:r>
            <a:endParaRPr lang="en-US" sz="900" b="0" u="none" strike="noStrike">
              <a:solidFill>
                <a:srgbClr val="000000"/>
              </a:solidFill>
              <a:effectLst/>
              <a:uFillTx/>
              <a:latin typeface="Arial"/>
            </a:endParaRPr>
          </a:p>
        </p:txBody>
      </p:sp>
      <p:pic>
        <p:nvPicPr>
          <p:cNvPr id="211" name="Image 0" descr="/home/claude/assets/logo_crop.png"/>
          <p:cNvPicPr/>
          <p:nvPr/>
        </p:nvPicPr>
        <p:blipFill>
          <a:blip r:embed="rId3"/>
          <a:stretch/>
        </p:blipFill>
        <p:spPr>
          <a:xfrm>
            <a:off x="11201400" y="384120"/>
            <a:ext cx="456840" cy="511560"/>
          </a:xfrm>
          <a:prstGeom prst="rect">
            <a:avLst/>
          </a:prstGeom>
          <a:noFill/>
          <a:ln w="0">
            <a:noFill/>
          </a:ln>
        </p:spPr>
      </p:pic>
      <p:sp>
        <p:nvSpPr>
          <p:cNvPr id="212"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Common Sampling Techniques</a:t>
            </a:r>
            <a:endParaRPr lang="en-US" sz="2600" b="0" u="none" strike="noStrike">
              <a:solidFill>
                <a:srgbClr val="000000"/>
              </a:solidFill>
              <a:effectLst/>
              <a:uFillTx/>
              <a:latin typeface="Arial"/>
            </a:endParaRPr>
          </a:p>
        </p:txBody>
      </p:sp>
      <p:sp>
        <p:nvSpPr>
          <p:cNvPr id="213" name="Shape 3"/>
          <p:cNvSpPr/>
          <p:nvPr/>
        </p:nvSpPr>
        <p:spPr>
          <a:xfrm>
            <a:off x="54864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4" name="Shape 4"/>
          <p:cNvSpPr/>
          <p:nvPr/>
        </p:nvSpPr>
        <p:spPr>
          <a:xfrm>
            <a:off x="160488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5" name="Text 5"/>
          <p:cNvSpPr/>
          <p:nvPr/>
        </p:nvSpPr>
        <p:spPr>
          <a:xfrm>
            <a:off x="160488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216" name="Shape 6"/>
          <p:cNvSpPr/>
          <p:nvPr/>
        </p:nvSpPr>
        <p:spPr>
          <a:xfrm>
            <a:off x="731520" y="2606040"/>
            <a:ext cx="2239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7" name="Text 7"/>
          <p:cNvSpPr/>
          <p:nvPr/>
        </p:nvSpPr>
        <p:spPr>
          <a:xfrm>
            <a:off x="73152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Simple Random</a:t>
            </a:r>
            <a:endParaRPr lang="en-US" sz="1400" b="0" u="none" strike="noStrike">
              <a:solidFill>
                <a:srgbClr val="000000"/>
              </a:solidFill>
              <a:effectLst/>
              <a:uFillTx/>
              <a:latin typeface="Arial"/>
            </a:endParaRPr>
          </a:p>
        </p:txBody>
      </p:sp>
      <p:sp>
        <p:nvSpPr>
          <p:cNvPr id="218" name="Text 8"/>
          <p:cNvSpPr/>
          <p:nvPr/>
        </p:nvSpPr>
        <p:spPr>
          <a:xfrm>
            <a:off x="77724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Every member has an exactly equal chance of selection — like drawing names from a hat</a:t>
            </a:r>
            <a:endParaRPr lang="en-US" sz="1300" b="0" u="none" strike="noStrike">
              <a:solidFill>
                <a:srgbClr val="000000"/>
              </a:solidFill>
              <a:effectLst/>
              <a:uFillTx/>
              <a:latin typeface="Arial"/>
            </a:endParaRPr>
          </a:p>
        </p:txBody>
      </p:sp>
      <p:sp>
        <p:nvSpPr>
          <p:cNvPr id="219" name="Shape 9"/>
          <p:cNvSpPr/>
          <p:nvPr/>
        </p:nvSpPr>
        <p:spPr>
          <a:xfrm>
            <a:off x="338328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0" name="Shape 10"/>
          <p:cNvSpPr/>
          <p:nvPr/>
        </p:nvSpPr>
        <p:spPr>
          <a:xfrm>
            <a:off x="443952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1" name="Text 11"/>
          <p:cNvSpPr/>
          <p:nvPr/>
        </p:nvSpPr>
        <p:spPr>
          <a:xfrm>
            <a:off x="44395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222" name="Shape 12"/>
          <p:cNvSpPr/>
          <p:nvPr/>
        </p:nvSpPr>
        <p:spPr>
          <a:xfrm>
            <a:off x="3566160" y="2606040"/>
            <a:ext cx="2239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3" name="Text 13"/>
          <p:cNvSpPr/>
          <p:nvPr/>
        </p:nvSpPr>
        <p:spPr>
          <a:xfrm>
            <a:off x="356616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Stratified</a:t>
            </a:r>
            <a:endParaRPr lang="en-US" sz="1400" b="0" u="none" strike="noStrike">
              <a:solidFill>
                <a:srgbClr val="000000"/>
              </a:solidFill>
              <a:effectLst/>
              <a:uFillTx/>
              <a:latin typeface="Arial"/>
            </a:endParaRPr>
          </a:p>
        </p:txBody>
      </p:sp>
      <p:sp>
        <p:nvSpPr>
          <p:cNvPr id="224" name="Text 14"/>
          <p:cNvSpPr/>
          <p:nvPr/>
        </p:nvSpPr>
        <p:spPr>
          <a:xfrm>
            <a:off x="361188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The population is split into meaningful subgroups first, then randomly sampled within each</a:t>
            </a:r>
            <a:endParaRPr lang="en-US" sz="1300" b="0" u="none" strike="noStrike">
              <a:solidFill>
                <a:srgbClr val="000000"/>
              </a:solidFill>
              <a:effectLst/>
              <a:uFillTx/>
              <a:latin typeface="Arial"/>
            </a:endParaRPr>
          </a:p>
        </p:txBody>
      </p:sp>
      <p:sp>
        <p:nvSpPr>
          <p:cNvPr id="225" name="Shape 15"/>
          <p:cNvSpPr/>
          <p:nvPr/>
        </p:nvSpPr>
        <p:spPr>
          <a:xfrm>
            <a:off x="621792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6" name="Shape 16"/>
          <p:cNvSpPr/>
          <p:nvPr/>
        </p:nvSpPr>
        <p:spPr>
          <a:xfrm>
            <a:off x="727416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7" name="Text 17"/>
          <p:cNvSpPr/>
          <p:nvPr/>
        </p:nvSpPr>
        <p:spPr>
          <a:xfrm>
            <a:off x="727416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228" name="Shape 18"/>
          <p:cNvSpPr/>
          <p:nvPr/>
        </p:nvSpPr>
        <p:spPr>
          <a:xfrm>
            <a:off x="6400800" y="2606040"/>
            <a:ext cx="2239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9" name="Text 19"/>
          <p:cNvSpPr/>
          <p:nvPr/>
        </p:nvSpPr>
        <p:spPr>
          <a:xfrm>
            <a:off x="640080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Cluster</a:t>
            </a:r>
            <a:endParaRPr lang="en-US" sz="1400" b="0" u="none" strike="noStrike">
              <a:solidFill>
                <a:srgbClr val="000000"/>
              </a:solidFill>
              <a:effectLst/>
              <a:uFillTx/>
              <a:latin typeface="Arial"/>
            </a:endParaRPr>
          </a:p>
        </p:txBody>
      </p:sp>
      <p:sp>
        <p:nvSpPr>
          <p:cNvPr id="230" name="Text 20"/>
          <p:cNvSpPr/>
          <p:nvPr/>
        </p:nvSpPr>
        <p:spPr>
          <a:xfrm>
            <a:off x="644652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The population is split into naturally occurring groups (e.g. schools), and whole groups are randomly selected</a:t>
            </a:r>
            <a:endParaRPr lang="en-US" sz="1300" b="0" u="none" strike="noStrike">
              <a:solidFill>
                <a:srgbClr val="000000"/>
              </a:solidFill>
              <a:effectLst/>
              <a:uFillTx/>
              <a:latin typeface="Arial"/>
            </a:endParaRPr>
          </a:p>
        </p:txBody>
      </p:sp>
      <p:sp>
        <p:nvSpPr>
          <p:cNvPr id="231" name="Shape 21"/>
          <p:cNvSpPr/>
          <p:nvPr/>
        </p:nvSpPr>
        <p:spPr>
          <a:xfrm>
            <a:off x="905256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2" name="Shape 22"/>
          <p:cNvSpPr/>
          <p:nvPr/>
        </p:nvSpPr>
        <p:spPr>
          <a:xfrm>
            <a:off x="10108800" y="1920240"/>
            <a:ext cx="493560" cy="493560"/>
          </a:xfrm>
          <a:prstGeom prst="roundRect">
            <a:avLst>
              <a:gd name="adj" fmla="val 18519"/>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3" name="Text 23"/>
          <p:cNvSpPr/>
          <p:nvPr/>
        </p:nvSpPr>
        <p:spPr>
          <a:xfrm>
            <a:off x="101088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4</a:t>
            </a:r>
            <a:endParaRPr lang="en-US" sz="1600" b="0" u="none" strike="noStrike">
              <a:solidFill>
                <a:srgbClr val="000000"/>
              </a:solidFill>
              <a:effectLst/>
              <a:uFillTx/>
              <a:latin typeface="Arial"/>
            </a:endParaRPr>
          </a:p>
        </p:txBody>
      </p:sp>
      <p:sp>
        <p:nvSpPr>
          <p:cNvPr id="234" name="Shape 24"/>
          <p:cNvSpPr/>
          <p:nvPr/>
        </p:nvSpPr>
        <p:spPr>
          <a:xfrm>
            <a:off x="9235440" y="2606040"/>
            <a:ext cx="2239920" cy="456840"/>
          </a:xfrm>
          <a:prstGeom prst="roundRect">
            <a:avLst>
              <a:gd name="adj" fmla="val 50000"/>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5" name="Text 25"/>
          <p:cNvSpPr/>
          <p:nvPr/>
        </p:nvSpPr>
        <p:spPr>
          <a:xfrm>
            <a:off x="923544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Convenience</a:t>
            </a:r>
            <a:endParaRPr lang="en-US" sz="1400" b="0" u="none" strike="noStrike">
              <a:solidFill>
                <a:srgbClr val="000000"/>
              </a:solidFill>
              <a:effectLst/>
              <a:uFillTx/>
              <a:latin typeface="Arial"/>
            </a:endParaRPr>
          </a:p>
        </p:txBody>
      </p:sp>
      <p:sp>
        <p:nvSpPr>
          <p:cNvPr id="236" name="Text 26"/>
          <p:cNvSpPr/>
          <p:nvPr/>
        </p:nvSpPr>
        <p:spPr>
          <a:xfrm>
            <a:off x="928116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Whoever is easiest to reach is sampled — fast, but carries the highest risk of an unrepresentative sample</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3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3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17</a:t>
            </a:r>
            <a:endParaRPr lang="en-US" sz="900" b="0" u="none" strike="noStrike">
              <a:solidFill>
                <a:srgbClr val="000000"/>
              </a:solidFill>
              <a:effectLst/>
              <a:uFillTx/>
              <a:latin typeface="Arial"/>
            </a:endParaRPr>
          </a:p>
        </p:txBody>
      </p:sp>
      <p:pic>
        <p:nvPicPr>
          <p:cNvPr id="239" name="Image 0" descr="/home/claude/assets/logo_crop.png"/>
          <p:cNvPicPr/>
          <p:nvPr/>
        </p:nvPicPr>
        <p:blipFill>
          <a:blip r:embed="rId3"/>
          <a:stretch/>
        </p:blipFill>
        <p:spPr>
          <a:xfrm>
            <a:off x="11201400" y="384120"/>
            <a:ext cx="456840" cy="511560"/>
          </a:xfrm>
          <a:prstGeom prst="rect">
            <a:avLst/>
          </a:prstGeom>
          <a:noFill/>
          <a:ln w="0">
            <a:noFill/>
          </a:ln>
        </p:spPr>
      </p:pic>
      <p:sp>
        <p:nvSpPr>
          <p:cNvPr id="24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More Sampling Techniques</a:t>
            </a:r>
            <a:endParaRPr lang="en-US" sz="2600" b="0" u="none" strike="noStrike">
              <a:solidFill>
                <a:srgbClr val="000000"/>
              </a:solidFill>
              <a:effectLst/>
              <a:uFillTx/>
              <a:latin typeface="Arial"/>
            </a:endParaRPr>
          </a:p>
        </p:txBody>
      </p:sp>
      <p:sp>
        <p:nvSpPr>
          <p:cNvPr id="241" name="Shape 3"/>
          <p:cNvSpPr/>
          <p:nvPr/>
        </p:nvSpPr>
        <p:spPr>
          <a:xfrm>
            <a:off x="548640" y="1737360"/>
            <a:ext cx="355068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2" name="Shape 4"/>
          <p:cNvSpPr/>
          <p:nvPr/>
        </p:nvSpPr>
        <p:spPr>
          <a:xfrm>
            <a:off x="207720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3" name="Text 5"/>
          <p:cNvSpPr/>
          <p:nvPr/>
        </p:nvSpPr>
        <p:spPr>
          <a:xfrm>
            <a:off x="20772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244" name="Shape 6"/>
          <p:cNvSpPr/>
          <p:nvPr/>
        </p:nvSpPr>
        <p:spPr>
          <a:xfrm>
            <a:off x="731520" y="2606040"/>
            <a:ext cx="3184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5" name="Text 7"/>
          <p:cNvSpPr/>
          <p:nvPr/>
        </p:nvSpPr>
        <p:spPr>
          <a:xfrm>
            <a:off x="73152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Systematic</a:t>
            </a:r>
            <a:endParaRPr lang="en-US" sz="1400" b="0" u="none" strike="noStrike">
              <a:solidFill>
                <a:srgbClr val="000000"/>
              </a:solidFill>
              <a:effectLst/>
              <a:uFillTx/>
              <a:latin typeface="Arial"/>
            </a:endParaRPr>
          </a:p>
        </p:txBody>
      </p:sp>
      <p:sp>
        <p:nvSpPr>
          <p:cNvPr id="246" name="Text 8"/>
          <p:cNvSpPr/>
          <p:nvPr/>
        </p:nvSpPr>
        <p:spPr>
          <a:xfrm>
            <a:off x="777240" y="3291840"/>
            <a:ext cx="3093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Select every k-th member from a list (e.g. every 10th name) after a random starting point — probability-based</a:t>
            </a:r>
            <a:endParaRPr lang="en-US" sz="1400" b="0" u="none" strike="noStrike">
              <a:solidFill>
                <a:srgbClr val="000000"/>
              </a:solidFill>
              <a:effectLst/>
              <a:uFillTx/>
              <a:latin typeface="Arial"/>
            </a:endParaRPr>
          </a:p>
        </p:txBody>
      </p:sp>
      <p:sp>
        <p:nvSpPr>
          <p:cNvPr id="247" name="Shape 9"/>
          <p:cNvSpPr/>
          <p:nvPr/>
        </p:nvSpPr>
        <p:spPr>
          <a:xfrm>
            <a:off x="4328280" y="1737360"/>
            <a:ext cx="355068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8" name="Shape 10"/>
          <p:cNvSpPr/>
          <p:nvPr/>
        </p:nvSpPr>
        <p:spPr>
          <a:xfrm>
            <a:off x="585684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9" name="Text 11"/>
          <p:cNvSpPr/>
          <p:nvPr/>
        </p:nvSpPr>
        <p:spPr>
          <a:xfrm>
            <a:off x="585684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250" name="Shape 12"/>
          <p:cNvSpPr/>
          <p:nvPr/>
        </p:nvSpPr>
        <p:spPr>
          <a:xfrm>
            <a:off x="4511160" y="2606040"/>
            <a:ext cx="3184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1" name="Text 13"/>
          <p:cNvSpPr/>
          <p:nvPr/>
        </p:nvSpPr>
        <p:spPr>
          <a:xfrm>
            <a:off x="451116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Snowball</a:t>
            </a:r>
            <a:endParaRPr lang="en-US" sz="1400" b="0" u="none" strike="noStrike">
              <a:solidFill>
                <a:srgbClr val="000000"/>
              </a:solidFill>
              <a:effectLst/>
              <a:uFillTx/>
              <a:latin typeface="Arial"/>
            </a:endParaRPr>
          </a:p>
        </p:txBody>
      </p:sp>
      <p:sp>
        <p:nvSpPr>
          <p:cNvPr id="252" name="Text 14"/>
          <p:cNvSpPr/>
          <p:nvPr/>
        </p:nvSpPr>
        <p:spPr>
          <a:xfrm>
            <a:off x="4556880" y="3291840"/>
            <a:ext cx="3093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Existing participants refer other participants — useful for hard-to-reach populations, but non-random</a:t>
            </a:r>
            <a:endParaRPr lang="en-US" sz="1400" b="0" u="none" strike="noStrike">
              <a:solidFill>
                <a:srgbClr val="000000"/>
              </a:solidFill>
              <a:effectLst/>
              <a:uFillTx/>
              <a:latin typeface="Arial"/>
            </a:endParaRPr>
          </a:p>
        </p:txBody>
      </p:sp>
      <p:sp>
        <p:nvSpPr>
          <p:cNvPr id="253" name="Shape 15"/>
          <p:cNvSpPr/>
          <p:nvPr/>
        </p:nvSpPr>
        <p:spPr>
          <a:xfrm>
            <a:off x="8107560" y="1737360"/>
            <a:ext cx="355068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4" name="Shape 16"/>
          <p:cNvSpPr/>
          <p:nvPr/>
        </p:nvSpPr>
        <p:spPr>
          <a:xfrm>
            <a:off x="963612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5" name="Text 17"/>
          <p:cNvSpPr/>
          <p:nvPr/>
        </p:nvSpPr>
        <p:spPr>
          <a:xfrm>
            <a:off x="96361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256" name="Shape 18"/>
          <p:cNvSpPr/>
          <p:nvPr/>
        </p:nvSpPr>
        <p:spPr>
          <a:xfrm>
            <a:off x="8290440" y="2606040"/>
            <a:ext cx="3184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7" name="Text 19"/>
          <p:cNvSpPr/>
          <p:nvPr/>
        </p:nvSpPr>
        <p:spPr>
          <a:xfrm>
            <a:off x="829044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Quota</a:t>
            </a:r>
            <a:endParaRPr lang="en-US" sz="1400" b="0" u="none" strike="noStrike">
              <a:solidFill>
                <a:srgbClr val="000000"/>
              </a:solidFill>
              <a:effectLst/>
              <a:uFillTx/>
              <a:latin typeface="Arial"/>
            </a:endParaRPr>
          </a:p>
        </p:txBody>
      </p:sp>
      <p:sp>
        <p:nvSpPr>
          <p:cNvPr id="258" name="Text 20"/>
          <p:cNvSpPr/>
          <p:nvPr/>
        </p:nvSpPr>
        <p:spPr>
          <a:xfrm>
            <a:off x="8336160" y="3291840"/>
            <a:ext cx="3093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A fixed number is sampled from each subgroup, like stratified — but selection within each group isn’t random</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59"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60"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18</a:t>
            </a:r>
            <a:endParaRPr lang="en-US" sz="900" b="0" u="none" strike="noStrike">
              <a:solidFill>
                <a:srgbClr val="000000"/>
              </a:solidFill>
              <a:effectLst/>
              <a:uFillTx/>
              <a:latin typeface="Arial"/>
            </a:endParaRPr>
          </a:p>
        </p:txBody>
      </p:sp>
      <p:pic>
        <p:nvPicPr>
          <p:cNvPr id="261" name="Image 0" descr="/home/claude/assets/logo_crop.png"/>
          <p:cNvPicPr/>
          <p:nvPr/>
        </p:nvPicPr>
        <p:blipFill>
          <a:blip r:embed="rId3"/>
          <a:stretch/>
        </p:blipFill>
        <p:spPr>
          <a:xfrm>
            <a:off x="11201400" y="384120"/>
            <a:ext cx="456840" cy="511560"/>
          </a:xfrm>
          <a:prstGeom prst="rect">
            <a:avLst/>
          </a:prstGeom>
          <a:noFill/>
          <a:ln w="0">
            <a:noFill/>
          </a:ln>
        </p:spPr>
      </p:pic>
      <p:sp>
        <p:nvSpPr>
          <p:cNvPr id="262"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Hybrid Sampling in Practice</a:t>
            </a:r>
            <a:endParaRPr lang="en-US" sz="2600" b="0" u="none" strike="noStrike">
              <a:solidFill>
                <a:srgbClr val="000000"/>
              </a:solidFill>
              <a:effectLst/>
              <a:uFillTx/>
              <a:latin typeface="Arial"/>
            </a:endParaRPr>
          </a:p>
        </p:txBody>
      </p:sp>
      <p:sp>
        <p:nvSpPr>
          <p:cNvPr id="263"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4"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5"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266"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Mixing methods, honestly</a:t>
            </a:r>
            <a:endParaRPr lang="en-US" sz="1700" b="0" u="none" strike="noStrike">
              <a:solidFill>
                <a:srgbClr val="000000"/>
              </a:solidFill>
              <a:effectLst/>
              <a:uFillTx/>
              <a:latin typeface="Arial"/>
            </a:endParaRPr>
          </a:p>
        </p:txBody>
      </p:sp>
      <p:sp>
        <p:nvSpPr>
          <p:cNvPr id="267"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Real research often combines techniques rather than picking just one — for example, stratifying a national population by region, then using convenience sampling at accessible locations within each region</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is completely legitimate — it balances practicality against representativeness far better than pure convenience sampling alone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key obligation is transparency: a hybrid approach should be reported exactly as it was done, so readers can judge for themselves how representative the sample really is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Hiding a convenience step inside what looks like a fully random design is exactly how a study quietly inherits selection bias without anyone noticing</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6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6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19</a:t>
            </a:r>
            <a:endParaRPr lang="en-US" sz="900" b="0" u="none" strike="noStrike">
              <a:solidFill>
                <a:srgbClr val="000000"/>
              </a:solidFill>
              <a:effectLst/>
              <a:uFillTx/>
              <a:latin typeface="Arial"/>
            </a:endParaRPr>
          </a:p>
        </p:txBody>
      </p:sp>
      <p:pic>
        <p:nvPicPr>
          <p:cNvPr id="270" name="Image 0" descr="/home/claude/assets/logo_crop.png"/>
          <p:cNvPicPr/>
          <p:nvPr/>
        </p:nvPicPr>
        <p:blipFill>
          <a:blip r:embed="rId3"/>
          <a:stretch/>
        </p:blipFill>
        <p:spPr>
          <a:xfrm>
            <a:off x="11201400" y="384120"/>
            <a:ext cx="456840" cy="511560"/>
          </a:xfrm>
          <a:prstGeom prst="rect">
            <a:avLst/>
          </a:prstGeom>
          <a:noFill/>
          <a:ln w="0">
            <a:noFill/>
          </a:ln>
        </p:spPr>
      </p:pic>
      <p:sp>
        <p:nvSpPr>
          <p:cNvPr id="271"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Three Sampling Techniques in Python</a:t>
            </a:r>
            <a:endParaRPr lang="en-US" sz="2600" b="0" u="none" strike="noStrike">
              <a:solidFill>
                <a:srgbClr val="000000"/>
              </a:solidFill>
              <a:effectLst/>
              <a:uFillTx/>
              <a:latin typeface="Arial"/>
            </a:endParaRPr>
          </a:p>
        </p:txBody>
      </p:sp>
      <p:sp>
        <p:nvSpPr>
          <p:cNvPr id="272"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Simple random: every row has an equal chance.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Systematic: take every k-</a:t>
            </a:r>
            <a:r>
              <a:rPr lang="en-US" sz="2000" b="0" u="none" strike="noStrike" dirty="0" err="1">
                <a:solidFill>
                  <a:srgbClr val="1B1B20"/>
                </a:solidFill>
                <a:effectLst/>
                <a:uFillTx/>
                <a:latin typeface="Hanken Grotesk"/>
                <a:ea typeface="Hanken Grotesk"/>
              </a:rPr>
              <a:t>th</a:t>
            </a:r>
            <a:r>
              <a:rPr lang="en-US" sz="2000" b="0" u="none" strike="noStrike" dirty="0">
                <a:solidFill>
                  <a:srgbClr val="1B1B20"/>
                </a:solidFill>
                <a:effectLst/>
                <a:uFillTx/>
                <a:latin typeface="Hanken Grotesk"/>
                <a:ea typeface="Hanken Grotesk"/>
              </a:rPr>
              <a:t> row. Stratified: sample inside each group.</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Convenience and snowball sampling cannot be coded — they depend on how you reach people in the real world.</a:t>
            </a:r>
            <a:endParaRPr lang="en-US" sz="2000" b="0" u="none" strike="noStrike" dirty="0">
              <a:solidFill>
                <a:srgbClr val="000000"/>
              </a:solidFill>
              <a:effectLst/>
              <a:uFillTx/>
              <a:latin typeface="Arial"/>
              <a:cs typeface="Arial"/>
            </a:endParaRPr>
          </a:p>
        </p:txBody>
      </p:sp>
      <p:sp>
        <p:nvSpPr>
          <p:cNvPr id="273"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4"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275"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276"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277"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100" b="0" u="none" strike="noStrike">
                <a:solidFill>
                  <a:srgbClr val="F1F5F9"/>
                </a:solidFill>
                <a:effectLst/>
                <a:uFillTx/>
                <a:latin typeface="Cantarell"/>
                <a:ea typeface="Consolas"/>
              </a:rPr>
              <a:t>import pandas as pd</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df = pd.DataFrame({</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"student": range(1, 101),</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"year": ["1st"] * 40 + ["2nd"] * 35 + ["3rd"] * 25,</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simple = df.sample(n=10, random_state=1)</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systematic = df.iloc[::10]        </a:t>
            </a:r>
            <a:r>
              <a:rPr lang="en-US" sz="1100" b="0" i="1" u="none" strike="noStrike">
                <a:solidFill>
                  <a:srgbClr val="94A3B8"/>
                </a:solidFill>
                <a:effectLst/>
                <a:uFillTx/>
                <a:latin typeface="Cantarell"/>
                <a:ea typeface="Consolas"/>
              </a:rPr>
              <a:t># every 10th row</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strat = df.groupby("year").sample(frac=0.1,</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random_state=1)</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print(len(simple), len(systematic), len(strat))</a:t>
            </a:r>
            <a:endParaRPr lang="en-US" sz="1100" b="0" u="none" strike="noStrike">
              <a:solidFill>
                <a:srgbClr val="000000"/>
              </a:solidFill>
              <a:effectLst/>
              <a:uFillTx/>
              <a:latin typeface="Cantarell"/>
            </a:endParaRPr>
          </a:p>
          <a:p>
            <a:pPr defTabSz="914400">
              <a:lnSpc>
                <a:spcPct val="110000"/>
              </a:lnSpc>
              <a:tabLst>
                <a:tab pos="0" algn="l"/>
              </a:tabLst>
            </a:pPr>
            <a:r>
              <a:rPr lang="en-US" sz="1100" b="0" i="1" u="none" strike="noStrike">
                <a:solidFill>
                  <a:srgbClr val="94A3B8"/>
                </a:solidFill>
                <a:effectLst/>
                <a:uFillTx/>
                <a:latin typeface="Cantarell"/>
                <a:ea typeface="Consolas"/>
              </a:rPr>
              <a:t># → 10 10 10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print(strat["year"].value_counts().to_dict())</a:t>
            </a:r>
            <a:endParaRPr lang="en-US" sz="1100" b="0" u="none" strike="noStrike">
              <a:solidFill>
                <a:srgbClr val="000000"/>
              </a:solidFill>
              <a:effectLst/>
              <a:uFillTx/>
              <a:latin typeface="Cantarell"/>
            </a:endParaRPr>
          </a:p>
          <a:p>
            <a:pPr defTabSz="914400">
              <a:lnSpc>
                <a:spcPct val="110000"/>
              </a:lnSpc>
              <a:tabLst>
                <a:tab pos="0" algn="l"/>
              </a:tabLst>
            </a:pPr>
            <a:r>
              <a:rPr lang="en-US" sz="1100" b="0" i="1" u="none" strike="noStrike">
                <a:solidFill>
                  <a:srgbClr val="94A3B8"/>
                </a:solidFill>
                <a:effectLst/>
                <a:uFillTx/>
                <a:latin typeface="Cantarell"/>
                <a:ea typeface="Consolas"/>
              </a:rPr>
              <a:t># → {'1st': 4, '2nd': 4, '3rd': 2}</a:t>
            </a:r>
            <a:endParaRPr lang="en-US" sz="11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7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7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20</a:t>
            </a:r>
            <a:endParaRPr lang="en-US" sz="900" b="0" u="none" strike="noStrike">
              <a:solidFill>
                <a:srgbClr val="000000"/>
              </a:solidFill>
              <a:effectLst/>
              <a:uFillTx/>
              <a:latin typeface="Arial"/>
            </a:endParaRPr>
          </a:p>
        </p:txBody>
      </p:sp>
      <p:pic>
        <p:nvPicPr>
          <p:cNvPr id="280" name="Image 0" descr="/home/claude/assets/logo_crop.png"/>
          <p:cNvPicPr/>
          <p:nvPr/>
        </p:nvPicPr>
        <p:blipFill>
          <a:blip r:embed="rId3"/>
          <a:stretch/>
        </p:blipFill>
        <p:spPr>
          <a:xfrm>
            <a:off x="11201400" y="384120"/>
            <a:ext cx="456840" cy="511560"/>
          </a:xfrm>
          <a:prstGeom prst="rect">
            <a:avLst/>
          </a:prstGeom>
          <a:noFill/>
          <a:ln w="0">
            <a:noFill/>
          </a:ln>
        </p:spPr>
      </p:pic>
      <p:sp>
        <p:nvSpPr>
          <p:cNvPr id="281"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Probability vs. Non-Probability Sampling</a:t>
            </a:r>
            <a:endParaRPr lang="en-US" sz="2600" b="0" u="none" strike="noStrike">
              <a:solidFill>
                <a:srgbClr val="000000"/>
              </a:solidFill>
              <a:effectLst/>
              <a:uFillTx/>
              <a:latin typeface="Arial"/>
            </a:endParaRPr>
          </a:p>
        </p:txBody>
      </p:sp>
      <p:sp>
        <p:nvSpPr>
          <p:cNvPr id="282" name="Shape 3"/>
          <p:cNvSpPr/>
          <p:nvPr/>
        </p:nvSpPr>
        <p:spPr>
          <a:xfrm>
            <a:off x="54864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3" name="Shape 4"/>
          <p:cNvSpPr/>
          <p:nvPr/>
        </p:nvSpPr>
        <p:spPr>
          <a:xfrm>
            <a:off x="777240" y="1965960"/>
            <a:ext cx="50288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4" name="Text 5"/>
          <p:cNvSpPr/>
          <p:nvPr/>
        </p:nvSpPr>
        <p:spPr>
          <a:xfrm>
            <a:off x="77724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Probability Sampling</a:t>
            </a:r>
            <a:endParaRPr lang="en-US" sz="1400" b="0" u="none" strike="noStrike">
              <a:solidFill>
                <a:srgbClr val="000000"/>
              </a:solidFill>
              <a:effectLst/>
              <a:uFillTx/>
              <a:latin typeface="Arial"/>
            </a:endParaRPr>
          </a:p>
        </p:txBody>
      </p:sp>
      <p:sp>
        <p:nvSpPr>
          <p:cNvPr id="285" name="Text 6"/>
          <p:cNvSpPr/>
          <p:nvPr/>
        </p:nvSpPr>
        <p:spPr>
          <a:xfrm>
            <a:off x="82296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Simple random, stratified, cluster, and systematic sampling all belong here</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Every member has a known, nonzero chance of selection</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This is what lets you legitimately generalize a sample’s result back to the full population</a:t>
            </a:r>
            <a:endParaRPr lang="en-US" sz="1600" b="0" u="none" strike="noStrike" dirty="0">
              <a:solidFill>
                <a:srgbClr val="000000"/>
              </a:solidFill>
              <a:effectLst/>
              <a:uFillTx/>
              <a:latin typeface="Arial"/>
              <a:cs typeface="Arial"/>
            </a:endParaRPr>
          </a:p>
        </p:txBody>
      </p:sp>
      <p:sp>
        <p:nvSpPr>
          <p:cNvPr id="286" name="Shape 7"/>
          <p:cNvSpPr/>
          <p:nvPr/>
        </p:nvSpPr>
        <p:spPr>
          <a:xfrm>
            <a:off x="617220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7" name="Shape 8"/>
          <p:cNvSpPr/>
          <p:nvPr/>
        </p:nvSpPr>
        <p:spPr>
          <a:xfrm>
            <a:off x="6400800" y="1965960"/>
            <a:ext cx="502884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8" name="Text 9"/>
          <p:cNvSpPr/>
          <p:nvPr/>
        </p:nvSpPr>
        <p:spPr>
          <a:xfrm>
            <a:off x="640080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Non-Probability Sampling</a:t>
            </a:r>
            <a:endParaRPr lang="en-US" sz="1400" b="0" u="none" strike="noStrike">
              <a:solidFill>
                <a:srgbClr val="000000"/>
              </a:solidFill>
              <a:effectLst/>
              <a:uFillTx/>
              <a:latin typeface="Arial"/>
            </a:endParaRPr>
          </a:p>
        </p:txBody>
      </p:sp>
      <p:sp>
        <p:nvSpPr>
          <p:cNvPr id="289" name="Text 10"/>
          <p:cNvSpPr/>
          <p:nvPr/>
        </p:nvSpPr>
        <p:spPr>
          <a:xfrm>
            <a:off x="644652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Convenience, snowball, and quota sampling all belong here</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Selection isn’t random — some members may have no chance of being included at all</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A hybrid approach (mixing both) is common in practice — useful, but should be reported honestly, not hidden</a:t>
            </a:r>
            <a:endParaRPr lang="en-US" sz="16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90"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91"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21</a:t>
            </a:r>
            <a:endParaRPr lang="en-US" sz="900" b="0" u="none" strike="noStrike">
              <a:solidFill>
                <a:srgbClr val="000000"/>
              </a:solidFill>
              <a:effectLst/>
              <a:uFillTx/>
              <a:latin typeface="Arial"/>
            </a:endParaRPr>
          </a:p>
        </p:txBody>
      </p:sp>
      <p:pic>
        <p:nvPicPr>
          <p:cNvPr id="292" name="Image 0" descr="/home/claude/assets/logo_crop.png"/>
          <p:cNvPicPr/>
          <p:nvPr/>
        </p:nvPicPr>
        <p:blipFill>
          <a:blip r:embed="rId3"/>
          <a:stretch/>
        </p:blipFill>
        <p:spPr>
          <a:xfrm>
            <a:off x="11201400" y="384120"/>
            <a:ext cx="456840" cy="511560"/>
          </a:xfrm>
          <a:prstGeom prst="rect">
            <a:avLst/>
          </a:prstGeom>
          <a:noFill/>
          <a:ln w="0">
            <a:noFill/>
          </a:ln>
        </p:spPr>
      </p:pic>
      <p:sp>
        <p:nvSpPr>
          <p:cNvPr id="293"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Operationalization &amp; Proxy Measurements</a:t>
            </a:r>
            <a:endParaRPr lang="en-US" sz="2600" b="0" u="none" strike="noStrike">
              <a:solidFill>
                <a:srgbClr val="000000"/>
              </a:solidFill>
              <a:effectLst/>
              <a:uFillTx/>
              <a:latin typeface="Arial"/>
            </a:endParaRPr>
          </a:p>
        </p:txBody>
      </p:sp>
      <p:sp>
        <p:nvSpPr>
          <p:cNvPr id="294"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5"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6"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σ</a:t>
            </a:r>
            <a:endParaRPr lang="en-US" sz="2800" b="0" u="none" strike="noStrike">
              <a:solidFill>
                <a:srgbClr val="000000"/>
              </a:solidFill>
              <a:effectLst/>
              <a:uFillTx/>
              <a:latin typeface="Arial"/>
            </a:endParaRPr>
          </a:p>
        </p:txBody>
      </p:sp>
      <p:sp>
        <p:nvSpPr>
          <p:cNvPr id="297"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Turning an idea into a number</a:t>
            </a:r>
            <a:endParaRPr lang="en-US" sz="1700" b="0" u="none" strike="noStrike">
              <a:solidFill>
                <a:srgbClr val="000000"/>
              </a:solidFill>
              <a:effectLst/>
              <a:uFillTx/>
              <a:latin typeface="Arial"/>
            </a:endParaRPr>
          </a:p>
        </p:txBody>
      </p:sp>
      <p:sp>
        <p:nvSpPr>
          <p:cNvPr id="298"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Operationalization is the process of turning a vague, abstract idea — "happiness," "customer loyalty," "intelligence" — into something concrete enough to actually measure</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 proxy measurement is a stand-in variable used because the real thing can’t be measured directly — using "number of repeat purchases" to represent "customer loyalty"</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Every </a:t>
            </a:r>
            <a:r>
              <a:rPr lang="en-US" sz="2000" dirty="0">
                <a:solidFill>
                  <a:srgbClr val="1B1B20"/>
                </a:solidFill>
                <a:latin typeface="Hanken Grotesk"/>
                <a:ea typeface="Hanken Grotesk"/>
              </a:rPr>
              <a:t>operationalization</a:t>
            </a:r>
            <a:r>
              <a:rPr lang="en-US" sz="2000" b="0" u="none" strike="noStrike" dirty="0">
                <a:solidFill>
                  <a:srgbClr val="1B1B20"/>
                </a:solidFill>
                <a:effectLst/>
                <a:uFillTx/>
                <a:latin typeface="Hanken Grotesk"/>
                <a:ea typeface="Hanken Grotesk"/>
              </a:rPr>
              <a:t> involves a judgment call, and a different one can lead to a genuinely different result — this is worth stating openly in any real analysis</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is precisely the step where "reliability" and "validity," on the next slide, actually get put to the test</a:t>
            </a:r>
            <a:endParaRPr lang="en-US" sz="2000" b="0" u="none" strike="noStrike">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299"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00"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22</a:t>
            </a:r>
            <a:endParaRPr lang="en-US" sz="900" b="0" u="none" strike="noStrike">
              <a:solidFill>
                <a:srgbClr val="000000"/>
              </a:solidFill>
              <a:effectLst/>
              <a:uFillTx/>
              <a:latin typeface="Arial"/>
            </a:endParaRPr>
          </a:p>
        </p:txBody>
      </p:sp>
      <p:pic>
        <p:nvPicPr>
          <p:cNvPr id="301" name="Image 0" descr="/home/claude/assets/logo_crop.png"/>
          <p:cNvPicPr/>
          <p:nvPr/>
        </p:nvPicPr>
        <p:blipFill>
          <a:blip r:embed="rId3"/>
          <a:stretch/>
        </p:blipFill>
        <p:spPr>
          <a:xfrm>
            <a:off x="11201400" y="384120"/>
            <a:ext cx="456840" cy="511560"/>
          </a:xfrm>
          <a:prstGeom prst="rect">
            <a:avLst/>
          </a:prstGeom>
          <a:noFill/>
          <a:ln w="0">
            <a:noFill/>
          </a:ln>
        </p:spPr>
      </p:pic>
      <p:sp>
        <p:nvSpPr>
          <p:cNvPr id="302"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Reliability vs. Validity</a:t>
            </a:r>
            <a:endParaRPr lang="en-US" sz="2600" b="0" u="none" strike="noStrike">
              <a:solidFill>
                <a:srgbClr val="000000"/>
              </a:solidFill>
              <a:effectLst/>
              <a:uFillTx/>
              <a:latin typeface="Arial"/>
            </a:endParaRPr>
          </a:p>
        </p:txBody>
      </p:sp>
      <p:sp>
        <p:nvSpPr>
          <p:cNvPr id="303" name="Shape 3"/>
          <p:cNvSpPr/>
          <p:nvPr/>
        </p:nvSpPr>
        <p:spPr>
          <a:xfrm>
            <a:off x="54864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4" name="Shape 4"/>
          <p:cNvSpPr/>
          <p:nvPr/>
        </p:nvSpPr>
        <p:spPr>
          <a:xfrm>
            <a:off x="777240" y="1965960"/>
            <a:ext cx="50288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5" name="Text 5"/>
          <p:cNvSpPr/>
          <p:nvPr/>
        </p:nvSpPr>
        <p:spPr>
          <a:xfrm>
            <a:off x="77724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Reliability</a:t>
            </a:r>
            <a:endParaRPr lang="en-US" sz="1400" b="0" u="none" strike="noStrike">
              <a:solidFill>
                <a:srgbClr val="000000"/>
              </a:solidFill>
              <a:effectLst/>
              <a:uFillTx/>
              <a:latin typeface="Arial"/>
            </a:endParaRPr>
          </a:p>
        </p:txBody>
      </p:sp>
      <p:sp>
        <p:nvSpPr>
          <p:cNvPr id="306" name="Text 6"/>
          <p:cNvSpPr/>
          <p:nvPr/>
        </p:nvSpPr>
        <p:spPr>
          <a:xfrm>
            <a:off x="82296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Asks: if I measure this again, under the same conditions, do I get a consistent result?</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A bathroom scale that reads 3kg heavier every time is reliable — wrong, but consistently wrong</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Without reliability, you can’t trust any single measurement at all</a:t>
            </a:r>
            <a:endParaRPr lang="en-US" sz="1600" b="0" u="none" strike="noStrike" dirty="0">
              <a:solidFill>
                <a:srgbClr val="000000"/>
              </a:solidFill>
              <a:effectLst/>
              <a:uFillTx/>
              <a:latin typeface="Arial"/>
              <a:cs typeface="Arial"/>
            </a:endParaRPr>
          </a:p>
        </p:txBody>
      </p:sp>
      <p:sp>
        <p:nvSpPr>
          <p:cNvPr id="307" name="Shape 7"/>
          <p:cNvSpPr/>
          <p:nvPr/>
        </p:nvSpPr>
        <p:spPr>
          <a:xfrm>
            <a:off x="617220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8" name="Shape 8"/>
          <p:cNvSpPr/>
          <p:nvPr/>
        </p:nvSpPr>
        <p:spPr>
          <a:xfrm>
            <a:off x="6400800" y="1965960"/>
            <a:ext cx="502884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9" name="Text 9"/>
          <p:cNvSpPr/>
          <p:nvPr/>
        </p:nvSpPr>
        <p:spPr>
          <a:xfrm>
            <a:off x="640080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Validity</a:t>
            </a:r>
            <a:endParaRPr lang="en-US" sz="1400" b="0" u="none" strike="noStrike">
              <a:solidFill>
                <a:srgbClr val="000000"/>
              </a:solidFill>
              <a:effectLst/>
              <a:uFillTx/>
              <a:latin typeface="Arial"/>
            </a:endParaRPr>
          </a:p>
        </p:txBody>
      </p:sp>
      <p:sp>
        <p:nvSpPr>
          <p:cNvPr id="310" name="Text 10"/>
          <p:cNvSpPr/>
          <p:nvPr/>
        </p:nvSpPr>
        <p:spPr>
          <a:xfrm>
            <a:off x="644652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Asks: am I actually measuring the concept I claim to be measuring?</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A survey meant to measure "job satisfaction" that actually measures "salary satisfaction" is NOT valid, even if it’s perfectly reliable</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A measurement can be reliable without being valid — but it can’t be genuinely valid without also being reliable</a:t>
            </a:r>
            <a:endParaRPr lang="en-US" sz="16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31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1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23</a:t>
            </a:r>
            <a:endParaRPr lang="en-US" sz="900" b="0" u="none" strike="noStrike">
              <a:solidFill>
                <a:srgbClr val="000000"/>
              </a:solidFill>
              <a:effectLst/>
              <a:uFillTx/>
              <a:latin typeface="Arial"/>
            </a:endParaRPr>
          </a:p>
        </p:txBody>
      </p:sp>
      <p:pic>
        <p:nvPicPr>
          <p:cNvPr id="313" name="Image 0" descr="/home/claude/assets/logo_crop.png"/>
          <p:cNvPicPr/>
          <p:nvPr/>
        </p:nvPicPr>
        <p:blipFill>
          <a:blip r:embed="rId3"/>
          <a:stretch/>
        </p:blipFill>
        <p:spPr>
          <a:xfrm>
            <a:off x="11201400" y="384120"/>
            <a:ext cx="456840" cy="511560"/>
          </a:xfrm>
          <a:prstGeom prst="rect">
            <a:avLst/>
          </a:prstGeom>
          <a:noFill/>
          <a:ln w="0">
            <a:noFill/>
          </a:ln>
        </p:spPr>
      </p:pic>
      <p:sp>
        <p:nvSpPr>
          <p:cNvPr id="31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Reliability vs. Validity, Visualized</a:t>
            </a:r>
            <a:endParaRPr lang="en-US" sz="2600" b="0" u="none" strike="noStrike">
              <a:solidFill>
                <a:srgbClr val="000000"/>
              </a:solidFill>
              <a:effectLst/>
              <a:uFillTx/>
              <a:latin typeface="Arial"/>
            </a:endParaRPr>
          </a:p>
        </p:txBody>
      </p:sp>
      <p:sp>
        <p:nvSpPr>
          <p:cNvPr id="315" name="Shape 3"/>
          <p:cNvSpPr/>
          <p:nvPr/>
        </p:nvSpPr>
        <p:spPr>
          <a:xfrm>
            <a:off x="548640" y="1463040"/>
            <a:ext cx="5486040" cy="1874160"/>
          </a:xfrm>
          <a:prstGeom prst="roundRect">
            <a:avLst>
              <a:gd name="adj" fmla="val 3902"/>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6" name="Shape 4"/>
          <p:cNvSpPr/>
          <p:nvPr/>
        </p:nvSpPr>
        <p:spPr>
          <a:xfrm>
            <a:off x="850320" y="1654920"/>
            <a:ext cx="1499400" cy="1499400"/>
          </a:xfrm>
          <a:prstGeom prst="ellipse">
            <a:avLst/>
          </a:prstGeom>
          <a:solidFill>
            <a:srgbClr val="EDEBFF"/>
          </a:solidFill>
          <a:ln w="12700">
            <a:solidFill>
              <a:srgbClr val="EDEB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7" name="Shape 5"/>
          <p:cNvSpPr/>
          <p:nvPr/>
        </p:nvSpPr>
        <p:spPr>
          <a:xfrm>
            <a:off x="1097280" y="1901880"/>
            <a:ext cx="1005480" cy="1005480"/>
          </a:xfrm>
          <a:prstGeom prst="ellipse">
            <a:avLst/>
          </a:prstGeom>
          <a:solidFill>
            <a:srgbClr val="D2D0FA"/>
          </a:solidFill>
          <a:ln w="12700">
            <a:solidFill>
              <a:srgbClr val="D2D0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8" name="Shape 6"/>
          <p:cNvSpPr/>
          <p:nvPr/>
        </p:nvSpPr>
        <p:spPr>
          <a:xfrm>
            <a:off x="1344240" y="2148840"/>
            <a:ext cx="511560" cy="511560"/>
          </a:xfrm>
          <a:prstGeom prst="ellipse">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9" name="Shape 7"/>
          <p:cNvSpPr/>
          <p:nvPr/>
        </p:nvSpPr>
        <p:spPr>
          <a:xfrm>
            <a:off x="1554480" y="235908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20" name="Shape 8"/>
          <p:cNvSpPr/>
          <p:nvPr/>
        </p:nvSpPr>
        <p:spPr>
          <a:xfrm>
            <a:off x="1642320" y="243216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21" name="Shape 9"/>
          <p:cNvSpPr/>
          <p:nvPr/>
        </p:nvSpPr>
        <p:spPr>
          <a:xfrm>
            <a:off x="1481400" y="241776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22" name="Shape 10"/>
          <p:cNvSpPr/>
          <p:nvPr/>
        </p:nvSpPr>
        <p:spPr>
          <a:xfrm>
            <a:off x="1591200" y="227124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23" name="Shape 11"/>
          <p:cNvSpPr/>
          <p:nvPr/>
        </p:nvSpPr>
        <p:spPr>
          <a:xfrm>
            <a:off x="1495800" y="231516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24" name="Text 12"/>
          <p:cNvSpPr/>
          <p:nvPr/>
        </p:nvSpPr>
        <p:spPr>
          <a:xfrm>
            <a:off x="2606040" y="187452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rmAutofit/>
          </a:bodyPr>
          <a:lstStyle/>
          <a:p>
            <a:pPr defTabSz="914400">
              <a:lnSpc>
                <a:spcPct val="100000"/>
              </a:lnSpc>
              <a:tabLst>
                <a:tab pos="0" algn="l"/>
              </a:tabLst>
            </a:pPr>
            <a:r>
              <a:rPr lang="en-US" sz="1500" b="1" u="none" strike="noStrike">
                <a:solidFill>
                  <a:srgbClr val="1B1B20"/>
                </a:solidFill>
                <a:effectLst/>
                <a:uFillTx/>
                <a:latin typeface="Bricolage Grotesque"/>
                <a:ea typeface="Bricolage Grotesque"/>
              </a:rPr>
              <a:t>Reliable AND Valid</a:t>
            </a:r>
            <a:endParaRPr lang="en-US" sz="1500" b="0" u="none" strike="noStrike">
              <a:solidFill>
                <a:srgbClr val="000000"/>
              </a:solidFill>
              <a:effectLst/>
              <a:uFillTx/>
              <a:latin typeface="Arial"/>
            </a:endParaRPr>
          </a:p>
        </p:txBody>
      </p:sp>
      <p:sp>
        <p:nvSpPr>
          <p:cNvPr id="325" name="Text 13"/>
          <p:cNvSpPr/>
          <p:nvPr/>
        </p:nvSpPr>
        <p:spPr>
          <a:xfrm>
            <a:off x="2606040" y="2377440"/>
            <a:ext cx="32000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474651"/>
                </a:solidFill>
                <a:effectLst/>
                <a:uFillTx/>
                <a:latin typeface="Hanken Grotesk"/>
                <a:ea typeface="Hanken Grotesk"/>
              </a:rPr>
              <a:t>Tightly clustered, right on target</a:t>
            </a:r>
            <a:endParaRPr lang="en-US" sz="1300" b="0" u="none" strike="noStrike">
              <a:solidFill>
                <a:srgbClr val="000000"/>
              </a:solidFill>
              <a:effectLst/>
              <a:uFillTx/>
              <a:latin typeface="Arial"/>
            </a:endParaRPr>
          </a:p>
        </p:txBody>
      </p:sp>
      <p:sp>
        <p:nvSpPr>
          <p:cNvPr id="326" name="Shape 14"/>
          <p:cNvSpPr/>
          <p:nvPr/>
        </p:nvSpPr>
        <p:spPr>
          <a:xfrm>
            <a:off x="6172200" y="1463040"/>
            <a:ext cx="5486040" cy="1874160"/>
          </a:xfrm>
          <a:prstGeom prst="roundRect">
            <a:avLst>
              <a:gd name="adj" fmla="val 3902"/>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7" name="Shape 15"/>
          <p:cNvSpPr/>
          <p:nvPr/>
        </p:nvSpPr>
        <p:spPr>
          <a:xfrm>
            <a:off x="6473880" y="1654920"/>
            <a:ext cx="1499400" cy="1499400"/>
          </a:xfrm>
          <a:prstGeom prst="ellipse">
            <a:avLst/>
          </a:prstGeom>
          <a:solidFill>
            <a:srgbClr val="EDEBFF"/>
          </a:solidFill>
          <a:ln w="12700">
            <a:solidFill>
              <a:srgbClr val="EDEB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8" name="Shape 16"/>
          <p:cNvSpPr/>
          <p:nvPr/>
        </p:nvSpPr>
        <p:spPr>
          <a:xfrm>
            <a:off x="6720840" y="1901880"/>
            <a:ext cx="1005480" cy="1005480"/>
          </a:xfrm>
          <a:prstGeom prst="ellipse">
            <a:avLst/>
          </a:prstGeom>
          <a:solidFill>
            <a:srgbClr val="D2D0FA"/>
          </a:solidFill>
          <a:ln w="12700">
            <a:solidFill>
              <a:srgbClr val="D2D0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9" name="Shape 17"/>
          <p:cNvSpPr/>
          <p:nvPr/>
        </p:nvSpPr>
        <p:spPr>
          <a:xfrm>
            <a:off x="6967800" y="2148840"/>
            <a:ext cx="511560" cy="511560"/>
          </a:xfrm>
          <a:prstGeom prst="ellipse">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0" name="Shape 18"/>
          <p:cNvSpPr/>
          <p:nvPr/>
        </p:nvSpPr>
        <p:spPr>
          <a:xfrm>
            <a:off x="7580520" y="199332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31" name="Shape 19"/>
          <p:cNvSpPr/>
          <p:nvPr/>
        </p:nvSpPr>
        <p:spPr>
          <a:xfrm>
            <a:off x="7631640" y="205200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32" name="Shape 20"/>
          <p:cNvSpPr/>
          <p:nvPr/>
        </p:nvSpPr>
        <p:spPr>
          <a:xfrm>
            <a:off x="7543800" y="206640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33" name="Shape 21"/>
          <p:cNvSpPr/>
          <p:nvPr/>
        </p:nvSpPr>
        <p:spPr>
          <a:xfrm>
            <a:off x="7616880" y="195696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34" name="Shape 22"/>
          <p:cNvSpPr/>
          <p:nvPr/>
        </p:nvSpPr>
        <p:spPr>
          <a:xfrm>
            <a:off x="7558560" y="197892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35" name="Text 23"/>
          <p:cNvSpPr/>
          <p:nvPr/>
        </p:nvSpPr>
        <p:spPr>
          <a:xfrm>
            <a:off x="8229600" y="187452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rmAutofit/>
          </a:bodyPr>
          <a:lstStyle/>
          <a:p>
            <a:pPr defTabSz="914400">
              <a:lnSpc>
                <a:spcPct val="100000"/>
              </a:lnSpc>
              <a:tabLst>
                <a:tab pos="0" algn="l"/>
              </a:tabLst>
            </a:pPr>
            <a:r>
              <a:rPr lang="en-US" sz="1500" b="1" u="none" strike="noStrike">
                <a:solidFill>
                  <a:srgbClr val="1B1B20"/>
                </a:solidFill>
                <a:effectLst/>
                <a:uFillTx/>
                <a:latin typeface="Bricolage Grotesque"/>
                <a:ea typeface="Bricolage Grotesque"/>
              </a:rPr>
              <a:t>Reliable, but NOT Valid</a:t>
            </a:r>
            <a:endParaRPr lang="en-US" sz="1500" b="0" u="none" strike="noStrike">
              <a:solidFill>
                <a:srgbClr val="000000"/>
              </a:solidFill>
              <a:effectLst/>
              <a:uFillTx/>
              <a:latin typeface="Arial"/>
            </a:endParaRPr>
          </a:p>
        </p:txBody>
      </p:sp>
      <p:sp>
        <p:nvSpPr>
          <p:cNvPr id="336" name="Text 24"/>
          <p:cNvSpPr/>
          <p:nvPr/>
        </p:nvSpPr>
        <p:spPr>
          <a:xfrm>
            <a:off x="8229600" y="2377440"/>
            <a:ext cx="32000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474651"/>
                </a:solidFill>
                <a:effectLst/>
                <a:uFillTx/>
                <a:latin typeface="Hanken Grotesk"/>
                <a:ea typeface="Hanken Grotesk"/>
              </a:rPr>
              <a:t>Tightly clustered — consistently off-target</a:t>
            </a:r>
            <a:endParaRPr lang="en-US" sz="1300" b="0" u="none" strike="noStrike">
              <a:solidFill>
                <a:srgbClr val="000000"/>
              </a:solidFill>
              <a:effectLst/>
              <a:uFillTx/>
              <a:latin typeface="Arial"/>
            </a:endParaRPr>
          </a:p>
        </p:txBody>
      </p:sp>
      <p:sp>
        <p:nvSpPr>
          <p:cNvPr id="337" name="Shape 25"/>
          <p:cNvSpPr/>
          <p:nvPr/>
        </p:nvSpPr>
        <p:spPr>
          <a:xfrm>
            <a:off x="548640" y="3474720"/>
            <a:ext cx="5486040" cy="1874160"/>
          </a:xfrm>
          <a:prstGeom prst="roundRect">
            <a:avLst>
              <a:gd name="adj" fmla="val 3902"/>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8" name="Shape 26"/>
          <p:cNvSpPr/>
          <p:nvPr/>
        </p:nvSpPr>
        <p:spPr>
          <a:xfrm>
            <a:off x="850320" y="3666600"/>
            <a:ext cx="1499400" cy="1499400"/>
          </a:xfrm>
          <a:prstGeom prst="ellipse">
            <a:avLst/>
          </a:prstGeom>
          <a:solidFill>
            <a:srgbClr val="EDEBFF"/>
          </a:solidFill>
          <a:ln w="12700">
            <a:solidFill>
              <a:srgbClr val="EDEB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9" name="Shape 27"/>
          <p:cNvSpPr/>
          <p:nvPr/>
        </p:nvSpPr>
        <p:spPr>
          <a:xfrm>
            <a:off x="1097280" y="3913560"/>
            <a:ext cx="1005480" cy="1005480"/>
          </a:xfrm>
          <a:prstGeom prst="ellipse">
            <a:avLst/>
          </a:prstGeom>
          <a:solidFill>
            <a:srgbClr val="D2D0FA"/>
          </a:solidFill>
          <a:ln w="12700">
            <a:solidFill>
              <a:srgbClr val="D2D0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0" name="Shape 28"/>
          <p:cNvSpPr/>
          <p:nvPr/>
        </p:nvSpPr>
        <p:spPr>
          <a:xfrm>
            <a:off x="1344240" y="4160520"/>
            <a:ext cx="511560" cy="511560"/>
          </a:xfrm>
          <a:prstGeom prst="ellipse">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1" name="Shape 29"/>
          <p:cNvSpPr/>
          <p:nvPr/>
        </p:nvSpPr>
        <p:spPr>
          <a:xfrm>
            <a:off x="1920240" y="444384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42" name="Shape 30"/>
          <p:cNvSpPr/>
          <p:nvPr/>
        </p:nvSpPr>
        <p:spPr>
          <a:xfrm>
            <a:off x="1152000" y="422460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43" name="Shape 31"/>
          <p:cNvSpPr/>
          <p:nvPr/>
        </p:nvSpPr>
        <p:spPr>
          <a:xfrm>
            <a:off x="1627560" y="480960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44" name="Shape 32"/>
          <p:cNvSpPr/>
          <p:nvPr/>
        </p:nvSpPr>
        <p:spPr>
          <a:xfrm>
            <a:off x="1334880" y="396864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45" name="Shape 33"/>
          <p:cNvSpPr/>
          <p:nvPr/>
        </p:nvSpPr>
        <p:spPr>
          <a:xfrm>
            <a:off x="1481400" y="433440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46" name="Text 34"/>
          <p:cNvSpPr/>
          <p:nvPr/>
        </p:nvSpPr>
        <p:spPr>
          <a:xfrm>
            <a:off x="2606040" y="388620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rmAutofit/>
          </a:bodyPr>
          <a:lstStyle/>
          <a:p>
            <a:pPr defTabSz="914400">
              <a:lnSpc>
                <a:spcPct val="100000"/>
              </a:lnSpc>
              <a:tabLst>
                <a:tab pos="0" algn="l"/>
              </a:tabLst>
            </a:pPr>
            <a:r>
              <a:rPr lang="en-US" sz="1500" b="1" u="none" strike="noStrike">
                <a:solidFill>
                  <a:srgbClr val="1B1B20"/>
                </a:solidFill>
                <a:effectLst/>
                <a:uFillTx/>
                <a:latin typeface="Bricolage Grotesque"/>
                <a:ea typeface="Bricolage Grotesque"/>
              </a:rPr>
              <a:t>NOT Reliable, but Valid "on average"</a:t>
            </a:r>
            <a:endParaRPr lang="en-US" sz="1500" b="0" u="none" strike="noStrike">
              <a:solidFill>
                <a:srgbClr val="000000"/>
              </a:solidFill>
              <a:effectLst/>
              <a:uFillTx/>
              <a:latin typeface="Arial"/>
            </a:endParaRPr>
          </a:p>
        </p:txBody>
      </p:sp>
      <p:sp>
        <p:nvSpPr>
          <p:cNvPr id="347" name="Text 35"/>
          <p:cNvSpPr/>
          <p:nvPr/>
        </p:nvSpPr>
        <p:spPr>
          <a:xfrm>
            <a:off x="2606040" y="4389120"/>
            <a:ext cx="32000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474651"/>
                </a:solidFill>
                <a:effectLst/>
                <a:uFillTx/>
                <a:latin typeface="Hanken Grotesk"/>
                <a:ea typeface="Hanken Grotesk"/>
              </a:rPr>
              <a:t>Scattered widely, but centered on target</a:t>
            </a:r>
            <a:endParaRPr lang="en-US" sz="1300" b="0" u="none" strike="noStrike">
              <a:solidFill>
                <a:srgbClr val="000000"/>
              </a:solidFill>
              <a:effectLst/>
              <a:uFillTx/>
              <a:latin typeface="Arial"/>
            </a:endParaRPr>
          </a:p>
        </p:txBody>
      </p:sp>
      <p:sp>
        <p:nvSpPr>
          <p:cNvPr id="348" name="Shape 36"/>
          <p:cNvSpPr/>
          <p:nvPr/>
        </p:nvSpPr>
        <p:spPr>
          <a:xfrm>
            <a:off x="6172200" y="3474720"/>
            <a:ext cx="5486040" cy="1874160"/>
          </a:xfrm>
          <a:prstGeom prst="roundRect">
            <a:avLst>
              <a:gd name="adj" fmla="val 3902"/>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9" name="Shape 37"/>
          <p:cNvSpPr/>
          <p:nvPr/>
        </p:nvSpPr>
        <p:spPr>
          <a:xfrm>
            <a:off x="6473880" y="3666600"/>
            <a:ext cx="1499400" cy="1499400"/>
          </a:xfrm>
          <a:prstGeom prst="ellipse">
            <a:avLst/>
          </a:prstGeom>
          <a:solidFill>
            <a:srgbClr val="EDEBFF"/>
          </a:solidFill>
          <a:ln w="12700">
            <a:solidFill>
              <a:srgbClr val="EDEB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0" name="Shape 38"/>
          <p:cNvSpPr/>
          <p:nvPr/>
        </p:nvSpPr>
        <p:spPr>
          <a:xfrm>
            <a:off x="6720840" y="3913560"/>
            <a:ext cx="1005480" cy="1005480"/>
          </a:xfrm>
          <a:prstGeom prst="ellipse">
            <a:avLst/>
          </a:prstGeom>
          <a:solidFill>
            <a:srgbClr val="D2D0FA"/>
          </a:solidFill>
          <a:ln w="12700">
            <a:solidFill>
              <a:srgbClr val="D2D0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1" name="Shape 39"/>
          <p:cNvSpPr/>
          <p:nvPr/>
        </p:nvSpPr>
        <p:spPr>
          <a:xfrm>
            <a:off x="6967800" y="4160520"/>
            <a:ext cx="511560" cy="511560"/>
          </a:xfrm>
          <a:prstGeom prst="ellipse">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2" name="Shape 40"/>
          <p:cNvSpPr/>
          <p:nvPr/>
        </p:nvSpPr>
        <p:spPr>
          <a:xfrm>
            <a:off x="7689960" y="480960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53" name="Shape 41"/>
          <p:cNvSpPr/>
          <p:nvPr/>
        </p:nvSpPr>
        <p:spPr>
          <a:xfrm>
            <a:off x="6702480" y="466344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54" name="Shape 42"/>
          <p:cNvSpPr/>
          <p:nvPr/>
        </p:nvSpPr>
        <p:spPr>
          <a:xfrm>
            <a:off x="7434000" y="385884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55" name="Shape 43"/>
          <p:cNvSpPr/>
          <p:nvPr/>
        </p:nvSpPr>
        <p:spPr>
          <a:xfrm>
            <a:off x="7726680" y="429768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56" name="Shape 44"/>
          <p:cNvSpPr/>
          <p:nvPr/>
        </p:nvSpPr>
        <p:spPr>
          <a:xfrm>
            <a:off x="6958440" y="4883040"/>
            <a:ext cx="91080" cy="91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endParaRPr lang="en-US" sz="1800" b="0" u="none" strike="noStrike">
              <a:solidFill>
                <a:srgbClr val="FFFFFF"/>
              </a:solidFill>
              <a:effectLst/>
              <a:uFillTx/>
              <a:latin typeface="Arial"/>
            </a:endParaRPr>
          </a:p>
        </p:txBody>
      </p:sp>
      <p:sp>
        <p:nvSpPr>
          <p:cNvPr id="357" name="Text 45"/>
          <p:cNvSpPr/>
          <p:nvPr/>
        </p:nvSpPr>
        <p:spPr>
          <a:xfrm>
            <a:off x="8229600" y="388620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rmAutofit/>
          </a:bodyPr>
          <a:lstStyle/>
          <a:p>
            <a:pPr defTabSz="914400">
              <a:lnSpc>
                <a:spcPct val="100000"/>
              </a:lnSpc>
              <a:tabLst>
                <a:tab pos="0" algn="l"/>
              </a:tabLst>
            </a:pPr>
            <a:r>
              <a:rPr lang="en-US" sz="1500" b="1" u="none" strike="noStrike">
                <a:solidFill>
                  <a:srgbClr val="1B1B20"/>
                </a:solidFill>
                <a:effectLst/>
                <a:uFillTx/>
                <a:latin typeface="Bricolage Grotesque"/>
                <a:ea typeface="Bricolage Grotesque"/>
              </a:rPr>
              <a:t>NOT Reliable, NOT Valid</a:t>
            </a:r>
            <a:endParaRPr lang="en-US" sz="1500" b="0" u="none" strike="noStrike">
              <a:solidFill>
                <a:srgbClr val="000000"/>
              </a:solidFill>
              <a:effectLst/>
              <a:uFillTx/>
              <a:latin typeface="Arial"/>
            </a:endParaRPr>
          </a:p>
        </p:txBody>
      </p:sp>
      <p:sp>
        <p:nvSpPr>
          <p:cNvPr id="358" name="Text 46"/>
          <p:cNvSpPr/>
          <p:nvPr/>
        </p:nvSpPr>
        <p:spPr>
          <a:xfrm>
            <a:off x="8229600" y="4389120"/>
            <a:ext cx="32000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474651"/>
                </a:solidFill>
                <a:effectLst/>
                <a:uFillTx/>
                <a:latin typeface="Hanken Grotesk"/>
                <a:ea typeface="Hanken Grotesk"/>
              </a:rPr>
              <a:t>Scattered randomly, nowhere near the target</a:t>
            </a:r>
            <a:endParaRPr lang="en-US" sz="1300" b="0" u="none" strike="noStrike">
              <a:solidFill>
                <a:srgbClr val="000000"/>
              </a:solidFill>
              <a:effectLst/>
              <a:uFillTx/>
              <a:latin typeface="Arial"/>
            </a:endParaRPr>
          </a:p>
        </p:txBody>
      </p:sp>
      <p:sp>
        <p:nvSpPr>
          <p:cNvPr id="359" name="Shape 47"/>
          <p:cNvSpPr/>
          <p:nvPr/>
        </p:nvSpPr>
        <p:spPr>
          <a:xfrm>
            <a:off x="548640" y="5577840"/>
            <a:ext cx="11109600" cy="658080"/>
          </a:xfrm>
          <a:prstGeom prst="roundRect">
            <a:avLst>
              <a:gd name="adj" fmla="val 13889"/>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0" name="Text 48"/>
          <p:cNvSpPr/>
          <p:nvPr/>
        </p:nvSpPr>
        <p:spPr>
          <a:xfrm>
            <a:off x="777240" y="5577840"/>
            <a:ext cx="1065240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002019"/>
                </a:solidFill>
                <a:effectLst/>
                <a:uFillTx/>
                <a:latin typeface="Hanken Grotesk"/>
                <a:ea typeface="Hanken Grotesk"/>
              </a:rPr>
              <a:t>Reliability asks: if I measure this again, do I get a consistent result? Validity asks: am I actually measuring the right thing? A measurement needs both to be trustworthy.</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36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6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24</a:t>
            </a:r>
            <a:endParaRPr lang="en-US" sz="900" b="0" u="none" strike="noStrike">
              <a:solidFill>
                <a:srgbClr val="000000"/>
              </a:solidFill>
              <a:effectLst/>
              <a:uFillTx/>
              <a:latin typeface="Arial"/>
            </a:endParaRPr>
          </a:p>
        </p:txBody>
      </p:sp>
      <p:pic>
        <p:nvPicPr>
          <p:cNvPr id="363" name="Image 0" descr="/home/claude/assets/logo_crop.png"/>
          <p:cNvPicPr/>
          <p:nvPr/>
        </p:nvPicPr>
        <p:blipFill>
          <a:blip r:embed="rId3"/>
          <a:stretch/>
        </p:blipFill>
        <p:spPr>
          <a:xfrm>
            <a:off x="11201400" y="384120"/>
            <a:ext cx="456840" cy="511560"/>
          </a:xfrm>
          <a:prstGeom prst="rect">
            <a:avLst/>
          </a:prstGeom>
          <a:noFill/>
          <a:ln w="0">
            <a:noFill/>
          </a:ln>
        </p:spPr>
      </p:pic>
      <p:sp>
        <p:nvSpPr>
          <p:cNvPr id="36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Reliability vs. Validity: Measure It</a:t>
            </a:r>
            <a:endParaRPr lang="en-US" sz="2600" b="0" u="none" strike="noStrike">
              <a:solidFill>
                <a:srgbClr val="000000"/>
              </a:solidFill>
              <a:effectLst/>
              <a:uFillTx/>
              <a:latin typeface="Arial"/>
            </a:endParaRPr>
          </a:p>
        </p:txBody>
      </p:sp>
      <p:sp>
        <p:nvSpPr>
          <p:cNvPr id="365"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Reliability = how small the spread is (standard deviation).</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Validity = how close the average is to the true value (bias).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Each tuple below is (bias, spread) for 1,000 readings of a true value of 50.</a:t>
            </a:r>
            <a:endParaRPr lang="en-US" sz="2000" b="0" u="none" strike="noStrike" dirty="0">
              <a:solidFill>
                <a:srgbClr val="000000"/>
              </a:solidFill>
              <a:effectLst/>
              <a:uFillTx/>
              <a:latin typeface="Arial"/>
              <a:cs typeface="Arial"/>
            </a:endParaRPr>
          </a:p>
        </p:txBody>
      </p:sp>
      <p:sp>
        <p:nvSpPr>
          <p:cNvPr id="366"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7"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368"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369"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370"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100" b="0" u="none" strike="noStrike">
                <a:solidFill>
                  <a:srgbClr val="F1F5F9"/>
                </a:solidFill>
                <a:effectLst/>
                <a:uFillTx/>
                <a:latin typeface="Cantarell"/>
                <a:ea typeface="Consolas"/>
              </a:rPr>
              <a:t>import numpy as np</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rng = np.random.default_rng(0)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true_value = 50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def check(m):</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bias = m.mean() - true_value   </a:t>
            </a:r>
            <a:r>
              <a:rPr lang="en-US" sz="1100" b="0" i="1" u="none" strike="noStrike">
                <a:solidFill>
                  <a:srgbClr val="94A3B8"/>
                </a:solidFill>
                <a:effectLst/>
                <a:uFillTx/>
                <a:latin typeface="Cantarell"/>
                <a:ea typeface="Consolas"/>
              </a:rPr>
              <a:t># validity</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spread = m.std()               </a:t>
            </a:r>
            <a:r>
              <a:rPr lang="en-US" sz="1100" b="0" i="1" u="none" strike="noStrike">
                <a:solidFill>
                  <a:srgbClr val="94A3B8"/>
                </a:solidFill>
                <a:effectLst/>
                <a:uFillTx/>
                <a:latin typeface="Cantarell"/>
                <a:ea typeface="Consolas"/>
              </a:rPr>
              <a:t># reliability</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return round(float(bias), 1) + 0, round(float(spread), 1)</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good  = rng.normal(50, 1, 1000)    </a:t>
            </a:r>
            <a:r>
              <a:rPr lang="en-US" sz="1100" b="0" i="1" u="none" strike="noStrike">
                <a:solidFill>
                  <a:srgbClr val="94A3B8"/>
                </a:solidFill>
                <a:effectLst/>
                <a:uFillTx/>
                <a:latin typeface="Cantarell"/>
                <a:ea typeface="Consolas"/>
              </a:rPr>
              <a:t># reliable + valid</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off   = rng.normal(56, 1, 1000)    </a:t>
            </a:r>
            <a:r>
              <a:rPr lang="en-US" sz="1100" b="0" i="1" u="none" strike="noStrike">
                <a:solidFill>
                  <a:srgbClr val="94A3B8"/>
                </a:solidFill>
                <a:effectLst/>
                <a:uFillTx/>
                <a:latin typeface="Cantarell"/>
                <a:ea typeface="Consolas"/>
              </a:rPr>
              <a:t># reliable, NOT valid</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noisy = rng.normal(50, 8, 1000)    </a:t>
            </a:r>
            <a:r>
              <a:rPr lang="en-US" sz="1100" b="0" i="1" u="none" strike="noStrike">
                <a:solidFill>
                  <a:srgbClr val="94A3B8"/>
                </a:solidFill>
                <a:effectLst/>
                <a:uFillTx/>
                <a:latin typeface="Cantarell"/>
                <a:ea typeface="Consolas"/>
              </a:rPr>
              <a:t># NOT reliable, valid</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print(check(good))                </a:t>
            </a:r>
            <a:r>
              <a:rPr lang="en-US" sz="1100" b="0" i="1" u="none" strike="noStrike">
                <a:solidFill>
                  <a:srgbClr val="94A3B8"/>
                </a:solidFill>
                <a:effectLst/>
                <a:uFillTx/>
                <a:latin typeface="Cantarell"/>
                <a:ea typeface="Consolas"/>
              </a:rPr>
              <a:t># (0.0, 1.0)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print(check(off))                 </a:t>
            </a:r>
            <a:r>
              <a:rPr lang="en-US" sz="1100" b="0" i="1" u="none" strike="noStrike">
                <a:solidFill>
                  <a:srgbClr val="94A3B8"/>
                </a:solidFill>
                <a:effectLst/>
                <a:uFillTx/>
                <a:latin typeface="Cantarell"/>
                <a:ea typeface="Consolas"/>
              </a:rPr>
              <a:t># (6.0, 1.0)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print(check(noisy))               </a:t>
            </a:r>
            <a:r>
              <a:rPr lang="en-US" sz="1100" b="0" i="1" u="none" strike="noStrike">
                <a:solidFill>
                  <a:srgbClr val="94A3B8"/>
                </a:solidFill>
                <a:effectLst/>
                <a:uFillTx/>
                <a:latin typeface="Cantarell"/>
                <a:ea typeface="Consolas"/>
              </a:rPr>
              <a:t># (-0.4, 7.9)</a:t>
            </a:r>
            <a:endParaRPr lang="en-US" sz="11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37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7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25</a:t>
            </a:r>
            <a:endParaRPr lang="en-US" sz="900" b="0" u="none" strike="noStrike">
              <a:solidFill>
                <a:srgbClr val="000000"/>
              </a:solidFill>
              <a:effectLst/>
              <a:uFillTx/>
              <a:latin typeface="Arial"/>
            </a:endParaRPr>
          </a:p>
        </p:txBody>
      </p:sp>
      <p:pic>
        <p:nvPicPr>
          <p:cNvPr id="373" name="Image 0" descr="/home/claude/assets/logo_crop.png"/>
          <p:cNvPicPr/>
          <p:nvPr/>
        </p:nvPicPr>
        <p:blipFill>
          <a:blip r:embed="rId3"/>
          <a:stretch/>
        </p:blipFill>
        <p:spPr>
          <a:xfrm>
            <a:off x="11201400" y="384120"/>
            <a:ext cx="456840" cy="511560"/>
          </a:xfrm>
          <a:prstGeom prst="rect">
            <a:avLst/>
          </a:prstGeom>
          <a:noFill/>
          <a:ln w="0">
            <a:noFill/>
          </a:ln>
        </p:spPr>
      </p:pic>
      <p:sp>
        <p:nvSpPr>
          <p:cNvPr id="374"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5"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376"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PART 2</a:t>
            </a:r>
            <a:endParaRPr lang="en-US" sz="900" b="0" u="none" strike="noStrike">
              <a:solidFill>
                <a:srgbClr val="000000"/>
              </a:solidFill>
              <a:effectLst/>
              <a:uFillTx/>
              <a:latin typeface="Arial"/>
            </a:endParaRPr>
          </a:p>
        </p:txBody>
      </p:sp>
      <p:sp>
        <p:nvSpPr>
          <p:cNvPr id="377"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Practice Set — Collecting &amp; Measuring Data</a:t>
            </a:r>
            <a:endParaRPr lang="en-US" sz="2200" b="0" u="none" strike="noStrike">
              <a:solidFill>
                <a:srgbClr val="000000"/>
              </a:solidFill>
              <a:effectLst/>
              <a:uFillTx/>
              <a:latin typeface="Arial"/>
            </a:endParaRPr>
          </a:p>
        </p:txBody>
      </p:sp>
      <p:sp>
        <p:nvSpPr>
          <p:cNvPr id="378"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Try these yourself first — pencil, paper or a quick Python cell.</a:t>
            </a:r>
            <a:endParaRPr lang="en-US" sz="1200" b="0" u="none" strike="noStrike">
              <a:solidFill>
                <a:srgbClr val="000000"/>
              </a:solidFill>
              <a:effectLst/>
              <a:uFillTx/>
              <a:latin typeface="Arial"/>
            </a:endParaRPr>
          </a:p>
        </p:txBody>
      </p:sp>
      <p:sp>
        <p:nvSpPr>
          <p:cNvPr id="379" name="Shape 7"/>
          <p:cNvSpPr/>
          <p:nvPr/>
        </p:nvSpPr>
        <p:spPr>
          <a:xfrm>
            <a:off x="548640" y="1965960"/>
            <a:ext cx="11063880" cy="753120"/>
          </a:xfrm>
          <a:prstGeom prst="roundRect">
            <a:avLst>
              <a:gd name="adj" fmla="val 1213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0" name="Shape 8"/>
          <p:cNvSpPr/>
          <p:nvPr/>
        </p:nvSpPr>
        <p:spPr>
          <a:xfrm>
            <a:off x="731520" y="216900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1" name="Text 9"/>
          <p:cNvSpPr/>
          <p:nvPr/>
        </p:nvSpPr>
        <p:spPr>
          <a:xfrm>
            <a:off x="731520" y="216900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382" name="Text 10"/>
          <p:cNvSpPr/>
          <p:nvPr/>
        </p:nvSpPr>
        <p:spPr>
          <a:xfrm>
            <a:off x="1234440" y="1965960"/>
            <a:ext cx="10149480" cy="753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your own final project idea, decide whether your data would be primary or secondary, and explain why</a:t>
            </a:r>
            <a:endParaRPr lang="en-US" sz="1400" b="0" u="none" strike="noStrike">
              <a:solidFill>
                <a:srgbClr val="000000"/>
              </a:solidFill>
              <a:effectLst/>
              <a:uFillTx/>
              <a:latin typeface="Arial"/>
            </a:endParaRPr>
          </a:p>
        </p:txBody>
      </p:sp>
      <p:sp>
        <p:nvSpPr>
          <p:cNvPr id="383" name="Shape 11"/>
          <p:cNvSpPr/>
          <p:nvPr/>
        </p:nvSpPr>
        <p:spPr>
          <a:xfrm>
            <a:off x="548640" y="2829240"/>
            <a:ext cx="11063880" cy="753120"/>
          </a:xfrm>
          <a:prstGeom prst="roundRect">
            <a:avLst>
              <a:gd name="adj" fmla="val 1213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4" name="Shape 12"/>
          <p:cNvSpPr/>
          <p:nvPr/>
        </p:nvSpPr>
        <p:spPr>
          <a:xfrm>
            <a:off x="731520" y="30322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5" name="Text 13"/>
          <p:cNvSpPr/>
          <p:nvPr/>
        </p:nvSpPr>
        <p:spPr>
          <a:xfrm>
            <a:off x="731520" y="30322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386" name="Text 14"/>
          <p:cNvSpPr/>
          <p:nvPr/>
        </p:nvSpPr>
        <p:spPr>
          <a:xfrm>
            <a:off x="1234440" y="2829240"/>
            <a:ext cx="10149480" cy="753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A researcher samples only students who walk past the library at noon. Name this sampling technique, and explain its main risk</a:t>
            </a:r>
            <a:endParaRPr lang="en-US" sz="1400" b="0" u="none" strike="noStrike">
              <a:solidFill>
                <a:srgbClr val="000000"/>
              </a:solidFill>
              <a:effectLst/>
              <a:uFillTx/>
              <a:latin typeface="Arial"/>
            </a:endParaRPr>
          </a:p>
        </p:txBody>
      </p:sp>
      <p:sp>
        <p:nvSpPr>
          <p:cNvPr id="387" name="Shape 15"/>
          <p:cNvSpPr/>
          <p:nvPr/>
        </p:nvSpPr>
        <p:spPr>
          <a:xfrm>
            <a:off x="548640" y="3692520"/>
            <a:ext cx="11063880" cy="753120"/>
          </a:xfrm>
          <a:prstGeom prst="roundRect">
            <a:avLst>
              <a:gd name="adj" fmla="val 1213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8" name="Shape 16"/>
          <p:cNvSpPr/>
          <p:nvPr/>
        </p:nvSpPr>
        <p:spPr>
          <a:xfrm>
            <a:off x="731520" y="389520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9" name="Text 17"/>
          <p:cNvSpPr/>
          <p:nvPr/>
        </p:nvSpPr>
        <p:spPr>
          <a:xfrm>
            <a:off x="731520" y="389520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90" name="Text 18"/>
          <p:cNvSpPr/>
          <p:nvPr/>
        </p:nvSpPr>
        <p:spPr>
          <a:xfrm>
            <a:off x="1234440" y="3692520"/>
            <a:ext cx="10149480" cy="753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A study on a rare medical condition asks each participant to refer other people with the same condition. Name this technique, and explain when it’s genuinely the right choice despite being non-random</a:t>
            </a:r>
            <a:endParaRPr lang="en-US" sz="1400" b="0" u="none" strike="noStrike">
              <a:solidFill>
                <a:srgbClr val="000000"/>
              </a:solidFill>
              <a:effectLst/>
              <a:uFillTx/>
              <a:latin typeface="Arial"/>
            </a:endParaRPr>
          </a:p>
        </p:txBody>
      </p:sp>
      <p:sp>
        <p:nvSpPr>
          <p:cNvPr id="391" name="Shape 19"/>
          <p:cNvSpPr/>
          <p:nvPr/>
        </p:nvSpPr>
        <p:spPr>
          <a:xfrm>
            <a:off x="548640" y="4555440"/>
            <a:ext cx="11063880" cy="753120"/>
          </a:xfrm>
          <a:prstGeom prst="roundRect">
            <a:avLst>
              <a:gd name="adj" fmla="val 1213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2" name="Shape 20"/>
          <p:cNvSpPr/>
          <p:nvPr/>
        </p:nvSpPr>
        <p:spPr>
          <a:xfrm>
            <a:off x="731520" y="47584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3" name="Text 21"/>
          <p:cNvSpPr/>
          <p:nvPr/>
        </p:nvSpPr>
        <p:spPr>
          <a:xfrm>
            <a:off x="731520" y="47584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394" name="Text 22"/>
          <p:cNvSpPr/>
          <p:nvPr/>
        </p:nvSpPr>
        <p:spPr>
          <a:xfrm>
            <a:off x="1234440" y="4555440"/>
            <a:ext cx="10149480" cy="753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Propose one reasonable way to operationalize "student engagement" using a measurable proxy</a:t>
            </a:r>
            <a:endParaRPr lang="en-US" sz="1400" b="0" u="none" strike="noStrike">
              <a:solidFill>
                <a:srgbClr val="000000"/>
              </a:solidFill>
              <a:effectLst/>
              <a:uFillTx/>
              <a:latin typeface="Arial"/>
            </a:endParaRPr>
          </a:p>
        </p:txBody>
      </p:sp>
      <p:sp>
        <p:nvSpPr>
          <p:cNvPr id="395" name="Shape 23"/>
          <p:cNvSpPr/>
          <p:nvPr/>
        </p:nvSpPr>
        <p:spPr>
          <a:xfrm>
            <a:off x="548640" y="5418720"/>
            <a:ext cx="11063880" cy="753120"/>
          </a:xfrm>
          <a:prstGeom prst="roundRect">
            <a:avLst>
              <a:gd name="adj" fmla="val 12136"/>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6" name="Shape 24"/>
          <p:cNvSpPr/>
          <p:nvPr/>
        </p:nvSpPr>
        <p:spPr>
          <a:xfrm>
            <a:off x="731520" y="56217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7" name="Text 25"/>
          <p:cNvSpPr/>
          <p:nvPr/>
        </p:nvSpPr>
        <p:spPr>
          <a:xfrm>
            <a:off x="731520" y="56217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5</a:t>
            </a:r>
            <a:endParaRPr lang="en-US" sz="1300" b="0" u="none" strike="noStrike">
              <a:solidFill>
                <a:srgbClr val="000000"/>
              </a:solidFill>
              <a:effectLst/>
              <a:uFillTx/>
              <a:latin typeface="Arial"/>
            </a:endParaRPr>
          </a:p>
        </p:txBody>
      </p:sp>
      <p:sp>
        <p:nvSpPr>
          <p:cNvPr id="398" name="Text 26"/>
          <p:cNvSpPr/>
          <p:nvPr/>
        </p:nvSpPr>
        <p:spPr>
          <a:xfrm>
            <a:off x="1234440" y="5418720"/>
            <a:ext cx="10149480" cy="753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A weight scale gives a different reading every time you step on it, seconds apart, with nothing else changing. Is this a reliability problem or a validity problem? Explain</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399"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0"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1"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PART 3</a:t>
            </a:r>
            <a:endParaRPr lang="en-US" sz="1400" b="0" u="none" strike="noStrike">
              <a:solidFill>
                <a:srgbClr val="FFFFFF"/>
              </a:solidFill>
              <a:effectLst/>
              <a:uFillTx/>
              <a:latin typeface="Arial"/>
            </a:endParaRPr>
          </a:p>
        </p:txBody>
      </p:sp>
      <p:sp>
        <p:nvSpPr>
          <p:cNvPr id="402"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Types of Data &amp; Measurement Scales</a:t>
            </a:r>
            <a:endParaRPr lang="en-US" sz="4000" b="0" u="none" strike="noStrike">
              <a:solidFill>
                <a:srgbClr val="FFFFFF"/>
              </a:solidFill>
              <a:effectLst/>
              <a:uFillTx/>
              <a:latin typeface="Arial"/>
            </a:endParaRPr>
          </a:p>
        </p:txBody>
      </p:sp>
      <p:sp>
        <p:nvSpPr>
          <p:cNvPr id="403"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Not all data can be treated the same way — this determines which statistics and which charts are even valid to use</a:t>
            </a:r>
            <a:endParaRPr lang="en-US" sz="1500" b="0" u="none" strike="noStrike">
              <a:solidFill>
                <a:srgbClr val="FFFFFF"/>
              </a:solidFill>
              <a:effectLst/>
              <a:uFillTx/>
              <a:latin typeface="Arial"/>
            </a:endParaRPr>
          </a:p>
        </p:txBody>
      </p:sp>
      <p:sp>
        <p:nvSpPr>
          <p:cNvPr id="404"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26</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405"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06"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27</a:t>
            </a:r>
            <a:endParaRPr lang="en-US" sz="900" b="0" u="none" strike="noStrike">
              <a:solidFill>
                <a:srgbClr val="000000"/>
              </a:solidFill>
              <a:effectLst/>
              <a:uFillTx/>
              <a:latin typeface="Arial"/>
            </a:endParaRPr>
          </a:p>
        </p:txBody>
      </p:sp>
      <p:pic>
        <p:nvPicPr>
          <p:cNvPr id="407" name="Image 0" descr="/home/claude/assets/logo_crop.png"/>
          <p:cNvPicPr/>
          <p:nvPr/>
        </p:nvPicPr>
        <p:blipFill>
          <a:blip r:embed="rId3"/>
          <a:stretch/>
        </p:blipFill>
        <p:spPr>
          <a:xfrm>
            <a:off x="11201400" y="384120"/>
            <a:ext cx="456840" cy="511560"/>
          </a:xfrm>
          <a:prstGeom prst="rect">
            <a:avLst/>
          </a:prstGeom>
          <a:noFill/>
          <a:ln w="0">
            <a:noFill/>
          </a:ln>
        </p:spPr>
      </p:pic>
      <p:sp>
        <p:nvSpPr>
          <p:cNvPr id="408"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Categorical vs. Numerical Data</a:t>
            </a:r>
            <a:endParaRPr lang="en-US" sz="2600" b="0" u="none" strike="noStrike">
              <a:solidFill>
                <a:srgbClr val="000000"/>
              </a:solidFill>
              <a:effectLst/>
              <a:uFillTx/>
              <a:latin typeface="Arial"/>
            </a:endParaRPr>
          </a:p>
        </p:txBody>
      </p:sp>
      <p:sp>
        <p:nvSpPr>
          <p:cNvPr id="409" name="Shape 3"/>
          <p:cNvSpPr/>
          <p:nvPr/>
        </p:nvSpPr>
        <p:spPr>
          <a:xfrm>
            <a:off x="54864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0" name="Shape 4"/>
          <p:cNvSpPr/>
          <p:nvPr/>
        </p:nvSpPr>
        <p:spPr>
          <a:xfrm>
            <a:off x="777240" y="1965960"/>
            <a:ext cx="50288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1" name="Text 5"/>
          <p:cNvSpPr/>
          <p:nvPr/>
        </p:nvSpPr>
        <p:spPr>
          <a:xfrm>
            <a:off x="77724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Categorical Data</a:t>
            </a:r>
            <a:endParaRPr lang="en-US" sz="1400" b="0" u="none" strike="noStrike">
              <a:solidFill>
                <a:srgbClr val="000000"/>
              </a:solidFill>
              <a:effectLst/>
              <a:uFillTx/>
              <a:latin typeface="Arial"/>
            </a:endParaRPr>
          </a:p>
        </p:txBody>
      </p:sp>
      <p:sp>
        <p:nvSpPr>
          <p:cNvPr id="412" name="Text 6"/>
          <p:cNvSpPr/>
          <p:nvPr/>
        </p:nvSpPr>
        <p:spPr>
          <a:xfrm>
            <a:off x="82296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901"/>
              </a:spcAft>
              <a:buClr>
                <a:srgbClr val="1B1B20"/>
              </a:buClr>
              <a:buFont typeface="Arial"/>
              <a:buChar char="•"/>
            </a:pPr>
            <a:r>
              <a:rPr lang="en-US" sz="2000" b="0" u="none" strike="noStrike" dirty="0">
                <a:solidFill>
                  <a:srgbClr val="1B1B20"/>
                </a:solidFill>
                <a:effectLst/>
                <a:uFillTx/>
                <a:latin typeface="Hanken Grotesk"/>
                <a:ea typeface="Hanken Grotesk"/>
              </a:rPr>
              <a:t>Describes a quality or category — groups, labels, names</a:t>
            </a:r>
            <a:endParaRPr lang="en-US" sz="2000" b="0" u="none" strike="noStrike" dirty="0">
              <a:solidFill>
                <a:srgbClr val="000000"/>
              </a:solidFill>
              <a:effectLst/>
              <a:uFillTx/>
              <a:latin typeface="Arial"/>
              <a:cs typeface="Arial"/>
            </a:endParaRPr>
          </a:p>
          <a:p>
            <a:pPr marL="342900" indent="-342900" defTabSz="914400">
              <a:lnSpc>
                <a:spcPct val="100000"/>
              </a:lnSpc>
              <a:spcAft>
                <a:spcPts val="901"/>
              </a:spcAft>
              <a:buClr>
                <a:srgbClr val="1B1B20"/>
              </a:buClr>
              <a:buFont typeface="Arial"/>
              <a:buChar char="•"/>
            </a:pPr>
            <a:r>
              <a:rPr lang="en-US" sz="2000" dirty="0">
                <a:solidFill>
                  <a:srgbClr val="1B1B20"/>
                </a:solidFill>
                <a:latin typeface="Hanken Grotesk"/>
                <a:ea typeface="Hanken Grotesk"/>
              </a:rPr>
              <a:t>Nominal</a:t>
            </a:r>
            <a:r>
              <a:rPr lang="en-US" sz="2000" b="0" u="none" strike="noStrike" dirty="0">
                <a:solidFill>
                  <a:srgbClr val="1B1B20"/>
                </a:solidFill>
                <a:effectLst/>
                <a:uFillTx/>
                <a:latin typeface="Hanken Grotesk"/>
                <a:ea typeface="Hanken Grotesk"/>
              </a:rPr>
              <a:t>: no natural order (blood type, country, color)</a:t>
            </a:r>
            <a:endParaRPr lang="en-US" sz="2000" b="0" u="none" strike="noStrike" dirty="0">
              <a:solidFill>
                <a:srgbClr val="000000"/>
              </a:solidFill>
              <a:effectLst/>
              <a:uFillTx/>
              <a:latin typeface="Arial"/>
              <a:cs typeface="Arial"/>
            </a:endParaRPr>
          </a:p>
          <a:p>
            <a:pPr marL="342900" indent="-342900" defTabSz="914400">
              <a:lnSpc>
                <a:spcPct val="100000"/>
              </a:lnSpc>
              <a:spcAft>
                <a:spcPts val="901"/>
              </a:spcAft>
              <a:buClr>
                <a:srgbClr val="1B1B20"/>
              </a:buClr>
              <a:buFont typeface="Arial"/>
              <a:buChar char="•"/>
            </a:pPr>
            <a:r>
              <a:rPr lang="en-US" sz="2000" b="0" u="none" strike="noStrike" dirty="0">
                <a:solidFill>
                  <a:srgbClr val="1B1B20"/>
                </a:solidFill>
                <a:effectLst/>
                <a:uFillTx/>
                <a:latin typeface="Hanken Grotesk"/>
                <a:ea typeface="Hanken Grotesk"/>
              </a:rPr>
              <a:t>Ordinal: a natural order exists, but distances aren’t meaningful (satisfaction rating, education level)</a:t>
            </a:r>
            <a:endParaRPr lang="en-US" sz="2000" b="0" u="none" strike="noStrike" dirty="0">
              <a:solidFill>
                <a:srgbClr val="000000"/>
              </a:solidFill>
              <a:effectLst/>
              <a:uFillTx/>
              <a:latin typeface="Arial"/>
              <a:cs typeface="Arial"/>
            </a:endParaRPr>
          </a:p>
        </p:txBody>
      </p:sp>
      <p:sp>
        <p:nvSpPr>
          <p:cNvPr id="413" name="Shape 7"/>
          <p:cNvSpPr/>
          <p:nvPr/>
        </p:nvSpPr>
        <p:spPr>
          <a:xfrm>
            <a:off x="617220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4" name="Shape 8"/>
          <p:cNvSpPr/>
          <p:nvPr/>
        </p:nvSpPr>
        <p:spPr>
          <a:xfrm>
            <a:off x="6400800" y="1965960"/>
            <a:ext cx="502884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5" name="Text 9"/>
          <p:cNvSpPr/>
          <p:nvPr/>
        </p:nvSpPr>
        <p:spPr>
          <a:xfrm>
            <a:off x="640080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Numerical Data</a:t>
            </a:r>
            <a:endParaRPr lang="en-US" sz="1400" b="0" u="none" strike="noStrike">
              <a:solidFill>
                <a:srgbClr val="000000"/>
              </a:solidFill>
              <a:effectLst/>
              <a:uFillTx/>
              <a:latin typeface="Arial"/>
            </a:endParaRPr>
          </a:p>
        </p:txBody>
      </p:sp>
      <p:sp>
        <p:nvSpPr>
          <p:cNvPr id="416" name="Text 10"/>
          <p:cNvSpPr/>
          <p:nvPr/>
        </p:nvSpPr>
        <p:spPr>
          <a:xfrm>
            <a:off x="644652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2000" b="0" u="none" strike="noStrike" dirty="0">
                <a:solidFill>
                  <a:srgbClr val="1B1B20"/>
                </a:solidFill>
                <a:effectLst/>
                <a:uFillTx/>
                <a:latin typeface="Hanken Grotesk"/>
                <a:ea typeface="Hanken Grotesk"/>
              </a:rPr>
              <a:t>Describes a measurable quantity — counts or measurements</a:t>
            </a:r>
            <a:endParaRPr lang="en-US" sz="20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2000" b="0" u="none" strike="noStrike" dirty="0">
                <a:solidFill>
                  <a:srgbClr val="1B1B20"/>
                </a:solidFill>
                <a:effectLst/>
                <a:uFillTx/>
                <a:latin typeface="Hanken Grotesk"/>
                <a:ea typeface="Hanken Grotesk"/>
              </a:rPr>
              <a:t>Discrete: countable, whole values only (number of children, number of orders)</a:t>
            </a:r>
            <a:endParaRPr lang="en-US" sz="20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2000" b="0" u="none" strike="noStrike" dirty="0">
                <a:solidFill>
                  <a:srgbClr val="1B1B20"/>
                </a:solidFill>
                <a:effectLst/>
                <a:uFillTx/>
                <a:latin typeface="Hanken Grotesk"/>
                <a:ea typeface="Hanken Grotesk"/>
              </a:rPr>
              <a:t>Continuous: can take any value in a range (height, temperature, time)</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41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1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28</a:t>
            </a:r>
            <a:endParaRPr lang="en-US" sz="900" b="0" u="none" strike="noStrike">
              <a:solidFill>
                <a:srgbClr val="000000"/>
              </a:solidFill>
              <a:effectLst/>
              <a:uFillTx/>
              <a:latin typeface="Arial"/>
            </a:endParaRPr>
          </a:p>
        </p:txBody>
      </p:sp>
      <p:pic>
        <p:nvPicPr>
          <p:cNvPr id="419" name="Image 0" descr="/home/claude/assets/logo_crop.png"/>
          <p:cNvPicPr/>
          <p:nvPr/>
        </p:nvPicPr>
        <p:blipFill>
          <a:blip r:embed="rId3"/>
          <a:stretch/>
        </p:blipFill>
        <p:spPr>
          <a:xfrm>
            <a:off x="11201400" y="384120"/>
            <a:ext cx="456840" cy="511560"/>
          </a:xfrm>
          <a:prstGeom prst="rect">
            <a:avLst/>
          </a:prstGeom>
          <a:noFill/>
          <a:ln w="0">
            <a:noFill/>
          </a:ln>
        </p:spPr>
      </p:pic>
      <p:sp>
        <p:nvSpPr>
          <p:cNvPr id="42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Data Types in pandas</a:t>
            </a:r>
            <a:endParaRPr lang="en-US" sz="2600" b="0" u="none" strike="noStrike">
              <a:solidFill>
                <a:srgbClr val="000000"/>
              </a:solidFill>
              <a:effectLst/>
              <a:uFillTx/>
              <a:latin typeface="Arial"/>
            </a:endParaRPr>
          </a:p>
        </p:txBody>
      </p:sp>
      <p:sp>
        <p:nvSpPr>
          <p:cNvPr id="421"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pandas tells you each column's type with .</a:t>
            </a:r>
            <a:r>
              <a:rPr lang="en-US" sz="2000" b="0" u="none" strike="noStrike" dirty="0" err="1">
                <a:solidFill>
                  <a:srgbClr val="1B1B20"/>
                </a:solidFill>
                <a:effectLst/>
                <a:uFillTx/>
                <a:latin typeface="Hanken Grotesk"/>
                <a:ea typeface="Hanken Grotesk"/>
              </a:rPr>
              <a:t>dtypes</a:t>
            </a:r>
            <a:r>
              <a:rPr lang="en-US" sz="2000" b="0" u="none" strike="noStrike" dirty="0">
                <a:solidFill>
                  <a:srgbClr val="1B1B20"/>
                </a:solidFill>
                <a:effectLst/>
                <a:uFillTx/>
                <a:latin typeface="Hanken Grotesk"/>
                <a:ea typeface="Hanken Grotesk"/>
              </a:rPr>
              <a:t>.</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Ordinal data needs an explicit order — otherwise Python treats labels as plain text.</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An ordered Categorical lets you ask for max or min of a rating.</a:t>
            </a:r>
            <a:endParaRPr lang="en-US" sz="2000" b="0" u="none" strike="noStrike" dirty="0">
              <a:solidFill>
                <a:srgbClr val="000000"/>
              </a:solidFill>
              <a:effectLst/>
              <a:uFillTx/>
              <a:latin typeface="Arial"/>
              <a:cs typeface="Arial"/>
            </a:endParaRPr>
          </a:p>
        </p:txBody>
      </p:sp>
      <p:sp>
        <p:nvSpPr>
          <p:cNvPr id="422"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3"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424"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425"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426"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pandas as pd</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df = pd.DataFrame({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"blood": ["A", "O", "B"],          </a:t>
            </a:r>
            <a:r>
              <a:rPr lang="en-US" sz="1200" b="0" i="1" u="none" strike="noStrike">
                <a:solidFill>
                  <a:srgbClr val="94A3B8"/>
                </a:solidFill>
                <a:effectLst/>
                <a:uFillTx/>
                <a:latin typeface="Cantarell"/>
                <a:ea typeface="Consolas"/>
              </a:rPr>
              <a:t># nominal</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"rating": ["low", "high", "mid"],  </a:t>
            </a:r>
            <a:r>
              <a:rPr lang="en-US" sz="1200" b="0" i="1" u="none" strike="noStrike">
                <a:solidFill>
                  <a:srgbClr val="94A3B8"/>
                </a:solidFill>
                <a:effectLst/>
                <a:uFillTx/>
                <a:latin typeface="Cantarell"/>
                <a:ea typeface="Consolas"/>
              </a:rPr>
              <a:t># ordinal</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"kids": [0, 2, 1],                 </a:t>
            </a:r>
            <a:r>
              <a:rPr lang="en-US" sz="1200" b="0" i="1" u="none" strike="noStrike">
                <a:solidFill>
                  <a:srgbClr val="94A3B8"/>
                </a:solidFill>
                <a:effectLst/>
                <a:uFillTx/>
                <a:latin typeface="Cantarell"/>
                <a:ea typeface="Consolas"/>
              </a:rPr>
              <a:t># discrete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"height": [160.5, 172.0, 181.2],   </a:t>
            </a:r>
            <a:r>
              <a:rPr lang="en-US" sz="1200" b="0" i="1" u="none" strike="noStrike">
                <a:solidFill>
                  <a:srgbClr val="94A3B8"/>
                </a:solidFill>
                <a:effectLst/>
                <a:uFillTx/>
                <a:latin typeface="Cantarell"/>
                <a:ea typeface="Consolas"/>
              </a:rPr>
              <a:t># continuous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df["rating"] = pd.Categorical(</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df["rating"], categories=["low", "mid", "high"],</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ordered=True)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print(df.dtypes)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print(df["rating"].max())         </a:t>
            </a:r>
            <a:r>
              <a:rPr lang="en-US" sz="1200" b="0" i="1" u="none" strike="noStrike">
                <a:solidFill>
                  <a:srgbClr val="94A3B8"/>
                </a:solidFill>
                <a:effectLst/>
                <a:uFillTx/>
                <a:latin typeface="Cantarell"/>
                <a:ea typeface="Consolas"/>
              </a:rPr>
              <a:t># high</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42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2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29</a:t>
            </a:r>
            <a:endParaRPr lang="en-US" sz="900" b="0" u="none" strike="noStrike">
              <a:solidFill>
                <a:srgbClr val="000000"/>
              </a:solidFill>
              <a:effectLst/>
              <a:uFillTx/>
              <a:latin typeface="Arial"/>
            </a:endParaRPr>
          </a:p>
        </p:txBody>
      </p:sp>
      <p:pic>
        <p:nvPicPr>
          <p:cNvPr id="429" name="Image 0" descr="/home/claude/assets/logo_crop.png"/>
          <p:cNvPicPr/>
          <p:nvPr/>
        </p:nvPicPr>
        <p:blipFill>
          <a:blip r:embed="rId3"/>
          <a:stretch/>
        </p:blipFill>
        <p:spPr>
          <a:xfrm>
            <a:off x="11201400" y="384120"/>
            <a:ext cx="456840" cy="511560"/>
          </a:xfrm>
          <a:prstGeom prst="rect">
            <a:avLst/>
          </a:prstGeom>
          <a:noFill/>
          <a:ln w="0">
            <a:noFill/>
          </a:ln>
        </p:spPr>
      </p:pic>
      <p:sp>
        <p:nvSpPr>
          <p:cNvPr id="43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Four Measurement Scales, at a Glance</a:t>
            </a:r>
            <a:endParaRPr lang="en-US" sz="2600" b="0" u="none" strike="noStrike">
              <a:solidFill>
                <a:srgbClr val="000000"/>
              </a:solidFill>
              <a:effectLst/>
              <a:uFillTx/>
              <a:latin typeface="Arial"/>
            </a:endParaRPr>
          </a:p>
        </p:txBody>
      </p:sp>
      <p:sp>
        <p:nvSpPr>
          <p:cNvPr id="431" name="Shape 3"/>
          <p:cNvSpPr/>
          <p:nvPr/>
        </p:nvSpPr>
        <p:spPr>
          <a:xfrm>
            <a:off x="54864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2" name="Shape 4"/>
          <p:cNvSpPr/>
          <p:nvPr/>
        </p:nvSpPr>
        <p:spPr>
          <a:xfrm>
            <a:off x="160488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3" name="Text 5"/>
          <p:cNvSpPr/>
          <p:nvPr/>
        </p:nvSpPr>
        <p:spPr>
          <a:xfrm>
            <a:off x="160488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434" name="Shape 6"/>
          <p:cNvSpPr/>
          <p:nvPr/>
        </p:nvSpPr>
        <p:spPr>
          <a:xfrm>
            <a:off x="731520" y="2606040"/>
            <a:ext cx="2239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5" name="Text 7"/>
          <p:cNvSpPr/>
          <p:nvPr/>
        </p:nvSpPr>
        <p:spPr>
          <a:xfrm>
            <a:off x="73152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Nominal</a:t>
            </a:r>
            <a:endParaRPr lang="en-US" sz="1400" b="0" u="none" strike="noStrike">
              <a:solidFill>
                <a:srgbClr val="000000"/>
              </a:solidFill>
              <a:effectLst/>
              <a:uFillTx/>
              <a:latin typeface="Arial"/>
            </a:endParaRPr>
          </a:p>
        </p:txBody>
      </p:sp>
      <p:sp>
        <p:nvSpPr>
          <p:cNvPr id="436" name="Text 8"/>
          <p:cNvSpPr/>
          <p:nvPr/>
        </p:nvSpPr>
        <p:spPr>
          <a:xfrm>
            <a:off x="77724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Labels only — no order, no distance. Example: eye color, country of birth</a:t>
            </a:r>
            <a:endParaRPr lang="en-US" sz="1300" b="0" u="none" strike="noStrike">
              <a:solidFill>
                <a:srgbClr val="000000"/>
              </a:solidFill>
              <a:effectLst/>
              <a:uFillTx/>
              <a:latin typeface="Arial"/>
            </a:endParaRPr>
          </a:p>
        </p:txBody>
      </p:sp>
      <p:sp>
        <p:nvSpPr>
          <p:cNvPr id="437" name="Shape 9"/>
          <p:cNvSpPr/>
          <p:nvPr/>
        </p:nvSpPr>
        <p:spPr>
          <a:xfrm>
            <a:off x="338328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8" name="Shape 10"/>
          <p:cNvSpPr/>
          <p:nvPr/>
        </p:nvSpPr>
        <p:spPr>
          <a:xfrm>
            <a:off x="443952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9" name="Text 11"/>
          <p:cNvSpPr/>
          <p:nvPr/>
        </p:nvSpPr>
        <p:spPr>
          <a:xfrm>
            <a:off x="44395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440" name="Shape 12"/>
          <p:cNvSpPr/>
          <p:nvPr/>
        </p:nvSpPr>
        <p:spPr>
          <a:xfrm>
            <a:off x="3566160" y="2606040"/>
            <a:ext cx="2239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1" name="Text 13"/>
          <p:cNvSpPr/>
          <p:nvPr/>
        </p:nvSpPr>
        <p:spPr>
          <a:xfrm>
            <a:off x="356616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Ordinal</a:t>
            </a:r>
            <a:endParaRPr lang="en-US" sz="1400" b="0" u="none" strike="noStrike">
              <a:solidFill>
                <a:srgbClr val="000000"/>
              </a:solidFill>
              <a:effectLst/>
              <a:uFillTx/>
              <a:latin typeface="Arial"/>
            </a:endParaRPr>
          </a:p>
        </p:txBody>
      </p:sp>
      <p:sp>
        <p:nvSpPr>
          <p:cNvPr id="442" name="Text 14"/>
          <p:cNvSpPr/>
          <p:nvPr/>
        </p:nvSpPr>
        <p:spPr>
          <a:xfrm>
            <a:off x="361188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Has order, but the gaps between values aren’t equal. Example: movie star ratings</a:t>
            </a:r>
            <a:endParaRPr lang="en-US" sz="1300" b="0" u="none" strike="noStrike">
              <a:solidFill>
                <a:srgbClr val="000000"/>
              </a:solidFill>
              <a:effectLst/>
              <a:uFillTx/>
              <a:latin typeface="Arial"/>
            </a:endParaRPr>
          </a:p>
        </p:txBody>
      </p:sp>
      <p:sp>
        <p:nvSpPr>
          <p:cNvPr id="443" name="Shape 15"/>
          <p:cNvSpPr/>
          <p:nvPr/>
        </p:nvSpPr>
        <p:spPr>
          <a:xfrm>
            <a:off x="621792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4" name="Shape 16"/>
          <p:cNvSpPr/>
          <p:nvPr/>
        </p:nvSpPr>
        <p:spPr>
          <a:xfrm>
            <a:off x="727416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5" name="Text 17"/>
          <p:cNvSpPr/>
          <p:nvPr/>
        </p:nvSpPr>
        <p:spPr>
          <a:xfrm>
            <a:off x="727416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446" name="Shape 18"/>
          <p:cNvSpPr/>
          <p:nvPr/>
        </p:nvSpPr>
        <p:spPr>
          <a:xfrm>
            <a:off x="6400800" y="2606040"/>
            <a:ext cx="2239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7" name="Text 19"/>
          <p:cNvSpPr/>
          <p:nvPr/>
        </p:nvSpPr>
        <p:spPr>
          <a:xfrm>
            <a:off x="640080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Interval</a:t>
            </a:r>
            <a:endParaRPr lang="en-US" sz="1400" b="0" u="none" strike="noStrike">
              <a:solidFill>
                <a:srgbClr val="000000"/>
              </a:solidFill>
              <a:effectLst/>
              <a:uFillTx/>
              <a:latin typeface="Arial"/>
            </a:endParaRPr>
          </a:p>
        </p:txBody>
      </p:sp>
      <p:sp>
        <p:nvSpPr>
          <p:cNvPr id="448" name="Text 20"/>
          <p:cNvSpPr/>
          <p:nvPr/>
        </p:nvSpPr>
        <p:spPr>
          <a:xfrm>
            <a:off x="644652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Equal gaps between values, but no true zero. Example: temperature in °C</a:t>
            </a:r>
            <a:endParaRPr lang="en-US" sz="1300" b="0" u="none" strike="noStrike">
              <a:solidFill>
                <a:srgbClr val="000000"/>
              </a:solidFill>
              <a:effectLst/>
              <a:uFillTx/>
              <a:latin typeface="Arial"/>
            </a:endParaRPr>
          </a:p>
        </p:txBody>
      </p:sp>
      <p:sp>
        <p:nvSpPr>
          <p:cNvPr id="449" name="Shape 21"/>
          <p:cNvSpPr/>
          <p:nvPr/>
        </p:nvSpPr>
        <p:spPr>
          <a:xfrm>
            <a:off x="905256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0" name="Shape 22"/>
          <p:cNvSpPr/>
          <p:nvPr/>
        </p:nvSpPr>
        <p:spPr>
          <a:xfrm>
            <a:off x="10108800" y="1920240"/>
            <a:ext cx="493560" cy="493560"/>
          </a:xfrm>
          <a:prstGeom prst="roundRect">
            <a:avLst>
              <a:gd name="adj" fmla="val 18519"/>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1" name="Text 23"/>
          <p:cNvSpPr/>
          <p:nvPr/>
        </p:nvSpPr>
        <p:spPr>
          <a:xfrm>
            <a:off x="101088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4</a:t>
            </a:r>
            <a:endParaRPr lang="en-US" sz="1600" b="0" u="none" strike="noStrike">
              <a:solidFill>
                <a:srgbClr val="000000"/>
              </a:solidFill>
              <a:effectLst/>
              <a:uFillTx/>
              <a:latin typeface="Arial"/>
            </a:endParaRPr>
          </a:p>
        </p:txBody>
      </p:sp>
      <p:sp>
        <p:nvSpPr>
          <p:cNvPr id="452" name="Shape 24"/>
          <p:cNvSpPr/>
          <p:nvPr/>
        </p:nvSpPr>
        <p:spPr>
          <a:xfrm>
            <a:off x="9235440" y="2606040"/>
            <a:ext cx="2239920" cy="456840"/>
          </a:xfrm>
          <a:prstGeom prst="roundRect">
            <a:avLst>
              <a:gd name="adj" fmla="val 50000"/>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3" name="Text 25"/>
          <p:cNvSpPr/>
          <p:nvPr/>
        </p:nvSpPr>
        <p:spPr>
          <a:xfrm>
            <a:off x="923544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Ratio</a:t>
            </a:r>
            <a:endParaRPr lang="en-US" sz="1400" b="0" u="none" strike="noStrike">
              <a:solidFill>
                <a:srgbClr val="000000"/>
              </a:solidFill>
              <a:effectLst/>
              <a:uFillTx/>
              <a:latin typeface="Arial"/>
            </a:endParaRPr>
          </a:p>
        </p:txBody>
      </p:sp>
      <p:sp>
        <p:nvSpPr>
          <p:cNvPr id="454" name="Text 26"/>
          <p:cNvSpPr/>
          <p:nvPr/>
        </p:nvSpPr>
        <p:spPr>
          <a:xfrm>
            <a:off x="928116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Equal gaps AND a true zero, meaning "none at all." Example: weight, income, age</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455"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56"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30</a:t>
            </a:r>
            <a:endParaRPr lang="en-US" sz="900" b="0" u="none" strike="noStrike">
              <a:solidFill>
                <a:srgbClr val="000000"/>
              </a:solidFill>
              <a:effectLst/>
              <a:uFillTx/>
              <a:latin typeface="Arial"/>
            </a:endParaRPr>
          </a:p>
        </p:txBody>
      </p:sp>
      <p:pic>
        <p:nvPicPr>
          <p:cNvPr id="457" name="Image 0" descr="/home/claude/assets/logo_crop.png"/>
          <p:cNvPicPr/>
          <p:nvPr/>
        </p:nvPicPr>
        <p:blipFill>
          <a:blip r:embed="rId3"/>
          <a:stretch/>
        </p:blipFill>
        <p:spPr>
          <a:xfrm>
            <a:off x="11201400" y="384120"/>
            <a:ext cx="456840" cy="511560"/>
          </a:xfrm>
          <a:prstGeom prst="rect">
            <a:avLst/>
          </a:prstGeom>
          <a:noFill/>
          <a:ln w="0">
            <a:noFill/>
          </a:ln>
        </p:spPr>
      </p:pic>
      <p:sp>
        <p:nvSpPr>
          <p:cNvPr id="458"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Measurement Scales Ladder</a:t>
            </a:r>
            <a:endParaRPr lang="en-US" sz="2600" b="0" u="none" strike="noStrike">
              <a:solidFill>
                <a:srgbClr val="000000"/>
              </a:solidFill>
              <a:effectLst/>
              <a:uFillTx/>
              <a:latin typeface="Arial"/>
            </a:endParaRPr>
          </a:p>
        </p:txBody>
      </p:sp>
      <p:sp>
        <p:nvSpPr>
          <p:cNvPr id="459" name="Shape 3"/>
          <p:cNvSpPr/>
          <p:nvPr/>
        </p:nvSpPr>
        <p:spPr>
          <a:xfrm>
            <a:off x="548640" y="3429000"/>
            <a:ext cx="2651400" cy="2102760"/>
          </a:xfrm>
          <a:prstGeom prst="roundRect">
            <a:avLst>
              <a:gd name="adj" fmla="val 4348"/>
            </a:avLst>
          </a:prstGeom>
          <a:solidFill>
            <a:srgbClr val="DCDBF7"/>
          </a:solidFill>
          <a:ln w="12700">
            <a:solidFill>
              <a:srgbClr val="DCDBF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0" name="Shape 4"/>
          <p:cNvSpPr/>
          <p:nvPr/>
        </p:nvSpPr>
        <p:spPr>
          <a:xfrm>
            <a:off x="731520" y="3611880"/>
            <a:ext cx="383760" cy="383760"/>
          </a:xfrm>
          <a:prstGeom prst="roundRect">
            <a:avLst>
              <a:gd name="adj" fmla="val 2381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1" name="Text 5"/>
          <p:cNvSpPr/>
          <p:nvPr/>
        </p:nvSpPr>
        <p:spPr>
          <a:xfrm>
            <a:off x="731520" y="361188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a:t>
            </a:r>
            <a:endParaRPr lang="en-US" sz="1500" b="0" u="none" strike="noStrike">
              <a:solidFill>
                <a:srgbClr val="000000"/>
              </a:solidFill>
              <a:effectLst/>
              <a:uFillTx/>
              <a:latin typeface="Arial"/>
            </a:endParaRPr>
          </a:p>
        </p:txBody>
      </p:sp>
      <p:sp>
        <p:nvSpPr>
          <p:cNvPr id="462" name="Text 6"/>
          <p:cNvSpPr/>
          <p:nvPr/>
        </p:nvSpPr>
        <p:spPr>
          <a:xfrm>
            <a:off x="731520" y="416052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231F71"/>
                </a:solidFill>
                <a:effectLst/>
                <a:uFillTx/>
                <a:latin typeface="Bricolage Grotesque"/>
                <a:ea typeface="Bricolage Grotesque"/>
              </a:rPr>
              <a:t>Nominal</a:t>
            </a:r>
            <a:endParaRPr lang="en-US" sz="2000" b="0" u="none" strike="noStrike">
              <a:solidFill>
                <a:srgbClr val="000000"/>
              </a:solidFill>
              <a:effectLst/>
              <a:uFillTx/>
              <a:latin typeface="Arial"/>
            </a:endParaRPr>
          </a:p>
        </p:txBody>
      </p:sp>
      <p:sp>
        <p:nvSpPr>
          <p:cNvPr id="463" name="Text 7"/>
          <p:cNvSpPr/>
          <p:nvPr/>
        </p:nvSpPr>
        <p:spPr>
          <a:xfrm>
            <a:off x="731520" y="4572000"/>
            <a:ext cx="2285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i="1" u="none" strike="noStrike">
                <a:solidFill>
                  <a:srgbClr val="231F71"/>
                </a:solidFill>
                <a:effectLst/>
                <a:uFillTx/>
                <a:latin typeface="Hanken Grotesk"/>
                <a:ea typeface="Hanken Grotesk"/>
              </a:rPr>
              <a:t>e.g. blood type, country</a:t>
            </a:r>
            <a:endParaRPr lang="en-US" sz="1200" b="0" u="none" strike="noStrike">
              <a:solidFill>
                <a:srgbClr val="000000"/>
              </a:solidFill>
              <a:effectLst/>
              <a:uFillTx/>
              <a:latin typeface="Arial"/>
            </a:endParaRPr>
          </a:p>
        </p:txBody>
      </p:sp>
      <p:sp>
        <p:nvSpPr>
          <p:cNvPr id="464" name="Text 8"/>
          <p:cNvSpPr/>
          <p:nvPr/>
        </p:nvSpPr>
        <p:spPr>
          <a:xfrm>
            <a:off x="731520" y="5074920"/>
            <a:ext cx="2285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u="none" strike="noStrike">
                <a:solidFill>
                  <a:srgbClr val="231F71"/>
                </a:solidFill>
                <a:effectLst/>
                <a:uFillTx/>
                <a:latin typeface="Hanken Grotesk"/>
                <a:ea typeface="Hanken Grotesk"/>
              </a:rPr>
              <a:t>Can only check equal / not equal</a:t>
            </a:r>
            <a:endParaRPr lang="en-US" sz="1300" b="0" u="none" strike="noStrike">
              <a:solidFill>
                <a:srgbClr val="000000"/>
              </a:solidFill>
              <a:effectLst/>
              <a:uFillTx/>
              <a:latin typeface="Arial"/>
            </a:endParaRPr>
          </a:p>
        </p:txBody>
      </p:sp>
      <p:sp>
        <p:nvSpPr>
          <p:cNvPr id="465" name="Shape 9"/>
          <p:cNvSpPr/>
          <p:nvPr/>
        </p:nvSpPr>
        <p:spPr>
          <a:xfrm>
            <a:off x="3383280" y="2788920"/>
            <a:ext cx="2651400" cy="2742840"/>
          </a:xfrm>
          <a:prstGeom prst="roundRect">
            <a:avLst>
              <a:gd name="adj" fmla="val 3448"/>
            </a:avLst>
          </a:prstGeom>
          <a:solidFill>
            <a:srgbClr val="C0BFF1"/>
          </a:solidFill>
          <a:ln w="12700">
            <a:solidFill>
              <a:srgbClr val="C0BFF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6" name="Shape 10"/>
          <p:cNvSpPr/>
          <p:nvPr/>
        </p:nvSpPr>
        <p:spPr>
          <a:xfrm>
            <a:off x="3566160" y="2971800"/>
            <a:ext cx="383760" cy="383760"/>
          </a:xfrm>
          <a:prstGeom prst="roundRect">
            <a:avLst>
              <a:gd name="adj" fmla="val 2381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7" name="Text 11"/>
          <p:cNvSpPr/>
          <p:nvPr/>
        </p:nvSpPr>
        <p:spPr>
          <a:xfrm>
            <a:off x="3566160" y="297180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2</a:t>
            </a:r>
            <a:endParaRPr lang="en-US" sz="1500" b="0" u="none" strike="noStrike">
              <a:solidFill>
                <a:srgbClr val="000000"/>
              </a:solidFill>
              <a:effectLst/>
              <a:uFillTx/>
              <a:latin typeface="Arial"/>
            </a:endParaRPr>
          </a:p>
        </p:txBody>
      </p:sp>
      <p:sp>
        <p:nvSpPr>
          <p:cNvPr id="468" name="Text 12"/>
          <p:cNvSpPr/>
          <p:nvPr/>
        </p:nvSpPr>
        <p:spPr>
          <a:xfrm>
            <a:off x="3566160" y="352044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231F71"/>
                </a:solidFill>
                <a:effectLst/>
                <a:uFillTx/>
                <a:latin typeface="Bricolage Grotesque"/>
                <a:ea typeface="Bricolage Grotesque"/>
              </a:rPr>
              <a:t>Ordinal</a:t>
            </a:r>
            <a:endParaRPr lang="en-US" sz="2000" b="0" u="none" strike="noStrike">
              <a:solidFill>
                <a:srgbClr val="000000"/>
              </a:solidFill>
              <a:effectLst/>
              <a:uFillTx/>
              <a:latin typeface="Arial"/>
            </a:endParaRPr>
          </a:p>
        </p:txBody>
      </p:sp>
      <p:sp>
        <p:nvSpPr>
          <p:cNvPr id="469" name="Text 13"/>
          <p:cNvSpPr/>
          <p:nvPr/>
        </p:nvSpPr>
        <p:spPr>
          <a:xfrm>
            <a:off x="3566160" y="3931920"/>
            <a:ext cx="2285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i="1" u="none" strike="noStrike">
                <a:solidFill>
                  <a:srgbClr val="231F71"/>
                </a:solidFill>
                <a:effectLst/>
                <a:uFillTx/>
                <a:latin typeface="Hanken Grotesk"/>
                <a:ea typeface="Hanken Grotesk"/>
              </a:rPr>
              <a:t>e.g. satisfaction rating</a:t>
            </a:r>
            <a:endParaRPr lang="en-US" sz="1200" b="0" u="none" strike="noStrike">
              <a:solidFill>
                <a:srgbClr val="000000"/>
              </a:solidFill>
              <a:effectLst/>
              <a:uFillTx/>
              <a:latin typeface="Arial"/>
            </a:endParaRPr>
          </a:p>
        </p:txBody>
      </p:sp>
      <p:sp>
        <p:nvSpPr>
          <p:cNvPr id="470" name="Text 14"/>
          <p:cNvSpPr/>
          <p:nvPr/>
        </p:nvSpPr>
        <p:spPr>
          <a:xfrm>
            <a:off x="3566160" y="4434840"/>
            <a:ext cx="228564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u="none" strike="noStrike">
                <a:solidFill>
                  <a:srgbClr val="231F71"/>
                </a:solidFill>
                <a:effectLst/>
                <a:uFillTx/>
                <a:latin typeface="Hanken Grotesk"/>
                <a:ea typeface="Hanken Grotesk"/>
              </a:rPr>
              <a:t>Can also rank: greater / less than</a:t>
            </a:r>
            <a:endParaRPr lang="en-US" sz="1300" b="0" u="none" strike="noStrike">
              <a:solidFill>
                <a:srgbClr val="000000"/>
              </a:solidFill>
              <a:effectLst/>
              <a:uFillTx/>
              <a:latin typeface="Arial"/>
            </a:endParaRPr>
          </a:p>
        </p:txBody>
      </p:sp>
      <p:sp>
        <p:nvSpPr>
          <p:cNvPr id="471" name="Shape 15"/>
          <p:cNvSpPr/>
          <p:nvPr/>
        </p:nvSpPr>
        <p:spPr>
          <a:xfrm>
            <a:off x="6217920" y="2148840"/>
            <a:ext cx="2651400" cy="3382920"/>
          </a:xfrm>
          <a:prstGeom prst="roundRect">
            <a:avLst>
              <a:gd name="adj" fmla="val 3448"/>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2" name="Shape 16"/>
          <p:cNvSpPr/>
          <p:nvPr/>
        </p:nvSpPr>
        <p:spPr>
          <a:xfrm>
            <a:off x="6400800" y="2331720"/>
            <a:ext cx="383760" cy="383760"/>
          </a:xfrm>
          <a:prstGeom prst="roundRect">
            <a:avLst>
              <a:gd name="adj" fmla="val 2381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3" name="Text 17"/>
          <p:cNvSpPr/>
          <p:nvPr/>
        </p:nvSpPr>
        <p:spPr>
          <a:xfrm>
            <a:off x="6400800" y="233172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3</a:t>
            </a:r>
            <a:endParaRPr lang="en-US" sz="1500" b="0" u="none" strike="noStrike">
              <a:solidFill>
                <a:srgbClr val="000000"/>
              </a:solidFill>
              <a:effectLst/>
              <a:uFillTx/>
              <a:latin typeface="Arial"/>
            </a:endParaRPr>
          </a:p>
        </p:txBody>
      </p:sp>
      <p:sp>
        <p:nvSpPr>
          <p:cNvPr id="474" name="Text 18"/>
          <p:cNvSpPr/>
          <p:nvPr/>
        </p:nvSpPr>
        <p:spPr>
          <a:xfrm>
            <a:off x="6400800" y="288036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Bricolage Grotesque"/>
                <a:ea typeface="Bricolage Grotesque"/>
              </a:rPr>
              <a:t>Interval</a:t>
            </a:r>
            <a:endParaRPr lang="en-US" sz="2000" b="0" u="none" strike="noStrike">
              <a:solidFill>
                <a:srgbClr val="000000"/>
              </a:solidFill>
              <a:effectLst/>
              <a:uFillTx/>
              <a:latin typeface="Arial"/>
            </a:endParaRPr>
          </a:p>
        </p:txBody>
      </p:sp>
      <p:sp>
        <p:nvSpPr>
          <p:cNvPr id="475" name="Text 19"/>
          <p:cNvSpPr/>
          <p:nvPr/>
        </p:nvSpPr>
        <p:spPr>
          <a:xfrm>
            <a:off x="6400800" y="3291840"/>
            <a:ext cx="2285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i="1" u="none" strike="noStrike">
                <a:solidFill>
                  <a:srgbClr val="FFFFFF"/>
                </a:solidFill>
                <a:effectLst/>
                <a:uFillTx/>
                <a:latin typeface="Hanken Grotesk"/>
                <a:ea typeface="Hanken Grotesk"/>
              </a:rPr>
              <a:t>e.g. temperature in °C</a:t>
            </a:r>
            <a:endParaRPr lang="en-US" sz="1200" b="0" u="none" strike="noStrike">
              <a:solidFill>
                <a:srgbClr val="000000"/>
              </a:solidFill>
              <a:effectLst/>
              <a:uFillTx/>
              <a:latin typeface="Arial"/>
            </a:endParaRPr>
          </a:p>
        </p:txBody>
      </p:sp>
      <p:sp>
        <p:nvSpPr>
          <p:cNvPr id="476" name="Text 20"/>
          <p:cNvSpPr/>
          <p:nvPr/>
        </p:nvSpPr>
        <p:spPr>
          <a:xfrm>
            <a:off x="6400800" y="3794760"/>
            <a:ext cx="2285640" cy="1599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u="none" strike="noStrike">
                <a:solidFill>
                  <a:srgbClr val="FFFFFF"/>
                </a:solidFill>
                <a:effectLst/>
                <a:uFillTx/>
                <a:latin typeface="Hanken Grotesk"/>
                <a:ea typeface="Hanken Grotesk"/>
              </a:rPr>
              <a:t>Can also add / subtract meaningfully</a:t>
            </a:r>
            <a:endParaRPr lang="en-US" sz="1300" b="0" u="none" strike="noStrike">
              <a:solidFill>
                <a:srgbClr val="000000"/>
              </a:solidFill>
              <a:effectLst/>
              <a:uFillTx/>
              <a:latin typeface="Arial"/>
            </a:endParaRPr>
          </a:p>
        </p:txBody>
      </p:sp>
      <p:sp>
        <p:nvSpPr>
          <p:cNvPr id="477" name="Shape 21"/>
          <p:cNvSpPr/>
          <p:nvPr/>
        </p:nvSpPr>
        <p:spPr>
          <a:xfrm>
            <a:off x="9052560" y="1508760"/>
            <a:ext cx="2651400" cy="4023000"/>
          </a:xfrm>
          <a:prstGeom prst="roundRect">
            <a:avLst>
              <a:gd name="adj" fmla="val 3448"/>
            </a:avLst>
          </a:prstGeom>
          <a:solidFill>
            <a:srgbClr val="5755A7"/>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8" name="Shape 22"/>
          <p:cNvSpPr/>
          <p:nvPr/>
        </p:nvSpPr>
        <p:spPr>
          <a:xfrm>
            <a:off x="9235440" y="1691640"/>
            <a:ext cx="383760" cy="383760"/>
          </a:xfrm>
          <a:prstGeom prst="roundRect">
            <a:avLst>
              <a:gd name="adj" fmla="val 23810"/>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9" name="Text 23"/>
          <p:cNvSpPr/>
          <p:nvPr/>
        </p:nvSpPr>
        <p:spPr>
          <a:xfrm>
            <a:off x="9235440" y="1691640"/>
            <a:ext cx="38376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4</a:t>
            </a:r>
            <a:endParaRPr lang="en-US" sz="1500" b="0" u="none" strike="noStrike">
              <a:solidFill>
                <a:srgbClr val="000000"/>
              </a:solidFill>
              <a:effectLst/>
              <a:uFillTx/>
              <a:latin typeface="Arial"/>
            </a:endParaRPr>
          </a:p>
        </p:txBody>
      </p:sp>
      <p:sp>
        <p:nvSpPr>
          <p:cNvPr id="480" name="Text 24"/>
          <p:cNvSpPr/>
          <p:nvPr/>
        </p:nvSpPr>
        <p:spPr>
          <a:xfrm>
            <a:off x="9235440" y="2240280"/>
            <a:ext cx="228564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Bricolage Grotesque"/>
                <a:ea typeface="Bricolage Grotesque"/>
              </a:rPr>
              <a:t>Ratio</a:t>
            </a:r>
            <a:endParaRPr lang="en-US" sz="2000" b="0" u="none" strike="noStrike">
              <a:solidFill>
                <a:srgbClr val="000000"/>
              </a:solidFill>
              <a:effectLst/>
              <a:uFillTx/>
              <a:latin typeface="Arial"/>
            </a:endParaRPr>
          </a:p>
        </p:txBody>
      </p:sp>
      <p:sp>
        <p:nvSpPr>
          <p:cNvPr id="481" name="Text 25"/>
          <p:cNvSpPr/>
          <p:nvPr/>
        </p:nvSpPr>
        <p:spPr>
          <a:xfrm>
            <a:off x="9235440" y="2651760"/>
            <a:ext cx="2285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i="1" u="none" strike="noStrike">
                <a:solidFill>
                  <a:srgbClr val="FFFFFF"/>
                </a:solidFill>
                <a:effectLst/>
                <a:uFillTx/>
                <a:latin typeface="Hanken Grotesk"/>
                <a:ea typeface="Hanken Grotesk"/>
              </a:rPr>
              <a:t>e.g. height, weight, income</a:t>
            </a:r>
            <a:endParaRPr lang="en-US" sz="1200" b="0" u="none" strike="noStrike">
              <a:solidFill>
                <a:srgbClr val="000000"/>
              </a:solidFill>
              <a:effectLst/>
              <a:uFillTx/>
              <a:latin typeface="Arial"/>
            </a:endParaRPr>
          </a:p>
        </p:txBody>
      </p:sp>
      <p:sp>
        <p:nvSpPr>
          <p:cNvPr id="482" name="Text 26"/>
          <p:cNvSpPr/>
          <p:nvPr/>
        </p:nvSpPr>
        <p:spPr>
          <a:xfrm>
            <a:off x="9235440" y="3154680"/>
            <a:ext cx="2285640" cy="223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1" u="none" strike="noStrike">
                <a:solidFill>
                  <a:srgbClr val="FFFFFF"/>
                </a:solidFill>
                <a:effectLst/>
                <a:uFillTx/>
                <a:latin typeface="Hanken Grotesk"/>
                <a:ea typeface="Hanken Grotesk"/>
              </a:rPr>
              <a:t>Can also multiply / divide — has a true zero</a:t>
            </a:r>
            <a:endParaRPr lang="en-US" sz="1300" b="0" u="none" strike="noStrike">
              <a:solidFill>
                <a:srgbClr val="000000"/>
              </a:solidFill>
              <a:effectLst/>
              <a:uFillTx/>
              <a:latin typeface="Arial"/>
            </a:endParaRPr>
          </a:p>
        </p:txBody>
      </p:sp>
      <p:sp>
        <p:nvSpPr>
          <p:cNvPr id="483" name="Text 27"/>
          <p:cNvSpPr/>
          <p:nvPr/>
        </p:nvSpPr>
        <p:spPr>
          <a:xfrm>
            <a:off x="548640" y="5760720"/>
            <a:ext cx="110638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u="none" strike="noStrike">
                <a:solidFill>
                  <a:srgbClr val="474651"/>
                </a:solidFill>
                <a:effectLst/>
                <a:uFillTx/>
                <a:latin typeface="Hanken Grotesk"/>
                <a:ea typeface="Hanken Grotesk"/>
              </a:rPr>
              <a:t>Each step up the ladder keeps everything the step below could do, and adds one new ability on top of it.</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484"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85"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31</a:t>
            </a:r>
            <a:endParaRPr lang="en-US" sz="900" b="0" u="none" strike="noStrike">
              <a:solidFill>
                <a:srgbClr val="000000"/>
              </a:solidFill>
              <a:effectLst/>
              <a:uFillTx/>
              <a:latin typeface="Arial"/>
            </a:endParaRPr>
          </a:p>
        </p:txBody>
      </p:sp>
      <p:pic>
        <p:nvPicPr>
          <p:cNvPr id="486" name="Image 0" descr="/home/claude/assets/logo_crop.png"/>
          <p:cNvPicPr/>
          <p:nvPr/>
        </p:nvPicPr>
        <p:blipFill>
          <a:blip r:embed="rId3"/>
          <a:stretch/>
        </p:blipFill>
        <p:spPr>
          <a:xfrm>
            <a:off x="11201400" y="384120"/>
            <a:ext cx="456840" cy="511560"/>
          </a:xfrm>
          <a:prstGeom prst="rect">
            <a:avLst/>
          </a:prstGeom>
          <a:noFill/>
          <a:ln w="0">
            <a:noFill/>
          </a:ln>
        </p:spPr>
      </p:pic>
      <p:sp>
        <p:nvSpPr>
          <p:cNvPr id="487"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Nominal Scale — Labels Only</a:t>
            </a:r>
            <a:endParaRPr lang="en-US" sz="2600" b="0" u="none" strike="noStrike">
              <a:solidFill>
                <a:srgbClr val="000000"/>
              </a:solidFill>
              <a:effectLst/>
              <a:uFillTx/>
              <a:latin typeface="Arial"/>
            </a:endParaRPr>
          </a:p>
        </p:txBody>
      </p:sp>
      <p:sp>
        <p:nvSpPr>
          <p:cNvPr id="488"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9"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0"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μ</a:t>
            </a:r>
            <a:endParaRPr lang="en-US" sz="2800" b="0" u="none" strike="noStrike">
              <a:solidFill>
                <a:srgbClr val="000000"/>
              </a:solidFill>
              <a:effectLst/>
              <a:uFillTx/>
              <a:latin typeface="Arial"/>
            </a:endParaRPr>
          </a:p>
        </p:txBody>
      </p:sp>
      <p:sp>
        <p:nvSpPr>
          <p:cNvPr id="491"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Just names, no order</a:t>
            </a:r>
            <a:endParaRPr lang="en-US" sz="1700" b="0" u="none" strike="noStrike">
              <a:solidFill>
                <a:srgbClr val="000000"/>
              </a:solidFill>
              <a:effectLst/>
              <a:uFillTx/>
              <a:latin typeface="Arial"/>
            </a:endParaRPr>
          </a:p>
        </p:txBody>
      </p:sp>
      <p:sp>
        <p:nvSpPr>
          <p:cNvPr id="492"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Nominal data sorts things into named categories, with no meaningful order between them — "red" isn’t more or less than "blue"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Examples: gender, blood type, country of residence, a customer’s preferred payment method</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only valid comparison is equality — you can say two things are the same category or different categories, and nothing more mathematically</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You can count how often each category appears, and find the mode — but calculating a "mean country" makes no sense at all</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493"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94"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32</a:t>
            </a:r>
            <a:endParaRPr lang="en-US" sz="900" b="0" u="none" strike="noStrike">
              <a:solidFill>
                <a:srgbClr val="000000"/>
              </a:solidFill>
              <a:effectLst/>
              <a:uFillTx/>
              <a:latin typeface="Arial"/>
            </a:endParaRPr>
          </a:p>
        </p:txBody>
      </p:sp>
      <p:pic>
        <p:nvPicPr>
          <p:cNvPr id="495" name="Image 0" descr="/home/claude/assets/logo_crop.png"/>
          <p:cNvPicPr/>
          <p:nvPr/>
        </p:nvPicPr>
        <p:blipFill>
          <a:blip r:embed="rId3"/>
          <a:stretch/>
        </p:blipFill>
        <p:spPr>
          <a:xfrm>
            <a:off x="11201400" y="384120"/>
            <a:ext cx="456840" cy="511560"/>
          </a:xfrm>
          <a:prstGeom prst="rect">
            <a:avLst/>
          </a:prstGeom>
          <a:noFill/>
          <a:ln w="0">
            <a:noFill/>
          </a:ln>
        </p:spPr>
      </p:pic>
      <p:sp>
        <p:nvSpPr>
          <p:cNvPr id="496"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Ordinal Scale — Order, But No Real Distance</a:t>
            </a:r>
            <a:endParaRPr lang="en-US" sz="2600" b="0" u="none" strike="noStrike">
              <a:solidFill>
                <a:srgbClr val="000000"/>
              </a:solidFill>
              <a:effectLst/>
              <a:uFillTx/>
              <a:latin typeface="Arial"/>
            </a:endParaRPr>
          </a:p>
        </p:txBody>
      </p:sp>
      <p:sp>
        <p:nvSpPr>
          <p:cNvPr id="497"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98"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9"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500"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Ranked, but not measured</a:t>
            </a:r>
            <a:endParaRPr lang="en-US" sz="1700" b="0" u="none" strike="noStrike">
              <a:solidFill>
                <a:srgbClr val="000000"/>
              </a:solidFill>
              <a:effectLst/>
              <a:uFillTx/>
              <a:latin typeface="Arial"/>
            </a:endParaRPr>
          </a:p>
        </p:txBody>
      </p:sp>
      <p:sp>
        <p:nvSpPr>
          <p:cNvPr id="501"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Ordinal data has a genuine, meaningful order — but the gap between adjacent values isn’t guaranteed to be equal</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Examples: a 5-star rating, a t-shirt size (S/M/L/XL), an education level (high school/bachelor’s/master’s)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jump from 1 star to 2 stars might not represent the same "amount" of change as 4 stars to 5 stars — you only know the direction, not the exact size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You can find the median and mode reliably — but averaging star ratings, while extremely common in practice, is technically stretching what the scale actually guarantees</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0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0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33</a:t>
            </a:r>
            <a:endParaRPr lang="en-US" sz="900" b="0" u="none" strike="noStrike">
              <a:solidFill>
                <a:srgbClr val="000000"/>
              </a:solidFill>
              <a:effectLst/>
              <a:uFillTx/>
              <a:latin typeface="Arial"/>
            </a:endParaRPr>
          </a:p>
        </p:txBody>
      </p:sp>
      <p:pic>
        <p:nvPicPr>
          <p:cNvPr id="504" name="Image 0" descr="/home/claude/assets/logo_crop.png"/>
          <p:cNvPicPr/>
          <p:nvPr/>
        </p:nvPicPr>
        <p:blipFill>
          <a:blip r:embed="rId3"/>
          <a:stretch/>
        </p:blipFill>
        <p:spPr>
          <a:xfrm>
            <a:off x="11201400" y="384120"/>
            <a:ext cx="456840" cy="511560"/>
          </a:xfrm>
          <a:prstGeom prst="rect">
            <a:avLst/>
          </a:prstGeom>
          <a:noFill/>
          <a:ln w="0">
            <a:noFill/>
          </a:ln>
        </p:spPr>
      </p:pic>
      <p:sp>
        <p:nvSpPr>
          <p:cNvPr id="50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1" u="none" strike="noStrike">
                <a:solidFill>
                  <a:srgbClr val="1B1B20"/>
                </a:solidFill>
                <a:effectLst/>
                <a:uFillTx/>
                <a:latin typeface="Bricolage Grotesque"/>
                <a:ea typeface="Bricolage Grotesque"/>
              </a:rPr>
              <a:t>Interval Scale — Equal Distance, No True Zero</a:t>
            </a:r>
            <a:endParaRPr lang="en-US" sz="2400" b="0" u="none" strike="noStrike">
              <a:solidFill>
                <a:srgbClr val="000000"/>
              </a:solidFill>
              <a:effectLst/>
              <a:uFillTx/>
              <a:latin typeface="Arial"/>
            </a:endParaRPr>
          </a:p>
        </p:txBody>
      </p:sp>
      <p:sp>
        <p:nvSpPr>
          <p:cNvPr id="506"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7"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08"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509"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Zero doesn’t mean "none"</a:t>
            </a:r>
            <a:endParaRPr lang="en-US" sz="1700" b="0" u="none" strike="noStrike">
              <a:solidFill>
                <a:srgbClr val="000000"/>
              </a:solidFill>
              <a:effectLst/>
              <a:uFillTx/>
              <a:latin typeface="Arial"/>
            </a:endParaRPr>
          </a:p>
        </p:txBody>
      </p:sp>
      <p:sp>
        <p:nvSpPr>
          <p:cNvPr id="510"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Interval data has consistent, equal gaps between values — the difference between 10°C and 20°C is the same "amount" as between 20°C and 30°C</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But zero doesn’t mean "nothing" — 0°C isn’t "no temperature at all," it’s just the freezing point of water, an arbitrary reference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Because of this, ratios are meaningless here: 20°C is NOT "twice as hot" as 10°C — that claim doesn’t survive converting to Fahrenheit</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Classic examples: temperature in Celsius or Fahrenheit, and calendar year (year 0 doesn’t mean "no time has passed")</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1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1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34</a:t>
            </a:r>
            <a:endParaRPr lang="en-US" sz="900" b="0" u="none" strike="noStrike">
              <a:solidFill>
                <a:srgbClr val="000000"/>
              </a:solidFill>
              <a:effectLst/>
              <a:uFillTx/>
              <a:latin typeface="Arial"/>
            </a:endParaRPr>
          </a:p>
        </p:txBody>
      </p:sp>
      <p:pic>
        <p:nvPicPr>
          <p:cNvPr id="513" name="Image 0" descr="/home/claude/assets/logo_crop.png"/>
          <p:cNvPicPr/>
          <p:nvPr/>
        </p:nvPicPr>
        <p:blipFill>
          <a:blip r:embed="rId3"/>
          <a:stretch/>
        </p:blipFill>
        <p:spPr>
          <a:xfrm>
            <a:off x="11201400" y="384120"/>
            <a:ext cx="456840" cy="511560"/>
          </a:xfrm>
          <a:prstGeom prst="rect">
            <a:avLst/>
          </a:prstGeom>
          <a:noFill/>
          <a:ln w="0">
            <a:noFill/>
          </a:ln>
        </p:spPr>
      </p:pic>
      <p:sp>
        <p:nvSpPr>
          <p:cNvPr id="51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Why Ratios Break on Interval Data</a:t>
            </a:r>
            <a:endParaRPr lang="en-US" sz="2600" b="0" u="none" strike="noStrike">
              <a:solidFill>
                <a:srgbClr val="000000"/>
              </a:solidFill>
              <a:effectLst/>
              <a:uFillTx/>
              <a:latin typeface="Arial"/>
            </a:endParaRPr>
          </a:p>
        </p:txBody>
      </p:sp>
      <p:sp>
        <p:nvSpPr>
          <p:cNvPr id="515"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20°C to 40°C looks like “twice as hot” — it is not.</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Convert the same temperatures to Fahrenheit and the ratio changes.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 true zero is what makes a ratio meaningful.</a:t>
            </a:r>
            <a:endParaRPr lang="en-US" sz="2000" b="0" u="none" strike="noStrike" dirty="0">
              <a:solidFill>
                <a:srgbClr val="000000"/>
              </a:solidFill>
              <a:effectLst/>
              <a:uFillTx/>
              <a:latin typeface="Arial"/>
              <a:cs typeface="Arial"/>
            </a:endParaRPr>
          </a:p>
        </p:txBody>
      </p:sp>
      <p:sp>
        <p:nvSpPr>
          <p:cNvPr id="516"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7"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518"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519"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520"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300" b="0" u="none" strike="noStrike">
                <a:solidFill>
                  <a:srgbClr val="F1F5F9"/>
                </a:solidFill>
                <a:effectLst/>
                <a:uFillTx/>
                <a:latin typeface="Cantarell"/>
                <a:ea typeface="Consolas"/>
              </a:rPr>
              <a:t>celsius = [20, 40]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fahrenheit = [c * 9 / 5 + 32 for c in celsius]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print(fahrenheit)                 </a:t>
            </a:r>
            <a:r>
              <a:rPr lang="en-US" sz="1300" b="0" i="1" u="none" strike="noStrike">
                <a:solidFill>
                  <a:srgbClr val="94A3B8"/>
                </a:solidFill>
                <a:effectLst/>
                <a:uFillTx/>
                <a:latin typeface="Cantarell"/>
                <a:ea typeface="Consolas"/>
              </a:rPr>
              <a:t># [68.0, 104.0]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print(celsius[1] / celsius[0])    </a:t>
            </a:r>
            <a:r>
              <a:rPr lang="en-US" sz="1300" b="0" i="1" u="none" strike="noStrike">
                <a:solidFill>
                  <a:srgbClr val="94A3B8"/>
                </a:solidFill>
                <a:effectLst/>
                <a:uFillTx/>
                <a:latin typeface="Cantarell"/>
                <a:ea typeface="Consolas"/>
              </a:rPr>
              <a:t># 2.0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ratio_f = fahrenheit[1] / fahrenheit[0]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print(round(ratio_f, 2))          </a:t>
            </a:r>
            <a:r>
              <a:rPr lang="en-US" sz="1300" b="0" i="1" u="none" strike="noStrike">
                <a:solidFill>
                  <a:srgbClr val="94A3B8"/>
                </a:solidFill>
                <a:effectLst/>
                <a:uFillTx/>
                <a:latin typeface="Cantarell"/>
                <a:ea typeface="Consolas"/>
              </a:rPr>
              <a:t># 1.53</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Ratio data (money) survives any unit change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usd = [20, 40]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print(usd[1] / usd[0])            </a:t>
            </a:r>
            <a:r>
              <a:rPr lang="en-US" sz="1300" b="0" i="1" u="none" strike="noStrike">
                <a:solidFill>
                  <a:srgbClr val="94A3B8"/>
                </a:solidFill>
                <a:effectLst/>
                <a:uFillTx/>
                <a:latin typeface="Cantarell"/>
                <a:ea typeface="Consolas"/>
              </a:rPr>
              <a:t># 2.0</a:t>
            </a:r>
            <a:endParaRPr lang="en-US" sz="13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21"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22"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35</a:t>
            </a:r>
            <a:endParaRPr lang="en-US" sz="900" b="0" u="none" strike="noStrike">
              <a:solidFill>
                <a:srgbClr val="000000"/>
              </a:solidFill>
              <a:effectLst/>
              <a:uFillTx/>
              <a:latin typeface="Arial"/>
            </a:endParaRPr>
          </a:p>
        </p:txBody>
      </p:sp>
      <p:pic>
        <p:nvPicPr>
          <p:cNvPr id="523" name="Image 0" descr="/home/claude/assets/logo_crop.png"/>
          <p:cNvPicPr/>
          <p:nvPr/>
        </p:nvPicPr>
        <p:blipFill>
          <a:blip r:embed="rId3"/>
          <a:stretch/>
        </p:blipFill>
        <p:spPr>
          <a:xfrm>
            <a:off x="11201400" y="384120"/>
            <a:ext cx="456840" cy="511560"/>
          </a:xfrm>
          <a:prstGeom prst="rect">
            <a:avLst/>
          </a:prstGeom>
          <a:noFill/>
          <a:ln w="0">
            <a:noFill/>
          </a:ln>
        </p:spPr>
      </p:pic>
      <p:sp>
        <p:nvSpPr>
          <p:cNvPr id="524"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Ratio Scale — Equal Distance AND a True Zero</a:t>
            </a:r>
            <a:endParaRPr lang="en-US" sz="2600" b="0" u="none" strike="noStrike">
              <a:solidFill>
                <a:srgbClr val="000000"/>
              </a:solidFill>
              <a:effectLst/>
              <a:uFillTx/>
              <a:latin typeface="Arial"/>
            </a:endParaRPr>
          </a:p>
        </p:txBody>
      </p:sp>
      <p:sp>
        <p:nvSpPr>
          <p:cNvPr id="525"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6"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7"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528"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The most flexible scale</a:t>
            </a:r>
            <a:endParaRPr lang="en-US" sz="1700" b="0" u="none" strike="noStrike">
              <a:solidFill>
                <a:srgbClr val="000000"/>
              </a:solidFill>
              <a:effectLst/>
              <a:uFillTx/>
              <a:latin typeface="Arial"/>
            </a:endParaRPr>
          </a:p>
        </p:txBody>
      </p:sp>
      <p:sp>
        <p:nvSpPr>
          <p:cNvPr id="529"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Ratio data has everything interval data has, PLUS a true, meaningful zero — zero really does mean "none at all"</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Because of that true zero, ratios genuinely make sense: $20 really is twice as much money as $10; 40kg really is twice as heavy as 20kg</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Examples: height, weight, age, income, distance, time elapsed — most of the "hard numbers" you’ll work with in data science live here</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Every mathematical operation is valid on this scale — which is exactly why it sits at the top of the ladder</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30"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31"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36</a:t>
            </a:r>
            <a:endParaRPr lang="en-US" sz="900" b="0" u="none" strike="noStrike">
              <a:solidFill>
                <a:srgbClr val="000000"/>
              </a:solidFill>
              <a:effectLst/>
              <a:uFillTx/>
              <a:latin typeface="Arial"/>
            </a:endParaRPr>
          </a:p>
        </p:txBody>
      </p:sp>
      <p:pic>
        <p:nvPicPr>
          <p:cNvPr id="532" name="Image 0" descr="/home/claude/assets/logo_crop.png"/>
          <p:cNvPicPr/>
          <p:nvPr/>
        </p:nvPicPr>
        <p:blipFill>
          <a:blip r:embed="rId3"/>
          <a:stretch/>
        </p:blipFill>
        <p:spPr>
          <a:xfrm>
            <a:off x="11201400" y="384120"/>
            <a:ext cx="456840" cy="511560"/>
          </a:xfrm>
          <a:prstGeom prst="rect">
            <a:avLst/>
          </a:prstGeom>
          <a:noFill/>
          <a:ln w="0">
            <a:noFill/>
          </a:ln>
        </p:spPr>
      </p:pic>
      <p:sp>
        <p:nvSpPr>
          <p:cNvPr id="533"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Which Operations Are Valid on Which Scale</a:t>
            </a:r>
            <a:endParaRPr lang="en-US" sz="2600" b="0" u="none" strike="noStrike">
              <a:solidFill>
                <a:srgbClr val="000000"/>
              </a:solidFill>
              <a:effectLst/>
              <a:uFillTx/>
              <a:latin typeface="Arial"/>
            </a:endParaRPr>
          </a:p>
        </p:txBody>
      </p:sp>
      <p:sp>
        <p:nvSpPr>
          <p:cNvPr id="534" name="Shape 3"/>
          <p:cNvSpPr/>
          <p:nvPr/>
        </p:nvSpPr>
        <p:spPr>
          <a:xfrm>
            <a:off x="54864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35" name="Shape 4"/>
          <p:cNvSpPr/>
          <p:nvPr/>
        </p:nvSpPr>
        <p:spPr>
          <a:xfrm>
            <a:off x="160488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36" name="Text 5"/>
          <p:cNvSpPr/>
          <p:nvPr/>
        </p:nvSpPr>
        <p:spPr>
          <a:xfrm>
            <a:off x="160488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537" name="Shape 6"/>
          <p:cNvSpPr/>
          <p:nvPr/>
        </p:nvSpPr>
        <p:spPr>
          <a:xfrm>
            <a:off x="731520" y="2606040"/>
            <a:ext cx="2239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38" name="Text 7"/>
          <p:cNvSpPr/>
          <p:nvPr/>
        </p:nvSpPr>
        <p:spPr>
          <a:xfrm>
            <a:off x="73152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Nominal</a:t>
            </a:r>
            <a:endParaRPr lang="en-US" sz="1400" b="0" u="none" strike="noStrike">
              <a:solidFill>
                <a:srgbClr val="000000"/>
              </a:solidFill>
              <a:effectLst/>
              <a:uFillTx/>
              <a:latin typeface="Arial"/>
            </a:endParaRPr>
          </a:p>
        </p:txBody>
      </p:sp>
      <p:sp>
        <p:nvSpPr>
          <p:cNvPr id="539" name="Text 8"/>
          <p:cNvSpPr/>
          <p:nvPr/>
        </p:nvSpPr>
        <p:spPr>
          <a:xfrm>
            <a:off x="77724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Valid: mode, frequency counts. NOT valid: mean, median, or any ranking</a:t>
            </a:r>
            <a:endParaRPr lang="en-US" sz="1300" b="0" u="none" strike="noStrike">
              <a:solidFill>
                <a:srgbClr val="000000"/>
              </a:solidFill>
              <a:effectLst/>
              <a:uFillTx/>
              <a:latin typeface="Arial"/>
            </a:endParaRPr>
          </a:p>
        </p:txBody>
      </p:sp>
      <p:sp>
        <p:nvSpPr>
          <p:cNvPr id="540" name="Shape 9"/>
          <p:cNvSpPr/>
          <p:nvPr/>
        </p:nvSpPr>
        <p:spPr>
          <a:xfrm>
            <a:off x="338328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1" name="Shape 10"/>
          <p:cNvSpPr/>
          <p:nvPr/>
        </p:nvSpPr>
        <p:spPr>
          <a:xfrm>
            <a:off x="443952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2" name="Text 11"/>
          <p:cNvSpPr/>
          <p:nvPr/>
        </p:nvSpPr>
        <p:spPr>
          <a:xfrm>
            <a:off x="44395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543" name="Shape 12"/>
          <p:cNvSpPr/>
          <p:nvPr/>
        </p:nvSpPr>
        <p:spPr>
          <a:xfrm>
            <a:off x="3566160" y="2606040"/>
            <a:ext cx="2239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4" name="Text 13"/>
          <p:cNvSpPr/>
          <p:nvPr/>
        </p:nvSpPr>
        <p:spPr>
          <a:xfrm>
            <a:off x="356616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Ordinal</a:t>
            </a:r>
            <a:endParaRPr lang="en-US" sz="1400" b="0" u="none" strike="noStrike">
              <a:solidFill>
                <a:srgbClr val="000000"/>
              </a:solidFill>
              <a:effectLst/>
              <a:uFillTx/>
              <a:latin typeface="Arial"/>
            </a:endParaRPr>
          </a:p>
        </p:txBody>
      </p:sp>
      <p:sp>
        <p:nvSpPr>
          <p:cNvPr id="545" name="Text 14"/>
          <p:cNvSpPr/>
          <p:nvPr/>
        </p:nvSpPr>
        <p:spPr>
          <a:xfrm>
            <a:off x="361188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Valid: mode, median, ranking. Debatable: mean (common in practice, technically imprecise)</a:t>
            </a:r>
            <a:endParaRPr lang="en-US" sz="1300" b="0" u="none" strike="noStrike">
              <a:solidFill>
                <a:srgbClr val="000000"/>
              </a:solidFill>
              <a:effectLst/>
              <a:uFillTx/>
              <a:latin typeface="Arial"/>
            </a:endParaRPr>
          </a:p>
        </p:txBody>
      </p:sp>
      <p:sp>
        <p:nvSpPr>
          <p:cNvPr id="546" name="Shape 15"/>
          <p:cNvSpPr/>
          <p:nvPr/>
        </p:nvSpPr>
        <p:spPr>
          <a:xfrm>
            <a:off x="621792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7" name="Shape 16"/>
          <p:cNvSpPr/>
          <p:nvPr/>
        </p:nvSpPr>
        <p:spPr>
          <a:xfrm>
            <a:off x="727416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8" name="Text 17"/>
          <p:cNvSpPr/>
          <p:nvPr/>
        </p:nvSpPr>
        <p:spPr>
          <a:xfrm>
            <a:off x="727416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549" name="Shape 18"/>
          <p:cNvSpPr/>
          <p:nvPr/>
        </p:nvSpPr>
        <p:spPr>
          <a:xfrm>
            <a:off x="6400800" y="2606040"/>
            <a:ext cx="2239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0" name="Text 19"/>
          <p:cNvSpPr/>
          <p:nvPr/>
        </p:nvSpPr>
        <p:spPr>
          <a:xfrm>
            <a:off x="640080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Interval</a:t>
            </a:r>
            <a:endParaRPr lang="en-US" sz="1400" b="0" u="none" strike="noStrike">
              <a:solidFill>
                <a:srgbClr val="000000"/>
              </a:solidFill>
              <a:effectLst/>
              <a:uFillTx/>
              <a:latin typeface="Arial"/>
            </a:endParaRPr>
          </a:p>
        </p:txBody>
      </p:sp>
      <p:sp>
        <p:nvSpPr>
          <p:cNvPr id="551" name="Text 20"/>
          <p:cNvSpPr/>
          <p:nvPr/>
        </p:nvSpPr>
        <p:spPr>
          <a:xfrm>
            <a:off x="644652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Valid: mean, median, mode, addition/subtraction. NOT valid: meaningful ratios ("twice as much")</a:t>
            </a:r>
            <a:endParaRPr lang="en-US" sz="1300" b="0" u="none" strike="noStrike">
              <a:solidFill>
                <a:srgbClr val="000000"/>
              </a:solidFill>
              <a:effectLst/>
              <a:uFillTx/>
              <a:latin typeface="Arial"/>
            </a:endParaRPr>
          </a:p>
        </p:txBody>
      </p:sp>
      <p:sp>
        <p:nvSpPr>
          <p:cNvPr id="552" name="Shape 21"/>
          <p:cNvSpPr/>
          <p:nvPr/>
        </p:nvSpPr>
        <p:spPr>
          <a:xfrm>
            <a:off x="905256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3" name="Shape 22"/>
          <p:cNvSpPr/>
          <p:nvPr/>
        </p:nvSpPr>
        <p:spPr>
          <a:xfrm>
            <a:off x="10108800" y="1920240"/>
            <a:ext cx="493560" cy="493560"/>
          </a:xfrm>
          <a:prstGeom prst="roundRect">
            <a:avLst>
              <a:gd name="adj" fmla="val 18519"/>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4" name="Text 23"/>
          <p:cNvSpPr/>
          <p:nvPr/>
        </p:nvSpPr>
        <p:spPr>
          <a:xfrm>
            <a:off x="101088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4</a:t>
            </a:r>
            <a:endParaRPr lang="en-US" sz="1600" b="0" u="none" strike="noStrike">
              <a:solidFill>
                <a:srgbClr val="000000"/>
              </a:solidFill>
              <a:effectLst/>
              <a:uFillTx/>
              <a:latin typeface="Arial"/>
            </a:endParaRPr>
          </a:p>
        </p:txBody>
      </p:sp>
      <p:sp>
        <p:nvSpPr>
          <p:cNvPr id="555" name="Shape 24"/>
          <p:cNvSpPr/>
          <p:nvPr/>
        </p:nvSpPr>
        <p:spPr>
          <a:xfrm>
            <a:off x="9235440" y="2606040"/>
            <a:ext cx="2239920" cy="456840"/>
          </a:xfrm>
          <a:prstGeom prst="roundRect">
            <a:avLst>
              <a:gd name="adj" fmla="val 50000"/>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6" name="Text 25"/>
          <p:cNvSpPr/>
          <p:nvPr/>
        </p:nvSpPr>
        <p:spPr>
          <a:xfrm>
            <a:off x="923544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Ratio</a:t>
            </a:r>
            <a:endParaRPr lang="en-US" sz="1400" b="0" u="none" strike="noStrike">
              <a:solidFill>
                <a:srgbClr val="000000"/>
              </a:solidFill>
              <a:effectLst/>
              <a:uFillTx/>
              <a:latin typeface="Arial"/>
            </a:endParaRPr>
          </a:p>
        </p:txBody>
      </p:sp>
      <p:sp>
        <p:nvSpPr>
          <p:cNvPr id="557" name="Text 26"/>
          <p:cNvSpPr/>
          <p:nvPr/>
        </p:nvSpPr>
        <p:spPr>
          <a:xfrm>
            <a:off x="928116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Valid: absolutely everything — mean, median, mode, ratios, and every arithmetic operation</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5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5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37</a:t>
            </a:r>
            <a:endParaRPr lang="en-US" sz="900" b="0" u="none" strike="noStrike">
              <a:solidFill>
                <a:srgbClr val="000000"/>
              </a:solidFill>
              <a:effectLst/>
              <a:uFillTx/>
              <a:latin typeface="Arial"/>
            </a:endParaRPr>
          </a:p>
        </p:txBody>
      </p:sp>
      <p:pic>
        <p:nvPicPr>
          <p:cNvPr id="560" name="Image 0" descr="/home/claude/assets/logo_crop.png"/>
          <p:cNvPicPr/>
          <p:nvPr/>
        </p:nvPicPr>
        <p:blipFill>
          <a:blip r:embed="rId3"/>
          <a:stretch/>
        </p:blipFill>
        <p:spPr>
          <a:xfrm>
            <a:off x="11201400" y="384120"/>
            <a:ext cx="456840" cy="511560"/>
          </a:xfrm>
          <a:prstGeom prst="rect">
            <a:avLst/>
          </a:prstGeom>
          <a:noFill/>
          <a:ln w="0">
            <a:noFill/>
          </a:ln>
        </p:spPr>
      </p:pic>
      <p:sp>
        <p:nvSpPr>
          <p:cNvPr id="561"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Valid Statistics for Each Scale</a:t>
            </a:r>
            <a:endParaRPr lang="en-US" sz="2600" b="0" u="none" strike="noStrike">
              <a:solidFill>
                <a:srgbClr val="000000"/>
              </a:solidFill>
              <a:effectLst/>
              <a:uFillTx/>
              <a:latin typeface="Arial"/>
            </a:endParaRPr>
          </a:p>
        </p:txBody>
      </p:sp>
      <p:sp>
        <p:nvSpPr>
          <p:cNvPr id="562"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Match the statistic to the scale before you compute anything.</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Hanken Grotesk"/>
                <a:ea typeface="Hanken Grotesk"/>
              </a:rPr>
              <a:t>statistics.mode</a:t>
            </a:r>
            <a:r>
              <a:rPr lang="en-US" sz="2000" b="0" u="none" strike="noStrike" dirty="0">
                <a:solidFill>
                  <a:srgbClr val="1B1B20"/>
                </a:solidFill>
                <a:effectLst/>
                <a:uFillTx/>
                <a:latin typeface="Hanken Grotesk"/>
                <a:ea typeface="Hanken Grotesk"/>
              </a:rPr>
              <a:t> works on labels; median needs an order; mean needs real distances.</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Computing a “mean </a:t>
            </a:r>
            <a:r>
              <a:rPr lang="en-US" sz="2000" b="0" u="none" strike="noStrike" dirty="0" err="1">
                <a:solidFill>
                  <a:srgbClr val="1B1B20"/>
                </a:solidFill>
                <a:effectLst/>
                <a:uFillTx/>
                <a:latin typeface="Hanken Grotesk"/>
                <a:ea typeface="Hanken Grotesk"/>
              </a:rPr>
              <a:t>colour</a:t>
            </a:r>
            <a:r>
              <a:rPr lang="en-US" sz="2000" b="0" u="none" strike="noStrike" dirty="0">
                <a:solidFill>
                  <a:srgbClr val="1B1B20"/>
                </a:solidFill>
                <a:effectLst/>
                <a:uFillTx/>
                <a:latin typeface="Hanken Grotesk"/>
                <a:ea typeface="Hanken Grotesk"/>
              </a:rPr>
              <a:t>” is possible in code — but meaningless.</a:t>
            </a:r>
            <a:endParaRPr lang="en-US" sz="2000" b="0" u="none" strike="noStrike">
              <a:solidFill>
                <a:srgbClr val="000000"/>
              </a:solidFill>
              <a:effectLst/>
              <a:uFillTx/>
              <a:latin typeface="Arial"/>
              <a:cs typeface="Arial"/>
            </a:endParaRPr>
          </a:p>
        </p:txBody>
      </p:sp>
      <p:sp>
        <p:nvSpPr>
          <p:cNvPr id="563"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4"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565"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566"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567"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statistics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colors = ["red", "blue", "red", "green"]  </a:t>
            </a:r>
            <a:r>
              <a:rPr lang="en-US" sz="1200" b="0" i="1" u="none" strike="noStrike">
                <a:solidFill>
                  <a:srgbClr val="94A3B8"/>
                </a:solidFill>
                <a:effectLst/>
                <a:uFillTx/>
                <a:latin typeface="Cantarell"/>
                <a:ea typeface="Consolas"/>
              </a:rPr>
              <a:t># nominal</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sizes = [1, 2, 2, 3, 4]                   </a:t>
            </a:r>
            <a:r>
              <a:rPr lang="en-US" sz="1200" b="0" i="1" u="none" strike="noStrike">
                <a:solidFill>
                  <a:srgbClr val="94A3B8"/>
                </a:solidFill>
                <a:effectLst/>
                <a:uFillTx/>
                <a:latin typeface="Cantarell"/>
                <a:ea typeface="Consolas"/>
              </a:rPr>
              <a:t># ordinal</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temps = [20, 25, 30]                      </a:t>
            </a:r>
            <a:r>
              <a:rPr lang="en-US" sz="1200" b="0" i="1" u="none" strike="noStrike">
                <a:solidFill>
                  <a:srgbClr val="94A3B8"/>
                </a:solidFill>
                <a:effectLst/>
                <a:uFillTx/>
                <a:latin typeface="Cantarell"/>
                <a:ea typeface="Consolas"/>
              </a:rPr>
              <a:t># interval</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income = [20, 40]                         </a:t>
            </a:r>
            <a:r>
              <a:rPr lang="en-US" sz="1200" b="0" i="1" u="none" strike="noStrike">
                <a:solidFill>
                  <a:srgbClr val="94A3B8"/>
                </a:solidFill>
                <a:effectLst/>
                <a:uFillTx/>
                <a:latin typeface="Cantarell"/>
                <a:ea typeface="Consolas"/>
              </a:rPr>
              <a:t># ratio</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print(statistics.mode(colors))    </a:t>
            </a:r>
            <a:r>
              <a:rPr lang="en-US" sz="1200" b="0" i="1" u="none" strike="noStrike">
                <a:solidFill>
                  <a:srgbClr val="94A3B8"/>
                </a:solidFill>
                <a:effectLst/>
                <a:uFillTx/>
                <a:latin typeface="Cantarell"/>
                <a:ea typeface="Consolas"/>
              </a:rPr>
              <a:t># red</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print(statistics.median(sizes))   </a:t>
            </a:r>
            <a:r>
              <a:rPr lang="en-US" sz="1200" b="0" i="1" u="none" strike="noStrike">
                <a:solidFill>
                  <a:srgbClr val="94A3B8"/>
                </a:solidFill>
                <a:effectLst/>
                <a:uFillTx/>
                <a:latin typeface="Cantarell"/>
                <a:ea typeface="Consolas"/>
              </a:rPr>
              <a:t># 2</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print(statistics.mean(temps))     </a:t>
            </a:r>
            <a:r>
              <a:rPr lang="en-US" sz="1200" b="0" i="1" u="none" strike="noStrike">
                <a:solidFill>
                  <a:srgbClr val="94A3B8"/>
                </a:solidFill>
                <a:effectLst/>
                <a:uFillTx/>
                <a:latin typeface="Cantarell"/>
                <a:ea typeface="Consolas"/>
              </a:rPr>
              <a:t># 25</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print(income[1] / income[0])      </a:t>
            </a:r>
            <a:r>
              <a:rPr lang="en-US" sz="1200" b="0" i="1" u="none" strike="noStrike">
                <a:solidFill>
                  <a:srgbClr val="94A3B8"/>
                </a:solidFill>
                <a:effectLst/>
                <a:uFillTx/>
                <a:latin typeface="Cantarell"/>
                <a:ea typeface="Consolas"/>
              </a:rPr>
              <a:t># 2.0</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6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6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38</a:t>
            </a:r>
            <a:endParaRPr lang="en-US" sz="900" b="0" u="none" strike="noStrike">
              <a:solidFill>
                <a:srgbClr val="000000"/>
              </a:solidFill>
              <a:effectLst/>
              <a:uFillTx/>
              <a:latin typeface="Arial"/>
            </a:endParaRPr>
          </a:p>
        </p:txBody>
      </p:sp>
      <p:pic>
        <p:nvPicPr>
          <p:cNvPr id="570" name="Image 0" descr="/home/claude/assets/logo_crop.png"/>
          <p:cNvPicPr/>
          <p:nvPr/>
        </p:nvPicPr>
        <p:blipFill>
          <a:blip r:embed="rId3"/>
          <a:stretch/>
        </p:blipFill>
        <p:spPr>
          <a:xfrm>
            <a:off x="11201400" y="384120"/>
            <a:ext cx="456840" cy="511560"/>
          </a:xfrm>
          <a:prstGeom prst="rect">
            <a:avLst/>
          </a:prstGeom>
          <a:noFill/>
          <a:ln w="0">
            <a:noFill/>
          </a:ln>
        </p:spPr>
      </p:pic>
      <p:sp>
        <p:nvSpPr>
          <p:cNvPr id="57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7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57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PART 3</a:t>
            </a:r>
            <a:endParaRPr lang="en-US" sz="900" b="0" u="none" strike="noStrike">
              <a:solidFill>
                <a:srgbClr val="000000"/>
              </a:solidFill>
              <a:effectLst/>
              <a:uFillTx/>
              <a:latin typeface="Arial"/>
            </a:endParaRPr>
          </a:p>
        </p:txBody>
      </p:sp>
      <p:sp>
        <p:nvSpPr>
          <p:cNvPr id="57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B1B20"/>
                </a:solidFill>
                <a:effectLst/>
                <a:uFillTx/>
                <a:latin typeface="Bricolage Grotesque"/>
                <a:ea typeface="Bricolage Grotesque"/>
              </a:rPr>
              <a:t>Practice Set — Types of Data &amp; Measurement Scales</a:t>
            </a:r>
            <a:endParaRPr lang="en-US" sz="2000" b="0" u="none" strike="noStrike">
              <a:solidFill>
                <a:srgbClr val="000000"/>
              </a:solidFill>
              <a:effectLst/>
              <a:uFillTx/>
              <a:latin typeface="Arial"/>
            </a:endParaRPr>
          </a:p>
        </p:txBody>
      </p:sp>
      <p:sp>
        <p:nvSpPr>
          <p:cNvPr id="57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Try these yourself first — pencil, paper or a quick Python cell.</a:t>
            </a:r>
            <a:endParaRPr lang="en-US" sz="1200" b="0" u="none" strike="noStrike">
              <a:solidFill>
                <a:srgbClr val="000000"/>
              </a:solidFill>
              <a:effectLst/>
              <a:uFillTx/>
              <a:latin typeface="Arial"/>
            </a:endParaRPr>
          </a:p>
        </p:txBody>
      </p:sp>
      <p:sp>
        <p:nvSpPr>
          <p:cNvPr id="57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57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Classify each as nominal, ordinal, interval, or ratio: shoe size, exam grade (A/B/C), income, year of birth</a:t>
            </a:r>
            <a:endParaRPr lang="en-US" sz="1400" b="0" u="none" strike="noStrike">
              <a:solidFill>
                <a:srgbClr val="000000"/>
              </a:solidFill>
              <a:effectLst/>
              <a:uFillTx/>
              <a:latin typeface="Arial"/>
            </a:endParaRPr>
          </a:p>
        </p:txBody>
      </p:sp>
      <p:sp>
        <p:nvSpPr>
          <p:cNvPr id="58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58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why "average zip code" is a meaningless calculation, using what you learned about nominal data</a:t>
            </a:r>
            <a:endParaRPr lang="en-US" sz="1400" b="0" u="none" strike="noStrike">
              <a:solidFill>
                <a:srgbClr val="000000"/>
              </a:solidFill>
              <a:effectLst/>
              <a:uFillTx/>
              <a:latin typeface="Arial"/>
            </a:endParaRPr>
          </a:p>
        </p:txBody>
      </p:sp>
      <p:sp>
        <p:nvSpPr>
          <p:cNvPr id="58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58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why saying "40°C is twice as hot as 20°C" is incorrect, using the interval scale’s lack of a true zero</a:t>
            </a:r>
            <a:endParaRPr lang="en-US" sz="1400" b="0" u="none" strike="noStrike">
              <a:solidFill>
                <a:srgbClr val="000000"/>
              </a:solidFill>
              <a:effectLst/>
              <a:uFillTx/>
              <a:latin typeface="Arial"/>
            </a:endParaRPr>
          </a:p>
        </p:txBody>
      </p:sp>
      <p:sp>
        <p:nvSpPr>
          <p:cNvPr id="588" name="Shape 19"/>
          <p:cNvSpPr/>
          <p:nvPr/>
        </p:nvSpPr>
        <p:spPr>
          <a:xfrm>
            <a:off x="548640" y="47638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89" name="Shape 20"/>
          <p:cNvSpPr/>
          <p:nvPr/>
        </p:nvSpPr>
        <p:spPr>
          <a:xfrm>
            <a:off x="731520" y="500184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90" name="Text 21"/>
          <p:cNvSpPr/>
          <p:nvPr/>
        </p:nvSpPr>
        <p:spPr>
          <a:xfrm>
            <a:off x="731520" y="50018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591" name="Text 22"/>
          <p:cNvSpPr/>
          <p:nvPr/>
        </p:nvSpPr>
        <p:spPr>
          <a:xfrm>
            <a:off x="1234440" y="47638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a customer satisfaction survey using a 1–5 star rating, identify the scale and explain what operations are safely valid on it</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592"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3"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4"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PART 4</a:t>
            </a:r>
            <a:endParaRPr lang="en-US" sz="1400" b="0" u="none" strike="noStrike">
              <a:solidFill>
                <a:srgbClr val="FFFFFF"/>
              </a:solidFill>
              <a:effectLst/>
              <a:uFillTx/>
              <a:latin typeface="Arial"/>
            </a:endParaRPr>
          </a:p>
        </p:txBody>
      </p:sp>
      <p:sp>
        <p:nvSpPr>
          <p:cNvPr id="595"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Errors &amp; Bias in Data &amp; Measurement</a:t>
            </a:r>
            <a:endParaRPr lang="en-US" sz="4000" b="0" u="none" strike="noStrike">
              <a:solidFill>
                <a:srgbClr val="FFFFFF"/>
              </a:solidFill>
              <a:effectLst/>
              <a:uFillTx/>
              <a:latin typeface="Arial"/>
            </a:endParaRPr>
          </a:p>
        </p:txBody>
      </p:sp>
      <p:sp>
        <p:nvSpPr>
          <p:cNvPr id="596"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Before trusting any statistic, it’s worth asking where the data could have gone wrong on the way to you</a:t>
            </a:r>
            <a:endParaRPr lang="en-US" sz="1500" b="0" u="none" strike="noStrike">
              <a:solidFill>
                <a:srgbClr val="FFFFFF"/>
              </a:solidFill>
              <a:effectLst/>
              <a:uFillTx/>
              <a:latin typeface="Arial"/>
            </a:endParaRPr>
          </a:p>
        </p:txBody>
      </p:sp>
      <p:sp>
        <p:nvSpPr>
          <p:cNvPr id="597"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39</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59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9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40</a:t>
            </a:r>
            <a:endParaRPr lang="en-US" sz="900" b="0" u="none" strike="noStrike">
              <a:solidFill>
                <a:srgbClr val="000000"/>
              </a:solidFill>
              <a:effectLst/>
              <a:uFillTx/>
              <a:latin typeface="Arial"/>
            </a:endParaRPr>
          </a:p>
        </p:txBody>
      </p:sp>
      <p:pic>
        <p:nvPicPr>
          <p:cNvPr id="600" name="Image 0" descr="/home/claude/assets/logo_crop.png"/>
          <p:cNvPicPr/>
          <p:nvPr/>
        </p:nvPicPr>
        <p:blipFill>
          <a:blip r:embed="rId3"/>
          <a:stretch/>
        </p:blipFill>
        <p:spPr>
          <a:xfrm>
            <a:off x="11201400" y="384120"/>
            <a:ext cx="456840" cy="511560"/>
          </a:xfrm>
          <a:prstGeom prst="rect">
            <a:avLst/>
          </a:prstGeom>
          <a:noFill/>
          <a:ln w="0">
            <a:noFill/>
          </a:ln>
        </p:spPr>
      </p:pic>
      <p:sp>
        <p:nvSpPr>
          <p:cNvPr id="601"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1" u="none" strike="noStrike">
                <a:solidFill>
                  <a:srgbClr val="1B1B20"/>
                </a:solidFill>
                <a:effectLst/>
                <a:uFillTx/>
                <a:latin typeface="Bricolage Grotesque"/>
                <a:ea typeface="Bricolage Grotesque"/>
              </a:rPr>
              <a:t>Why Errors Matter Before You Even Start Analyzing</a:t>
            </a:r>
            <a:endParaRPr lang="en-US" sz="2400" b="0" u="none" strike="noStrike">
              <a:solidFill>
                <a:srgbClr val="000000"/>
              </a:solidFill>
              <a:effectLst/>
              <a:uFillTx/>
              <a:latin typeface="Arial"/>
            </a:endParaRPr>
          </a:p>
        </p:txBody>
      </p:sp>
      <p:sp>
        <p:nvSpPr>
          <p:cNvPr id="602"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3"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04"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605"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Garbage in, garbage out</a:t>
            </a:r>
            <a:endParaRPr lang="en-US" sz="1700" b="0" u="none" strike="noStrike">
              <a:solidFill>
                <a:srgbClr val="000000"/>
              </a:solidFill>
              <a:effectLst/>
              <a:uFillTx/>
              <a:latin typeface="Arial"/>
            </a:endParaRPr>
          </a:p>
        </p:txBody>
      </p:sp>
      <p:sp>
        <p:nvSpPr>
          <p:cNvPr id="606"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No formula can fix data that was collected badly — statistics can describe your data perfectly and still describe the wrong thing entirely</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Understanding where error creeps in is exactly what separates a careful analysis from a misleading one, especially in research</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Error, here, doesn’t mean "a mistake someone made" — it means any gap between what you measured and the real truth, even an entirely honest one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Two broad categories cover almost every real-world case: sampling error, and non-sampling error</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0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0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41</a:t>
            </a:r>
            <a:endParaRPr lang="en-US" sz="900" b="0" u="none" strike="noStrike">
              <a:solidFill>
                <a:srgbClr val="000000"/>
              </a:solidFill>
              <a:effectLst/>
              <a:uFillTx/>
              <a:latin typeface="Arial"/>
            </a:endParaRPr>
          </a:p>
        </p:txBody>
      </p:sp>
      <p:pic>
        <p:nvPicPr>
          <p:cNvPr id="609" name="Image 0" descr="/home/claude/assets/logo_crop.png"/>
          <p:cNvPicPr/>
          <p:nvPr/>
        </p:nvPicPr>
        <p:blipFill>
          <a:blip r:embed="rId3"/>
          <a:stretch/>
        </p:blipFill>
        <p:spPr>
          <a:xfrm>
            <a:off x="11201400" y="384120"/>
            <a:ext cx="456840" cy="511560"/>
          </a:xfrm>
          <a:prstGeom prst="rect">
            <a:avLst/>
          </a:prstGeom>
          <a:noFill/>
          <a:ln w="0">
            <a:noFill/>
          </a:ln>
        </p:spPr>
      </p:pic>
      <p:sp>
        <p:nvSpPr>
          <p:cNvPr id="61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Sampling Error</a:t>
            </a:r>
            <a:endParaRPr lang="en-US" sz="2600" b="0" u="none" strike="noStrike">
              <a:solidFill>
                <a:srgbClr val="000000"/>
              </a:solidFill>
              <a:effectLst/>
              <a:uFillTx/>
              <a:latin typeface="Arial"/>
            </a:endParaRPr>
          </a:p>
        </p:txBody>
      </p:sp>
      <p:sp>
        <p:nvSpPr>
          <p:cNvPr id="611"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12"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13"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614"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The sample wasn’t the population</a:t>
            </a:r>
            <a:endParaRPr lang="en-US" sz="1700" b="0" u="none" strike="noStrike">
              <a:solidFill>
                <a:srgbClr val="000000"/>
              </a:solidFill>
              <a:effectLst/>
              <a:uFillTx/>
              <a:latin typeface="Arial"/>
            </a:endParaRPr>
          </a:p>
        </p:txBody>
      </p:sp>
      <p:sp>
        <p:nvSpPr>
          <p:cNvPr id="615"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Sampling error is the natural, unavoidable difference between a sample’s result and the true population value — simply because you didn’t measure everyone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exists even with a perfectly random, perfectly executed sample — it’s a mathematical consequence of sampling itself, not a mistake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Generally, larger samples have smaller sampling error — this is exactly why survey sample sizes matter so much</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concept is the direct seed of "margin of error" and confidence intervals, which get fully covered in Session 21</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1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1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42</a:t>
            </a:r>
            <a:endParaRPr lang="en-US" sz="900" b="0" u="none" strike="noStrike">
              <a:solidFill>
                <a:srgbClr val="000000"/>
              </a:solidFill>
              <a:effectLst/>
              <a:uFillTx/>
              <a:latin typeface="Arial"/>
            </a:endParaRPr>
          </a:p>
        </p:txBody>
      </p:sp>
      <p:pic>
        <p:nvPicPr>
          <p:cNvPr id="618" name="Image 0" descr="/home/claude/assets/logo_crop.png"/>
          <p:cNvPicPr/>
          <p:nvPr/>
        </p:nvPicPr>
        <p:blipFill>
          <a:blip r:embed="rId3"/>
          <a:stretch/>
        </p:blipFill>
        <p:spPr>
          <a:xfrm>
            <a:off x="11201400" y="384120"/>
            <a:ext cx="456840" cy="511560"/>
          </a:xfrm>
          <a:prstGeom prst="rect">
            <a:avLst/>
          </a:prstGeom>
          <a:noFill/>
          <a:ln w="0">
            <a:noFill/>
          </a:ln>
        </p:spPr>
      </p:pic>
      <p:sp>
        <p:nvSpPr>
          <p:cNvPr id="61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Sampling Error Shrinks with Bigger Samples</a:t>
            </a:r>
            <a:endParaRPr lang="en-US" sz="2600" b="0" u="none" strike="noStrike">
              <a:solidFill>
                <a:srgbClr val="000000"/>
              </a:solidFill>
              <a:effectLst/>
              <a:uFillTx/>
              <a:latin typeface="Arial"/>
            </a:endParaRPr>
          </a:p>
        </p:txBody>
      </p:sp>
      <p:sp>
        <p:nvSpPr>
          <p:cNvPr id="620"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For each sample size we draw 200 samples and average how far off they land.</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Bigger samples sit closer to the true mean.</a:t>
            </a:r>
            <a:endParaRPr lang="en-US" sz="20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000" b="0" u="none" strike="noStrike" dirty="0" err="1">
                <a:solidFill>
                  <a:srgbClr val="1B1B20"/>
                </a:solidFill>
                <a:effectLst/>
                <a:uFillTx/>
                <a:latin typeface="Hanken Grotesk"/>
                <a:ea typeface="Hanken Grotesk"/>
              </a:rPr>
              <a:t>numpy's</a:t>
            </a:r>
            <a:r>
              <a:rPr lang="en-US" sz="2000" b="0" u="none" strike="noStrike" dirty="0">
                <a:solidFill>
                  <a:srgbClr val="1B1B20"/>
                </a:solidFill>
                <a:effectLst/>
                <a:uFillTx/>
                <a:latin typeface="Hanken Grotesk"/>
                <a:ea typeface="Hanken Grotesk"/>
              </a:rPr>
              <a:t> </a:t>
            </a:r>
            <a:r>
              <a:rPr lang="en-US" sz="2000" b="0" u="none" strike="noStrike" dirty="0" err="1">
                <a:solidFill>
                  <a:srgbClr val="1B1B20"/>
                </a:solidFill>
                <a:effectLst/>
                <a:uFillTx/>
                <a:latin typeface="Hanken Grotesk"/>
                <a:ea typeface="Hanken Grotesk"/>
              </a:rPr>
              <a:t>rng.choice</a:t>
            </a:r>
            <a:r>
              <a:rPr lang="en-US" sz="2000" b="0" u="none" strike="noStrike" dirty="0">
                <a:solidFill>
                  <a:srgbClr val="1B1B20"/>
                </a:solidFill>
                <a:effectLst/>
                <a:uFillTx/>
                <a:latin typeface="Hanken Grotesk"/>
                <a:ea typeface="Hanken Grotesk"/>
              </a:rPr>
              <a:t> draws the random samples.</a:t>
            </a:r>
            <a:endParaRPr lang="en-US" sz="2000" b="0" u="none" strike="noStrike" dirty="0">
              <a:solidFill>
                <a:srgbClr val="000000"/>
              </a:solidFill>
              <a:effectLst/>
              <a:uFillTx/>
              <a:latin typeface="Arial"/>
              <a:cs typeface="Arial"/>
            </a:endParaRPr>
          </a:p>
        </p:txBody>
      </p:sp>
      <p:sp>
        <p:nvSpPr>
          <p:cNvPr id="621"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22"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23"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624"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625"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100" b="0" u="none" strike="noStrike">
                <a:solidFill>
                  <a:srgbClr val="F1F5F9"/>
                </a:solidFill>
                <a:effectLst/>
                <a:uFillTx/>
                <a:latin typeface="Cantarell"/>
                <a:ea typeface="Consolas"/>
              </a:rPr>
              <a:t>import numpy as np</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rng = np.random.default_rng(1)</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population = rng.normal(70, 10, 10_000)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true_mean = population.mean()</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def avg_error(n):</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errs =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for _ in range(200):</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s = rng.choice(population, n)</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errs.append(abs(s.mean() - true_mean))</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return round(float(np.mean(errs)), 2)</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 </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print(avg_error(10))              </a:t>
            </a:r>
            <a:r>
              <a:rPr lang="en-US" sz="1100" b="0" i="1" u="none" strike="noStrike">
                <a:solidFill>
                  <a:srgbClr val="94A3B8"/>
                </a:solidFill>
                <a:effectLst/>
                <a:uFillTx/>
                <a:latin typeface="Cantarell"/>
                <a:ea typeface="Consolas"/>
              </a:rPr>
              <a:t># 2.78</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print(avg_error(100))             </a:t>
            </a:r>
            <a:r>
              <a:rPr lang="en-US" sz="1100" b="0" i="1" u="none" strike="noStrike">
                <a:solidFill>
                  <a:srgbClr val="94A3B8"/>
                </a:solidFill>
                <a:effectLst/>
                <a:uFillTx/>
                <a:latin typeface="Cantarell"/>
                <a:ea typeface="Consolas"/>
              </a:rPr>
              <a:t># 0.8</a:t>
            </a:r>
            <a:endParaRPr lang="en-US" sz="1100" b="0" u="none" strike="noStrike">
              <a:solidFill>
                <a:srgbClr val="000000"/>
              </a:solidFill>
              <a:effectLst/>
              <a:uFillTx/>
              <a:latin typeface="Cantarell"/>
            </a:endParaRPr>
          </a:p>
          <a:p>
            <a:pPr defTabSz="914400">
              <a:lnSpc>
                <a:spcPct val="110000"/>
              </a:lnSpc>
              <a:tabLst>
                <a:tab pos="0" algn="l"/>
              </a:tabLst>
            </a:pPr>
            <a:r>
              <a:rPr lang="en-US" sz="1100" b="0" u="none" strike="noStrike">
                <a:solidFill>
                  <a:srgbClr val="F1F5F9"/>
                </a:solidFill>
                <a:effectLst/>
                <a:uFillTx/>
                <a:latin typeface="Cantarell"/>
                <a:ea typeface="Consolas"/>
              </a:rPr>
              <a:t>print(avg_error(1000))            </a:t>
            </a:r>
            <a:r>
              <a:rPr lang="en-US" sz="1100" b="0" i="1" u="none" strike="noStrike">
                <a:solidFill>
                  <a:srgbClr val="94A3B8"/>
                </a:solidFill>
                <a:effectLst/>
                <a:uFillTx/>
                <a:latin typeface="Cantarell"/>
                <a:ea typeface="Consolas"/>
              </a:rPr>
              <a:t># 0.23</a:t>
            </a:r>
            <a:endParaRPr lang="en-US" sz="11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2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2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43</a:t>
            </a:r>
            <a:endParaRPr lang="en-US" sz="900" b="0" u="none" strike="noStrike">
              <a:solidFill>
                <a:srgbClr val="000000"/>
              </a:solidFill>
              <a:effectLst/>
              <a:uFillTx/>
              <a:latin typeface="Arial"/>
            </a:endParaRPr>
          </a:p>
        </p:txBody>
      </p:sp>
      <p:pic>
        <p:nvPicPr>
          <p:cNvPr id="628" name="Image 0" descr="/home/claude/assets/logo_crop.png"/>
          <p:cNvPicPr/>
          <p:nvPr/>
        </p:nvPicPr>
        <p:blipFill>
          <a:blip r:embed="rId3"/>
          <a:stretch/>
        </p:blipFill>
        <p:spPr>
          <a:xfrm>
            <a:off x="11201400" y="384120"/>
            <a:ext cx="456840" cy="511560"/>
          </a:xfrm>
          <a:prstGeom prst="rect">
            <a:avLst/>
          </a:prstGeom>
          <a:noFill/>
          <a:ln w="0">
            <a:noFill/>
          </a:ln>
        </p:spPr>
      </p:pic>
      <p:sp>
        <p:nvSpPr>
          <p:cNvPr id="62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Non-Sampling Error — Everything Else That Can Go Wrong</a:t>
            </a:r>
            <a:endParaRPr lang="en-US" sz="2200" b="0" u="none" strike="noStrike">
              <a:solidFill>
                <a:srgbClr val="000000"/>
              </a:solidFill>
              <a:effectLst/>
              <a:uFillTx/>
              <a:latin typeface="Arial"/>
            </a:endParaRPr>
          </a:p>
        </p:txBody>
      </p:sp>
      <p:sp>
        <p:nvSpPr>
          <p:cNvPr id="630"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1"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2"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633"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Avoidable, if you’re careful</a:t>
            </a:r>
            <a:endParaRPr lang="en-US" sz="1700" b="0" u="none" strike="noStrike">
              <a:solidFill>
                <a:srgbClr val="000000"/>
              </a:solidFill>
              <a:effectLst/>
              <a:uFillTx/>
              <a:latin typeface="Arial"/>
            </a:endParaRPr>
          </a:p>
        </p:txBody>
      </p:sp>
      <p:sp>
        <p:nvSpPr>
          <p:cNvPr id="634"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Unlike sampling error, non-sampling error is NOT unavoidable — it comes from how the data was collected, entered, or reported, and better process can reduce it</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Measurement error: a faulty scale, a poorly worded survey question, or an inconsistent way of recording something</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Non-response error: the people who didn’t answer your survey may differ systematically from those who did</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Data entry error: simple typos, duplicate records, or a unit mismatch (recording kg as </a:t>
            </a:r>
            <a:r>
              <a:rPr lang="en-US" sz="2000" b="0" u="none" strike="noStrike" dirty="0" err="1">
                <a:solidFill>
                  <a:srgbClr val="1B1B20"/>
                </a:solidFill>
                <a:effectLst/>
                <a:uFillTx/>
                <a:latin typeface="Hanken Grotesk"/>
                <a:ea typeface="Hanken Grotesk"/>
              </a:rPr>
              <a:t>lbs</a:t>
            </a:r>
            <a:r>
              <a:rPr lang="en-US" sz="2000" b="0" u="none" strike="noStrike" dirty="0">
                <a:solidFill>
                  <a:srgbClr val="1B1B20"/>
                </a:solidFill>
                <a:effectLst/>
                <a:uFillTx/>
                <a:latin typeface="Hanken Grotesk"/>
                <a:ea typeface="Hanken Grotesk"/>
              </a:rPr>
              <a:t>) during data collection</a:t>
            </a:r>
            <a:endParaRPr lang="en-US" sz="2000" b="0" u="none" strike="noStrike">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35"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36"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44</a:t>
            </a:r>
            <a:endParaRPr lang="en-US" sz="900" b="0" u="none" strike="noStrike">
              <a:solidFill>
                <a:srgbClr val="000000"/>
              </a:solidFill>
              <a:effectLst/>
              <a:uFillTx/>
              <a:latin typeface="Arial"/>
            </a:endParaRPr>
          </a:p>
        </p:txBody>
      </p:sp>
      <p:pic>
        <p:nvPicPr>
          <p:cNvPr id="637" name="Image 0" descr="/home/claude/assets/logo_crop.png"/>
          <p:cNvPicPr/>
          <p:nvPr/>
        </p:nvPicPr>
        <p:blipFill>
          <a:blip r:embed="rId3"/>
          <a:stretch/>
        </p:blipFill>
        <p:spPr>
          <a:xfrm>
            <a:off x="11201400" y="384120"/>
            <a:ext cx="456840" cy="511560"/>
          </a:xfrm>
          <a:prstGeom prst="rect">
            <a:avLst/>
          </a:prstGeom>
          <a:noFill/>
          <a:ln w="0">
            <a:noFill/>
          </a:ln>
        </p:spPr>
      </p:pic>
      <p:sp>
        <p:nvSpPr>
          <p:cNvPr id="638"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400" b="1" u="none" strike="noStrike">
                <a:solidFill>
                  <a:srgbClr val="1B1B20"/>
                </a:solidFill>
                <a:effectLst/>
                <a:uFillTx/>
                <a:latin typeface="Bricolage Grotesque"/>
                <a:ea typeface="Bricolage Grotesque"/>
              </a:rPr>
              <a:t>Common Sources of Non-Sampling Error, at a Glance</a:t>
            </a:r>
            <a:endParaRPr lang="en-US" sz="2400" b="0" u="none" strike="noStrike">
              <a:solidFill>
                <a:srgbClr val="000000"/>
              </a:solidFill>
              <a:effectLst/>
              <a:uFillTx/>
              <a:latin typeface="Arial"/>
            </a:endParaRPr>
          </a:p>
        </p:txBody>
      </p:sp>
      <p:sp>
        <p:nvSpPr>
          <p:cNvPr id="639" name="Shape 3"/>
          <p:cNvSpPr/>
          <p:nvPr/>
        </p:nvSpPr>
        <p:spPr>
          <a:xfrm>
            <a:off x="548640" y="1737360"/>
            <a:ext cx="355068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0" name="Shape 4"/>
          <p:cNvSpPr/>
          <p:nvPr/>
        </p:nvSpPr>
        <p:spPr>
          <a:xfrm>
            <a:off x="207720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41" name="Text 5"/>
          <p:cNvSpPr/>
          <p:nvPr/>
        </p:nvSpPr>
        <p:spPr>
          <a:xfrm>
            <a:off x="20772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642" name="Shape 6"/>
          <p:cNvSpPr/>
          <p:nvPr/>
        </p:nvSpPr>
        <p:spPr>
          <a:xfrm>
            <a:off x="731520" y="2606040"/>
            <a:ext cx="3184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43" name="Text 7"/>
          <p:cNvSpPr/>
          <p:nvPr/>
        </p:nvSpPr>
        <p:spPr>
          <a:xfrm>
            <a:off x="73152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Measurement Error</a:t>
            </a:r>
            <a:endParaRPr lang="en-US" sz="1400" b="0" u="none" strike="noStrike">
              <a:solidFill>
                <a:srgbClr val="000000"/>
              </a:solidFill>
              <a:effectLst/>
              <a:uFillTx/>
              <a:latin typeface="Arial"/>
            </a:endParaRPr>
          </a:p>
        </p:txBody>
      </p:sp>
      <p:sp>
        <p:nvSpPr>
          <p:cNvPr id="644" name="Text 8"/>
          <p:cNvSpPr/>
          <p:nvPr/>
        </p:nvSpPr>
        <p:spPr>
          <a:xfrm>
            <a:off x="777240" y="3291840"/>
            <a:ext cx="3093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The tool, question, or process used to record the data was flawed or inconsistent</a:t>
            </a:r>
            <a:endParaRPr lang="en-US" sz="1400" b="0" u="none" strike="noStrike">
              <a:solidFill>
                <a:srgbClr val="000000"/>
              </a:solidFill>
              <a:effectLst/>
              <a:uFillTx/>
              <a:latin typeface="Arial"/>
            </a:endParaRPr>
          </a:p>
        </p:txBody>
      </p:sp>
      <p:sp>
        <p:nvSpPr>
          <p:cNvPr id="645" name="Shape 9"/>
          <p:cNvSpPr/>
          <p:nvPr/>
        </p:nvSpPr>
        <p:spPr>
          <a:xfrm>
            <a:off x="4328280" y="1737360"/>
            <a:ext cx="355068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6" name="Shape 10"/>
          <p:cNvSpPr/>
          <p:nvPr/>
        </p:nvSpPr>
        <p:spPr>
          <a:xfrm>
            <a:off x="585684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7" name="Text 11"/>
          <p:cNvSpPr/>
          <p:nvPr/>
        </p:nvSpPr>
        <p:spPr>
          <a:xfrm>
            <a:off x="585684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648" name="Shape 12"/>
          <p:cNvSpPr/>
          <p:nvPr/>
        </p:nvSpPr>
        <p:spPr>
          <a:xfrm>
            <a:off x="4511160" y="2606040"/>
            <a:ext cx="3184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9" name="Text 13"/>
          <p:cNvSpPr/>
          <p:nvPr/>
        </p:nvSpPr>
        <p:spPr>
          <a:xfrm>
            <a:off x="451116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Non-Response Error</a:t>
            </a:r>
            <a:endParaRPr lang="en-US" sz="1400" b="0" u="none" strike="noStrike">
              <a:solidFill>
                <a:srgbClr val="000000"/>
              </a:solidFill>
              <a:effectLst/>
              <a:uFillTx/>
              <a:latin typeface="Arial"/>
            </a:endParaRPr>
          </a:p>
        </p:txBody>
      </p:sp>
      <p:sp>
        <p:nvSpPr>
          <p:cNvPr id="650" name="Text 14"/>
          <p:cNvSpPr/>
          <p:nvPr/>
        </p:nvSpPr>
        <p:spPr>
          <a:xfrm>
            <a:off x="4556880" y="3291840"/>
            <a:ext cx="3093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The people who didn’t respond likely differ from those who did, skewing results</a:t>
            </a:r>
            <a:endParaRPr lang="en-US" sz="1400" b="0" u="none" strike="noStrike">
              <a:solidFill>
                <a:srgbClr val="000000"/>
              </a:solidFill>
              <a:effectLst/>
              <a:uFillTx/>
              <a:latin typeface="Arial"/>
            </a:endParaRPr>
          </a:p>
        </p:txBody>
      </p:sp>
      <p:sp>
        <p:nvSpPr>
          <p:cNvPr id="651" name="Shape 15"/>
          <p:cNvSpPr/>
          <p:nvPr/>
        </p:nvSpPr>
        <p:spPr>
          <a:xfrm>
            <a:off x="8107560" y="1737360"/>
            <a:ext cx="3550680" cy="4023000"/>
          </a:xfrm>
          <a:prstGeom prst="roundRect">
            <a:avLst>
              <a:gd name="adj" fmla="val 2060"/>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52" name="Shape 16"/>
          <p:cNvSpPr/>
          <p:nvPr/>
        </p:nvSpPr>
        <p:spPr>
          <a:xfrm>
            <a:off x="963612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53" name="Text 17"/>
          <p:cNvSpPr/>
          <p:nvPr/>
        </p:nvSpPr>
        <p:spPr>
          <a:xfrm>
            <a:off x="96361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654" name="Shape 18"/>
          <p:cNvSpPr/>
          <p:nvPr/>
        </p:nvSpPr>
        <p:spPr>
          <a:xfrm>
            <a:off x="8290440" y="2606040"/>
            <a:ext cx="3184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55" name="Text 19"/>
          <p:cNvSpPr/>
          <p:nvPr/>
        </p:nvSpPr>
        <p:spPr>
          <a:xfrm>
            <a:off x="8290440" y="2606040"/>
            <a:ext cx="3184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Data Entry Error</a:t>
            </a:r>
            <a:endParaRPr lang="en-US" sz="1400" b="0" u="none" strike="noStrike">
              <a:solidFill>
                <a:srgbClr val="000000"/>
              </a:solidFill>
              <a:effectLst/>
              <a:uFillTx/>
              <a:latin typeface="Arial"/>
            </a:endParaRPr>
          </a:p>
        </p:txBody>
      </p:sp>
      <p:sp>
        <p:nvSpPr>
          <p:cNvPr id="656" name="Text 20"/>
          <p:cNvSpPr/>
          <p:nvPr/>
        </p:nvSpPr>
        <p:spPr>
          <a:xfrm>
            <a:off x="8336160" y="3291840"/>
            <a:ext cx="3093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Typos, duplicates, and unit mismatches introduced while recording or storing data</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5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5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45</a:t>
            </a:r>
            <a:endParaRPr lang="en-US" sz="900" b="0" u="none" strike="noStrike">
              <a:solidFill>
                <a:srgbClr val="000000"/>
              </a:solidFill>
              <a:effectLst/>
              <a:uFillTx/>
              <a:latin typeface="Arial"/>
            </a:endParaRPr>
          </a:p>
        </p:txBody>
      </p:sp>
      <p:pic>
        <p:nvPicPr>
          <p:cNvPr id="659" name="Image 0" descr="/home/claude/assets/logo_crop.png"/>
          <p:cNvPicPr/>
          <p:nvPr/>
        </p:nvPicPr>
        <p:blipFill>
          <a:blip r:embed="rId3"/>
          <a:stretch/>
        </p:blipFill>
        <p:spPr>
          <a:xfrm>
            <a:off x="11201400" y="384120"/>
            <a:ext cx="456840" cy="511560"/>
          </a:xfrm>
          <a:prstGeom prst="rect">
            <a:avLst/>
          </a:prstGeom>
          <a:noFill/>
          <a:ln w="0">
            <a:noFill/>
          </a:ln>
        </p:spPr>
      </p:pic>
      <p:sp>
        <p:nvSpPr>
          <p:cNvPr id="66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Catching Data Entry Errors with pandas</a:t>
            </a:r>
            <a:endParaRPr lang="en-US" sz="2600" b="0" u="none" strike="noStrike">
              <a:solidFill>
                <a:srgbClr val="000000"/>
              </a:solidFill>
              <a:effectLst/>
              <a:uFillTx/>
              <a:latin typeface="Arial"/>
            </a:endParaRPr>
          </a:p>
        </p:txBody>
      </p:sp>
      <p:sp>
        <p:nvSpPr>
          <p:cNvPr id="661"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Duplicates and impossible values are the most common data entry errors.</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.duplicated() flags repeated rows; a simple filter flags impossible ones.</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Here 1.82 looks like </a:t>
            </a:r>
            <a:r>
              <a:rPr lang="en-US" sz="2000" b="0" u="none" strike="noStrike" err="1">
                <a:solidFill>
                  <a:srgbClr val="1B1B20"/>
                </a:solidFill>
                <a:effectLst/>
                <a:uFillTx/>
                <a:latin typeface="Hanken Grotesk"/>
                <a:ea typeface="Hanken Grotesk"/>
              </a:rPr>
              <a:t>metres</a:t>
            </a:r>
            <a:r>
              <a:rPr lang="en-US" sz="2000" b="0" u="none" strike="noStrike" dirty="0">
                <a:solidFill>
                  <a:srgbClr val="1B1B20"/>
                </a:solidFill>
                <a:effectLst/>
                <a:uFillTx/>
                <a:latin typeface="Hanken Grotesk"/>
                <a:ea typeface="Hanken Grotesk"/>
              </a:rPr>
              <a:t> typed into a </a:t>
            </a:r>
            <a:r>
              <a:rPr lang="en-US" sz="2000" b="0" u="none" strike="noStrike" err="1">
                <a:solidFill>
                  <a:srgbClr val="1B1B20"/>
                </a:solidFill>
                <a:effectLst/>
                <a:uFillTx/>
                <a:latin typeface="Hanken Grotesk"/>
                <a:ea typeface="Hanken Grotesk"/>
              </a:rPr>
              <a:t>centimetres</a:t>
            </a:r>
            <a:r>
              <a:rPr lang="en-US" sz="2000" b="0" u="none" strike="noStrike" dirty="0">
                <a:solidFill>
                  <a:srgbClr val="1B1B20"/>
                </a:solidFill>
                <a:effectLst/>
                <a:uFillTx/>
                <a:latin typeface="Hanken Grotesk"/>
                <a:ea typeface="Hanken Grotesk"/>
              </a:rPr>
              <a:t> column.</a:t>
            </a:r>
            <a:endParaRPr lang="en-US" sz="2000" b="0" u="none" strike="noStrike">
              <a:solidFill>
                <a:srgbClr val="000000"/>
              </a:solidFill>
              <a:effectLst/>
              <a:uFillTx/>
              <a:latin typeface="Arial"/>
              <a:cs typeface="Arial"/>
            </a:endParaRPr>
          </a:p>
        </p:txBody>
      </p:sp>
      <p:sp>
        <p:nvSpPr>
          <p:cNvPr id="662"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63"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664"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665"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666"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pandas as pd</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df = pd.DataFrame({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"name": ["Ali", "Sara", "Sara", "Omar", "Zoya"],</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"height": [170, 165, 165, 1.82, 999],  </a:t>
            </a:r>
            <a:r>
              <a:rPr lang="en-US" sz="1200" b="0" i="1" u="none" strike="noStrike">
                <a:solidFill>
                  <a:srgbClr val="94A3B8"/>
                </a:solidFill>
                <a:effectLst/>
                <a:uFillTx/>
                <a:latin typeface="Cantarell"/>
                <a:ea typeface="Consolas"/>
              </a:rPr>
              <a:t># cm</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print(df.duplicated().sum())      </a:t>
            </a:r>
            <a:r>
              <a:rPr lang="en-US" sz="1200" b="0" i="1" u="none" strike="noStrike">
                <a:solidFill>
                  <a:srgbClr val="94A3B8"/>
                </a:solidFill>
                <a:effectLst/>
                <a:uFillTx/>
                <a:latin typeface="Cantarell"/>
                <a:ea typeface="Consolas"/>
              </a:rPr>
              <a:t># 1</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bad = df[(df["height"] &lt; 100) | (df["height"] &gt; 250)]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print(bad["name"].tolist())       </a:t>
            </a:r>
            <a:r>
              <a:rPr lang="en-US" sz="1200" b="0" i="1" u="none" strike="noStrike">
                <a:solidFill>
                  <a:srgbClr val="94A3B8"/>
                </a:solidFill>
                <a:effectLst/>
                <a:uFillTx/>
                <a:latin typeface="Cantarell"/>
                <a:ea typeface="Consolas"/>
              </a:rPr>
              <a:t># ['Omar', 'Zoya']</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clean = df.drop_duplicates()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print(len(clean))                 </a:t>
            </a:r>
            <a:r>
              <a:rPr lang="en-US" sz="1200" b="0" i="1" u="none" strike="noStrike">
                <a:solidFill>
                  <a:srgbClr val="94A3B8"/>
                </a:solidFill>
                <a:effectLst/>
                <a:uFillTx/>
                <a:latin typeface="Cantarell"/>
                <a:ea typeface="Consolas"/>
              </a:rPr>
              <a:t># 4</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6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6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46</a:t>
            </a:r>
            <a:endParaRPr lang="en-US" sz="900" b="0" u="none" strike="noStrike">
              <a:solidFill>
                <a:srgbClr val="000000"/>
              </a:solidFill>
              <a:effectLst/>
              <a:uFillTx/>
              <a:latin typeface="Arial"/>
            </a:endParaRPr>
          </a:p>
        </p:txBody>
      </p:sp>
      <p:pic>
        <p:nvPicPr>
          <p:cNvPr id="669" name="Image 0" descr="/home/claude/assets/logo_crop.png"/>
          <p:cNvPicPr/>
          <p:nvPr/>
        </p:nvPicPr>
        <p:blipFill>
          <a:blip r:embed="rId3"/>
          <a:stretch/>
        </p:blipFill>
        <p:spPr>
          <a:xfrm>
            <a:off x="11201400" y="384120"/>
            <a:ext cx="456840" cy="511560"/>
          </a:xfrm>
          <a:prstGeom prst="rect">
            <a:avLst/>
          </a:prstGeom>
          <a:noFill/>
          <a:ln w="0">
            <a:noFill/>
          </a:ln>
        </p:spPr>
      </p:pic>
      <p:sp>
        <p:nvSpPr>
          <p:cNvPr id="67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Bias — Not the Same Thing as Error</a:t>
            </a:r>
            <a:endParaRPr lang="en-US" sz="2600" b="0" u="none" strike="noStrike">
              <a:solidFill>
                <a:srgbClr val="000000"/>
              </a:solidFill>
              <a:effectLst/>
              <a:uFillTx/>
              <a:latin typeface="Arial"/>
            </a:endParaRPr>
          </a:p>
        </p:txBody>
      </p:sp>
      <p:sp>
        <p:nvSpPr>
          <p:cNvPr id="671"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72"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73"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674"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Systematic, not random</a:t>
            </a:r>
            <a:endParaRPr lang="en-US" sz="1700" b="0" u="none" strike="noStrike">
              <a:solidFill>
                <a:srgbClr val="000000"/>
              </a:solidFill>
              <a:effectLst/>
              <a:uFillTx/>
              <a:latin typeface="Arial"/>
            </a:endParaRPr>
          </a:p>
        </p:txBody>
      </p:sp>
      <p:sp>
        <p:nvSpPr>
          <p:cNvPr id="675"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Random error scatters your data around the true value — sometimes too high, sometimes too low, roughly canceling out on average</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Bias pushes your data consistently in ONE direction — it doesn’t cancel out no matter how much data you collect, because the flaw is systematic, not random</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is exactly why sampling error shrinks with a bigger sample, but bias does not — a biased sampling method just gives you a more precisely wrong answer with more data</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Recognizing bias means looking critically at HOW data was collected, not just how much of it there is</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67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7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47</a:t>
            </a:r>
            <a:endParaRPr lang="en-US" sz="900" b="0" u="none" strike="noStrike">
              <a:solidFill>
                <a:srgbClr val="000000"/>
              </a:solidFill>
              <a:effectLst/>
              <a:uFillTx/>
              <a:latin typeface="Arial"/>
            </a:endParaRPr>
          </a:p>
        </p:txBody>
      </p:sp>
      <p:pic>
        <p:nvPicPr>
          <p:cNvPr id="678" name="Image 0" descr="/home/claude/assets/logo_crop.png"/>
          <p:cNvPicPr/>
          <p:nvPr/>
        </p:nvPicPr>
        <p:blipFill>
          <a:blip r:embed="rId3"/>
          <a:stretch/>
        </p:blipFill>
        <p:spPr>
          <a:xfrm>
            <a:off x="11201400" y="384120"/>
            <a:ext cx="456840" cy="511560"/>
          </a:xfrm>
          <a:prstGeom prst="rect">
            <a:avLst/>
          </a:prstGeom>
          <a:noFill/>
          <a:ln w="0">
            <a:noFill/>
          </a:ln>
        </p:spPr>
      </p:pic>
      <p:sp>
        <p:nvSpPr>
          <p:cNvPr id="67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Common Types of Bias</a:t>
            </a:r>
            <a:endParaRPr lang="en-US" sz="2600" b="0" u="none" strike="noStrike">
              <a:solidFill>
                <a:srgbClr val="000000"/>
              </a:solidFill>
              <a:effectLst/>
              <a:uFillTx/>
              <a:latin typeface="Arial"/>
            </a:endParaRPr>
          </a:p>
        </p:txBody>
      </p:sp>
      <p:sp>
        <p:nvSpPr>
          <p:cNvPr id="680" name="Shape 3"/>
          <p:cNvSpPr/>
          <p:nvPr/>
        </p:nvSpPr>
        <p:spPr>
          <a:xfrm>
            <a:off x="54864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1" name="Shape 4"/>
          <p:cNvSpPr/>
          <p:nvPr/>
        </p:nvSpPr>
        <p:spPr>
          <a:xfrm>
            <a:off x="1604880" y="1920240"/>
            <a:ext cx="493560" cy="493560"/>
          </a:xfrm>
          <a:prstGeom prst="roundRect">
            <a:avLst>
              <a:gd name="adj" fmla="val 18519"/>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82" name="Text 5"/>
          <p:cNvSpPr/>
          <p:nvPr/>
        </p:nvSpPr>
        <p:spPr>
          <a:xfrm>
            <a:off x="160488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Bricolage Grotesque"/>
                <a:ea typeface="Bricolage Grotesque"/>
              </a:rPr>
              <a:t>1</a:t>
            </a:r>
            <a:endParaRPr lang="en-US" sz="1600" b="0" u="none" strike="noStrike">
              <a:solidFill>
                <a:srgbClr val="000000"/>
              </a:solidFill>
              <a:effectLst/>
              <a:uFillTx/>
              <a:latin typeface="Arial"/>
            </a:endParaRPr>
          </a:p>
        </p:txBody>
      </p:sp>
      <p:sp>
        <p:nvSpPr>
          <p:cNvPr id="683" name="Shape 6"/>
          <p:cNvSpPr/>
          <p:nvPr/>
        </p:nvSpPr>
        <p:spPr>
          <a:xfrm>
            <a:off x="731520" y="2606040"/>
            <a:ext cx="223992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84" name="Text 7"/>
          <p:cNvSpPr/>
          <p:nvPr/>
        </p:nvSpPr>
        <p:spPr>
          <a:xfrm>
            <a:off x="73152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Selection Bias</a:t>
            </a:r>
            <a:endParaRPr lang="en-US" sz="1400" b="0" u="none" strike="noStrike">
              <a:solidFill>
                <a:srgbClr val="000000"/>
              </a:solidFill>
              <a:effectLst/>
              <a:uFillTx/>
              <a:latin typeface="Arial"/>
            </a:endParaRPr>
          </a:p>
        </p:txBody>
      </p:sp>
      <p:sp>
        <p:nvSpPr>
          <p:cNvPr id="685" name="Text 8"/>
          <p:cNvSpPr/>
          <p:nvPr/>
        </p:nvSpPr>
        <p:spPr>
          <a:xfrm>
            <a:off x="77724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The sample systematically favors certain members of the population over others</a:t>
            </a:r>
            <a:endParaRPr lang="en-US" sz="1300" b="0" u="none" strike="noStrike">
              <a:solidFill>
                <a:srgbClr val="000000"/>
              </a:solidFill>
              <a:effectLst/>
              <a:uFillTx/>
              <a:latin typeface="Arial"/>
            </a:endParaRPr>
          </a:p>
        </p:txBody>
      </p:sp>
      <p:sp>
        <p:nvSpPr>
          <p:cNvPr id="686" name="Shape 9"/>
          <p:cNvSpPr/>
          <p:nvPr/>
        </p:nvSpPr>
        <p:spPr>
          <a:xfrm>
            <a:off x="338328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7" name="Shape 10"/>
          <p:cNvSpPr/>
          <p:nvPr/>
        </p:nvSpPr>
        <p:spPr>
          <a:xfrm>
            <a:off x="4439520" y="1920240"/>
            <a:ext cx="493560" cy="493560"/>
          </a:xfrm>
          <a:prstGeom prst="roundRect">
            <a:avLst>
              <a:gd name="adj" fmla="val 18519"/>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8" name="Text 11"/>
          <p:cNvSpPr/>
          <p:nvPr/>
        </p:nvSpPr>
        <p:spPr>
          <a:xfrm>
            <a:off x="443952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689" name="Shape 12"/>
          <p:cNvSpPr/>
          <p:nvPr/>
        </p:nvSpPr>
        <p:spPr>
          <a:xfrm>
            <a:off x="3566160" y="2606040"/>
            <a:ext cx="223992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0" name="Text 13"/>
          <p:cNvSpPr/>
          <p:nvPr/>
        </p:nvSpPr>
        <p:spPr>
          <a:xfrm>
            <a:off x="356616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Confirmation Bias</a:t>
            </a:r>
            <a:endParaRPr lang="en-US" sz="1400" b="0" u="none" strike="noStrike">
              <a:solidFill>
                <a:srgbClr val="000000"/>
              </a:solidFill>
              <a:effectLst/>
              <a:uFillTx/>
              <a:latin typeface="Arial"/>
            </a:endParaRPr>
          </a:p>
        </p:txBody>
      </p:sp>
      <p:sp>
        <p:nvSpPr>
          <p:cNvPr id="691" name="Text 14"/>
          <p:cNvSpPr/>
          <p:nvPr/>
        </p:nvSpPr>
        <p:spPr>
          <a:xfrm>
            <a:off x="361188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Collecting or interpreting data in a way that favors what you already expected to find</a:t>
            </a:r>
            <a:endParaRPr lang="en-US" sz="1300" b="0" u="none" strike="noStrike">
              <a:solidFill>
                <a:srgbClr val="000000"/>
              </a:solidFill>
              <a:effectLst/>
              <a:uFillTx/>
              <a:latin typeface="Arial"/>
            </a:endParaRPr>
          </a:p>
        </p:txBody>
      </p:sp>
      <p:sp>
        <p:nvSpPr>
          <p:cNvPr id="692" name="Shape 15"/>
          <p:cNvSpPr/>
          <p:nvPr/>
        </p:nvSpPr>
        <p:spPr>
          <a:xfrm>
            <a:off x="621792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3" name="Shape 16"/>
          <p:cNvSpPr/>
          <p:nvPr/>
        </p:nvSpPr>
        <p:spPr>
          <a:xfrm>
            <a:off x="7274160" y="1920240"/>
            <a:ext cx="493560" cy="493560"/>
          </a:xfrm>
          <a:prstGeom prst="roundRect">
            <a:avLst>
              <a:gd name="adj" fmla="val 18519"/>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4" name="Text 17"/>
          <p:cNvSpPr/>
          <p:nvPr/>
        </p:nvSpPr>
        <p:spPr>
          <a:xfrm>
            <a:off x="727416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4C112D"/>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695" name="Shape 18"/>
          <p:cNvSpPr/>
          <p:nvPr/>
        </p:nvSpPr>
        <p:spPr>
          <a:xfrm>
            <a:off x="6400800" y="2606040"/>
            <a:ext cx="2239920" cy="456840"/>
          </a:xfrm>
          <a:prstGeom prst="roundRect">
            <a:avLst>
              <a:gd name="adj" fmla="val 50000"/>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6" name="Text 19"/>
          <p:cNvSpPr/>
          <p:nvPr/>
        </p:nvSpPr>
        <p:spPr>
          <a:xfrm>
            <a:off x="640080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Response Bias</a:t>
            </a:r>
            <a:endParaRPr lang="en-US" sz="1400" b="0" u="none" strike="noStrike">
              <a:solidFill>
                <a:srgbClr val="000000"/>
              </a:solidFill>
              <a:effectLst/>
              <a:uFillTx/>
              <a:latin typeface="Arial"/>
            </a:endParaRPr>
          </a:p>
        </p:txBody>
      </p:sp>
      <p:sp>
        <p:nvSpPr>
          <p:cNvPr id="697" name="Text 20"/>
          <p:cNvSpPr/>
          <p:nvPr/>
        </p:nvSpPr>
        <p:spPr>
          <a:xfrm>
            <a:off x="644652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People answer inaccurately, often to appear more socially acceptable than their true answer</a:t>
            </a:r>
            <a:endParaRPr lang="en-US" sz="1300" b="0" u="none" strike="noStrike">
              <a:solidFill>
                <a:srgbClr val="000000"/>
              </a:solidFill>
              <a:effectLst/>
              <a:uFillTx/>
              <a:latin typeface="Arial"/>
            </a:endParaRPr>
          </a:p>
        </p:txBody>
      </p:sp>
      <p:sp>
        <p:nvSpPr>
          <p:cNvPr id="698" name="Shape 21"/>
          <p:cNvSpPr/>
          <p:nvPr/>
        </p:nvSpPr>
        <p:spPr>
          <a:xfrm>
            <a:off x="9052560" y="1737360"/>
            <a:ext cx="2605680" cy="4023000"/>
          </a:xfrm>
          <a:prstGeom prst="roundRect">
            <a:avLst>
              <a:gd name="adj" fmla="val 2807"/>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9" name="Shape 22"/>
          <p:cNvSpPr/>
          <p:nvPr/>
        </p:nvSpPr>
        <p:spPr>
          <a:xfrm>
            <a:off x="10108800" y="1920240"/>
            <a:ext cx="493560" cy="493560"/>
          </a:xfrm>
          <a:prstGeom prst="roundRect">
            <a:avLst>
              <a:gd name="adj" fmla="val 18519"/>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0" name="Text 23"/>
          <p:cNvSpPr/>
          <p:nvPr/>
        </p:nvSpPr>
        <p:spPr>
          <a:xfrm>
            <a:off x="10108800" y="1920240"/>
            <a:ext cx="493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2019"/>
                </a:solidFill>
                <a:effectLst/>
                <a:uFillTx/>
                <a:latin typeface="Bricolage Grotesque"/>
                <a:ea typeface="Bricolage Grotesque"/>
              </a:rPr>
              <a:t>4</a:t>
            </a:r>
            <a:endParaRPr lang="en-US" sz="1600" b="0" u="none" strike="noStrike">
              <a:solidFill>
                <a:srgbClr val="000000"/>
              </a:solidFill>
              <a:effectLst/>
              <a:uFillTx/>
              <a:latin typeface="Arial"/>
            </a:endParaRPr>
          </a:p>
        </p:txBody>
      </p:sp>
      <p:sp>
        <p:nvSpPr>
          <p:cNvPr id="701" name="Shape 24"/>
          <p:cNvSpPr/>
          <p:nvPr/>
        </p:nvSpPr>
        <p:spPr>
          <a:xfrm>
            <a:off x="9235440" y="2606040"/>
            <a:ext cx="2239920" cy="456840"/>
          </a:xfrm>
          <a:prstGeom prst="roundRect">
            <a:avLst>
              <a:gd name="adj" fmla="val 50000"/>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2" name="Text 25"/>
          <p:cNvSpPr/>
          <p:nvPr/>
        </p:nvSpPr>
        <p:spPr>
          <a:xfrm>
            <a:off x="9235440" y="2606040"/>
            <a:ext cx="22399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Survivorship Bias</a:t>
            </a:r>
            <a:endParaRPr lang="en-US" sz="1400" b="0" u="none" strike="noStrike">
              <a:solidFill>
                <a:srgbClr val="000000"/>
              </a:solidFill>
              <a:effectLst/>
              <a:uFillTx/>
              <a:latin typeface="Arial"/>
            </a:endParaRPr>
          </a:p>
        </p:txBody>
      </p:sp>
      <p:sp>
        <p:nvSpPr>
          <p:cNvPr id="703" name="Text 26"/>
          <p:cNvSpPr/>
          <p:nvPr/>
        </p:nvSpPr>
        <p:spPr>
          <a:xfrm>
            <a:off x="9281160" y="3291840"/>
            <a:ext cx="2148480" cy="23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u="none" strike="noStrike">
                <a:solidFill>
                  <a:srgbClr val="1B1B20"/>
                </a:solidFill>
                <a:effectLst/>
                <a:uFillTx/>
                <a:latin typeface="Hanken Grotesk"/>
                <a:ea typeface="Hanken Grotesk"/>
              </a:rPr>
              <a:t>Only the "survivors" of a process get measured, hiding the failures that dropped out</a:t>
            </a:r>
            <a:endParaRPr lang="en-US" sz="13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04"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05"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48</a:t>
            </a:r>
            <a:endParaRPr lang="en-US" sz="900" b="0" u="none" strike="noStrike">
              <a:solidFill>
                <a:srgbClr val="000000"/>
              </a:solidFill>
              <a:effectLst/>
              <a:uFillTx/>
              <a:latin typeface="Arial"/>
            </a:endParaRPr>
          </a:p>
        </p:txBody>
      </p:sp>
      <p:pic>
        <p:nvPicPr>
          <p:cNvPr id="706" name="Image 0" descr="/home/claude/assets/logo_crop.png"/>
          <p:cNvPicPr/>
          <p:nvPr/>
        </p:nvPicPr>
        <p:blipFill>
          <a:blip r:embed="rId3"/>
          <a:stretch/>
        </p:blipFill>
        <p:spPr>
          <a:xfrm>
            <a:off x="11201400" y="384120"/>
            <a:ext cx="456840" cy="511560"/>
          </a:xfrm>
          <a:prstGeom prst="rect">
            <a:avLst/>
          </a:prstGeom>
          <a:noFill/>
          <a:ln w="0">
            <a:noFill/>
          </a:ln>
        </p:spPr>
      </p:pic>
      <p:sp>
        <p:nvSpPr>
          <p:cNvPr id="707"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Bias Does Not Shrink with More Data</a:t>
            </a:r>
            <a:endParaRPr lang="en-US" sz="2600" b="0" u="none" strike="noStrike">
              <a:solidFill>
                <a:srgbClr val="000000"/>
              </a:solidFill>
              <a:effectLst/>
              <a:uFillTx/>
              <a:latin typeface="Arial"/>
            </a:endParaRPr>
          </a:p>
        </p:txBody>
      </p:sp>
      <p:sp>
        <p:nvSpPr>
          <p:cNvPr id="708"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 random sample of 200 lands near the true mean.</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 biased sample — only top performers — misses it by a lot, and collecting more would not help.</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Fixing bias means fixing the sampling design, not the sample size.</a:t>
            </a:r>
            <a:endParaRPr lang="en-US" sz="2000" b="0" u="none" strike="noStrike">
              <a:solidFill>
                <a:srgbClr val="000000"/>
              </a:solidFill>
              <a:effectLst/>
              <a:uFillTx/>
              <a:latin typeface="Arial"/>
              <a:cs typeface="Arial"/>
            </a:endParaRPr>
          </a:p>
        </p:txBody>
      </p:sp>
      <p:sp>
        <p:nvSpPr>
          <p:cNvPr id="709"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10"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711"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712"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713"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numpy as np</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rng = np.random.default_rng(3)</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pop = rng.normal(70, 10, 10_000)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random_sample = rng.choice(pop, 200)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biased_sample = pop[pop &gt; 75][:200]   </a:t>
            </a:r>
            <a:r>
              <a:rPr lang="en-US" sz="1200" b="0" i="1" u="none" strike="noStrike">
                <a:solidFill>
                  <a:srgbClr val="94A3B8"/>
                </a:solidFill>
                <a:effectLst/>
                <a:uFillTx/>
                <a:latin typeface="Cantarell"/>
                <a:ea typeface="Consolas"/>
              </a:rPr>
              <a:t># top scorers only</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print(round(pop.mean(), 1))       </a:t>
            </a:r>
            <a:r>
              <a:rPr lang="en-US" sz="1200" b="0" i="1" u="none" strike="noStrike">
                <a:solidFill>
                  <a:srgbClr val="94A3B8"/>
                </a:solidFill>
                <a:effectLst/>
                <a:uFillTx/>
                <a:latin typeface="Cantarell"/>
                <a:ea typeface="Consolas"/>
              </a:rPr>
              <a:t># 70.0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print(round(random_sample.mean(), 1))  </a:t>
            </a:r>
            <a:r>
              <a:rPr lang="en-US" sz="1200" b="0" i="1" u="none" strike="noStrike">
                <a:solidFill>
                  <a:srgbClr val="94A3B8"/>
                </a:solidFill>
                <a:effectLst/>
                <a:uFillTx/>
                <a:latin typeface="Cantarell"/>
                <a:ea typeface="Consolas"/>
              </a:rPr>
              <a:t># 69.2</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print(round(biased_sample.mean(), 1))  </a:t>
            </a:r>
            <a:r>
              <a:rPr lang="en-US" sz="1200" b="0" i="1" u="none" strike="noStrike">
                <a:solidFill>
                  <a:srgbClr val="94A3B8"/>
                </a:solidFill>
                <a:effectLst/>
                <a:uFillTx/>
                <a:latin typeface="Cantarell"/>
                <a:ea typeface="Consolas"/>
              </a:rPr>
              <a:t># 81.0</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14"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15"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49</a:t>
            </a:r>
            <a:endParaRPr lang="en-US" sz="900" b="0" u="none" strike="noStrike">
              <a:solidFill>
                <a:srgbClr val="000000"/>
              </a:solidFill>
              <a:effectLst/>
              <a:uFillTx/>
              <a:latin typeface="Arial"/>
            </a:endParaRPr>
          </a:p>
        </p:txBody>
      </p:sp>
      <p:pic>
        <p:nvPicPr>
          <p:cNvPr id="716" name="Image 0" descr="/home/claude/assets/logo_crop.png"/>
          <p:cNvPicPr/>
          <p:nvPr/>
        </p:nvPicPr>
        <p:blipFill>
          <a:blip r:embed="rId3"/>
          <a:stretch/>
        </p:blipFill>
        <p:spPr>
          <a:xfrm>
            <a:off x="11201400" y="384120"/>
            <a:ext cx="456840" cy="511560"/>
          </a:xfrm>
          <a:prstGeom prst="rect">
            <a:avLst/>
          </a:prstGeom>
          <a:noFill/>
          <a:ln w="0">
            <a:noFill/>
          </a:ln>
        </p:spPr>
      </p:pic>
      <p:sp>
        <p:nvSpPr>
          <p:cNvPr id="717"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How to Actually Reduce Bias</a:t>
            </a:r>
            <a:endParaRPr lang="en-US" sz="2600" b="0" u="none" strike="noStrike">
              <a:solidFill>
                <a:srgbClr val="000000"/>
              </a:solidFill>
              <a:effectLst/>
              <a:uFillTx/>
              <a:latin typeface="Arial"/>
            </a:endParaRPr>
          </a:p>
        </p:txBody>
      </p:sp>
      <p:sp>
        <p:nvSpPr>
          <p:cNvPr id="718"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19"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20"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Δ</a:t>
            </a:r>
            <a:endParaRPr lang="en-US" sz="2800" b="0" u="none" strike="noStrike">
              <a:solidFill>
                <a:srgbClr val="000000"/>
              </a:solidFill>
              <a:effectLst/>
              <a:uFillTx/>
              <a:latin typeface="Arial"/>
            </a:endParaRPr>
          </a:p>
        </p:txBody>
      </p:sp>
      <p:sp>
        <p:nvSpPr>
          <p:cNvPr id="721"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Design it out, before collecting</a:t>
            </a:r>
            <a:endParaRPr lang="en-US" sz="1700" b="0" u="none" strike="noStrike">
              <a:solidFill>
                <a:srgbClr val="000000"/>
              </a:solidFill>
              <a:effectLst/>
              <a:uFillTx/>
              <a:latin typeface="Arial"/>
            </a:endParaRPr>
          </a:p>
        </p:txBody>
      </p:sp>
      <p:sp>
        <p:nvSpPr>
          <p:cNvPr id="722"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Randomization: using genuine probability sampling gives every member a fair, known chance of selection, directly countering selection bias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Standardized instruments: using the exact same questions, wording, and measurement process for everyone reduces measurement and response bias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Blinding: keeping data collectors unaware of the hypothesis being tested reduces the chance their expectations influence the results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Pilot testing: trying your data collection process on a small group first surfaces confusing questions or flawed measurements before they contaminate the real dataset</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23"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24"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50</a:t>
            </a:r>
            <a:endParaRPr lang="en-US" sz="900" b="0" u="none" strike="noStrike">
              <a:solidFill>
                <a:srgbClr val="000000"/>
              </a:solidFill>
              <a:effectLst/>
              <a:uFillTx/>
              <a:latin typeface="Arial"/>
            </a:endParaRPr>
          </a:p>
        </p:txBody>
      </p:sp>
      <p:pic>
        <p:nvPicPr>
          <p:cNvPr id="725" name="Image 0" descr="/home/claude/assets/logo_crop.png"/>
          <p:cNvPicPr/>
          <p:nvPr/>
        </p:nvPicPr>
        <p:blipFill>
          <a:blip r:embed="rId3"/>
          <a:stretch/>
        </p:blipFill>
        <p:spPr>
          <a:xfrm>
            <a:off x="11201400" y="384120"/>
            <a:ext cx="456840" cy="511560"/>
          </a:xfrm>
          <a:prstGeom prst="rect">
            <a:avLst/>
          </a:prstGeom>
          <a:noFill/>
          <a:ln w="0">
            <a:noFill/>
          </a:ln>
        </p:spPr>
      </p:pic>
      <p:sp>
        <p:nvSpPr>
          <p:cNvPr id="726"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27"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728"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PART 4</a:t>
            </a:r>
            <a:endParaRPr lang="en-US" sz="900" b="0" u="none" strike="noStrike">
              <a:solidFill>
                <a:srgbClr val="000000"/>
              </a:solidFill>
              <a:effectLst/>
              <a:uFillTx/>
              <a:latin typeface="Arial"/>
            </a:endParaRPr>
          </a:p>
        </p:txBody>
      </p:sp>
      <p:sp>
        <p:nvSpPr>
          <p:cNvPr id="729"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Practice Set — Errors &amp; Bias</a:t>
            </a:r>
            <a:endParaRPr lang="en-US" sz="2200" b="0" u="none" strike="noStrike">
              <a:solidFill>
                <a:srgbClr val="000000"/>
              </a:solidFill>
              <a:effectLst/>
              <a:uFillTx/>
              <a:latin typeface="Arial"/>
            </a:endParaRPr>
          </a:p>
        </p:txBody>
      </p:sp>
      <p:sp>
        <p:nvSpPr>
          <p:cNvPr id="730"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Try these yourself first — pencil, paper or a quick Python cell.</a:t>
            </a:r>
            <a:endParaRPr lang="en-US" sz="1200" b="0" u="none" strike="noStrike">
              <a:solidFill>
                <a:srgbClr val="000000"/>
              </a:solidFill>
              <a:effectLst/>
              <a:uFillTx/>
              <a:latin typeface="Arial"/>
            </a:endParaRPr>
          </a:p>
        </p:txBody>
      </p:sp>
      <p:sp>
        <p:nvSpPr>
          <p:cNvPr id="731"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2"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3"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734"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A survey about phone usage was only sent by email — explain what kind of error or bias this risks, and why</a:t>
            </a:r>
            <a:endParaRPr lang="en-US" sz="1400" b="0" u="none" strike="noStrike">
              <a:solidFill>
                <a:srgbClr val="000000"/>
              </a:solidFill>
              <a:effectLst/>
              <a:uFillTx/>
              <a:latin typeface="Arial"/>
            </a:endParaRPr>
          </a:p>
        </p:txBody>
      </p:sp>
      <p:sp>
        <p:nvSpPr>
          <p:cNvPr id="735"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6"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37"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738"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in your own words, why bias doesn’t shrink with a larger sample size, while sampling error does</a:t>
            </a:r>
            <a:endParaRPr lang="en-US" sz="1400" b="0" u="none" strike="noStrike">
              <a:solidFill>
                <a:srgbClr val="000000"/>
              </a:solidFill>
              <a:effectLst/>
              <a:uFillTx/>
              <a:latin typeface="Arial"/>
            </a:endParaRPr>
          </a:p>
        </p:txBody>
      </p:sp>
      <p:sp>
        <p:nvSpPr>
          <p:cNvPr id="739"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40"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41"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742"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A fitness study only reports results from participants who completed the full 12-week program. Name this type of bias, and explain what’s being hidden</a:t>
            </a:r>
            <a:endParaRPr lang="en-US" sz="1400" b="0" u="none" strike="noStrike">
              <a:solidFill>
                <a:srgbClr val="000000"/>
              </a:solidFill>
              <a:effectLst/>
              <a:uFillTx/>
              <a:latin typeface="Arial"/>
            </a:endParaRPr>
          </a:p>
        </p:txBody>
      </p:sp>
      <p:sp>
        <p:nvSpPr>
          <p:cNvPr id="743" name="Shape 19"/>
          <p:cNvSpPr/>
          <p:nvPr/>
        </p:nvSpPr>
        <p:spPr>
          <a:xfrm>
            <a:off x="548640" y="47638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44" name="Shape 20"/>
          <p:cNvSpPr/>
          <p:nvPr/>
        </p:nvSpPr>
        <p:spPr>
          <a:xfrm>
            <a:off x="731520" y="500184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45" name="Text 21"/>
          <p:cNvSpPr/>
          <p:nvPr/>
        </p:nvSpPr>
        <p:spPr>
          <a:xfrm>
            <a:off x="731520" y="50018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746" name="Text 22"/>
          <p:cNvSpPr/>
          <p:nvPr/>
        </p:nvSpPr>
        <p:spPr>
          <a:xfrm>
            <a:off x="1234440" y="47638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Suggest one practical way to reduce response bias in a survey about employee satisfaction with their manager</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747"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8"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9"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PART 5</a:t>
            </a:r>
            <a:endParaRPr lang="en-US" sz="1400" b="0" u="none" strike="noStrike">
              <a:solidFill>
                <a:srgbClr val="FFFFFF"/>
              </a:solidFill>
              <a:effectLst/>
              <a:uFillTx/>
              <a:latin typeface="Arial"/>
            </a:endParaRPr>
          </a:p>
        </p:txBody>
      </p:sp>
      <p:sp>
        <p:nvSpPr>
          <p:cNvPr id="750"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The Complete Chart &amp; Graph Catalog</a:t>
            </a:r>
            <a:endParaRPr lang="en-US" sz="4000" b="0" u="none" strike="noStrike">
              <a:solidFill>
                <a:srgbClr val="FFFFFF"/>
              </a:solidFill>
              <a:effectLst/>
              <a:uFillTx/>
              <a:latin typeface="Arial"/>
            </a:endParaRPr>
          </a:p>
        </p:txBody>
      </p:sp>
      <p:sp>
        <p:nvSpPr>
          <p:cNvPr id="751"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A picture is only worth a thousand words if it’s the right picture — here’s how to choose one on purpose</a:t>
            </a:r>
            <a:endParaRPr lang="en-US" sz="1500" b="0" u="none" strike="noStrike">
              <a:solidFill>
                <a:srgbClr val="FFFFFF"/>
              </a:solidFill>
              <a:effectLst/>
              <a:uFillTx/>
              <a:latin typeface="Arial"/>
            </a:endParaRPr>
          </a:p>
        </p:txBody>
      </p:sp>
      <p:sp>
        <p:nvSpPr>
          <p:cNvPr id="752"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51</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53"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54"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52</a:t>
            </a:r>
            <a:endParaRPr lang="en-US" sz="900" b="0" u="none" strike="noStrike">
              <a:solidFill>
                <a:srgbClr val="000000"/>
              </a:solidFill>
              <a:effectLst/>
              <a:uFillTx/>
              <a:latin typeface="Arial"/>
            </a:endParaRPr>
          </a:p>
        </p:txBody>
      </p:sp>
      <p:pic>
        <p:nvPicPr>
          <p:cNvPr id="755" name="Image 0" descr="/home/claude/assets/logo_crop.png"/>
          <p:cNvPicPr/>
          <p:nvPr/>
        </p:nvPicPr>
        <p:blipFill>
          <a:blip r:embed="rId3"/>
          <a:stretch/>
        </p:blipFill>
        <p:spPr>
          <a:xfrm>
            <a:off x="11201400" y="384120"/>
            <a:ext cx="456840" cy="511560"/>
          </a:xfrm>
          <a:prstGeom prst="rect">
            <a:avLst/>
          </a:prstGeom>
          <a:noFill/>
          <a:ln w="0">
            <a:noFill/>
          </a:ln>
        </p:spPr>
      </p:pic>
      <p:sp>
        <p:nvSpPr>
          <p:cNvPr id="756"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Why Chart Choice Actually Matters</a:t>
            </a:r>
            <a:endParaRPr lang="en-US" sz="2600" b="0" u="none" strike="noStrike">
              <a:solidFill>
                <a:srgbClr val="000000"/>
              </a:solidFill>
              <a:effectLst/>
              <a:uFillTx/>
              <a:latin typeface="Arial"/>
            </a:endParaRPr>
          </a:p>
        </p:txBody>
      </p:sp>
      <p:sp>
        <p:nvSpPr>
          <p:cNvPr id="757"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8"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59"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760"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The wrong chart misleads</a:t>
            </a:r>
            <a:endParaRPr lang="en-US" sz="1700" b="0" u="none" strike="noStrike">
              <a:solidFill>
                <a:srgbClr val="000000"/>
              </a:solidFill>
              <a:effectLst/>
              <a:uFillTx/>
              <a:latin typeface="Arial"/>
            </a:endParaRPr>
          </a:p>
        </p:txBody>
      </p:sp>
      <p:sp>
        <p:nvSpPr>
          <p:cNvPr id="761"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Every chart makes a silent claim about your data’s type and structure — using the wrong one doesn’t just look odd, it can genuinely mislead your reader</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right question is never "which chart looks nice" — it’s "what is this data’s type, and what relationship am I trying to show?"</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catalog is organized around exactly that question: what your data looks like, first, then which chart fits it</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Every chart on the next several slides will be classified by three things: what it shows, when to use it, and when NOT to</a:t>
            </a:r>
            <a:endParaRPr lang="en-US" sz="2000" b="0" u="none" strike="noStrike">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6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6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53</a:t>
            </a:r>
            <a:endParaRPr lang="en-US" sz="900" b="0" u="none" strike="noStrike">
              <a:solidFill>
                <a:srgbClr val="000000"/>
              </a:solidFill>
              <a:effectLst/>
              <a:uFillTx/>
              <a:latin typeface="Arial"/>
            </a:endParaRPr>
          </a:p>
        </p:txBody>
      </p:sp>
      <p:pic>
        <p:nvPicPr>
          <p:cNvPr id="764" name="Image 0" descr="/home/claude/assets/logo_crop.png"/>
          <p:cNvPicPr/>
          <p:nvPr/>
        </p:nvPicPr>
        <p:blipFill>
          <a:blip r:embed="rId3"/>
          <a:stretch/>
        </p:blipFill>
        <p:spPr>
          <a:xfrm>
            <a:off x="11201400" y="384120"/>
            <a:ext cx="456840" cy="511560"/>
          </a:xfrm>
          <a:prstGeom prst="rect">
            <a:avLst/>
          </a:prstGeom>
          <a:noFill/>
          <a:ln w="0">
            <a:noFill/>
          </a:ln>
        </p:spPr>
      </p:pic>
      <p:sp>
        <p:nvSpPr>
          <p:cNvPr id="76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Bar Chart: What It’s For</a:t>
            </a:r>
            <a:endParaRPr lang="en-US" sz="2600" b="0" u="none" strike="noStrike">
              <a:solidFill>
                <a:srgbClr val="000000"/>
              </a:solidFill>
              <a:effectLst/>
              <a:uFillTx/>
              <a:latin typeface="Arial"/>
            </a:endParaRPr>
          </a:p>
        </p:txBody>
      </p:sp>
      <p:sp>
        <p:nvSpPr>
          <p:cNvPr id="901" name="Header card"/>
          <p:cNvSpPr/>
          <p:nvPr/>
        </p:nvSpPr>
        <p:spPr>
          <a:xfrm>
            <a:off x="548640" y="1463040"/>
            <a:ext cx="11109600" cy="1463040"/>
          </a:xfrm>
          <a:prstGeom prst="roundRect">
            <a:avLst>
              <a:gd name="adj" fmla="val 4000"/>
            </a:avLst>
          </a:prstGeom>
          <a:solidFill>
            <a:srgbClr val="FFFFFF"/>
          </a:solidFill>
          <a:ln w="12700">
            <a:solidFill>
              <a:srgbClr val="C8C5D3"/>
            </a:solidFill>
            <a:round/>
          </a:ln>
        </p:spPr>
      </p:sp>
      <p:sp>
        <p:nvSpPr>
          <p:cNvPr id="902" name="Chart pill"/>
          <p:cNvSpPr/>
          <p:nvPr/>
        </p:nvSpPr>
        <p:spPr>
          <a:xfrm>
            <a:off x="777240" y="1645920"/>
            <a:ext cx="3566160" cy="456840"/>
          </a:xfrm>
          <a:prstGeom prst="roundRect">
            <a:avLst>
              <a:gd name="adj" fmla="val 50000"/>
            </a:avLst>
          </a:prstGeom>
          <a:solidFill>
            <a:srgbClr val="8C8AE0"/>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FFFFFF"/>
                </a:solidFill>
                <a:latin typeface="Plus Jakarta Sans"/>
                <a:ea typeface="Plus Jakarta Sans"/>
              </a:rPr>
              <a:t>Bar Chart</a:t>
            </a:r>
          </a:p>
        </p:txBody>
      </p:sp>
      <p:sp>
        <p:nvSpPr>
          <p:cNvPr id="903" name="Data chip"/>
          <p:cNvSpPr/>
          <p:nvPr/>
        </p:nvSpPr>
        <p:spPr>
          <a:xfrm>
            <a:off x="777240" y="2240280"/>
            <a:ext cx="3566160" cy="365400"/>
          </a:xfrm>
          <a:prstGeom prst="roundRect">
            <a:avLst>
              <a:gd name="adj" fmla="val 50000"/>
            </a:avLst>
          </a:prstGeom>
          <a:solidFill>
            <a:srgbClr val="D2D0FA"/>
          </a:solidFill>
          <a:ln w="12700">
            <a:solidFill>
              <a:srgbClr val="D2D0FA"/>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231F71"/>
                </a:solidFill>
                <a:latin typeface="Plus Jakarta Sans"/>
                <a:ea typeface="Plus Jakarta Sans"/>
              </a:rPr>
              <a:t>Data: categories + one number</a:t>
            </a:r>
          </a:p>
        </p:txBody>
      </p:sp>
      <p:sp>
        <p:nvSpPr>
          <p:cNvPr id="904" name="For label"/>
          <p:cNvSpPr/>
          <p:nvPr/>
        </p:nvSpPr>
        <p:spPr>
          <a:xfrm>
            <a:off x="4709160" y="1600200"/>
            <a:ext cx="6700000" cy="26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5755A7"/>
                </a:solidFill>
                <a:latin typeface="Plus Jakarta Sans"/>
                <a:ea typeface="Plus Jakarta Sans"/>
              </a:rPr>
              <a:t>WHAT IT'S FOR</a:t>
            </a:r>
          </a:p>
        </p:txBody>
      </p:sp>
      <p:sp>
        <p:nvSpPr>
          <p:cNvPr id="905" name="Definition"/>
          <p:cNvSpPr/>
          <p:nvPr/>
        </p:nvSpPr>
        <p:spPr>
          <a:xfrm>
            <a:off x="4709160" y="1920240"/>
            <a:ext cx="6700000" cy="90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500" b="0" i="0" dirty="0">
                <a:solidFill>
                  <a:srgbClr val="1B1B20"/>
                </a:solidFill>
                <a:latin typeface="Hanken Grotesk"/>
                <a:ea typeface="Hanken Grotesk"/>
              </a:rPr>
              <a:t>Compares a number (a count, total or average) across separate categories, so you can instantly see which groups are bigger or smaller.</a:t>
            </a:r>
          </a:p>
        </p:txBody>
      </p:sp>
      <p:sp>
        <p:nvSpPr>
          <p:cNvPr id="906" name="Use it when card"/>
          <p:cNvSpPr/>
          <p:nvPr/>
        </p:nvSpPr>
        <p:spPr>
          <a:xfrm>
            <a:off x="548640" y="3108960"/>
            <a:ext cx="5440680" cy="2926080"/>
          </a:xfrm>
          <a:prstGeom prst="roundRect">
            <a:avLst>
              <a:gd name="adj" fmla="val 3500"/>
            </a:avLst>
          </a:prstGeom>
          <a:solidFill>
            <a:srgbClr val="F2FCFB"/>
          </a:solidFill>
          <a:ln w="19050">
            <a:solidFill>
              <a:srgbClr val="A6EDE4"/>
            </a:solidFill>
            <a:round/>
          </a:ln>
        </p:spPr>
      </p:sp>
      <p:sp>
        <p:nvSpPr>
          <p:cNvPr id="907" name="Use it when badge"/>
          <p:cNvSpPr/>
          <p:nvPr/>
        </p:nvSpPr>
        <p:spPr>
          <a:xfrm>
            <a:off x="731520" y="3291840"/>
            <a:ext cx="365760" cy="365760"/>
          </a:xfrm>
          <a:prstGeom prst="ellipse">
            <a:avLst/>
          </a:prstGeom>
          <a:solidFill>
            <a:srgbClr val="2DD4BF"/>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002019"/>
                </a:solidFill>
                <a:latin typeface="Plus Jakarta Sans"/>
                <a:ea typeface="Plus Jakarta Sans"/>
              </a:rPr>
              <a:t>✓</a:t>
            </a:r>
          </a:p>
        </p:txBody>
      </p:sp>
      <p:sp>
        <p:nvSpPr>
          <p:cNvPr id="908" name="Use it when title"/>
          <p:cNvSpPr/>
          <p:nvPr/>
        </p:nvSpPr>
        <p:spPr>
          <a:xfrm>
            <a:off x="1188720" y="3291840"/>
            <a:ext cx="4400000" cy="36576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600" b="1" i="0" dirty="0">
                <a:solidFill>
                  <a:srgbClr val="1B1B20"/>
                </a:solidFill>
                <a:latin typeface="Plus Jakarta Sans"/>
                <a:ea typeface="Plus Jakarta Sans"/>
              </a:rPr>
              <a:t>Use it when</a:t>
            </a:r>
          </a:p>
        </p:txBody>
      </p:sp>
      <p:sp>
        <p:nvSpPr>
          <p:cNvPr id="909" name="Use it when bullets"/>
          <p:cNvSpPr/>
          <p:nvPr/>
        </p:nvSpPr>
        <p:spPr>
          <a:xfrm>
            <a:off x="731520" y="3848960"/>
            <a:ext cx="5074920" cy="2100000"/>
          </a:xfrm>
          <a:prstGeom prst="rect">
            <a:avLst/>
          </a:prstGeom>
          <a:noFill/>
          <a:ln w="0">
            <a:noFill/>
          </a:ln>
        </p:spPr>
        <p:txBody>
          <a:bodyPr wrap="square" lIns="0" tIns="0" rIns="0" bIns="0" anchor="t">
            <a:noAutofit/>
          </a:bodyPr>
          <a:lstStyle/>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Comparing counts or values across groups, such as students per city or sales per product</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Your x-axis is a category (nominal or ordinal), not a continuous number line</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You want to rank categories: sort the bars from tallest to shortest to make it obvious</a:t>
            </a:r>
          </a:p>
        </p:txBody>
      </p:sp>
      <p:sp>
        <p:nvSpPr>
          <p:cNvPr id="910" name="Avoid it when card"/>
          <p:cNvSpPr/>
          <p:nvPr/>
        </p:nvSpPr>
        <p:spPr>
          <a:xfrm>
            <a:off x="6217920" y="3108960"/>
            <a:ext cx="5440680" cy="2926080"/>
          </a:xfrm>
          <a:prstGeom prst="roundRect">
            <a:avLst>
              <a:gd name="adj" fmla="val 3500"/>
            </a:avLst>
          </a:prstGeom>
          <a:solidFill>
            <a:srgbClr val="FFF5F7"/>
          </a:solidFill>
          <a:ln w="19050">
            <a:solidFill>
              <a:srgbClr val="FBBAC5"/>
            </a:solidFill>
            <a:round/>
          </a:ln>
        </p:spPr>
      </p:sp>
      <p:sp>
        <p:nvSpPr>
          <p:cNvPr id="911" name="Avoid it when badge"/>
          <p:cNvSpPr/>
          <p:nvPr/>
        </p:nvSpPr>
        <p:spPr>
          <a:xfrm>
            <a:off x="6400800" y="3291840"/>
            <a:ext cx="365760" cy="365760"/>
          </a:xfrm>
          <a:prstGeom prst="ellipse">
            <a:avLst/>
          </a:prstGeom>
          <a:solidFill>
            <a:srgbClr val="F43F5E"/>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FFFFFF"/>
                </a:solidFill>
                <a:latin typeface="Plus Jakarta Sans"/>
                <a:ea typeface="Plus Jakarta Sans"/>
              </a:rPr>
              <a:t>✕</a:t>
            </a:r>
          </a:p>
        </p:txBody>
      </p:sp>
      <p:sp>
        <p:nvSpPr>
          <p:cNvPr id="912" name="Avoid it when title"/>
          <p:cNvSpPr/>
          <p:nvPr/>
        </p:nvSpPr>
        <p:spPr>
          <a:xfrm>
            <a:off x="6858000" y="3291840"/>
            <a:ext cx="4400000" cy="36576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600" b="1" i="0" dirty="0">
                <a:solidFill>
                  <a:srgbClr val="1B1B20"/>
                </a:solidFill>
                <a:latin typeface="Plus Jakarta Sans"/>
                <a:ea typeface="Plus Jakarta Sans"/>
              </a:rPr>
              <a:t>Avoid it when</a:t>
            </a:r>
          </a:p>
        </p:txBody>
      </p:sp>
      <p:sp>
        <p:nvSpPr>
          <p:cNvPr id="913" name="Avoid it when bullets"/>
          <p:cNvSpPr/>
          <p:nvPr/>
        </p:nvSpPr>
        <p:spPr>
          <a:xfrm>
            <a:off x="6400800" y="3848960"/>
            <a:ext cx="5074920" cy="2100000"/>
          </a:xfrm>
          <a:prstGeom prst="rect">
            <a:avLst/>
          </a:prstGeom>
          <a:noFill/>
          <a:ln w="0">
            <a:noFill/>
          </a:ln>
        </p:spPr>
        <p:txBody>
          <a:bodyPr wrap="square" lIns="0" tIns="0" rIns="0" bIns="0" anchor="t">
            <a:noAutofit/>
          </a:bodyPr>
          <a:lstStyle/>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Showing change over time: a line chart shows the trend and direction far better</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Your variable is a continuous number like age or height: use a histogram to see its shape</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There are dozens of categories: the bars get cramped and the labels unreadable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6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6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54</a:t>
            </a:r>
            <a:endParaRPr lang="en-US" sz="900" b="0" u="none" strike="noStrike">
              <a:solidFill>
                <a:srgbClr val="000000"/>
              </a:solidFill>
              <a:effectLst/>
              <a:uFillTx/>
              <a:latin typeface="Arial"/>
            </a:endParaRPr>
          </a:p>
        </p:txBody>
      </p:sp>
      <p:pic>
        <p:nvPicPr>
          <p:cNvPr id="764" name="Image 0" descr="/home/claude/assets/logo_crop.png"/>
          <p:cNvPicPr/>
          <p:nvPr/>
        </p:nvPicPr>
        <p:blipFill>
          <a:blip r:embed="rId2"/>
          <a:stretch/>
        </p:blipFill>
        <p:spPr>
          <a:xfrm>
            <a:off x="11201400" y="384120"/>
            <a:ext cx="456840" cy="511560"/>
          </a:xfrm>
          <a:prstGeom prst="rect">
            <a:avLst/>
          </a:prstGeom>
          <a:noFill/>
          <a:ln w="0">
            <a:noFill/>
          </a:ln>
        </p:spPr>
      </p:pic>
      <p:sp>
        <p:nvSpPr>
          <p:cNvPr id="76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Bar Chart: Anatomy &amp; How to Read It</a:t>
            </a:r>
            <a:endParaRPr lang="en-US" sz="2600" b="0" u="none" strike="noStrike">
              <a:solidFill>
                <a:srgbClr val="000000"/>
              </a:solidFill>
              <a:effectLst/>
              <a:uFillTx/>
              <a:latin typeface="Arial"/>
            </a:endParaRPr>
          </a:p>
        </p:txBody>
      </p:sp>
      <p:sp>
        <p:nvSpPr>
          <p:cNvPr id="901" name="Chart card"/>
          <p:cNvSpPr/>
          <p:nvPr/>
        </p:nvSpPr>
        <p:spPr>
          <a:xfrm>
            <a:off x="548640" y="1463040"/>
            <a:ext cx="6858000" cy="3565800"/>
          </a:xfrm>
          <a:prstGeom prst="roundRect">
            <a:avLst>
              <a:gd name="adj" fmla="val 2500"/>
            </a:avLst>
          </a:prstGeom>
          <a:solidFill>
            <a:srgbClr val="FFFFFF"/>
          </a:solidFill>
          <a:ln w="12700">
            <a:solidFill>
              <a:srgbClr val="C8C5D3"/>
            </a:solidFill>
            <a:round/>
          </a:ln>
        </p:spPr>
      </p:sp>
      <p:sp>
        <p:nvSpPr>
          <p:cNvPr id="774" name="Y title"/>
          <p:cNvSpPr/>
          <p:nvPr/>
        </p:nvSpPr>
        <p:spPr>
          <a:xfrm>
            <a:off x="698640" y="1527120"/>
            <a:ext cx="7311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count</a:t>
            </a:r>
            <a:endParaRPr lang="en-US" sz="1150" b="0" u="none" strike="noStrike">
              <a:solidFill>
                <a:srgbClr val="000000"/>
              </a:solidFill>
              <a:effectLst/>
              <a:uFillTx/>
              <a:latin typeface="Arial"/>
            </a:endParaRPr>
          </a:p>
        </p:txBody>
      </p:sp>
      <p:sp>
        <p:nvSpPr>
          <p:cNvPr id="775" name="Tick"/>
          <p:cNvSpPr/>
          <p:nvPr/>
        </p:nvSpPr>
        <p:spPr>
          <a:xfrm>
            <a:off x="972960" y="409212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0</a:t>
            </a:r>
            <a:endParaRPr lang="en-US" sz="1150" b="0" u="none" strike="noStrike">
              <a:solidFill>
                <a:srgbClr val="000000"/>
              </a:solidFill>
              <a:effectLst/>
              <a:uFillTx/>
              <a:latin typeface="Arial"/>
            </a:endParaRPr>
          </a:p>
        </p:txBody>
      </p:sp>
      <p:sp>
        <p:nvSpPr>
          <p:cNvPr id="776" name="Grid"/>
          <p:cNvSpPr/>
          <p:nvPr/>
        </p:nvSpPr>
        <p:spPr>
          <a:xfrm>
            <a:off x="1430160" y="378612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77" name="Tick"/>
          <p:cNvSpPr/>
          <p:nvPr/>
        </p:nvSpPr>
        <p:spPr>
          <a:xfrm>
            <a:off x="972960" y="367200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1</a:t>
            </a:r>
            <a:endParaRPr lang="en-US" sz="1150" b="0" u="none" strike="noStrike">
              <a:solidFill>
                <a:srgbClr val="000000"/>
              </a:solidFill>
              <a:effectLst/>
              <a:uFillTx/>
              <a:latin typeface="Arial"/>
            </a:endParaRPr>
          </a:p>
        </p:txBody>
      </p:sp>
      <p:sp>
        <p:nvSpPr>
          <p:cNvPr id="778" name="Grid"/>
          <p:cNvSpPr/>
          <p:nvPr/>
        </p:nvSpPr>
        <p:spPr>
          <a:xfrm>
            <a:off x="1430160" y="336600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79" name="Tick"/>
          <p:cNvSpPr/>
          <p:nvPr/>
        </p:nvSpPr>
        <p:spPr>
          <a:xfrm>
            <a:off x="972960" y="325188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2</a:t>
            </a:r>
            <a:endParaRPr lang="en-US" sz="1150" b="0" u="none" strike="noStrike">
              <a:solidFill>
                <a:srgbClr val="000000"/>
              </a:solidFill>
              <a:effectLst/>
              <a:uFillTx/>
              <a:latin typeface="Arial"/>
            </a:endParaRPr>
          </a:p>
        </p:txBody>
      </p:sp>
      <p:sp>
        <p:nvSpPr>
          <p:cNvPr id="780" name="Grid"/>
          <p:cNvSpPr/>
          <p:nvPr/>
        </p:nvSpPr>
        <p:spPr>
          <a:xfrm>
            <a:off x="1430160" y="294624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81" name="Tick"/>
          <p:cNvSpPr/>
          <p:nvPr/>
        </p:nvSpPr>
        <p:spPr>
          <a:xfrm>
            <a:off x="972960" y="283212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3</a:t>
            </a:r>
            <a:endParaRPr lang="en-US" sz="1150" b="0" u="none" strike="noStrike">
              <a:solidFill>
                <a:srgbClr val="000000"/>
              </a:solidFill>
              <a:effectLst/>
              <a:uFillTx/>
              <a:latin typeface="Arial"/>
            </a:endParaRPr>
          </a:p>
        </p:txBody>
      </p:sp>
      <p:sp>
        <p:nvSpPr>
          <p:cNvPr id="782" name="Grid"/>
          <p:cNvSpPr/>
          <p:nvPr/>
        </p:nvSpPr>
        <p:spPr>
          <a:xfrm>
            <a:off x="1430160" y="252612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83" name="Tick"/>
          <p:cNvSpPr/>
          <p:nvPr/>
        </p:nvSpPr>
        <p:spPr>
          <a:xfrm>
            <a:off x="972960" y="241200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4</a:t>
            </a:r>
            <a:endParaRPr lang="en-US" sz="1150" b="0" u="none" strike="noStrike">
              <a:solidFill>
                <a:srgbClr val="000000"/>
              </a:solidFill>
              <a:effectLst/>
              <a:uFillTx/>
              <a:latin typeface="Arial"/>
            </a:endParaRPr>
          </a:p>
        </p:txBody>
      </p:sp>
      <p:sp>
        <p:nvSpPr>
          <p:cNvPr id="784" name="Grid"/>
          <p:cNvSpPr/>
          <p:nvPr/>
        </p:nvSpPr>
        <p:spPr>
          <a:xfrm>
            <a:off x="1430160" y="2106000"/>
            <a:ext cx="5715000" cy="360"/>
          </a:xfrm>
          <a:prstGeom prst="line">
            <a:avLst/>
          </a:prstGeom>
          <a:ln w="9525">
            <a:solidFill>
              <a:srgbClr val="E6E3F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85" name="Tick"/>
          <p:cNvSpPr/>
          <p:nvPr/>
        </p:nvSpPr>
        <p:spPr>
          <a:xfrm>
            <a:off x="972960" y="1991880"/>
            <a:ext cx="365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50" b="0" u="none" strike="noStrike">
                <a:solidFill>
                  <a:srgbClr val="474651"/>
                </a:solidFill>
                <a:effectLst/>
                <a:uFillTx/>
                <a:latin typeface="Hanken Grotesk"/>
                <a:ea typeface="Hanken Grotesk"/>
              </a:rPr>
              <a:t>5</a:t>
            </a:r>
            <a:endParaRPr lang="en-US" sz="1150" b="0" u="none" strike="noStrike">
              <a:solidFill>
                <a:srgbClr val="000000"/>
              </a:solidFill>
              <a:effectLst/>
              <a:uFillTx/>
              <a:latin typeface="Arial"/>
            </a:endParaRPr>
          </a:p>
        </p:txBody>
      </p:sp>
      <p:sp>
        <p:nvSpPr>
          <p:cNvPr id="786" name="Y axis"/>
          <p:cNvSpPr/>
          <p:nvPr/>
        </p:nvSpPr>
        <p:spPr>
          <a:xfrm>
            <a:off x="1430160" y="1828800"/>
            <a:ext cx="360" cy="2377440"/>
          </a:xfrm>
          <a:prstGeom prst="line">
            <a:avLst/>
          </a:prstGeom>
          <a:ln w="19050">
            <a:solidFill>
              <a:srgbClr val="47465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787" name="X axis"/>
          <p:cNvSpPr/>
          <p:nvPr/>
        </p:nvSpPr>
        <p:spPr>
          <a:xfrm>
            <a:off x="1430160" y="4206240"/>
            <a:ext cx="5715000" cy="360"/>
          </a:xfrm>
          <a:prstGeom prst="line">
            <a:avLst/>
          </a:prstGeom>
          <a:ln w="19050">
            <a:solidFill>
              <a:srgbClr val="47465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788" name="Bar"/>
          <p:cNvSpPr/>
          <p:nvPr/>
        </p:nvSpPr>
        <p:spPr>
          <a:xfrm>
            <a:off x="1887360" y="2106360"/>
            <a:ext cx="1142640" cy="2099520"/>
          </a:xfrm>
          <a:prstGeom prst="rect">
            <a:avLst/>
          </a:prstGeom>
          <a:solidFill>
            <a:srgbClr val="8C8A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89" name="Value"/>
          <p:cNvSpPr/>
          <p:nvPr/>
        </p:nvSpPr>
        <p:spPr>
          <a:xfrm>
            <a:off x="1887360" y="1786320"/>
            <a:ext cx="1142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5</a:t>
            </a:r>
            <a:endParaRPr lang="en-US" sz="1600" b="0" u="none" strike="noStrike">
              <a:solidFill>
                <a:srgbClr val="000000"/>
              </a:solidFill>
              <a:effectLst/>
              <a:uFillTx/>
              <a:latin typeface="Arial"/>
            </a:endParaRPr>
          </a:p>
        </p:txBody>
      </p:sp>
      <p:sp>
        <p:nvSpPr>
          <p:cNvPr id="790" name="Category"/>
          <p:cNvSpPr/>
          <p:nvPr/>
        </p:nvSpPr>
        <p:spPr>
          <a:xfrm>
            <a:off x="1590360" y="4297680"/>
            <a:ext cx="1737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Quetta</a:t>
            </a:r>
            <a:endParaRPr lang="en-US" sz="1400" b="0" u="none" strike="noStrike">
              <a:solidFill>
                <a:srgbClr val="000000"/>
              </a:solidFill>
              <a:effectLst/>
              <a:uFillTx/>
              <a:latin typeface="Arial"/>
            </a:endParaRPr>
          </a:p>
        </p:txBody>
      </p:sp>
      <p:sp>
        <p:nvSpPr>
          <p:cNvPr id="791" name="Bar"/>
          <p:cNvSpPr/>
          <p:nvPr/>
        </p:nvSpPr>
        <p:spPr>
          <a:xfrm>
            <a:off x="3624720" y="2946240"/>
            <a:ext cx="1142640" cy="1259640"/>
          </a:xfrm>
          <a:prstGeom prst="rect">
            <a:avLst/>
          </a:prstGeom>
          <a:solidFill>
            <a:srgbClr val="8C8A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2" name="Value"/>
          <p:cNvSpPr/>
          <p:nvPr/>
        </p:nvSpPr>
        <p:spPr>
          <a:xfrm>
            <a:off x="3624720" y="2626200"/>
            <a:ext cx="1142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3</a:t>
            </a:r>
            <a:endParaRPr lang="en-US" sz="1600" b="0" u="none" strike="noStrike">
              <a:solidFill>
                <a:srgbClr val="000000"/>
              </a:solidFill>
              <a:effectLst/>
              <a:uFillTx/>
              <a:latin typeface="Arial"/>
            </a:endParaRPr>
          </a:p>
        </p:txBody>
      </p:sp>
      <p:sp>
        <p:nvSpPr>
          <p:cNvPr id="793" name="Category"/>
          <p:cNvSpPr/>
          <p:nvPr/>
        </p:nvSpPr>
        <p:spPr>
          <a:xfrm>
            <a:off x="3327720" y="4297680"/>
            <a:ext cx="1737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Lahore</a:t>
            </a:r>
            <a:endParaRPr lang="en-US" sz="1400" b="0" u="none" strike="noStrike">
              <a:solidFill>
                <a:srgbClr val="000000"/>
              </a:solidFill>
              <a:effectLst/>
              <a:uFillTx/>
              <a:latin typeface="Arial"/>
            </a:endParaRPr>
          </a:p>
        </p:txBody>
      </p:sp>
      <p:sp>
        <p:nvSpPr>
          <p:cNvPr id="794" name="Bar"/>
          <p:cNvSpPr/>
          <p:nvPr/>
        </p:nvSpPr>
        <p:spPr>
          <a:xfrm>
            <a:off x="5362080" y="3366360"/>
            <a:ext cx="1142640" cy="839520"/>
          </a:xfrm>
          <a:prstGeom prst="rect">
            <a:avLst/>
          </a:prstGeom>
          <a:solidFill>
            <a:srgbClr val="8C8AE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5" name="Value"/>
          <p:cNvSpPr/>
          <p:nvPr/>
        </p:nvSpPr>
        <p:spPr>
          <a:xfrm>
            <a:off x="5362080" y="3046320"/>
            <a:ext cx="1142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2</a:t>
            </a:r>
            <a:endParaRPr lang="en-US" sz="1600" b="0" u="none" strike="noStrike">
              <a:solidFill>
                <a:srgbClr val="000000"/>
              </a:solidFill>
              <a:effectLst/>
              <a:uFillTx/>
              <a:latin typeface="Arial"/>
            </a:endParaRPr>
          </a:p>
        </p:txBody>
      </p:sp>
      <p:sp>
        <p:nvSpPr>
          <p:cNvPr id="796" name="Category"/>
          <p:cNvSpPr/>
          <p:nvPr/>
        </p:nvSpPr>
        <p:spPr>
          <a:xfrm>
            <a:off x="5065080" y="4297680"/>
            <a:ext cx="1737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Karachi</a:t>
            </a:r>
            <a:endParaRPr lang="en-US" sz="1400" b="0" u="none" strike="noStrike">
              <a:solidFill>
                <a:srgbClr val="000000"/>
              </a:solidFill>
              <a:effectLst/>
              <a:uFillTx/>
              <a:latin typeface="Arial"/>
            </a:endParaRPr>
          </a:p>
        </p:txBody>
      </p:sp>
      <p:sp>
        <p:nvSpPr>
          <p:cNvPr id="797" name="X title"/>
          <p:cNvSpPr/>
          <p:nvPr/>
        </p:nvSpPr>
        <p:spPr>
          <a:xfrm>
            <a:off x="1430160" y="4617720"/>
            <a:ext cx="5714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0" u="none" strike="noStrike">
                <a:solidFill>
                  <a:srgbClr val="474651"/>
                </a:solidFill>
                <a:effectLst/>
                <a:uFillTx/>
                <a:latin typeface="Hanken Grotesk"/>
                <a:ea typeface="Hanken Grotesk"/>
              </a:rPr>
              <a:t>city</a:t>
            </a:r>
            <a:endParaRPr lang="en-US" sz="1150" b="0" u="none" strike="noStrike">
              <a:solidFill>
                <a:srgbClr val="000000"/>
              </a:solidFill>
              <a:effectLst/>
              <a:uFillTx/>
              <a:latin typeface="Arial"/>
            </a:endParaRPr>
          </a:p>
        </p:txBody>
      </p:sp>
      <p:sp>
        <p:nvSpPr>
          <p:cNvPr id="902" name="Marker 1"/>
          <p:cNvSpPr/>
          <p:nvPr/>
        </p:nvSpPr>
        <p:spPr>
          <a:xfrm>
            <a:off x="1526640" y="1500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1</a:t>
            </a:r>
          </a:p>
        </p:txBody>
      </p:sp>
      <p:sp>
        <p:nvSpPr>
          <p:cNvPr id="903" name="Marker 2"/>
          <p:cNvSpPr/>
          <p:nvPr/>
        </p:nvSpPr>
        <p:spPr>
          <a:xfrm>
            <a:off x="2323360" y="262636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2</a:t>
            </a:r>
          </a:p>
        </p:txBody>
      </p:sp>
      <p:sp>
        <p:nvSpPr>
          <p:cNvPr id="904" name="Marker 3"/>
          <p:cNvSpPr/>
          <p:nvPr/>
        </p:nvSpPr>
        <p:spPr>
          <a:xfrm>
            <a:off x="3456640" y="4300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3</a:t>
            </a:r>
          </a:p>
        </p:txBody>
      </p:sp>
      <p:sp>
        <p:nvSpPr>
          <p:cNvPr id="905" name="Marker 4"/>
          <p:cNvSpPr/>
          <p:nvPr/>
        </p:nvSpPr>
        <p:spPr>
          <a:xfrm>
            <a:off x="4416640" y="2636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4</a:t>
            </a:r>
          </a:p>
        </p:txBody>
      </p:sp>
      <p:sp>
        <p:nvSpPr>
          <p:cNvPr id="906" name="Marker 5"/>
          <p:cNvSpPr/>
          <p:nvPr/>
        </p:nvSpPr>
        <p:spPr>
          <a:xfrm>
            <a:off x="6826640" y="390624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5</a:t>
            </a:r>
          </a:p>
        </p:txBody>
      </p:sp>
      <p:sp>
        <p:nvSpPr>
          <p:cNvPr id="907" name="Components card"/>
          <p:cNvSpPr/>
          <p:nvPr/>
        </p:nvSpPr>
        <p:spPr>
          <a:xfrm>
            <a:off x="7589520" y="1463040"/>
            <a:ext cx="4068720" cy="3565800"/>
          </a:xfrm>
          <a:prstGeom prst="roundRect">
            <a:avLst>
              <a:gd name="adj" fmla="val 2500"/>
            </a:avLst>
          </a:prstGeom>
          <a:solidFill>
            <a:srgbClr val="FFFFFF"/>
          </a:solidFill>
          <a:ln w="12700">
            <a:solidFill>
              <a:srgbClr val="C8C5D3"/>
            </a:solidFill>
            <a:round/>
          </a:ln>
        </p:spPr>
      </p:sp>
      <p:sp>
        <p:nvSpPr>
          <p:cNvPr id="908" name="Components title"/>
          <p:cNvSpPr/>
          <p:nvPr/>
        </p:nvSpPr>
        <p:spPr>
          <a:xfrm>
            <a:off x="7772400" y="1573040"/>
            <a:ext cx="3700000" cy="3300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500" b="1" i="0" dirty="0">
                <a:solidFill>
                  <a:srgbClr val="1B1B20"/>
                </a:solidFill>
                <a:latin typeface="Plus Jakarta Sans"/>
                <a:ea typeface="Plus Jakarta Sans"/>
              </a:rPr>
              <a:t>Components</a:t>
            </a:r>
          </a:p>
        </p:txBody>
      </p:sp>
      <p:sp>
        <p:nvSpPr>
          <p:cNvPr id="909" name="Badge 1"/>
          <p:cNvSpPr/>
          <p:nvPr/>
        </p:nvSpPr>
        <p:spPr>
          <a:xfrm>
            <a:off x="7772400" y="19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1</a:t>
            </a:r>
          </a:p>
        </p:txBody>
      </p:sp>
      <p:sp>
        <p:nvSpPr>
          <p:cNvPr id="910" name="Component 1"/>
          <p:cNvSpPr/>
          <p:nvPr/>
        </p:nvSpPr>
        <p:spPr>
          <a:xfrm>
            <a:off x="8179520" y="19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Y-axis (value scale)</a:t>
            </a:r>
          </a:p>
          <a:p>
            <a:pPr algn="l">
              <a:lnSpc>
                <a:spcPct val="100000"/>
              </a:lnSpc>
              <a:spcBef>
                <a:spcPts val="0"/>
              </a:spcBef>
              <a:spcAft>
                <a:spcPts val="0"/>
              </a:spcAft>
              <a:buNone/>
            </a:pPr>
            <a:r>
              <a:rPr lang="en-US" sz="1100" b="0" i="0" dirty="0">
                <a:solidFill>
                  <a:srgbClr val="474651"/>
                </a:solidFill>
                <a:latin typeface="Hanken Grotesk"/>
                <a:ea typeface="Hanken Grotesk"/>
              </a:rPr>
              <a:t>What is measured: counts, totals or averages.</a:t>
            </a:r>
          </a:p>
        </p:txBody>
      </p:sp>
      <p:sp>
        <p:nvSpPr>
          <p:cNvPr id="911" name="Badge 2"/>
          <p:cNvSpPr/>
          <p:nvPr/>
        </p:nvSpPr>
        <p:spPr>
          <a:xfrm>
            <a:off x="7772400" y="25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2</a:t>
            </a:r>
          </a:p>
        </p:txBody>
      </p:sp>
      <p:sp>
        <p:nvSpPr>
          <p:cNvPr id="912" name="Component 2"/>
          <p:cNvSpPr/>
          <p:nvPr/>
        </p:nvSpPr>
        <p:spPr>
          <a:xfrm>
            <a:off x="8179520" y="25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Bars</a:t>
            </a:r>
          </a:p>
          <a:p>
            <a:pPr algn="l">
              <a:lnSpc>
                <a:spcPct val="100000"/>
              </a:lnSpc>
              <a:spcBef>
                <a:spcPts val="0"/>
              </a:spcBef>
              <a:spcAft>
                <a:spcPts val="0"/>
              </a:spcAft>
              <a:buNone/>
            </a:pPr>
            <a:r>
              <a:rPr lang="en-US" sz="1100" b="0" i="0" dirty="0">
                <a:solidFill>
                  <a:srgbClr val="474651"/>
                </a:solidFill>
                <a:latin typeface="Hanken Grotesk"/>
                <a:ea typeface="Hanken Grotesk"/>
              </a:rPr>
              <a:t>One per category. The height shows its value.</a:t>
            </a:r>
          </a:p>
        </p:txBody>
      </p:sp>
      <p:sp>
        <p:nvSpPr>
          <p:cNvPr id="913" name="Badge 3"/>
          <p:cNvSpPr/>
          <p:nvPr/>
        </p:nvSpPr>
        <p:spPr>
          <a:xfrm>
            <a:off x="7772400" y="31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3</a:t>
            </a:r>
          </a:p>
        </p:txBody>
      </p:sp>
      <p:sp>
        <p:nvSpPr>
          <p:cNvPr id="914" name="Component 3"/>
          <p:cNvSpPr/>
          <p:nvPr/>
        </p:nvSpPr>
        <p:spPr>
          <a:xfrm>
            <a:off x="8179520" y="31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X-axis (categories)</a:t>
            </a:r>
          </a:p>
          <a:p>
            <a:pPr algn="l">
              <a:lnSpc>
                <a:spcPct val="100000"/>
              </a:lnSpc>
              <a:spcBef>
                <a:spcPts val="0"/>
              </a:spcBef>
              <a:spcAft>
                <a:spcPts val="0"/>
              </a:spcAft>
              <a:buNone/>
            </a:pPr>
            <a:r>
              <a:rPr lang="en-US" sz="1100" b="0" i="0" dirty="0">
                <a:solidFill>
                  <a:srgbClr val="474651"/>
                </a:solidFill>
                <a:latin typeface="Hanken Grotesk"/>
                <a:ea typeface="Hanken Grotesk"/>
              </a:rPr>
              <a:t>Names each group. Gaps mean categories are separate.</a:t>
            </a:r>
          </a:p>
        </p:txBody>
      </p:sp>
      <p:sp>
        <p:nvSpPr>
          <p:cNvPr id="915" name="Badge 4"/>
          <p:cNvSpPr/>
          <p:nvPr/>
        </p:nvSpPr>
        <p:spPr>
          <a:xfrm>
            <a:off x="7772400" y="37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4</a:t>
            </a:r>
          </a:p>
        </p:txBody>
      </p:sp>
      <p:sp>
        <p:nvSpPr>
          <p:cNvPr id="916" name="Component 4"/>
          <p:cNvSpPr/>
          <p:nvPr/>
        </p:nvSpPr>
        <p:spPr>
          <a:xfrm>
            <a:off x="8179520" y="37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Value labels</a:t>
            </a:r>
          </a:p>
          <a:p>
            <a:pPr algn="l">
              <a:lnSpc>
                <a:spcPct val="100000"/>
              </a:lnSpc>
              <a:spcBef>
                <a:spcPts val="0"/>
              </a:spcBef>
              <a:spcAft>
                <a:spcPts val="0"/>
              </a:spcAft>
              <a:buNone/>
            </a:pPr>
            <a:r>
              <a:rPr lang="en-US" sz="1100" b="0" i="0" dirty="0">
                <a:solidFill>
                  <a:srgbClr val="474651"/>
                </a:solidFill>
                <a:latin typeface="Hanken Grotesk"/>
                <a:ea typeface="Hanken Grotesk"/>
              </a:rPr>
              <a:t>The exact number on each bar, so nobody has to guess.</a:t>
            </a:r>
          </a:p>
        </p:txBody>
      </p:sp>
      <p:sp>
        <p:nvSpPr>
          <p:cNvPr id="917" name="Badge 5"/>
          <p:cNvSpPr/>
          <p:nvPr/>
        </p:nvSpPr>
        <p:spPr>
          <a:xfrm>
            <a:off x="7772400" y="43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5</a:t>
            </a:r>
          </a:p>
        </p:txBody>
      </p:sp>
      <p:sp>
        <p:nvSpPr>
          <p:cNvPr id="918" name="Component 5"/>
          <p:cNvSpPr/>
          <p:nvPr/>
        </p:nvSpPr>
        <p:spPr>
          <a:xfrm>
            <a:off x="8179520" y="43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Zero baseline</a:t>
            </a:r>
          </a:p>
          <a:p>
            <a:pPr algn="l">
              <a:lnSpc>
                <a:spcPct val="100000"/>
              </a:lnSpc>
              <a:spcBef>
                <a:spcPts val="0"/>
              </a:spcBef>
              <a:spcAft>
                <a:spcPts val="0"/>
              </a:spcAft>
              <a:buNone/>
            </a:pPr>
            <a:r>
              <a:rPr lang="en-US" sz="1100" b="0" i="0" dirty="0">
                <a:solidFill>
                  <a:srgbClr val="474651"/>
                </a:solidFill>
                <a:latin typeface="Hanken Grotesk"/>
                <a:ea typeface="Hanken Grotesk"/>
              </a:rPr>
              <a:t>Bars must start at 0, or differences get exaggerated.</a:t>
            </a:r>
          </a:p>
        </p:txBody>
      </p:sp>
      <p:sp>
        <p:nvSpPr>
          <p:cNvPr id="919" name="Callout"/>
          <p:cNvSpPr/>
          <p:nvPr/>
        </p:nvSpPr>
        <p:spPr>
          <a:xfrm>
            <a:off x="548640" y="5257800"/>
            <a:ext cx="11109600" cy="822600"/>
          </a:xfrm>
          <a:prstGeom prst="roundRect">
            <a:avLst>
              <a:gd name="adj" fmla="val 11111"/>
            </a:avLst>
          </a:prstGeom>
          <a:solidFill>
            <a:srgbClr val="BBEDDC"/>
          </a:solidFill>
          <a:ln w="12700">
            <a:solidFill>
              <a:srgbClr val="BBEDDC"/>
            </a:solidFill>
            <a:round/>
          </a:ln>
        </p:spPr>
      </p:sp>
      <p:sp>
        <p:nvSpPr>
          <p:cNvPr id="920" name="Callout text"/>
          <p:cNvSpPr/>
          <p:nvPr/>
        </p:nvSpPr>
        <p:spPr>
          <a:xfrm>
            <a:off x="777240" y="5257800"/>
            <a:ext cx="10652400" cy="8226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300" b="1" i="0" dirty="0">
                <a:solidFill>
                  <a:srgbClr val="002019"/>
                </a:solidFill>
                <a:latin typeface="Hanken Grotesk"/>
                <a:ea typeface="Hanken Grotesk"/>
              </a:rPr>
              <a:t>How to read it: </a:t>
            </a:r>
            <a:r>
              <a:rPr lang="en-US" sz="1300" b="0" i="0" dirty="0">
                <a:solidFill>
                  <a:srgbClr val="002019"/>
                </a:solidFill>
                <a:latin typeface="Hanken Grotesk"/>
                <a:ea typeface="Hanken Grotesk"/>
              </a:rPr>
              <a:t>Check the x-axis to see what each bar is, then read its height against the y-axis. Here Quetta has 5, Lahore 3 and Karachi 2, so Quetta is the most common. Compare bar heights, and make sure the axis starts at 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6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6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55</a:t>
            </a:r>
            <a:endParaRPr lang="en-US" sz="900" b="0" u="none" strike="noStrike">
              <a:solidFill>
                <a:srgbClr val="000000"/>
              </a:solidFill>
              <a:effectLst/>
              <a:uFillTx/>
              <a:latin typeface="Arial"/>
            </a:endParaRPr>
          </a:p>
        </p:txBody>
      </p:sp>
      <p:pic>
        <p:nvPicPr>
          <p:cNvPr id="764" name="Image 0" descr="/home/claude/assets/logo_crop.png"/>
          <p:cNvPicPr/>
          <p:nvPr/>
        </p:nvPicPr>
        <p:blipFill>
          <a:blip r:embed="rId3"/>
          <a:stretch/>
        </p:blipFill>
        <p:spPr>
          <a:xfrm>
            <a:off x="11201400" y="384120"/>
            <a:ext cx="456840" cy="511560"/>
          </a:xfrm>
          <a:prstGeom prst="rect">
            <a:avLst/>
          </a:prstGeom>
          <a:noFill/>
          <a:ln w="0">
            <a:noFill/>
          </a:ln>
        </p:spPr>
      </p:pic>
      <p:sp>
        <p:nvSpPr>
          <p:cNvPr id="76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Histogram: What It’s For</a:t>
            </a:r>
            <a:endParaRPr lang="en-US" sz="2600" b="0" u="none" strike="noStrike">
              <a:solidFill>
                <a:srgbClr val="000000"/>
              </a:solidFill>
              <a:effectLst/>
              <a:uFillTx/>
              <a:latin typeface="Arial"/>
            </a:endParaRPr>
          </a:p>
        </p:txBody>
      </p:sp>
      <p:sp>
        <p:nvSpPr>
          <p:cNvPr id="901" name="Header card"/>
          <p:cNvSpPr/>
          <p:nvPr/>
        </p:nvSpPr>
        <p:spPr>
          <a:xfrm>
            <a:off x="548640" y="1463040"/>
            <a:ext cx="11109600" cy="1463040"/>
          </a:xfrm>
          <a:prstGeom prst="roundRect">
            <a:avLst>
              <a:gd name="adj" fmla="val 4000"/>
            </a:avLst>
          </a:prstGeom>
          <a:solidFill>
            <a:srgbClr val="FFFFFF"/>
          </a:solidFill>
          <a:ln w="12700">
            <a:solidFill>
              <a:srgbClr val="C8C5D3"/>
            </a:solidFill>
            <a:round/>
          </a:ln>
        </p:spPr>
      </p:sp>
      <p:sp>
        <p:nvSpPr>
          <p:cNvPr id="902" name="Chart pill"/>
          <p:cNvSpPr/>
          <p:nvPr/>
        </p:nvSpPr>
        <p:spPr>
          <a:xfrm>
            <a:off x="777240" y="1645920"/>
            <a:ext cx="3566160" cy="456840"/>
          </a:xfrm>
          <a:prstGeom prst="roundRect">
            <a:avLst>
              <a:gd name="adj" fmla="val 50000"/>
            </a:avLst>
          </a:prstGeom>
          <a:solidFill>
            <a:srgbClr val="8C8AE0"/>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FFFFFF"/>
                </a:solidFill>
                <a:latin typeface="Plus Jakarta Sans"/>
                <a:ea typeface="Plus Jakarta Sans"/>
              </a:rPr>
              <a:t>Histogram</a:t>
            </a:r>
          </a:p>
        </p:txBody>
      </p:sp>
      <p:sp>
        <p:nvSpPr>
          <p:cNvPr id="903" name="Data chip"/>
          <p:cNvSpPr/>
          <p:nvPr/>
        </p:nvSpPr>
        <p:spPr>
          <a:xfrm>
            <a:off x="777240" y="2240280"/>
            <a:ext cx="3566160" cy="365400"/>
          </a:xfrm>
          <a:prstGeom prst="roundRect">
            <a:avLst>
              <a:gd name="adj" fmla="val 50000"/>
            </a:avLst>
          </a:prstGeom>
          <a:solidFill>
            <a:srgbClr val="D2D0FA"/>
          </a:solidFill>
          <a:ln w="12700">
            <a:solidFill>
              <a:srgbClr val="D2D0FA"/>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231F71"/>
                </a:solidFill>
                <a:latin typeface="Plus Jakarta Sans"/>
                <a:ea typeface="Plus Jakarta Sans"/>
              </a:rPr>
              <a:t>Data: one continuous variable</a:t>
            </a:r>
          </a:p>
        </p:txBody>
      </p:sp>
      <p:sp>
        <p:nvSpPr>
          <p:cNvPr id="904" name="For label"/>
          <p:cNvSpPr/>
          <p:nvPr/>
        </p:nvSpPr>
        <p:spPr>
          <a:xfrm>
            <a:off x="4709160" y="1600200"/>
            <a:ext cx="6700000" cy="26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5755A7"/>
                </a:solidFill>
                <a:latin typeface="Plus Jakarta Sans"/>
                <a:ea typeface="Plus Jakarta Sans"/>
              </a:rPr>
              <a:t>WHAT IT'S FOR</a:t>
            </a:r>
          </a:p>
        </p:txBody>
      </p:sp>
      <p:sp>
        <p:nvSpPr>
          <p:cNvPr id="905" name="Definition"/>
          <p:cNvSpPr/>
          <p:nvPr/>
        </p:nvSpPr>
        <p:spPr>
          <a:xfrm>
            <a:off x="4709160" y="1920240"/>
            <a:ext cx="6700000" cy="90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500" b="0" i="0" dirty="0">
                <a:solidFill>
                  <a:srgbClr val="1B1B20"/>
                </a:solidFill>
                <a:latin typeface="Hanken Grotesk"/>
                <a:ea typeface="Hanken Grotesk"/>
              </a:rPr>
              <a:t>Shows how the values of one continuous variable are distributed, by sorting them into equal-width ranges (bins) and counting how many land in each.</a:t>
            </a:r>
          </a:p>
        </p:txBody>
      </p:sp>
      <p:sp>
        <p:nvSpPr>
          <p:cNvPr id="906" name="Use it when card"/>
          <p:cNvSpPr/>
          <p:nvPr/>
        </p:nvSpPr>
        <p:spPr>
          <a:xfrm>
            <a:off x="548640" y="3108960"/>
            <a:ext cx="5440680" cy="2926080"/>
          </a:xfrm>
          <a:prstGeom prst="roundRect">
            <a:avLst>
              <a:gd name="adj" fmla="val 3500"/>
            </a:avLst>
          </a:prstGeom>
          <a:solidFill>
            <a:srgbClr val="F2FCFB"/>
          </a:solidFill>
          <a:ln w="19050">
            <a:solidFill>
              <a:srgbClr val="A6EDE4"/>
            </a:solidFill>
            <a:round/>
          </a:ln>
        </p:spPr>
      </p:sp>
      <p:sp>
        <p:nvSpPr>
          <p:cNvPr id="907" name="Use it when badge"/>
          <p:cNvSpPr/>
          <p:nvPr/>
        </p:nvSpPr>
        <p:spPr>
          <a:xfrm>
            <a:off x="731520" y="3291840"/>
            <a:ext cx="365760" cy="365760"/>
          </a:xfrm>
          <a:prstGeom prst="ellipse">
            <a:avLst/>
          </a:prstGeom>
          <a:solidFill>
            <a:srgbClr val="2DD4BF"/>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002019"/>
                </a:solidFill>
                <a:latin typeface="Plus Jakarta Sans"/>
                <a:ea typeface="Plus Jakarta Sans"/>
              </a:rPr>
              <a:t>✓</a:t>
            </a:r>
          </a:p>
        </p:txBody>
      </p:sp>
      <p:sp>
        <p:nvSpPr>
          <p:cNvPr id="908" name="Use it when title"/>
          <p:cNvSpPr/>
          <p:nvPr/>
        </p:nvSpPr>
        <p:spPr>
          <a:xfrm>
            <a:off x="1188720" y="3291840"/>
            <a:ext cx="4400000" cy="36576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600" b="1" i="0" dirty="0">
                <a:solidFill>
                  <a:srgbClr val="1B1B20"/>
                </a:solidFill>
                <a:latin typeface="Plus Jakarta Sans"/>
                <a:ea typeface="Plus Jakarta Sans"/>
              </a:rPr>
              <a:t>Use it when</a:t>
            </a:r>
          </a:p>
        </p:txBody>
      </p:sp>
      <p:sp>
        <p:nvSpPr>
          <p:cNvPr id="909" name="Use it when bullets"/>
          <p:cNvSpPr/>
          <p:nvPr/>
        </p:nvSpPr>
        <p:spPr>
          <a:xfrm>
            <a:off x="731520" y="3848960"/>
            <a:ext cx="5074920" cy="2100000"/>
          </a:xfrm>
          <a:prstGeom prst="rect">
            <a:avLst/>
          </a:prstGeom>
          <a:noFill/>
          <a:ln w="0">
            <a:noFill/>
          </a:ln>
        </p:spPr>
        <p:txBody>
          <a:bodyPr wrap="square" lIns="0" tIns="0" rIns="0" bIns="0" anchor="t">
            <a:noAutofit/>
          </a:bodyPr>
          <a:lstStyle/>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Seeing the shape of a numerical variable: symmetric, skewed, or with more than one peak</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You have a decent amount of continuous data (roughly 30+ values), such as ages or waiting times</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Checking for gaps, clusters or odd values before choosing between the mean and the median</a:t>
            </a:r>
          </a:p>
        </p:txBody>
      </p:sp>
      <p:sp>
        <p:nvSpPr>
          <p:cNvPr id="910" name="Avoid it when card"/>
          <p:cNvSpPr/>
          <p:nvPr/>
        </p:nvSpPr>
        <p:spPr>
          <a:xfrm>
            <a:off x="6217920" y="3108960"/>
            <a:ext cx="5440680" cy="2926080"/>
          </a:xfrm>
          <a:prstGeom prst="roundRect">
            <a:avLst>
              <a:gd name="adj" fmla="val 3500"/>
            </a:avLst>
          </a:prstGeom>
          <a:solidFill>
            <a:srgbClr val="FFF5F7"/>
          </a:solidFill>
          <a:ln w="19050">
            <a:solidFill>
              <a:srgbClr val="FBBAC5"/>
            </a:solidFill>
            <a:round/>
          </a:ln>
        </p:spPr>
      </p:sp>
      <p:sp>
        <p:nvSpPr>
          <p:cNvPr id="911" name="Avoid it when badge"/>
          <p:cNvSpPr/>
          <p:nvPr/>
        </p:nvSpPr>
        <p:spPr>
          <a:xfrm>
            <a:off x="6400800" y="3291840"/>
            <a:ext cx="365760" cy="365760"/>
          </a:xfrm>
          <a:prstGeom prst="ellipse">
            <a:avLst/>
          </a:prstGeom>
          <a:solidFill>
            <a:srgbClr val="F43F5E"/>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FFFFFF"/>
                </a:solidFill>
                <a:latin typeface="Plus Jakarta Sans"/>
                <a:ea typeface="Plus Jakarta Sans"/>
              </a:rPr>
              <a:t>✕</a:t>
            </a:r>
          </a:p>
        </p:txBody>
      </p:sp>
      <p:sp>
        <p:nvSpPr>
          <p:cNvPr id="912" name="Avoid it when title"/>
          <p:cNvSpPr/>
          <p:nvPr/>
        </p:nvSpPr>
        <p:spPr>
          <a:xfrm>
            <a:off x="6858000" y="3291840"/>
            <a:ext cx="4400000" cy="36576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600" b="1" i="0" dirty="0">
                <a:solidFill>
                  <a:srgbClr val="1B1B20"/>
                </a:solidFill>
                <a:latin typeface="Plus Jakarta Sans"/>
                <a:ea typeface="Plus Jakarta Sans"/>
              </a:rPr>
              <a:t>Avoid it when</a:t>
            </a:r>
          </a:p>
        </p:txBody>
      </p:sp>
      <p:sp>
        <p:nvSpPr>
          <p:cNvPr id="913" name="Avoid it when bullets"/>
          <p:cNvSpPr/>
          <p:nvPr/>
        </p:nvSpPr>
        <p:spPr>
          <a:xfrm>
            <a:off x="6400800" y="3848960"/>
            <a:ext cx="5074920" cy="2100000"/>
          </a:xfrm>
          <a:prstGeom prst="rect">
            <a:avLst/>
          </a:prstGeom>
          <a:noFill/>
          <a:ln w="0">
            <a:noFill/>
          </a:ln>
        </p:spPr>
        <p:txBody>
          <a:bodyPr wrap="square" lIns="0" tIns="0" rIns="0" bIns="0" anchor="t">
            <a:noAutofit/>
          </a:bodyPr>
          <a:lstStyle/>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The data is categorical: use a bar chart, because touching bars imply a continuous scale</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You only have a handful of values: the shape is just noise, so list the values instead</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You need to compare many groups: overlapping histograms get messy, so use box plots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6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6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56</a:t>
            </a:r>
            <a:endParaRPr lang="en-US" sz="900" b="0" u="none" strike="noStrike">
              <a:solidFill>
                <a:srgbClr val="000000"/>
              </a:solidFill>
              <a:effectLst/>
              <a:uFillTx/>
              <a:latin typeface="Arial"/>
            </a:endParaRPr>
          </a:p>
        </p:txBody>
      </p:sp>
      <p:pic>
        <p:nvPicPr>
          <p:cNvPr id="764" name="Image 0" descr="/home/claude/assets/logo_crop.png"/>
          <p:cNvPicPr/>
          <p:nvPr/>
        </p:nvPicPr>
        <p:blipFill>
          <a:blip r:embed="rId3"/>
          <a:stretch/>
        </p:blipFill>
        <p:spPr>
          <a:xfrm>
            <a:off x="11201400" y="384120"/>
            <a:ext cx="456840" cy="511560"/>
          </a:xfrm>
          <a:prstGeom prst="rect">
            <a:avLst/>
          </a:prstGeom>
          <a:noFill/>
          <a:ln w="0">
            <a:noFill/>
          </a:ln>
        </p:spPr>
      </p:pic>
      <p:sp>
        <p:nvSpPr>
          <p:cNvPr id="76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Histogram: Anatomy &amp; How to Read It</a:t>
            </a:r>
            <a:endParaRPr lang="en-US" sz="2600" b="0" u="none" strike="noStrike">
              <a:solidFill>
                <a:srgbClr val="000000"/>
              </a:solidFill>
              <a:effectLst/>
              <a:uFillTx/>
              <a:latin typeface="Arial"/>
            </a:endParaRPr>
          </a:p>
        </p:txBody>
      </p:sp>
      <p:sp>
        <p:nvSpPr>
          <p:cNvPr id="901" name="Chart card"/>
          <p:cNvSpPr/>
          <p:nvPr/>
        </p:nvSpPr>
        <p:spPr>
          <a:xfrm>
            <a:off x="548640" y="1463040"/>
            <a:ext cx="6858000" cy="3565800"/>
          </a:xfrm>
          <a:prstGeom prst="roundRect">
            <a:avLst>
              <a:gd name="adj" fmla="val 2500"/>
            </a:avLst>
          </a:prstGeom>
          <a:solidFill>
            <a:srgbClr val="FFFFFF"/>
          </a:solidFill>
          <a:ln w="12700">
            <a:solidFill>
              <a:srgbClr val="C8C5D3"/>
            </a:solidFill>
            <a:round/>
          </a:ln>
        </p:spPr>
      </p:sp>
      <p:sp>
        <p:nvSpPr>
          <p:cNvPr id="902" name="Y title"/>
          <p:cNvSpPr/>
          <p:nvPr/>
        </p:nvSpPr>
        <p:spPr>
          <a:xfrm>
            <a:off x="700000" y="1530000"/>
            <a:ext cx="1100000" cy="2300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000" b="0" i="0" dirty="0">
                <a:solidFill>
                  <a:srgbClr val="474651"/>
                </a:solidFill>
                <a:latin typeface="Hanken Grotesk"/>
                <a:ea typeface="Hanken Grotesk"/>
              </a:rPr>
              <a:t>frequency</a:t>
            </a:r>
          </a:p>
        </p:txBody>
      </p:sp>
      <p:sp>
        <p:nvSpPr>
          <p:cNvPr id="903" name="Tick"/>
          <p:cNvSpPr/>
          <p:nvPr/>
        </p:nvSpPr>
        <p:spPr>
          <a:xfrm>
            <a:off x="830000" y="3985000"/>
            <a:ext cx="340000" cy="230000"/>
          </a:xfrm>
          <a:prstGeom prst="rect">
            <a:avLst/>
          </a:prstGeom>
          <a:noFill/>
          <a:ln w="0">
            <a:noFill/>
          </a:ln>
        </p:spPr>
        <p:txBody>
          <a:bodyPr wrap="square" lIns="0" tIns="0" rIns="0" bIns="0" anchor="ctr">
            <a:noAutofit/>
          </a:bodyPr>
          <a:lstStyle/>
          <a:p>
            <a:pPr algn="r">
              <a:lnSpc>
                <a:spcPct val="100000"/>
              </a:lnSpc>
              <a:spcBef>
                <a:spcPts val="0"/>
              </a:spcBef>
              <a:spcAft>
                <a:spcPts val="0"/>
              </a:spcAft>
              <a:buNone/>
            </a:pPr>
            <a:r>
              <a:rPr lang="en-US" sz="1000" b="0" i="0" dirty="0">
                <a:solidFill>
                  <a:srgbClr val="474651"/>
                </a:solidFill>
                <a:latin typeface="Hanken Grotesk"/>
                <a:ea typeface="Hanken Grotesk"/>
              </a:rPr>
              <a:t>0</a:t>
            </a:r>
          </a:p>
        </p:txBody>
      </p:sp>
      <p:sp>
        <p:nvSpPr>
          <p:cNvPr id="904" name="Grid"/>
          <p:cNvSpPr/>
          <p:nvPr/>
        </p:nvSpPr>
        <p:spPr>
          <a:xfrm>
            <a:off x="1250000" y="3660000"/>
            <a:ext cx="5980000" cy="360"/>
          </a:xfrm>
          <a:prstGeom prst="line">
            <a:avLst/>
          </a:prstGeom>
          <a:noFill/>
          <a:ln w="9525">
            <a:solidFill>
              <a:srgbClr val="E6E3F0"/>
            </a:solidFill>
            <a:round/>
          </a:ln>
        </p:spPr>
      </p:sp>
      <p:sp>
        <p:nvSpPr>
          <p:cNvPr id="905" name="Tick"/>
          <p:cNvSpPr/>
          <p:nvPr/>
        </p:nvSpPr>
        <p:spPr>
          <a:xfrm>
            <a:off x="830000" y="3545000"/>
            <a:ext cx="340000" cy="230000"/>
          </a:xfrm>
          <a:prstGeom prst="rect">
            <a:avLst/>
          </a:prstGeom>
          <a:noFill/>
          <a:ln w="0">
            <a:noFill/>
          </a:ln>
        </p:spPr>
        <p:txBody>
          <a:bodyPr wrap="square" lIns="0" tIns="0" rIns="0" bIns="0" anchor="ctr">
            <a:noAutofit/>
          </a:bodyPr>
          <a:lstStyle/>
          <a:p>
            <a:pPr algn="r">
              <a:lnSpc>
                <a:spcPct val="100000"/>
              </a:lnSpc>
              <a:spcBef>
                <a:spcPts val="0"/>
              </a:spcBef>
              <a:spcAft>
                <a:spcPts val="0"/>
              </a:spcAft>
              <a:buNone/>
            </a:pPr>
            <a:r>
              <a:rPr lang="en-US" sz="1000" b="0" i="0" dirty="0">
                <a:solidFill>
                  <a:srgbClr val="474651"/>
                </a:solidFill>
                <a:latin typeface="Hanken Grotesk"/>
                <a:ea typeface="Hanken Grotesk"/>
              </a:rPr>
              <a:t>2</a:t>
            </a:r>
          </a:p>
        </p:txBody>
      </p:sp>
      <p:sp>
        <p:nvSpPr>
          <p:cNvPr id="906" name="Grid"/>
          <p:cNvSpPr/>
          <p:nvPr/>
        </p:nvSpPr>
        <p:spPr>
          <a:xfrm>
            <a:off x="1250000" y="3220000"/>
            <a:ext cx="5980000" cy="360"/>
          </a:xfrm>
          <a:prstGeom prst="line">
            <a:avLst/>
          </a:prstGeom>
          <a:noFill/>
          <a:ln w="9525">
            <a:solidFill>
              <a:srgbClr val="E6E3F0"/>
            </a:solidFill>
            <a:round/>
          </a:ln>
        </p:spPr>
      </p:sp>
      <p:sp>
        <p:nvSpPr>
          <p:cNvPr id="907" name="Tick"/>
          <p:cNvSpPr/>
          <p:nvPr/>
        </p:nvSpPr>
        <p:spPr>
          <a:xfrm>
            <a:off x="830000" y="3105000"/>
            <a:ext cx="340000" cy="230000"/>
          </a:xfrm>
          <a:prstGeom prst="rect">
            <a:avLst/>
          </a:prstGeom>
          <a:noFill/>
          <a:ln w="0">
            <a:noFill/>
          </a:ln>
        </p:spPr>
        <p:txBody>
          <a:bodyPr wrap="square" lIns="0" tIns="0" rIns="0" bIns="0" anchor="ctr">
            <a:noAutofit/>
          </a:bodyPr>
          <a:lstStyle/>
          <a:p>
            <a:pPr algn="r">
              <a:lnSpc>
                <a:spcPct val="100000"/>
              </a:lnSpc>
              <a:spcBef>
                <a:spcPts val="0"/>
              </a:spcBef>
              <a:spcAft>
                <a:spcPts val="0"/>
              </a:spcAft>
              <a:buNone/>
            </a:pPr>
            <a:r>
              <a:rPr lang="en-US" sz="1000" b="0" i="0" dirty="0">
                <a:solidFill>
                  <a:srgbClr val="474651"/>
                </a:solidFill>
                <a:latin typeface="Hanken Grotesk"/>
                <a:ea typeface="Hanken Grotesk"/>
              </a:rPr>
              <a:t>4</a:t>
            </a:r>
          </a:p>
        </p:txBody>
      </p:sp>
      <p:sp>
        <p:nvSpPr>
          <p:cNvPr id="908" name="Grid"/>
          <p:cNvSpPr/>
          <p:nvPr/>
        </p:nvSpPr>
        <p:spPr>
          <a:xfrm>
            <a:off x="1250000" y="2780000"/>
            <a:ext cx="5980000" cy="360"/>
          </a:xfrm>
          <a:prstGeom prst="line">
            <a:avLst/>
          </a:prstGeom>
          <a:noFill/>
          <a:ln w="9525">
            <a:solidFill>
              <a:srgbClr val="E6E3F0"/>
            </a:solidFill>
            <a:round/>
          </a:ln>
        </p:spPr>
      </p:sp>
      <p:sp>
        <p:nvSpPr>
          <p:cNvPr id="909" name="Tick"/>
          <p:cNvSpPr/>
          <p:nvPr/>
        </p:nvSpPr>
        <p:spPr>
          <a:xfrm>
            <a:off x="830000" y="2665000"/>
            <a:ext cx="340000" cy="230000"/>
          </a:xfrm>
          <a:prstGeom prst="rect">
            <a:avLst/>
          </a:prstGeom>
          <a:noFill/>
          <a:ln w="0">
            <a:noFill/>
          </a:ln>
        </p:spPr>
        <p:txBody>
          <a:bodyPr wrap="square" lIns="0" tIns="0" rIns="0" bIns="0" anchor="ctr">
            <a:noAutofit/>
          </a:bodyPr>
          <a:lstStyle/>
          <a:p>
            <a:pPr algn="r">
              <a:lnSpc>
                <a:spcPct val="100000"/>
              </a:lnSpc>
              <a:spcBef>
                <a:spcPts val="0"/>
              </a:spcBef>
              <a:spcAft>
                <a:spcPts val="0"/>
              </a:spcAft>
              <a:buNone/>
            </a:pPr>
            <a:r>
              <a:rPr lang="en-US" sz="1000" b="0" i="0" dirty="0">
                <a:solidFill>
                  <a:srgbClr val="474651"/>
                </a:solidFill>
                <a:latin typeface="Hanken Grotesk"/>
                <a:ea typeface="Hanken Grotesk"/>
              </a:rPr>
              <a:t>6</a:t>
            </a:r>
          </a:p>
        </p:txBody>
      </p:sp>
      <p:sp>
        <p:nvSpPr>
          <p:cNvPr id="910" name="Grid"/>
          <p:cNvSpPr/>
          <p:nvPr/>
        </p:nvSpPr>
        <p:spPr>
          <a:xfrm>
            <a:off x="1250000" y="2340000"/>
            <a:ext cx="5980000" cy="360"/>
          </a:xfrm>
          <a:prstGeom prst="line">
            <a:avLst/>
          </a:prstGeom>
          <a:noFill/>
          <a:ln w="9525">
            <a:solidFill>
              <a:srgbClr val="E6E3F0"/>
            </a:solidFill>
            <a:round/>
          </a:ln>
        </p:spPr>
      </p:sp>
      <p:sp>
        <p:nvSpPr>
          <p:cNvPr id="911" name="Tick"/>
          <p:cNvSpPr/>
          <p:nvPr/>
        </p:nvSpPr>
        <p:spPr>
          <a:xfrm>
            <a:off x="830000" y="2225000"/>
            <a:ext cx="340000" cy="230000"/>
          </a:xfrm>
          <a:prstGeom prst="rect">
            <a:avLst/>
          </a:prstGeom>
          <a:noFill/>
          <a:ln w="0">
            <a:noFill/>
          </a:ln>
        </p:spPr>
        <p:txBody>
          <a:bodyPr wrap="square" lIns="0" tIns="0" rIns="0" bIns="0" anchor="ctr">
            <a:noAutofit/>
          </a:bodyPr>
          <a:lstStyle/>
          <a:p>
            <a:pPr algn="r">
              <a:lnSpc>
                <a:spcPct val="100000"/>
              </a:lnSpc>
              <a:spcBef>
                <a:spcPts val="0"/>
              </a:spcBef>
              <a:spcAft>
                <a:spcPts val="0"/>
              </a:spcAft>
              <a:buNone/>
            </a:pPr>
            <a:r>
              <a:rPr lang="en-US" sz="1000" b="0" i="0" dirty="0">
                <a:solidFill>
                  <a:srgbClr val="474651"/>
                </a:solidFill>
                <a:latin typeface="Hanken Grotesk"/>
                <a:ea typeface="Hanken Grotesk"/>
              </a:rPr>
              <a:t>8</a:t>
            </a:r>
          </a:p>
        </p:txBody>
      </p:sp>
      <p:sp>
        <p:nvSpPr>
          <p:cNvPr id="912" name="Grid"/>
          <p:cNvSpPr/>
          <p:nvPr/>
        </p:nvSpPr>
        <p:spPr>
          <a:xfrm>
            <a:off x="1250000" y="1900000"/>
            <a:ext cx="5980000" cy="360"/>
          </a:xfrm>
          <a:prstGeom prst="line">
            <a:avLst/>
          </a:prstGeom>
          <a:noFill/>
          <a:ln w="9525">
            <a:solidFill>
              <a:srgbClr val="E6E3F0"/>
            </a:solidFill>
            <a:round/>
          </a:ln>
        </p:spPr>
      </p:sp>
      <p:sp>
        <p:nvSpPr>
          <p:cNvPr id="913" name="Tick"/>
          <p:cNvSpPr/>
          <p:nvPr/>
        </p:nvSpPr>
        <p:spPr>
          <a:xfrm>
            <a:off x="830000" y="1785000"/>
            <a:ext cx="340000" cy="230000"/>
          </a:xfrm>
          <a:prstGeom prst="rect">
            <a:avLst/>
          </a:prstGeom>
          <a:noFill/>
          <a:ln w="0">
            <a:noFill/>
          </a:ln>
        </p:spPr>
        <p:txBody>
          <a:bodyPr wrap="square" lIns="0" tIns="0" rIns="0" bIns="0" anchor="ctr">
            <a:noAutofit/>
          </a:bodyPr>
          <a:lstStyle/>
          <a:p>
            <a:pPr algn="r">
              <a:lnSpc>
                <a:spcPct val="100000"/>
              </a:lnSpc>
              <a:spcBef>
                <a:spcPts val="0"/>
              </a:spcBef>
              <a:spcAft>
                <a:spcPts val="0"/>
              </a:spcAft>
              <a:buNone/>
            </a:pPr>
            <a:r>
              <a:rPr lang="en-US" sz="1000" b="0" i="0" dirty="0">
                <a:solidFill>
                  <a:srgbClr val="474651"/>
                </a:solidFill>
                <a:latin typeface="Hanken Grotesk"/>
                <a:ea typeface="Hanken Grotesk"/>
              </a:rPr>
              <a:t>10</a:t>
            </a:r>
          </a:p>
        </p:txBody>
      </p:sp>
      <p:sp>
        <p:nvSpPr>
          <p:cNvPr id="914" name="Y axis"/>
          <p:cNvSpPr/>
          <p:nvPr/>
        </p:nvSpPr>
        <p:spPr>
          <a:xfrm>
            <a:off x="1250000" y="1840000"/>
            <a:ext cx="360" cy="2260000"/>
          </a:xfrm>
          <a:prstGeom prst="line">
            <a:avLst/>
          </a:prstGeom>
          <a:noFill/>
          <a:ln w="12700">
            <a:solidFill>
              <a:srgbClr val="474651"/>
            </a:solidFill>
            <a:round/>
          </a:ln>
        </p:spPr>
      </p:sp>
      <p:sp>
        <p:nvSpPr>
          <p:cNvPr id="915" name="X axis"/>
          <p:cNvSpPr/>
          <p:nvPr/>
        </p:nvSpPr>
        <p:spPr>
          <a:xfrm>
            <a:off x="1250000" y="4100000"/>
            <a:ext cx="5980000" cy="360"/>
          </a:xfrm>
          <a:prstGeom prst="line">
            <a:avLst/>
          </a:prstGeom>
          <a:noFill/>
          <a:ln w="12700">
            <a:solidFill>
              <a:srgbClr val="474651"/>
            </a:solidFill>
            <a:round/>
          </a:ln>
        </p:spPr>
      </p:sp>
      <p:sp>
        <p:nvSpPr>
          <p:cNvPr id="916" name="Bin"/>
          <p:cNvSpPr/>
          <p:nvPr/>
        </p:nvSpPr>
        <p:spPr>
          <a:xfrm>
            <a:off x="1250000" y="3660000"/>
            <a:ext cx="840000" cy="440000"/>
          </a:xfrm>
          <a:prstGeom prst="rect">
            <a:avLst/>
          </a:prstGeom>
          <a:solidFill>
            <a:srgbClr val="8C8AE0"/>
          </a:solidFill>
          <a:ln w="12700">
            <a:solidFill>
              <a:srgbClr val="FFFFFF"/>
            </a:solidFill>
            <a:round/>
          </a:ln>
        </p:spPr>
      </p:sp>
      <p:sp>
        <p:nvSpPr>
          <p:cNvPr id="917" name="Bin label"/>
          <p:cNvSpPr/>
          <p:nvPr/>
        </p:nvSpPr>
        <p:spPr>
          <a:xfrm>
            <a:off x="1250000" y="4140000"/>
            <a:ext cx="84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18–20</a:t>
            </a:r>
          </a:p>
        </p:txBody>
      </p:sp>
      <p:sp>
        <p:nvSpPr>
          <p:cNvPr id="918" name="Bin"/>
          <p:cNvSpPr/>
          <p:nvPr/>
        </p:nvSpPr>
        <p:spPr>
          <a:xfrm>
            <a:off x="2090000" y="3000000"/>
            <a:ext cx="840000" cy="1100000"/>
          </a:xfrm>
          <a:prstGeom prst="rect">
            <a:avLst/>
          </a:prstGeom>
          <a:solidFill>
            <a:srgbClr val="8C8AE0"/>
          </a:solidFill>
          <a:ln w="12700">
            <a:solidFill>
              <a:srgbClr val="FFFFFF"/>
            </a:solidFill>
            <a:round/>
          </a:ln>
        </p:spPr>
      </p:sp>
      <p:sp>
        <p:nvSpPr>
          <p:cNvPr id="919" name="Bin label"/>
          <p:cNvSpPr/>
          <p:nvPr/>
        </p:nvSpPr>
        <p:spPr>
          <a:xfrm>
            <a:off x="2090000" y="4140000"/>
            <a:ext cx="84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20–22</a:t>
            </a:r>
          </a:p>
        </p:txBody>
      </p:sp>
      <p:sp>
        <p:nvSpPr>
          <p:cNvPr id="920" name="Bin"/>
          <p:cNvSpPr/>
          <p:nvPr/>
        </p:nvSpPr>
        <p:spPr>
          <a:xfrm>
            <a:off x="2930000" y="2120000"/>
            <a:ext cx="840000" cy="1980000"/>
          </a:xfrm>
          <a:prstGeom prst="rect">
            <a:avLst/>
          </a:prstGeom>
          <a:solidFill>
            <a:srgbClr val="8C8AE0"/>
          </a:solidFill>
          <a:ln w="12700">
            <a:solidFill>
              <a:srgbClr val="FFFFFF"/>
            </a:solidFill>
            <a:round/>
          </a:ln>
        </p:spPr>
      </p:sp>
      <p:sp>
        <p:nvSpPr>
          <p:cNvPr id="921" name="Bin label"/>
          <p:cNvSpPr/>
          <p:nvPr/>
        </p:nvSpPr>
        <p:spPr>
          <a:xfrm>
            <a:off x="2930000" y="4140000"/>
            <a:ext cx="84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22–24</a:t>
            </a:r>
          </a:p>
        </p:txBody>
      </p:sp>
      <p:sp>
        <p:nvSpPr>
          <p:cNvPr id="922" name="Bin"/>
          <p:cNvSpPr/>
          <p:nvPr/>
        </p:nvSpPr>
        <p:spPr>
          <a:xfrm>
            <a:off x="3770000" y="2780000"/>
            <a:ext cx="840000" cy="1320000"/>
          </a:xfrm>
          <a:prstGeom prst="rect">
            <a:avLst/>
          </a:prstGeom>
          <a:solidFill>
            <a:srgbClr val="8C8AE0"/>
          </a:solidFill>
          <a:ln w="12700">
            <a:solidFill>
              <a:srgbClr val="FFFFFF"/>
            </a:solidFill>
            <a:round/>
          </a:ln>
        </p:spPr>
      </p:sp>
      <p:sp>
        <p:nvSpPr>
          <p:cNvPr id="923" name="Bin label"/>
          <p:cNvSpPr/>
          <p:nvPr/>
        </p:nvSpPr>
        <p:spPr>
          <a:xfrm>
            <a:off x="3770000" y="4140000"/>
            <a:ext cx="84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24–26</a:t>
            </a:r>
          </a:p>
        </p:txBody>
      </p:sp>
      <p:sp>
        <p:nvSpPr>
          <p:cNvPr id="924" name="Bin"/>
          <p:cNvSpPr/>
          <p:nvPr/>
        </p:nvSpPr>
        <p:spPr>
          <a:xfrm>
            <a:off x="4610000" y="3440000"/>
            <a:ext cx="840000" cy="660000"/>
          </a:xfrm>
          <a:prstGeom prst="rect">
            <a:avLst/>
          </a:prstGeom>
          <a:solidFill>
            <a:srgbClr val="8C8AE0"/>
          </a:solidFill>
          <a:ln w="12700">
            <a:solidFill>
              <a:srgbClr val="FFFFFF"/>
            </a:solidFill>
            <a:round/>
          </a:ln>
        </p:spPr>
      </p:sp>
      <p:sp>
        <p:nvSpPr>
          <p:cNvPr id="925" name="Bin label"/>
          <p:cNvSpPr/>
          <p:nvPr/>
        </p:nvSpPr>
        <p:spPr>
          <a:xfrm>
            <a:off x="4610000" y="4140000"/>
            <a:ext cx="84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26–28</a:t>
            </a:r>
          </a:p>
        </p:txBody>
      </p:sp>
      <p:sp>
        <p:nvSpPr>
          <p:cNvPr id="926" name="Bin"/>
          <p:cNvSpPr/>
          <p:nvPr/>
        </p:nvSpPr>
        <p:spPr>
          <a:xfrm>
            <a:off x="5450000" y="3660000"/>
            <a:ext cx="840000" cy="440000"/>
          </a:xfrm>
          <a:prstGeom prst="rect">
            <a:avLst/>
          </a:prstGeom>
          <a:solidFill>
            <a:srgbClr val="8C8AE0"/>
          </a:solidFill>
          <a:ln w="12700">
            <a:solidFill>
              <a:srgbClr val="FFFFFF"/>
            </a:solidFill>
            <a:round/>
          </a:ln>
        </p:spPr>
      </p:sp>
      <p:sp>
        <p:nvSpPr>
          <p:cNvPr id="927" name="Bin label"/>
          <p:cNvSpPr/>
          <p:nvPr/>
        </p:nvSpPr>
        <p:spPr>
          <a:xfrm>
            <a:off x="5450000" y="4140000"/>
            <a:ext cx="84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28–30</a:t>
            </a:r>
          </a:p>
        </p:txBody>
      </p:sp>
      <p:sp>
        <p:nvSpPr>
          <p:cNvPr id="928" name="Bin"/>
          <p:cNvSpPr/>
          <p:nvPr/>
        </p:nvSpPr>
        <p:spPr>
          <a:xfrm>
            <a:off x="6290000" y="3880000"/>
            <a:ext cx="840000" cy="220000"/>
          </a:xfrm>
          <a:prstGeom prst="rect">
            <a:avLst/>
          </a:prstGeom>
          <a:solidFill>
            <a:srgbClr val="8C8AE0"/>
          </a:solidFill>
          <a:ln w="12700">
            <a:solidFill>
              <a:srgbClr val="FFFFFF"/>
            </a:solidFill>
            <a:round/>
          </a:ln>
        </p:spPr>
      </p:sp>
      <p:sp>
        <p:nvSpPr>
          <p:cNvPr id="929" name="Bin label"/>
          <p:cNvSpPr/>
          <p:nvPr/>
        </p:nvSpPr>
        <p:spPr>
          <a:xfrm>
            <a:off x="6290000" y="4140000"/>
            <a:ext cx="84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30–32</a:t>
            </a:r>
          </a:p>
        </p:txBody>
      </p:sp>
      <p:sp>
        <p:nvSpPr>
          <p:cNvPr id="930" name="X title"/>
          <p:cNvSpPr/>
          <p:nvPr/>
        </p:nvSpPr>
        <p:spPr>
          <a:xfrm>
            <a:off x="3290000" y="4560000"/>
            <a:ext cx="18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age (years)</a:t>
            </a:r>
          </a:p>
        </p:txBody>
      </p:sp>
      <p:sp>
        <p:nvSpPr>
          <p:cNvPr id="931" name="Marker 1"/>
          <p:cNvSpPr/>
          <p:nvPr/>
        </p:nvSpPr>
        <p:spPr>
          <a:xfrm>
            <a:off x="3215000" y="2270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1</a:t>
            </a:r>
          </a:p>
        </p:txBody>
      </p:sp>
      <p:sp>
        <p:nvSpPr>
          <p:cNvPr id="932" name="Marker 2"/>
          <p:cNvSpPr/>
          <p:nvPr/>
        </p:nvSpPr>
        <p:spPr>
          <a:xfrm>
            <a:off x="4475000" y="3650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2</a:t>
            </a:r>
          </a:p>
        </p:txBody>
      </p:sp>
      <p:sp>
        <p:nvSpPr>
          <p:cNvPr id="933" name="Marker 3"/>
          <p:cNvSpPr/>
          <p:nvPr/>
        </p:nvSpPr>
        <p:spPr>
          <a:xfrm>
            <a:off x="1750000" y="1500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3</a:t>
            </a:r>
          </a:p>
        </p:txBody>
      </p:sp>
      <p:sp>
        <p:nvSpPr>
          <p:cNvPr id="934" name="Marker 4"/>
          <p:cNvSpPr/>
          <p:nvPr/>
        </p:nvSpPr>
        <p:spPr>
          <a:xfrm>
            <a:off x="4750000" y="4545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4</a:t>
            </a:r>
          </a:p>
        </p:txBody>
      </p:sp>
      <p:sp>
        <p:nvSpPr>
          <p:cNvPr id="935" name="Marker 5"/>
          <p:cNvSpPr/>
          <p:nvPr/>
        </p:nvSpPr>
        <p:spPr>
          <a:xfrm>
            <a:off x="5550000" y="2950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5</a:t>
            </a:r>
          </a:p>
        </p:txBody>
      </p:sp>
      <p:sp>
        <p:nvSpPr>
          <p:cNvPr id="936" name="Tail note"/>
          <p:cNvSpPr/>
          <p:nvPr/>
        </p:nvSpPr>
        <p:spPr>
          <a:xfrm>
            <a:off x="5870000" y="2965000"/>
            <a:ext cx="1350000" cy="2300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000" b="0" i="1" dirty="0">
                <a:solidFill>
                  <a:srgbClr val="5755A7"/>
                </a:solidFill>
                <a:latin typeface="Hanken Grotesk"/>
                <a:ea typeface="Hanken Grotesk"/>
              </a:rPr>
              <a:t>long right tail</a:t>
            </a:r>
          </a:p>
        </p:txBody>
      </p:sp>
      <p:sp>
        <p:nvSpPr>
          <p:cNvPr id="937" name="Components card"/>
          <p:cNvSpPr/>
          <p:nvPr/>
        </p:nvSpPr>
        <p:spPr>
          <a:xfrm>
            <a:off x="7589520" y="1463040"/>
            <a:ext cx="4068720" cy="3565800"/>
          </a:xfrm>
          <a:prstGeom prst="roundRect">
            <a:avLst>
              <a:gd name="adj" fmla="val 2500"/>
            </a:avLst>
          </a:prstGeom>
          <a:solidFill>
            <a:srgbClr val="FFFFFF"/>
          </a:solidFill>
          <a:ln w="12700">
            <a:solidFill>
              <a:srgbClr val="C8C5D3"/>
            </a:solidFill>
            <a:round/>
          </a:ln>
        </p:spPr>
      </p:sp>
      <p:sp>
        <p:nvSpPr>
          <p:cNvPr id="938" name="Components title"/>
          <p:cNvSpPr/>
          <p:nvPr/>
        </p:nvSpPr>
        <p:spPr>
          <a:xfrm>
            <a:off x="7772400" y="1573040"/>
            <a:ext cx="3700000" cy="3300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500" b="1" i="0" dirty="0">
                <a:solidFill>
                  <a:srgbClr val="1B1B20"/>
                </a:solidFill>
                <a:latin typeface="Plus Jakarta Sans"/>
                <a:ea typeface="Plus Jakarta Sans"/>
              </a:rPr>
              <a:t>Components</a:t>
            </a:r>
          </a:p>
        </p:txBody>
      </p:sp>
      <p:sp>
        <p:nvSpPr>
          <p:cNvPr id="939" name="Badge 1"/>
          <p:cNvSpPr/>
          <p:nvPr/>
        </p:nvSpPr>
        <p:spPr>
          <a:xfrm>
            <a:off x="7772400" y="19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1</a:t>
            </a:r>
          </a:p>
        </p:txBody>
      </p:sp>
      <p:sp>
        <p:nvSpPr>
          <p:cNvPr id="940" name="Component 1"/>
          <p:cNvSpPr/>
          <p:nvPr/>
        </p:nvSpPr>
        <p:spPr>
          <a:xfrm>
            <a:off x="8179520" y="19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Bars (bins)</a:t>
            </a:r>
          </a:p>
          <a:p>
            <a:pPr algn="l">
              <a:lnSpc>
                <a:spcPct val="100000"/>
              </a:lnSpc>
              <a:spcBef>
                <a:spcPts val="0"/>
              </a:spcBef>
              <a:spcAft>
                <a:spcPts val="0"/>
              </a:spcAft>
              <a:buNone/>
            </a:pPr>
            <a:r>
              <a:rPr lang="en-US" sz="1100" b="0" i="0" dirty="0">
                <a:solidFill>
                  <a:srgbClr val="474651"/>
                </a:solidFill>
                <a:latin typeface="Hanken Grotesk"/>
                <a:ea typeface="Hanken Grotesk"/>
              </a:rPr>
              <a:t>Each bar is a range of values; its height is how many fall inside.</a:t>
            </a:r>
          </a:p>
        </p:txBody>
      </p:sp>
      <p:sp>
        <p:nvSpPr>
          <p:cNvPr id="941" name="Badge 2"/>
          <p:cNvSpPr/>
          <p:nvPr/>
        </p:nvSpPr>
        <p:spPr>
          <a:xfrm>
            <a:off x="7772400" y="25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2</a:t>
            </a:r>
          </a:p>
        </p:txBody>
      </p:sp>
      <p:sp>
        <p:nvSpPr>
          <p:cNvPr id="942" name="Component 2"/>
          <p:cNvSpPr/>
          <p:nvPr/>
        </p:nvSpPr>
        <p:spPr>
          <a:xfrm>
            <a:off x="8179520" y="25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No gaps</a:t>
            </a:r>
          </a:p>
          <a:p>
            <a:pPr algn="l">
              <a:lnSpc>
                <a:spcPct val="100000"/>
              </a:lnSpc>
              <a:spcBef>
                <a:spcPts val="0"/>
              </a:spcBef>
              <a:spcAft>
                <a:spcPts val="0"/>
              </a:spcAft>
              <a:buNone/>
            </a:pPr>
            <a:r>
              <a:rPr lang="en-US" sz="1100" b="0" i="0" dirty="0">
                <a:solidFill>
                  <a:srgbClr val="474651"/>
                </a:solidFill>
                <a:latin typeface="Hanken Grotesk"/>
                <a:ea typeface="Hanken Grotesk"/>
              </a:rPr>
              <a:t>Bars touch because the scale is continuous, unlike a bar chart.</a:t>
            </a:r>
          </a:p>
        </p:txBody>
      </p:sp>
      <p:sp>
        <p:nvSpPr>
          <p:cNvPr id="943" name="Badge 3"/>
          <p:cNvSpPr/>
          <p:nvPr/>
        </p:nvSpPr>
        <p:spPr>
          <a:xfrm>
            <a:off x="7772400" y="31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3</a:t>
            </a:r>
          </a:p>
        </p:txBody>
      </p:sp>
      <p:sp>
        <p:nvSpPr>
          <p:cNvPr id="944" name="Component 3"/>
          <p:cNvSpPr/>
          <p:nvPr/>
        </p:nvSpPr>
        <p:spPr>
          <a:xfrm>
            <a:off x="8179520" y="31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Y-axis (frequency)</a:t>
            </a:r>
          </a:p>
          <a:p>
            <a:pPr algn="l">
              <a:lnSpc>
                <a:spcPct val="100000"/>
              </a:lnSpc>
              <a:spcBef>
                <a:spcPts val="0"/>
              </a:spcBef>
              <a:spcAft>
                <a:spcPts val="0"/>
              </a:spcAft>
              <a:buNone/>
            </a:pPr>
            <a:r>
              <a:rPr lang="en-US" sz="1100" b="0" i="0" dirty="0">
                <a:solidFill>
                  <a:srgbClr val="474651"/>
                </a:solidFill>
                <a:latin typeface="Hanken Grotesk"/>
                <a:ea typeface="Hanken Grotesk"/>
              </a:rPr>
              <a:t>The number of values in each bin. It starts at 0.</a:t>
            </a:r>
          </a:p>
        </p:txBody>
      </p:sp>
      <p:sp>
        <p:nvSpPr>
          <p:cNvPr id="945" name="Badge 4"/>
          <p:cNvSpPr/>
          <p:nvPr/>
        </p:nvSpPr>
        <p:spPr>
          <a:xfrm>
            <a:off x="7772400" y="37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4</a:t>
            </a:r>
          </a:p>
        </p:txBody>
      </p:sp>
      <p:sp>
        <p:nvSpPr>
          <p:cNvPr id="946" name="Component 4"/>
          <p:cNvSpPr/>
          <p:nvPr/>
        </p:nvSpPr>
        <p:spPr>
          <a:xfrm>
            <a:off x="8179520" y="37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X-axis (value ranges)</a:t>
            </a:r>
          </a:p>
          <a:p>
            <a:pPr algn="l">
              <a:lnSpc>
                <a:spcPct val="100000"/>
              </a:lnSpc>
              <a:spcBef>
                <a:spcPts val="0"/>
              </a:spcBef>
              <a:spcAft>
                <a:spcPts val="0"/>
              </a:spcAft>
              <a:buNone/>
            </a:pPr>
            <a:r>
              <a:rPr lang="en-US" sz="1100" b="0" i="0" dirty="0">
                <a:solidFill>
                  <a:srgbClr val="474651"/>
                </a:solidFill>
                <a:latin typeface="Hanken Grotesk"/>
                <a:ea typeface="Hanken Grotesk"/>
              </a:rPr>
              <a:t>The variable, cut into equal-width bins. Here, age in years.</a:t>
            </a:r>
          </a:p>
        </p:txBody>
      </p:sp>
      <p:sp>
        <p:nvSpPr>
          <p:cNvPr id="947" name="Badge 5"/>
          <p:cNvSpPr/>
          <p:nvPr/>
        </p:nvSpPr>
        <p:spPr>
          <a:xfrm>
            <a:off x="7772400" y="43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5</a:t>
            </a:r>
          </a:p>
        </p:txBody>
      </p:sp>
      <p:sp>
        <p:nvSpPr>
          <p:cNvPr id="948" name="Component 5"/>
          <p:cNvSpPr/>
          <p:nvPr/>
        </p:nvSpPr>
        <p:spPr>
          <a:xfrm>
            <a:off x="8179520" y="43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Overall shape</a:t>
            </a:r>
          </a:p>
          <a:p>
            <a:pPr algn="l">
              <a:lnSpc>
                <a:spcPct val="100000"/>
              </a:lnSpc>
              <a:spcBef>
                <a:spcPts val="0"/>
              </a:spcBef>
              <a:spcAft>
                <a:spcPts val="0"/>
              </a:spcAft>
              <a:buNone/>
            </a:pPr>
            <a:r>
              <a:rPr lang="en-US" sz="1100" b="0" i="0" dirty="0">
                <a:solidFill>
                  <a:srgbClr val="474651"/>
                </a:solidFill>
                <a:latin typeface="Hanken Grotesk"/>
                <a:ea typeface="Hanken Grotesk"/>
              </a:rPr>
              <a:t>The outline shows the peak, the spread and any skew.</a:t>
            </a:r>
          </a:p>
        </p:txBody>
      </p:sp>
      <p:sp>
        <p:nvSpPr>
          <p:cNvPr id="949" name="Callout"/>
          <p:cNvSpPr/>
          <p:nvPr/>
        </p:nvSpPr>
        <p:spPr>
          <a:xfrm>
            <a:off x="548640" y="5257800"/>
            <a:ext cx="11109600" cy="822600"/>
          </a:xfrm>
          <a:prstGeom prst="roundRect">
            <a:avLst>
              <a:gd name="adj" fmla="val 11111"/>
            </a:avLst>
          </a:prstGeom>
          <a:solidFill>
            <a:srgbClr val="BBEDDC"/>
          </a:solidFill>
          <a:ln w="12700">
            <a:solidFill>
              <a:srgbClr val="BBEDDC"/>
            </a:solidFill>
            <a:round/>
          </a:ln>
        </p:spPr>
      </p:sp>
      <p:sp>
        <p:nvSpPr>
          <p:cNvPr id="950" name="Callout text"/>
          <p:cNvSpPr/>
          <p:nvPr/>
        </p:nvSpPr>
        <p:spPr>
          <a:xfrm>
            <a:off x="777240" y="5257800"/>
            <a:ext cx="10652400" cy="8226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300" b="1" i="0" dirty="0">
                <a:solidFill>
                  <a:srgbClr val="002019"/>
                </a:solidFill>
                <a:latin typeface="Hanken Grotesk"/>
                <a:ea typeface="Hanken Grotesk"/>
              </a:rPr>
              <a:t>How to read it: </a:t>
            </a:r>
            <a:r>
              <a:rPr lang="en-US" sz="1300" b="0" i="0" dirty="0">
                <a:solidFill>
                  <a:srgbClr val="002019"/>
                </a:solidFill>
                <a:latin typeface="Hanken Grotesk"/>
                <a:ea typeface="Hanken Grotesk"/>
              </a:rPr>
              <a:t>Find the tallest bar to see the most common range, here ages 22–24. Then check whether the outline is symmetric or has a long tail on one side. Gaps or lonely bars far from the rest may be outliers. Bin width changes the picture, so try a few.</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6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6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57</a:t>
            </a:r>
            <a:endParaRPr lang="en-US" sz="900" b="0" u="none" strike="noStrike">
              <a:solidFill>
                <a:srgbClr val="000000"/>
              </a:solidFill>
              <a:effectLst/>
              <a:uFillTx/>
              <a:latin typeface="Arial"/>
            </a:endParaRPr>
          </a:p>
        </p:txBody>
      </p:sp>
      <p:pic>
        <p:nvPicPr>
          <p:cNvPr id="764" name="Image 0" descr="/home/claude/assets/logo_crop.png"/>
          <p:cNvPicPr/>
          <p:nvPr/>
        </p:nvPicPr>
        <p:blipFill>
          <a:blip r:embed="rId2"/>
          <a:stretch/>
        </p:blipFill>
        <p:spPr>
          <a:xfrm>
            <a:off x="11201400" y="384120"/>
            <a:ext cx="456840" cy="511560"/>
          </a:xfrm>
          <a:prstGeom prst="rect">
            <a:avLst/>
          </a:prstGeom>
          <a:noFill/>
          <a:ln w="0">
            <a:noFill/>
          </a:ln>
        </p:spPr>
      </p:pic>
      <p:sp>
        <p:nvSpPr>
          <p:cNvPr id="76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Box Plot: What It’s For</a:t>
            </a:r>
            <a:endParaRPr lang="en-US" sz="2600" b="0" u="none" strike="noStrike">
              <a:solidFill>
                <a:srgbClr val="000000"/>
              </a:solidFill>
              <a:effectLst/>
              <a:uFillTx/>
              <a:latin typeface="Arial"/>
            </a:endParaRPr>
          </a:p>
        </p:txBody>
      </p:sp>
      <p:sp>
        <p:nvSpPr>
          <p:cNvPr id="901" name="Header card"/>
          <p:cNvSpPr/>
          <p:nvPr/>
        </p:nvSpPr>
        <p:spPr>
          <a:xfrm>
            <a:off x="548640" y="1463040"/>
            <a:ext cx="11109600" cy="1463040"/>
          </a:xfrm>
          <a:prstGeom prst="roundRect">
            <a:avLst>
              <a:gd name="adj" fmla="val 4000"/>
            </a:avLst>
          </a:prstGeom>
          <a:solidFill>
            <a:srgbClr val="FFFFFF"/>
          </a:solidFill>
          <a:ln w="12700">
            <a:solidFill>
              <a:srgbClr val="C8C5D3"/>
            </a:solidFill>
            <a:round/>
          </a:ln>
        </p:spPr>
      </p:sp>
      <p:sp>
        <p:nvSpPr>
          <p:cNvPr id="902" name="Chart pill"/>
          <p:cNvSpPr/>
          <p:nvPr/>
        </p:nvSpPr>
        <p:spPr>
          <a:xfrm>
            <a:off x="777240" y="1645920"/>
            <a:ext cx="3566160" cy="456840"/>
          </a:xfrm>
          <a:prstGeom prst="roundRect">
            <a:avLst>
              <a:gd name="adj" fmla="val 50000"/>
            </a:avLst>
          </a:prstGeom>
          <a:solidFill>
            <a:srgbClr val="8C8AE0"/>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FFFFFF"/>
                </a:solidFill>
                <a:latin typeface="Plus Jakarta Sans"/>
                <a:ea typeface="Plus Jakarta Sans"/>
              </a:rPr>
              <a:t>Box Plot</a:t>
            </a:r>
          </a:p>
        </p:txBody>
      </p:sp>
      <p:sp>
        <p:nvSpPr>
          <p:cNvPr id="903" name="Data chip"/>
          <p:cNvSpPr/>
          <p:nvPr/>
        </p:nvSpPr>
        <p:spPr>
          <a:xfrm>
            <a:off x="777240" y="2240280"/>
            <a:ext cx="3566160" cy="365400"/>
          </a:xfrm>
          <a:prstGeom prst="roundRect">
            <a:avLst>
              <a:gd name="adj" fmla="val 50000"/>
            </a:avLst>
          </a:prstGeom>
          <a:solidFill>
            <a:srgbClr val="D2D0FA"/>
          </a:solidFill>
          <a:ln w="12700">
            <a:solidFill>
              <a:srgbClr val="D2D0FA"/>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231F71"/>
                </a:solidFill>
                <a:latin typeface="Plus Jakarta Sans"/>
                <a:ea typeface="Plus Jakarta Sans"/>
              </a:rPr>
              <a:t>Data: one numerical variable</a:t>
            </a:r>
          </a:p>
        </p:txBody>
      </p:sp>
      <p:sp>
        <p:nvSpPr>
          <p:cNvPr id="904" name="For label"/>
          <p:cNvSpPr/>
          <p:nvPr/>
        </p:nvSpPr>
        <p:spPr>
          <a:xfrm>
            <a:off x="4709160" y="1600200"/>
            <a:ext cx="6700000" cy="26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5755A7"/>
                </a:solidFill>
                <a:latin typeface="Plus Jakarta Sans"/>
                <a:ea typeface="Plus Jakarta Sans"/>
              </a:rPr>
              <a:t>WHAT IT'S FOR</a:t>
            </a:r>
          </a:p>
        </p:txBody>
      </p:sp>
      <p:sp>
        <p:nvSpPr>
          <p:cNvPr id="905" name="Definition"/>
          <p:cNvSpPr/>
          <p:nvPr/>
        </p:nvSpPr>
        <p:spPr>
          <a:xfrm>
            <a:off x="4709160" y="1920240"/>
            <a:ext cx="6700000" cy="90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500" b="0" i="0" dirty="0">
                <a:solidFill>
                  <a:srgbClr val="1B1B20"/>
                </a:solidFill>
                <a:latin typeface="Hanken Grotesk"/>
                <a:ea typeface="Hanken Grotesk"/>
              </a:rPr>
              <a:t>Boils one numerical variable down to five numbers (min, Q1, median, Q3, max) and flags outliers, so spread and centre can be compared at a glance.</a:t>
            </a:r>
          </a:p>
        </p:txBody>
      </p:sp>
      <p:sp>
        <p:nvSpPr>
          <p:cNvPr id="906" name="Use it when card"/>
          <p:cNvSpPr/>
          <p:nvPr/>
        </p:nvSpPr>
        <p:spPr>
          <a:xfrm>
            <a:off x="548640" y="3108960"/>
            <a:ext cx="5440680" cy="2926080"/>
          </a:xfrm>
          <a:prstGeom prst="roundRect">
            <a:avLst>
              <a:gd name="adj" fmla="val 3500"/>
            </a:avLst>
          </a:prstGeom>
          <a:solidFill>
            <a:srgbClr val="F2FCFB"/>
          </a:solidFill>
          <a:ln w="19050">
            <a:solidFill>
              <a:srgbClr val="A6EDE4"/>
            </a:solidFill>
            <a:round/>
          </a:ln>
        </p:spPr>
      </p:sp>
      <p:sp>
        <p:nvSpPr>
          <p:cNvPr id="907" name="Use it when badge"/>
          <p:cNvSpPr/>
          <p:nvPr/>
        </p:nvSpPr>
        <p:spPr>
          <a:xfrm>
            <a:off x="731520" y="3291840"/>
            <a:ext cx="365760" cy="365760"/>
          </a:xfrm>
          <a:prstGeom prst="ellipse">
            <a:avLst/>
          </a:prstGeom>
          <a:solidFill>
            <a:srgbClr val="2DD4BF"/>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002019"/>
                </a:solidFill>
                <a:latin typeface="Plus Jakarta Sans"/>
                <a:ea typeface="Plus Jakarta Sans"/>
              </a:rPr>
              <a:t>✓</a:t>
            </a:r>
          </a:p>
        </p:txBody>
      </p:sp>
      <p:sp>
        <p:nvSpPr>
          <p:cNvPr id="908" name="Use it when title"/>
          <p:cNvSpPr/>
          <p:nvPr/>
        </p:nvSpPr>
        <p:spPr>
          <a:xfrm>
            <a:off x="1188720" y="3291840"/>
            <a:ext cx="4400000" cy="36576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600" b="1" i="0" dirty="0">
                <a:solidFill>
                  <a:srgbClr val="1B1B20"/>
                </a:solidFill>
                <a:latin typeface="Plus Jakarta Sans"/>
                <a:ea typeface="Plus Jakarta Sans"/>
              </a:rPr>
              <a:t>Use it when</a:t>
            </a:r>
          </a:p>
        </p:txBody>
      </p:sp>
      <p:sp>
        <p:nvSpPr>
          <p:cNvPr id="909" name="Use it when bullets"/>
          <p:cNvSpPr/>
          <p:nvPr/>
        </p:nvSpPr>
        <p:spPr>
          <a:xfrm>
            <a:off x="731520" y="3848960"/>
            <a:ext cx="5074920" cy="2100000"/>
          </a:xfrm>
          <a:prstGeom prst="rect">
            <a:avLst/>
          </a:prstGeom>
          <a:noFill/>
          <a:ln w="0">
            <a:noFill/>
          </a:ln>
        </p:spPr>
        <p:txBody>
          <a:bodyPr wrap="square" lIns="0" tIns="0" rIns="0" bIns="0" anchor="t">
            <a:noAutofit/>
          </a:bodyPr>
          <a:lstStyle/>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Comparing the spread and centre of a numerical variable across several groups side by side</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Spotting outliers quickly, since they are drawn as separate dots beyond the whiskers</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You want a compact summary (median, quartiles, range) without plotting every value</a:t>
            </a:r>
          </a:p>
        </p:txBody>
      </p:sp>
      <p:sp>
        <p:nvSpPr>
          <p:cNvPr id="910" name="Avoid it when card"/>
          <p:cNvSpPr/>
          <p:nvPr/>
        </p:nvSpPr>
        <p:spPr>
          <a:xfrm>
            <a:off x="6217920" y="3108960"/>
            <a:ext cx="5440680" cy="2926080"/>
          </a:xfrm>
          <a:prstGeom prst="roundRect">
            <a:avLst>
              <a:gd name="adj" fmla="val 3500"/>
            </a:avLst>
          </a:prstGeom>
          <a:solidFill>
            <a:srgbClr val="FFF5F7"/>
          </a:solidFill>
          <a:ln w="19050">
            <a:solidFill>
              <a:srgbClr val="FBBAC5"/>
            </a:solidFill>
            <a:round/>
          </a:ln>
        </p:spPr>
      </p:sp>
      <p:sp>
        <p:nvSpPr>
          <p:cNvPr id="911" name="Avoid it when badge"/>
          <p:cNvSpPr/>
          <p:nvPr/>
        </p:nvSpPr>
        <p:spPr>
          <a:xfrm>
            <a:off x="6400800" y="3291840"/>
            <a:ext cx="365760" cy="365760"/>
          </a:xfrm>
          <a:prstGeom prst="ellipse">
            <a:avLst/>
          </a:prstGeom>
          <a:solidFill>
            <a:srgbClr val="F43F5E"/>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FFFFFF"/>
                </a:solidFill>
                <a:latin typeface="Plus Jakarta Sans"/>
                <a:ea typeface="Plus Jakarta Sans"/>
              </a:rPr>
              <a:t>✕</a:t>
            </a:r>
          </a:p>
        </p:txBody>
      </p:sp>
      <p:sp>
        <p:nvSpPr>
          <p:cNvPr id="912" name="Avoid it when title"/>
          <p:cNvSpPr/>
          <p:nvPr/>
        </p:nvSpPr>
        <p:spPr>
          <a:xfrm>
            <a:off x="6858000" y="3291840"/>
            <a:ext cx="4400000" cy="36576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600" b="1" i="0" dirty="0">
                <a:solidFill>
                  <a:srgbClr val="1B1B20"/>
                </a:solidFill>
                <a:latin typeface="Plus Jakarta Sans"/>
                <a:ea typeface="Plus Jakarta Sans"/>
              </a:rPr>
              <a:t>Avoid it when</a:t>
            </a:r>
          </a:p>
        </p:txBody>
      </p:sp>
      <p:sp>
        <p:nvSpPr>
          <p:cNvPr id="913" name="Avoid it when bullets"/>
          <p:cNvSpPr/>
          <p:nvPr/>
        </p:nvSpPr>
        <p:spPr>
          <a:xfrm>
            <a:off x="6400800" y="3848960"/>
            <a:ext cx="5074920" cy="2100000"/>
          </a:xfrm>
          <a:prstGeom prst="rect">
            <a:avLst/>
          </a:prstGeom>
          <a:noFill/>
          <a:ln w="0">
            <a:noFill/>
          </a:ln>
        </p:spPr>
        <p:txBody>
          <a:bodyPr wrap="square" lIns="0" tIns="0" rIns="0" bIns="0" anchor="t">
            <a:noAutofit/>
          </a:bodyPr>
          <a:lstStyle/>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The exact shape matters: a box plot hides multiple peaks, so use a histogram</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You have very few values (under about 8): quartiles are unreliable, so show every point</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Your audience has never seen quartiles: use a simpler chart or explain it first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6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6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58</a:t>
            </a:r>
            <a:endParaRPr lang="en-US" sz="900" b="0" u="none" strike="noStrike">
              <a:solidFill>
                <a:srgbClr val="000000"/>
              </a:solidFill>
              <a:effectLst/>
              <a:uFillTx/>
              <a:latin typeface="Arial"/>
            </a:endParaRPr>
          </a:p>
        </p:txBody>
      </p:sp>
      <p:pic>
        <p:nvPicPr>
          <p:cNvPr id="764" name="Image 0" descr="/home/claude/assets/logo_crop.png"/>
          <p:cNvPicPr/>
          <p:nvPr/>
        </p:nvPicPr>
        <p:blipFill>
          <a:blip r:embed="rId3"/>
          <a:stretch/>
        </p:blipFill>
        <p:spPr>
          <a:xfrm>
            <a:off x="11201400" y="384120"/>
            <a:ext cx="456840" cy="511560"/>
          </a:xfrm>
          <a:prstGeom prst="rect">
            <a:avLst/>
          </a:prstGeom>
          <a:noFill/>
          <a:ln w="0">
            <a:noFill/>
          </a:ln>
        </p:spPr>
      </p:pic>
      <p:sp>
        <p:nvSpPr>
          <p:cNvPr id="76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Box Plot: Anatomy &amp; How to Read It</a:t>
            </a:r>
            <a:endParaRPr lang="en-US" sz="2600" b="0" u="none" strike="noStrike">
              <a:solidFill>
                <a:srgbClr val="000000"/>
              </a:solidFill>
              <a:effectLst/>
              <a:uFillTx/>
              <a:latin typeface="Arial"/>
            </a:endParaRPr>
          </a:p>
        </p:txBody>
      </p:sp>
      <p:sp>
        <p:nvSpPr>
          <p:cNvPr id="901" name="Chart card"/>
          <p:cNvSpPr/>
          <p:nvPr/>
        </p:nvSpPr>
        <p:spPr>
          <a:xfrm>
            <a:off x="548640" y="1463040"/>
            <a:ext cx="6858000" cy="3565800"/>
          </a:xfrm>
          <a:prstGeom prst="roundRect">
            <a:avLst>
              <a:gd name="adj" fmla="val 2500"/>
            </a:avLst>
          </a:prstGeom>
          <a:solidFill>
            <a:srgbClr val="FFFFFF"/>
          </a:solidFill>
          <a:ln w="12700">
            <a:solidFill>
              <a:srgbClr val="C8C5D3"/>
            </a:solidFill>
            <a:round/>
          </a:ln>
        </p:spPr>
      </p:sp>
      <p:sp>
        <p:nvSpPr>
          <p:cNvPr id="902" name="Y title"/>
          <p:cNvSpPr/>
          <p:nvPr/>
        </p:nvSpPr>
        <p:spPr>
          <a:xfrm>
            <a:off x="700000" y="1530000"/>
            <a:ext cx="1100000" cy="2300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000" b="0" i="0" dirty="0">
                <a:solidFill>
                  <a:srgbClr val="474651"/>
                </a:solidFill>
                <a:latin typeface="Hanken Grotesk"/>
                <a:ea typeface="Hanken Grotesk"/>
              </a:rPr>
              <a:t/>
            </a:r>
          </a:p>
        </p:txBody>
      </p:sp>
      <p:sp>
        <p:nvSpPr>
          <p:cNvPr id="903" name="Grid"/>
          <p:cNvSpPr/>
          <p:nvPr/>
        </p:nvSpPr>
        <p:spPr>
          <a:xfrm>
            <a:off x="1000000" y="2000000"/>
            <a:ext cx="360" cy="2100000"/>
          </a:xfrm>
          <a:prstGeom prst="line">
            <a:avLst/>
          </a:prstGeom>
          <a:noFill/>
          <a:ln w="9525">
            <a:solidFill>
              <a:srgbClr val="E6E3F0"/>
            </a:solidFill>
            <a:round/>
          </a:ln>
        </p:spPr>
      </p:sp>
      <p:sp>
        <p:nvSpPr>
          <p:cNvPr id="904" name="Tick"/>
          <p:cNvSpPr/>
          <p:nvPr/>
        </p:nvSpPr>
        <p:spPr>
          <a:xfrm>
            <a:off x="800000" y="4140000"/>
            <a:ext cx="4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0</a:t>
            </a:r>
          </a:p>
        </p:txBody>
      </p:sp>
      <p:sp>
        <p:nvSpPr>
          <p:cNvPr id="905" name="Grid"/>
          <p:cNvSpPr/>
          <p:nvPr/>
        </p:nvSpPr>
        <p:spPr>
          <a:xfrm>
            <a:off x="1923077" y="2000000"/>
            <a:ext cx="360" cy="2100000"/>
          </a:xfrm>
          <a:prstGeom prst="line">
            <a:avLst/>
          </a:prstGeom>
          <a:noFill/>
          <a:ln w="9525">
            <a:solidFill>
              <a:srgbClr val="E6E3F0"/>
            </a:solidFill>
            <a:round/>
          </a:ln>
        </p:spPr>
      </p:sp>
      <p:sp>
        <p:nvSpPr>
          <p:cNvPr id="906" name="Tick"/>
          <p:cNvSpPr/>
          <p:nvPr/>
        </p:nvSpPr>
        <p:spPr>
          <a:xfrm>
            <a:off x="1723077" y="4140000"/>
            <a:ext cx="4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10</a:t>
            </a:r>
          </a:p>
        </p:txBody>
      </p:sp>
      <p:sp>
        <p:nvSpPr>
          <p:cNvPr id="907" name="Grid"/>
          <p:cNvSpPr/>
          <p:nvPr/>
        </p:nvSpPr>
        <p:spPr>
          <a:xfrm>
            <a:off x="2846154" y="2000000"/>
            <a:ext cx="360" cy="2100000"/>
          </a:xfrm>
          <a:prstGeom prst="line">
            <a:avLst/>
          </a:prstGeom>
          <a:noFill/>
          <a:ln w="9525">
            <a:solidFill>
              <a:srgbClr val="E6E3F0"/>
            </a:solidFill>
            <a:round/>
          </a:ln>
        </p:spPr>
      </p:sp>
      <p:sp>
        <p:nvSpPr>
          <p:cNvPr id="908" name="Tick"/>
          <p:cNvSpPr/>
          <p:nvPr/>
        </p:nvSpPr>
        <p:spPr>
          <a:xfrm>
            <a:off x="2646154" y="4140000"/>
            <a:ext cx="4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20</a:t>
            </a:r>
          </a:p>
        </p:txBody>
      </p:sp>
      <p:sp>
        <p:nvSpPr>
          <p:cNvPr id="909" name="Grid"/>
          <p:cNvSpPr/>
          <p:nvPr/>
        </p:nvSpPr>
        <p:spPr>
          <a:xfrm>
            <a:off x="3769231" y="2000000"/>
            <a:ext cx="360" cy="2100000"/>
          </a:xfrm>
          <a:prstGeom prst="line">
            <a:avLst/>
          </a:prstGeom>
          <a:noFill/>
          <a:ln w="9525">
            <a:solidFill>
              <a:srgbClr val="E6E3F0"/>
            </a:solidFill>
            <a:round/>
          </a:ln>
        </p:spPr>
      </p:sp>
      <p:sp>
        <p:nvSpPr>
          <p:cNvPr id="910" name="Tick"/>
          <p:cNvSpPr/>
          <p:nvPr/>
        </p:nvSpPr>
        <p:spPr>
          <a:xfrm>
            <a:off x="3569231" y="4140000"/>
            <a:ext cx="4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30</a:t>
            </a:r>
          </a:p>
        </p:txBody>
      </p:sp>
      <p:sp>
        <p:nvSpPr>
          <p:cNvPr id="911" name="Grid"/>
          <p:cNvSpPr/>
          <p:nvPr/>
        </p:nvSpPr>
        <p:spPr>
          <a:xfrm>
            <a:off x="4692308" y="2000000"/>
            <a:ext cx="360" cy="2100000"/>
          </a:xfrm>
          <a:prstGeom prst="line">
            <a:avLst/>
          </a:prstGeom>
          <a:noFill/>
          <a:ln w="9525">
            <a:solidFill>
              <a:srgbClr val="E6E3F0"/>
            </a:solidFill>
            <a:round/>
          </a:ln>
        </p:spPr>
      </p:sp>
      <p:sp>
        <p:nvSpPr>
          <p:cNvPr id="912" name="Tick"/>
          <p:cNvSpPr/>
          <p:nvPr/>
        </p:nvSpPr>
        <p:spPr>
          <a:xfrm>
            <a:off x="4492308" y="4140000"/>
            <a:ext cx="4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40</a:t>
            </a:r>
          </a:p>
        </p:txBody>
      </p:sp>
      <p:sp>
        <p:nvSpPr>
          <p:cNvPr id="913" name="Grid"/>
          <p:cNvSpPr/>
          <p:nvPr/>
        </p:nvSpPr>
        <p:spPr>
          <a:xfrm>
            <a:off x="5615385" y="2000000"/>
            <a:ext cx="360" cy="2100000"/>
          </a:xfrm>
          <a:prstGeom prst="line">
            <a:avLst/>
          </a:prstGeom>
          <a:noFill/>
          <a:ln w="9525">
            <a:solidFill>
              <a:srgbClr val="E6E3F0"/>
            </a:solidFill>
            <a:round/>
          </a:ln>
        </p:spPr>
      </p:sp>
      <p:sp>
        <p:nvSpPr>
          <p:cNvPr id="914" name="Tick"/>
          <p:cNvSpPr/>
          <p:nvPr/>
        </p:nvSpPr>
        <p:spPr>
          <a:xfrm>
            <a:off x="5415385" y="4140000"/>
            <a:ext cx="4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50</a:t>
            </a:r>
          </a:p>
        </p:txBody>
      </p:sp>
      <p:sp>
        <p:nvSpPr>
          <p:cNvPr id="915" name="Grid"/>
          <p:cNvSpPr/>
          <p:nvPr/>
        </p:nvSpPr>
        <p:spPr>
          <a:xfrm>
            <a:off x="6538462" y="2000000"/>
            <a:ext cx="360" cy="2100000"/>
          </a:xfrm>
          <a:prstGeom prst="line">
            <a:avLst/>
          </a:prstGeom>
          <a:noFill/>
          <a:ln w="9525">
            <a:solidFill>
              <a:srgbClr val="E6E3F0"/>
            </a:solidFill>
            <a:round/>
          </a:ln>
        </p:spPr>
      </p:sp>
      <p:sp>
        <p:nvSpPr>
          <p:cNvPr id="916" name="Tick"/>
          <p:cNvSpPr/>
          <p:nvPr/>
        </p:nvSpPr>
        <p:spPr>
          <a:xfrm>
            <a:off x="6338462" y="4140000"/>
            <a:ext cx="4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60</a:t>
            </a:r>
          </a:p>
        </p:txBody>
      </p:sp>
      <p:sp>
        <p:nvSpPr>
          <p:cNvPr id="917" name="X axis"/>
          <p:cNvSpPr/>
          <p:nvPr/>
        </p:nvSpPr>
        <p:spPr>
          <a:xfrm>
            <a:off x="1000000" y="4100000"/>
            <a:ext cx="6000000" cy="360"/>
          </a:xfrm>
          <a:prstGeom prst="line">
            <a:avLst/>
          </a:prstGeom>
          <a:noFill/>
          <a:ln w="12700">
            <a:solidFill>
              <a:srgbClr val="474651"/>
            </a:solidFill>
            <a:round/>
          </a:ln>
        </p:spPr>
      </p:sp>
      <p:sp>
        <p:nvSpPr>
          <p:cNvPr id="918" name="Upper fence"/>
          <p:cNvSpPr/>
          <p:nvPr/>
        </p:nvSpPr>
        <p:spPr>
          <a:xfrm>
            <a:off x="3665385" y="2350000"/>
            <a:ext cx="360" cy="1400000"/>
          </a:xfrm>
          <a:prstGeom prst="line">
            <a:avLst/>
          </a:prstGeom>
          <a:noFill/>
          <a:ln w="12700">
            <a:solidFill>
              <a:srgbClr val="F43F5E"/>
            </a:solidFill>
            <a:prstDash val="dash"/>
            <a:round/>
          </a:ln>
        </p:spPr>
      </p:sp>
      <p:sp>
        <p:nvSpPr>
          <p:cNvPr id="919" name="Fence label"/>
          <p:cNvSpPr/>
          <p:nvPr/>
        </p:nvSpPr>
        <p:spPr>
          <a:xfrm>
            <a:off x="2965385" y="2080000"/>
            <a:ext cx="14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1" dirty="0">
                <a:solidFill>
                  <a:srgbClr val="F43F5E"/>
                </a:solidFill>
                <a:latin typeface="Hanken Grotesk"/>
                <a:ea typeface="Hanken Grotesk"/>
              </a:rPr>
              <a:t>upper fence 28.9</a:t>
            </a:r>
          </a:p>
        </p:txBody>
      </p:sp>
      <p:sp>
        <p:nvSpPr>
          <p:cNvPr id="920" name="Whisker"/>
          <p:cNvSpPr/>
          <p:nvPr/>
        </p:nvSpPr>
        <p:spPr>
          <a:xfrm>
            <a:off x="1923077" y="3050000"/>
            <a:ext cx="300000" cy="360"/>
          </a:xfrm>
          <a:prstGeom prst="line">
            <a:avLst/>
          </a:prstGeom>
          <a:noFill/>
          <a:ln w="19050">
            <a:solidFill>
              <a:srgbClr val="5755A7"/>
            </a:solidFill>
            <a:round/>
          </a:ln>
        </p:spPr>
      </p:sp>
      <p:sp>
        <p:nvSpPr>
          <p:cNvPr id="921" name="Whisker"/>
          <p:cNvSpPr/>
          <p:nvPr/>
        </p:nvSpPr>
        <p:spPr>
          <a:xfrm>
            <a:off x="2800000" y="3050000"/>
            <a:ext cx="230769" cy="360"/>
          </a:xfrm>
          <a:prstGeom prst="line">
            <a:avLst/>
          </a:prstGeom>
          <a:noFill/>
          <a:ln w="19050">
            <a:solidFill>
              <a:srgbClr val="5755A7"/>
            </a:solidFill>
            <a:round/>
          </a:ln>
        </p:spPr>
      </p:sp>
      <p:sp>
        <p:nvSpPr>
          <p:cNvPr id="922" name="Cap min"/>
          <p:cNvSpPr/>
          <p:nvPr/>
        </p:nvSpPr>
        <p:spPr>
          <a:xfrm>
            <a:off x="1923077" y="2850000"/>
            <a:ext cx="360" cy="400000"/>
          </a:xfrm>
          <a:prstGeom prst="line">
            <a:avLst/>
          </a:prstGeom>
          <a:noFill/>
          <a:ln w="19050">
            <a:solidFill>
              <a:srgbClr val="5755A7"/>
            </a:solidFill>
            <a:round/>
          </a:ln>
        </p:spPr>
      </p:sp>
      <p:sp>
        <p:nvSpPr>
          <p:cNvPr id="923" name="Cap max"/>
          <p:cNvSpPr/>
          <p:nvPr/>
        </p:nvSpPr>
        <p:spPr>
          <a:xfrm>
            <a:off x="3030769" y="2850000"/>
            <a:ext cx="360" cy="400000"/>
          </a:xfrm>
          <a:prstGeom prst="line">
            <a:avLst/>
          </a:prstGeom>
          <a:noFill/>
          <a:ln w="19050">
            <a:solidFill>
              <a:srgbClr val="5755A7"/>
            </a:solidFill>
            <a:round/>
          </a:ln>
        </p:spPr>
      </p:sp>
      <p:sp>
        <p:nvSpPr>
          <p:cNvPr id="924" name="Box"/>
          <p:cNvSpPr/>
          <p:nvPr/>
        </p:nvSpPr>
        <p:spPr>
          <a:xfrm>
            <a:off x="2223077" y="2600000"/>
            <a:ext cx="576923" cy="900000"/>
          </a:xfrm>
          <a:prstGeom prst="rect">
            <a:avLst/>
          </a:prstGeom>
          <a:solidFill>
            <a:srgbClr val="D2D0FA"/>
          </a:solidFill>
          <a:ln w="19050">
            <a:solidFill>
              <a:srgbClr val="5755A7"/>
            </a:solidFill>
            <a:round/>
          </a:ln>
        </p:spPr>
      </p:sp>
      <p:sp>
        <p:nvSpPr>
          <p:cNvPr id="925" name="Median"/>
          <p:cNvSpPr/>
          <p:nvPr/>
        </p:nvSpPr>
        <p:spPr>
          <a:xfrm>
            <a:off x="2430769" y="2600000"/>
            <a:ext cx="360" cy="900000"/>
          </a:xfrm>
          <a:prstGeom prst="line">
            <a:avLst/>
          </a:prstGeom>
          <a:noFill/>
          <a:ln w="34925">
            <a:solidFill>
              <a:srgbClr val="F43F5E"/>
            </a:solidFill>
            <a:round/>
          </a:ln>
        </p:spPr>
      </p:sp>
      <p:sp>
        <p:nvSpPr>
          <p:cNvPr id="926" name="Outlier"/>
          <p:cNvSpPr/>
          <p:nvPr/>
        </p:nvSpPr>
        <p:spPr>
          <a:xfrm>
            <a:off x="6468462" y="2980000"/>
            <a:ext cx="140000" cy="140000"/>
          </a:xfrm>
          <a:prstGeom prst="ellipse">
            <a:avLst/>
          </a:prstGeom>
          <a:solidFill>
            <a:srgbClr val="F43F5E"/>
          </a:solidFill>
          <a:ln w="0">
            <a:noFill/>
          </a:ln>
        </p:spPr>
      </p:sp>
      <p:sp>
        <p:nvSpPr>
          <p:cNvPr id="927" name="X title"/>
          <p:cNvSpPr/>
          <p:nvPr/>
        </p:nvSpPr>
        <p:spPr>
          <a:xfrm>
            <a:off x="3100000" y="4560000"/>
            <a:ext cx="18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value</a:t>
            </a:r>
          </a:p>
        </p:txBody>
      </p:sp>
      <p:sp>
        <p:nvSpPr>
          <p:cNvPr id="928" name="Data note"/>
          <p:cNvSpPr/>
          <p:nvPr/>
        </p:nvSpPr>
        <p:spPr>
          <a:xfrm>
            <a:off x="700000" y="4800000"/>
            <a:ext cx="6400000" cy="2300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000" b="0" i="1" dirty="0">
                <a:solidFill>
                  <a:srgbClr val="474651"/>
                </a:solidFill>
                <a:latin typeface="Hanken Grotesk"/>
                <a:ea typeface="Hanken Grotesk"/>
              </a:rPr>
              <a:t>Data: 12, 15, 14, 10, 18, 20, 22, 16, 13, 60</a:t>
            </a:r>
          </a:p>
        </p:txBody>
      </p:sp>
      <p:sp>
        <p:nvSpPr>
          <p:cNvPr id="929" name="Marker 1"/>
          <p:cNvSpPr/>
          <p:nvPr/>
        </p:nvSpPr>
        <p:spPr>
          <a:xfrm>
            <a:off x="2376538" y="2270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1</a:t>
            </a:r>
          </a:p>
        </p:txBody>
      </p:sp>
      <p:sp>
        <p:nvSpPr>
          <p:cNvPr id="930" name="Marker 2"/>
          <p:cNvSpPr/>
          <p:nvPr/>
        </p:nvSpPr>
        <p:spPr>
          <a:xfrm>
            <a:off x="2295769" y="3570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2</a:t>
            </a:r>
          </a:p>
        </p:txBody>
      </p:sp>
      <p:sp>
        <p:nvSpPr>
          <p:cNvPr id="931" name="Marker 3"/>
          <p:cNvSpPr/>
          <p:nvPr/>
        </p:nvSpPr>
        <p:spPr>
          <a:xfrm>
            <a:off x="1938077" y="2510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3</a:t>
            </a:r>
          </a:p>
        </p:txBody>
      </p:sp>
      <p:sp>
        <p:nvSpPr>
          <p:cNvPr id="932" name="Marker 4"/>
          <p:cNvSpPr/>
          <p:nvPr/>
        </p:nvSpPr>
        <p:spPr>
          <a:xfrm>
            <a:off x="6403462" y="2590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4</a:t>
            </a:r>
          </a:p>
        </p:txBody>
      </p:sp>
      <p:sp>
        <p:nvSpPr>
          <p:cNvPr id="933" name="Marker 5"/>
          <p:cNvSpPr/>
          <p:nvPr/>
        </p:nvSpPr>
        <p:spPr>
          <a:xfrm>
            <a:off x="4520000" y="4545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5</a:t>
            </a:r>
          </a:p>
        </p:txBody>
      </p:sp>
      <p:sp>
        <p:nvSpPr>
          <p:cNvPr id="934" name="Components card"/>
          <p:cNvSpPr/>
          <p:nvPr/>
        </p:nvSpPr>
        <p:spPr>
          <a:xfrm>
            <a:off x="7589520" y="1463040"/>
            <a:ext cx="4068720" cy="3565800"/>
          </a:xfrm>
          <a:prstGeom prst="roundRect">
            <a:avLst>
              <a:gd name="adj" fmla="val 2500"/>
            </a:avLst>
          </a:prstGeom>
          <a:solidFill>
            <a:srgbClr val="FFFFFF"/>
          </a:solidFill>
          <a:ln w="12700">
            <a:solidFill>
              <a:srgbClr val="C8C5D3"/>
            </a:solidFill>
            <a:round/>
          </a:ln>
        </p:spPr>
      </p:sp>
      <p:sp>
        <p:nvSpPr>
          <p:cNvPr id="935" name="Components title"/>
          <p:cNvSpPr/>
          <p:nvPr/>
        </p:nvSpPr>
        <p:spPr>
          <a:xfrm>
            <a:off x="7772400" y="1573040"/>
            <a:ext cx="3700000" cy="3300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500" b="1" i="0" dirty="0">
                <a:solidFill>
                  <a:srgbClr val="1B1B20"/>
                </a:solidFill>
                <a:latin typeface="Plus Jakarta Sans"/>
                <a:ea typeface="Plus Jakarta Sans"/>
              </a:rPr>
              <a:t>Components</a:t>
            </a:r>
          </a:p>
        </p:txBody>
      </p:sp>
      <p:sp>
        <p:nvSpPr>
          <p:cNvPr id="936" name="Badge 1"/>
          <p:cNvSpPr/>
          <p:nvPr/>
        </p:nvSpPr>
        <p:spPr>
          <a:xfrm>
            <a:off x="7772400" y="19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1</a:t>
            </a:r>
          </a:p>
        </p:txBody>
      </p:sp>
      <p:sp>
        <p:nvSpPr>
          <p:cNvPr id="937" name="Component 1"/>
          <p:cNvSpPr/>
          <p:nvPr/>
        </p:nvSpPr>
        <p:spPr>
          <a:xfrm>
            <a:off x="8179520" y="19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Box</a:t>
            </a:r>
          </a:p>
          <a:p>
            <a:pPr algn="l">
              <a:lnSpc>
                <a:spcPct val="100000"/>
              </a:lnSpc>
              <a:spcBef>
                <a:spcPts val="0"/>
              </a:spcBef>
              <a:spcAft>
                <a:spcPts val="0"/>
              </a:spcAft>
              <a:buNone/>
            </a:pPr>
            <a:r>
              <a:rPr lang="en-US" sz="1100" b="0" i="0" dirty="0">
                <a:solidFill>
                  <a:srgbClr val="474651"/>
                </a:solidFill>
                <a:latin typeface="Hanken Grotesk"/>
                <a:ea typeface="Hanken Grotesk"/>
              </a:rPr>
              <a:t>Runs from Q1 to Q3: the middle 50% of values (the IQR).</a:t>
            </a:r>
          </a:p>
        </p:txBody>
      </p:sp>
      <p:sp>
        <p:nvSpPr>
          <p:cNvPr id="938" name="Badge 2"/>
          <p:cNvSpPr/>
          <p:nvPr/>
        </p:nvSpPr>
        <p:spPr>
          <a:xfrm>
            <a:off x="7772400" y="25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2</a:t>
            </a:r>
          </a:p>
        </p:txBody>
      </p:sp>
      <p:sp>
        <p:nvSpPr>
          <p:cNvPr id="939" name="Component 2"/>
          <p:cNvSpPr/>
          <p:nvPr/>
        </p:nvSpPr>
        <p:spPr>
          <a:xfrm>
            <a:off x="8179520" y="25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Median line</a:t>
            </a:r>
          </a:p>
          <a:p>
            <a:pPr algn="l">
              <a:lnSpc>
                <a:spcPct val="100000"/>
              </a:lnSpc>
              <a:spcBef>
                <a:spcPts val="0"/>
              </a:spcBef>
              <a:spcAft>
                <a:spcPts val="0"/>
              </a:spcAft>
              <a:buNone/>
            </a:pPr>
            <a:r>
              <a:rPr lang="en-US" sz="1100" b="0" i="0" dirty="0">
                <a:solidFill>
                  <a:srgbClr val="474651"/>
                </a:solidFill>
                <a:latin typeface="Hanken Grotesk"/>
                <a:ea typeface="Hanken Grotesk"/>
              </a:rPr>
              <a:t>The middle value: half the data lies below it, half above.</a:t>
            </a:r>
          </a:p>
        </p:txBody>
      </p:sp>
      <p:sp>
        <p:nvSpPr>
          <p:cNvPr id="940" name="Badge 3"/>
          <p:cNvSpPr/>
          <p:nvPr/>
        </p:nvSpPr>
        <p:spPr>
          <a:xfrm>
            <a:off x="7772400" y="31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3</a:t>
            </a:r>
          </a:p>
        </p:txBody>
      </p:sp>
      <p:sp>
        <p:nvSpPr>
          <p:cNvPr id="941" name="Component 3"/>
          <p:cNvSpPr/>
          <p:nvPr/>
        </p:nvSpPr>
        <p:spPr>
          <a:xfrm>
            <a:off x="8179520" y="31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Whiskers</a:t>
            </a:r>
          </a:p>
          <a:p>
            <a:pPr algn="l">
              <a:lnSpc>
                <a:spcPct val="100000"/>
              </a:lnSpc>
              <a:spcBef>
                <a:spcPts val="0"/>
              </a:spcBef>
              <a:spcAft>
                <a:spcPts val="0"/>
              </a:spcAft>
              <a:buNone/>
            </a:pPr>
            <a:r>
              <a:rPr lang="en-US" sz="1100" b="0" i="0" dirty="0">
                <a:solidFill>
                  <a:srgbClr val="474651"/>
                </a:solidFill>
                <a:latin typeface="Hanken Grotesk"/>
                <a:ea typeface="Hanken Grotesk"/>
              </a:rPr>
              <a:t>Reach the smallest and largest values within 1.5×IQR of the box.</a:t>
            </a:r>
          </a:p>
        </p:txBody>
      </p:sp>
      <p:sp>
        <p:nvSpPr>
          <p:cNvPr id="942" name="Badge 4"/>
          <p:cNvSpPr/>
          <p:nvPr/>
        </p:nvSpPr>
        <p:spPr>
          <a:xfrm>
            <a:off x="7772400" y="37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4</a:t>
            </a:r>
          </a:p>
        </p:txBody>
      </p:sp>
      <p:sp>
        <p:nvSpPr>
          <p:cNvPr id="943" name="Component 4"/>
          <p:cNvSpPr/>
          <p:nvPr/>
        </p:nvSpPr>
        <p:spPr>
          <a:xfrm>
            <a:off x="8179520" y="37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Outlier dot</a:t>
            </a:r>
          </a:p>
          <a:p>
            <a:pPr algn="l">
              <a:lnSpc>
                <a:spcPct val="100000"/>
              </a:lnSpc>
              <a:spcBef>
                <a:spcPts val="0"/>
              </a:spcBef>
              <a:spcAft>
                <a:spcPts val="0"/>
              </a:spcAft>
              <a:buNone/>
            </a:pPr>
            <a:r>
              <a:rPr lang="en-US" sz="1100" b="0" i="0" dirty="0">
                <a:solidFill>
                  <a:srgbClr val="474651"/>
                </a:solidFill>
                <a:latin typeface="Hanken Grotesk"/>
                <a:ea typeface="Hanken Grotesk"/>
              </a:rPr>
              <a:t>A value beyond the fence is drawn alone. Here, 60.</a:t>
            </a:r>
          </a:p>
        </p:txBody>
      </p:sp>
      <p:sp>
        <p:nvSpPr>
          <p:cNvPr id="944" name="Badge 5"/>
          <p:cNvSpPr/>
          <p:nvPr/>
        </p:nvSpPr>
        <p:spPr>
          <a:xfrm>
            <a:off x="7772400" y="43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5</a:t>
            </a:r>
          </a:p>
        </p:txBody>
      </p:sp>
      <p:sp>
        <p:nvSpPr>
          <p:cNvPr id="945" name="Component 5"/>
          <p:cNvSpPr/>
          <p:nvPr/>
        </p:nvSpPr>
        <p:spPr>
          <a:xfrm>
            <a:off x="8179520" y="43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Axis</a:t>
            </a:r>
          </a:p>
          <a:p>
            <a:pPr algn="l">
              <a:lnSpc>
                <a:spcPct val="100000"/>
              </a:lnSpc>
              <a:spcBef>
                <a:spcPts val="0"/>
              </a:spcBef>
              <a:spcAft>
                <a:spcPts val="0"/>
              </a:spcAft>
              <a:buNone/>
            </a:pPr>
            <a:r>
              <a:rPr lang="en-US" sz="1100" b="0" i="0" dirty="0">
                <a:solidFill>
                  <a:srgbClr val="474651"/>
                </a:solidFill>
                <a:latin typeface="Hanken Grotesk"/>
                <a:ea typeface="Hanken Grotesk"/>
              </a:rPr>
              <a:t>The numeric scale, in the variable’s own units.</a:t>
            </a:r>
          </a:p>
        </p:txBody>
      </p:sp>
      <p:sp>
        <p:nvSpPr>
          <p:cNvPr id="946" name="Callout"/>
          <p:cNvSpPr/>
          <p:nvPr/>
        </p:nvSpPr>
        <p:spPr>
          <a:xfrm>
            <a:off x="548640" y="5257800"/>
            <a:ext cx="11109600" cy="822600"/>
          </a:xfrm>
          <a:prstGeom prst="roundRect">
            <a:avLst>
              <a:gd name="adj" fmla="val 11111"/>
            </a:avLst>
          </a:prstGeom>
          <a:solidFill>
            <a:srgbClr val="BBEDDC"/>
          </a:solidFill>
          <a:ln w="12700">
            <a:solidFill>
              <a:srgbClr val="BBEDDC"/>
            </a:solidFill>
            <a:round/>
          </a:ln>
        </p:spPr>
      </p:sp>
      <p:sp>
        <p:nvSpPr>
          <p:cNvPr id="947" name="Callout text"/>
          <p:cNvSpPr/>
          <p:nvPr/>
        </p:nvSpPr>
        <p:spPr>
          <a:xfrm>
            <a:off x="777240" y="5257800"/>
            <a:ext cx="10652400" cy="8226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300" b="1" i="0" dirty="0">
                <a:solidFill>
                  <a:srgbClr val="002019"/>
                </a:solidFill>
                <a:latin typeface="Hanken Grotesk"/>
                <a:ea typeface="Hanken Grotesk"/>
              </a:rPr>
              <a:t>How to read it: </a:t>
            </a:r>
            <a:r>
              <a:rPr lang="en-US" sz="1300" b="0" i="0" dirty="0">
                <a:solidFill>
                  <a:srgbClr val="002019"/>
                </a:solidFill>
                <a:latin typeface="Hanken Grotesk"/>
                <a:ea typeface="Hanken Grotesk"/>
              </a:rPr>
              <a:t>Start at the median line, then look at the box. A median near the middle of the box means a fairly symmetric middle half; near one edge means skew. Here the median is 15.5, the box covers 13.25 to 19.5, and 60 sits far beyond the upper fence of 28.9, so it is flagged as an outlier.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6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6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59</a:t>
            </a:r>
            <a:endParaRPr lang="en-US" sz="900" b="0" u="none" strike="noStrike">
              <a:solidFill>
                <a:srgbClr val="000000"/>
              </a:solidFill>
              <a:effectLst/>
              <a:uFillTx/>
              <a:latin typeface="Arial"/>
            </a:endParaRPr>
          </a:p>
        </p:txBody>
      </p:sp>
      <p:pic>
        <p:nvPicPr>
          <p:cNvPr id="764" name="Image 0" descr="/home/claude/assets/logo_crop.png"/>
          <p:cNvPicPr/>
          <p:nvPr/>
        </p:nvPicPr>
        <p:blipFill>
          <a:blip r:embed="rId3"/>
          <a:stretch/>
        </p:blipFill>
        <p:spPr>
          <a:xfrm>
            <a:off x="11201400" y="384120"/>
            <a:ext cx="456840" cy="511560"/>
          </a:xfrm>
          <a:prstGeom prst="rect">
            <a:avLst/>
          </a:prstGeom>
          <a:noFill/>
          <a:ln w="0">
            <a:noFill/>
          </a:ln>
        </p:spPr>
      </p:pic>
      <p:sp>
        <p:nvSpPr>
          <p:cNvPr id="76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Scatter Plot: What It’s For</a:t>
            </a:r>
            <a:endParaRPr lang="en-US" sz="2600" b="0" u="none" strike="noStrike">
              <a:solidFill>
                <a:srgbClr val="000000"/>
              </a:solidFill>
              <a:effectLst/>
              <a:uFillTx/>
              <a:latin typeface="Arial"/>
            </a:endParaRPr>
          </a:p>
        </p:txBody>
      </p:sp>
      <p:sp>
        <p:nvSpPr>
          <p:cNvPr id="901" name="Header card"/>
          <p:cNvSpPr/>
          <p:nvPr/>
        </p:nvSpPr>
        <p:spPr>
          <a:xfrm>
            <a:off x="548640" y="1463040"/>
            <a:ext cx="11109600" cy="1463040"/>
          </a:xfrm>
          <a:prstGeom prst="roundRect">
            <a:avLst>
              <a:gd name="adj" fmla="val 4000"/>
            </a:avLst>
          </a:prstGeom>
          <a:solidFill>
            <a:srgbClr val="FFFFFF"/>
          </a:solidFill>
          <a:ln w="12700">
            <a:solidFill>
              <a:srgbClr val="C8C5D3"/>
            </a:solidFill>
            <a:round/>
          </a:ln>
        </p:spPr>
      </p:sp>
      <p:sp>
        <p:nvSpPr>
          <p:cNvPr id="902" name="Chart pill"/>
          <p:cNvSpPr/>
          <p:nvPr/>
        </p:nvSpPr>
        <p:spPr>
          <a:xfrm>
            <a:off x="777240" y="1645920"/>
            <a:ext cx="3566160" cy="456840"/>
          </a:xfrm>
          <a:prstGeom prst="roundRect">
            <a:avLst>
              <a:gd name="adj" fmla="val 50000"/>
            </a:avLst>
          </a:prstGeom>
          <a:solidFill>
            <a:srgbClr val="8C8AE0"/>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FFFFFF"/>
                </a:solidFill>
                <a:latin typeface="Plus Jakarta Sans"/>
                <a:ea typeface="Plus Jakarta Sans"/>
              </a:rPr>
              <a:t>Scatter Plot</a:t>
            </a:r>
          </a:p>
        </p:txBody>
      </p:sp>
      <p:sp>
        <p:nvSpPr>
          <p:cNvPr id="903" name="Data chip"/>
          <p:cNvSpPr/>
          <p:nvPr/>
        </p:nvSpPr>
        <p:spPr>
          <a:xfrm>
            <a:off x="777240" y="2240280"/>
            <a:ext cx="3566160" cy="365400"/>
          </a:xfrm>
          <a:prstGeom prst="roundRect">
            <a:avLst>
              <a:gd name="adj" fmla="val 50000"/>
            </a:avLst>
          </a:prstGeom>
          <a:solidFill>
            <a:srgbClr val="D2D0FA"/>
          </a:solidFill>
          <a:ln w="12700">
            <a:solidFill>
              <a:srgbClr val="D2D0FA"/>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231F71"/>
                </a:solidFill>
                <a:latin typeface="Plus Jakarta Sans"/>
                <a:ea typeface="Plus Jakarta Sans"/>
              </a:rPr>
              <a:t>Data: two numerical variables</a:t>
            </a:r>
          </a:p>
        </p:txBody>
      </p:sp>
      <p:sp>
        <p:nvSpPr>
          <p:cNvPr id="904" name="For label"/>
          <p:cNvSpPr/>
          <p:nvPr/>
        </p:nvSpPr>
        <p:spPr>
          <a:xfrm>
            <a:off x="4709160" y="1600200"/>
            <a:ext cx="6700000" cy="26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5755A7"/>
                </a:solidFill>
                <a:latin typeface="Plus Jakarta Sans"/>
                <a:ea typeface="Plus Jakarta Sans"/>
              </a:rPr>
              <a:t>WHAT IT'S FOR</a:t>
            </a:r>
          </a:p>
        </p:txBody>
      </p:sp>
      <p:sp>
        <p:nvSpPr>
          <p:cNvPr id="905" name="Definition"/>
          <p:cNvSpPr/>
          <p:nvPr/>
        </p:nvSpPr>
        <p:spPr>
          <a:xfrm>
            <a:off x="4709160" y="1920240"/>
            <a:ext cx="6700000" cy="90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500" b="0" i="0" dirty="0">
                <a:solidFill>
                  <a:srgbClr val="1B1B20"/>
                </a:solidFill>
                <a:latin typeface="Hanken Grotesk"/>
                <a:ea typeface="Hanken Grotesk"/>
              </a:rPr>
              <a:t>Plots every observation as a dot using two numerical variables, revealing the direction, strength and shape of the relationship between them.</a:t>
            </a:r>
          </a:p>
        </p:txBody>
      </p:sp>
      <p:sp>
        <p:nvSpPr>
          <p:cNvPr id="906" name="Use it when card"/>
          <p:cNvSpPr/>
          <p:nvPr/>
        </p:nvSpPr>
        <p:spPr>
          <a:xfrm>
            <a:off x="548640" y="3108960"/>
            <a:ext cx="5440680" cy="2926080"/>
          </a:xfrm>
          <a:prstGeom prst="roundRect">
            <a:avLst>
              <a:gd name="adj" fmla="val 3500"/>
            </a:avLst>
          </a:prstGeom>
          <a:solidFill>
            <a:srgbClr val="F2FCFB"/>
          </a:solidFill>
          <a:ln w="19050">
            <a:solidFill>
              <a:srgbClr val="A6EDE4"/>
            </a:solidFill>
            <a:round/>
          </a:ln>
        </p:spPr>
      </p:sp>
      <p:sp>
        <p:nvSpPr>
          <p:cNvPr id="907" name="Use it when badge"/>
          <p:cNvSpPr/>
          <p:nvPr/>
        </p:nvSpPr>
        <p:spPr>
          <a:xfrm>
            <a:off x="731520" y="3291840"/>
            <a:ext cx="365760" cy="365760"/>
          </a:xfrm>
          <a:prstGeom prst="ellipse">
            <a:avLst/>
          </a:prstGeom>
          <a:solidFill>
            <a:srgbClr val="2DD4BF"/>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002019"/>
                </a:solidFill>
                <a:latin typeface="Plus Jakarta Sans"/>
                <a:ea typeface="Plus Jakarta Sans"/>
              </a:rPr>
              <a:t>✓</a:t>
            </a:r>
          </a:p>
        </p:txBody>
      </p:sp>
      <p:sp>
        <p:nvSpPr>
          <p:cNvPr id="908" name="Use it when title"/>
          <p:cNvSpPr/>
          <p:nvPr/>
        </p:nvSpPr>
        <p:spPr>
          <a:xfrm>
            <a:off x="1188720" y="3291840"/>
            <a:ext cx="4400000" cy="36576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600" b="1" i="0" dirty="0">
                <a:solidFill>
                  <a:srgbClr val="1B1B20"/>
                </a:solidFill>
                <a:latin typeface="Plus Jakarta Sans"/>
                <a:ea typeface="Plus Jakarta Sans"/>
              </a:rPr>
              <a:t>Use it when</a:t>
            </a:r>
          </a:p>
        </p:txBody>
      </p:sp>
      <p:sp>
        <p:nvSpPr>
          <p:cNvPr id="909" name="Use it when bullets"/>
          <p:cNvSpPr/>
          <p:nvPr/>
        </p:nvSpPr>
        <p:spPr>
          <a:xfrm>
            <a:off x="731520" y="3848960"/>
            <a:ext cx="5074920" cy="2100000"/>
          </a:xfrm>
          <a:prstGeom prst="rect">
            <a:avLst/>
          </a:prstGeom>
          <a:noFill/>
          <a:ln w="0">
            <a:noFill/>
          </a:ln>
        </p:spPr>
        <p:txBody>
          <a:bodyPr wrap="square" lIns="0" tIns="0" rIns="0" bIns="0" anchor="t">
            <a:noAutofit/>
          </a:bodyPr>
          <a:lstStyle/>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Checking whether two numerical variables move together, like study hours and exam score</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Judging direction (positive or negative), strength, and whether the pattern is straight or curved</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Spotting clusters and outliers, or as a first look before computing a correlation</a:t>
            </a:r>
          </a:p>
        </p:txBody>
      </p:sp>
      <p:sp>
        <p:nvSpPr>
          <p:cNvPr id="910" name="Avoid it when card"/>
          <p:cNvSpPr/>
          <p:nvPr/>
        </p:nvSpPr>
        <p:spPr>
          <a:xfrm>
            <a:off x="6217920" y="3108960"/>
            <a:ext cx="5440680" cy="2926080"/>
          </a:xfrm>
          <a:prstGeom prst="roundRect">
            <a:avLst>
              <a:gd name="adj" fmla="val 3500"/>
            </a:avLst>
          </a:prstGeom>
          <a:solidFill>
            <a:srgbClr val="FFF5F7"/>
          </a:solidFill>
          <a:ln w="19050">
            <a:solidFill>
              <a:srgbClr val="FBBAC5"/>
            </a:solidFill>
            <a:round/>
          </a:ln>
        </p:spPr>
      </p:sp>
      <p:sp>
        <p:nvSpPr>
          <p:cNvPr id="911" name="Avoid it when badge"/>
          <p:cNvSpPr/>
          <p:nvPr/>
        </p:nvSpPr>
        <p:spPr>
          <a:xfrm>
            <a:off x="6400800" y="3291840"/>
            <a:ext cx="365760" cy="365760"/>
          </a:xfrm>
          <a:prstGeom prst="ellipse">
            <a:avLst/>
          </a:prstGeom>
          <a:solidFill>
            <a:srgbClr val="F43F5E"/>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FFFFFF"/>
                </a:solidFill>
                <a:latin typeface="Plus Jakarta Sans"/>
                <a:ea typeface="Plus Jakarta Sans"/>
              </a:rPr>
              <a:t>✕</a:t>
            </a:r>
          </a:p>
        </p:txBody>
      </p:sp>
      <p:sp>
        <p:nvSpPr>
          <p:cNvPr id="912" name="Avoid it when title"/>
          <p:cNvSpPr/>
          <p:nvPr/>
        </p:nvSpPr>
        <p:spPr>
          <a:xfrm>
            <a:off x="6858000" y="3291840"/>
            <a:ext cx="4400000" cy="36576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600" b="1" i="0" dirty="0">
                <a:solidFill>
                  <a:srgbClr val="1B1B20"/>
                </a:solidFill>
                <a:latin typeface="Plus Jakarta Sans"/>
                <a:ea typeface="Plus Jakarta Sans"/>
              </a:rPr>
              <a:t>Avoid it when</a:t>
            </a:r>
          </a:p>
        </p:txBody>
      </p:sp>
      <p:sp>
        <p:nvSpPr>
          <p:cNvPr id="913" name="Avoid it when bullets"/>
          <p:cNvSpPr/>
          <p:nvPr/>
        </p:nvSpPr>
        <p:spPr>
          <a:xfrm>
            <a:off x="6400800" y="3848960"/>
            <a:ext cx="5074920" cy="2100000"/>
          </a:xfrm>
          <a:prstGeom prst="rect">
            <a:avLst/>
          </a:prstGeom>
          <a:noFill/>
          <a:ln w="0">
            <a:noFill/>
          </a:ln>
        </p:spPr>
        <p:txBody>
          <a:bodyPr wrap="square" lIns="0" tIns="0" rIns="0" bIns="0" anchor="t">
            <a:noAutofit/>
          </a:bodyPr>
          <a:lstStyle/>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One of the variables is a category: use a bar chart or a box plot by group instead</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You have huge datasets: thousands of dots pile into a blob, so sample or use a heatmap</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You are tracking one measure over time: a line chart is the right tool</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6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6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60</a:t>
            </a:r>
            <a:endParaRPr lang="en-US" sz="900" b="0" u="none" strike="noStrike">
              <a:solidFill>
                <a:srgbClr val="000000"/>
              </a:solidFill>
              <a:effectLst/>
              <a:uFillTx/>
              <a:latin typeface="Arial"/>
            </a:endParaRPr>
          </a:p>
        </p:txBody>
      </p:sp>
      <p:pic>
        <p:nvPicPr>
          <p:cNvPr id="764" name="Image 0" descr="/home/claude/assets/logo_crop.png"/>
          <p:cNvPicPr/>
          <p:nvPr/>
        </p:nvPicPr>
        <p:blipFill>
          <a:blip r:embed="rId2"/>
          <a:stretch/>
        </p:blipFill>
        <p:spPr>
          <a:xfrm>
            <a:off x="11201400" y="384120"/>
            <a:ext cx="456840" cy="511560"/>
          </a:xfrm>
          <a:prstGeom prst="rect">
            <a:avLst/>
          </a:prstGeom>
          <a:noFill/>
          <a:ln w="0">
            <a:noFill/>
          </a:ln>
        </p:spPr>
      </p:pic>
      <p:sp>
        <p:nvSpPr>
          <p:cNvPr id="76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Scatter Plot: Anatomy &amp; How to Read It</a:t>
            </a:r>
            <a:endParaRPr lang="en-US" sz="2600" b="0" u="none" strike="noStrike">
              <a:solidFill>
                <a:srgbClr val="000000"/>
              </a:solidFill>
              <a:effectLst/>
              <a:uFillTx/>
              <a:latin typeface="Arial"/>
            </a:endParaRPr>
          </a:p>
        </p:txBody>
      </p:sp>
      <p:sp>
        <p:nvSpPr>
          <p:cNvPr id="901" name="Chart card"/>
          <p:cNvSpPr/>
          <p:nvPr/>
        </p:nvSpPr>
        <p:spPr>
          <a:xfrm>
            <a:off x="548640" y="1463040"/>
            <a:ext cx="6858000" cy="3565800"/>
          </a:xfrm>
          <a:prstGeom prst="roundRect">
            <a:avLst>
              <a:gd name="adj" fmla="val 2500"/>
            </a:avLst>
          </a:prstGeom>
          <a:solidFill>
            <a:srgbClr val="FFFFFF"/>
          </a:solidFill>
          <a:ln w="12700">
            <a:solidFill>
              <a:srgbClr val="C8C5D3"/>
            </a:solidFill>
            <a:round/>
          </a:ln>
        </p:spPr>
      </p:sp>
      <p:sp>
        <p:nvSpPr>
          <p:cNvPr id="902" name="Y title"/>
          <p:cNvSpPr/>
          <p:nvPr/>
        </p:nvSpPr>
        <p:spPr>
          <a:xfrm>
            <a:off x="700000" y="1530000"/>
            <a:ext cx="1100000" cy="2300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000" b="0" i="0" dirty="0">
                <a:solidFill>
                  <a:srgbClr val="474651"/>
                </a:solidFill>
                <a:latin typeface="Hanken Grotesk"/>
                <a:ea typeface="Hanken Grotesk"/>
              </a:rPr>
              <a:t>exam score</a:t>
            </a:r>
          </a:p>
        </p:txBody>
      </p:sp>
      <p:sp>
        <p:nvSpPr>
          <p:cNvPr id="903" name="Tick"/>
          <p:cNvSpPr/>
          <p:nvPr/>
        </p:nvSpPr>
        <p:spPr>
          <a:xfrm>
            <a:off x="830000" y="3985000"/>
            <a:ext cx="340000" cy="230000"/>
          </a:xfrm>
          <a:prstGeom prst="rect">
            <a:avLst/>
          </a:prstGeom>
          <a:noFill/>
          <a:ln w="0">
            <a:noFill/>
          </a:ln>
        </p:spPr>
        <p:txBody>
          <a:bodyPr wrap="square" lIns="0" tIns="0" rIns="0" bIns="0" anchor="ctr">
            <a:noAutofit/>
          </a:bodyPr>
          <a:lstStyle/>
          <a:p>
            <a:pPr algn="r">
              <a:lnSpc>
                <a:spcPct val="100000"/>
              </a:lnSpc>
              <a:spcBef>
                <a:spcPts val="0"/>
              </a:spcBef>
              <a:spcAft>
                <a:spcPts val="0"/>
              </a:spcAft>
              <a:buNone/>
            </a:pPr>
            <a:r>
              <a:rPr lang="en-US" sz="1000" b="0" i="0" dirty="0">
                <a:solidFill>
                  <a:srgbClr val="474651"/>
                </a:solidFill>
                <a:latin typeface="Hanken Grotesk"/>
                <a:ea typeface="Hanken Grotesk"/>
              </a:rPr>
              <a:t>40</a:t>
            </a:r>
          </a:p>
        </p:txBody>
      </p:sp>
      <p:sp>
        <p:nvSpPr>
          <p:cNvPr id="904" name="Grid"/>
          <p:cNvSpPr/>
          <p:nvPr/>
        </p:nvSpPr>
        <p:spPr>
          <a:xfrm>
            <a:off x="1250000" y="3611111"/>
            <a:ext cx="5850000" cy="360"/>
          </a:xfrm>
          <a:prstGeom prst="line">
            <a:avLst/>
          </a:prstGeom>
          <a:noFill/>
          <a:ln w="9525">
            <a:solidFill>
              <a:srgbClr val="E6E3F0"/>
            </a:solidFill>
            <a:round/>
          </a:ln>
        </p:spPr>
      </p:sp>
      <p:sp>
        <p:nvSpPr>
          <p:cNvPr id="905" name="Tick"/>
          <p:cNvSpPr/>
          <p:nvPr/>
        </p:nvSpPr>
        <p:spPr>
          <a:xfrm>
            <a:off x="830000" y="3496111"/>
            <a:ext cx="340000" cy="230000"/>
          </a:xfrm>
          <a:prstGeom prst="rect">
            <a:avLst/>
          </a:prstGeom>
          <a:noFill/>
          <a:ln w="0">
            <a:noFill/>
          </a:ln>
        </p:spPr>
        <p:txBody>
          <a:bodyPr wrap="square" lIns="0" tIns="0" rIns="0" bIns="0" anchor="ctr">
            <a:noAutofit/>
          </a:bodyPr>
          <a:lstStyle/>
          <a:p>
            <a:pPr algn="r">
              <a:lnSpc>
                <a:spcPct val="100000"/>
              </a:lnSpc>
              <a:spcBef>
                <a:spcPts val="0"/>
              </a:spcBef>
              <a:spcAft>
                <a:spcPts val="0"/>
              </a:spcAft>
              <a:buNone/>
            </a:pPr>
            <a:r>
              <a:rPr lang="en-US" sz="1000" b="0" i="0" dirty="0">
                <a:solidFill>
                  <a:srgbClr val="474651"/>
                </a:solidFill>
                <a:latin typeface="Hanken Grotesk"/>
                <a:ea typeface="Hanken Grotesk"/>
              </a:rPr>
              <a:t>50</a:t>
            </a:r>
          </a:p>
        </p:txBody>
      </p:sp>
      <p:sp>
        <p:nvSpPr>
          <p:cNvPr id="906" name="Grid"/>
          <p:cNvSpPr/>
          <p:nvPr/>
        </p:nvSpPr>
        <p:spPr>
          <a:xfrm>
            <a:off x="1250000" y="3122222"/>
            <a:ext cx="5850000" cy="360"/>
          </a:xfrm>
          <a:prstGeom prst="line">
            <a:avLst/>
          </a:prstGeom>
          <a:noFill/>
          <a:ln w="9525">
            <a:solidFill>
              <a:srgbClr val="E6E3F0"/>
            </a:solidFill>
            <a:round/>
          </a:ln>
        </p:spPr>
      </p:sp>
      <p:sp>
        <p:nvSpPr>
          <p:cNvPr id="907" name="Tick"/>
          <p:cNvSpPr/>
          <p:nvPr/>
        </p:nvSpPr>
        <p:spPr>
          <a:xfrm>
            <a:off x="830000" y="3007222"/>
            <a:ext cx="340000" cy="230000"/>
          </a:xfrm>
          <a:prstGeom prst="rect">
            <a:avLst/>
          </a:prstGeom>
          <a:noFill/>
          <a:ln w="0">
            <a:noFill/>
          </a:ln>
        </p:spPr>
        <p:txBody>
          <a:bodyPr wrap="square" lIns="0" tIns="0" rIns="0" bIns="0" anchor="ctr">
            <a:noAutofit/>
          </a:bodyPr>
          <a:lstStyle/>
          <a:p>
            <a:pPr algn="r">
              <a:lnSpc>
                <a:spcPct val="100000"/>
              </a:lnSpc>
              <a:spcBef>
                <a:spcPts val="0"/>
              </a:spcBef>
              <a:spcAft>
                <a:spcPts val="0"/>
              </a:spcAft>
              <a:buNone/>
            </a:pPr>
            <a:r>
              <a:rPr lang="en-US" sz="1000" b="0" i="0" dirty="0">
                <a:solidFill>
                  <a:srgbClr val="474651"/>
                </a:solidFill>
                <a:latin typeface="Hanken Grotesk"/>
                <a:ea typeface="Hanken Grotesk"/>
              </a:rPr>
              <a:t>60</a:t>
            </a:r>
          </a:p>
        </p:txBody>
      </p:sp>
      <p:sp>
        <p:nvSpPr>
          <p:cNvPr id="908" name="Grid"/>
          <p:cNvSpPr/>
          <p:nvPr/>
        </p:nvSpPr>
        <p:spPr>
          <a:xfrm>
            <a:off x="1250000" y="2633333"/>
            <a:ext cx="5850000" cy="360"/>
          </a:xfrm>
          <a:prstGeom prst="line">
            <a:avLst/>
          </a:prstGeom>
          <a:noFill/>
          <a:ln w="9525">
            <a:solidFill>
              <a:srgbClr val="E6E3F0"/>
            </a:solidFill>
            <a:round/>
          </a:ln>
        </p:spPr>
      </p:sp>
      <p:sp>
        <p:nvSpPr>
          <p:cNvPr id="909" name="Tick"/>
          <p:cNvSpPr/>
          <p:nvPr/>
        </p:nvSpPr>
        <p:spPr>
          <a:xfrm>
            <a:off x="830000" y="2518333"/>
            <a:ext cx="340000" cy="230000"/>
          </a:xfrm>
          <a:prstGeom prst="rect">
            <a:avLst/>
          </a:prstGeom>
          <a:noFill/>
          <a:ln w="0">
            <a:noFill/>
          </a:ln>
        </p:spPr>
        <p:txBody>
          <a:bodyPr wrap="square" lIns="0" tIns="0" rIns="0" bIns="0" anchor="ctr">
            <a:noAutofit/>
          </a:bodyPr>
          <a:lstStyle/>
          <a:p>
            <a:pPr algn="r">
              <a:lnSpc>
                <a:spcPct val="100000"/>
              </a:lnSpc>
              <a:spcBef>
                <a:spcPts val="0"/>
              </a:spcBef>
              <a:spcAft>
                <a:spcPts val="0"/>
              </a:spcAft>
              <a:buNone/>
            </a:pPr>
            <a:r>
              <a:rPr lang="en-US" sz="1000" b="0" i="0" dirty="0">
                <a:solidFill>
                  <a:srgbClr val="474651"/>
                </a:solidFill>
                <a:latin typeface="Hanken Grotesk"/>
                <a:ea typeface="Hanken Grotesk"/>
              </a:rPr>
              <a:t>70</a:t>
            </a:r>
          </a:p>
        </p:txBody>
      </p:sp>
      <p:sp>
        <p:nvSpPr>
          <p:cNvPr id="910" name="Grid"/>
          <p:cNvSpPr/>
          <p:nvPr/>
        </p:nvSpPr>
        <p:spPr>
          <a:xfrm>
            <a:off x="1250000" y="2144444"/>
            <a:ext cx="5850000" cy="360"/>
          </a:xfrm>
          <a:prstGeom prst="line">
            <a:avLst/>
          </a:prstGeom>
          <a:noFill/>
          <a:ln w="9525">
            <a:solidFill>
              <a:srgbClr val="E6E3F0"/>
            </a:solidFill>
            <a:round/>
          </a:ln>
        </p:spPr>
      </p:sp>
      <p:sp>
        <p:nvSpPr>
          <p:cNvPr id="911" name="Tick"/>
          <p:cNvSpPr/>
          <p:nvPr/>
        </p:nvSpPr>
        <p:spPr>
          <a:xfrm>
            <a:off x="830000" y="2029444"/>
            <a:ext cx="340000" cy="230000"/>
          </a:xfrm>
          <a:prstGeom prst="rect">
            <a:avLst/>
          </a:prstGeom>
          <a:noFill/>
          <a:ln w="0">
            <a:noFill/>
          </a:ln>
        </p:spPr>
        <p:txBody>
          <a:bodyPr wrap="square" lIns="0" tIns="0" rIns="0" bIns="0" anchor="ctr">
            <a:noAutofit/>
          </a:bodyPr>
          <a:lstStyle/>
          <a:p>
            <a:pPr algn="r">
              <a:lnSpc>
                <a:spcPct val="100000"/>
              </a:lnSpc>
              <a:spcBef>
                <a:spcPts val="0"/>
              </a:spcBef>
              <a:spcAft>
                <a:spcPts val="0"/>
              </a:spcAft>
              <a:buNone/>
            </a:pPr>
            <a:r>
              <a:rPr lang="en-US" sz="1000" b="0" i="0" dirty="0">
                <a:solidFill>
                  <a:srgbClr val="474651"/>
                </a:solidFill>
                <a:latin typeface="Hanken Grotesk"/>
                <a:ea typeface="Hanken Grotesk"/>
              </a:rPr>
              <a:t>80</a:t>
            </a:r>
          </a:p>
        </p:txBody>
      </p:sp>
      <p:sp>
        <p:nvSpPr>
          <p:cNvPr id="912" name="Y axis"/>
          <p:cNvSpPr/>
          <p:nvPr/>
        </p:nvSpPr>
        <p:spPr>
          <a:xfrm>
            <a:off x="1250000" y="1840000"/>
            <a:ext cx="360" cy="2260000"/>
          </a:xfrm>
          <a:prstGeom prst="line">
            <a:avLst/>
          </a:prstGeom>
          <a:noFill/>
          <a:ln w="12700">
            <a:solidFill>
              <a:srgbClr val="474651"/>
            </a:solidFill>
            <a:round/>
          </a:ln>
        </p:spPr>
      </p:sp>
      <p:sp>
        <p:nvSpPr>
          <p:cNvPr id="913" name="X axis"/>
          <p:cNvSpPr/>
          <p:nvPr/>
        </p:nvSpPr>
        <p:spPr>
          <a:xfrm>
            <a:off x="1250000" y="4100000"/>
            <a:ext cx="5850000" cy="360"/>
          </a:xfrm>
          <a:prstGeom prst="line">
            <a:avLst/>
          </a:prstGeom>
          <a:noFill/>
          <a:ln w="12700">
            <a:solidFill>
              <a:srgbClr val="474651"/>
            </a:solidFill>
            <a:round/>
          </a:ln>
        </p:spPr>
      </p:sp>
      <p:sp>
        <p:nvSpPr>
          <p:cNvPr id="914" name="Tick"/>
          <p:cNvSpPr/>
          <p:nvPr/>
        </p:nvSpPr>
        <p:spPr>
          <a:xfrm>
            <a:off x="1750000" y="4140000"/>
            <a:ext cx="3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1</a:t>
            </a:r>
          </a:p>
        </p:txBody>
      </p:sp>
      <p:sp>
        <p:nvSpPr>
          <p:cNvPr id="915" name="Tick"/>
          <p:cNvSpPr/>
          <p:nvPr/>
        </p:nvSpPr>
        <p:spPr>
          <a:xfrm>
            <a:off x="2400000" y="4140000"/>
            <a:ext cx="3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2</a:t>
            </a:r>
          </a:p>
        </p:txBody>
      </p:sp>
      <p:sp>
        <p:nvSpPr>
          <p:cNvPr id="916" name="Tick"/>
          <p:cNvSpPr/>
          <p:nvPr/>
        </p:nvSpPr>
        <p:spPr>
          <a:xfrm>
            <a:off x="3050000" y="4140000"/>
            <a:ext cx="3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3</a:t>
            </a:r>
          </a:p>
        </p:txBody>
      </p:sp>
      <p:sp>
        <p:nvSpPr>
          <p:cNvPr id="917" name="Tick"/>
          <p:cNvSpPr/>
          <p:nvPr/>
        </p:nvSpPr>
        <p:spPr>
          <a:xfrm>
            <a:off x="3700000" y="4140000"/>
            <a:ext cx="3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4</a:t>
            </a:r>
          </a:p>
        </p:txBody>
      </p:sp>
      <p:sp>
        <p:nvSpPr>
          <p:cNvPr id="918" name="Tick"/>
          <p:cNvSpPr/>
          <p:nvPr/>
        </p:nvSpPr>
        <p:spPr>
          <a:xfrm>
            <a:off x="4350000" y="4140000"/>
            <a:ext cx="3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5</a:t>
            </a:r>
          </a:p>
        </p:txBody>
      </p:sp>
      <p:sp>
        <p:nvSpPr>
          <p:cNvPr id="919" name="Tick"/>
          <p:cNvSpPr/>
          <p:nvPr/>
        </p:nvSpPr>
        <p:spPr>
          <a:xfrm>
            <a:off x="5000000" y="4140000"/>
            <a:ext cx="3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6</a:t>
            </a:r>
          </a:p>
        </p:txBody>
      </p:sp>
      <p:sp>
        <p:nvSpPr>
          <p:cNvPr id="920" name="Tick"/>
          <p:cNvSpPr/>
          <p:nvPr/>
        </p:nvSpPr>
        <p:spPr>
          <a:xfrm>
            <a:off x="5650000" y="4140000"/>
            <a:ext cx="3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7</a:t>
            </a:r>
          </a:p>
        </p:txBody>
      </p:sp>
      <p:sp>
        <p:nvSpPr>
          <p:cNvPr id="921" name="Tick"/>
          <p:cNvSpPr/>
          <p:nvPr/>
        </p:nvSpPr>
        <p:spPr>
          <a:xfrm>
            <a:off x="6300000" y="4140000"/>
            <a:ext cx="3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8</a:t>
            </a:r>
          </a:p>
        </p:txBody>
      </p:sp>
      <p:sp>
        <p:nvSpPr>
          <p:cNvPr id="922" name="Trend line"/>
          <p:cNvSpPr/>
          <p:nvPr/>
        </p:nvSpPr>
        <p:spPr>
          <a:xfrm flipV="1">
            <a:off x="1900000" y="2274978"/>
            <a:ext cx="4550000" cy="1486956"/>
          </a:xfrm>
          <a:prstGeom prst="line">
            <a:avLst/>
          </a:prstGeom>
          <a:noFill/>
          <a:ln w="22225">
            <a:solidFill>
              <a:srgbClr val="F43F5E"/>
            </a:solidFill>
            <a:prstDash val="dash"/>
            <a:round/>
          </a:ln>
        </p:spPr>
      </p:sp>
      <p:sp>
        <p:nvSpPr>
          <p:cNvPr id="923" name="Point"/>
          <p:cNvSpPr/>
          <p:nvPr/>
        </p:nvSpPr>
        <p:spPr>
          <a:xfrm>
            <a:off x="1800000" y="3608889"/>
            <a:ext cx="200000" cy="200000"/>
          </a:xfrm>
          <a:prstGeom prst="ellipse">
            <a:avLst/>
          </a:prstGeom>
          <a:solidFill>
            <a:srgbClr val="8C8AE0"/>
          </a:solidFill>
          <a:ln w="12700">
            <a:solidFill>
              <a:srgbClr val="5755A7"/>
            </a:solidFill>
            <a:round/>
          </a:ln>
        </p:spPr>
      </p:sp>
      <p:sp>
        <p:nvSpPr>
          <p:cNvPr id="924" name="Point"/>
          <p:cNvSpPr/>
          <p:nvPr/>
        </p:nvSpPr>
        <p:spPr>
          <a:xfrm>
            <a:off x="2450000" y="3413333"/>
            <a:ext cx="200000" cy="200000"/>
          </a:xfrm>
          <a:prstGeom prst="ellipse">
            <a:avLst/>
          </a:prstGeom>
          <a:solidFill>
            <a:srgbClr val="8C8AE0"/>
          </a:solidFill>
          <a:ln w="12700">
            <a:solidFill>
              <a:srgbClr val="5755A7"/>
            </a:solidFill>
            <a:round/>
          </a:ln>
        </p:spPr>
      </p:sp>
      <p:sp>
        <p:nvSpPr>
          <p:cNvPr id="925" name="Point"/>
          <p:cNvSpPr/>
          <p:nvPr/>
        </p:nvSpPr>
        <p:spPr>
          <a:xfrm>
            <a:off x="3100000" y="3266667"/>
            <a:ext cx="200000" cy="200000"/>
          </a:xfrm>
          <a:prstGeom prst="ellipse">
            <a:avLst/>
          </a:prstGeom>
          <a:solidFill>
            <a:srgbClr val="8C8AE0"/>
          </a:solidFill>
          <a:ln w="12700">
            <a:solidFill>
              <a:srgbClr val="5755A7"/>
            </a:solidFill>
            <a:round/>
          </a:ln>
        </p:spPr>
      </p:sp>
      <p:sp>
        <p:nvSpPr>
          <p:cNvPr id="926" name="Point"/>
          <p:cNvSpPr/>
          <p:nvPr/>
        </p:nvSpPr>
        <p:spPr>
          <a:xfrm>
            <a:off x="3750000" y="2973333"/>
            <a:ext cx="200000" cy="200000"/>
          </a:xfrm>
          <a:prstGeom prst="ellipse">
            <a:avLst/>
          </a:prstGeom>
          <a:solidFill>
            <a:srgbClr val="8C8AE0"/>
          </a:solidFill>
          <a:ln w="12700">
            <a:solidFill>
              <a:srgbClr val="5755A7"/>
            </a:solidFill>
            <a:round/>
          </a:ln>
        </p:spPr>
      </p:sp>
      <p:sp>
        <p:nvSpPr>
          <p:cNvPr id="927" name="Point"/>
          <p:cNvSpPr/>
          <p:nvPr/>
        </p:nvSpPr>
        <p:spPr>
          <a:xfrm>
            <a:off x="4400000" y="3022222"/>
            <a:ext cx="200000" cy="200000"/>
          </a:xfrm>
          <a:prstGeom prst="ellipse">
            <a:avLst/>
          </a:prstGeom>
          <a:solidFill>
            <a:srgbClr val="8C8AE0"/>
          </a:solidFill>
          <a:ln w="12700">
            <a:solidFill>
              <a:srgbClr val="5755A7"/>
            </a:solidFill>
            <a:round/>
          </a:ln>
        </p:spPr>
      </p:sp>
      <p:sp>
        <p:nvSpPr>
          <p:cNvPr id="928" name="Point"/>
          <p:cNvSpPr/>
          <p:nvPr/>
        </p:nvSpPr>
        <p:spPr>
          <a:xfrm>
            <a:off x="5050000" y="2631111"/>
            <a:ext cx="200000" cy="200000"/>
          </a:xfrm>
          <a:prstGeom prst="ellipse">
            <a:avLst/>
          </a:prstGeom>
          <a:solidFill>
            <a:srgbClr val="8C8AE0"/>
          </a:solidFill>
          <a:ln w="12700">
            <a:solidFill>
              <a:srgbClr val="5755A7"/>
            </a:solidFill>
            <a:round/>
          </a:ln>
        </p:spPr>
      </p:sp>
      <p:sp>
        <p:nvSpPr>
          <p:cNvPr id="929" name="Point"/>
          <p:cNvSpPr/>
          <p:nvPr/>
        </p:nvSpPr>
        <p:spPr>
          <a:xfrm>
            <a:off x="5700000" y="2337778"/>
            <a:ext cx="200000" cy="200000"/>
          </a:xfrm>
          <a:prstGeom prst="ellipse">
            <a:avLst/>
          </a:prstGeom>
          <a:solidFill>
            <a:srgbClr val="8C8AE0"/>
          </a:solidFill>
          <a:ln w="12700">
            <a:solidFill>
              <a:srgbClr val="5755A7"/>
            </a:solidFill>
            <a:round/>
          </a:ln>
        </p:spPr>
      </p:sp>
      <p:sp>
        <p:nvSpPr>
          <p:cNvPr id="930" name="Point"/>
          <p:cNvSpPr/>
          <p:nvPr/>
        </p:nvSpPr>
        <p:spPr>
          <a:xfrm>
            <a:off x="6350000" y="2093333"/>
            <a:ext cx="200000" cy="200000"/>
          </a:xfrm>
          <a:prstGeom prst="ellipse">
            <a:avLst/>
          </a:prstGeom>
          <a:solidFill>
            <a:srgbClr val="8C8AE0"/>
          </a:solidFill>
          <a:ln w="12700">
            <a:solidFill>
              <a:srgbClr val="5755A7"/>
            </a:solidFill>
            <a:round/>
          </a:ln>
        </p:spPr>
      </p:sp>
      <p:sp>
        <p:nvSpPr>
          <p:cNvPr id="931" name="X title"/>
          <p:cNvSpPr/>
          <p:nvPr/>
        </p:nvSpPr>
        <p:spPr>
          <a:xfrm>
            <a:off x="3275000" y="4560000"/>
            <a:ext cx="1800000" cy="230000"/>
          </a:xfrm>
          <a:prstGeom prst="rect">
            <a:avLst/>
          </a:prstGeom>
          <a:noFill/>
          <a:ln w="0">
            <a:noFill/>
          </a:ln>
        </p:spPr>
        <p:txBody>
          <a:bodyPr wrap="square" lIns="0" tIns="0" rIns="0" bIns="0" anchor="ctr">
            <a:noAutofit/>
          </a:bodyPr>
          <a:lstStyle/>
          <a:p>
            <a:pPr algn="ctr">
              <a:lnSpc>
                <a:spcPct val="100000"/>
              </a:lnSpc>
              <a:spcBef>
                <a:spcPts val="0"/>
              </a:spcBef>
              <a:spcAft>
                <a:spcPts val="0"/>
              </a:spcAft>
              <a:buNone/>
            </a:pPr>
            <a:r>
              <a:rPr lang="en-US" sz="1000" b="0" i="0" dirty="0">
                <a:solidFill>
                  <a:srgbClr val="474651"/>
                </a:solidFill>
                <a:latin typeface="Hanken Grotesk"/>
                <a:ea typeface="Hanken Grotesk"/>
              </a:rPr>
              <a:t>study hours</a:t>
            </a:r>
          </a:p>
        </p:txBody>
      </p:sp>
      <p:sp>
        <p:nvSpPr>
          <p:cNvPr id="932" name="Marker 1"/>
          <p:cNvSpPr/>
          <p:nvPr/>
        </p:nvSpPr>
        <p:spPr>
          <a:xfrm>
            <a:off x="1950000" y="1500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1</a:t>
            </a:r>
          </a:p>
        </p:txBody>
      </p:sp>
      <p:sp>
        <p:nvSpPr>
          <p:cNvPr id="933" name="Marker 2"/>
          <p:cNvSpPr/>
          <p:nvPr/>
        </p:nvSpPr>
        <p:spPr>
          <a:xfrm>
            <a:off x="4735000" y="4545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2</a:t>
            </a:r>
          </a:p>
        </p:txBody>
      </p:sp>
      <p:sp>
        <p:nvSpPr>
          <p:cNvPr id="934" name="Marker 3"/>
          <p:cNvSpPr/>
          <p:nvPr/>
        </p:nvSpPr>
        <p:spPr>
          <a:xfrm>
            <a:off x="3330000" y="3476667"/>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3</a:t>
            </a:r>
          </a:p>
        </p:txBody>
      </p:sp>
      <p:sp>
        <p:nvSpPr>
          <p:cNvPr id="935" name="Marker 4"/>
          <p:cNvSpPr/>
          <p:nvPr/>
        </p:nvSpPr>
        <p:spPr>
          <a:xfrm>
            <a:off x="2000000" y="2050000"/>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4</a:t>
            </a:r>
          </a:p>
        </p:txBody>
      </p:sp>
      <p:sp>
        <p:nvSpPr>
          <p:cNvPr id="936" name="Pattern note"/>
          <p:cNvSpPr/>
          <p:nvPr/>
        </p:nvSpPr>
        <p:spPr>
          <a:xfrm>
            <a:off x="2330000" y="2070000"/>
            <a:ext cx="2000000" cy="2300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000" b="0" i="1" dirty="0">
                <a:solidFill>
                  <a:srgbClr val="5755A7"/>
                </a:solidFill>
                <a:latin typeface="Hanken Grotesk"/>
                <a:ea typeface="Hanken Grotesk"/>
              </a:rPr>
              <a:t>dots rise left → right</a:t>
            </a:r>
          </a:p>
        </p:txBody>
      </p:sp>
      <p:sp>
        <p:nvSpPr>
          <p:cNvPr id="937" name="Marker 5"/>
          <p:cNvSpPr/>
          <p:nvPr/>
        </p:nvSpPr>
        <p:spPr>
          <a:xfrm>
            <a:off x="6610000" y="2173333"/>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5</a:t>
            </a:r>
          </a:p>
        </p:txBody>
      </p:sp>
      <p:sp>
        <p:nvSpPr>
          <p:cNvPr id="938" name="Components card"/>
          <p:cNvSpPr/>
          <p:nvPr/>
        </p:nvSpPr>
        <p:spPr>
          <a:xfrm>
            <a:off x="7589520" y="1463040"/>
            <a:ext cx="4068720" cy="3565800"/>
          </a:xfrm>
          <a:prstGeom prst="roundRect">
            <a:avLst>
              <a:gd name="adj" fmla="val 2500"/>
            </a:avLst>
          </a:prstGeom>
          <a:solidFill>
            <a:srgbClr val="FFFFFF"/>
          </a:solidFill>
          <a:ln w="12700">
            <a:solidFill>
              <a:srgbClr val="C8C5D3"/>
            </a:solidFill>
            <a:round/>
          </a:ln>
        </p:spPr>
      </p:sp>
      <p:sp>
        <p:nvSpPr>
          <p:cNvPr id="939" name="Components title"/>
          <p:cNvSpPr/>
          <p:nvPr/>
        </p:nvSpPr>
        <p:spPr>
          <a:xfrm>
            <a:off x="7772400" y="1573040"/>
            <a:ext cx="3700000" cy="3300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500" b="1" i="0" dirty="0">
                <a:solidFill>
                  <a:srgbClr val="1B1B20"/>
                </a:solidFill>
                <a:latin typeface="Plus Jakarta Sans"/>
                <a:ea typeface="Plus Jakarta Sans"/>
              </a:rPr>
              <a:t>Components</a:t>
            </a:r>
          </a:p>
        </p:txBody>
      </p:sp>
      <p:sp>
        <p:nvSpPr>
          <p:cNvPr id="940" name="Badge 1"/>
          <p:cNvSpPr/>
          <p:nvPr/>
        </p:nvSpPr>
        <p:spPr>
          <a:xfrm>
            <a:off x="7772400" y="19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1</a:t>
            </a:r>
          </a:p>
        </p:txBody>
      </p:sp>
      <p:sp>
        <p:nvSpPr>
          <p:cNvPr id="941" name="Component 1"/>
          <p:cNvSpPr/>
          <p:nvPr/>
        </p:nvSpPr>
        <p:spPr>
          <a:xfrm>
            <a:off x="8179520" y="19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Y-axis</a:t>
            </a:r>
          </a:p>
          <a:p>
            <a:pPr algn="l">
              <a:lnSpc>
                <a:spcPct val="100000"/>
              </a:lnSpc>
              <a:spcBef>
                <a:spcPts val="0"/>
              </a:spcBef>
              <a:spcAft>
                <a:spcPts val="0"/>
              </a:spcAft>
              <a:buNone/>
            </a:pPr>
            <a:r>
              <a:rPr lang="en-US" sz="1100" b="0" i="0" dirty="0">
                <a:solidFill>
                  <a:srgbClr val="474651"/>
                </a:solidFill>
                <a:latin typeface="Hanken Grotesk"/>
                <a:ea typeface="Hanken Grotesk"/>
              </a:rPr>
              <a:t>The outcome you measure (dependent): exam score.</a:t>
            </a:r>
          </a:p>
        </p:txBody>
      </p:sp>
      <p:sp>
        <p:nvSpPr>
          <p:cNvPr id="942" name="Badge 2"/>
          <p:cNvSpPr/>
          <p:nvPr/>
        </p:nvSpPr>
        <p:spPr>
          <a:xfrm>
            <a:off x="7772400" y="25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2</a:t>
            </a:r>
          </a:p>
        </p:txBody>
      </p:sp>
      <p:sp>
        <p:nvSpPr>
          <p:cNvPr id="943" name="Component 2"/>
          <p:cNvSpPr/>
          <p:nvPr/>
        </p:nvSpPr>
        <p:spPr>
          <a:xfrm>
            <a:off x="8179520" y="25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X-axis</a:t>
            </a:r>
          </a:p>
          <a:p>
            <a:pPr algn="l">
              <a:lnSpc>
                <a:spcPct val="100000"/>
              </a:lnSpc>
              <a:spcBef>
                <a:spcPts val="0"/>
              </a:spcBef>
              <a:spcAft>
                <a:spcPts val="0"/>
              </a:spcAft>
              <a:buNone/>
            </a:pPr>
            <a:r>
              <a:rPr lang="en-US" sz="1100" b="0" i="0" dirty="0">
                <a:solidFill>
                  <a:srgbClr val="474651"/>
                </a:solidFill>
                <a:latin typeface="Hanken Grotesk"/>
                <a:ea typeface="Hanken Grotesk"/>
              </a:rPr>
              <a:t>What you change or explain (independent): study hours.</a:t>
            </a:r>
          </a:p>
        </p:txBody>
      </p:sp>
      <p:sp>
        <p:nvSpPr>
          <p:cNvPr id="944" name="Badge 3"/>
          <p:cNvSpPr/>
          <p:nvPr/>
        </p:nvSpPr>
        <p:spPr>
          <a:xfrm>
            <a:off x="7772400" y="31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3</a:t>
            </a:r>
          </a:p>
        </p:txBody>
      </p:sp>
      <p:sp>
        <p:nvSpPr>
          <p:cNvPr id="945" name="Component 3"/>
          <p:cNvSpPr/>
          <p:nvPr/>
        </p:nvSpPr>
        <p:spPr>
          <a:xfrm>
            <a:off x="8179520" y="31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Points</a:t>
            </a:r>
          </a:p>
          <a:p>
            <a:pPr algn="l">
              <a:lnSpc>
                <a:spcPct val="100000"/>
              </a:lnSpc>
              <a:spcBef>
                <a:spcPts val="0"/>
              </a:spcBef>
              <a:spcAft>
                <a:spcPts val="0"/>
              </a:spcAft>
              <a:buNone/>
            </a:pPr>
            <a:r>
              <a:rPr lang="en-US" sz="1100" b="0" i="0" dirty="0">
                <a:solidFill>
                  <a:srgbClr val="474651"/>
                </a:solidFill>
                <a:latin typeface="Hanken Grotesk"/>
                <a:ea typeface="Hanken Grotesk"/>
              </a:rPr>
              <a:t>One observation each: one student’s hours and score.</a:t>
            </a:r>
          </a:p>
        </p:txBody>
      </p:sp>
      <p:sp>
        <p:nvSpPr>
          <p:cNvPr id="946" name="Badge 4"/>
          <p:cNvSpPr/>
          <p:nvPr/>
        </p:nvSpPr>
        <p:spPr>
          <a:xfrm>
            <a:off x="7772400" y="37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4</a:t>
            </a:r>
          </a:p>
        </p:txBody>
      </p:sp>
      <p:sp>
        <p:nvSpPr>
          <p:cNvPr id="947" name="Component 4"/>
          <p:cNvSpPr/>
          <p:nvPr/>
        </p:nvSpPr>
        <p:spPr>
          <a:xfrm>
            <a:off x="8179520" y="37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Pattern</a:t>
            </a:r>
          </a:p>
          <a:p>
            <a:pPr algn="l">
              <a:lnSpc>
                <a:spcPct val="100000"/>
              </a:lnSpc>
              <a:spcBef>
                <a:spcPts val="0"/>
              </a:spcBef>
              <a:spcAft>
                <a:spcPts val="0"/>
              </a:spcAft>
              <a:buNone/>
            </a:pPr>
            <a:r>
              <a:rPr lang="en-US" sz="1100" b="0" i="0" dirty="0">
                <a:solidFill>
                  <a:srgbClr val="474651"/>
                </a:solidFill>
                <a:latin typeface="Hanken Grotesk"/>
                <a:ea typeface="Hanken Grotesk"/>
              </a:rPr>
              <a:t>Rising = positive; falling = negative; no shape = none.</a:t>
            </a:r>
          </a:p>
        </p:txBody>
      </p:sp>
      <p:sp>
        <p:nvSpPr>
          <p:cNvPr id="948" name="Badge 5"/>
          <p:cNvSpPr/>
          <p:nvPr/>
        </p:nvSpPr>
        <p:spPr>
          <a:xfrm>
            <a:off x="7772400" y="43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5</a:t>
            </a:r>
          </a:p>
        </p:txBody>
      </p:sp>
      <p:sp>
        <p:nvSpPr>
          <p:cNvPr id="949" name="Component 5"/>
          <p:cNvSpPr/>
          <p:nvPr/>
        </p:nvSpPr>
        <p:spPr>
          <a:xfrm>
            <a:off x="8179520" y="43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Trend line</a:t>
            </a:r>
          </a:p>
          <a:p>
            <a:pPr algn="l">
              <a:lnSpc>
                <a:spcPct val="100000"/>
              </a:lnSpc>
              <a:spcBef>
                <a:spcPts val="0"/>
              </a:spcBef>
              <a:spcAft>
                <a:spcPts val="0"/>
              </a:spcAft>
              <a:buNone/>
            </a:pPr>
            <a:r>
              <a:rPr lang="en-US" sz="1100" b="0" i="0" dirty="0">
                <a:solidFill>
                  <a:srgbClr val="474651"/>
                </a:solidFill>
                <a:latin typeface="Hanken Grotesk"/>
                <a:ea typeface="Hanken Grotesk"/>
              </a:rPr>
              <a:t>Dashed line summarising the pattern. Dots hugging it = strong.</a:t>
            </a:r>
          </a:p>
        </p:txBody>
      </p:sp>
      <p:sp>
        <p:nvSpPr>
          <p:cNvPr id="950" name="Callout"/>
          <p:cNvSpPr/>
          <p:nvPr/>
        </p:nvSpPr>
        <p:spPr>
          <a:xfrm>
            <a:off x="548640" y="5257800"/>
            <a:ext cx="11109600" cy="822600"/>
          </a:xfrm>
          <a:prstGeom prst="roundRect">
            <a:avLst>
              <a:gd name="adj" fmla="val 11111"/>
            </a:avLst>
          </a:prstGeom>
          <a:solidFill>
            <a:srgbClr val="BBEDDC"/>
          </a:solidFill>
          <a:ln w="12700">
            <a:solidFill>
              <a:srgbClr val="BBEDDC"/>
            </a:solidFill>
            <a:round/>
          </a:ln>
        </p:spPr>
      </p:sp>
      <p:sp>
        <p:nvSpPr>
          <p:cNvPr id="951" name="Callout text"/>
          <p:cNvSpPr/>
          <p:nvPr/>
        </p:nvSpPr>
        <p:spPr>
          <a:xfrm>
            <a:off x="777240" y="5257800"/>
            <a:ext cx="10652400" cy="8226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300" b="1" i="0" dirty="0">
                <a:solidFill>
                  <a:srgbClr val="002019"/>
                </a:solidFill>
                <a:latin typeface="Hanken Grotesk"/>
                <a:ea typeface="Hanken Grotesk"/>
              </a:rPr>
              <a:t>How to read it: </a:t>
            </a:r>
            <a:r>
              <a:rPr lang="en-US" sz="1300" b="0" i="0" dirty="0">
                <a:solidFill>
                  <a:srgbClr val="002019"/>
                </a:solidFill>
                <a:latin typeface="Hanken Grotesk"/>
                <a:ea typeface="Hanken Grotesk"/>
              </a:rPr>
              <a:t>Pick any dot, read across for its x value and up for its y value. Then look at the whole cloud: it rises from left to right and hugs the line, so more study hours go with higher scores, a fairly strong positive relationship. A relationship alone does not prove that one causes the other.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6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6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61</a:t>
            </a:r>
            <a:endParaRPr lang="en-US" sz="900" b="0" u="none" strike="noStrike">
              <a:solidFill>
                <a:srgbClr val="000000"/>
              </a:solidFill>
              <a:effectLst/>
              <a:uFillTx/>
              <a:latin typeface="Arial"/>
            </a:endParaRPr>
          </a:p>
        </p:txBody>
      </p:sp>
      <p:pic>
        <p:nvPicPr>
          <p:cNvPr id="764" name="Image 0" descr="/home/claude/assets/logo_crop.png"/>
          <p:cNvPicPr/>
          <p:nvPr/>
        </p:nvPicPr>
        <p:blipFill>
          <a:blip r:embed="rId3"/>
          <a:stretch/>
        </p:blipFill>
        <p:spPr>
          <a:xfrm>
            <a:off x="11201400" y="384120"/>
            <a:ext cx="456840" cy="511560"/>
          </a:xfrm>
          <a:prstGeom prst="rect">
            <a:avLst/>
          </a:prstGeom>
          <a:noFill/>
          <a:ln w="0">
            <a:noFill/>
          </a:ln>
        </p:spPr>
      </p:pic>
      <p:sp>
        <p:nvSpPr>
          <p:cNvPr id="76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Heatmap: What It’s For</a:t>
            </a:r>
            <a:endParaRPr lang="en-US" sz="2600" b="0" u="none" strike="noStrike">
              <a:solidFill>
                <a:srgbClr val="000000"/>
              </a:solidFill>
              <a:effectLst/>
              <a:uFillTx/>
              <a:latin typeface="Arial"/>
            </a:endParaRPr>
          </a:p>
        </p:txBody>
      </p:sp>
      <p:sp>
        <p:nvSpPr>
          <p:cNvPr id="901" name="Header card"/>
          <p:cNvSpPr/>
          <p:nvPr/>
        </p:nvSpPr>
        <p:spPr>
          <a:xfrm>
            <a:off x="548640" y="1463040"/>
            <a:ext cx="11109600" cy="1463040"/>
          </a:xfrm>
          <a:prstGeom prst="roundRect">
            <a:avLst>
              <a:gd name="adj" fmla="val 4000"/>
            </a:avLst>
          </a:prstGeom>
          <a:solidFill>
            <a:srgbClr val="FFFFFF"/>
          </a:solidFill>
          <a:ln w="12700">
            <a:solidFill>
              <a:srgbClr val="C8C5D3"/>
            </a:solidFill>
            <a:round/>
          </a:ln>
        </p:spPr>
      </p:sp>
      <p:sp>
        <p:nvSpPr>
          <p:cNvPr id="902" name="Chart pill"/>
          <p:cNvSpPr/>
          <p:nvPr/>
        </p:nvSpPr>
        <p:spPr>
          <a:xfrm>
            <a:off x="777240" y="1645920"/>
            <a:ext cx="3566160" cy="456840"/>
          </a:xfrm>
          <a:prstGeom prst="roundRect">
            <a:avLst>
              <a:gd name="adj" fmla="val 50000"/>
            </a:avLst>
          </a:prstGeom>
          <a:solidFill>
            <a:srgbClr val="8C8AE0"/>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FFFFFF"/>
                </a:solidFill>
                <a:latin typeface="Plus Jakarta Sans"/>
                <a:ea typeface="Plus Jakarta Sans"/>
              </a:rPr>
              <a:t>Heatmap</a:t>
            </a:r>
          </a:p>
        </p:txBody>
      </p:sp>
      <p:sp>
        <p:nvSpPr>
          <p:cNvPr id="903" name="Data chip"/>
          <p:cNvSpPr/>
          <p:nvPr/>
        </p:nvSpPr>
        <p:spPr>
          <a:xfrm>
            <a:off x="777240" y="2240280"/>
            <a:ext cx="3566160" cy="365400"/>
          </a:xfrm>
          <a:prstGeom prst="roundRect">
            <a:avLst>
              <a:gd name="adj" fmla="val 50000"/>
            </a:avLst>
          </a:prstGeom>
          <a:solidFill>
            <a:srgbClr val="D2D0FA"/>
          </a:solidFill>
          <a:ln w="12700">
            <a:solidFill>
              <a:srgbClr val="D2D0FA"/>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231F71"/>
                </a:solidFill>
                <a:latin typeface="Plus Jakarta Sans"/>
                <a:ea typeface="Plus Jakarta Sans"/>
              </a:rPr>
              <a:t>Data: a grid of numbers</a:t>
            </a:r>
          </a:p>
        </p:txBody>
      </p:sp>
      <p:sp>
        <p:nvSpPr>
          <p:cNvPr id="904" name="For label"/>
          <p:cNvSpPr/>
          <p:nvPr/>
        </p:nvSpPr>
        <p:spPr>
          <a:xfrm>
            <a:off x="4709160" y="1600200"/>
            <a:ext cx="6700000" cy="26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5755A7"/>
                </a:solidFill>
                <a:latin typeface="Plus Jakarta Sans"/>
                <a:ea typeface="Plus Jakarta Sans"/>
              </a:rPr>
              <a:t>WHAT IT'S FOR</a:t>
            </a:r>
          </a:p>
        </p:txBody>
      </p:sp>
      <p:sp>
        <p:nvSpPr>
          <p:cNvPr id="905" name="Definition"/>
          <p:cNvSpPr/>
          <p:nvPr/>
        </p:nvSpPr>
        <p:spPr>
          <a:xfrm>
            <a:off x="4709160" y="1920240"/>
            <a:ext cx="6700000" cy="90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500" b="0" i="0" dirty="0">
                <a:solidFill>
                  <a:srgbClr val="1B1B20"/>
                </a:solidFill>
                <a:latin typeface="Hanken Grotesk"/>
                <a:ea typeface="Hanken Grotesk"/>
              </a:rPr>
              <a:t>Turns a grid of numbers into colours, so patterns jump out. Most often used as a correlation matrix, showing how strongly every pair of variables is related.</a:t>
            </a:r>
          </a:p>
        </p:txBody>
      </p:sp>
      <p:sp>
        <p:nvSpPr>
          <p:cNvPr id="906" name="Use it when card"/>
          <p:cNvSpPr/>
          <p:nvPr/>
        </p:nvSpPr>
        <p:spPr>
          <a:xfrm>
            <a:off x="548640" y="3108960"/>
            <a:ext cx="5440680" cy="2926080"/>
          </a:xfrm>
          <a:prstGeom prst="roundRect">
            <a:avLst>
              <a:gd name="adj" fmla="val 3500"/>
            </a:avLst>
          </a:prstGeom>
          <a:solidFill>
            <a:srgbClr val="F2FCFB"/>
          </a:solidFill>
          <a:ln w="19050">
            <a:solidFill>
              <a:srgbClr val="A6EDE4"/>
            </a:solidFill>
            <a:round/>
          </a:ln>
        </p:spPr>
      </p:sp>
      <p:sp>
        <p:nvSpPr>
          <p:cNvPr id="907" name="Use it when badge"/>
          <p:cNvSpPr/>
          <p:nvPr/>
        </p:nvSpPr>
        <p:spPr>
          <a:xfrm>
            <a:off x="731520" y="3291840"/>
            <a:ext cx="365760" cy="365760"/>
          </a:xfrm>
          <a:prstGeom prst="ellipse">
            <a:avLst/>
          </a:prstGeom>
          <a:solidFill>
            <a:srgbClr val="2DD4BF"/>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002019"/>
                </a:solidFill>
                <a:latin typeface="Plus Jakarta Sans"/>
                <a:ea typeface="Plus Jakarta Sans"/>
              </a:rPr>
              <a:t>✓</a:t>
            </a:r>
          </a:p>
        </p:txBody>
      </p:sp>
      <p:sp>
        <p:nvSpPr>
          <p:cNvPr id="908" name="Use it when title"/>
          <p:cNvSpPr/>
          <p:nvPr/>
        </p:nvSpPr>
        <p:spPr>
          <a:xfrm>
            <a:off x="1188720" y="3291840"/>
            <a:ext cx="4400000" cy="36576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600" b="1" i="0" dirty="0">
                <a:solidFill>
                  <a:srgbClr val="1B1B20"/>
                </a:solidFill>
                <a:latin typeface="Plus Jakarta Sans"/>
                <a:ea typeface="Plus Jakarta Sans"/>
              </a:rPr>
              <a:t>Use it when</a:t>
            </a:r>
          </a:p>
        </p:txBody>
      </p:sp>
      <p:sp>
        <p:nvSpPr>
          <p:cNvPr id="909" name="Use it when bullets"/>
          <p:cNvSpPr/>
          <p:nvPr/>
        </p:nvSpPr>
        <p:spPr>
          <a:xfrm>
            <a:off x="731520" y="3848960"/>
            <a:ext cx="5074920" cy="2100000"/>
          </a:xfrm>
          <a:prstGeom prst="rect">
            <a:avLst/>
          </a:prstGeom>
          <a:noFill/>
          <a:ln w="0">
            <a:noFill/>
          </a:ln>
        </p:spPr>
        <p:txBody>
          <a:bodyPr wrap="square" lIns="0" tIns="0" rIns="0" bIns="0" anchor="t">
            <a:noAutofit/>
          </a:bodyPr>
          <a:lstStyle/>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Scanning relationships between many numerical variables at once, as a correlation matrix</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Any full grid of values, such as counts by weekday and hour, or a confusion matrix</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Finding which pairs deserve a closer look with a scatter plot</a:t>
            </a:r>
          </a:p>
        </p:txBody>
      </p:sp>
      <p:sp>
        <p:nvSpPr>
          <p:cNvPr id="910" name="Avoid it when card"/>
          <p:cNvSpPr/>
          <p:nvPr/>
        </p:nvSpPr>
        <p:spPr>
          <a:xfrm>
            <a:off x="6217920" y="3108960"/>
            <a:ext cx="5440680" cy="2926080"/>
          </a:xfrm>
          <a:prstGeom prst="roundRect">
            <a:avLst>
              <a:gd name="adj" fmla="val 3500"/>
            </a:avLst>
          </a:prstGeom>
          <a:solidFill>
            <a:srgbClr val="FFF5F7"/>
          </a:solidFill>
          <a:ln w="19050">
            <a:solidFill>
              <a:srgbClr val="FBBAC5"/>
            </a:solidFill>
            <a:round/>
          </a:ln>
        </p:spPr>
      </p:sp>
      <p:sp>
        <p:nvSpPr>
          <p:cNvPr id="911" name="Avoid it when badge"/>
          <p:cNvSpPr/>
          <p:nvPr/>
        </p:nvSpPr>
        <p:spPr>
          <a:xfrm>
            <a:off x="6400800" y="3291840"/>
            <a:ext cx="365760" cy="365760"/>
          </a:xfrm>
          <a:prstGeom prst="ellipse">
            <a:avLst/>
          </a:prstGeom>
          <a:solidFill>
            <a:srgbClr val="F43F5E"/>
          </a:solidFill>
          <a:ln w="0">
            <a:noFill/>
          </a:ln>
        </p:spPr>
        <p:txBody>
          <a:bodyPr wrap="square" lIns="0" tIns="0" rIns="0" bIns="0" anchor="ctr">
            <a:noAutofit/>
          </a:bodyPr>
          <a:lstStyle/>
          <a:p>
            <a:pPr algn="ctr">
              <a:lnSpc>
                <a:spcPct val="100000"/>
              </a:lnSpc>
              <a:spcBef>
                <a:spcPts val="0"/>
              </a:spcBef>
              <a:spcAft>
                <a:spcPts val="0"/>
              </a:spcAft>
              <a:buNone/>
            </a:pPr>
            <a:r>
              <a:rPr lang="en-US" sz="1400" b="1" i="0" dirty="0">
                <a:solidFill>
                  <a:srgbClr val="FFFFFF"/>
                </a:solidFill>
                <a:latin typeface="Plus Jakarta Sans"/>
                <a:ea typeface="Plus Jakarta Sans"/>
              </a:rPr>
              <a:t>✕</a:t>
            </a:r>
          </a:p>
        </p:txBody>
      </p:sp>
      <p:sp>
        <p:nvSpPr>
          <p:cNvPr id="912" name="Avoid it when title"/>
          <p:cNvSpPr/>
          <p:nvPr/>
        </p:nvSpPr>
        <p:spPr>
          <a:xfrm>
            <a:off x="6858000" y="3291840"/>
            <a:ext cx="4400000" cy="36576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600" b="1" i="0" dirty="0">
                <a:solidFill>
                  <a:srgbClr val="1B1B20"/>
                </a:solidFill>
                <a:latin typeface="Plus Jakarta Sans"/>
                <a:ea typeface="Plus Jakarta Sans"/>
              </a:rPr>
              <a:t>Avoid it when</a:t>
            </a:r>
          </a:p>
        </p:txBody>
      </p:sp>
      <p:sp>
        <p:nvSpPr>
          <p:cNvPr id="913" name="Avoid it when bullets"/>
          <p:cNvSpPr/>
          <p:nvPr/>
        </p:nvSpPr>
        <p:spPr>
          <a:xfrm>
            <a:off x="6400800" y="3848960"/>
            <a:ext cx="5074920" cy="2100000"/>
          </a:xfrm>
          <a:prstGeom prst="rect">
            <a:avLst/>
          </a:prstGeom>
          <a:noFill/>
          <a:ln w="0">
            <a:noFill/>
          </a:ln>
        </p:spPr>
        <p:txBody>
          <a:bodyPr wrap="square" lIns="0" tIns="0" rIns="0" bIns="0" anchor="t">
            <a:noAutofit/>
          </a:bodyPr>
          <a:lstStyle/>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You only have two or three variables: a scatter plot is far more precise</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Exact values matter: colour is hard to read precisely, so print the numbers or use a table</a:t>
            </a:r>
          </a:p>
          <a:p>
            <a:pPr algn="l" marL="285750" indent="-285750">
              <a:lnSpc>
                <a:spcPct val="100000"/>
              </a:lnSpc>
              <a:spcBef>
                <a:spcPts val="0"/>
              </a:spcBef>
              <a:spcAft>
                <a:spcPts val="1000"/>
              </a:spcAft>
              <a:buClr>
                <a:srgbClr val="5755A7"/>
              </a:buClr>
              <a:buFont typeface="Arial"/>
              <a:buChar char="•"/>
            </a:pPr>
            <a:r>
              <a:rPr lang="en-US" sz="1500" b="0" i="0" dirty="0">
                <a:solidFill>
                  <a:srgbClr val="1B1B20"/>
                </a:solidFill>
                <a:latin typeface="Hanken Grotesk"/>
                <a:ea typeface="Hanken Grotesk"/>
              </a:rPr>
              <a:t>The colour scale is confusing (rainbow palettes, no legend): readers will misjudge the values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762"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63"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62</a:t>
            </a:r>
            <a:endParaRPr lang="en-US" sz="900" b="0" u="none" strike="noStrike">
              <a:solidFill>
                <a:srgbClr val="000000"/>
              </a:solidFill>
              <a:effectLst/>
              <a:uFillTx/>
              <a:latin typeface="Arial"/>
            </a:endParaRPr>
          </a:p>
        </p:txBody>
      </p:sp>
      <p:pic>
        <p:nvPicPr>
          <p:cNvPr id="764" name="Image 0" descr="/home/claude/assets/logo_crop.png"/>
          <p:cNvPicPr/>
          <p:nvPr/>
        </p:nvPicPr>
        <p:blipFill>
          <a:blip r:embed="rId2"/>
          <a:stretch/>
        </p:blipFill>
        <p:spPr>
          <a:xfrm>
            <a:off x="11201400" y="384120"/>
            <a:ext cx="456840" cy="511560"/>
          </a:xfrm>
          <a:prstGeom prst="rect">
            <a:avLst/>
          </a:prstGeom>
          <a:noFill/>
          <a:ln w="0">
            <a:noFill/>
          </a:ln>
        </p:spPr>
      </p:pic>
      <p:sp>
        <p:nvSpPr>
          <p:cNvPr id="765"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Heatmap: Anatomy &amp; How to Read It</a:t>
            </a:r>
            <a:endParaRPr lang="en-US" sz="2600" b="0" u="none" strike="noStrike">
              <a:solidFill>
                <a:srgbClr val="000000"/>
              </a:solidFill>
              <a:effectLst/>
              <a:uFillTx/>
              <a:latin typeface="Arial"/>
            </a:endParaRPr>
          </a:p>
        </p:txBody>
      </p:sp>
      <p:sp>
        <p:nvSpPr>
          <p:cNvPr id="901" name="Chart card"/>
          <p:cNvSpPr/>
          <p:nvPr/>
        </p:nvSpPr>
        <p:spPr>
          <a:xfrm>
            <a:off x="548640" y="1463040"/>
            <a:ext cx="6858000" cy="3565800"/>
          </a:xfrm>
          <a:prstGeom prst="roundRect">
            <a:avLst>
              <a:gd name="adj" fmla="val 2500"/>
            </a:avLst>
          </a:prstGeom>
          <a:solidFill>
            <a:srgbClr val="FFFFFF"/>
          </a:solidFill>
          <a:ln w="12700">
            <a:solidFill>
              <a:srgbClr val="C8C5D3"/>
            </a:solidFill>
            <a:round/>
          </a:ln>
        </p:spPr>
      </p:sp>
      <p:sp>
        <p:nvSpPr>
          <p:cNvPr id="973" name="Text 3"/>
          <p:cNvSpPr/>
          <p:nvPr/>
        </p:nvSpPr>
        <p:spPr>
          <a:xfrm>
            <a:off x="2303120" y="1590000"/>
            <a:ext cx="1234080" cy="3142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Age</a:t>
            </a:r>
            <a:endParaRPr lang="en-US" sz="1400" b="0" u="none" strike="noStrike">
              <a:solidFill>
                <a:srgbClr val="000000"/>
              </a:solidFill>
              <a:effectLst/>
              <a:uFillTx/>
              <a:latin typeface="Arial"/>
            </a:endParaRPr>
          </a:p>
        </p:txBody>
      </p:sp>
      <p:sp>
        <p:nvSpPr>
          <p:cNvPr id="974" name="Text 4"/>
          <p:cNvSpPr/>
          <p:nvPr/>
        </p:nvSpPr>
        <p:spPr>
          <a:xfrm>
            <a:off x="748640" y="1983192"/>
            <a:ext cx="14626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1B1B20"/>
                </a:solidFill>
                <a:effectLst/>
                <a:uFillTx/>
                <a:latin typeface="Bricolage Grotesque"/>
                <a:ea typeface="Bricolage Grotesque"/>
              </a:rPr>
              <a:t>Age</a:t>
            </a:r>
            <a:endParaRPr lang="en-US" sz="1400" b="0" u="none" strike="noStrike">
              <a:solidFill>
                <a:srgbClr val="000000"/>
              </a:solidFill>
              <a:effectLst/>
              <a:uFillTx/>
              <a:latin typeface="Arial"/>
            </a:endParaRPr>
          </a:p>
        </p:txBody>
      </p:sp>
      <p:sp>
        <p:nvSpPr>
          <p:cNvPr id="975" name="Text 5"/>
          <p:cNvSpPr/>
          <p:nvPr/>
        </p:nvSpPr>
        <p:spPr>
          <a:xfrm>
            <a:off x="3537560" y="1590000"/>
            <a:ext cx="1234080" cy="3142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Income</a:t>
            </a:r>
            <a:endParaRPr lang="en-US" sz="1400" b="0" u="none" strike="noStrike">
              <a:solidFill>
                <a:srgbClr val="000000"/>
              </a:solidFill>
              <a:effectLst/>
              <a:uFillTx/>
              <a:latin typeface="Arial"/>
            </a:endParaRPr>
          </a:p>
        </p:txBody>
      </p:sp>
      <p:sp>
        <p:nvSpPr>
          <p:cNvPr id="976" name="Text 6"/>
          <p:cNvSpPr/>
          <p:nvPr/>
        </p:nvSpPr>
        <p:spPr>
          <a:xfrm>
            <a:off x="748640" y="2690937"/>
            <a:ext cx="14626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1B1B20"/>
                </a:solidFill>
                <a:effectLst/>
                <a:uFillTx/>
                <a:latin typeface="Bricolage Grotesque"/>
                <a:ea typeface="Bricolage Grotesque"/>
              </a:rPr>
              <a:t>Income</a:t>
            </a:r>
            <a:endParaRPr lang="en-US" sz="1400" b="0" u="none" strike="noStrike">
              <a:solidFill>
                <a:srgbClr val="000000"/>
              </a:solidFill>
              <a:effectLst/>
              <a:uFillTx/>
              <a:latin typeface="Arial"/>
            </a:endParaRPr>
          </a:p>
        </p:txBody>
      </p:sp>
      <p:sp>
        <p:nvSpPr>
          <p:cNvPr id="977" name="Text 7"/>
          <p:cNvSpPr/>
          <p:nvPr/>
        </p:nvSpPr>
        <p:spPr>
          <a:xfrm>
            <a:off x="4772000" y="1590000"/>
            <a:ext cx="1234080" cy="3142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Spend</a:t>
            </a:r>
            <a:endParaRPr lang="en-US" sz="1400" b="0" u="none" strike="noStrike">
              <a:solidFill>
                <a:srgbClr val="000000"/>
              </a:solidFill>
              <a:effectLst/>
              <a:uFillTx/>
              <a:latin typeface="Arial"/>
            </a:endParaRPr>
          </a:p>
        </p:txBody>
      </p:sp>
      <p:sp>
        <p:nvSpPr>
          <p:cNvPr id="978" name="Text 8"/>
          <p:cNvSpPr/>
          <p:nvPr/>
        </p:nvSpPr>
        <p:spPr>
          <a:xfrm>
            <a:off x="748640" y="3398683"/>
            <a:ext cx="14626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1B1B20"/>
                </a:solidFill>
                <a:effectLst/>
                <a:uFillTx/>
                <a:latin typeface="Bricolage Grotesque"/>
                <a:ea typeface="Bricolage Grotesque"/>
              </a:rPr>
              <a:t>Spend</a:t>
            </a:r>
            <a:endParaRPr lang="en-US" sz="1400" b="0" u="none" strike="noStrike">
              <a:solidFill>
                <a:srgbClr val="000000"/>
              </a:solidFill>
              <a:effectLst/>
              <a:uFillTx/>
              <a:latin typeface="Arial"/>
            </a:endParaRPr>
          </a:p>
        </p:txBody>
      </p:sp>
      <p:sp>
        <p:nvSpPr>
          <p:cNvPr id="979" name="Text 9"/>
          <p:cNvSpPr/>
          <p:nvPr/>
        </p:nvSpPr>
        <p:spPr>
          <a:xfrm>
            <a:off x="6006440" y="1590000"/>
            <a:ext cx="1234080" cy="3142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1B1B20"/>
                </a:solidFill>
                <a:effectLst/>
                <a:uFillTx/>
                <a:latin typeface="Bricolage Grotesque"/>
                <a:ea typeface="Bricolage Grotesque"/>
              </a:rPr>
              <a:t>Rating</a:t>
            </a:r>
            <a:endParaRPr lang="en-US" sz="1400" b="0" u="none" strike="noStrike">
              <a:solidFill>
                <a:srgbClr val="000000"/>
              </a:solidFill>
              <a:effectLst/>
              <a:uFillTx/>
              <a:latin typeface="Arial"/>
            </a:endParaRPr>
          </a:p>
        </p:txBody>
      </p:sp>
      <p:sp>
        <p:nvSpPr>
          <p:cNvPr id="980" name="Text 10"/>
          <p:cNvSpPr/>
          <p:nvPr/>
        </p:nvSpPr>
        <p:spPr>
          <a:xfrm>
            <a:off x="748640" y="4106428"/>
            <a:ext cx="14626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1B1B20"/>
                </a:solidFill>
                <a:effectLst/>
                <a:uFillTx/>
                <a:latin typeface="Bricolage Grotesque"/>
                <a:ea typeface="Bricolage Grotesque"/>
              </a:rPr>
              <a:t>Rating</a:t>
            </a:r>
            <a:endParaRPr lang="en-US" sz="1400" b="0" u="none" strike="noStrike">
              <a:solidFill>
                <a:srgbClr val="000000"/>
              </a:solidFill>
              <a:effectLst/>
              <a:uFillTx/>
              <a:latin typeface="Arial"/>
            </a:endParaRPr>
          </a:p>
        </p:txBody>
      </p:sp>
      <p:sp>
        <p:nvSpPr>
          <p:cNvPr id="981" name="Shape 11"/>
          <p:cNvSpPr/>
          <p:nvPr/>
        </p:nvSpPr>
        <p:spPr>
          <a:xfrm>
            <a:off x="2330480" y="2006721"/>
            <a:ext cx="1179360" cy="660376"/>
          </a:xfrm>
          <a:prstGeom prst="rect">
            <a:avLst/>
          </a:prstGeom>
          <a:solidFill>
            <a:srgbClr val="5755A7"/>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82" name="Text 12"/>
          <p:cNvSpPr/>
          <p:nvPr/>
        </p:nvSpPr>
        <p:spPr>
          <a:xfrm>
            <a:off x="2303120" y="1983192"/>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Plus Jakarta Sans"/>
                <a:ea typeface="Plus Jakarta Sans"/>
              </a:rPr>
              <a:t>1.00</a:t>
            </a:r>
            <a:endParaRPr lang="en-US" sz="1500" b="0" u="none" strike="noStrike">
              <a:solidFill>
                <a:srgbClr val="000000"/>
              </a:solidFill>
              <a:effectLst/>
              <a:uFillTx/>
              <a:latin typeface="Arial"/>
            </a:endParaRPr>
          </a:p>
        </p:txBody>
      </p:sp>
      <p:sp>
        <p:nvSpPr>
          <p:cNvPr id="983" name="Shape 13"/>
          <p:cNvSpPr/>
          <p:nvPr/>
        </p:nvSpPr>
        <p:spPr>
          <a:xfrm>
            <a:off x="3564920" y="2006721"/>
            <a:ext cx="1179360" cy="660376"/>
          </a:xfrm>
          <a:prstGeom prst="rect">
            <a:avLst/>
          </a:prstGeom>
          <a:solidFill>
            <a:srgbClr val="5CDECD"/>
          </a:solidFill>
          <a:ln w="12700">
            <a:solidFill>
              <a:srgbClr val="5CDEC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84" name="Text 14"/>
          <p:cNvSpPr/>
          <p:nvPr/>
        </p:nvSpPr>
        <p:spPr>
          <a:xfrm>
            <a:off x="3537560" y="1983192"/>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0.62</a:t>
            </a:r>
            <a:endParaRPr lang="en-US" sz="1500" b="0" u="none" strike="noStrike">
              <a:solidFill>
                <a:srgbClr val="000000"/>
              </a:solidFill>
              <a:effectLst/>
              <a:uFillTx/>
              <a:latin typeface="Arial"/>
            </a:endParaRPr>
          </a:p>
        </p:txBody>
      </p:sp>
      <p:sp>
        <p:nvSpPr>
          <p:cNvPr id="985" name="Shape 15"/>
          <p:cNvSpPr/>
          <p:nvPr/>
        </p:nvSpPr>
        <p:spPr>
          <a:xfrm>
            <a:off x="4799360" y="2006721"/>
            <a:ext cx="1179360" cy="660376"/>
          </a:xfrm>
          <a:prstGeom prst="rect">
            <a:avLst/>
          </a:prstGeom>
          <a:solidFill>
            <a:srgbClr val="FBBAC5"/>
          </a:solidFill>
          <a:ln w="12700">
            <a:solidFill>
              <a:srgbClr val="FBBAC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86" name="Text 16"/>
          <p:cNvSpPr/>
          <p:nvPr/>
        </p:nvSpPr>
        <p:spPr>
          <a:xfrm>
            <a:off x="4772000" y="1983192"/>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-0.18</a:t>
            </a:r>
            <a:endParaRPr lang="en-US" sz="1500" b="0" u="none" strike="noStrike">
              <a:solidFill>
                <a:srgbClr val="000000"/>
              </a:solidFill>
              <a:effectLst/>
              <a:uFillTx/>
              <a:latin typeface="Arial"/>
            </a:endParaRPr>
          </a:p>
        </p:txBody>
      </p:sp>
      <p:sp>
        <p:nvSpPr>
          <p:cNvPr id="987" name="Shape 17"/>
          <p:cNvSpPr/>
          <p:nvPr/>
        </p:nvSpPr>
        <p:spPr>
          <a:xfrm>
            <a:off x="6033800" y="2006721"/>
            <a:ext cx="1179360" cy="660376"/>
          </a:xfrm>
          <a:prstGeom prst="rect">
            <a:avLst/>
          </a:prstGeom>
          <a:solidFill>
            <a:srgbClr val="F2FCFB"/>
          </a:solidFill>
          <a:ln w="12700">
            <a:solidFill>
              <a:srgbClr val="F2FCF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88" name="Text 18"/>
          <p:cNvSpPr/>
          <p:nvPr/>
        </p:nvSpPr>
        <p:spPr>
          <a:xfrm>
            <a:off x="6006440" y="1983192"/>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0.05</a:t>
            </a:r>
            <a:endParaRPr lang="en-US" sz="1500" b="0" u="none" strike="noStrike">
              <a:solidFill>
                <a:srgbClr val="000000"/>
              </a:solidFill>
              <a:effectLst/>
              <a:uFillTx/>
              <a:latin typeface="Arial"/>
            </a:endParaRPr>
          </a:p>
        </p:txBody>
      </p:sp>
      <p:sp>
        <p:nvSpPr>
          <p:cNvPr id="989" name="Shape 19"/>
          <p:cNvSpPr/>
          <p:nvPr/>
        </p:nvSpPr>
        <p:spPr>
          <a:xfrm>
            <a:off x="2330480" y="2714467"/>
            <a:ext cx="1179360" cy="660376"/>
          </a:xfrm>
          <a:prstGeom prst="rect">
            <a:avLst/>
          </a:prstGeom>
          <a:solidFill>
            <a:srgbClr val="5CDECD"/>
          </a:solidFill>
          <a:ln w="12700">
            <a:solidFill>
              <a:srgbClr val="5CDECD"/>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90" name="Text 20"/>
          <p:cNvSpPr/>
          <p:nvPr/>
        </p:nvSpPr>
        <p:spPr>
          <a:xfrm>
            <a:off x="2303120" y="2690937"/>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0.62</a:t>
            </a:r>
            <a:endParaRPr lang="en-US" sz="1500" b="0" u="none" strike="noStrike">
              <a:solidFill>
                <a:srgbClr val="000000"/>
              </a:solidFill>
              <a:effectLst/>
              <a:uFillTx/>
              <a:latin typeface="Arial"/>
            </a:endParaRPr>
          </a:p>
        </p:txBody>
      </p:sp>
      <p:sp>
        <p:nvSpPr>
          <p:cNvPr id="991" name="Shape 21"/>
          <p:cNvSpPr/>
          <p:nvPr/>
        </p:nvSpPr>
        <p:spPr>
          <a:xfrm>
            <a:off x="3564920" y="2714467"/>
            <a:ext cx="1179360" cy="660376"/>
          </a:xfrm>
          <a:prstGeom prst="rect">
            <a:avLst/>
          </a:prstGeom>
          <a:solidFill>
            <a:srgbClr val="5755A7"/>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92" name="Text 22"/>
          <p:cNvSpPr/>
          <p:nvPr/>
        </p:nvSpPr>
        <p:spPr>
          <a:xfrm>
            <a:off x="3537560" y="2690937"/>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Plus Jakarta Sans"/>
                <a:ea typeface="Plus Jakarta Sans"/>
              </a:rPr>
              <a:t>1.00</a:t>
            </a:r>
            <a:endParaRPr lang="en-US" sz="1500" b="0" u="none" strike="noStrike">
              <a:solidFill>
                <a:srgbClr val="000000"/>
              </a:solidFill>
              <a:effectLst/>
              <a:uFillTx/>
              <a:latin typeface="Arial"/>
            </a:endParaRPr>
          </a:p>
        </p:txBody>
      </p:sp>
      <p:sp>
        <p:nvSpPr>
          <p:cNvPr id="993" name="Shape 23"/>
          <p:cNvSpPr/>
          <p:nvPr/>
        </p:nvSpPr>
        <p:spPr>
          <a:xfrm>
            <a:off x="4799360" y="2714467"/>
            <a:ext cx="1179360" cy="660376"/>
          </a:xfrm>
          <a:prstGeom prst="rect">
            <a:avLst/>
          </a:prstGeom>
          <a:solidFill>
            <a:srgbClr val="45D9C6"/>
          </a:solidFill>
          <a:ln w="12700">
            <a:solidFill>
              <a:srgbClr val="45D9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94" name="Text 24"/>
          <p:cNvSpPr/>
          <p:nvPr/>
        </p:nvSpPr>
        <p:spPr>
          <a:xfrm>
            <a:off x="4772000" y="2690937"/>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0.71</a:t>
            </a:r>
            <a:endParaRPr lang="en-US" sz="1500" b="0" u="none" strike="noStrike">
              <a:solidFill>
                <a:srgbClr val="000000"/>
              </a:solidFill>
              <a:effectLst/>
              <a:uFillTx/>
              <a:latin typeface="Arial"/>
            </a:endParaRPr>
          </a:p>
        </p:txBody>
      </p:sp>
      <p:sp>
        <p:nvSpPr>
          <p:cNvPr id="995" name="Shape 25"/>
          <p:cNvSpPr/>
          <p:nvPr/>
        </p:nvSpPr>
        <p:spPr>
          <a:xfrm>
            <a:off x="6033800" y="2714467"/>
            <a:ext cx="1179360" cy="660376"/>
          </a:xfrm>
          <a:prstGeom prst="rect">
            <a:avLst/>
          </a:prstGeom>
          <a:solidFill>
            <a:srgbClr val="FDD9DF"/>
          </a:solidFill>
          <a:ln w="12700">
            <a:solidFill>
              <a:srgbClr val="FDD9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96" name="Text 26"/>
          <p:cNvSpPr/>
          <p:nvPr/>
        </p:nvSpPr>
        <p:spPr>
          <a:xfrm>
            <a:off x="6006440" y="2690937"/>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-0.10</a:t>
            </a:r>
            <a:endParaRPr lang="en-US" sz="1500" b="0" u="none" strike="noStrike">
              <a:solidFill>
                <a:srgbClr val="000000"/>
              </a:solidFill>
              <a:effectLst/>
              <a:uFillTx/>
              <a:latin typeface="Arial"/>
            </a:endParaRPr>
          </a:p>
        </p:txBody>
      </p:sp>
      <p:sp>
        <p:nvSpPr>
          <p:cNvPr id="997" name="Shape 27"/>
          <p:cNvSpPr/>
          <p:nvPr/>
        </p:nvSpPr>
        <p:spPr>
          <a:xfrm>
            <a:off x="2330480" y="3422212"/>
            <a:ext cx="1179360" cy="660376"/>
          </a:xfrm>
          <a:prstGeom prst="rect">
            <a:avLst/>
          </a:prstGeom>
          <a:solidFill>
            <a:srgbClr val="FBBAC5"/>
          </a:solidFill>
          <a:ln w="12700">
            <a:solidFill>
              <a:srgbClr val="FBBAC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98" name="Text 28"/>
          <p:cNvSpPr/>
          <p:nvPr/>
        </p:nvSpPr>
        <p:spPr>
          <a:xfrm>
            <a:off x="2303120" y="3398683"/>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-0.18</a:t>
            </a:r>
            <a:endParaRPr lang="en-US" sz="1500" b="0" u="none" strike="noStrike">
              <a:solidFill>
                <a:srgbClr val="000000"/>
              </a:solidFill>
              <a:effectLst/>
              <a:uFillTx/>
              <a:latin typeface="Arial"/>
            </a:endParaRPr>
          </a:p>
        </p:txBody>
      </p:sp>
      <p:sp>
        <p:nvSpPr>
          <p:cNvPr id="999" name="Shape 29"/>
          <p:cNvSpPr/>
          <p:nvPr/>
        </p:nvSpPr>
        <p:spPr>
          <a:xfrm>
            <a:off x="3564920" y="3422212"/>
            <a:ext cx="1179360" cy="660376"/>
          </a:xfrm>
          <a:prstGeom prst="rect">
            <a:avLst/>
          </a:prstGeom>
          <a:solidFill>
            <a:srgbClr val="45D9C6"/>
          </a:solidFill>
          <a:ln w="12700">
            <a:solidFill>
              <a:srgbClr val="45D9C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0" name="Text 30"/>
          <p:cNvSpPr/>
          <p:nvPr/>
        </p:nvSpPr>
        <p:spPr>
          <a:xfrm>
            <a:off x="3537560" y="3398683"/>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0.71</a:t>
            </a:r>
            <a:endParaRPr lang="en-US" sz="1500" b="0" u="none" strike="noStrike">
              <a:solidFill>
                <a:srgbClr val="000000"/>
              </a:solidFill>
              <a:effectLst/>
              <a:uFillTx/>
              <a:latin typeface="Arial"/>
            </a:endParaRPr>
          </a:p>
        </p:txBody>
      </p:sp>
      <p:sp>
        <p:nvSpPr>
          <p:cNvPr id="1001" name="Shape 31"/>
          <p:cNvSpPr/>
          <p:nvPr/>
        </p:nvSpPr>
        <p:spPr>
          <a:xfrm>
            <a:off x="4799360" y="3422212"/>
            <a:ext cx="1179360" cy="660376"/>
          </a:xfrm>
          <a:prstGeom prst="rect">
            <a:avLst/>
          </a:prstGeom>
          <a:solidFill>
            <a:srgbClr val="5755A7"/>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02" name="Text 32"/>
          <p:cNvSpPr/>
          <p:nvPr/>
        </p:nvSpPr>
        <p:spPr>
          <a:xfrm>
            <a:off x="4772000" y="3398683"/>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Plus Jakarta Sans"/>
                <a:ea typeface="Plus Jakarta Sans"/>
              </a:rPr>
              <a:t>1.00</a:t>
            </a:r>
            <a:endParaRPr lang="en-US" sz="1500" b="0" u="none" strike="noStrike">
              <a:solidFill>
                <a:srgbClr val="000000"/>
              </a:solidFill>
              <a:effectLst/>
              <a:uFillTx/>
              <a:latin typeface="Arial"/>
            </a:endParaRPr>
          </a:p>
        </p:txBody>
      </p:sp>
      <p:sp>
        <p:nvSpPr>
          <p:cNvPr id="1003" name="Shape 33"/>
          <p:cNvSpPr/>
          <p:nvPr/>
        </p:nvSpPr>
        <p:spPr>
          <a:xfrm>
            <a:off x="6033800" y="3422212"/>
            <a:ext cx="1179360" cy="660376"/>
          </a:xfrm>
          <a:prstGeom prst="rect">
            <a:avLst/>
          </a:prstGeom>
          <a:solidFill>
            <a:srgbClr val="A6EDE4"/>
          </a:solidFill>
          <a:ln w="12700">
            <a:solidFill>
              <a:srgbClr val="A6EDE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4" name="Text 34"/>
          <p:cNvSpPr/>
          <p:nvPr/>
        </p:nvSpPr>
        <p:spPr>
          <a:xfrm>
            <a:off x="6006440" y="3398683"/>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0.34</a:t>
            </a:r>
            <a:endParaRPr lang="en-US" sz="1500" b="0" u="none" strike="noStrike">
              <a:solidFill>
                <a:srgbClr val="000000"/>
              </a:solidFill>
              <a:effectLst/>
              <a:uFillTx/>
              <a:latin typeface="Arial"/>
            </a:endParaRPr>
          </a:p>
        </p:txBody>
      </p:sp>
      <p:sp>
        <p:nvSpPr>
          <p:cNvPr id="1005" name="Shape 35"/>
          <p:cNvSpPr/>
          <p:nvPr/>
        </p:nvSpPr>
        <p:spPr>
          <a:xfrm>
            <a:off x="2330480" y="4129958"/>
            <a:ext cx="1179360" cy="660376"/>
          </a:xfrm>
          <a:prstGeom prst="rect">
            <a:avLst/>
          </a:prstGeom>
          <a:solidFill>
            <a:srgbClr val="F2FCFB"/>
          </a:solidFill>
          <a:ln w="12700">
            <a:solidFill>
              <a:srgbClr val="F2FCF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6" name="Text 36"/>
          <p:cNvSpPr/>
          <p:nvPr/>
        </p:nvSpPr>
        <p:spPr>
          <a:xfrm>
            <a:off x="2303120" y="4106428"/>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0.05</a:t>
            </a:r>
            <a:endParaRPr lang="en-US" sz="1500" b="0" u="none" strike="noStrike">
              <a:solidFill>
                <a:srgbClr val="000000"/>
              </a:solidFill>
              <a:effectLst/>
              <a:uFillTx/>
              <a:latin typeface="Arial"/>
            </a:endParaRPr>
          </a:p>
        </p:txBody>
      </p:sp>
      <p:sp>
        <p:nvSpPr>
          <p:cNvPr id="1007" name="Shape 37"/>
          <p:cNvSpPr/>
          <p:nvPr/>
        </p:nvSpPr>
        <p:spPr>
          <a:xfrm>
            <a:off x="3564920" y="4129958"/>
            <a:ext cx="1179360" cy="660376"/>
          </a:xfrm>
          <a:prstGeom prst="rect">
            <a:avLst/>
          </a:prstGeom>
          <a:solidFill>
            <a:srgbClr val="FDD9DF"/>
          </a:solidFill>
          <a:ln w="12700">
            <a:solidFill>
              <a:srgbClr val="FDD9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8" name="Text 38"/>
          <p:cNvSpPr/>
          <p:nvPr/>
        </p:nvSpPr>
        <p:spPr>
          <a:xfrm>
            <a:off x="3537560" y="4106428"/>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-0.10</a:t>
            </a:r>
            <a:endParaRPr lang="en-US" sz="1500" b="0" u="none" strike="noStrike">
              <a:solidFill>
                <a:srgbClr val="000000"/>
              </a:solidFill>
              <a:effectLst/>
              <a:uFillTx/>
              <a:latin typeface="Arial"/>
            </a:endParaRPr>
          </a:p>
        </p:txBody>
      </p:sp>
      <p:sp>
        <p:nvSpPr>
          <p:cNvPr id="1009" name="Shape 39"/>
          <p:cNvSpPr/>
          <p:nvPr/>
        </p:nvSpPr>
        <p:spPr>
          <a:xfrm>
            <a:off x="4799360" y="4129958"/>
            <a:ext cx="1179360" cy="660376"/>
          </a:xfrm>
          <a:prstGeom prst="rect">
            <a:avLst/>
          </a:prstGeom>
          <a:solidFill>
            <a:srgbClr val="A6EDE4"/>
          </a:solidFill>
          <a:ln w="12700">
            <a:solidFill>
              <a:srgbClr val="A6EDE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10" name="Text 40"/>
          <p:cNvSpPr/>
          <p:nvPr/>
        </p:nvSpPr>
        <p:spPr>
          <a:xfrm>
            <a:off x="4772000" y="4106428"/>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1B1B20"/>
                </a:solidFill>
                <a:effectLst/>
                <a:uFillTx/>
                <a:latin typeface="Plus Jakarta Sans"/>
                <a:ea typeface="Plus Jakarta Sans"/>
              </a:rPr>
              <a:t>0.34</a:t>
            </a:r>
            <a:endParaRPr lang="en-US" sz="1500" b="0" u="none" strike="noStrike">
              <a:solidFill>
                <a:srgbClr val="000000"/>
              </a:solidFill>
              <a:effectLst/>
              <a:uFillTx/>
              <a:latin typeface="Arial"/>
            </a:endParaRPr>
          </a:p>
        </p:txBody>
      </p:sp>
      <p:sp>
        <p:nvSpPr>
          <p:cNvPr id="1011" name="Shape 41"/>
          <p:cNvSpPr/>
          <p:nvPr/>
        </p:nvSpPr>
        <p:spPr>
          <a:xfrm>
            <a:off x="6033800" y="4129958"/>
            <a:ext cx="1179360" cy="660376"/>
          </a:xfrm>
          <a:prstGeom prst="rect">
            <a:avLst/>
          </a:prstGeom>
          <a:solidFill>
            <a:srgbClr val="5755A7"/>
          </a:solidFill>
          <a:ln w="12700">
            <a:solidFill>
              <a:srgbClr val="5755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12" name="Text 42"/>
          <p:cNvSpPr/>
          <p:nvPr/>
        </p:nvSpPr>
        <p:spPr>
          <a:xfrm>
            <a:off x="6006440" y="4106428"/>
            <a:ext cx="1234080" cy="70743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Plus Jakarta Sans"/>
                <a:ea typeface="Plus Jakarta Sans"/>
              </a:rPr>
              <a:t>1.00</a:t>
            </a:r>
            <a:endParaRPr lang="en-US" sz="1500" b="0" u="none" strike="noStrike">
              <a:solidFill>
                <a:srgbClr val="000000"/>
              </a:solidFill>
              <a:effectLst/>
              <a:uFillTx/>
              <a:latin typeface="Arial"/>
            </a:endParaRPr>
          </a:p>
        </p:txBody>
      </p:sp>
      <p:sp>
        <p:nvSpPr>
          <p:cNvPr id="902" name="Marker 1"/>
          <p:cNvSpPr/>
          <p:nvPr/>
        </p:nvSpPr>
        <p:spPr>
          <a:xfrm>
            <a:off x="3180000" y="1594747"/>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1</a:t>
            </a:r>
          </a:p>
        </p:txBody>
      </p:sp>
      <p:sp>
        <p:nvSpPr>
          <p:cNvPr id="903" name="Marker 2"/>
          <p:cNvSpPr/>
          <p:nvPr/>
        </p:nvSpPr>
        <p:spPr>
          <a:xfrm>
            <a:off x="4859360" y="2764467"/>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2</a:t>
            </a:r>
          </a:p>
        </p:txBody>
      </p:sp>
      <p:sp>
        <p:nvSpPr>
          <p:cNvPr id="904" name="Marker 3"/>
          <p:cNvSpPr/>
          <p:nvPr/>
        </p:nvSpPr>
        <p:spPr>
          <a:xfrm>
            <a:off x="5648720" y="2056721"/>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3</a:t>
            </a:r>
          </a:p>
        </p:txBody>
      </p:sp>
      <p:sp>
        <p:nvSpPr>
          <p:cNvPr id="905" name="Marker 4"/>
          <p:cNvSpPr/>
          <p:nvPr/>
        </p:nvSpPr>
        <p:spPr>
          <a:xfrm>
            <a:off x="5648720" y="4179958"/>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4</a:t>
            </a:r>
          </a:p>
        </p:txBody>
      </p:sp>
      <p:sp>
        <p:nvSpPr>
          <p:cNvPr id="906" name="Marker 5"/>
          <p:cNvSpPr/>
          <p:nvPr/>
        </p:nvSpPr>
        <p:spPr>
          <a:xfrm>
            <a:off x="4859360" y="3472212"/>
            <a:ext cx="270000" cy="270000"/>
          </a:xfrm>
          <a:prstGeom prst="ellipse">
            <a:avLst/>
          </a:prstGeom>
          <a:solidFill>
            <a:srgbClr val="231F71"/>
          </a:solidFill>
          <a:ln w="12700">
            <a:solidFill>
              <a:srgbClr val="FFFFFF"/>
            </a:solidFill>
            <a:round/>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5</a:t>
            </a:r>
          </a:p>
        </p:txBody>
      </p:sp>
      <p:sp>
        <p:nvSpPr>
          <p:cNvPr id="907" name="Components card"/>
          <p:cNvSpPr/>
          <p:nvPr/>
        </p:nvSpPr>
        <p:spPr>
          <a:xfrm>
            <a:off x="7589520" y="1463040"/>
            <a:ext cx="4068720" cy="3565800"/>
          </a:xfrm>
          <a:prstGeom prst="roundRect">
            <a:avLst>
              <a:gd name="adj" fmla="val 2500"/>
            </a:avLst>
          </a:prstGeom>
          <a:solidFill>
            <a:srgbClr val="FFFFFF"/>
          </a:solidFill>
          <a:ln w="12700">
            <a:solidFill>
              <a:srgbClr val="C8C5D3"/>
            </a:solidFill>
            <a:round/>
          </a:ln>
        </p:spPr>
      </p:sp>
      <p:sp>
        <p:nvSpPr>
          <p:cNvPr id="908" name="Components title"/>
          <p:cNvSpPr/>
          <p:nvPr/>
        </p:nvSpPr>
        <p:spPr>
          <a:xfrm>
            <a:off x="7772400" y="1573040"/>
            <a:ext cx="3700000" cy="3300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500" b="1" i="0" dirty="0">
                <a:solidFill>
                  <a:srgbClr val="1B1B20"/>
                </a:solidFill>
                <a:latin typeface="Plus Jakarta Sans"/>
                <a:ea typeface="Plus Jakarta Sans"/>
              </a:rPr>
              <a:t>Components</a:t>
            </a:r>
          </a:p>
        </p:txBody>
      </p:sp>
      <p:sp>
        <p:nvSpPr>
          <p:cNvPr id="909" name="Badge 1"/>
          <p:cNvSpPr/>
          <p:nvPr/>
        </p:nvSpPr>
        <p:spPr>
          <a:xfrm>
            <a:off x="7772400" y="19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1</a:t>
            </a:r>
          </a:p>
        </p:txBody>
      </p:sp>
      <p:sp>
        <p:nvSpPr>
          <p:cNvPr id="910" name="Component 1"/>
          <p:cNvSpPr/>
          <p:nvPr/>
        </p:nvSpPr>
        <p:spPr>
          <a:xfrm>
            <a:off x="8179520" y="19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Rows &amp; columns</a:t>
            </a:r>
          </a:p>
          <a:p>
            <a:pPr algn="l">
              <a:lnSpc>
                <a:spcPct val="100000"/>
              </a:lnSpc>
              <a:spcBef>
                <a:spcPts val="0"/>
              </a:spcBef>
              <a:spcAft>
                <a:spcPts val="0"/>
              </a:spcAft>
              <a:buNone/>
            </a:pPr>
            <a:r>
              <a:rPr lang="en-US" sz="1100" b="0" i="0" dirty="0">
                <a:solidFill>
                  <a:srgbClr val="474651"/>
                </a:solidFill>
                <a:latin typeface="Hanken Grotesk"/>
                <a:ea typeface="Hanken Grotesk"/>
              </a:rPr>
              <a:t>Every variable appears on both sides, so each pair meets in one cell.</a:t>
            </a:r>
          </a:p>
        </p:txBody>
      </p:sp>
      <p:sp>
        <p:nvSpPr>
          <p:cNvPr id="911" name="Badge 2"/>
          <p:cNvSpPr/>
          <p:nvPr/>
        </p:nvSpPr>
        <p:spPr>
          <a:xfrm>
            <a:off x="7772400" y="25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2</a:t>
            </a:r>
          </a:p>
        </p:txBody>
      </p:sp>
      <p:sp>
        <p:nvSpPr>
          <p:cNvPr id="912" name="Component 2"/>
          <p:cNvSpPr/>
          <p:nvPr/>
        </p:nvSpPr>
        <p:spPr>
          <a:xfrm>
            <a:off x="8179520" y="25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Cells</a:t>
            </a:r>
          </a:p>
          <a:p>
            <a:pPr algn="l">
              <a:lnSpc>
                <a:spcPct val="100000"/>
              </a:lnSpc>
              <a:spcBef>
                <a:spcPts val="0"/>
              </a:spcBef>
              <a:spcAft>
                <a:spcPts val="0"/>
              </a:spcAft>
              <a:buNone/>
            </a:pPr>
            <a:r>
              <a:rPr lang="en-US" sz="1100" b="0" i="0" dirty="0">
                <a:solidFill>
                  <a:srgbClr val="474651"/>
                </a:solidFill>
                <a:latin typeface="Hanken Grotesk"/>
                <a:ea typeface="Hanken Grotesk"/>
              </a:rPr>
              <a:t>Each cell holds one pair’s value, e.g. Income–Spend = 0.71.</a:t>
            </a:r>
          </a:p>
        </p:txBody>
      </p:sp>
      <p:sp>
        <p:nvSpPr>
          <p:cNvPr id="913" name="Badge 3"/>
          <p:cNvSpPr/>
          <p:nvPr/>
        </p:nvSpPr>
        <p:spPr>
          <a:xfrm>
            <a:off x="7772400" y="31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3</a:t>
            </a:r>
          </a:p>
        </p:txBody>
      </p:sp>
      <p:sp>
        <p:nvSpPr>
          <p:cNvPr id="914" name="Component 3"/>
          <p:cNvSpPr/>
          <p:nvPr/>
        </p:nvSpPr>
        <p:spPr>
          <a:xfrm>
            <a:off x="8179520" y="31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Colour</a:t>
            </a:r>
          </a:p>
          <a:p>
            <a:pPr algn="l">
              <a:lnSpc>
                <a:spcPct val="100000"/>
              </a:lnSpc>
              <a:spcBef>
                <a:spcPts val="0"/>
              </a:spcBef>
              <a:spcAft>
                <a:spcPts val="0"/>
              </a:spcAft>
              <a:buNone/>
            </a:pPr>
            <a:r>
              <a:rPr lang="en-US" sz="1100" b="0" i="0" dirty="0">
                <a:solidFill>
                  <a:srgbClr val="474651"/>
                </a:solidFill>
                <a:latin typeface="Hanken Grotesk"/>
                <a:ea typeface="Hanken Grotesk"/>
              </a:rPr>
              <a:t>Teal = positive, pink = negative, pale = near 0.</a:t>
            </a:r>
          </a:p>
        </p:txBody>
      </p:sp>
      <p:sp>
        <p:nvSpPr>
          <p:cNvPr id="915" name="Badge 4"/>
          <p:cNvSpPr/>
          <p:nvPr/>
        </p:nvSpPr>
        <p:spPr>
          <a:xfrm>
            <a:off x="7772400" y="37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4</a:t>
            </a:r>
          </a:p>
        </p:txBody>
      </p:sp>
      <p:sp>
        <p:nvSpPr>
          <p:cNvPr id="916" name="Component 4"/>
          <p:cNvSpPr/>
          <p:nvPr/>
        </p:nvSpPr>
        <p:spPr>
          <a:xfrm>
            <a:off x="8179520" y="37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Printed numbers</a:t>
            </a:r>
          </a:p>
          <a:p>
            <a:pPr algn="l">
              <a:lnSpc>
                <a:spcPct val="100000"/>
              </a:lnSpc>
              <a:spcBef>
                <a:spcPts val="0"/>
              </a:spcBef>
              <a:spcAft>
                <a:spcPts val="0"/>
              </a:spcAft>
              <a:buNone/>
            </a:pPr>
            <a:r>
              <a:rPr lang="en-US" sz="1100" b="0" i="0" dirty="0">
                <a:solidFill>
                  <a:srgbClr val="474651"/>
                </a:solidFill>
                <a:latin typeface="Hanken Grotesk"/>
                <a:ea typeface="Hanken Grotesk"/>
              </a:rPr>
              <a:t>The exact value in each cell, from −1 to +1.</a:t>
            </a:r>
          </a:p>
        </p:txBody>
      </p:sp>
      <p:sp>
        <p:nvSpPr>
          <p:cNvPr id="917" name="Badge 5"/>
          <p:cNvSpPr/>
          <p:nvPr/>
        </p:nvSpPr>
        <p:spPr>
          <a:xfrm>
            <a:off x="7772400" y="4358040"/>
            <a:ext cx="290000" cy="290000"/>
          </a:xfrm>
          <a:prstGeom prst="ellipse">
            <a:avLst/>
          </a:prstGeom>
          <a:solidFill>
            <a:srgbClr val="231F71"/>
          </a:solidFill>
          <a:ln w="0">
            <a:noFill/>
          </a:ln>
        </p:spPr>
        <p:txBody>
          <a:bodyPr wrap="square" lIns="0" tIns="0" rIns="0" bIns="0" anchor="ctr">
            <a:noAutofit/>
          </a:bodyPr>
          <a:lstStyle/>
          <a:p>
            <a:pPr algn="ctr">
              <a:lnSpc>
                <a:spcPct val="100000"/>
              </a:lnSpc>
              <a:spcBef>
                <a:spcPts val="0"/>
              </a:spcBef>
              <a:spcAft>
                <a:spcPts val="0"/>
              </a:spcAft>
              <a:buNone/>
            </a:pPr>
            <a:r>
              <a:rPr lang="en-US" sz="1100" b="1" i="0" dirty="0">
                <a:solidFill>
                  <a:srgbClr val="FFFFFF"/>
                </a:solidFill>
                <a:latin typeface="Plus Jakarta Sans"/>
                <a:ea typeface="Plus Jakarta Sans"/>
              </a:rPr>
              <a:t>5</a:t>
            </a:r>
          </a:p>
        </p:txBody>
      </p:sp>
      <p:sp>
        <p:nvSpPr>
          <p:cNvPr id="918" name="Component 5"/>
          <p:cNvSpPr/>
          <p:nvPr/>
        </p:nvSpPr>
        <p:spPr>
          <a:xfrm>
            <a:off x="8179520" y="4333040"/>
            <a:ext cx="3350000" cy="580000"/>
          </a:xfrm>
          <a:prstGeom prst="rect">
            <a:avLst/>
          </a:prstGeom>
          <a:noFill/>
          <a:ln w="0">
            <a:noFill/>
          </a:ln>
        </p:spPr>
        <p:txBody>
          <a:bodyPr wrap="square" lIns="0" tIns="0" rIns="0" bIns="0" anchor="t">
            <a:noAutofit/>
          </a:bodyPr>
          <a:lstStyle/>
          <a:p>
            <a:pPr algn="l">
              <a:lnSpc>
                <a:spcPct val="100000"/>
              </a:lnSpc>
              <a:spcBef>
                <a:spcPts val="0"/>
              </a:spcBef>
              <a:spcAft>
                <a:spcPts val="0"/>
              </a:spcAft>
              <a:buNone/>
            </a:pPr>
            <a:r>
              <a:rPr lang="en-US" sz="1200" b="1" i="0" dirty="0">
                <a:solidFill>
                  <a:srgbClr val="1B1B20"/>
                </a:solidFill>
                <a:latin typeface="Plus Jakarta Sans"/>
                <a:ea typeface="Plus Jakarta Sans"/>
              </a:rPr>
              <a:t>Diagonal</a:t>
            </a:r>
          </a:p>
          <a:p>
            <a:pPr algn="l">
              <a:lnSpc>
                <a:spcPct val="100000"/>
              </a:lnSpc>
              <a:spcBef>
                <a:spcPts val="0"/>
              </a:spcBef>
              <a:spcAft>
                <a:spcPts val="0"/>
              </a:spcAft>
              <a:buNone/>
            </a:pPr>
            <a:r>
              <a:rPr lang="en-US" sz="1100" b="0" i="0" dirty="0">
                <a:solidFill>
                  <a:srgbClr val="474651"/>
                </a:solidFill>
                <a:latin typeface="Hanken Grotesk"/>
                <a:ea typeface="Hanken Grotesk"/>
              </a:rPr>
              <a:t>A variable with itself is always 1.00. Grid mirrors across it.</a:t>
            </a:r>
          </a:p>
        </p:txBody>
      </p:sp>
      <p:sp>
        <p:nvSpPr>
          <p:cNvPr id="919" name="Callout"/>
          <p:cNvSpPr/>
          <p:nvPr/>
        </p:nvSpPr>
        <p:spPr>
          <a:xfrm>
            <a:off x="548640" y="5257800"/>
            <a:ext cx="11109600" cy="822600"/>
          </a:xfrm>
          <a:prstGeom prst="roundRect">
            <a:avLst>
              <a:gd name="adj" fmla="val 11111"/>
            </a:avLst>
          </a:prstGeom>
          <a:solidFill>
            <a:srgbClr val="BBEDDC"/>
          </a:solidFill>
          <a:ln w="12700">
            <a:solidFill>
              <a:srgbClr val="BBEDDC"/>
            </a:solidFill>
            <a:round/>
          </a:ln>
        </p:spPr>
      </p:sp>
      <p:sp>
        <p:nvSpPr>
          <p:cNvPr id="920" name="Callout text"/>
          <p:cNvSpPr/>
          <p:nvPr/>
        </p:nvSpPr>
        <p:spPr>
          <a:xfrm>
            <a:off x="777240" y="5257800"/>
            <a:ext cx="10652400" cy="822600"/>
          </a:xfrm>
          <a:prstGeom prst="rect">
            <a:avLst/>
          </a:prstGeom>
          <a:noFill/>
          <a:ln w="0">
            <a:noFill/>
          </a:ln>
        </p:spPr>
        <p:txBody>
          <a:bodyPr wrap="square" lIns="0" tIns="0" rIns="0" bIns="0" anchor="ctr">
            <a:noAutofit/>
          </a:bodyPr>
          <a:lstStyle/>
          <a:p>
            <a:pPr algn="l">
              <a:lnSpc>
                <a:spcPct val="100000"/>
              </a:lnSpc>
              <a:spcBef>
                <a:spcPts val="0"/>
              </a:spcBef>
              <a:spcAft>
                <a:spcPts val="0"/>
              </a:spcAft>
              <a:buNone/>
            </a:pPr>
            <a:r>
              <a:rPr lang="en-US" sz="1300" b="1" i="0" dirty="0">
                <a:solidFill>
                  <a:srgbClr val="002019"/>
                </a:solidFill>
                <a:latin typeface="Hanken Grotesk"/>
                <a:ea typeface="Hanken Grotesk"/>
              </a:rPr>
              <a:t>How to read it: </a:t>
            </a:r>
            <a:r>
              <a:rPr lang="en-US" sz="1300" b="0" i="0" dirty="0">
                <a:solidFill>
                  <a:srgbClr val="002019"/>
                </a:solidFill>
                <a:latin typeface="Hanken Grotesk"/>
                <a:ea typeface="Hanken Grotesk"/>
              </a:rPr>
              <a:t>Find a row, then a column: the cell where they meet is that pair’s correlation. Look for cells far from zero. Income and Spend (0.71) rise together, while Age and Spend (−0.18) have only a weak negative link. Read just one triangle, since the grid is mirrored.</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045"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46"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63</a:t>
            </a:r>
            <a:endParaRPr lang="en-US" sz="900" b="0" u="none" strike="noStrike">
              <a:solidFill>
                <a:srgbClr val="000000"/>
              </a:solidFill>
              <a:effectLst/>
              <a:uFillTx/>
              <a:latin typeface="Arial"/>
            </a:endParaRPr>
          </a:p>
        </p:txBody>
      </p:sp>
      <p:pic>
        <p:nvPicPr>
          <p:cNvPr id="1047" name="Image 0" descr="/home/claude/assets/logo_crop.png"/>
          <p:cNvPicPr/>
          <p:nvPr/>
        </p:nvPicPr>
        <p:blipFill>
          <a:blip r:embed="rId3"/>
          <a:stretch/>
        </p:blipFill>
        <p:spPr>
          <a:xfrm>
            <a:off x="11201400" y="384120"/>
            <a:ext cx="456840" cy="511560"/>
          </a:xfrm>
          <a:prstGeom prst="rect">
            <a:avLst/>
          </a:prstGeom>
          <a:noFill/>
          <a:ln w="0">
            <a:noFill/>
          </a:ln>
        </p:spPr>
      </p:pic>
      <p:sp>
        <p:nvSpPr>
          <p:cNvPr id="1048"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Common Chart Mistakes to Avoid</a:t>
            </a:r>
            <a:endParaRPr lang="en-US" sz="2600" b="0" u="none" strike="noStrike">
              <a:solidFill>
                <a:srgbClr val="000000"/>
              </a:solidFill>
              <a:effectLst/>
              <a:uFillTx/>
              <a:latin typeface="Arial"/>
            </a:endParaRPr>
          </a:p>
        </p:txBody>
      </p:sp>
      <p:sp>
        <p:nvSpPr>
          <p:cNvPr id="1049" name="Shape 3"/>
          <p:cNvSpPr/>
          <p:nvPr/>
        </p:nvSpPr>
        <p:spPr>
          <a:xfrm>
            <a:off x="54864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0" name="Shape 4"/>
          <p:cNvSpPr/>
          <p:nvPr/>
        </p:nvSpPr>
        <p:spPr>
          <a:xfrm>
            <a:off x="777240" y="1965960"/>
            <a:ext cx="50288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51" name="Text 5"/>
          <p:cNvSpPr/>
          <p:nvPr/>
        </p:nvSpPr>
        <p:spPr>
          <a:xfrm>
            <a:off x="77724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Misleading by Design</a:t>
            </a:r>
            <a:endParaRPr lang="en-US" sz="1400" b="0" u="none" strike="noStrike">
              <a:solidFill>
                <a:srgbClr val="000000"/>
              </a:solidFill>
              <a:effectLst/>
              <a:uFillTx/>
              <a:latin typeface="Arial"/>
            </a:endParaRPr>
          </a:p>
        </p:txBody>
      </p:sp>
      <p:sp>
        <p:nvSpPr>
          <p:cNvPr id="1052" name="Text 6"/>
          <p:cNvSpPr/>
          <p:nvPr/>
        </p:nvSpPr>
        <p:spPr>
          <a:xfrm>
            <a:off x="82296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400" b="0" u="none" strike="noStrike" dirty="0">
                <a:solidFill>
                  <a:srgbClr val="1B1B20"/>
                </a:solidFill>
                <a:effectLst/>
                <a:uFillTx/>
                <a:latin typeface="Hanken Grotesk"/>
                <a:ea typeface="Hanken Grotesk"/>
              </a:rPr>
              <a:t>A pie chart with 12+ tiny slices — nobody can compare them accurately</a:t>
            </a:r>
            <a:endParaRPr lang="en-US" sz="14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400" b="0" u="none" strike="noStrike" dirty="0">
                <a:solidFill>
                  <a:srgbClr val="1B1B20"/>
                </a:solidFill>
                <a:effectLst/>
                <a:uFillTx/>
                <a:latin typeface="Hanken Grotesk"/>
                <a:ea typeface="Hanken Grotesk"/>
              </a:rPr>
              <a:t>A bar chart whose y-axis doesn’t start at zero — exaggerates small differences dramatically</a:t>
            </a:r>
            <a:endParaRPr lang="en-US" sz="14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400" b="0" u="none" strike="noStrike" dirty="0">
                <a:solidFill>
                  <a:srgbClr val="1B1B20"/>
                </a:solidFill>
                <a:effectLst/>
                <a:uFillTx/>
                <a:latin typeface="Hanken Grotesk"/>
                <a:ea typeface="Hanken Grotesk"/>
              </a:rPr>
              <a:t>A 3D chart adding visual flair but no real information — actively harder to read accurately</a:t>
            </a:r>
            <a:endParaRPr lang="en-US" sz="1400" b="0" u="none" strike="noStrike" dirty="0">
              <a:solidFill>
                <a:srgbClr val="000000"/>
              </a:solidFill>
              <a:effectLst/>
              <a:uFillTx/>
              <a:latin typeface="Arial"/>
              <a:cs typeface="Arial"/>
            </a:endParaRPr>
          </a:p>
        </p:txBody>
      </p:sp>
      <p:sp>
        <p:nvSpPr>
          <p:cNvPr id="1053" name="Shape 7"/>
          <p:cNvSpPr/>
          <p:nvPr/>
        </p:nvSpPr>
        <p:spPr>
          <a:xfrm>
            <a:off x="617220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4" name="Shape 8"/>
          <p:cNvSpPr/>
          <p:nvPr/>
        </p:nvSpPr>
        <p:spPr>
          <a:xfrm>
            <a:off x="6400800" y="1965960"/>
            <a:ext cx="502884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55" name="Text 9"/>
          <p:cNvSpPr/>
          <p:nvPr/>
        </p:nvSpPr>
        <p:spPr>
          <a:xfrm>
            <a:off x="640080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Wrong Chart for the Data</a:t>
            </a:r>
            <a:endParaRPr lang="en-US" sz="1400" b="0" u="none" strike="noStrike">
              <a:solidFill>
                <a:srgbClr val="000000"/>
              </a:solidFill>
              <a:effectLst/>
              <a:uFillTx/>
              <a:latin typeface="Arial"/>
            </a:endParaRPr>
          </a:p>
        </p:txBody>
      </p:sp>
      <p:sp>
        <p:nvSpPr>
          <p:cNvPr id="1056" name="Text 10"/>
          <p:cNvSpPr/>
          <p:nvPr/>
        </p:nvSpPr>
        <p:spPr>
          <a:xfrm>
            <a:off x="644652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400" b="0" u="none" strike="noStrike" dirty="0">
                <a:solidFill>
                  <a:srgbClr val="1B1B20"/>
                </a:solidFill>
                <a:effectLst/>
                <a:uFillTx/>
                <a:latin typeface="Hanken Grotesk"/>
                <a:ea typeface="Hanken Grotesk"/>
              </a:rPr>
              <a:t>A line plot connecting unrelated categories — implies a trend that doesn’t exist</a:t>
            </a:r>
            <a:endParaRPr lang="en-US" sz="14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400" b="0" u="none" strike="noStrike" dirty="0">
                <a:solidFill>
                  <a:srgbClr val="1B1B20"/>
                </a:solidFill>
                <a:effectLst/>
                <a:uFillTx/>
                <a:latin typeface="Hanken Grotesk"/>
                <a:ea typeface="Hanken Grotesk"/>
              </a:rPr>
              <a:t>A regression line forced through an obviously curved relationship</a:t>
            </a:r>
            <a:endParaRPr lang="en-US" sz="14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400" b="0" u="none" strike="noStrike" dirty="0">
                <a:solidFill>
                  <a:srgbClr val="1B1B20"/>
                </a:solidFill>
                <a:effectLst/>
                <a:uFillTx/>
                <a:latin typeface="Hanken Grotesk"/>
                <a:ea typeface="Hanken Grotesk"/>
              </a:rPr>
              <a:t>Choosing a chart because it "looks impressive," rather than because it’s genuinely the clearest way to show this specific data</a:t>
            </a:r>
            <a:endParaRPr lang="en-US" sz="14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05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5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64</a:t>
            </a:r>
            <a:endParaRPr lang="en-US" sz="900" b="0" u="none" strike="noStrike">
              <a:solidFill>
                <a:srgbClr val="000000"/>
              </a:solidFill>
              <a:effectLst/>
              <a:uFillTx/>
              <a:latin typeface="Arial"/>
            </a:endParaRPr>
          </a:p>
        </p:txBody>
      </p:sp>
      <p:pic>
        <p:nvPicPr>
          <p:cNvPr id="1059" name="Image 0" descr="/home/claude/assets/logo_crop.png"/>
          <p:cNvPicPr/>
          <p:nvPr/>
        </p:nvPicPr>
        <p:blipFill>
          <a:blip r:embed="rId3"/>
          <a:stretch/>
        </p:blipFill>
        <p:spPr>
          <a:xfrm>
            <a:off x="11201400" y="384120"/>
            <a:ext cx="456840" cy="511560"/>
          </a:xfrm>
          <a:prstGeom prst="rect">
            <a:avLst/>
          </a:prstGeom>
          <a:noFill/>
          <a:ln w="0">
            <a:noFill/>
          </a:ln>
        </p:spPr>
      </p:pic>
      <p:sp>
        <p:nvSpPr>
          <p:cNvPr id="1060"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61"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062"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PART 5</a:t>
            </a:r>
            <a:endParaRPr lang="en-US" sz="900" b="0" u="none" strike="noStrike">
              <a:solidFill>
                <a:srgbClr val="000000"/>
              </a:solidFill>
              <a:effectLst/>
              <a:uFillTx/>
              <a:latin typeface="Arial"/>
            </a:endParaRPr>
          </a:p>
        </p:txBody>
      </p:sp>
      <p:sp>
        <p:nvSpPr>
          <p:cNvPr id="1063"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Practice Set — Choosing the Right Chart</a:t>
            </a:r>
            <a:endParaRPr lang="en-US" sz="2200" b="0" u="none" strike="noStrike">
              <a:solidFill>
                <a:srgbClr val="000000"/>
              </a:solidFill>
              <a:effectLst/>
              <a:uFillTx/>
              <a:latin typeface="Arial"/>
            </a:endParaRPr>
          </a:p>
        </p:txBody>
      </p:sp>
      <p:sp>
        <p:nvSpPr>
          <p:cNvPr id="1064"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Try these yourself first — pencil, paper or a quick Python cell.</a:t>
            </a:r>
            <a:endParaRPr lang="en-US" sz="1200" b="0" u="none" strike="noStrike">
              <a:solidFill>
                <a:srgbClr val="000000"/>
              </a:solidFill>
              <a:effectLst/>
              <a:uFillTx/>
              <a:latin typeface="Arial"/>
            </a:endParaRPr>
          </a:p>
        </p:txBody>
      </p:sp>
      <p:sp>
        <p:nvSpPr>
          <p:cNvPr id="1065"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6"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7"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068"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monthly sales over the last two years, name the best chart and explain why</a:t>
            </a:r>
            <a:endParaRPr lang="en-US" sz="1400" b="0" u="none" strike="noStrike">
              <a:solidFill>
                <a:srgbClr val="000000"/>
              </a:solidFill>
              <a:effectLst/>
              <a:uFillTx/>
              <a:latin typeface="Arial"/>
            </a:endParaRPr>
          </a:p>
        </p:txBody>
      </p:sp>
      <p:sp>
        <p:nvSpPr>
          <p:cNvPr id="1069"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0"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1"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072"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comparing the market share of 3 competing products, choose between a pie chart and a bar chart, and justify it</a:t>
            </a:r>
            <a:endParaRPr lang="en-US" sz="1400" b="0" u="none" strike="noStrike">
              <a:solidFill>
                <a:srgbClr val="000000"/>
              </a:solidFill>
              <a:effectLst/>
              <a:uFillTx/>
              <a:latin typeface="Arial"/>
            </a:endParaRPr>
          </a:p>
        </p:txBody>
      </p:sp>
      <p:sp>
        <p:nvSpPr>
          <p:cNvPr id="1073"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4"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5"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076"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checking whether study hours and exam scores are related, name the chart you’d reach for first</a:t>
            </a:r>
            <a:endParaRPr lang="en-US" sz="1400" b="0" u="none" strike="noStrike">
              <a:solidFill>
                <a:srgbClr val="000000"/>
              </a:solidFill>
              <a:effectLst/>
              <a:uFillTx/>
              <a:latin typeface="Arial"/>
            </a:endParaRPr>
          </a:p>
        </p:txBody>
      </p:sp>
      <p:sp>
        <p:nvSpPr>
          <p:cNvPr id="1077" name="Shape 19"/>
          <p:cNvSpPr/>
          <p:nvPr/>
        </p:nvSpPr>
        <p:spPr>
          <a:xfrm>
            <a:off x="548640" y="47638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8" name="Shape 20"/>
          <p:cNvSpPr/>
          <p:nvPr/>
        </p:nvSpPr>
        <p:spPr>
          <a:xfrm>
            <a:off x="731520" y="500184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79" name="Text 21"/>
          <p:cNvSpPr/>
          <p:nvPr/>
        </p:nvSpPr>
        <p:spPr>
          <a:xfrm>
            <a:off x="731520" y="50018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1080" name="Text 22"/>
          <p:cNvSpPr/>
          <p:nvPr/>
        </p:nvSpPr>
        <p:spPr>
          <a:xfrm>
            <a:off x="1234440" y="47638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what specifically is misleading about a bar chart whose y-axis starts at 80 instead of 0</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081"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82"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83"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PART 6</a:t>
            </a:r>
            <a:endParaRPr lang="en-US" sz="1400" b="0" u="none" strike="noStrike">
              <a:solidFill>
                <a:srgbClr val="FFFFFF"/>
              </a:solidFill>
              <a:effectLst/>
              <a:uFillTx/>
              <a:latin typeface="Arial"/>
            </a:endParaRPr>
          </a:p>
        </p:txBody>
      </p:sp>
      <p:sp>
        <p:nvSpPr>
          <p:cNvPr id="1084"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Measures of Central Tendency</a:t>
            </a:r>
            <a:endParaRPr lang="en-US" sz="4000" b="0" u="none" strike="noStrike">
              <a:solidFill>
                <a:srgbClr val="FFFFFF"/>
              </a:solidFill>
              <a:effectLst/>
              <a:uFillTx/>
              <a:latin typeface="Arial"/>
            </a:endParaRPr>
          </a:p>
        </p:txBody>
      </p:sp>
      <p:sp>
        <p:nvSpPr>
          <p:cNvPr id="1085"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The single number that tries to represent an entire dataset — and the three different ways to pick one</a:t>
            </a:r>
            <a:endParaRPr lang="en-US" sz="1500" b="0" u="none" strike="noStrike">
              <a:solidFill>
                <a:srgbClr val="FFFFFF"/>
              </a:solidFill>
              <a:effectLst/>
              <a:uFillTx/>
              <a:latin typeface="Arial"/>
            </a:endParaRPr>
          </a:p>
        </p:txBody>
      </p:sp>
      <p:sp>
        <p:nvSpPr>
          <p:cNvPr id="1086"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65</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087"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88"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66</a:t>
            </a:r>
            <a:endParaRPr lang="en-US" sz="900" b="0" u="none" strike="noStrike">
              <a:solidFill>
                <a:srgbClr val="000000"/>
              </a:solidFill>
              <a:effectLst/>
              <a:uFillTx/>
              <a:latin typeface="Arial"/>
            </a:endParaRPr>
          </a:p>
        </p:txBody>
      </p:sp>
      <p:pic>
        <p:nvPicPr>
          <p:cNvPr id="1089" name="Image 0" descr="/home/claude/assets/logo_crop.png"/>
          <p:cNvPicPr/>
          <p:nvPr/>
        </p:nvPicPr>
        <p:blipFill>
          <a:blip r:embed="rId3"/>
          <a:stretch/>
        </p:blipFill>
        <p:spPr>
          <a:xfrm>
            <a:off x="11201400" y="384120"/>
            <a:ext cx="456840" cy="511560"/>
          </a:xfrm>
          <a:prstGeom prst="rect">
            <a:avLst/>
          </a:prstGeom>
          <a:noFill/>
          <a:ln w="0">
            <a:noFill/>
          </a:ln>
        </p:spPr>
      </p:pic>
      <p:sp>
        <p:nvSpPr>
          <p:cNvPr id="1090"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What Is Central Tendency?</a:t>
            </a:r>
            <a:endParaRPr lang="en-US" sz="2600" b="0" u="none" strike="noStrike">
              <a:solidFill>
                <a:srgbClr val="000000"/>
              </a:solidFill>
              <a:effectLst/>
              <a:uFillTx/>
              <a:latin typeface="Arial"/>
            </a:endParaRPr>
          </a:p>
        </p:txBody>
      </p:sp>
      <p:sp>
        <p:nvSpPr>
          <p:cNvPr id="1091"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92"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93"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μ</a:t>
            </a:r>
            <a:endParaRPr lang="en-US" sz="2800" b="0" u="none" strike="noStrike">
              <a:solidFill>
                <a:srgbClr val="000000"/>
              </a:solidFill>
              <a:effectLst/>
              <a:uFillTx/>
              <a:latin typeface="Arial"/>
            </a:endParaRPr>
          </a:p>
        </p:txBody>
      </p:sp>
      <p:sp>
        <p:nvSpPr>
          <p:cNvPr id="1094"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One number, standing in for all</a:t>
            </a:r>
            <a:endParaRPr lang="en-US" sz="1700" b="0" u="none" strike="noStrike">
              <a:solidFill>
                <a:srgbClr val="000000"/>
              </a:solidFill>
              <a:effectLst/>
              <a:uFillTx/>
              <a:latin typeface="Arial"/>
            </a:endParaRPr>
          </a:p>
        </p:txBody>
      </p:sp>
      <p:sp>
        <p:nvSpPr>
          <p:cNvPr id="1095"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Central tendency is the general idea of finding a single, typical value that represents an entire dataset</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There isn’t one universally "correct" way to do this — mean, median, and mode each answer a slightly different question</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Choosing the right one isn’t a technicality — the wrong choice can genuinely misrepresent what your data actually looks like</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This choice depends directly on the measurement scale and shape of your data — exactly what the last two parts of this session set up</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09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9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67</a:t>
            </a:r>
            <a:endParaRPr lang="en-US" sz="900" b="0" u="none" strike="noStrike">
              <a:solidFill>
                <a:srgbClr val="000000"/>
              </a:solidFill>
              <a:effectLst/>
              <a:uFillTx/>
              <a:latin typeface="Arial"/>
            </a:endParaRPr>
          </a:p>
        </p:txBody>
      </p:sp>
      <p:pic>
        <p:nvPicPr>
          <p:cNvPr id="1098" name="Image 0" descr="/home/claude/assets/logo_crop.png"/>
          <p:cNvPicPr/>
          <p:nvPr/>
        </p:nvPicPr>
        <p:blipFill>
          <a:blip r:embed="rId3"/>
          <a:stretch/>
        </p:blipFill>
        <p:spPr>
          <a:xfrm>
            <a:off x="11201400" y="384120"/>
            <a:ext cx="456840" cy="511560"/>
          </a:xfrm>
          <a:prstGeom prst="rect">
            <a:avLst/>
          </a:prstGeom>
          <a:noFill/>
          <a:ln w="0">
            <a:noFill/>
          </a:ln>
        </p:spPr>
      </p:pic>
      <p:sp>
        <p:nvSpPr>
          <p:cNvPr id="109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Mean, Median &amp; Mode from Scratch</a:t>
            </a:r>
            <a:endParaRPr lang="en-US" sz="2600" b="0" u="none" strike="noStrike">
              <a:solidFill>
                <a:srgbClr val="000000"/>
              </a:solidFill>
              <a:effectLst/>
              <a:uFillTx/>
              <a:latin typeface="Arial"/>
            </a:endParaRPr>
          </a:p>
        </p:txBody>
      </p:sp>
      <p:sp>
        <p:nvSpPr>
          <p:cNvPr id="1100"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Pure Python — no libraries — so you see exactly what each one does.</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Mean: sum divided by count. Median: middle of the sorted list. Mode: most frequent value.</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For an even-length list the median is the average of the two middle values.</a:t>
            </a:r>
            <a:endParaRPr lang="en-US" sz="2000" b="0" u="none" strike="noStrike" dirty="0">
              <a:solidFill>
                <a:srgbClr val="000000"/>
              </a:solidFill>
              <a:effectLst/>
              <a:uFillTx/>
              <a:latin typeface="Arial"/>
              <a:cs typeface="Arial"/>
            </a:endParaRPr>
          </a:p>
        </p:txBody>
      </p:sp>
      <p:sp>
        <p:nvSpPr>
          <p:cNvPr id="1101"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02"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03"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04"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05"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data = [4, 8, 6, 5, 3, 8, 9]</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mean = sum(data) / len(data)</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s = sorted(data)</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mid = len(s) // 2</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median = (s[mid] if len(s) % 2</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else (s[mid-1] + s[mid]) / 2)</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mode = max(set(data), key=data.count)</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print(round(mean, 2))             </a:t>
            </a:r>
            <a:r>
              <a:rPr lang="en-US" sz="1200" b="0" i="1" u="none" strike="noStrike">
                <a:solidFill>
                  <a:srgbClr val="94A3B8"/>
                </a:solidFill>
                <a:effectLst/>
                <a:uFillTx/>
                <a:latin typeface="Cantarell"/>
                <a:ea typeface="Consolas"/>
              </a:rPr>
              <a:t># 6.14</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print(median)                     </a:t>
            </a:r>
            <a:r>
              <a:rPr lang="en-US" sz="1200" b="0" i="1" u="none" strike="noStrike">
                <a:solidFill>
                  <a:srgbClr val="94A3B8"/>
                </a:solidFill>
                <a:effectLst/>
                <a:uFillTx/>
                <a:latin typeface="Cantarell"/>
                <a:ea typeface="Consolas"/>
              </a:rPr>
              <a:t># 6</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print(mode)                       </a:t>
            </a:r>
            <a:r>
              <a:rPr lang="en-US" sz="1200" b="0" i="1" u="none" strike="noStrike">
                <a:solidFill>
                  <a:srgbClr val="94A3B8"/>
                </a:solidFill>
                <a:effectLst/>
                <a:uFillTx/>
                <a:latin typeface="Cantarell"/>
                <a:ea typeface="Consolas"/>
              </a:rPr>
              <a:t># 8</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0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0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68</a:t>
            </a:r>
            <a:endParaRPr lang="en-US" sz="900" b="0" u="none" strike="noStrike">
              <a:solidFill>
                <a:srgbClr val="000000"/>
              </a:solidFill>
              <a:effectLst/>
              <a:uFillTx/>
              <a:latin typeface="Arial"/>
            </a:endParaRPr>
          </a:p>
        </p:txBody>
      </p:sp>
      <p:pic>
        <p:nvPicPr>
          <p:cNvPr id="1108" name="Image 0" descr="/home/claude/assets/logo_crop.png"/>
          <p:cNvPicPr/>
          <p:nvPr/>
        </p:nvPicPr>
        <p:blipFill>
          <a:blip r:embed="rId3"/>
          <a:stretch/>
        </p:blipFill>
        <p:spPr>
          <a:xfrm>
            <a:off x="11201400" y="384120"/>
            <a:ext cx="456840" cy="511560"/>
          </a:xfrm>
          <a:prstGeom prst="rect">
            <a:avLst/>
          </a:prstGeom>
          <a:noFill/>
          <a:ln w="0">
            <a:noFill/>
          </a:ln>
        </p:spPr>
      </p:pic>
      <p:sp>
        <p:nvSpPr>
          <p:cNvPr id="110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Mean — The Arithmetic Average</a:t>
            </a:r>
            <a:endParaRPr lang="en-US" sz="2600" b="0" u="none" strike="noStrike">
              <a:solidFill>
                <a:srgbClr val="000000"/>
              </a:solidFill>
              <a:effectLst/>
              <a:uFillTx/>
              <a:latin typeface="Arial"/>
            </a:endParaRPr>
          </a:p>
        </p:txBody>
      </p:sp>
      <p:sp>
        <p:nvSpPr>
          <p:cNvPr id="1110" name="Text 3"/>
          <p:cNvSpPr/>
          <p:nvPr/>
        </p:nvSpPr>
        <p:spPr>
          <a:xfrm>
            <a:off x="548640" y="1783080"/>
            <a:ext cx="502884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mean adds up every value and divides by how many values there are — the formula from last session’s notation lesson, in action</a:t>
            </a:r>
            <a:endParaRPr lang="en-US" sz="2000" b="0" u="none" strike="noStrike">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It uses every single value in the calculation, which makes it sensitive — one extreme value can shift it substantially</a:t>
            </a:r>
            <a:endParaRPr lang="en-US" sz="2000" b="0" u="none" strike="noStrike">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Only meaningful on interval or ratio data — calculating a "mean" of nominal categories makes no sense at all</a:t>
            </a:r>
            <a:endParaRPr lang="en-US" sz="2000" b="0" u="none" strike="noStrike">
              <a:solidFill>
                <a:srgbClr val="000000"/>
              </a:solidFill>
              <a:effectLst/>
              <a:uFillTx/>
              <a:latin typeface="Arial"/>
              <a:cs typeface="Arial"/>
            </a:endParaRPr>
          </a:p>
        </p:txBody>
      </p:sp>
      <p:sp>
        <p:nvSpPr>
          <p:cNvPr id="1111" name="Shape 4"/>
          <p:cNvSpPr/>
          <p:nvPr/>
        </p:nvSpPr>
        <p:spPr>
          <a:xfrm>
            <a:off x="5852160" y="1737360"/>
            <a:ext cx="580608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12" name="Shape 5"/>
          <p:cNvSpPr/>
          <p:nvPr/>
        </p:nvSpPr>
        <p:spPr>
          <a:xfrm>
            <a:off x="601668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13" name="Shape 6"/>
          <p:cNvSpPr/>
          <p:nvPr/>
        </p:nvSpPr>
        <p:spPr>
          <a:xfrm>
            <a:off x="621792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14" name="Shape 7"/>
          <p:cNvSpPr/>
          <p:nvPr/>
        </p:nvSpPr>
        <p:spPr>
          <a:xfrm>
            <a:off x="641916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15" name="Text 8"/>
          <p:cNvSpPr/>
          <p:nvPr/>
        </p:nvSpPr>
        <p:spPr>
          <a:xfrm>
            <a:off x="6035040" y="2148840"/>
            <a:ext cx="548604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400" b="0" u="none" strike="noStrike">
                <a:solidFill>
                  <a:srgbClr val="F1F5F9"/>
                </a:solidFill>
                <a:effectLst/>
                <a:uFillTx/>
                <a:latin typeface="Cantarell"/>
                <a:ea typeface="Consolas"/>
              </a:rPr>
              <a:t>x̄ = (1/n) · Σ xᵢ</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 </a:t>
            </a:r>
            <a:endParaRPr lang="en-US" sz="1400" b="0" u="none" strike="noStrike">
              <a:solidFill>
                <a:srgbClr val="000000"/>
              </a:solidFill>
              <a:effectLst/>
              <a:uFillTx/>
              <a:latin typeface="Cantarell"/>
            </a:endParaRPr>
          </a:p>
          <a:p>
            <a:pPr defTabSz="914400">
              <a:lnSpc>
                <a:spcPct val="110000"/>
              </a:lnSpc>
              <a:tabLst>
                <a:tab pos="0" algn="l"/>
              </a:tabLst>
            </a:pPr>
            <a:r>
              <a:rPr lang="en-US" sz="1400" b="0" i="1" u="none" strike="noStrike">
                <a:solidFill>
                  <a:srgbClr val="94A3B8"/>
                </a:solidFill>
                <a:effectLst/>
                <a:uFillTx/>
                <a:latin typeface="Cantarell"/>
                <a:ea typeface="Consolas"/>
              </a:rPr>
              <a:t># Example: [4, 8, 6, 10, 2]</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mean = (4 + 8 + 6 + 10 + 2) / 5</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     = 30 / 5</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     = 6</a:t>
            </a:r>
            <a:endParaRPr lang="en-US" sz="14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1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1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69</a:t>
            </a:r>
            <a:endParaRPr lang="en-US" sz="900" b="0" u="none" strike="noStrike">
              <a:solidFill>
                <a:srgbClr val="000000"/>
              </a:solidFill>
              <a:effectLst/>
              <a:uFillTx/>
              <a:latin typeface="Arial"/>
            </a:endParaRPr>
          </a:p>
        </p:txBody>
      </p:sp>
      <p:pic>
        <p:nvPicPr>
          <p:cNvPr id="1118" name="Image 0" descr="/home/claude/assets/logo_crop.png"/>
          <p:cNvPicPr/>
          <p:nvPr/>
        </p:nvPicPr>
        <p:blipFill>
          <a:blip r:embed="rId3"/>
          <a:stretch/>
        </p:blipFill>
        <p:spPr>
          <a:xfrm>
            <a:off x="11201400" y="384120"/>
            <a:ext cx="456840" cy="511560"/>
          </a:xfrm>
          <a:prstGeom prst="rect">
            <a:avLst/>
          </a:prstGeom>
          <a:noFill/>
          <a:ln w="0">
            <a:noFill/>
          </a:ln>
        </p:spPr>
      </p:pic>
      <p:sp>
        <p:nvSpPr>
          <p:cNvPr id="111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Median — The True Middle Value</a:t>
            </a:r>
            <a:endParaRPr lang="en-US" sz="2600" b="0" u="none" strike="noStrike">
              <a:solidFill>
                <a:srgbClr val="000000"/>
              </a:solidFill>
              <a:effectLst/>
              <a:uFillTx/>
              <a:latin typeface="Arial"/>
            </a:endParaRPr>
          </a:p>
        </p:txBody>
      </p:sp>
      <p:sp>
        <p:nvSpPr>
          <p:cNvPr id="1120" name="Text 3"/>
          <p:cNvSpPr/>
          <p:nvPr/>
        </p:nvSpPr>
        <p:spPr>
          <a:xfrm>
            <a:off x="548640" y="1783080"/>
            <a:ext cx="502884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median is the exact middle value once all your data is sorted — half the values fall below it, half above</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For an even number of values, it’s the average of the two middle numbers</a:t>
            </a:r>
            <a:endParaRPr lang="en-US" sz="2000" b="0" u="none" strike="noStrike">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It ignores how extreme the highest and lowest values are — this is exactly why it resists outliers so much better than the mean</a:t>
            </a:r>
            <a:endParaRPr lang="en-US" sz="2000" b="0" u="none" strike="noStrike">
              <a:solidFill>
                <a:srgbClr val="000000"/>
              </a:solidFill>
              <a:effectLst/>
              <a:uFillTx/>
              <a:latin typeface="Arial"/>
              <a:cs typeface="Arial"/>
            </a:endParaRPr>
          </a:p>
        </p:txBody>
      </p:sp>
      <p:sp>
        <p:nvSpPr>
          <p:cNvPr id="1121" name="Shape 4"/>
          <p:cNvSpPr/>
          <p:nvPr/>
        </p:nvSpPr>
        <p:spPr>
          <a:xfrm>
            <a:off x="5852160" y="1737360"/>
            <a:ext cx="580608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22" name="Shape 5"/>
          <p:cNvSpPr/>
          <p:nvPr/>
        </p:nvSpPr>
        <p:spPr>
          <a:xfrm>
            <a:off x="601668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23" name="Shape 6"/>
          <p:cNvSpPr/>
          <p:nvPr/>
        </p:nvSpPr>
        <p:spPr>
          <a:xfrm>
            <a:off x="621792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24" name="Shape 7"/>
          <p:cNvSpPr/>
          <p:nvPr/>
        </p:nvSpPr>
        <p:spPr>
          <a:xfrm>
            <a:off x="641916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25" name="Text 8"/>
          <p:cNvSpPr/>
          <p:nvPr/>
        </p:nvSpPr>
        <p:spPr>
          <a:xfrm>
            <a:off x="6035040" y="2148840"/>
            <a:ext cx="548604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400" b="0" i="1" u="none" strike="noStrike">
                <a:solidFill>
                  <a:srgbClr val="94A3B8"/>
                </a:solidFill>
                <a:effectLst/>
                <a:uFillTx/>
                <a:latin typeface="Cantarell"/>
                <a:ea typeface="Consolas"/>
              </a:rPr>
              <a:t># Odd count: sort, take the exact middle</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[2, 4, 6, 8, 10]  →  median = 6</a:t>
            </a:r>
            <a:endParaRPr lang="en-US" sz="1400" b="0" u="none" strike="noStrike">
              <a:solidFill>
                <a:srgbClr val="000000"/>
              </a:solidFill>
              <a:effectLst/>
              <a:uFillTx/>
              <a:latin typeface="Cantarell"/>
            </a:endParaRPr>
          </a:p>
          <a:p>
            <a:pPr defTabSz="914400">
              <a:lnSpc>
                <a:spcPct val="110000"/>
              </a:lnSpc>
              <a:tabLst>
                <a:tab pos="0" algn="l"/>
              </a:tabLst>
            </a:pPr>
            <a:r>
              <a:rPr lang="en-US" sz="1400" b="0" i="1" u="none" strike="noStrike">
                <a:solidFill>
                  <a:srgbClr val="94A3B8"/>
                </a:solidFill>
                <a:effectLst/>
                <a:uFillTx/>
                <a:latin typeface="Cantarell"/>
                <a:ea typeface="Consolas"/>
              </a:rPr>
              <a:t># Even count: average the two middle values</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[2, 4, 6, 8]      →  median = (4 + 6) / 2 = 5</a:t>
            </a:r>
            <a:endParaRPr lang="en-US" sz="1400" b="0" u="none" strike="noStrike">
              <a:solidFill>
                <a:srgbClr val="000000"/>
              </a:solidFill>
              <a:effectLst/>
              <a:uFillTx/>
              <a:latin typeface="Cantarell"/>
            </a:endParaRPr>
          </a:p>
          <a:p>
            <a:pPr defTabSz="914400">
              <a:lnSpc>
                <a:spcPct val="110000"/>
              </a:lnSpc>
              <a:tabLst>
                <a:tab pos="0" algn="l"/>
              </a:tabLst>
            </a:pPr>
            <a:r>
              <a:rPr lang="en-US" sz="1400" b="0" i="1" u="none" strike="noStrike">
                <a:solidFill>
                  <a:srgbClr val="94A3B8"/>
                </a:solidFill>
                <a:effectLst/>
                <a:uFillTx/>
                <a:latin typeface="Cantarell"/>
                <a:ea typeface="Consolas"/>
              </a:rPr>
              <a:t># Works even on ordinal data (e.g. star ratings)</a:t>
            </a:r>
            <a:endParaRPr lang="en-US" sz="14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2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2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70</a:t>
            </a:r>
            <a:endParaRPr lang="en-US" sz="900" b="0" u="none" strike="noStrike">
              <a:solidFill>
                <a:srgbClr val="000000"/>
              </a:solidFill>
              <a:effectLst/>
              <a:uFillTx/>
              <a:latin typeface="Arial"/>
            </a:endParaRPr>
          </a:p>
        </p:txBody>
      </p:sp>
      <p:pic>
        <p:nvPicPr>
          <p:cNvPr id="1128" name="Image 0" descr="/home/claude/assets/logo_crop.png"/>
          <p:cNvPicPr/>
          <p:nvPr/>
        </p:nvPicPr>
        <p:blipFill>
          <a:blip r:embed="rId3"/>
          <a:stretch/>
        </p:blipFill>
        <p:spPr>
          <a:xfrm>
            <a:off x="11201400" y="384120"/>
            <a:ext cx="456840" cy="511560"/>
          </a:xfrm>
          <a:prstGeom prst="rect">
            <a:avLst/>
          </a:prstGeom>
          <a:noFill/>
          <a:ln w="0">
            <a:noFill/>
          </a:ln>
        </p:spPr>
      </p:pic>
      <p:sp>
        <p:nvSpPr>
          <p:cNvPr id="112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Mode — The Most Frequent Value</a:t>
            </a:r>
            <a:endParaRPr lang="en-US" sz="2600" b="0" u="none" strike="noStrike">
              <a:solidFill>
                <a:srgbClr val="000000"/>
              </a:solidFill>
              <a:effectLst/>
              <a:uFillTx/>
              <a:latin typeface="Arial"/>
            </a:endParaRPr>
          </a:p>
        </p:txBody>
      </p:sp>
      <p:sp>
        <p:nvSpPr>
          <p:cNvPr id="1130" name="Text 3"/>
          <p:cNvSpPr/>
          <p:nvPr/>
        </p:nvSpPr>
        <p:spPr>
          <a:xfrm>
            <a:off x="548640" y="1783080"/>
            <a:ext cx="502884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The mode is simply whichever value appears most often in the dataset</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It’s the only measure of central tendency that works on nominal (category) data — mean and median don’t apply there at all</a:t>
            </a:r>
            <a:endParaRPr lang="en-US" sz="2000" b="0" u="none" strike="noStrike" dirty="0">
              <a:solidFill>
                <a:srgbClr val="000000"/>
              </a:solidFill>
              <a:effectLst/>
              <a:uFillTx/>
              <a:latin typeface="Arial"/>
              <a:cs typeface="Arial"/>
            </a:endParaRPr>
          </a:p>
          <a:p>
            <a:pPr marL="285750" indent="-28575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A dataset can have one mode, several (multimodal), or none at all if every value appears equally often</a:t>
            </a:r>
            <a:endParaRPr lang="en-US" sz="2000" b="0" u="none" strike="noStrike" dirty="0">
              <a:solidFill>
                <a:srgbClr val="000000"/>
              </a:solidFill>
              <a:effectLst/>
              <a:uFillTx/>
              <a:latin typeface="Arial"/>
              <a:cs typeface="Arial"/>
            </a:endParaRPr>
          </a:p>
        </p:txBody>
      </p:sp>
      <p:sp>
        <p:nvSpPr>
          <p:cNvPr id="1131" name="Shape 4"/>
          <p:cNvSpPr/>
          <p:nvPr/>
        </p:nvSpPr>
        <p:spPr>
          <a:xfrm>
            <a:off x="5852160" y="1737360"/>
            <a:ext cx="580608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2" name="Shape 5"/>
          <p:cNvSpPr/>
          <p:nvPr/>
        </p:nvSpPr>
        <p:spPr>
          <a:xfrm>
            <a:off x="601668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33" name="Shape 6"/>
          <p:cNvSpPr/>
          <p:nvPr/>
        </p:nvSpPr>
        <p:spPr>
          <a:xfrm>
            <a:off x="621792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34" name="Shape 7"/>
          <p:cNvSpPr/>
          <p:nvPr/>
        </p:nvSpPr>
        <p:spPr>
          <a:xfrm>
            <a:off x="641916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35" name="Text 8"/>
          <p:cNvSpPr/>
          <p:nvPr/>
        </p:nvSpPr>
        <p:spPr>
          <a:xfrm>
            <a:off x="6035040" y="2148840"/>
            <a:ext cx="548604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400" b="0" u="none" strike="noStrike">
                <a:solidFill>
                  <a:srgbClr val="F1F5F9"/>
                </a:solidFill>
                <a:effectLst/>
                <a:uFillTx/>
                <a:latin typeface="Cantarell"/>
                <a:ea typeface="Consolas"/>
              </a:rPr>
              <a:t>[2, 4, 4, 6, 8]  →  mode = 4</a:t>
            </a:r>
            <a:endParaRPr lang="en-US" sz="1400" b="0" u="none" strike="noStrike">
              <a:solidFill>
                <a:srgbClr val="000000"/>
              </a:solidFill>
              <a:effectLst/>
              <a:uFillTx/>
              <a:latin typeface="Cantarell"/>
            </a:endParaRPr>
          </a:p>
          <a:p>
            <a:pPr defTabSz="914400">
              <a:lnSpc>
                <a:spcPct val="110000"/>
              </a:lnSpc>
              <a:tabLst>
                <a:tab pos="0" algn="l"/>
              </a:tabLst>
            </a:pPr>
            <a:r>
              <a:rPr lang="en-US" sz="1400" b="0" i="1" u="none" strike="noStrike">
                <a:solidFill>
                  <a:srgbClr val="94A3B8"/>
                </a:solidFill>
                <a:effectLst/>
                <a:uFillTx/>
                <a:latin typeface="Cantarell"/>
                <a:ea typeface="Consolas"/>
              </a:rPr>
              <a:t># appears twice</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 </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['red', 'blue', 'red', 'red']</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                 →  mode = 'red'</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 </a:t>
            </a:r>
            <a:endParaRPr lang="en-US" sz="1400" b="0" u="none" strike="noStrike">
              <a:solidFill>
                <a:srgbClr val="000000"/>
              </a:solidFill>
              <a:effectLst/>
              <a:uFillTx/>
              <a:latin typeface="Cantarell"/>
            </a:endParaRPr>
          </a:p>
          <a:p>
            <a:pPr defTabSz="914400">
              <a:lnSpc>
                <a:spcPct val="110000"/>
              </a:lnSpc>
              <a:tabLst>
                <a:tab pos="0" algn="l"/>
              </a:tabLst>
            </a:pPr>
            <a:r>
              <a:rPr lang="en-US" sz="1400" b="0" u="none" strike="noStrike">
                <a:solidFill>
                  <a:srgbClr val="F1F5F9"/>
                </a:solidFill>
                <a:effectLst/>
                <a:uFillTx/>
                <a:latin typeface="Cantarell"/>
                <a:ea typeface="Consolas"/>
              </a:rPr>
              <a:t>[1, 2, 3, 4]  →  no mode</a:t>
            </a:r>
            <a:endParaRPr lang="en-US" sz="1400" b="0" u="none" strike="noStrike">
              <a:solidFill>
                <a:srgbClr val="000000"/>
              </a:solidFill>
              <a:effectLst/>
              <a:uFillTx/>
              <a:latin typeface="Cantarell"/>
            </a:endParaRPr>
          </a:p>
          <a:p>
            <a:pPr defTabSz="914400">
              <a:lnSpc>
                <a:spcPct val="110000"/>
              </a:lnSpc>
              <a:tabLst>
                <a:tab pos="0" algn="l"/>
              </a:tabLst>
            </a:pPr>
            <a:r>
              <a:rPr lang="en-US" sz="1400" b="0" i="1" u="none" strike="noStrike">
                <a:solidFill>
                  <a:srgbClr val="94A3B8"/>
                </a:solidFill>
                <a:effectLst/>
                <a:uFillTx/>
                <a:latin typeface="Cantarell"/>
                <a:ea typeface="Consolas"/>
              </a:rPr>
              <a:t># every value appears once</a:t>
            </a:r>
            <a:endParaRPr lang="en-US" sz="14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3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3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71</a:t>
            </a:r>
            <a:endParaRPr lang="en-US" sz="900" b="0" u="none" strike="noStrike">
              <a:solidFill>
                <a:srgbClr val="000000"/>
              </a:solidFill>
              <a:effectLst/>
              <a:uFillTx/>
              <a:latin typeface="Arial"/>
            </a:endParaRPr>
          </a:p>
        </p:txBody>
      </p:sp>
      <p:pic>
        <p:nvPicPr>
          <p:cNvPr id="1138" name="Image 0" descr="/home/claude/assets/logo_crop.png"/>
          <p:cNvPicPr/>
          <p:nvPr/>
        </p:nvPicPr>
        <p:blipFill>
          <a:blip r:embed="rId3"/>
          <a:stretch/>
        </p:blipFill>
        <p:spPr>
          <a:xfrm>
            <a:off x="11201400" y="384120"/>
            <a:ext cx="456840" cy="511560"/>
          </a:xfrm>
          <a:prstGeom prst="rect">
            <a:avLst/>
          </a:prstGeom>
          <a:noFill/>
          <a:ln w="0">
            <a:noFill/>
          </a:ln>
        </p:spPr>
      </p:pic>
      <p:sp>
        <p:nvSpPr>
          <p:cNvPr id="113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Same Three, with Libraries</a:t>
            </a:r>
            <a:endParaRPr lang="en-US" sz="2600" b="0" u="none" strike="noStrike">
              <a:solidFill>
                <a:srgbClr val="000000"/>
              </a:solidFill>
              <a:effectLst/>
              <a:uFillTx/>
              <a:latin typeface="Arial"/>
            </a:endParaRPr>
          </a:p>
        </p:txBody>
      </p:sp>
      <p:sp>
        <p:nvSpPr>
          <p:cNvPr id="1140"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Every library gives the same answer — pick whichever is already in your code.</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statistics is simplest, </a:t>
            </a:r>
            <a:r>
              <a:rPr lang="en-US" sz="2000" b="0" u="none" strike="noStrike" dirty="0" err="1">
                <a:solidFill>
                  <a:srgbClr val="1B1B20"/>
                </a:solidFill>
                <a:effectLst/>
                <a:uFillTx/>
                <a:latin typeface="Hanken Grotesk"/>
                <a:ea typeface="Hanken Grotesk"/>
              </a:rPr>
              <a:t>numpy</a:t>
            </a:r>
            <a:r>
              <a:rPr lang="en-US" sz="2000" b="0" u="none" strike="noStrike" dirty="0">
                <a:solidFill>
                  <a:srgbClr val="1B1B20"/>
                </a:solidFill>
                <a:effectLst/>
                <a:uFillTx/>
                <a:latin typeface="Hanken Grotesk"/>
                <a:ea typeface="Hanken Grotesk"/>
              </a:rPr>
              <a:t> and pandas are fastest on big data.</a:t>
            </a:r>
            <a:endParaRPr lang="en-US" sz="2000" b="0" u="none" strike="noStrike" dirty="0">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err="1">
                <a:solidFill>
                  <a:srgbClr val="1B1B20"/>
                </a:solidFill>
                <a:effectLst/>
                <a:uFillTx/>
                <a:latin typeface="Hanken Grotesk"/>
                <a:ea typeface="Hanken Grotesk"/>
              </a:rPr>
              <a:t>scipy.stats.mode</a:t>
            </a:r>
            <a:r>
              <a:rPr lang="en-US" sz="2000" b="0" u="none" strike="noStrike" dirty="0">
                <a:solidFill>
                  <a:srgbClr val="1B1B20"/>
                </a:solidFill>
                <a:effectLst/>
                <a:uFillTx/>
                <a:latin typeface="Hanken Grotesk"/>
                <a:ea typeface="Hanken Grotesk"/>
              </a:rPr>
              <a:t> returns the mode too, with its count.</a:t>
            </a:r>
            <a:endParaRPr lang="en-US" sz="2000" b="0" u="none" strike="noStrike" dirty="0">
              <a:solidFill>
                <a:srgbClr val="000000"/>
              </a:solidFill>
              <a:effectLst/>
              <a:uFillTx/>
              <a:latin typeface="Arial"/>
              <a:cs typeface="Arial"/>
            </a:endParaRPr>
          </a:p>
        </p:txBody>
      </p:sp>
      <p:sp>
        <p:nvSpPr>
          <p:cNvPr id="1141"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42"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43"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44"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45"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statistics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import numpy as np</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import pandas as pd</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from scipy import stats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data = [4, 8, 6, 5, 3, 8, 9]</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print(statistics.mean(data))      </a:t>
            </a:r>
            <a:r>
              <a:rPr lang="en-US" sz="1200" b="0" i="1" u="none" strike="noStrike">
                <a:solidFill>
                  <a:srgbClr val="94A3B8"/>
                </a:solidFill>
                <a:effectLst/>
                <a:uFillTx/>
                <a:latin typeface="Cantarell"/>
                <a:ea typeface="Consolas"/>
              </a:rPr>
              <a:t># 6.142857142857143</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print(np.median(data))            </a:t>
            </a:r>
            <a:r>
              <a:rPr lang="en-US" sz="1200" b="0" i="1" u="none" strike="noStrike">
                <a:solidFill>
                  <a:srgbClr val="94A3B8"/>
                </a:solidFill>
                <a:effectLst/>
                <a:uFillTx/>
                <a:latin typeface="Cantarell"/>
                <a:ea typeface="Consolas"/>
              </a:rPr>
              <a:t># 6.0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print(pd.Series(data).mode()[0])  </a:t>
            </a:r>
            <a:r>
              <a:rPr lang="en-US" sz="1200" b="0" i="1" u="none" strike="noStrike">
                <a:solidFill>
                  <a:srgbClr val="94A3B8"/>
                </a:solidFill>
                <a:effectLst/>
                <a:uFillTx/>
                <a:latin typeface="Cantarell"/>
                <a:ea typeface="Consolas"/>
              </a:rPr>
              <a:t># 8</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print(stats.mode(data).mode)      </a:t>
            </a:r>
            <a:r>
              <a:rPr lang="en-US" sz="1200" b="0" i="1" u="none" strike="noStrike">
                <a:solidFill>
                  <a:srgbClr val="94A3B8"/>
                </a:solidFill>
                <a:effectLst/>
                <a:uFillTx/>
                <a:latin typeface="Cantarell"/>
                <a:ea typeface="Consolas"/>
              </a:rPr>
              <a:t># 8</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print(statistics.multimode([1, 1, 2, 2, 3]))  </a:t>
            </a:r>
            <a:r>
              <a:rPr lang="en-US" sz="1200" b="0" i="1" u="none" strike="noStrike">
                <a:solidFill>
                  <a:srgbClr val="94A3B8"/>
                </a:solidFill>
                <a:effectLst/>
                <a:uFillTx/>
                <a:latin typeface="Cantarell"/>
                <a:ea typeface="Consolas"/>
              </a:rPr>
              <a:t># [1, 2]</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46"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47"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72</a:t>
            </a:r>
            <a:endParaRPr lang="en-US" sz="900" b="0" u="none" strike="noStrike">
              <a:solidFill>
                <a:srgbClr val="000000"/>
              </a:solidFill>
              <a:effectLst/>
              <a:uFillTx/>
              <a:latin typeface="Arial"/>
            </a:endParaRPr>
          </a:p>
        </p:txBody>
      </p:sp>
      <p:pic>
        <p:nvPicPr>
          <p:cNvPr id="1148" name="Image 0" descr="/home/claude/assets/logo_crop.png"/>
          <p:cNvPicPr/>
          <p:nvPr/>
        </p:nvPicPr>
        <p:blipFill>
          <a:blip r:embed="rId3"/>
          <a:stretch/>
        </p:blipFill>
        <p:spPr>
          <a:xfrm>
            <a:off x="11201400" y="384120"/>
            <a:ext cx="456840" cy="511560"/>
          </a:xfrm>
          <a:prstGeom prst="rect">
            <a:avLst/>
          </a:prstGeom>
          <a:noFill/>
          <a:ln w="0">
            <a:noFill/>
          </a:ln>
        </p:spPr>
      </p:pic>
      <p:sp>
        <p:nvSpPr>
          <p:cNvPr id="1149"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When the Mean Lies to You</a:t>
            </a:r>
            <a:endParaRPr lang="en-US" sz="2600" b="0" u="none" strike="noStrike">
              <a:solidFill>
                <a:srgbClr val="000000"/>
              </a:solidFill>
              <a:effectLst/>
              <a:uFillTx/>
              <a:latin typeface="Arial"/>
            </a:endParaRPr>
          </a:p>
        </p:txBody>
      </p:sp>
      <p:sp>
        <p:nvSpPr>
          <p:cNvPr id="1150" name="Shape 3"/>
          <p:cNvSpPr/>
          <p:nvPr/>
        </p:nvSpPr>
        <p:spPr>
          <a:xfrm>
            <a:off x="54864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1" name="Shape 4"/>
          <p:cNvSpPr/>
          <p:nvPr/>
        </p:nvSpPr>
        <p:spPr>
          <a:xfrm>
            <a:off x="777240" y="1965960"/>
            <a:ext cx="5028840" cy="456840"/>
          </a:xfrm>
          <a:prstGeom prst="roundRect">
            <a:avLst>
              <a:gd name="adj" fmla="val 5000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52" name="Text 5"/>
          <p:cNvSpPr/>
          <p:nvPr/>
        </p:nvSpPr>
        <p:spPr>
          <a:xfrm>
            <a:off x="77724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The Classic Example</a:t>
            </a:r>
            <a:endParaRPr lang="en-US" sz="1400" b="0" u="none" strike="noStrike">
              <a:solidFill>
                <a:srgbClr val="000000"/>
              </a:solidFill>
              <a:effectLst/>
              <a:uFillTx/>
              <a:latin typeface="Arial"/>
            </a:endParaRPr>
          </a:p>
        </p:txBody>
      </p:sp>
      <p:sp>
        <p:nvSpPr>
          <p:cNvPr id="1153" name="Text 6"/>
          <p:cNvSpPr/>
          <p:nvPr/>
        </p:nvSpPr>
        <p:spPr>
          <a:xfrm>
            <a:off x="82296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Salaries at a small company: $40k, $42k, $45k, $48k, $500k (the owner)</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Mean = $135k — technically correct, but describes almost NOBODY’S actual salary</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Median = $45k — this is what a "typical" employee genuinely earns</a:t>
            </a:r>
            <a:endParaRPr lang="en-US" sz="1600" b="0" u="none" strike="noStrike" dirty="0">
              <a:solidFill>
                <a:srgbClr val="000000"/>
              </a:solidFill>
              <a:effectLst/>
              <a:uFillTx/>
              <a:latin typeface="Arial"/>
              <a:cs typeface="Arial"/>
            </a:endParaRPr>
          </a:p>
        </p:txBody>
      </p:sp>
      <p:sp>
        <p:nvSpPr>
          <p:cNvPr id="1154" name="Shape 7"/>
          <p:cNvSpPr/>
          <p:nvPr/>
        </p:nvSpPr>
        <p:spPr>
          <a:xfrm>
            <a:off x="6172200" y="1737360"/>
            <a:ext cx="5486040" cy="4023000"/>
          </a:xfrm>
          <a:prstGeom prst="roundRect">
            <a:avLst>
              <a:gd name="adj" fmla="val 1818"/>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5" name="Shape 8"/>
          <p:cNvSpPr/>
          <p:nvPr/>
        </p:nvSpPr>
        <p:spPr>
          <a:xfrm>
            <a:off x="6400800" y="1965960"/>
            <a:ext cx="5028840" cy="456840"/>
          </a:xfrm>
          <a:prstGeom prst="roundRect">
            <a:avLst>
              <a:gd name="adj" fmla="val 50000"/>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6" name="Text 9"/>
          <p:cNvSpPr/>
          <p:nvPr/>
        </p:nvSpPr>
        <p:spPr>
          <a:xfrm>
            <a:off x="6400800" y="1965960"/>
            <a:ext cx="5028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The Rule of Thumb</a:t>
            </a:r>
            <a:endParaRPr lang="en-US" sz="1400" b="0" u="none" strike="noStrike">
              <a:solidFill>
                <a:srgbClr val="000000"/>
              </a:solidFill>
              <a:effectLst/>
              <a:uFillTx/>
              <a:latin typeface="Arial"/>
            </a:endParaRPr>
          </a:p>
        </p:txBody>
      </p:sp>
      <p:sp>
        <p:nvSpPr>
          <p:cNvPr id="1157" name="Text 10"/>
          <p:cNvSpPr/>
          <p:nvPr/>
        </p:nvSpPr>
        <p:spPr>
          <a:xfrm>
            <a:off x="6446520" y="2697480"/>
            <a:ext cx="493740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When data is skewed or has extreme outliers, prefer the median</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When data is roughly symmetric with no extreme values, the mean is fine, and uses more information</a:t>
            </a:r>
            <a:endParaRPr lang="en-US" sz="1600" b="0" u="none" strike="noStrike" dirty="0">
              <a:solidFill>
                <a:srgbClr val="000000"/>
              </a:solidFill>
              <a:effectLst/>
              <a:uFillTx/>
              <a:latin typeface="Arial"/>
              <a:cs typeface="Arial"/>
            </a:endParaRPr>
          </a:p>
          <a:p>
            <a:pPr marL="285750" indent="-285750" defTabSz="914400">
              <a:lnSpc>
                <a:spcPct val="100000"/>
              </a:lnSpc>
              <a:spcAft>
                <a:spcPts val="901"/>
              </a:spcAft>
              <a:buClr>
                <a:srgbClr val="1B1B20"/>
              </a:buClr>
              <a:buFont typeface="Arial"/>
              <a:buChar char="•"/>
            </a:pPr>
            <a:r>
              <a:rPr lang="en-US" sz="1600" b="0" u="none" strike="noStrike" dirty="0">
                <a:solidFill>
                  <a:srgbClr val="1B1B20"/>
                </a:solidFill>
                <a:effectLst/>
                <a:uFillTx/>
                <a:latin typeface="Hanken Grotesk"/>
                <a:ea typeface="Hanken Grotesk"/>
              </a:rPr>
              <a:t>This is exactly why income, house prices, and similar data are almost always reported as medians in the news</a:t>
            </a:r>
            <a:endParaRPr lang="en-US" sz="16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5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5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73</a:t>
            </a:r>
            <a:endParaRPr lang="en-US" sz="900" b="0" u="none" strike="noStrike">
              <a:solidFill>
                <a:srgbClr val="000000"/>
              </a:solidFill>
              <a:effectLst/>
              <a:uFillTx/>
              <a:latin typeface="Arial"/>
            </a:endParaRPr>
          </a:p>
        </p:txBody>
      </p:sp>
      <p:pic>
        <p:nvPicPr>
          <p:cNvPr id="1160" name="Image 0" descr="/home/claude/assets/logo_crop.png"/>
          <p:cNvPicPr/>
          <p:nvPr/>
        </p:nvPicPr>
        <p:blipFill>
          <a:blip r:embed="rId3"/>
          <a:stretch/>
        </p:blipFill>
        <p:spPr>
          <a:xfrm>
            <a:off x="11201400" y="384120"/>
            <a:ext cx="456840" cy="511560"/>
          </a:xfrm>
          <a:prstGeom prst="rect">
            <a:avLst/>
          </a:prstGeom>
          <a:noFill/>
          <a:ln w="0">
            <a:noFill/>
          </a:ln>
        </p:spPr>
      </p:pic>
      <p:sp>
        <p:nvSpPr>
          <p:cNvPr id="1161"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When the Mean Lies — in Code</a:t>
            </a:r>
            <a:endParaRPr lang="en-US" sz="2600" b="0" u="none" strike="noStrike">
              <a:solidFill>
                <a:srgbClr val="000000"/>
              </a:solidFill>
              <a:effectLst/>
              <a:uFillTx/>
              <a:latin typeface="Arial"/>
            </a:endParaRPr>
          </a:p>
        </p:txBody>
      </p:sp>
      <p:sp>
        <p:nvSpPr>
          <p:cNvPr id="1162"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One $500k salary drags the mean to $135k; the median stays at $45k.</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 trimmed mean drops a slice from each end before averaging.</a:t>
            </a:r>
            <a:endParaRPr lang="en-US" sz="2000" b="0" u="none" strike="noStrike">
              <a:solidFill>
                <a:srgbClr val="000000"/>
              </a:solidFill>
              <a:effectLst/>
              <a:uFillTx/>
              <a:latin typeface="Arial"/>
              <a:cs typeface="Arial"/>
            </a:endParaRPr>
          </a:p>
          <a:p>
            <a:pPr marL="285750" indent="-285750" defTabSz="914400">
              <a:lnSpc>
                <a:spcPct val="100000"/>
              </a:lnSpc>
              <a:spcAft>
                <a:spcPts val="1400"/>
              </a:spcAft>
              <a:buClr>
                <a:srgbClr val="1B1B20"/>
              </a:buClr>
              <a:buFont typeface="Arial"/>
              <a:buChar char="•"/>
            </a:pPr>
            <a:r>
              <a:rPr lang="en-US" sz="2000" b="0" u="none" strike="noStrike" dirty="0">
                <a:solidFill>
                  <a:srgbClr val="1B1B20"/>
                </a:solidFill>
                <a:effectLst/>
                <a:uFillTx/>
                <a:latin typeface="Hanken Grotesk"/>
                <a:ea typeface="Hanken Grotesk"/>
              </a:rPr>
              <a:t>A weighted mean counts some values more than others.</a:t>
            </a:r>
            <a:endParaRPr lang="en-US" sz="2000" b="0" u="none" strike="noStrike">
              <a:solidFill>
                <a:srgbClr val="000000"/>
              </a:solidFill>
              <a:effectLst/>
              <a:uFillTx/>
              <a:latin typeface="Arial"/>
              <a:cs typeface="Arial"/>
            </a:endParaRPr>
          </a:p>
        </p:txBody>
      </p:sp>
      <p:sp>
        <p:nvSpPr>
          <p:cNvPr id="1163"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64"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165"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66"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167"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numpy as np</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from scipy import stats</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salaries = [40, 42, 45, 48, 500]   </a:t>
            </a:r>
            <a:r>
              <a:rPr lang="en-US" sz="1200" b="0" i="1" u="none" strike="noStrike">
                <a:solidFill>
                  <a:srgbClr val="94A3B8"/>
                </a:solidFill>
                <a:effectLst/>
                <a:uFillTx/>
                <a:latin typeface="Cantarell"/>
                <a:ea typeface="Consolas"/>
              </a:rPr>
              <a:t># in $k</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print(np.mean(salaries))          </a:t>
            </a:r>
            <a:r>
              <a:rPr lang="en-US" sz="1200" b="0" i="1" u="none" strike="noStrike">
                <a:solidFill>
                  <a:srgbClr val="94A3B8"/>
                </a:solidFill>
                <a:effectLst/>
                <a:uFillTx/>
                <a:latin typeface="Cantarell"/>
                <a:ea typeface="Consolas"/>
              </a:rPr>
              <a:t># 135.0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print(np.median(salaries))        </a:t>
            </a:r>
            <a:r>
              <a:rPr lang="en-US" sz="1200" b="0" i="1" u="none" strike="noStrike">
                <a:solidFill>
                  <a:srgbClr val="94A3B8"/>
                </a:solidFill>
                <a:effectLst/>
                <a:uFillTx/>
                <a:latin typeface="Cantarell"/>
                <a:ea typeface="Consolas"/>
              </a:rPr>
              <a:t># 45.0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print(stats.trim_mean(salaries, 0.2))  </a:t>
            </a:r>
            <a:r>
              <a:rPr lang="en-US" sz="1200" b="0" i="1" u="none" strike="noStrike">
                <a:solidFill>
                  <a:srgbClr val="94A3B8"/>
                </a:solidFill>
                <a:effectLst/>
                <a:uFillTx/>
                <a:latin typeface="Cantarell"/>
                <a:ea typeface="Consolas"/>
              </a:rPr>
              <a:t># 45.0</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i="1" u="none" strike="noStrike">
                <a:solidFill>
                  <a:srgbClr val="94A3B8"/>
                </a:solidFill>
                <a:effectLst/>
                <a:uFillTx/>
                <a:latin typeface="Cantarell"/>
                <a:ea typeface="Consolas"/>
              </a:rPr>
              <a:t># Weighted mean: exam worth 3x the quiz</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print(np.average([80, 90], weights=[1, 3]))  </a:t>
            </a:r>
            <a:r>
              <a:rPr lang="en-US" sz="1200" b="0" i="1" u="none" strike="noStrike">
                <a:solidFill>
                  <a:srgbClr val="94A3B8"/>
                </a:solidFill>
                <a:effectLst/>
                <a:uFillTx/>
                <a:latin typeface="Cantarell"/>
                <a:ea typeface="Consolas"/>
              </a:rPr>
              <a:t># 87.5</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6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6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74</a:t>
            </a:r>
            <a:endParaRPr lang="en-US" sz="900" b="0" u="none" strike="noStrike">
              <a:solidFill>
                <a:srgbClr val="000000"/>
              </a:solidFill>
              <a:effectLst/>
              <a:uFillTx/>
              <a:latin typeface="Arial"/>
            </a:endParaRPr>
          </a:p>
        </p:txBody>
      </p:sp>
      <p:pic>
        <p:nvPicPr>
          <p:cNvPr id="1170" name="Image 0" descr="/home/claude/assets/logo_crop.png"/>
          <p:cNvPicPr/>
          <p:nvPr/>
        </p:nvPicPr>
        <p:blipFill>
          <a:blip r:embed="rId3"/>
          <a:stretch/>
        </p:blipFill>
        <p:spPr>
          <a:xfrm>
            <a:off x="11201400" y="384120"/>
            <a:ext cx="456840" cy="511560"/>
          </a:xfrm>
          <a:prstGeom prst="rect">
            <a:avLst/>
          </a:prstGeom>
          <a:noFill/>
          <a:ln w="0">
            <a:noFill/>
          </a:ln>
        </p:spPr>
      </p:pic>
      <p:sp>
        <p:nvSpPr>
          <p:cNvPr id="117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7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17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PART 6</a:t>
            </a:r>
            <a:endParaRPr lang="en-US" sz="900" b="0" u="none" strike="noStrike">
              <a:solidFill>
                <a:srgbClr val="000000"/>
              </a:solidFill>
              <a:effectLst/>
              <a:uFillTx/>
              <a:latin typeface="Arial"/>
            </a:endParaRPr>
          </a:p>
        </p:txBody>
      </p:sp>
      <p:sp>
        <p:nvSpPr>
          <p:cNvPr id="117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Practice Set — Central Tendency</a:t>
            </a:r>
            <a:endParaRPr lang="en-US" sz="2200" b="0" u="none" strike="noStrike">
              <a:solidFill>
                <a:srgbClr val="000000"/>
              </a:solidFill>
              <a:effectLst/>
              <a:uFillTx/>
              <a:latin typeface="Arial"/>
            </a:endParaRPr>
          </a:p>
        </p:txBody>
      </p:sp>
      <p:sp>
        <p:nvSpPr>
          <p:cNvPr id="117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Try these yourself first — pencil, paper or a quick Python cell.</a:t>
            </a:r>
            <a:endParaRPr lang="en-US" sz="1200" b="0" u="none" strike="noStrike">
              <a:solidFill>
                <a:srgbClr val="000000"/>
              </a:solidFill>
              <a:effectLst/>
              <a:uFillTx/>
              <a:latin typeface="Arial"/>
            </a:endParaRPr>
          </a:p>
        </p:txBody>
      </p:sp>
      <p:sp>
        <p:nvSpPr>
          <p:cNvPr id="117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7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17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Calculate the mean, median, and mode of [5, 7, 7, 9, 100] by hand</a:t>
            </a:r>
            <a:endParaRPr lang="en-US" sz="1400" b="0" u="none" strike="noStrike">
              <a:solidFill>
                <a:srgbClr val="000000"/>
              </a:solidFill>
              <a:effectLst/>
              <a:uFillTx/>
              <a:latin typeface="Arial"/>
            </a:endParaRPr>
          </a:p>
        </p:txBody>
      </p:sp>
      <p:sp>
        <p:nvSpPr>
          <p:cNvPr id="118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18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which measure best represents that dataset’s "typical" value, and why</a:t>
            </a:r>
            <a:endParaRPr lang="en-US" sz="1400" b="0" u="none" strike="noStrike">
              <a:solidFill>
                <a:srgbClr val="000000"/>
              </a:solidFill>
              <a:effectLst/>
              <a:uFillTx/>
              <a:latin typeface="Arial"/>
            </a:endParaRPr>
          </a:p>
        </p:txBody>
      </p:sp>
      <p:sp>
        <p:nvSpPr>
          <p:cNvPr id="118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18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a dataset of shoe sizes sold in a store, explain which measure of central tendency is most useful for restocking decisions</a:t>
            </a:r>
            <a:endParaRPr lang="en-US" sz="1400" b="0" u="none" strike="noStrike">
              <a:solidFill>
                <a:srgbClr val="000000"/>
              </a:solidFill>
              <a:effectLst/>
              <a:uFillTx/>
              <a:latin typeface="Arial"/>
            </a:endParaRPr>
          </a:p>
        </p:txBody>
      </p:sp>
      <p:sp>
        <p:nvSpPr>
          <p:cNvPr id="1188" name="Shape 19"/>
          <p:cNvSpPr/>
          <p:nvPr/>
        </p:nvSpPr>
        <p:spPr>
          <a:xfrm>
            <a:off x="548640" y="47638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9" name="Shape 20"/>
          <p:cNvSpPr/>
          <p:nvPr/>
        </p:nvSpPr>
        <p:spPr>
          <a:xfrm>
            <a:off x="731520" y="500184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0" name="Text 21"/>
          <p:cNvSpPr/>
          <p:nvPr/>
        </p:nvSpPr>
        <p:spPr>
          <a:xfrm>
            <a:off x="731520" y="500184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1191" name="Text 22"/>
          <p:cNvSpPr/>
          <p:nvPr/>
        </p:nvSpPr>
        <p:spPr>
          <a:xfrm>
            <a:off x="1234440" y="47638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Find one real, published statistic that uses the median instead of the mean, and explain why that was likely the right choice</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192"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93"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94"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INDUSTRY-STYLE TASKS</a:t>
            </a:r>
            <a:endParaRPr lang="en-US" sz="1400" b="0" u="none" strike="noStrike">
              <a:solidFill>
                <a:srgbClr val="FFFFFF"/>
              </a:solidFill>
              <a:effectLst/>
              <a:uFillTx/>
              <a:latin typeface="Arial"/>
            </a:endParaRPr>
          </a:p>
        </p:txBody>
      </p:sp>
      <p:sp>
        <p:nvSpPr>
          <p:cNvPr id="1195"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Build the Judgment Every Real Analysis Depends On</a:t>
            </a:r>
            <a:endParaRPr lang="en-US" sz="4000" b="0" u="none" strike="noStrike">
              <a:solidFill>
                <a:srgbClr val="FFFFFF"/>
              </a:solidFill>
              <a:effectLst/>
              <a:uFillTx/>
              <a:latin typeface="Arial"/>
            </a:endParaRPr>
          </a:p>
        </p:txBody>
      </p:sp>
      <p:sp>
        <p:nvSpPr>
          <p:cNvPr id="1196"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Not abstract classification drills — choosing the right scale, chart, and average is what separates a clear analysis from a misleading one</a:t>
            </a:r>
            <a:endParaRPr lang="en-US" sz="1500" b="0" u="none" strike="noStrike">
              <a:solidFill>
                <a:srgbClr val="FFFFFF"/>
              </a:solidFill>
              <a:effectLst/>
              <a:uFillTx/>
              <a:latin typeface="Arial"/>
            </a:endParaRPr>
          </a:p>
        </p:txBody>
      </p:sp>
      <p:sp>
        <p:nvSpPr>
          <p:cNvPr id="1197"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75</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19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9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76</a:t>
            </a:r>
            <a:endParaRPr lang="en-US" sz="900" b="0" u="none" strike="noStrike">
              <a:solidFill>
                <a:srgbClr val="000000"/>
              </a:solidFill>
              <a:effectLst/>
              <a:uFillTx/>
              <a:latin typeface="Arial"/>
            </a:endParaRPr>
          </a:p>
        </p:txBody>
      </p:sp>
      <p:pic>
        <p:nvPicPr>
          <p:cNvPr id="1200" name="Image 0" descr="/home/claude/assets/logo_crop.png"/>
          <p:cNvPicPr/>
          <p:nvPr/>
        </p:nvPicPr>
        <p:blipFill>
          <a:blip r:embed="rId3"/>
          <a:stretch/>
        </p:blipFill>
        <p:spPr>
          <a:xfrm>
            <a:off x="11201400" y="384120"/>
            <a:ext cx="456840" cy="511560"/>
          </a:xfrm>
          <a:prstGeom prst="rect">
            <a:avLst/>
          </a:prstGeom>
          <a:noFill/>
          <a:ln w="0">
            <a:noFill/>
          </a:ln>
        </p:spPr>
      </p:pic>
      <p:sp>
        <p:nvSpPr>
          <p:cNvPr id="120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0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20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TASKS</a:t>
            </a:r>
            <a:endParaRPr lang="en-US" sz="900" b="0" u="none" strike="noStrike">
              <a:solidFill>
                <a:srgbClr val="000000"/>
              </a:solidFill>
              <a:effectLst/>
              <a:uFillTx/>
              <a:latin typeface="Arial"/>
            </a:endParaRPr>
          </a:p>
        </p:txBody>
      </p:sp>
      <p:sp>
        <p:nvSpPr>
          <p:cNvPr id="120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Part A: Statistics Basics &amp; Variables</a:t>
            </a:r>
            <a:endParaRPr lang="en-US" sz="2200" b="0" u="none" strike="noStrike">
              <a:solidFill>
                <a:srgbClr val="000000"/>
              </a:solidFill>
              <a:effectLst/>
              <a:uFillTx/>
              <a:latin typeface="Arial"/>
            </a:endParaRPr>
          </a:p>
        </p:txBody>
      </p:sp>
      <p:sp>
        <p:nvSpPr>
          <p:cNvPr id="120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Small tasks — do them in order.</a:t>
            </a:r>
            <a:endParaRPr lang="en-US" sz="1200" b="0" u="none" strike="noStrike">
              <a:solidFill>
                <a:srgbClr val="000000"/>
              </a:solidFill>
              <a:effectLst/>
              <a:uFillTx/>
              <a:latin typeface="Arial"/>
            </a:endParaRPr>
          </a:p>
        </p:txBody>
      </p:sp>
      <p:sp>
        <p:nvSpPr>
          <p:cNvPr id="120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0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20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Write a two-sentence explanation, for a non-technical friend, of the difference between descriptive and inferential statistics, using your own example for each.</a:t>
            </a:r>
            <a:endParaRPr lang="en-US" sz="1400" b="0" u="none" strike="noStrike">
              <a:solidFill>
                <a:srgbClr val="000000"/>
              </a:solidFill>
              <a:effectLst/>
              <a:uFillTx/>
              <a:latin typeface="Arial"/>
            </a:endParaRPr>
          </a:p>
        </p:txBody>
      </p:sp>
      <p:sp>
        <p:nvSpPr>
          <p:cNvPr id="121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21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a study on "does sleep duration affect reaction time," identify the population, a reasonable sample, and the independent and dependent variables.</a:t>
            </a:r>
            <a:endParaRPr lang="en-US" sz="1400" b="0" u="none" strike="noStrike">
              <a:solidFill>
                <a:srgbClr val="000000"/>
              </a:solidFill>
              <a:effectLst/>
              <a:uFillTx/>
              <a:latin typeface="Arial"/>
            </a:endParaRPr>
          </a:p>
        </p:txBody>
      </p:sp>
      <p:sp>
        <p:nvSpPr>
          <p:cNvPr id="121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1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21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Explain why almost all real-world data science analysis works with a sample rather than a full population, using a concrete example.</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21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1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77</a:t>
            </a:r>
            <a:endParaRPr lang="en-US" sz="900" b="0" u="none" strike="noStrike">
              <a:solidFill>
                <a:srgbClr val="000000"/>
              </a:solidFill>
              <a:effectLst/>
              <a:uFillTx/>
              <a:latin typeface="Arial"/>
            </a:endParaRPr>
          </a:p>
        </p:txBody>
      </p:sp>
      <p:pic>
        <p:nvPicPr>
          <p:cNvPr id="1220" name="Image 0" descr="/home/claude/assets/logo_crop.png"/>
          <p:cNvPicPr/>
          <p:nvPr/>
        </p:nvPicPr>
        <p:blipFill>
          <a:blip r:embed="rId3"/>
          <a:stretch/>
        </p:blipFill>
        <p:spPr>
          <a:xfrm>
            <a:off x="11201400" y="384120"/>
            <a:ext cx="456840" cy="511560"/>
          </a:xfrm>
          <a:prstGeom prst="rect">
            <a:avLst/>
          </a:prstGeom>
          <a:noFill/>
          <a:ln w="0">
            <a:noFill/>
          </a:ln>
        </p:spPr>
      </p:pic>
      <p:sp>
        <p:nvSpPr>
          <p:cNvPr id="122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2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22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TASKS</a:t>
            </a:r>
            <a:endParaRPr lang="en-US" sz="900" b="0" u="none" strike="noStrike">
              <a:solidFill>
                <a:srgbClr val="000000"/>
              </a:solidFill>
              <a:effectLst/>
              <a:uFillTx/>
              <a:latin typeface="Arial"/>
            </a:endParaRPr>
          </a:p>
        </p:txBody>
      </p:sp>
      <p:sp>
        <p:nvSpPr>
          <p:cNvPr id="122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000" b="1" u="none" strike="noStrike">
                <a:solidFill>
                  <a:srgbClr val="1B1B20"/>
                </a:solidFill>
                <a:effectLst/>
                <a:uFillTx/>
                <a:latin typeface="Bricolage Grotesque"/>
                <a:ea typeface="Bricolage Grotesque"/>
              </a:rPr>
              <a:t>Part B: Data Collection &amp; Measurement Quality</a:t>
            </a:r>
            <a:endParaRPr lang="en-US" sz="2000" b="0" u="none" strike="noStrike">
              <a:solidFill>
                <a:srgbClr val="000000"/>
              </a:solidFill>
              <a:effectLst/>
              <a:uFillTx/>
              <a:latin typeface="Arial"/>
            </a:endParaRPr>
          </a:p>
        </p:txBody>
      </p:sp>
      <p:sp>
        <p:nvSpPr>
          <p:cNvPr id="122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Small tasks — do them in order.</a:t>
            </a:r>
            <a:endParaRPr lang="en-US" sz="1200" b="0" u="none" strike="noStrike">
              <a:solidFill>
                <a:srgbClr val="000000"/>
              </a:solidFill>
              <a:effectLst/>
              <a:uFillTx/>
              <a:latin typeface="Arial"/>
            </a:endParaRPr>
          </a:p>
        </p:txBody>
      </p:sp>
      <p:sp>
        <p:nvSpPr>
          <p:cNvPr id="122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2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2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22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your own final project idea, decide whether you’d use primary or secondary data, and design a probability-based sampling plan to collect it.</a:t>
            </a:r>
            <a:endParaRPr lang="en-US" sz="1400" b="0" u="none" strike="noStrike">
              <a:solidFill>
                <a:srgbClr val="000000"/>
              </a:solidFill>
              <a:effectLst/>
              <a:uFillTx/>
              <a:latin typeface="Arial"/>
            </a:endParaRPr>
          </a:p>
        </p:txBody>
      </p:sp>
      <p:sp>
        <p:nvSpPr>
          <p:cNvPr id="123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23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Propose an operationalization with a measurable proxy for an abstract concept of your choice (e.g. "brand trust," "team morale").</a:t>
            </a:r>
            <a:endParaRPr lang="en-US" sz="1400" b="0" u="none" strike="noStrike">
              <a:solidFill>
                <a:srgbClr val="000000"/>
              </a:solidFill>
              <a:effectLst/>
              <a:uFillTx/>
              <a:latin typeface="Arial"/>
            </a:endParaRPr>
          </a:p>
        </p:txBody>
      </p:sp>
      <p:sp>
        <p:nvSpPr>
          <p:cNvPr id="123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23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Describe a realistic measurement tool or process, and evaluate it separately for reliability and for validity, explaining your reasoning for each.</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23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3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78</a:t>
            </a:r>
            <a:endParaRPr lang="en-US" sz="900" b="0" u="none" strike="noStrike">
              <a:solidFill>
                <a:srgbClr val="000000"/>
              </a:solidFill>
              <a:effectLst/>
              <a:uFillTx/>
              <a:latin typeface="Arial"/>
            </a:endParaRPr>
          </a:p>
        </p:txBody>
      </p:sp>
      <p:pic>
        <p:nvPicPr>
          <p:cNvPr id="1240" name="Image 0" descr="/home/claude/assets/logo_crop.png"/>
          <p:cNvPicPr/>
          <p:nvPr/>
        </p:nvPicPr>
        <p:blipFill>
          <a:blip r:embed="rId3"/>
          <a:stretch/>
        </p:blipFill>
        <p:spPr>
          <a:xfrm>
            <a:off x="11201400" y="384120"/>
            <a:ext cx="456840" cy="511560"/>
          </a:xfrm>
          <a:prstGeom prst="rect">
            <a:avLst/>
          </a:prstGeom>
          <a:noFill/>
          <a:ln w="0">
            <a:noFill/>
          </a:ln>
        </p:spPr>
      </p:pic>
      <p:sp>
        <p:nvSpPr>
          <p:cNvPr id="124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4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24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TASKS</a:t>
            </a:r>
            <a:endParaRPr lang="en-US" sz="900" b="0" u="none" strike="noStrike">
              <a:solidFill>
                <a:srgbClr val="000000"/>
              </a:solidFill>
              <a:effectLst/>
              <a:uFillTx/>
              <a:latin typeface="Arial"/>
            </a:endParaRPr>
          </a:p>
        </p:txBody>
      </p:sp>
      <p:sp>
        <p:nvSpPr>
          <p:cNvPr id="124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Part C: Data Types &amp; Measurement Scales</a:t>
            </a:r>
            <a:endParaRPr lang="en-US" sz="2200" b="0" u="none" strike="noStrike">
              <a:solidFill>
                <a:srgbClr val="000000"/>
              </a:solidFill>
              <a:effectLst/>
              <a:uFillTx/>
              <a:latin typeface="Arial"/>
            </a:endParaRPr>
          </a:p>
        </p:txBody>
      </p:sp>
      <p:sp>
        <p:nvSpPr>
          <p:cNvPr id="124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Small tasks — do them in order.</a:t>
            </a:r>
            <a:endParaRPr lang="en-US" sz="1200" b="0" u="none" strike="noStrike">
              <a:solidFill>
                <a:srgbClr val="000000"/>
              </a:solidFill>
              <a:effectLst/>
              <a:uFillTx/>
              <a:latin typeface="Arial"/>
            </a:endParaRPr>
          </a:p>
        </p:txBody>
      </p:sp>
      <p:sp>
        <p:nvSpPr>
          <p:cNvPr id="124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24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Take any real dataset (or a provided one) and classify every single column by its measurement scale — nominal, ordinal, interval, or ratio.</a:t>
            </a:r>
            <a:endParaRPr lang="en-US" sz="1400" b="0" u="none" strike="noStrike">
              <a:solidFill>
                <a:srgbClr val="000000"/>
              </a:solidFill>
              <a:effectLst/>
              <a:uFillTx/>
              <a:latin typeface="Arial"/>
            </a:endParaRPr>
          </a:p>
        </p:txBody>
      </p:sp>
      <p:sp>
        <p:nvSpPr>
          <p:cNvPr id="125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5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5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25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For each ordinal column found, explain specifically why averaging it directly would be mathematically imprecise.</a:t>
            </a:r>
            <a:endParaRPr lang="en-US" sz="1400" b="0" u="none" strike="noStrike">
              <a:solidFill>
                <a:srgbClr val="000000"/>
              </a:solidFill>
              <a:effectLst/>
              <a:uFillTx/>
              <a:latin typeface="Arial"/>
            </a:endParaRPr>
          </a:p>
        </p:txBody>
      </p:sp>
      <p:sp>
        <p:nvSpPr>
          <p:cNvPr id="125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5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5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25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Write a one-paragraph explanation, for a non-technical reader, of why a "true zero" matters so much for ratio data.</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25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5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79</a:t>
            </a:r>
            <a:endParaRPr lang="en-US" sz="900" b="0" u="none" strike="noStrike">
              <a:solidFill>
                <a:srgbClr val="000000"/>
              </a:solidFill>
              <a:effectLst/>
              <a:uFillTx/>
              <a:latin typeface="Arial"/>
            </a:endParaRPr>
          </a:p>
        </p:txBody>
      </p:sp>
      <p:pic>
        <p:nvPicPr>
          <p:cNvPr id="1260" name="Image 0" descr="/home/claude/assets/logo_crop.png"/>
          <p:cNvPicPr/>
          <p:nvPr/>
        </p:nvPicPr>
        <p:blipFill>
          <a:blip r:embed="rId3"/>
          <a:stretch/>
        </p:blipFill>
        <p:spPr>
          <a:xfrm>
            <a:off x="11201400" y="384120"/>
            <a:ext cx="456840" cy="511560"/>
          </a:xfrm>
          <a:prstGeom prst="rect">
            <a:avLst/>
          </a:prstGeom>
          <a:noFill/>
          <a:ln w="0">
            <a:noFill/>
          </a:ln>
        </p:spPr>
      </p:pic>
      <p:sp>
        <p:nvSpPr>
          <p:cNvPr id="126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6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26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TASKS</a:t>
            </a:r>
            <a:endParaRPr lang="en-US" sz="900" b="0" u="none" strike="noStrike">
              <a:solidFill>
                <a:srgbClr val="000000"/>
              </a:solidFill>
              <a:effectLst/>
              <a:uFillTx/>
              <a:latin typeface="Arial"/>
            </a:endParaRPr>
          </a:p>
        </p:txBody>
      </p:sp>
      <p:sp>
        <p:nvSpPr>
          <p:cNvPr id="126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Part D: Errors, Bias &amp; Chart Selection</a:t>
            </a:r>
            <a:endParaRPr lang="en-US" sz="2200" b="0" u="none" strike="noStrike">
              <a:solidFill>
                <a:srgbClr val="000000"/>
              </a:solidFill>
              <a:effectLst/>
              <a:uFillTx/>
              <a:latin typeface="Arial"/>
            </a:endParaRPr>
          </a:p>
        </p:txBody>
      </p:sp>
      <p:sp>
        <p:nvSpPr>
          <p:cNvPr id="126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Small tasks — do them in order.</a:t>
            </a:r>
            <a:endParaRPr lang="en-US" sz="1200" b="0" u="none" strike="noStrike">
              <a:solidFill>
                <a:srgbClr val="000000"/>
              </a:solidFill>
              <a:effectLst/>
              <a:uFillTx/>
              <a:latin typeface="Arial"/>
            </a:endParaRPr>
          </a:p>
        </p:txBody>
      </p:sp>
      <p:sp>
        <p:nvSpPr>
          <p:cNvPr id="126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6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26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Describe a realistic data collection scenario for your own final project idea, and identify one likely source of random error and one of systematic bias.</a:t>
            </a:r>
            <a:endParaRPr lang="en-US" sz="1400" b="0" u="none" strike="noStrike">
              <a:solidFill>
                <a:srgbClr val="000000"/>
              </a:solidFill>
              <a:effectLst/>
              <a:uFillTx/>
              <a:latin typeface="Arial"/>
            </a:endParaRPr>
          </a:p>
        </p:txBody>
      </p:sp>
      <p:sp>
        <p:nvSpPr>
          <p:cNvPr id="127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27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Given a dataset with 3 numerical columns, choose and justify one appropriate chart for each column individually, and one for showing their relationships together.</a:t>
            </a:r>
            <a:endParaRPr lang="en-US" sz="1400" b="0" u="none" strike="noStrike">
              <a:solidFill>
                <a:srgbClr val="000000"/>
              </a:solidFill>
              <a:effectLst/>
              <a:uFillTx/>
              <a:latin typeface="Arial"/>
            </a:endParaRPr>
          </a:p>
        </p:txBody>
      </p:sp>
      <p:sp>
        <p:nvSpPr>
          <p:cNvPr id="127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7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27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Find one real published chart (news article or report) that violates a "when NOT to use" rule from today, and explain specifically what’s misleading about it.</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278"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79"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80</a:t>
            </a:r>
            <a:endParaRPr lang="en-US" sz="900" b="0" u="none" strike="noStrike">
              <a:solidFill>
                <a:srgbClr val="000000"/>
              </a:solidFill>
              <a:effectLst/>
              <a:uFillTx/>
              <a:latin typeface="Arial"/>
            </a:endParaRPr>
          </a:p>
        </p:txBody>
      </p:sp>
      <p:pic>
        <p:nvPicPr>
          <p:cNvPr id="1280" name="Image 0" descr="/home/claude/assets/logo_crop.png"/>
          <p:cNvPicPr/>
          <p:nvPr/>
        </p:nvPicPr>
        <p:blipFill>
          <a:blip r:embed="rId3"/>
          <a:stretch/>
        </p:blipFill>
        <p:spPr>
          <a:xfrm>
            <a:off x="11201400" y="384120"/>
            <a:ext cx="456840" cy="511560"/>
          </a:xfrm>
          <a:prstGeom prst="rect">
            <a:avLst/>
          </a:prstGeom>
          <a:noFill/>
          <a:ln w="0">
            <a:noFill/>
          </a:ln>
        </p:spPr>
      </p:pic>
      <p:sp>
        <p:nvSpPr>
          <p:cNvPr id="1281" name="Shape 2"/>
          <p:cNvSpPr/>
          <p:nvPr/>
        </p:nvSpPr>
        <p:spPr>
          <a:xfrm>
            <a:off x="548640" y="502920"/>
            <a:ext cx="566640" cy="566640"/>
          </a:xfrm>
          <a:prstGeom prst="roundRect">
            <a:avLst>
              <a:gd name="adj" fmla="val 19355"/>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82" name="Text 3"/>
          <p:cNvSpPr/>
          <p:nvPr/>
        </p:nvSpPr>
        <p:spPr>
          <a:xfrm>
            <a:off x="548640" y="5029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231F7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1283" name="Text 4"/>
          <p:cNvSpPr/>
          <p:nvPr/>
        </p:nvSpPr>
        <p:spPr>
          <a:xfrm>
            <a:off x="1261800" y="5029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spc="99">
                <a:solidFill>
                  <a:srgbClr val="5755A7"/>
                </a:solidFill>
                <a:effectLst/>
                <a:uFillTx/>
                <a:latin typeface="Plus Jakarta Sans"/>
                <a:ea typeface="Plus Jakarta Sans"/>
              </a:rPr>
              <a:t>TASKS</a:t>
            </a:r>
            <a:endParaRPr lang="en-US" sz="900" b="0" u="none" strike="noStrike">
              <a:solidFill>
                <a:srgbClr val="000000"/>
              </a:solidFill>
              <a:effectLst/>
              <a:uFillTx/>
              <a:latin typeface="Arial"/>
            </a:endParaRPr>
          </a:p>
        </p:txBody>
      </p:sp>
      <p:sp>
        <p:nvSpPr>
          <p:cNvPr id="1284" name="Text 5"/>
          <p:cNvSpPr/>
          <p:nvPr/>
        </p:nvSpPr>
        <p:spPr>
          <a:xfrm>
            <a:off x="1261800" y="77724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200" b="1" u="none" strike="noStrike">
                <a:solidFill>
                  <a:srgbClr val="1B1B20"/>
                </a:solidFill>
                <a:effectLst/>
                <a:uFillTx/>
                <a:latin typeface="Bricolage Grotesque"/>
                <a:ea typeface="Bricolage Grotesque"/>
              </a:rPr>
              <a:t>Part E: Central Tendency</a:t>
            </a:r>
            <a:endParaRPr lang="en-US" sz="2200" b="0" u="none" strike="noStrike">
              <a:solidFill>
                <a:srgbClr val="000000"/>
              </a:solidFill>
              <a:effectLst/>
              <a:uFillTx/>
              <a:latin typeface="Arial"/>
            </a:endParaRPr>
          </a:p>
        </p:txBody>
      </p:sp>
      <p:sp>
        <p:nvSpPr>
          <p:cNvPr id="1285" name="Text 6"/>
          <p:cNvSpPr/>
          <p:nvPr/>
        </p:nvSpPr>
        <p:spPr>
          <a:xfrm>
            <a:off x="548640" y="141732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i="1" u="none" strike="noStrike">
                <a:solidFill>
                  <a:srgbClr val="474651"/>
                </a:solidFill>
                <a:effectLst/>
                <a:uFillTx/>
                <a:latin typeface="Hanken Grotesk"/>
                <a:ea typeface="Hanken Grotesk"/>
              </a:rPr>
              <a:t>Small tasks — do them in order.</a:t>
            </a:r>
            <a:endParaRPr lang="en-US" sz="1200" b="0" u="none" strike="noStrike">
              <a:solidFill>
                <a:srgbClr val="000000"/>
              </a:solidFill>
              <a:effectLst/>
              <a:uFillTx/>
              <a:latin typeface="Arial"/>
            </a:endParaRPr>
          </a:p>
        </p:txBody>
      </p:sp>
      <p:sp>
        <p:nvSpPr>
          <p:cNvPr id="1286" name="Shape 7"/>
          <p:cNvSpPr/>
          <p:nvPr/>
        </p:nvSpPr>
        <p:spPr>
          <a:xfrm>
            <a:off x="548640" y="196596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87" name="Shape 8"/>
          <p:cNvSpPr/>
          <p:nvPr/>
        </p:nvSpPr>
        <p:spPr>
          <a:xfrm>
            <a:off x="731520" y="220356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88" name="Text 9"/>
          <p:cNvSpPr/>
          <p:nvPr/>
        </p:nvSpPr>
        <p:spPr>
          <a:xfrm>
            <a:off x="731520" y="220356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289" name="Text 10"/>
          <p:cNvSpPr/>
          <p:nvPr/>
        </p:nvSpPr>
        <p:spPr>
          <a:xfrm>
            <a:off x="1234440" y="196596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Calculate the mean, median, and mode of a real numerical column from a dataset of your choice, by hand or with simple code.</a:t>
            </a:r>
            <a:endParaRPr lang="en-US" sz="1400" b="0" u="none" strike="noStrike">
              <a:solidFill>
                <a:srgbClr val="000000"/>
              </a:solidFill>
              <a:effectLst/>
              <a:uFillTx/>
              <a:latin typeface="Arial"/>
            </a:endParaRPr>
          </a:p>
        </p:txBody>
      </p:sp>
      <p:sp>
        <p:nvSpPr>
          <p:cNvPr id="1290" name="Shape 11"/>
          <p:cNvSpPr/>
          <p:nvPr/>
        </p:nvSpPr>
        <p:spPr>
          <a:xfrm>
            <a:off x="548640" y="289872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1" name="Shape 12"/>
          <p:cNvSpPr/>
          <p:nvPr/>
        </p:nvSpPr>
        <p:spPr>
          <a:xfrm>
            <a:off x="731520" y="313632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2" name="Text 13"/>
          <p:cNvSpPr/>
          <p:nvPr/>
        </p:nvSpPr>
        <p:spPr>
          <a:xfrm>
            <a:off x="731520" y="313632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293" name="Text 14"/>
          <p:cNvSpPr/>
          <p:nvPr/>
        </p:nvSpPr>
        <p:spPr>
          <a:xfrm>
            <a:off x="1234440" y="289872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Identify whether that column is skewed by extreme values, and explain which measure most honestly represents it.</a:t>
            </a:r>
            <a:endParaRPr lang="en-US" sz="1400" b="0" u="none" strike="noStrike">
              <a:solidFill>
                <a:srgbClr val="000000"/>
              </a:solidFill>
              <a:effectLst/>
              <a:uFillTx/>
              <a:latin typeface="Arial"/>
            </a:endParaRPr>
          </a:p>
        </p:txBody>
      </p:sp>
      <p:sp>
        <p:nvSpPr>
          <p:cNvPr id="1294" name="Shape 15"/>
          <p:cNvSpPr/>
          <p:nvPr/>
        </p:nvSpPr>
        <p:spPr>
          <a:xfrm>
            <a:off x="548640" y="3831480"/>
            <a:ext cx="11063880" cy="822600"/>
          </a:xfrm>
          <a:prstGeom prst="roundRect">
            <a:avLst>
              <a:gd name="adj" fmla="val 11111"/>
            </a:avLst>
          </a:prstGeom>
          <a:solidFill>
            <a:srgbClr val="FFFFFF"/>
          </a:solidFill>
          <a:ln w="12700">
            <a:solidFill>
              <a:srgbClr val="C8C5D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5" name="Shape 16"/>
          <p:cNvSpPr/>
          <p:nvPr/>
        </p:nvSpPr>
        <p:spPr>
          <a:xfrm>
            <a:off x="731520" y="4069080"/>
            <a:ext cx="347040" cy="347040"/>
          </a:xfrm>
          <a:prstGeom prst="roundRect">
            <a:avLst>
              <a:gd name="adj" fmla="val 26316"/>
            </a:avLst>
          </a:prstGeom>
          <a:solidFill>
            <a:srgbClr val="BBEDDC"/>
          </a:solidFill>
          <a:ln w="12700">
            <a:solidFill>
              <a:srgbClr val="BBEDD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96" name="Text 17"/>
          <p:cNvSpPr/>
          <p:nvPr/>
        </p:nvSpPr>
        <p:spPr>
          <a:xfrm>
            <a:off x="731520" y="4069080"/>
            <a:ext cx="3470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297" name="Text 18"/>
          <p:cNvSpPr/>
          <p:nvPr/>
        </p:nvSpPr>
        <p:spPr>
          <a:xfrm>
            <a:off x="1234440" y="3831480"/>
            <a:ext cx="101494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0" u="none" strike="noStrike">
                <a:solidFill>
                  <a:srgbClr val="1B1B20"/>
                </a:solidFill>
                <a:effectLst/>
                <a:uFillTx/>
                <a:latin typeface="Hanken Grotesk"/>
                <a:ea typeface="Hanken Grotesk"/>
              </a:rPr>
              <a:t>Write a two-sentence summary of that column’s "typical value," suitable for someone who has never seen the raw data.</a:t>
            </a:r>
            <a:endParaRPr lang="en-US" sz="1400" b="0" u="none" strike="noStrike">
              <a:solidFill>
                <a:srgbClr val="000000"/>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298"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99"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00"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MINI PROJECT</a:t>
            </a:r>
            <a:endParaRPr lang="en-US" sz="1400" b="0" u="none" strike="noStrike">
              <a:solidFill>
                <a:srgbClr val="FFFFFF"/>
              </a:solidFill>
              <a:effectLst/>
              <a:uFillTx/>
              <a:latin typeface="Arial"/>
            </a:endParaRPr>
          </a:p>
        </p:txBody>
      </p:sp>
      <p:sp>
        <p:nvSpPr>
          <p:cNvPr id="1301"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Put It All Together</a:t>
            </a:r>
            <a:endParaRPr lang="en-US" sz="4000" b="0" u="none" strike="noStrike">
              <a:solidFill>
                <a:srgbClr val="FFFFFF"/>
              </a:solidFill>
              <a:effectLst/>
              <a:uFillTx/>
              <a:latin typeface="Arial"/>
            </a:endParaRPr>
          </a:p>
        </p:txBody>
      </p:sp>
      <p:sp>
        <p:nvSpPr>
          <p:cNvPr id="1302"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Profile a real dataset from the ground up, using every skill from this session</a:t>
            </a:r>
            <a:endParaRPr lang="en-US" sz="1500" b="0" u="none" strike="noStrike">
              <a:solidFill>
                <a:srgbClr val="FFFFFF"/>
              </a:solidFill>
              <a:effectLst/>
              <a:uFillTx/>
              <a:latin typeface="Arial"/>
            </a:endParaRPr>
          </a:p>
        </p:txBody>
      </p:sp>
      <p:sp>
        <p:nvSpPr>
          <p:cNvPr id="1303"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81</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304"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305"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82</a:t>
            </a:r>
            <a:endParaRPr lang="en-US" sz="900" b="0" u="none" strike="noStrike">
              <a:solidFill>
                <a:srgbClr val="000000"/>
              </a:solidFill>
              <a:effectLst/>
              <a:uFillTx/>
              <a:latin typeface="Arial"/>
            </a:endParaRPr>
          </a:p>
        </p:txBody>
      </p:sp>
      <p:pic>
        <p:nvPicPr>
          <p:cNvPr id="1306" name="Image 0" descr="/home/claude/assets/logo_crop.png"/>
          <p:cNvPicPr/>
          <p:nvPr/>
        </p:nvPicPr>
        <p:blipFill>
          <a:blip r:embed="rId3"/>
          <a:stretch/>
        </p:blipFill>
        <p:spPr>
          <a:xfrm>
            <a:off x="11201400" y="384120"/>
            <a:ext cx="456840" cy="511560"/>
          </a:xfrm>
          <a:prstGeom prst="rect">
            <a:avLst/>
          </a:prstGeom>
          <a:noFill/>
          <a:ln w="0">
            <a:noFill/>
          </a:ln>
        </p:spPr>
      </p:pic>
      <p:sp>
        <p:nvSpPr>
          <p:cNvPr id="1307"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Mini Project: Profile a Real Dataset</a:t>
            </a:r>
            <a:endParaRPr lang="en-US" sz="2600" b="0" u="none" strike="noStrike">
              <a:solidFill>
                <a:srgbClr val="000000"/>
              </a:solidFill>
              <a:effectLst/>
              <a:uFillTx/>
              <a:latin typeface="Arial"/>
            </a:endParaRPr>
          </a:p>
        </p:txBody>
      </p:sp>
      <p:sp>
        <p:nvSpPr>
          <p:cNvPr id="1308" name="Shape 3"/>
          <p:cNvSpPr/>
          <p:nvPr/>
        </p:nvSpPr>
        <p:spPr>
          <a:xfrm>
            <a:off x="548640" y="1737360"/>
            <a:ext cx="2925720" cy="4023000"/>
          </a:xfrm>
          <a:prstGeom prst="roundRect">
            <a:avLst>
              <a:gd name="adj" fmla="val 3750"/>
            </a:avLst>
          </a:prstGeom>
          <a:solidFill>
            <a:srgbClr val="8C8AE0"/>
          </a:solidFill>
          <a:ln w="12700">
            <a:solidFill>
              <a:srgbClr val="8C8AE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09" name="Shape 4"/>
          <p:cNvSpPr/>
          <p:nvPr/>
        </p:nvSpPr>
        <p:spPr>
          <a:xfrm>
            <a:off x="1600200" y="2103120"/>
            <a:ext cx="822600" cy="82260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10" name="Text 5"/>
          <p:cNvSpPr/>
          <p:nvPr/>
        </p:nvSpPr>
        <p:spPr>
          <a:xfrm>
            <a:off x="1600200" y="2103120"/>
            <a:ext cx="8226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a:solidFill>
                  <a:srgbClr val="5755A7"/>
                </a:solidFill>
                <a:effectLst/>
                <a:uFillTx/>
                <a:latin typeface="Bricolage Grotesque"/>
                <a:ea typeface="Bricolage Grotesque"/>
              </a:rPr>
              <a:t>±</a:t>
            </a:r>
            <a:endParaRPr lang="en-US" sz="2800" b="0" u="none" strike="noStrike">
              <a:solidFill>
                <a:srgbClr val="000000"/>
              </a:solidFill>
              <a:effectLst/>
              <a:uFillTx/>
              <a:latin typeface="Arial"/>
            </a:endParaRPr>
          </a:p>
        </p:txBody>
      </p:sp>
      <p:sp>
        <p:nvSpPr>
          <p:cNvPr id="1311" name="Text 6"/>
          <p:cNvSpPr/>
          <p:nvPr/>
        </p:nvSpPr>
        <p:spPr>
          <a:xfrm>
            <a:off x="731520" y="3154680"/>
            <a:ext cx="25599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231F71"/>
                </a:solidFill>
                <a:effectLst/>
                <a:uFillTx/>
                <a:latin typeface="Bricolage Grotesque"/>
                <a:ea typeface="Bricolage Grotesque"/>
              </a:rPr>
              <a:t>Every skill from today, combined</a:t>
            </a:r>
            <a:endParaRPr lang="en-US" sz="1700" b="0" u="none" strike="noStrike">
              <a:solidFill>
                <a:srgbClr val="000000"/>
              </a:solidFill>
              <a:effectLst/>
              <a:uFillTx/>
              <a:latin typeface="Arial"/>
            </a:endParaRPr>
          </a:p>
        </p:txBody>
      </p:sp>
      <p:sp>
        <p:nvSpPr>
          <p:cNvPr id="1312" name="Text 7"/>
          <p:cNvSpPr/>
          <p:nvPr/>
        </p:nvSpPr>
        <p:spPr>
          <a:xfrm>
            <a:off x="3749040" y="1783080"/>
            <a:ext cx="790920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Choose any small, real dataset (or a provided one), and classify every column by data type and measurement scale</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State whether the data is primary or secondary, and identify a plausible source of both random error and systematic bias in how it might have been collected</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For three different columns, choose and justify an appropriate chart — one categorical, one numerical distribution, and one relationship between two variables</a:t>
            </a:r>
            <a:endParaRPr lang="en-US" sz="2000" b="0" u="none" strike="noStrike" dirty="0">
              <a:solidFill>
                <a:srgbClr val="000000"/>
              </a:solidFill>
              <a:effectLst/>
              <a:uFillTx/>
              <a:latin typeface="Arial"/>
              <a:cs typeface="Arial"/>
            </a:endParaRPr>
          </a:p>
          <a:p>
            <a:pPr marL="342900" indent="-342900" defTabSz="914400">
              <a:lnSpc>
                <a:spcPct val="100000"/>
              </a:lnSpc>
              <a:spcAft>
                <a:spcPts val="1199"/>
              </a:spcAft>
              <a:buClr>
                <a:srgbClr val="1B1B20"/>
              </a:buClr>
              <a:buFont typeface="Arial"/>
              <a:buChar char="•"/>
            </a:pPr>
            <a:r>
              <a:rPr lang="en-US" sz="2000" b="0" u="none" strike="noStrike" dirty="0">
                <a:solidFill>
                  <a:srgbClr val="1B1B20"/>
                </a:solidFill>
                <a:effectLst/>
                <a:uFillTx/>
                <a:latin typeface="Hanken Grotesk"/>
                <a:ea typeface="Hanken Grotesk"/>
              </a:rPr>
              <a:t>Calculate mean, median, and mode for the key numerical column, and write a short, honest summary of what "typical" looks like in this dataset</a:t>
            </a:r>
            <a:endParaRPr lang="en-US" sz="2000" b="0" u="none" strike="noStrike" dirty="0">
              <a:solidFill>
                <a:srgbClr val="000000"/>
              </a:solidFill>
              <a:effectLst/>
              <a:uFillTx/>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CF8FF"/>
        </a:solidFill>
        <a:effectLst/>
      </p:bgPr>
    </p:bg>
    <p:spTree>
      <p:nvGrpSpPr>
        <p:cNvPr id="1" name=""/>
        <p:cNvGrpSpPr/>
        <p:nvPr/>
      </p:nvGrpSpPr>
      <p:grpSpPr>
        <a:xfrm>
          <a:off x="0" y="0"/>
          <a:ext cx="0" cy="0"/>
          <a:chOff x="0" y="0"/>
          <a:chExt cx="0" cy="0"/>
        </a:xfrm>
      </p:grpSpPr>
      <p:sp>
        <p:nvSpPr>
          <p:cNvPr id="1313" name="Text 0"/>
          <p:cNvSpPr/>
          <p:nvPr/>
        </p:nvSpPr>
        <p:spPr>
          <a:xfrm>
            <a:off x="45720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314" name="Text 1"/>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474651"/>
                </a:solidFill>
                <a:effectLst/>
                <a:uFillTx/>
                <a:latin typeface="Plus Jakarta Sans"/>
                <a:ea typeface="Plus Jakarta Sans"/>
              </a:rPr>
              <a:t>83</a:t>
            </a:r>
            <a:endParaRPr lang="en-US" sz="900" b="0" u="none" strike="noStrike">
              <a:solidFill>
                <a:srgbClr val="000000"/>
              </a:solidFill>
              <a:effectLst/>
              <a:uFillTx/>
              <a:latin typeface="Arial"/>
            </a:endParaRPr>
          </a:p>
        </p:txBody>
      </p:sp>
      <p:pic>
        <p:nvPicPr>
          <p:cNvPr id="1315" name="Image 0" descr="/home/claude/assets/logo_crop.png"/>
          <p:cNvPicPr/>
          <p:nvPr/>
        </p:nvPicPr>
        <p:blipFill>
          <a:blip r:embed="rId3"/>
          <a:stretch/>
        </p:blipFill>
        <p:spPr>
          <a:xfrm>
            <a:off x="11201400" y="384120"/>
            <a:ext cx="456840" cy="511560"/>
          </a:xfrm>
          <a:prstGeom prst="rect">
            <a:avLst/>
          </a:prstGeom>
          <a:noFill/>
          <a:ln w="0">
            <a:noFill/>
          </a:ln>
        </p:spPr>
      </p:pic>
      <p:sp>
        <p:nvSpPr>
          <p:cNvPr id="1316" name="Text 2"/>
          <p:cNvSpPr/>
          <p:nvPr/>
        </p:nvSpPr>
        <p:spPr>
          <a:xfrm>
            <a:off x="548640" y="457200"/>
            <a:ext cx="10240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600" b="1" u="none" strike="noStrike">
                <a:solidFill>
                  <a:srgbClr val="1B1B20"/>
                </a:solidFill>
                <a:effectLst/>
                <a:uFillTx/>
                <a:latin typeface="Bricolage Grotesque"/>
                <a:ea typeface="Bricolage Grotesque"/>
              </a:rPr>
              <a:t>Mini Project Starter: Profile a Dataset</a:t>
            </a:r>
            <a:endParaRPr lang="en-US" sz="2600" b="0" u="none" strike="noStrike">
              <a:solidFill>
                <a:srgbClr val="000000"/>
              </a:solidFill>
              <a:effectLst/>
              <a:uFillTx/>
              <a:latin typeface="Arial"/>
            </a:endParaRPr>
          </a:p>
        </p:txBody>
      </p:sp>
      <p:sp>
        <p:nvSpPr>
          <p:cNvPr id="1317" name="Text 3"/>
          <p:cNvSpPr/>
          <p:nvPr/>
        </p:nvSpPr>
        <p:spPr>
          <a:xfrm>
            <a:off x="548640" y="1783080"/>
            <a:ext cx="5211720" cy="3977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2900" indent="-342900" defTabSz="914400">
              <a:lnSpc>
                <a:spcPct val="100000"/>
              </a:lnSpc>
              <a:spcAft>
                <a:spcPts val="1400"/>
              </a:spcAft>
              <a:buClr>
                <a:srgbClr val="1B1B20"/>
              </a:buClr>
              <a:buFont typeface="Arial"/>
              <a:buChar char="•"/>
            </a:pPr>
            <a:r>
              <a:rPr lang="en-US" sz="2200" b="0" u="none" strike="noStrike" dirty="0">
                <a:solidFill>
                  <a:srgbClr val="1B1B20"/>
                </a:solidFill>
                <a:effectLst/>
                <a:uFillTx/>
                <a:latin typeface="Hanken Grotesk"/>
                <a:ea typeface="Hanken Grotesk"/>
              </a:rPr>
              <a:t>Start from this tiny table, then swap in your own dataset.</a:t>
            </a:r>
            <a:endParaRPr lang="en-US" sz="22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200" b="0" u="none" strike="noStrike" dirty="0">
                <a:solidFill>
                  <a:srgbClr val="1B1B20"/>
                </a:solidFill>
                <a:effectLst/>
                <a:uFillTx/>
                <a:latin typeface="Hanken Grotesk"/>
                <a:ea typeface="Hanken Grotesk"/>
              </a:rPr>
              <a:t>Check the shape, the types, and the missing values before any statistic.</a:t>
            </a:r>
            <a:endParaRPr lang="en-US" sz="2200" b="0" u="none" strike="noStrike" dirty="0">
              <a:solidFill>
                <a:srgbClr val="000000"/>
              </a:solidFill>
              <a:effectLst/>
              <a:uFillTx/>
              <a:latin typeface="Arial"/>
              <a:cs typeface="Arial"/>
            </a:endParaRPr>
          </a:p>
          <a:p>
            <a:pPr marL="342900" indent="-342900" defTabSz="914400">
              <a:lnSpc>
                <a:spcPct val="100000"/>
              </a:lnSpc>
              <a:spcAft>
                <a:spcPts val="1400"/>
              </a:spcAft>
              <a:buClr>
                <a:srgbClr val="1B1B20"/>
              </a:buClr>
              <a:buFont typeface="Arial"/>
              <a:buChar char="•"/>
            </a:pPr>
            <a:r>
              <a:rPr lang="en-US" sz="2200" b="0" u="none" strike="noStrike" dirty="0">
                <a:solidFill>
                  <a:srgbClr val="1B1B20"/>
                </a:solidFill>
                <a:effectLst/>
                <a:uFillTx/>
                <a:latin typeface="Hanken Grotesk"/>
                <a:ea typeface="Hanken Grotesk"/>
              </a:rPr>
              <a:t>describe() gives a first summary of every numeric column.</a:t>
            </a:r>
            <a:endParaRPr lang="en-US" sz="2200" b="0" u="none" strike="noStrike" dirty="0">
              <a:solidFill>
                <a:srgbClr val="000000"/>
              </a:solidFill>
              <a:effectLst/>
              <a:uFillTx/>
              <a:latin typeface="Arial"/>
              <a:cs typeface="Arial"/>
            </a:endParaRPr>
          </a:p>
        </p:txBody>
      </p:sp>
      <p:sp>
        <p:nvSpPr>
          <p:cNvPr id="1318"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19" name="Shape 5"/>
          <p:cNvSpPr/>
          <p:nvPr/>
        </p:nvSpPr>
        <p:spPr>
          <a:xfrm>
            <a:off x="6153840" y="1883520"/>
            <a:ext cx="100080" cy="100080"/>
          </a:xfrm>
          <a:prstGeom prst="ellipse">
            <a:avLst/>
          </a:prstGeom>
          <a:solidFill>
            <a:srgbClr val="F43F5E"/>
          </a:solidFill>
          <a:ln w="12700">
            <a:solidFill>
              <a:srgbClr val="F43F5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FFFFFF"/>
              </a:solidFill>
              <a:effectLst/>
              <a:uFillTx/>
              <a:latin typeface="Arial"/>
            </a:endParaRPr>
          </a:p>
        </p:txBody>
      </p:sp>
      <p:sp>
        <p:nvSpPr>
          <p:cNvPr id="1320" name="Shape 6"/>
          <p:cNvSpPr/>
          <p:nvPr/>
        </p:nvSpPr>
        <p:spPr>
          <a:xfrm>
            <a:off x="6355080" y="1883520"/>
            <a:ext cx="100080" cy="100080"/>
          </a:xfrm>
          <a:prstGeom prst="ellipse">
            <a:avLst/>
          </a:prstGeom>
          <a:solidFill>
            <a:srgbClr val="F9C6FE"/>
          </a:solidFill>
          <a:ln w="12700">
            <a:solidFill>
              <a:srgbClr val="F9C6FE"/>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321" name="Shape 7"/>
          <p:cNvSpPr/>
          <p:nvPr/>
        </p:nvSpPr>
        <p:spPr>
          <a:xfrm>
            <a:off x="6556320" y="1883520"/>
            <a:ext cx="100080" cy="100080"/>
          </a:xfrm>
          <a:prstGeom prst="ellipse">
            <a:avLst/>
          </a:prstGeom>
          <a:solidFill>
            <a:srgbClr val="2DD4BF"/>
          </a:solidFill>
          <a:ln w="12700">
            <a:solidFill>
              <a:srgbClr val="2DD4BF"/>
            </a:solidFill>
            <a:round/>
          </a:ln>
        </p:spPr>
        <p:style>
          <a:lnRef idx="0">
            <a:scrgbClr r="0" g="0" b="0"/>
          </a:lnRef>
          <a:fillRef idx="0">
            <a:scrgbClr r="0" g="0" b="0"/>
          </a:fillRef>
          <a:effectRef idx="0">
            <a:scrgbClr r="0" g="0" b="0"/>
          </a:effectRef>
          <a:fontRef idx="minor"/>
        </p:style>
        <p:txBody>
          <a:bodyPr lIns="90000" tIns="26280" rIns="90000" bIns="26280" anchor="t">
            <a:noAutofit/>
          </a:bodyPr>
          <a:lstStyle/>
          <a:p>
            <a:endParaRPr lang="en-US" sz="1800" b="0" u="none" strike="noStrike">
              <a:solidFill>
                <a:srgbClr val="000000"/>
              </a:solidFill>
              <a:effectLst/>
              <a:uFillTx/>
              <a:latin typeface="Arial"/>
            </a:endParaRPr>
          </a:p>
        </p:txBody>
      </p:sp>
      <p:sp>
        <p:nvSpPr>
          <p:cNvPr id="1322" name="Text 8"/>
          <p:cNvSpPr/>
          <p:nvPr/>
        </p:nvSpPr>
        <p:spPr>
          <a:xfrm>
            <a:off x="6172200" y="2148840"/>
            <a:ext cx="534888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0000"/>
              </a:lnSpc>
              <a:tabLst>
                <a:tab pos="0" algn="l"/>
              </a:tabLst>
            </a:pPr>
            <a:r>
              <a:rPr lang="en-US" sz="1200" b="0" u="none" strike="noStrike">
                <a:solidFill>
                  <a:srgbClr val="F1F5F9"/>
                </a:solidFill>
                <a:effectLst/>
                <a:uFillTx/>
                <a:latin typeface="Cantarell"/>
                <a:ea typeface="Consolas"/>
              </a:rPr>
              <a:t>import pandas as pd</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df = pd.DataFrame({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"city": ["Quetta", "Lahore", "Quetta", "Karachi"],</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"rating": ["low", "high", "mid", "high"],</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"age": [21, 25, 22, None],</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"income": [30, 52, 41, 38],</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 </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print(df.shape)                   </a:t>
            </a:r>
            <a:r>
              <a:rPr lang="en-US" sz="1200" b="0" i="1" u="none" strike="noStrike">
                <a:solidFill>
                  <a:srgbClr val="94A3B8"/>
                </a:solidFill>
                <a:effectLst/>
                <a:uFillTx/>
                <a:latin typeface="Cantarell"/>
                <a:ea typeface="Consolas"/>
              </a:rPr>
              <a:t># (4, 4)</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print(df["age"].isna().sum())     </a:t>
            </a:r>
            <a:r>
              <a:rPr lang="en-US" sz="1200" b="0" i="1" u="none" strike="noStrike">
                <a:solidFill>
                  <a:srgbClr val="94A3B8"/>
                </a:solidFill>
                <a:effectLst/>
                <a:uFillTx/>
                <a:latin typeface="Cantarell"/>
                <a:ea typeface="Consolas"/>
              </a:rPr>
              <a:t># 1</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print(df["income"].mean())        </a:t>
            </a:r>
            <a:r>
              <a:rPr lang="en-US" sz="1200" b="0" i="1" u="none" strike="noStrike">
                <a:solidFill>
                  <a:srgbClr val="94A3B8"/>
                </a:solidFill>
                <a:effectLst/>
                <a:uFillTx/>
                <a:latin typeface="Cantarell"/>
                <a:ea typeface="Consolas"/>
              </a:rPr>
              <a:t># 40.25</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print(df["city"].mode()[0])       </a:t>
            </a:r>
            <a:r>
              <a:rPr lang="en-US" sz="1200" b="0" i="1" u="none" strike="noStrike">
                <a:solidFill>
                  <a:srgbClr val="94A3B8"/>
                </a:solidFill>
                <a:effectLst/>
                <a:uFillTx/>
                <a:latin typeface="Cantarell"/>
                <a:ea typeface="Consolas"/>
              </a:rPr>
              <a:t># Quetta</a:t>
            </a:r>
            <a:endParaRPr lang="en-US" sz="1200" b="0" u="none" strike="noStrike">
              <a:solidFill>
                <a:srgbClr val="000000"/>
              </a:solidFill>
              <a:effectLst/>
              <a:uFillTx/>
              <a:latin typeface="Cantarell"/>
            </a:endParaRPr>
          </a:p>
          <a:p>
            <a:pPr defTabSz="914400">
              <a:lnSpc>
                <a:spcPct val="110000"/>
              </a:lnSpc>
              <a:tabLst>
                <a:tab pos="0" algn="l"/>
              </a:tabLst>
            </a:pPr>
            <a:r>
              <a:rPr lang="en-US" sz="1200" b="0" u="none" strike="noStrike">
                <a:solidFill>
                  <a:srgbClr val="F1F5F9"/>
                </a:solidFill>
                <a:effectLst/>
                <a:uFillTx/>
                <a:latin typeface="Cantarell"/>
                <a:ea typeface="Consolas"/>
              </a:rPr>
              <a:t>print(df.describe())</a:t>
            </a:r>
            <a:endParaRPr lang="en-US" sz="1200" b="0" u="none" strike="noStrike">
              <a:solidFill>
                <a:srgbClr val="000000"/>
              </a:solidFill>
              <a:effectLst/>
              <a:uFillTx/>
              <a:latin typeface="Cantare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p:cNvGrpSpPr/>
        <p:nvPr/>
      </p:nvGrpSpPr>
      <p:grpSpPr>
        <a:xfrm>
          <a:off x="0" y="0"/>
          <a:ext cx="0" cy="0"/>
          <a:chOff x="0" y="0"/>
          <a:chExt cx="0" cy="0"/>
        </a:xfrm>
      </p:grpSpPr>
      <p:sp>
        <p:nvSpPr>
          <p:cNvPr id="1323" name="Shape 0"/>
          <p:cNvSpPr/>
          <p:nvPr/>
        </p:nvSpPr>
        <p:spPr>
          <a:xfrm>
            <a:off x="9692640" y="-1463040"/>
            <a:ext cx="3840120" cy="3840120"/>
          </a:xfrm>
          <a:prstGeom prst="ellipse">
            <a:avLst/>
          </a:prstGeom>
          <a:solidFill>
            <a:srgbClr val="262758">
              <a:alpha val="55000"/>
            </a:srgbClr>
          </a:solidFill>
          <a:ln w="12700">
            <a:solidFill>
              <a:srgbClr val="262758">
                <a:alpha val="5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24"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25" name="Text 2"/>
          <p:cNvSpPr/>
          <p:nvPr/>
        </p:nvSpPr>
        <p:spPr>
          <a:xfrm>
            <a:off x="640080" y="2194560"/>
            <a:ext cx="91436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201">
                <a:solidFill>
                  <a:srgbClr val="2DD4BF"/>
                </a:solidFill>
                <a:effectLst/>
                <a:uFillTx/>
                <a:latin typeface="Plus Jakarta Sans"/>
                <a:ea typeface="Plus Jakarta Sans"/>
              </a:rPr>
              <a:t>RECAP</a:t>
            </a:r>
            <a:endParaRPr lang="en-US" sz="1400" b="0" u="none" strike="noStrike">
              <a:solidFill>
                <a:srgbClr val="FFFFFF"/>
              </a:solidFill>
              <a:effectLst/>
              <a:uFillTx/>
              <a:latin typeface="Arial"/>
            </a:endParaRPr>
          </a:p>
        </p:txBody>
      </p:sp>
      <p:sp>
        <p:nvSpPr>
          <p:cNvPr id="1326" name="Text 3"/>
          <p:cNvSpPr/>
          <p:nvPr/>
        </p:nvSpPr>
        <p:spPr>
          <a:xfrm>
            <a:off x="640080" y="2697480"/>
            <a:ext cx="1033236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4000" b="1" u="none" strike="noStrike">
                <a:solidFill>
                  <a:srgbClr val="F1F5F9"/>
                </a:solidFill>
                <a:effectLst/>
                <a:uFillTx/>
                <a:latin typeface="Bricolage Grotesque"/>
                <a:ea typeface="Bricolage Grotesque"/>
              </a:rPr>
              <a:t>Know Your Data First</a:t>
            </a:r>
            <a:endParaRPr lang="en-US" sz="4000" b="0" u="none" strike="noStrike">
              <a:solidFill>
                <a:srgbClr val="FFFFFF"/>
              </a:solidFill>
              <a:effectLst/>
              <a:uFillTx/>
              <a:latin typeface="Arial"/>
            </a:endParaRPr>
          </a:p>
        </p:txBody>
      </p:sp>
      <p:sp>
        <p:nvSpPr>
          <p:cNvPr id="1327" name="Text 4"/>
          <p:cNvSpPr/>
          <p:nvPr/>
        </p:nvSpPr>
        <p:spPr>
          <a:xfrm>
            <a:off x="640080" y="4023360"/>
            <a:ext cx="96922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500" b="0" u="none" strike="noStrike">
                <a:solidFill>
                  <a:srgbClr val="94A3B8"/>
                </a:solidFill>
                <a:effectLst/>
                <a:uFillTx/>
                <a:latin typeface="Hanken Grotesk"/>
                <a:ea typeface="Hanken Grotesk"/>
              </a:rPr>
              <a:t>Before any statistic means anything, you need to know your data’s type, where it could have gone wrong, and the right picture to show it with.  Next up: Descriptive Statistics II — spread, shape, z-scores and correlation.</a:t>
            </a:r>
            <a:endParaRPr lang="en-US" sz="1500" b="0" u="none" strike="noStrike">
              <a:solidFill>
                <a:srgbClr val="FFFFFF"/>
              </a:solidFill>
              <a:effectLst/>
              <a:uFillTx/>
              <a:latin typeface="Arial"/>
            </a:endParaRPr>
          </a:p>
        </p:txBody>
      </p:sp>
      <p:sp>
        <p:nvSpPr>
          <p:cNvPr id="1328" name="Text 5"/>
          <p:cNvSpPr/>
          <p:nvPr/>
        </p:nvSpPr>
        <p:spPr>
          <a:xfrm>
            <a:off x="11503080" y="6473880"/>
            <a:ext cx="502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u="none" strike="noStrike">
                <a:solidFill>
                  <a:srgbClr val="94A3B8"/>
                </a:solidFill>
                <a:effectLst/>
                <a:uFillTx/>
                <a:latin typeface="Plus Jakarta Sans"/>
                <a:ea typeface="Plus Jakarta Sans"/>
              </a:rPr>
              <a:t>84</a:t>
            </a:r>
            <a:endParaRPr lang="en-US" sz="900" b="0" u="none" strike="noStrike">
              <a:solidFill>
                <a:srgbClr val="FFFFFF"/>
              </a:solidFill>
              <a:effectLst/>
              <a:uFillTx/>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Widescreen</PresentationFormat>
  <Paragraphs>0</Paragraphs>
  <Slides>88</Slides>
  <Notes>83</Notes>
  <HiddenSlides>0</HiddenSlides>
  <ScaleCrop>false</ScaleCrop>
  <HeadingPairs>
    <vt:vector size="4" baseType="variant">
      <vt:variant>
        <vt:lpstr>Theme</vt:lpstr>
      </vt:variant>
      <vt:variant>
        <vt:i4>1</vt:i4>
      </vt:variant>
      <vt:variant>
        <vt:lpstr>Slide Titles</vt:lpstr>
      </vt:variant>
      <vt:variant>
        <vt:i4>88</vt:i4>
      </vt:variant>
    </vt:vector>
  </HeadingPairs>
  <TitlesOfParts>
    <vt:vector size="8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Statistics I — CodeByPaxto</dc:title>
  <dc:subject>PptxGenJS Presentation</dc:subject>
  <dc:creator>Hafiz Waseem Ahmed (Paxto)</dc:creator>
  <dc:description/>
  <cp:lastModifiedBy/>
  <cp:revision>90</cp:revision>
  <dcterms:created xsi:type="dcterms:W3CDTF">2026-10-01T23:27:36Z</dcterms:created>
  <dcterms:modified xsi:type="dcterms:W3CDTF">2026-10-03T15:45:00Z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85</vt:i4>
  </property>
  <property fmtid="{D5CDD505-2E9C-101B-9397-08002B2CF9AE}" pid="3" name="PresentationFormat">
    <vt:lpwstr>On-screen Show (16:9)</vt:lpwstr>
  </property>
  <property fmtid="{D5CDD505-2E9C-101B-9397-08002B2CF9AE}" pid="4" name="Slides">
    <vt:i4>85</vt:i4>
  </property>
</Properties>
</file>