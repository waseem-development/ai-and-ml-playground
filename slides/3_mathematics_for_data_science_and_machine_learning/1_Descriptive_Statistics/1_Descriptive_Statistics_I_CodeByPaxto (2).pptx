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BC5300-DFBB-46EB-A5A1-C44F3857E4D8}" v="200" dt="2026-10-03T15:41:00.0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microsoft.com/office/2015/10/relationships/revisionInfo" Target="revisionInfo.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PlaceHolder 1"/>
          <p:cNvSpPr>
            <a:spLocks noGrp="1" noRot="1" noChangeAspect="1"/>
          </p:cNvSpPr>
          <p:nvPr>
            <p:ph type="sldImg"/>
          </p:nvPr>
        </p:nvSpPr>
        <p:spPr>
          <a:xfrm>
            <a:off x="533520" y="764280"/>
            <a:ext cx="6704640" cy="377136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5"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 </a:t>
            </a:r>
          </a:p>
        </p:txBody>
      </p:sp>
      <p:sp>
        <p:nvSpPr>
          <p:cNvPr id="7"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p>
        </p:txBody>
      </p:sp>
      <p:sp>
        <p:nvSpPr>
          <p:cNvPr id="8"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p>
        </p:txBody>
      </p:sp>
      <p:sp>
        <p:nvSpPr>
          <p:cNvPr id="9"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6F473489-892C-4C86-910D-23E20E42AEE6}"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 name="PlaceHolder 1"/>
          <p:cNvSpPr>
            <a:spLocks noGrp="1" noRot="1" noChangeAspect="1"/>
          </p:cNvSpPr>
          <p:nvPr>
            <p:ph type="sldImg"/>
          </p:nvPr>
        </p:nvSpPr>
        <p:spPr>
          <a:xfrm>
            <a:off x="685800" y="1143000"/>
            <a:ext cx="5486040" cy="3085920"/>
          </a:xfrm>
          <a:prstGeom prst="rect">
            <a:avLst/>
          </a:prstGeom>
          <a:ln w="0">
            <a:noFill/>
          </a:ln>
        </p:spPr>
      </p:sp>
      <p:sp>
        <p:nvSpPr>
          <p:cNvPr id="13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31"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AAB394D-6A9A-4325-8CD2-A8565021858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2" name="PlaceHolder 1"/>
          <p:cNvSpPr>
            <a:spLocks noGrp="1" noRot="1" noChangeAspect="1"/>
          </p:cNvSpPr>
          <p:nvPr>
            <p:ph type="sldImg"/>
          </p:nvPr>
        </p:nvSpPr>
        <p:spPr>
          <a:xfrm>
            <a:off x="685800" y="1143000"/>
            <a:ext cx="5486040" cy="3085920"/>
          </a:xfrm>
          <a:prstGeom prst="rect">
            <a:avLst/>
          </a:prstGeom>
          <a:ln w="0">
            <a:noFill/>
          </a:ln>
        </p:spPr>
      </p:sp>
      <p:sp>
        <p:nvSpPr>
          <p:cNvPr id="13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34"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26193F5-5ACA-4BCD-A64F-22528B9FD542}"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5" name="PlaceHolder 1"/>
          <p:cNvSpPr>
            <a:spLocks noGrp="1" noRot="1" noChangeAspect="1"/>
          </p:cNvSpPr>
          <p:nvPr>
            <p:ph type="sldImg"/>
          </p:nvPr>
        </p:nvSpPr>
        <p:spPr>
          <a:xfrm>
            <a:off x="685800" y="1143000"/>
            <a:ext cx="5486040" cy="3085920"/>
          </a:xfrm>
          <a:prstGeom prst="rect">
            <a:avLst/>
          </a:prstGeom>
          <a:ln w="0">
            <a:noFill/>
          </a:ln>
        </p:spPr>
      </p:sp>
      <p:sp>
        <p:nvSpPr>
          <p:cNvPr id="13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37"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89F8001-1BBF-44CC-8949-14FAD9CFCA78}" type="slidenum">
              <a:rPr lang="en-US" sz="1200" b="0" u="none" strike="noStrike">
                <a:solidFill>
                  <a:schemeClr val="dk1"/>
                </a:solidFill>
                <a:effectLst/>
                <a:uFillTx/>
                <a:latin typeface="+mn-lt"/>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8" name="PlaceHolder 1"/>
          <p:cNvSpPr>
            <a:spLocks noGrp="1" noRot="1" noChangeAspect="1"/>
          </p:cNvSpPr>
          <p:nvPr>
            <p:ph type="sldImg"/>
          </p:nvPr>
        </p:nvSpPr>
        <p:spPr>
          <a:xfrm>
            <a:off x="685800" y="1143000"/>
            <a:ext cx="5486040" cy="3085920"/>
          </a:xfrm>
          <a:prstGeom prst="rect">
            <a:avLst/>
          </a:prstGeom>
          <a:ln w="0">
            <a:noFill/>
          </a:ln>
        </p:spPr>
      </p:sp>
      <p:sp>
        <p:nvSpPr>
          <p:cNvPr id="13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40"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F430A71-115C-4A55-832D-AFCD9C007C3A}" type="slidenum">
              <a:rPr lang="en-US" sz="1200" b="0" u="none" strike="noStrike">
                <a:solidFill>
                  <a:schemeClr val="dk1"/>
                </a:solidFill>
                <a:effectLst/>
                <a:uFillTx/>
                <a:latin typeface="+mn-lt"/>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 name="PlaceHolder 1"/>
          <p:cNvSpPr>
            <a:spLocks noGrp="1" noRot="1" noChangeAspect="1"/>
          </p:cNvSpPr>
          <p:nvPr>
            <p:ph type="sldImg"/>
          </p:nvPr>
        </p:nvSpPr>
        <p:spPr>
          <a:xfrm>
            <a:off x="685800" y="1143000"/>
            <a:ext cx="5486040" cy="3085920"/>
          </a:xfrm>
          <a:prstGeom prst="rect">
            <a:avLst/>
          </a:prstGeom>
          <a:ln w="0">
            <a:noFill/>
          </a:ln>
        </p:spPr>
      </p:sp>
      <p:sp>
        <p:nvSpPr>
          <p:cNvPr id="13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43"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EDF9B5A-5AD0-4F08-8787-03122D7AD848}" type="slidenum">
              <a:rPr lang="en-US" sz="1200" b="0" u="none" strike="noStrike">
                <a:solidFill>
                  <a:schemeClr val="dk1"/>
                </a:solidFill>
                <a:effectLst/>
                <a:uFillTx/>
                <a:latin typeface="+mn-lt"/>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4" name="PlaceHolder 1"/>
          <p:cNvSpPr>
            <a:spLocks noGrp="1" noRot="1" noChangeAspect="1"/>
          </p:cNvSpPr>
          <p:nvPr>
            <p:ph type="sldImg"/>
          </p:nvPr>
        </p:nvSpPr>
        <p:spPr>
          <a:xfrm>
            <a:off x="685800" y="1143000"/>
            <a:ext cx="5486040" cy="3085920"/>
          </a:xfrm>
          <a:prstGeom prst="rect">
            <a:avLst/>
          </a:prstGeom>
          <a:ln w="0">
            <a:noFill/>
          </a:ln>
        </p:spPr>
      </p:sp>
      <p:sp>
        <p:nvSpPr>
          <p:cNvPr id="13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46"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00645C2-3281-4199-9629-2B82EA2AC609}" type="slidenum">
              <a:rPr lang="en-US" sz="1200" b="0" u="none" strike="noStrike">
                <a:solidFill>
                  <a:schemeClr val="dk1"/>
                </a:solidFill>
                <a:effectLst/>
                <a:uFillTx/>
                <a:latin typeface="+mn-lt"/>
                <a:ea typeface="+mn-ea"/>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7" name="PlaceHolder 1"/>
          <p:cNvSpPr>
            <a:spLocks noGrp="1" noRot="1" noChangeAspect="1"/>
          </p:cNvSpPr>
          <p:nvPr>
            <p:ph type="sldImg"/>
          </p:nvPr>
        </p:nvSpPr>
        <p:spPr>
          <a:xfrm>
            <a:off x="685800" y="1143000"/>
            <a:ext cx="5486040" cy="3085920"/>
          </a:xfrm>
          <a:prstGeom prst="rect">
            <a:avLst/>
          </a:prstGeom>
          <a:ln w="0">
            <a:noFill/>
          </a:ln>
        </p:spPr>
      </p:sp>
      <p:sp>
        <p:nvSpPr>
          <p:cNvPr id="13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49"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85A98DD-6B87-4C8D-BEDB-C590485BCA8F}"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0" name="PlaceHolder 1"/>
          <p:cNvSpPr>
            <a:spLocks noGrp="1" noRot="1" noChangeAspect="1"/>
          </p:cNvSpPr>
          <p:nvPr>
            <p:ph type="sldImg"/>
          </p:nvPr>
        </p:nvSpPr>
        <p:spPr>
          <a:xfrm>
            <a:off x="685800" y="1143000"/>
            <a:ext cx="5486040" cy="3085920"/>
          </a:xfrm>
          <a:prstGeom prst="rect">
            <a:avLst/>
          </a:prstGeom>
          <a:ln w="0">
            <a:noFill/>
          </a:ln>
        </p:spPr>
      </p:sp>
      <p:sp>
        <p:nvSpPr>
          <p:cNvPr id="13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52"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AF7A9C3-35D1-4F39-BAC8-3785CFF0A0E6}" type="slidenum">
              <a:rPr lang="en-US" sz="1200" b="0" u="none" strike="noStrike">
                <a:solidFill>
                  <a:schemeClr val="dk1"/>
                </a:solidFill>
                <a:effectLst/>
                <a:uFillTx/>
                <a:latin typeface="+mn-lt"/>
                <a:ea typeface="+mn-ea"/>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3" name="PlaceHolder 1"/>
          <p:cNvSpPr>
            <a:spLocks noGrp="1" noRot="1" noChangeAspect="1"/>
          </p:cNvSpPr>
          <p:nvPr>
            <p:ph type="sldImg"/>
          </p:nvPr>
        </p:nvSpPr>
        <p:spPr>
          <a:xfrm>
            <a:off x="685800" y="1143000"/>
            <a:ext cx="5486040" cy="3085920"/>
          </a:xfrm>
          <a:prstGeom prst="rect">
            <a:avLst/>
          </a:prstGeom>
          <a:ln w="0">
            <a:noFill/>
          </a:ln>
        </p:spPr>
      </p:sp>
      <p:sp>
        <p:nvSpPr>
          <p:cNvPr id="13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55"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D399B25-B24D-4471-9E4B-8EE3564A42AB}" type="slidenum">
              <a:rPr lang="en-US" sz="1200" b="0" u="none" strike="noStrike">
                <a:solidFill>
                  <a:schemeClr val="dk1"/>
                </a:solidFill>
                <a:effectLst/>
                <a:uFillTx/>
                <a:latin typeface="+mn-lt"/>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6" name="PlaceHolder 1"/>
          <p:cNvSpPr>
            <a:spLocks noGrp="1" noRot="1" noChangeAspect="1"/>
          </p:cNvSpPr>
          <p:nvPr>
            <p:ph type="sldImg"/>
          </p:nvPr>
        </p:nvSpPr>
        <p:spPr>
          <a:xfrm>
            <a:off x="685800" y="1143000"/>
            <a:ext cx="5486040" cy="3085920"/>
          </a:xfrm>
          <a:prstGeom prst="rect">
            <a:avLst/>
          </a:prstGeom>
          <a:ln w="0">
            <a:noFill/>
          </a:ln>
        </p:spPr>
      </p:sp>
      <p:sp>
        <p:nvSpPr>
          <p:cNvPr id="13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58"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5782361-6A52-4B4F-AE14-4CCC68316C92}" type="slidenum">
              <a:rPr lang="en-US" sz="1200" b="0" u="none" strike="noStrike">
                <a:solidFill>
                  <a:schemeClr val="dk1"/>
                </a:solidFill>
                <a:effectLst/>
                <a:uFillTx/>
                <a:latin typeface="+mn-lt"/>
                <a:ea typeface="+mn-ea"/>
              </a:rPr>
              <a:t>10</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9" name="PlaceHolder 1"/>
          <p:cNvSpPr>
            <a:spLocks noGrp="1" noRot="1" noChangeAspect="1"/>
          </p:cNvSpPr>
          <p:nvPr>
            <p:ph type="sldImg"/>
          </p:nvPr>
        </p:nvSpPr>
        <p:spPr>
          <a:xfrm>
            <a:off x="685800" y="1143000"/>
            <a:ext cx="5486040" cy="3085920"/>
          </a:xfrm>
          <a:prstGeom prst="rect">
            <a:avLst/>
          </a:prstGeom>
          <a:ln w="0">
            <a:noFill/>
          </a:ln>
        </p:spPr>
      </p:sp>
      <p:sp>
        <p:nvSpPr>
          <p:cNvPr id="136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61"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B8833F5-2FE5-423D-88A1-B5A77EC23EE3}"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2" name="PlaceHolder 1"/>
          <p:cNvSpPr>
            <a:spLocks noGrp="1" noRot="1" noChangeAspect="1"/>
          </p:cNvSpPr>
          <p:nvPr>
            <p:ph type="sldImg"/>
          </p:nvPr>
        </p:nvSpPr>
        <p:spPr>
          <a:xfrm>
            <a:off x="685800" y="1143000"/>
            <a:ext cx="5486040" cy="3085920"/>
          </a:xfrm>
          <a:prstGeom prst="rect">
            <a:avLst/>
          </a:prstGeom>
          <a:ln w="0">
            <a:noFill/>
          </a:ln>
        </p:spPr>
      </p:sp>
      <p:sp>
        <p:nvSpPr>
          <p:cNvPr id="136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64"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73CA353-176F-4F68-86E6-A96A7F25A687}" type="slidenum">
              <a:rPr lang="en-US" sz="1200" b="0" u="none" strike="noStrike">
                <a:solidFill>
                  <a:schemeClr val="dk1"/>
                </a:solidFill>
                <a:effectLst/>
                <a:uFillTx/>
                <a:latin typeface="+mn-lt"/>
                <a:ea typeface="+mn-ea"/>
              </a:rPr>
              <a:t>12</a:t>
            </a:fld>
            <a:endParaRPr lang="en-US"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5" name="PlaceHolder 1"/>
          <p:cNvSpPr>
            <a:spLocks noGrp="1" noRot="1" noChangeAspect="1"/>
          </p:cNvSpPr>
          <p:nvPr>
            <p:ph type="sldImg"/>
          </p:nvPr>
        </p:nvSpPr>
        <p:spPr>
          <a:xfrm>
            <a:off x="685800" y="1143000"/>
            <a:ext cx="5486040" cy="3085920"/>
          </a:xfrm>
          <a:prstGeom prst="rect">
            <a:avLst/>
          </a:prstGeom>
          <a:ln w="0">
            <a:noFill/>
          </a:ln>
        </p:spPr>
      </p:sp>
      <p:sp>
        <p:nvSpPr>
          <p:cNvPr id="136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67"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5BC4ABD-5365-4BA4-8592-D1EF52D3922B}" type="slidenum">
              <a:rPr lang="en-US" sz="1200" b="0" u="none" strike="noStrike">
                <a:solidFill>
                  <a:schemeClr val="dk1"/>
                </a:solidFill>
                <a:effectLst/>
                <a:uFillTx/>
                <a:latin typeface="+mn-lt"/>
                <a:ea typeface="+mn-ea"/>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8" name="PlaceHolder 1"/>
          <p:cNvSpPr>
            <a:spLocks noGrp="1" noRot="1" noChangeAspect="1"/>
          </p:cNvSpPr>
          <p:nvPr>
            <p:ph type="sldImg"/>
          </p:nvPr>
        </p:nvSpPr>
        <p:spPr>
          <a:xfrm>
            <a:off x="685800" y="1143000"/>
            <a:ext cx="5486040" cy="3085920"/>
          </a:xfrm>
          <a:prstGeom prst="rect">
            <a:avLst/>
          </a:prstGeom>
          <a:ln w="0">
            <a:noFill/>
          </a:ln>
        </p:spPr>
      </p:sp>
      <p:sp>
        <p:nvSpPr>
          <p:cNvPr id="136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70"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0420E60-8D98-49E6-81EB-4960F36D0E9A}" type="slidenum">
              <a:rPr lang="en-US" sz="1200" b="0" u="none" strike="noStrike">
                <a:solidFill>
                  <a:schemeClr val="dk1"/>
                </a:solidFill>
                <a:effectLst/>
                <a:uFillTx/>
                <a:latin typeface="+mn-lt"/>
                <a:ea typeface="+mn-ea"/>
              </a:rPr>
              <a:t>14</a:t>
            </a:fld>
            <a:endParaRPr lang="en-U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1" name="PlaceHolder 1"/>
          <p:cNvSpPr>
            <a:spLocks noGrp="1" noRot="1" noChangeAspect="1"/>
          </p:cNvSpPr>
          <p:nvPr>
            <p:ph type="sldImg"/>
          </p:nvPr>
        </p:nvSpPr>
        <p:spPr>
          <a:xfrm>
            <a:off x="685800" y="1143000"/>
            <a:ext cx="5486040" cy="3085920"/>
          </a:xfrm>
          <a:prstGeom prst="rect">
            <a:avLst/>
          </a:prstGeom>
          <a:ln w="0">
            <a:noFill/>
          </a:ln>
        </p:spPr>
      </p:sp>
      <p:sp>
        <p:nvSpPr>
          <p:cNvPr id="137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73"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E9E2FE5-BACB-4457-912D-9BA358C8B4C0}" type="slidenum">
              <a:rPr lang="en-US" sz="1200" b="0" u="none" strike="noStrike">
                <a:solidFill>
                  <a:schemeClr val="dk1"/>
                </a:solidFill>
                <a:effectLst/>
                <a:uFillTx/>
                <a:latin typeface="+mn-lt"/>
                <a:ea typeface="+mn-ea"/>
              </a:rPr>
              <a:t>15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4" name="PlaceHolder 1"/>
          <p:cNvSpPr>
            <a:spLocks noGrp="1" noRot="1" noChangeAspect="1"/>
          </p:cNvSpPr>
          <p:nvPr>
            <p:ph type="sldImg"/>
          </p:nvPr>
        </p:nvSpPr>
        <p:spPr>
          <a:xfrm>
            <a:off x="685800" y="1143000"/>
            <a:ext cx="5486040" cy="3085920"/>
          </a:xfrm>
          <a:prstGeom prst="rect">
            <a:avLst/>
          </a:prstGeom>
          <a:ln w="0">
            <a:noFill/>
          </a:ln>
        </p:spPr>
      </p:sp>
      <p:sp>
        <p:nvSpPr>
          <p:cNvPr id="137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76"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A579E8E-3988-4A04-ADB2-61345105C270}" type="slidenum">
              <a:rPr lang="en-US" sz="1200" b="0" u="none" strike="noStrike">
                <a:solidFill>
                  <a:schemeClr val="dk1"/>
                </a:solidFill>
                <a:effectLst/>
                <a:uFillTx/>
                <a:latin typeface="+mn-lt"/>
                <a:ea typeface="+mn-ea"/>
              </a:rPr>
              <a:t>16</a:t>
            </a:fld>
            <a:endParaRPr lang="en-US"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7" name="PlaceHolder 1"/>
          <p:cNvSpPr>
            <a:spLocks noGrp="1" noRot="1" noChangeAspect="1"/>
          </p:cNvSpPr>
          <p:nvPr>
            <p:ph type="sldImg"/>
          </p:nvPr>
        </p:nvSpPr>
        <p:spPr>
          <a:xfrm>
            <a:off x="685800" y="1143000"/>
            <a:ext cx="5486040" cy="3085920"/>
          </a:xfrm>
          <a:prstGeom prst="rect">
            <a:avLst/>
          </a:prstGeom>
          <a:ln w="0">
            <a:noFill/>
          </a:ln>
        </p:spPr>
      </p:sp>
      <p:sp>
        <p:nvSpPr>
          <p:cNvPr id="137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79"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B47A6F1-F633-4BF8-80B1-8F4F4269D9BE}" type="slidenum">
              <a:rPr lang="en-US" sz="1200" b="0" u="none" strike="noStrike">
                <a:solidFill>
                  <a:schemeClr val="dk1"/>
                </a:solidFill>
                <a:effectLst/>
                <a:uFillTx/>
                <a:latin typeface="+mn-lt"/>
                <a:ea typeface="+mn-ea"/>
              </a:rPr>
              <a:t>17</a:t>
            </a:fld>
            <a:endParaRPr lang="en-US" sz="12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0" name="PlaceHolder 1"/>
          <p:cNvSpPr>
            <a:spLocks noGrp="1" noRot="1" noChangeAspect="1"/>
          </p:cNvSpPr>
          <p:nvPr>
            <p:ph type="sldImg"/>
          </p:nvPr>
        </p:nvSpPr>
        <p:spPr>
          <a:xfrm>
            <a:off x="685800" y="1143000"/>
            <a:ext cx="5486040" cy="3085920"/>
          </a:xfrm>
          <a:prstGeom prst="rect">
            <a:avLst/>
          </a:prstGeom>
          <a:ln w="0">
            <a:noFill/>
          </a:ln>
        </p:spPr>
      </p:sp>
      <p:sp>
        <p:nvSpPr>
          <p:cNvPr id="138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82"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1669B4E-EB1A-4F1B-9BB3-6EF57DCD5012}" type="slidenum">
              <a:rPr lang="en-US" sz="1200" b="0" u="none" strike="noStrike">
                <a:solidFill>
                  <a:schemeClr val="dk1"/>
                </a:solidFill>
                <a:effectLst/>
                <a:uFillTx/>
                <a:latin typeface="+mn-lt"/>
                <a:ea typeface="+mn-ea"/>
              </a:rPr>
              <a:t>18</a:t>
            </a:fld>
            <a:endParaRPr lang="en-US" sz="1200" b="0" u="none" strike="noStrike">
              <a:solidFill>
                <a:srgbClr val="000000"/>
              </a:solidFill>
              <a:effectLst/>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3" name="PlaceHolder 1"/>
          <p:cNvSpPr>
            <a:spLocks noGrp="1" noRot="1" noChangeAspect="1"/>
          </p:cNvSpPr>
          <p:nvPr>
            <p:ph type="sldImg"/>
          </p:nvPr>
        </p:nvSpPr>
        <p:spPr>
          <a:xfrm>
            <a:off x="685800" y="1143000"/>
            <a:ext cx="5486040" cy="3085920"/>
          </a:xfrm>
          <a:prstGeom prst="rect">
            <a:avLst/>
          </a:prstGeom>
          <a:ln w="0">
            <a:noFill/>
          </a:ln>
        </p:spPr>
      </p:sp>
      <p:sp>
        <p:nvSpPr>
          <p:cNvPr id="138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85"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F99113D-A813-4AB9-AAC8-48E353905479}" type="slidenum">
              <a:rPr lang="en-US" sz="1200" b="0" u="none" strike="noStrike">
                <a:solidFill>
                  <a:schemeClr val="dk1"/>
                </a:solidFill>
                <a:effectLst/>
                <a:uFillTx/>
                <a:latin typeface="+mn-lt"/>
                <a:ea typeface="+mn-ea"/>
              </a:rPr>
              <a:t>19</a:t>
            </a:fld>
            <a:endParaRPr lang="en-US" sz="1200" b="0" u="none" strike="noStrike">
              <a:solidFill>
                <a:srgbClr val="000000"/>
              </a:solidFill>
              <a:effectLst/>
              <a:uFillTx/>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6" name="PlaceHolder 1"/>
          <p:cNvSpPr>
            <a:spLocks noGrp="1" noRot="1" noChangeAspect="1"/>
          </p:cNvSpPr>
          <p:nvPr>
            <p:ph type="sldImg"/>
          </p:nvPr>
        </p:nvSpPr>
        <p:spPr>
          <a:xfrm>
            <a:off x="685800" y="1143000"/>
            <a:ext cx="5486040" cy="3085920"/>
          </a:xfrm>
          <a:prstGeom prst="rect">
            <a:avLst/>
          </a:prstGeom>
          <a:ln w="0">
            <a:noFill/>
          </a:ln>
        </p:spPr>
      </p:sp>
      <p:sp>
        <p:nvSpPr>
          <p:cNvPr id="138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88"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48DF700-7CCA-47FE-B7D0-6EB502BB8423}" type="slidenum">
              <a:rPr lang="en-US" sz="1200" b="0" u="none" strike="noStrike">
                <a:solidFill>
                  <a:schemeClr val="dk1"/>
                </a:solidFill>
                <a:effectLst/>
                <a:uFillTx/>
                <a:latin typeface="+mn-lt"/>
                <a:ea typeface="+mn-ea"/>
              </a:rPr>
              <a:t>20</a:t>
            </a:fld>
            <a:endParaRPr lang="en-US" sz="1200" b="0" u="none" strike="noStrike">
              <a:solidFill>
                <a:srgbClr val="000000"/>
              </a:solidFill>
              <a:effectLst/>
              <a:uFillTx/>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9" name="PlaceHolder 1"/>
          <p:cNvSpPr>
            <a:spLocks noGrp="1" noRot="1" noChangeAspect="1"/>
          </p:cNvSpPr>
          <p:nvPr>
            <p:ph type="sldImg"/>
          </p:nvPr>
        </p:nvSpPr>
        <p:spPr>
          <a:xfrm>
            <a:off x="685800" y="1143000"/>
            <a:ext cx="5486040" cy="3085920"/>
          </a:xfrm>
          <a:prstGeom prst="rect">
            <a:avLst/>
          </a:prstGeom>
          <a:ln w="0">
            <a:noFill/>
          </a:ln>
        </p:spPr>
      </p:sp>
      <p:sp>
        <p:nvSpPr>
          <p:cNvPr id="139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91"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38F6F43-4125-445E-AD22-557E7EAE0C91}" type="slidenum">
              <a:rPr lang="en-US" sz="1200" b="0" u="none" strike="noStrike">
                <a:solidFill>
                  <a:schemeClr val="dk1"/>
                </a:solidFill>
                <a:effectLst/>
                <a:uFillTx/>
                <a:latin typeface="+mn-lt"/>
                <a:ea typeface="+mn-ea"/>
              </a:rPr>
              <a:t>21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 name="PlaceHolder 1"/>
          <p:cNvSpPr>
            <a:spLocks noGrp="1" noRot="1" noChangeAspect="1"/>
          </p:cNvSpPr>
          <p:nvPr>
            <p:ph type="sldImg"/>
          </p:nvPr>
        </p:nvSpPr>
        <p:spPr>
          <a:xfrm>
            <a:off x="685800" y="1143000"/>
            <a:ext cx="5486040" cy="3085920"/>
          </a:xfrm>
          <a:prstGeom prst="rect">
            <a:avLst/>
          </a:prstGeom>
          <a:ln w="0">
            <a:noFill/>
          </a:ln>
        </p:spPr>
      </p:sp>
      <p:sp>
        <p:nvSpPr>
          <p:cNvPr id="13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94"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2FC1A15-6081-4F9A-9AC0-79855B05CA8B}" type="slidenum">
              <a:rPr lang="en-US" sz="1200" b="0" u="none" strike="noStrike">
                <a:solidFill>
                  <a:schemeClr val="dk1"/>
                </a:solidFill>
                <a:effectLst/>
                <a:uFillTx/>
                <a:latin typeface="+mn-lt"/>
                <a:ea typeface="+mn-ea"/>
              </a:rPr>
              <a:t>22</a:t>
            </a:fld>
            <a:endParaRPr lang="en-US" sz="1200" b="0" u="none" strike="noStrike">
              <a:solidFill>
                <a:srgbClr val="000000"/>
              </a:solidFill>
              <a:effectLst/>
              <a:uFillTx/>
              <a:latin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5" name="PlaceHolder 1"/>
          <p:cNvSpPr>
            <a:spLocks noGrp="1" noRot="1" noChangeAspect="1"/>
          </p:cNvSpPr>
          <p:nvPr>
            <p:ph type="sldImg"/>
          </p:nvPr>
        </p:nvSpPr>
        <p:spPr>
          <a:xfrm>
            <a:off x="685800" y="1143000"/>
            <a:ext cx="5486040" cy="3085920"/>
          </a:xfrm>
          <a:prstGeom prst="rect">
            <a:avLst/>
          </a:prstGeom>
          <a:ln w="0">
            <a:noFill/>
          </a:ln>
        </p:spPr>
      </p:sp>
      <p:sp>
        <p:nvSpPr>
          <p:cNvPr id="139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97"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1BEEF42-20BD-4C06-8757-31DF31446D65}" type="slidenum">
              <a:rPr lang="en-US" sz="1200" b="0" u="none" strike="noStrike">
                <a:solidFill>
                  <a:schemeClr val="dk1"/>
                </a:solidFill>
                <a:effectLst/>
                <a:uFillTx/>
                <a:latin typeface="+mn-lt"/>
                <a:ea typeface="+mn-ea"/>
              </a:rPr>
              <a:t>23</a:t>
            </a:fld>
            <a:endParaRPr lang="en-US" sz="1200" b="0" u="none" strike="noStrike">
              <a:solidFill>
                <a:srgbClr val="000000"/>
              </a:solidFill>
              <a:effectLst/>
              <a:uFillTx/>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8" name="PlaceHolder 1"/>
          <p:cNvSpPr>
            <a:spLocks noGrp="1" noRot="1" noChangeAspect="1"/>
          </p:cNvSpPr>
          <p:nvPr>
            <p:ph type="sldImg"/>
          </p:nvPr>
        </p:nvSpPr>
        <p:spPr>
          <a:xfrm>
            <a:off x="685800" y="1143000"/>
            <a:ext cx="5486040" cy="3085920"/>
          </a:xfrm>
          <a:prstGeom prst="rect">
            <a:avLst/>
          </a:prstGeom>
          <a:ln w="0">
            <a:noFill/>
          </a:ln>
        </p:spPr>
      </p:sp>
      <p:sp>
        <p:nvSpPr>
          <p:cNvPr id="13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00"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22BBB30-69E4-4228-92AD-B1A1C560FD09}" type="slidenum">
              <a:rPr lang="en-US" sz="1200" b="0" u="none" strike="noStrike">
                <a:solidFill>
                  <a:schemeClr val="dk1"/>
                </a:solidFill>
                <a:effectLst/>
                <a:uFillTx/>
                <a:latin typeface="+mn-lt"/>
                <a:ea typeface="+mn-ea"/>
              </a:rPr>
              <a:t>24</a:t>
            </a:fld>
            <a:endParaRPr lang="en-US" sz="1200" b="0" u="none" strike="noStrike">
              <a:solidFill>
                <a:srgbClr val="000000"/>
              </a:solidFill>
              <a:effectLst/>
              <a:uFillTx/>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1" name="PlaceHolder 1"/>
          <p:cNvSpPr>
            <a:spLocks noGrp="1" noRot="1" noChangeAspect="1"/>
          </p:cNvSpPr>
          <p:nvPr>
            <p:ph type="sldImg"/>
          </p:nvPr>
        </p:nvSpPr>
        <p:spPr>
          <a:xfrm>
            <a:off x="685800" y="1143000"/>
            <a:ext cx="5486040" cy="3085920"/>
          </a:xfrm>
          <a:prstGeom prst="rect">
            <a:avLst/>
          </a:prstGeom>
          <a:ln w="0">
            <a:noFill/>
          </a:ln>
        </p:spPr>
      </p:sp>
      <p:sp>
        <p:nvSpPr>
          <p:cNvPr id="140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03"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752A59F-113F-4C01-A612-FAFF37B8D0F5}"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 name="PlaceHolder 1"/>
          <p:cNvSpPr>
            <a:spLocks noGrp="1" noRot="1" noChangeAspect="1"/>
          </p:cNvSpPr>
          <p:nvPr>
            <p:ph type="sldImg"/>
          </p:nvPr>
        </p:nvSpPr>
        <p:spPr>
          <a:xfrm>
            <a:off x="685800" y="1143000"/>
            <a:ext cx="5486040" cy="3085920"/>
          </a:xfrm>
          <a:prstGeom prst="rect">
            <a:avLst/>
          </a:prstGeom>
          <a:ln w="0">
            <a:noFill/>
          </a:ln>
        </p:spPr>
      </p:sp>
      <p:sp>
        <p:nvSpPr>
          <p:cNvPr id="14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06"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7487575-C647-4605-9273-F77016DC64E0}" type="slidenum">
              <a:rPr lang="en-US" sz="1200" b="0" u="none" strike="noStrike">
                <a:solidFill>
                  <a:schemeClr val="dk1"/>
                </a:solidFill>
                <a:effectLst/>
                <a:uFillTx/>
                <a:latin typeface="+mn-lt"/>
                <a:ea typeface="+mn-ea"/>
              </a:rPr>
              <a:t>26</a:t>
            </a:fld>
            <a:endParaRPr lang="en-US" sz="1200" b="0" u="none" strike="noStrike">
              <a:solidFill>
                <a:srgbClr val="000000"/>
              </a:solidFill>
              <a:effectLst/>
              <a:uFillTx/>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7" name="PlaceHolder 1"/>
          <p:cNvSpPr>
            <a:spLocks noGrp="1" noRot="1" noChangeAspect="1"/>
          </p:cNvSpPr>
          <p:nvPr>
            <p:ph type="sldImg"/>
          </p:nvPr>
        </p:nvSpPr>
        <p:spPr>
          <a:xfrm>
            <a:off x="685800" y="1143000"/>
            <a:ext cx="5486040" cy="3085920"/>
          </a:xfrm>
          <a:prstGeom prst="rect">
            <a:avLst/>
          </a:prstGeom>
          <a:ln w="0">
            <a:noFill/>
          </a:ln>
        </p:spPr>
      </p:sp>
      <p:sp>
        <p:nvSpPr>
          <p:cNvPr id="14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09"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02024EF-12CF-43B8-BE94-93109183EBE2}" type="slidenum">
              <a:rPr lang="en-US" sz="1200" b="0" u="none" strike="noStrike">
                <a:solidFill>
                  <a:schemeClr val="dk1"/>
                </a:solidFill>
                <a:effectLst/>
                <a:uFillTx/>
                <a:latin typeface="+mn-lt"/>
                <a:ea typeface="+mn-ea"/>
              </a:rPr>
              <a:t>27</a:t>
            </a:fld>
            <a:endParaRPr lang="en-US" sz="1200" b="0" u="none" strike="noStrike">
              <a:solidFill>
                <a:srgbClr val="000000"/>
              </a:solidFill>
              <a:effectLst/>
              <a:uFillTx/>
              <a:latin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0" name="PlaceHolder 1"/>
          <p:cNvSpPr>
            <a:spLocks noGrp="1" noRot="1" noChangeAspect="1"/>
          </p:cNvSpPr>
          <p:nvPr>
            <p:ph type="sldImg"/>
          </p:nvPr>
        </p:nvSpPr>
        <p:spPr>
          <a:xfrm>
            <a:off x="685800" y="1143000"/>
            <a:ext cx="5486040" cy="3085920"/>
          </a:xfrm>
          <a:prstGeom prst="rect">
            <a:avLst/>
          </a:prstGeom>
          <a:ln w="0">
            <a:noFill/>
          </a:ln>
        </p:spPr>
      </p:sp>
      <p:sp>
        <p:nvSpPr>
          <p:cNvPr id="14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12"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B2006EB-52B2-43B4-9DEC-D652A9F8720B}" type="slidenum">
              <a:rPr lang="en-US" sz="1200" b="0" u="none" strike="noStrike">
                <a:solidFill>
                  <a:schemeClr val="dk1"/>
                </a:solidFill>
                <a:effectLst/>
                <a:uFillTx/>
                <a:latin typeface="+mn-lt"/>
                <a:ea typeface="+mn-ea"/>
              </a:rPr>
              <a:t>28</a:t>
            </a:fld>
            <a:endParaRPr lang="en-US" sz="1200" b="0" u="none" strike="noStrike">
              <a:solidFill>
                <a:srgbClr val="000000"/>
              </a:solidFill>
              <a:effectLst/>
              <a:uFillTx/>
              <a:latin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 name="PlaceHolder 1"/>
          <p:cNvSpPr>
            <a:spLocks noGrp="1" noRot="1" noChangeAspect="1"/>
          </p:cNvSpPr>
          <p:nvPr>
            <p:ph type="sldImg"/>
          </p:nvPr>
        </p:nvSpPr>
        <p:spPr>
          <a:xfrm>
            <a:off x="685800" y="1143000"/>
            <a:ext cx="5486040" cy="3085920"/>
          </a:xfrm>
          <a:prstGeom prst="rect">
            <a:avLst/>
          </a:prstGeom>
          <a:ln w="0">
            <a:noFill/>
          </a:ln>
        </p:spPr>
      </p:sp>
      <p:sp>
        <p:nvSpPr>
          <p:cNvPr id="14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15"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F46818E-E36A-46FB-97F2-820B917E972A}" type="slidenum">
              <a:rPr lang="en-US" sz="1200" b="0" u="none" strike="noStrike">
                <a:solidFill>
                  <a:schemeClr val="dk1"/>
                </a:solidFill>
                <a:effectLst/>
                <a:uFillTx/>
                <a:latin typeface="+mn-lt"/>
                <a:ea typeface="+mn-ea"/>
              </a:rPr>
              <a:t>29</a:t>
            </a:fld>
            <a:endParaRPr lang="en-US" sz="1200" b="0" u="none" strike="noStrike">
              <a:solidFill>
                <a:srgbClr val="000000"/>
              </a:solidFill>
              <a:effectLst/>
              <a:uFillTx/>
              <a:latin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6" name="PlaceHolder 1"/>
          <p:cNvSpPr>
            <a:spLocks noGrp="1" noRot="1" noChangeAspect="1"/>
          </p:cNvSpPr>
          <p:nvPr>
            <p:ph type="sldImg"/>
          </p:nvPr>
        </p:nvSpPr>
        <p:spPr>
          <a:xfrm>
            <a:off x="685800" y="1143000"/>
            <a:ext cx="5486040" cy="3085920"/>
          </a:xfrm>
          <a:prstGeom prst="rect">
            <a:avLst/>
          </a:prstGeom>
          <a:ln w="0">
            <a:noFill/>
          </a:ln>
        </p:spPr>
      </p:sp>
      <p:sp>
        <p:nvSpPr>
          <p:cNvPr id="14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18"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4B881C4-3FF6-48EE-B252-236C74CF0370}" type="slidenum">
              <a:rPr lang="en-US" sz="1200" b="0" u="none" strike="noStrike">
                <a:solidFill>
                  <a:schemeClr val="dk1"/>
                </a:solidFill>
                <a:effectLst/>
                <a:uFillTx/>
                <a:latin typeface="+mn-lt"/>
                <a:ea typeface="+mn-ea"/>
              </a:rPr>
              <a:t>30</a:t>
            </a:fld>
            <a:endParaRPr lang="en-US" sz="1200" b="0" u="none" strike="noStrike">
              <a:solidFill>
                <a:srgbClr val="000000"/>
              </a:solidFill>
              <a:effectLst/>
              <a:uFillTx/>
              <a:latin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9" name="PlaceHolder 1"/>
          <p:cNvSpPr>
            <a:spLocks noGrp="1" noRot="1" noChangeAspect="1"/>
          </p:cNvSpPr>
          <p:nvPr>
            <p:ph type="sldImg"/>
          </p:nvPr>
        </p:nvSpPr>
        <p:spPr>
          <a:xfrm>
            <a:off x="685800" y="1143000"/>
            <a:ext cx="5486040" cy="3085920"/>
          </a:xfrm>
          <a:prstGeom prst="rect">
            <a:avLst/>
          </a:prstGeom>
          <a:ln w="0">
            <a:noFill/>
          </a:ln>
        </p:spPr>
      </p:sp>
      <p:sp>
        <p:nvSpPr>
          <p:cNvPr id="142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21"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008C323-3E48-4F22-8461-6695E0672800}" type="slidenum">
              <a:rPr lang="en-US" sz="1200" b="0" u="none" strike="noStrike">
                <a:solidFill>
                  <a:schemeClr val="dk1"/>
                </a:solidFill>
                <a:effectLst/>
                <a:uFillTx/>
                <a:latin typeface="+mn-lt"/>
                <a:ea typeface="+mn-ea"/>
              </a:rPr>
              <a:t>31</a:t>
            </a:fld>
            <a:endParaRPr lang="en-US" sz="1200" b="0" u="none" strike="noStrike">
              <a:solidFill>
                <a:srgbClr val="000000"/>
              </a:solidFill>
              <a:effectLst/>
              <a:uFillTx/>
              <a:latin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2" name="PlaceHolder 1"/>
          <p:cNvSpPr>
            <a:spLocks noGrp="1" noRot="1" noChangeAspect="1"/>
          </p:cNvSpPr>
          <p:nvPr>
            <p:ph type="sldImg"/>
          </p:nvPr>
        </p:nvSpPr>
        <p:spPr>
          <a:xfrm>
            <a:off x="685800" y="1143000"/>
            <a:ext cx="5486040" cy="3085920"/>
          </a:xfrm>
          <a:prstGeom prst="rect">
            <a:avLst/>
          </a:prstGeom>
          <a:ln w="0">
            <a:noFill/>
          </a:ln>
        </p:spPr>
      </p:sp>
      <p:sp>
        <p:nvSpPr>
          <p:cNvPr id="142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24"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F0D25FE-4F8E-44BD-807F-B53699FB630C}" type="slidenum">
              <a:rPr lang="en-US" sz="1200" b="0" u="none" strike="noStrike">
                <a:solidFill>
                  <a:schemeClr val="dk1"/>
                </a:solidFill>
                <a:effectLst/>
                <a:uFillTx/>
                <a:latin typeface="+mn-lt"/>
                <a:ea typeface="+mn-ea"/>
              </a:rPr>
              <a:t>32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5" name="PlaceHolder 1"/>
          <p:cNvSpPr>
            <a:spLocks noGrp="1" noRot="1" noChangeAspect="1"/>
          </p:cNvSpPr>
          <p:nvPr>
            <p:ph type="sldImg"/>
          </p:nvPr>
        </p:nvSpPr>
        <p:spPr>
          <a:xfrm>
            <a:off x="685800" y="1143000"/>
            <a:ext cx="5486040" cy="3085920"/>
          </a:xfrm>
          <a:prstGeom prst="rect">
            <a:avLst/>
          </a:prstGeom>
          <a:ln w="0">
            <a:noFill/>
          </a:ln>
        </p:spPr>
      </p:sp>
      <p:sp>
        <p:nvSpPr>
          <p:cNvPr id="142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27" name="PlaceHolder 3"/>
          <p:cNvSpPr>
            <a:spLocks noGrp="1"/>
          </p:cNvSpPr>
          <p:nvPr>
            <p:ph type="sldNum" idx="3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92A5936-5DC9-47DE-B00B-CCB74518CB4A}" type="slidenum">
              <a:rPr lang="en-US" sz="1200" b="0" u="none" strike="noStrike">
                <a:solidFill>
                  <a:schemeClr val="dk1"/>
                </a:solidFill>
                <a:effectLst/>
                <a:uFillTx/>
                <a:latin typeface="+mn-lt"/>
                <a:ea typeface="+mn-ea"/>
              </a:rPr>
              <a:t>33</a:t>
            </a:fld>
            <a:endParaRPr lang="en-US" sz="1200" b="0" u="none" strike="noStrike">
              <a:solidFill>
                <a:srgbClr val="000000"/>
              </a:solidFill>
              <a:effectLst/>
              <a:uFillTx/>
              <a:latin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8" name="PlaceHolder 1"/>
          <p:cNvSpPr>
            <a:spLocks noGrp="1" noRot="1" noChangeAspect="1"/>
          </p:cNvSpPr>
          <p:nvPr>
            <p:ph type="sldImg"/>
          </p:nvPr>
        </p:nvSpPr>
        <p:spPr>
          <a:xfrm>
            <a:off x="685800" y="1143000"/>
            <a:ext cx="5486040" cy="3085920"/>
          </a:xfrm>
          <a:prstGeom prst="rect">
            <a:avLst/>
          </a:prstGeom>
          <a:ln w="0">
            <a:noFill/>
          </a:ln>
        </p:spPr>
      </p:sp>
      <p:sp>
        <p:nvSpPr>
          <p:cNvPr id="142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30"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F579C1E-D08C-4C3B-8BB1-C76416AF3399}" type="slidenum">
              <a:rPr lang="en-US" sz="1200" b="0" u="none" strike="noStrike">
                <a:solidFill>
                  <a:schemeClr val="dk1"/>
                </a:solidFill>
                <a:effectLst/>
                <a:uFillTx/>
                <a:latin typeface="+mn-lt"/>
                <a:ea typeface="+mn-ea"/>
              </a:rPr>
              <a:t>34</a:t>
            </a:fld>
            <a:endParaRPr lang="en-US" sz="1200" b="0" u="none" strike="noStrike">
              <a:solidFill>
                <a:srgbClr val="000000"/>
              </a:solidFill>
              <a:effectLst/>
              <a:uFillTx/>
              <a:latin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1" name="PlaceHolder 1"/>
          <p:cNvSpPr>
            <a:spLocks noGrp="1" noRot="1" noChangeAspect="1"/>
          </p:cNvSpPr>
          <p:nvPr>
            <p:ph type="sldImg"/>
          </p:nvPr>
        </p:nvSpPr>
        <p:spPr>
          <a:xfrm>
            <a:off x="685800" y="1143000"/>
            <a:ext cx="5486040" cy="3085920"/>
          </a:xfrm>
          <a:prstGeom prst="rect">
            <a:avLst/>
          </a:prstGeom>
          <a:ln w="0">
            <a:noFill/>
          </a:ln>
        </p:spPr>
      </p:sp>
      <p:sp>
        <p:nvSpPr>
          <p:cNvPr id="143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33"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7006702-2A4E-4634-B731-92C61A3E1EDE}"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 name="PlaceHolder 1"/>
          <p:cNvSpPr>
            <a:spLocks noGrp="1" noRot="1" noChangeAspect="1"/>
          </p:cNvSpPr>
          <p:nvPr>
            <p:ph type="sldImg"/>
          </p:nvPr>
        </p:nvSpPr>
        <p:spPr>
          <a:xfrm>
            <a:off x="685800" y="1143000"/>
            <a:ext cx="5486040" cy="3085920"/>
          </a:xfrm>
          <a:prstGeom prst="rect">
            <a:avLst/>
          </a:prstGeom>
          <a:ln w="0">
            <a:noFill/>
          </a:ln>
        </p:spPr>
      </p:sp>
      <p:sp>
        <p:nvSpPr>
          <p:cNvPr id="143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36"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C4871E6-3DDE-451B-B5CF-EE30DF99086C}"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7" name="PlaceHolder 1"/>
          <p:cNvSpPr>
            <a:spLocks noGrp="1" noRot="1" noChangeAspect="1"/>
          </p:cNvSpPr>
          <p:nvPr>
            <p:ph type="sldImg"/>
          </p:nvPr>
        </p:nvSpPr>
        <p:spPr>
          <a:xfrm>
            <a:off x="685800" y="1143000"/>
            <a:ext cx="5486040" cy="3085920"/>
          </a:xfrm>
          <a:prstGeom prst="rect">
            <a:avLst/>
          </a:prstGeom>
          <a:ln w="0">
            <a:noFill/>
          </a:ln>
        </p:spPr>
      </p:sp>
      <p:sp>
        <p:nvSpPr>
          <p:cNvPr id="143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39"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E8CD9FB-7A1C-4E79-84D8-9B373D35EC6E}" type="slidenum">
              <a:rPr lang="en-US" sz="1200" b="0" u="none" strike="noStrike">
                <a:solidFill>
                  <a:schemeClr val="dk1"/>
                </a:solidFill>
                <a:effectLst/>
                <a:uFillTx/>
                <a:latin typeface="+mn-lt"/>
                <a:ea typeface="+mn-ea"/>
              </a:rPr>
              <a:t>37</a:t>
            </a:fld>
            <a:endParaRPr lang="en-US" sz="1200" b="0" u="none" strike="noStrike">
              <a:solidFill>
                <a:srgbClr val="000000"/>
              </a:solidFill>
              <a:effectLst/>
              <a:uFillTx/>
              <a:latin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0" name="PlaceHolder 1"/>
          <p:cNvSpPr>
            <a:spLocks noGrp="1" noRot="1" noChangeAspect="1"/>
          </p:cNvSpPr>
          <p:nvPr>
            <p:ph type="sldImg"/>
          </p:nvPr>
        </p:nvSpPr>
        <p:spPr>
          <a:xfrm>
            <a:off x="685800" y="1143000"/>
            <a:ext cx="5486040" cy="3085920"/>
          </a:xfrm>
          <a:prstGeom prst="rect">
            <a:avLst/>
          </a:prstGeom>
          <a:ln w="0">
            <a:noFill/>
          </a:ln>
        </p:spPr>
      </p:sp>
      <p:sp>
        <p:nvSpPr>
          <p:cNvPr id="144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42"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C015C23-B51F-432E-85E7-D9D2B9DA8F61}" type="slidenum">
              <a:rPr lang="en-US" sz="1200" b="0" u="none" strike="noStrike">
                <a:solidFill>
                  <a:schemeClr val="dk1"/>
                </a:solidFill>
                <a:effectLst/>
                <a:uFillTx/>
                <a:latin typeface="+mn-lt"/>
                <a:ea typeface="+mn-ea"/>
              </a:rPr>
              <a:t>38</a:t>
            </a:fld>
            <a:endParaRPr lang="en-US" sz="1200" b="0" u="none" strike="noStrike">
              <a:solidFill>
                <a:srgbClr val="000000"/>
              </a:solidFill>
              <a:effectLst/>
              <a:uFillTx/>
              <a:latin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 name="PlaceHolder 1"/>
          <p:cNvSpPr>
            <a:spLocks noGrp="1" noRot="1" noChangeAspect="1"/>
          </p:cNvSpPr>
          <p:nvPr>
            <p:ph type="sldImg"/>
          </p:nvPr>
        </p:nvSpPr>
        <p:spPr>
          <a:xfrm>
            <a:off x="685800" y="1143000"/>
            <a:ext cx="5486040" cy="3085920"/>
          </a:xfrm>
          <a:prstGeom prst="rect">
            <a:avLst/>
          </a:prstGeom>
          <a:ln w="0">
            <a:noFill/>
          </a:ln>
        </p:spPr>
      </p:sp>
      <p:sp>
        <p:nvSpPr>
          <p:cNvPr id="144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45"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C681A23-FB37-493F-A5F1-6F86157C56BB}" type="slidenum">
              <a:rPr lang="en-US" sz="1200" b="0" u="none" strike="noStrike">
                <a:solidFill>
                  <a:schemeClr val="dk1"/>
                </a:solidFill>
                <a:effectLst/>
                <a:uFillTx/>
                <a:latin typeface="+mn-lt"/>
                <a:ea typeface="+mn-ea"/>
              </a:rPr>
              <a:t>39</a:t>
            </a:fld>
            <a:endParaRPr lang="en-US" sz="1200" b="0" u="none" strike="noStrike">
              <a:solidFill>
                <a:srgbClr val="000000"/>
              </a:solidFill>
              <a:effectLst/>
              <a:uFillTx/>
              <a:latin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6" name="PlaceHolder 1"/>
          <p:cNvSpPr>
            <a:spLocks noGrp="1" noRot="1" noChangeAspect="1"/>
          </p:cNvSpPr>
          <p:nvPr>
            <p:ph type="sldImg"/>
          </p:nvPr>
        </p:nvSpPr>
        <p:spPr>
          <a:xfrm>
            <a:off x="685800" y="1143000"/>
            <a:ext cx="5486040" cy="3085920"/>
          </a:xfrm>
          <a:prstGeom prst="rect">
            <a:avLst/>
          </a:prstGeom>
          <a:ln w="0">
            <a:noFill/>
          </a:ln>
        </p:spPr>
      </p:sp>
      <p:sp>
        <p:nvSpPr>
          <p:cNvPr id="144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48"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22AF5FA-F30A-4E1D-912F-8807CD5F7162}" type="slidenum">
              <a:rPr lang="en-US" sz="1200" b="0" u="none" strike="noStrike">
                <a:solidFill>
                  <a:schemeClr val="dk1"/>
                </a:solidFill>
                <a:effectLst/>
                <a:uFillTx/>
                <a:latin typeface="+mn-lt"/>
                <a:ea typeface="+mn-ea"/>
              </a:rPr>
              <a:t>40</a:t>
            </a:fld>
            <a:endParaRPr lang="en-US" sz="1200" b="0" u="none" strike="noStrike">
              <a:solidFill>
                <a:srgbClr val="000000"/>
              </a:solidFill>
              <a:effectLst/>
              <a:uFillTx/>
              <a:latin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9" name="PlaceHolder 1"/>
          <p:cNvSpPr>
            <a:spLocks noGrp="1" noRot="1" noChangeAspect="1"/>
          </p:cNvSpPr>
          <p:nvPr>
            <p:ph type="sldImg"/>
          </p:nvPr>
        </p:nvSpPr>
        <p:spPr>
          <a:xfrm>
            <a:off x="685800" y="1143000"/>
            <a:ext cx="5486040" cy="3085920"/>
          </a:xfrm>
          <a:prstGeom prst="rect">
            <a:avLst/>
          </a:prstGeom>
          <a:ln w="0">
            <a:noFill/>
          </a:ln>
        </p:spPr>
      </p:sp>
      <p:sp>
        <p:nvSpPr>
          <p:cNvPr id="145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51"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4DF13B6-CA73-4E56-9437-E348245D4BBA}" type="slidenum">
              <a:rPr lang="en-US" sz="1200" b="0" u="none" strike="noStrike">
                <a:solidFill>
                  <a:schemeClr val="dk1"/>
                </a:solidFill>
                <a:effectLst/>
                <a:uFillTx/>
                <a:latin typeface="+mn-lt"/>
                <a:ea typeface="+mn-ea"/>
              </a:rPr>
              <a:t>41</a:t>
            </a:fld>
            <a:endParaRPr lang="en-US" sz="1200" b="0" u="none" strike="noStrike">
              <a:solidFill>
                <a:srgbClr val="000000"/>
              </a:solidFill>
              <a:effectLst/>
              <a:uFillTx/>
              <a:latin typeface="Times New Roman"/>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2" name="PlaceHolder 1"/>
          <p:cNvSpPr>
            <a:spLocks noGrp="1" noRot="1" noChangeAspect="1"/>
          </p:cNvSpPr>
          <p:nvPr>
            <p:ph type="sldImg"/>
          </p:nvPr>
        </p:nvSpPr>
        <p:spPr>
          <a:xfrm>
            <a:off x="685800" y="1143000"/>
            <a:ext cx="5486040" cy="3085920"/>
          </a:xfrm>
          <a:prstGeom prst="rect">
            <a:avLst/>
          </a:prstGeom>
          <a:ln w="0">
            <a:noFill/>
          </a:ln>
        </p:spPr>
      </p:sp>
      <p:sp>
        <p:nvSpPr>
          <p:cNvPr id="145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54"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3C5A38D-1D10-41F8-A731-BA85B58FEB83}" type="slidenum">
              <a:rPr lang="en-US" sz="1200" b="0" u="none" strike="noStrike">
                <a:solidFill>
                  <a:schemeClr val="dk1"/>
                </a:solidFill>
                <a:effectLst/>
                <a:uFillTx/>
                <a:latin typeface="+mn-lt"/>
                <a:ea typeface="+mn-ea"/>
              </a:rPr>
              <a:t>42</a:t>
            </a:fld>
            <a:endParaRPr lang="en-US" sz="1200" b="0" u="none" strike="noStrike">
              <a:solidFill>
                <a:srgbClr val="000000"/>
              </a:solidFill>
              <a:effectLst/>
              <a:uFillTx/>
              <a:latin typeface="Times New Roman"/>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5" name="PlaceHolder 1"/>
          <p:cNvSpPr>
            <a:spLocks noGrp="1" noRot="1" noChangeAspect="1"/>
          </p:cNvSpPr>
          <p:nvPr>
            <p:ph type="sldImg"/>
          </p:nvPr>
        </p:nvSpPr>
        <p:spPr>
          <a:xfrm>
            <a:off x="685800" y="1143000"/>
            <a:ext cx="5486040" cy="3085920"/>
          </a:xfrm>
          <a:prstGeom prst="rect">
            <a:avLst/>
          </a:prstGeom>
          <a:ln w="0">
            <a:noFill/>
          </a:ln>
        </p:spPr>
      </p:sp>
      <p:sp>
        <p:nvSpPr>
          <p:cNvPr id="145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57" name="PlaceHolder 3"/>
          <p:cNvSpPr>
            <a:spLocks noGrp="1"/>
          </p:cNvSpPr>
          <p:nvPr>
            <p:ph type="sldNum" idx="4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503DFDB-2C33-4830-80BB-21DD427D7EA9}" type="slidenum">
              <a:rPr lang="en-US" sz="1200" b="0" u="none" strike="noStrike">
                <a:solidFill>
                  <a:schemeClr val="dk1"/>
                </a:solidFill>
                <a:effectLst/>
                <a:uFillTx/>
                <a:latin typeface="+mn-lt"/>
                <a:ea typeface="+mn-ea"/>
              </a:rPr>
              <a:t>43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8" name="PlaceHolder 1"/>
          <p:cNvSpPr>
            <a:spLocks noGrp="1" noRot="1" noChangeAspect="1"/>
          </p:cNvSpPr>
          <p:nvPr>
            <p:ph type="sldImg"/>
          </p:nvPr>
        </p:nvSpPr>
        <p:spPr>
          <a:xfrm>
            <a:off x="685800" y="1143000"/>
            <a:ext cx="5486040" cy="3085920"/>
          </a:xfrm>
          <a:prstGeom prst="rect">
            <a:avLst/>
          </a:prstGeom>
          <a:ln w="0">
            <a:noFill/>
          </a:ln>
        </p:spPr>
      </p:sp>
      <p:sp>
        <p:nvSpPr>
          <p:cNvPr id="145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60"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9572056-68A0-4B24-A3F0-85EF76717317}" type="slidenum">
              <a:rPr lang="en-US" sz="1200" b="0" u="none" strike="noStrike">
                <a:solidFill>
                  <a:schemeClr val="dk1"/>
                </a:solidFill>
                <a:effectLst/>
                <a:uFillTx/>
                <a:latin typeface="+mn-lt"/>
                <a:ea typeface="+mn-ea"/>
              </a:rPr>
              <a:t>44</a:t>
            </a:fld>
            <a:endParaRPr lang="en-US" sz="1200" b="0" u="none" strike="noStrike">
              <a:solidFill>
                <a:srgbClr val="000000"/>
              </a:solidFill>
              <a:effectLst/>
              <a:uFillTx/>
              <a:latin typeface="Times New Roman"/>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1" name="PlaceHolder 1"/>
          <p:cNvSpPr>
            <a:spLocks noGrp="1" noRot="1" noChangeAspect="1"/>
          </p:cNvSpPr>
          <p:nvPr>
            <p:ph type="sldImg"/>
          </p:nvPr>
        </p:nvSpPr>
        <p:spPr>
          <a:xfrm>
            <a:off x="685800" y="1143000"/>
            <a:ext cx="5486040" cy="3085920"/>
          </a:xfrm>
          <a:prstGeom prst="rect">
            <a:avLst/>
          </a:prstGeom>
          <a:ln w="0">
            <a:noFill/>
          </a:ln>
        </p:spPr>
      </p:sp>
      <p:sp>
        <p:nvSpPr>
          <p:cNvPr id="146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63" name="PlaceHolder 3"/>
          <p:cNvSpPr>
            <a:spLocks noGrp="1"/>
          </p:cNvSpPr>
          <p:nvPr>
            <p:ph type="sldNum" idx="4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8E7E36B-F970-407B-AC51-5B91266373DF}" type="slidenum">
              <a:rPr lang="en-US" sz="1200" b="0" u="none" strike="noStrike">
                <a:solidFill>
                  <a:schemeClr val="dk1"/>
                </a:solidFill>
                <a:effectLst/>
                <a:uFillTx/>
                <a:latin typeface="+mn-lt"/>
                <a:ea typeface="+mn-ea"/>
              </a:rPr>
              <a:t>45</a:t>
            </a:fld>
            <a:endParaRPr lang="en-US" sz="1200" b="0" u="none" strike="noStrike">
              <a:solidFill>
                <a:srgbClr val="000000"/>
              </a:solidFill>
              <a:effectLst/>
              <a:uFillTx/>
              <a:latin typeface="Times New Roman"/>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 name="PlaceHolder 1"/>
          <p:cNvSpPr>
            <a:spLocks noGrp="1" noRot="1" noChangeAspect="1"/>
          </p:cNvSpPr>
          <p:nvPr>
            <p:ph type="sldImg"/>
          </p:nvPr>
        </p:nvSpPr>
        <p:spPr>
          <a:xfrm>
            <a:off x="685800" y="1143000"/>
            <a:ext cx="5486040" cy="3085920"/>
          </a:xfrm>
          <a:prstGeom prst="rect">
            <a:avLst/>
          </a:prstGeom>
          <a:ln w="0">
            <a:noFill/>
          </a:ln>
        </p:spPr>
      </p:sp>
      <p:sp>
        <p:nvSpPr>
          <p:cNvPr id="146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66" name="PlaceHolder 3"/>
          <p:cNvSpPr>
            <a:spLocks noGrp="1"/>
          </p:cNvSpPr>
          <p:nvPr>
            <p:ph type="sldNum" idx="4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5B676B8-7EE8-4A21-9A0F-72EDED48932F}" type="slidenum">
              <a:rPr lang="en-US" sz="1200" b="0" u="none" strike="noStrike">
                <a:solidFill>
                  <a:schemeClr val="dk1"/>
                </a:solidFill>
                <a:effectLst/>
                <a:uFillTx/>
                <a:latin typeface="+mn-lt"/>
                <a:ea typeface="+mn-ea"/>
              </a:rPr>
              <a:t>46</a:t>
            </a:fld>
            <a:endParaRPr lang="en-US" sz="1200" b="0" u="none" strike="noStrike">
              <a:solidFill>
                <a:srgbClr val="000000"/>
              </a:solidFill>
              <a:effectLst/>
              <a:uFillTx/>
              <a:latin typeface="Times New Roman"/>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7" name="PlaceHolder 1"/>
          <p:cNvSpPr>
            <a:spLocks noGrp="1" noRot="1" noChangeAspect="1"/>
          </p:cNvSpPr>
          <p:nvPr>
            <p:ph type="sldImg"/>
          </p:nvPr>
        </p:nvSpPr>
        <p:spPr>
          <a:xfrm>
            <a:off x="685800" y="1143000"/>
            <a:ext cx="5486040" cy="3085920"/>
          </a:xfrm>
          <a:prstGeom prst="rect">
            <a:avLst/>
          </a:prstGeom>
          <a:ln w="0">
            <a:noFill/>
          </a:ln>
        </p:spPr>
      </p:sp>
      <p:sp>
        <p:nvSpPr>
          <p:cNvPr id="146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69" name="PlaceHolder 3"/>
          <p:cNvSpPr>
            <a:spLocks noGrp="1"/>
          </p:cNvSpPr>
          <p:nvPr>
            <p:ph type="sldNum" idx="5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6A7C24C-0D35-4591-8CF7-48E429F11352}" type="slidenum">
              <a:rPr lang="en-US" sz="1200" b="0" u="none" strike="noStrike">
                <a:solidFill>
                  <a:schemeClr val="dk1"/>
                </a:solidFill>
                <a:effectLst/>
                <a:uFillTx/>
                <a:latin typeface="+mn-lt"/>
                <a:ea typeface="+mn-ea"/>
              </a:rPr>
              <a:t>47</a:t>
            </a:fld>
            <a:endParaRPr lang="en-US" sz="1200" b="0" u="none" strike="noStrike">
              <a:solidFill>
                <a:srgbClr val="000000"/>
              </a:solidFill>
              <a:effectLst/>
              <a:uFillTx/>
              <a:latin typeface="Times New Roman"/>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0" name="PlaceHolder 1"/>
          <p:cNvSpPr>
            <a:spLocks noGrp="1" noRot="1" noChangeAspect="1"/>
          </p:cNvSpPr>
          <p:nvPr>
            <p:ph type="sldImg"/>
          </p:nvPr>
        </p:nvSpPr>
        <p:spPr>
          <a:xfrm>
            <a:off x="685800" y="1143000"/>
            <a:ext cx="5486040" cy="3085920"/>
          </a:xfrm>
          <a:prstGeom prst="rect">
            <a:avLst/>
          </a:prstGeom>
          <a:ln w="0">
            <a:noFill/>
          </a:ln>
        </p:spPr>
      </p:sp>
      <p:sp>
        <p:nvSpPr>
          <p:cNvPr id="147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72" name="PlaceHolder 3"/>
          <p:cNvSpPr>
            <a:spLocks noGrp="1"/>
          </p:cNvSpPr>
          <p:nvPr>
            <p:ph type="sldNum" idx="5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ABC89D0-D58C-4EA6-A2E6-61197F95D8D0}" type="slidenum">
              <a:rPr lang="en-US" sz="1200" b="0" u="none" strike="noStrike">
                <a:solidFill>
                  <a:schemeClr val="dk1"/>
                </a:solidFill>
                <a:effectLst/>
                <a:uFillTx/>
                <a:latin typeface="+mn-lt"/>
                <a:ea typeface="+mn-ea"/>
              </a:rPr>
              <a:t>48</a:t>
            </a:fld>
            <a:endParaRPr lang="en-US" sz="1200" b="0" u="none" strike="noStrike">
              <a:solidFill>
                <a:srgbClr val="000000"/>
              </a:solidFill>
              <a:effectLst/>
              <a:uFillTx/>
              <a:latin typeface="Times New Roman"/>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3" name="PlaceHolder 1"/>
          <p:cNvSpPr>
            <a:spLocks noGrp="1" noRot="1" noChangeAspect="1"/>
          </p:cNvSpPr>
          <p:nvPr>
            <p:ph type="sldImg"/>
          </p:nvPr>
        </p:nvSpPr>
        <p:spPr>
          <a:xfrm>
            <a:off x="685800" y="1143000"/>
            <a:ext cx="5486040" cy="3085920"/>
          </a:xfrm>
          <a:prstGeom prst="rect">
            <a:avLst/>
          </a:prstGeom>
          <a:ln w="0">
            <a:noFill/>
          </a:ln>
        </p:spPr>
      </p:sp>
      <p:sp>
        <p:nvSpPr>
          <p:cNvPr id="147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75" name="PlaceHolder 3"/>
          <p:cNvSpPr>
            <a:spLocks noGrp="1"/>
          </p:cNvSpPr>
          <p:nvPr>
            <p:ph type="sldNum" idx="5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9C6F54D-2D42-4C12-9838-A905ED67DAC5}" type="slidenum">
              <a:rPr lang="en-US" sz="1200" b="0" u="none" strike="noStrike">
                <a:solidFill>
                  <a:schemeClr val="dk1"/>
                </a:solidFill>
                <a:effectLst/>
                <a:uFillTx/>
                <a:latin typeface="+mn-lt"/>
                <a:ea typeface="+mn-ea"/>
              </a:rPr>
              <a:t>49</a:t>
            </a:fld>
            <a:endParaRPr lang="en-US" sz="1200" b="0" u="none" strike="noStrike">
              <a:solidFill>
                <a:srgbClr val="000000"/>
              </a:solidFill>
              <a:effectLst/>
              <a:uFillTx/>
              <a:latin typeface="Times New Roman"/>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6" name="PlaceHolder 1"/>
          <p:cNvSpPr>
            <a:spLocks noGrp="1" noRot="1" noChangeAspect="1"/>
          </p:cNvSpPr>
          <p:nvPr>
            <p:ph type="sldImg"/>
          </p:nvPr>
        </p:nvSpPr>
        <p:spPr>
          <a:xfrm>
            <a:off x="685800" y="1143000"/>
            <a:ext cx="5486040" cy="3085920"/>
          </a:xfrm>
          <a:prstGeom prst="rect">
            <a:avLst/>
          </a:prstGeom>
          <a:ln w="0">
            <a:noFill/>
          </a:ln>
        </p:spPr>
      </p:sp>
      <p:sp>
        <p:nvSpPr>
          <p:cNvPr id="147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78" name="PlaceHolder 3"/>
          <p:cNvSpPr>
            <a:spLocks noGrp="1"/>
          </p:cNvSpPr>
          <p:nvPr>
            <p:ph type="sldNum" idx="5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6D9CBD3-1A58-4A84-B38E-7887B17AF9DA}" type="slidenum">
              <a:rPr lang="en-US" sz="1200" b="0" u="none" strike="noStrike">
                <a:solidFill>
                  <a:schemeClr val="dk1"/>
                </a:solidFill>
                <a:effectLst/>
                <a:uFillTx/>
                <a:latin typeface="+mn-lt"/>
                <a:ea typeface="+mn-ea"/>
              </a:rPr>
              <a:t>50</a:t>
            </a:fld>
            <a:endParaRPr lang="en-US" sz="1200" b="0" u="none" strike="noStrike">
              <a:solidFill>
                <a:srgbClr val="000000"/>
              </a:solidFill>
              <a:effectLst/>
              <a:uFillTx/>
              <a:latin typeface="Times New Roman"/>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9" name="PlaceHolder 1"/>
          <p:cNvSpPr>
            <a:spLocks noGrp="1" noRot="1" noChangeAspect="1"/>
          </p:cNvSpPr>
          <p:nvPr>
            <p:ph type="sldImg"/>
          </p:nvPr>
        </p:nvSpPr>
        <p:spPr>
          <a:xfrm>
            <a:off x="685800" y="1143000"/>
            <a:ext cx="5486040" cy="3085920"/>
          </a:xfrm>
          <a:prstGeom prst="rect">
            <a:avLst/>
          </a:prstGeom>
          <a:ln w="0">
            <a:noFill/>
          </a:ln>
        </p:spPr>
      </p:sp>
      <p:sp>
        <p:nvSpPr>
          <p:cNvPr id="148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81" name="PlaceHolder 3"/>
          <p:cNvSpPr>
            <a:spLocks noGrp="1"/>
          </p:cNvSpPr>
          <p:nvPr>
            <p:ph type="sldNum" idx="5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6DE41B1-4943-4565-8666-037370B71DE4}" type="slidenum">
              <a:rPr lang="en-US" sz="1200" b="0" u="none" strike="noStrike">
                <a:solidFill>
                  <a:schemeClr val="dk1"/>
                </a:solidFill>
                <a:effectLst/>
                <a:uFillTx/>
                <a:latin typeface="+mn-lt"/>
                <a:ea typeface="+mn-ea"/>
              </a:rPr>
              <a:t>51</a:t>
            </a:fld>
            <a:endParaRPr lang="en-US" sz="1200" b="0" u="none" strike="noStrike">
              <a:solidFill>
                <a:srgbClr val="000000"/>
              </a:solidFill>
              <a:effectLst/>
              <a:uFillTx/>
              <a:latin typeface="Times New Roman"/>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2" name="PlaceHolder 1"/>
          <p:cNvSpPr>
            <a:spLocks noGrp="1" noRot="1" noChangeAspect="1"/>
          </p:cNvSpPr>
          <p:nvPr>
            <p:ph type="sldImg"/>
          </p:nvPr>
        </p:nvSpPr>
        <p:spPr>
          <a:xfrm>
            <a:off x="685800" y="1143000"/>
            <a:ext cx="5486040" cy="3085920"/>
          </a:xfrm>
          <a:prstGeom prst="rect">
            <a:avLst/>
          </a:prstGeom>
          <a:ln w="0">
            <a:noFill/>
          </a:ln>
        </p:spPr>
      </p:sp>
      <p:sp>
        <p:nvSpPr>
          <p:cNvPr id="148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84" name="PlaceHolder 3"/>
          <p:cNvSpPr>
            <a:spLocks noGrp="1"/>
          </p:cNvSpPr>
          <p:nvPr>
            <p:ph type="sldNum" idx="5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5F854F7-DC3A-439D-8F2D-1D1BFA4EECB6}" type="slidenum">
              <a:rPr lang="en-US" sz="1200" b="0" u="none" strike="noStrike">
                <a:solidFill>
                  <a:schemeClr val="dk1"/>
                </a:solidFill>
                <a:effectLst/>
                <a:uFillTx/>
                <a:latin typeface="+mn-lt"/>
                <a:ea typeface="+mn-ea"/>
              </a:rPr>
              <a:t>52</a:t>
            </a:fld>
            <a:endParaRPr lang="en-US" sz="1200" b="0" u="none" strike="noStrike">
              <a:solidFill>
                <a:srgbClr val="000000"/>
              </a:solidFill>
              <a:effectLst/>
              <a:uFillTx/>
              <a:latin typeface="Times New Roman"/>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5" name="PlaceHolder 1"/>
          <p:cNvSpPr>
            <a:spLocks noGrp="1" noRot="1" noChangeAspect="1"/>
          </p:cNvSpPr>
          <p:nvPr>
            <p:ph type="sldImg"/>
          </p:nvPr>
        </p:nvSpPr>
        <p:spPr>
          <a:xfrm>
            <a:off x="685800" y="1143000"/>
            <a:ext cx="5486040" cy="3085920"/>
          </a:xfrm>
          <a:prstGeom prst="rect">
            <a:avLst/>
          </a:prstGeom>
          <a:ln w="0">
            <a:noFill/>
          </a:ln>
        </p:spPr>
      </p:sp>
      <p:sp>
        <p:nvSpPr>
          <p:cNvPr id="148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87" name="PlaceHolder 3"/>
          <p:cNvSpPr>
            <a:spLocks noGrp="1"/>
          </p:cNvSpPr>
          <p:nvPr>
            <p:ph type="sldNum" idx="5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9642821-3DCE-4C04-A77A-0118572E2E75}" type="slidenum">
              <a:rPr lang="en-US" sz="1200" b="0" u="none" strike="noStrike">
                <a:solidFill>
                  <a:schemeClr val="dk1"/>
                </a:solidFill>
                <a:effectLst/>
                <a:uFillTx/>
                <a:latin typeface="+mn-lt"/>
                <a:ea typeface="+mn-ea"/>
              </a:rPr>
              <a:t>53</a:t>
            </a:fld>
            <a:endParaRPr lang="en-US" sz="1200" b="0" u="none" strike="noStrike">
              <a:solidFill>
                <a:srgbClr val="000000"/>
              </a:solidFill>
              <a:effectLst/>
              <a:uFillTx/>
              <a:latin typeface="Times New Roman"/>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8" name="PlaceHolder 1"/>
          <p:cNvSpPr>
            <a:spLocks noGrp="1" noRot="1" noChangeAspect="1"/>
          </p:cNvSpPr>
          <p:nvPr>
            <p:ph type="sldImg"/>
          </p:nvPr>
        </p:nvSpPr>
        <p:spPr>
          <a:xfrm>
            <a:off x="685800" y="1143000"/>
            <a:ext cx="5486040" cy="3085920"/>
          </a:xfrm>
          <a:prstGeom prst="rect">
            <a:avLst/>
          </a:prstGeom>
          <a:ln w="0">
            <a:noFill/>
          </a:ln>
        </p:spPr>
      </p:sp>
      <p:sp>
        <p:nvSpPr>
          <p:cNvPr id="148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90" name="PlaceHolder 3"/>
          <p:cNvSpPr>
            <a:spLocks noGrp="1"/>
          </p:cNvSpPr>
          <p:nvPr>
            <p:ph type="sldNum" idx="5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C384511-D045-4135-B67B-52DD4DC172A1}" type="slidenum">
              <a:rPr lang="en-US" sz="1200" b="0" u="none" strike="noStrike">
                <a:solidFill>
                  <a:schemeClr val="dk1"/>
                </a:solidFill>
                <a:effectLst/>
                <a:uFillTx/>
                <a:latin typeface="+mn-lt"/>
                <a:ea typeface="+mn-ea"/>
              </a:rPr>
              <a:t>55</a:t>
            </a:fld>
            <a:endParaRPr lang="en-US" sz="1200" b="0" u="none" strike="noStrike">
              <a:solidFill>
                <a:srgbClr val="000000"/>
              </a:solidFill>
              <a:effectLst/>
              <a:uFillTx/>
              <a:latin typeface="Times New Roman"/>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1" name="PlaceHolder 1"/>
          <p:cNvSpPr>
            <a:spLocks noGrp="1" noRot="1" noChangeAspect="1"/>
          </p:cNvSpPr>
          <p:nvPr>
            <p:ph type="sldImg"/>
          </p:nvPr>
        </p:nvSpPr>
        <p:spPr>
          <a:xfrm>
            <a:off x="685800" y="1143000"/>
            <a:ext cx="5486040" cy="3085920"/>
          </a:xfrm>
          <a:prstGeom prst="rect">
            <a:avLst/>
          </a:prstGeom>
          <a:ln w="0">
            <a:noFill/>
          </a:ln>
        </p:spPr>
      </p:sp>
      <p:sp>
        <p:nvSpPr>
          <p:cNvPr id="149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93" name="PlaceHolder 3"/>
          <p:cNvSpPr>
            <a:spLocks noGrp="1"/>
          </p:cNvSpPr>
          <p:nvPr>
            <p:ph type="sldNum" idx="5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5469239-B022-471E-AB09-78644E6AC471}" type="slidenum">
              <a:rPr lang="en-US" sz="1200" b="0" u="none" strike="noStrike">
                <a:solidFill>
                  <a:schemeClr val="dk1"/>
                </a:solidFill>
                <a:effectLst/>
                <a:uFillTx/>
                <a:latin typeface="+mn-lt"/>
                <a:ea typeface="+mn-ea"/>
              </a:rPr>
              <a:t>56</a:t>
            </a:fld>
            <a:endParaRPr lang="en-US" sz="1200" b="0" u="none" strike="noStrike">
              <a:solidFill>
                <a:srgbClr val="000000"/>
              </a:solidFill>
              <a:effectLst/>
              <a:uFillTx/>
              <a:latin typeface="Times New Roman"/>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4" name="PlaceHolder 1"/>
          <p:cNvSpPr>
            <a:spLocks noGrp="1" noRot="1" noChangeAspect="1"/>
          </p:cNvSpPr>
          <p:nvPr>
            <p:ph type="sldImg"/>
          </p:nvPr>
        </p:nvSpPr>
        <p:spPr>
          <a:xfrm>
            <a:off x="685800" y="1143000"/>
            <a:ext cx="5486040" cy="3085920"/>
          </a:xfrm>
          <a:prstGeom prst="rect">
            <a:avLst/>
          </a:prstGeom>
          <a:ln w="0">
            <a:noFill/>
          </a:ln>
        </p:spPr>
      </p:sp>
      <p:sp>
        <p:nvSpPr>
          <p:cNvPr id="149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96" name="PlaceHolder 3"/>
          <p:cNvSpPr>
            <a:spLocks noGrp="1"/>
          </p:cNvSpPr>
          <p:nvPr>
            <p:ph type="sldNum" idx="5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82EBD29-0823-417D-A169-FE0D893B0D06}"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7" name="PlaceHolder 1"/>
          <p:cNvSpPr>
            <a:spLocks noGrp="1" noRot="1" noChangeAspect="1"/>
          </p:cNvSpPr>
          <p:nvPr>
            <p:ph type="sldImg"/>
          </p:nvPr>
        </p:nvSpPr>
        <p:spPr>
          <a:xfrm>
            <a:off x="685800" y="1143000"/>
            <a:ext cx="5486040" cy="3085920"/>
          </a:xfrm>
          <a:prstGeom prst="rect">
            <a:avLst/>
          </a:prstGeom>
          <a:ln w="0">
            <a:noFill/>
          </a:ln>
        </p:spPr>
      </p:sp>
      <p:sp>
        <p:nvSpPr>
          <p:cNvPr id="149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99" name="PlaceHolder 3"/>
          <p:cNvSpPr>
            <a:spLocks noGrp="1"/>
          </p:cNvSpPr>
          <p:nvPr>
            <p:ph type="sldNum" idx="6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BD62D65-995D-43C6-B21C-9353C42AF28C}" type="slidenum">
              <a:rPr lang="en-US" sz="1200" b="0" u="none" strike="noStrike">
                <a:solidFill>
                  <a:schemeClr val="dk1"/>
                </a:solidFill>
                <a:effectLst/>
                <a:uFillTx/>
                <a:latin typeface="+mn-lt"/>
                <a:ea typeface="+mn-ea"/>
              </a:rPr>
              <a:t>59</a:t>
            </a:fld>
            <a:endParaRPr lang="en-US" sz="1200" b="0" u="none" strike="noStrike">
              <a:solidFill>
                <a:srgbClr val="000000"/>
              </a:solidFill>
              <a:effectLst/>
              <a:uFillTx/>
              <a:latin typeface="Times New Roman"/>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 name="PlaceHolder 1"/>
          <p:cNvSpPr>
            <a:spLocks noGrp="1" noRot="1" noChangeAspect="1"/>
          </p:cNvSpPr>
          <p:nvPr>
            <p:ph type="sldImg"/>
          </p:nvPr>
        </p:nvSpPr>
        <p:spPr>
          <a:xfrm>
            <a:off x="685800" y="1143000"/>
            <a:ext cx="5486040" cy="3085920"/>
          </a:xfrm>
          <a:prstGeom prst="rect">
            <a:avLst/>
          </a:prstGeom>
          <a:ln w="0">
            <a:noFill/>
          </a:ln>
        </p:spPr>
      </p:sp>
      <p:sp>
        <p:nvSpPr>
          <p:cNvPr id="150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02" name="PlaceHolder 3"/>
          <p:cNvSpPr>
            <a:spLocks noGrp="1"/>
          </p:cNvSpPr>
          <p:nvPr>
            <p:ph type="sldNum" idx="6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9CA3857-B81F-40EE-977E-8103CEC76590}"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3" name="PlaceHolder 1"/>
          <p:cNvSpPr>
            <a:spLocks noGrp="1" noRot="1" noChangeAspect="1"/>
          </p:cNvSpPr>
          <p:nvPr>
            <p:ph type="sldImg"/>
          </p:nvPr>
        </p:nvSpPr>
        <p:spPr>
          <a:xfrm>
            <a:off x="685800" y="1143000"/>
            <a:ext cx="5486040" cy="3085920"/>
          </a:xfrm>
          <a:prstGeom prst="rect">
            <a:avLst/>
          </a:prstGeom>
          <a:ln w="0">
            <a:noFill/>
          </a:ln>
        </p:spPr>
      </p:sp>
      <p:sp>
        <p:nvSpPr>
          <p:cNvPr id="150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05" name="PlaceHolder 3"/>
          <p:cNvSpPr>
            <a:spLocks noGrp="1"/>
          </p:cNvSpPr>
          <p:nvPr>
            <p:ph type="sldNum" idx="6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EA3ED16-D202-4142-A189-8FA2F4131283}" type="slidenum">
              <a:rPr lang="en-US" sz="1200" b="0" u="none" strike="noStrike">
                <a:solidFill>
                  <a:schemeClr val="dk1"/>
                </a:solidFill>
                <a:effectLst/>
                <a:uFillTx/>
                <a:latin typeface="+mn-lt"/>
                <a:ea typeface="+mn-ea"/>
              </a:rPr>
              <a:t>63</a:t>
            </a:fld>
            <a:endParaRPr lang="en-US" sz="1200" b="0" u="none" strike="noStrike">
              <a:solidFill>
                <a:srgbClr val="000000"/>
              </a:solidFill>
              <a:effectLst/>
              <a:uFillTx/>
              <a:latin typeface="Times New Roman"/>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6" name="PlaceHolder 1"/>
          <p:cNvSpPr>
            <a:spLocks noGrp="1" noRot="1" noChangeAspect="1"/>
          </p:cNvSpPr>
          <p:nvPr>
            <p:ph type="sldImg"/>
          </p:nvPr>
        </p:nvSpPr>
        <p:spPr>
          <a:xfrm>
            <a:off x="685800" y="1143000"/>
            <a:ext cx="5486040" cy="3085920"/>
          </a:xfrm>
          <a:prstGeom prst="rect">
            <a:avLst/>
          </a:prstGeom>
          <a:ln w="0">
            <a:noFill/>
          </a:ln>
        </p:spPr>
      </p:sp>
      <p:sp>
        <p:nvSpPr>
          <p:cNvPr id="150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08" name="PlaceHolder 3"/>
          <p:cNvSpPr>
            <a:spLocks noGrp="1"/>
          </p:cNvSpPr>
          <p:nvPr>
            <p:ph type="sldNum" idx="6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2B2E6F6-B027-42E5-BD87-976BF09E23A6}" type="slidenum">
              <a:rPr lang="en-US" sz="1200" b="0" u="none" strike="noStrike">
                <a:solidFill>
                  <a:schemeClr val="dk1"/>
                </a:solidFill>
                <a:effectLst/>
                <a:uFillTx/>
                <a:latin typeface="+mn-lt"/>
                <a:ea typeface="+mn-ea"/>
              </a:rPr>
              <a:t>64</a:t>
            </a:fld>
            <a:endParaRPr lang="en-US" sz="1200" b="0" u="none" strike="noStrike">
              <a:solidFill>
                <a:srgbClr val="000000"/>
              </a:solidFill>
              <a:effectLst/>
              <a:uFillTx/>
              <a:latin typeface="Times New Roman"/>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9" name="PlaceHolder 1"/>
          <p:cNvSpPr>
            <a:spLocks noGrp="1" noRot="1" noChangeAspect="1"/>
          </p:cNvSpPr>
          <p:nvPr>
            <p:ph type="sldImg"/>
          </p:nvPr>
        </p:nvSpPr>
        <p:spPr>
          <a:xfrm>
            <a:off x="685800" y="1143000"/>
            <a:ext cx="5486040" cy="3085920"/>
          </a:xfrm>
          <a:prstGeom prst="rect">
            <a:avLst/>
          </a:prstGeom>
          <a:ln w="0">
            <a:noFill/>
          </a:ln>
        </p:spPr>
      </p:sp>
      <p:sp>
        <p:nvSpPr>
          <p:cNvPr id="151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11" name="PlaceHolder 3"/>
          <p:cNvSpPr>
            <a:spLocks noGrp="1"/>
          </p:cNvSpPr>
          <p:nvPr>
            <p:ph type="sldNum" idx="6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C61C24B-98E1-484F-ACAC-7A2079D56270}" type="slidenum">
              <a:rPr lang="en-US" sz="1200" b="0" u="none" strike="noStrike">
                <a:solidFill>
                  <a:schemeClr val="dk1"/>
                </a:solidFill>
                <a:effectLst/>
                <a:uFillTx/>
                <a:latin typeface="+mn-lt"/>
                <a:ea typeface="+mn-ea"/>
              </a:rPr>
              <a:t>65</a:t>
            </a:fld>
            <a:endParaRPr lang="en-US" sz="1200" b="0" u="none" strike="noStrike">
              <a:solidFill>
                <a:srgbClr val="000000"/>
              </a:solidFill>
              <a:effectLst/>
              <a:uFillTx/>
              <a:latin typeface="Times New Roman"/>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2" name="PlaceHolder 1"/>
          <p:cNvSpPr>
            <a:spLocks noGrp="1" noRot="1" noChangeAspect="1"/>
          </p:cNvSpPr>
          <p:nvPr>
            <p:ph type="sldImg"/>
          </p:nvPr>
        </p:nvSpPr>
        <p:spPr>
          <a:xfrm>
            <a:off x="685800" y="1143000"/>
            <a:ext cx="5486040" cy="3085920"/>
          </a:xfrm>
          <a:prstGeom prst="rect">
            <a:avLst/>
          </a:prstGeom>
          <a:ln w="0">
            <a:noFill/>
          </a:ln>
        </p:spPr>
      </p:sp>
      <p:sp>
        <p:nvSpPr>
          <p:cNvPr id="151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14" name="PlaceHolder 3"/>
          <p:cNvSpPr>
            <a:spLocks noGrp="1"/>
          </p:cNvSpPr>
          <p:nvPr>
            <p:ph type="sldNum" idx="6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82FF289-070A-4F6C-9BC9-FD1D622C1643}" type="slidenum">
              <a:rPr lang="en-US" sz="1200" b="0" u="none" strike="noStrike">
                <a:solidFill>
                  <a:schemeClr val="dk1"/>
                </a:solidFill>
                <a:effectLst/>
                <a:uFillTx/>
                <a:latin typeface="+mn-lt"/>
                <a:ea typeface="+mn-ea"/>
              </a:rPr>
              <a:t>67</a:t>
            </a:fld>
            <a:endParaRPr lang="en-US" sz="1200" b="0" u="none" strike="noStrike">
              <a:solidFill>
                <a:srgbClr val="000000"/>
              </a:solidFill>
              <a:effectLst/>
              <a:uFillTx/>
              <a:latin typeface="Times New Roman"/>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 name="PlaceHolder 1"/>
          <p:cNvSpPr>
            <a:spLocks noGrp="1" noRot="1" noChangeAspect="1"/>
          </p:cNvSpPr>
          <p:nvPr>
            <p:ph type="sldImg"/>
          </p:nvPr>
        </p:nvSpPr>
        <p:spPr>
          <a:xfrm>
            <a:off x="685800" y="1143000"/>
            <a:ext cx="5486040" cy="3085920"/>
          </a:xfrm>
          <a:prstGeom prst="rect">
            <a:avLst/>
          </a:prstGeom>
          <a:ln w="0">
            <a:noFill/>
          </a:ln>
        </p:spPr>
      </p:sp>
      <p:sp>
        <p:nvSpPr>
          <p:cNvPr id="151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17" name="PlaceHolder 3"/>
          <p:cNvSpPr>
            <a:spLocks noGrp="1"/>
          </p:cNvSpPr>
          <p:nvPr>
            <p:ph type="sldNum" idx="6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892AA9D-92E2-49BE-9F78-2AA638FB3EF9}" type="slidenum">
              <a:rPr lang="en-US" sz="1200" b="0" u="none" strike="noStrike">
                <a:solidFill>
                  <a:schemeClr val="dk1"/>
                </a:solidFill>
                <a:effectLst/>
                <a:uFillTx/>
                <a:latin typeface="+mn-lt"/>
                <a:ea typeface="+mn-ea"/>
              </a:rPr>
              <a:t>68</a:t>
            </a:fld>
            <a:endParaRPr lang="en-US" sz="1200" b="0" u="none" strike="noStrike">
              <a:solidFill>
                <a:srgbClr val="000000"/>
              </a:solidFill>
              <a:effectLst/>
              <a:uFillTx/>
              <a:latin typeface="Times New Roman"/>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8" name="PlaceHolder 1"/>
          <p:cNvSpPr>
            <a:spLocks noGrp="1" noRot="1" noChangeAspect="1"/>
          </p:cNvSpPr>
          <p:nvPr>
            <p:ph type="sldImg"/>
          </p:nvPr>
        </p:nvSpPr>
        <p:spPr>
          <a:xfrm>
            <a:off x="685800" y="1143000"/>
            <a:ext cx="5486040" cy="3085920"/>
          </a:xfrm>
          <a:prstGeom prst="rect">
            <a:avLst/>
          </a:prstGeom>
          <a:ln w="0">
            <a:noFill/>
          </a:ln>
        </p:spPr>
      </p:sp>
      <p:sp>
        <p:nvSpPr>
          <p:cNvPr id="151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20" name="PlaceHolder 3"/>
          <p:cNvSpPr>
            <a:spLocks noGrp="1"/>
          </p:cNvSpPr>
          <p:nvPr>
            <p:ph type="sldNum" idx="6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FC29FC4-85EC-45E0-AB92-0D13A18BE857}" type="slidenum">
              <a:rPr lang="en-US" sz="1200" b="0" u="none" strike="noStrike">
                <a:solidFill>
                  <a:schemeClr val="dk1"/>
                </a:solidFill>
                <a:effectLst/>
                <a:uFillTx/>
                <a:latin typeface="+mn-lt"/>
                <a:ea typeface="+mn-ea"/>
              </a:rPr>
              <a:t>69</a:t>
            </a:fld>
            <a:endParaRPr lang="en-US" sz="1200" b="0" u="none" strike="noStrike">
              <a:solidFill>
                <a:srgbClr val="000000"/>
              </a:solidFill>
              <a:effectLst/>
              <a:uFillTx/>
              <a:latin typeface="Times New Roman"/>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1" name="PlaceHolder 1"/>
          <p:cNvSpPr>
            <a:spLocks noGrp="1" noRot="1" noChangeAspect="1"/>
          </p:cNvSpPr>
          <p:nvPr>
            <p:ph type="sldImg"/>
          </p:nvPr>
        </p:nvSpPr>
        <p:spPr>
          <a:xfrm>
            <a:off x="685800" y="1143000"/>
            <a:ext cx="5486040" cy="3085920"/>
          </a:xfrm>
          <a:prstGeom prst="rect">
            <a:avLst/>
          </a:prstGeom>
          <a:ln w="0">
            <a:noFill/>
          </a:ln>
        </p:spPr>
      </p:sp>
      <p:sp>
        <p:nvSpPr>
          <p:cNvPr id="152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23" name="PlaceHolder 3"/>
          <p:cNvSpPr>
            <a:spLocks noGrp="1"/>
          </p:cNvSpPr>
          <p:nvPr>
            <p:ph type="sldNum" idx="6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06091D8-AB55-4C48-93C1-FE62C98579DE}" type="slidenum">
              <a:rPr lang="en-US" sz="1200" b="0" u="none" strike="noStrike">
                <a:solidFill>
                  <a:schemeClr val="dk1"/>
                </a:solidFill>
                <a:effectLst/>
                <a:uFillTx/>
                <a:latin typeface="+mn-lt"/>
                <a:ea typeface="+mn-ea"/>
              </a:rPr>
              <a:t>70</a:t>
            </a:fld>
            <a:endParaRPr lang="en-US" sz="1200" b="0" u="none" strike="noStrike">
              <a:solidFill>
                <a:srgbClr val="000000"/>
              </a:solidFill>
              <a:effectLst/>
              <a:uFillTx/>
              <a:latin typeface="Times New Roman"/>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4" name="PlaceHolder 1"/>
          <p:cNvSpPr>
            <a:spLocks noGrp="1" noRot="1" noChangeAspect="1"/>
          </p:cNvSpPr>
          <p:nvPr>
            <p:ph type="sldImg"/>
          </p:nvPr>
        </p:nvSpPr>
        <p:spPr>
          <a:xfrm>
            <a:off x="685800" y="1143000"/>
            <a:ext cx="5486040" cy="3085920"/>
          </a:xfrm>
          <a:prstGeom prst="rect">
            <a:avLst/>
          </a:prstGeom>
          <a:ln w="0">
            <a:noFill/>
          </a:ln>
        </p:spPr>
      </p:sp>
      <p:sp>
        <p:nvSpPr>
          <p:cNvPr id="152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26" name="PlaceHolder 3"/>
          <p:cNvSpPr>
            <a:spLocks noGrp="1"/>
          </p:cNvSpPr>
          <p:nvPr>
            <p:ph type="sldNum" idx="6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A496F35-705C-4BE6-83B0-663F61E18491}" type="slidenum">
              <a:rPr lang="en-US" sz="1200" b="0" u="none" strike="noStrike">
                <a:solidFill>
                  <a:schemeClr val="dk1"/>
                </a:solidFill>
                <a:effectLst/>
                <a:uFillTx/>
                <a:latin typeface="+mn-lt"/>
                <a:ea typeface="+mn-ea"/>
              </a:rPr>
              <a:t>71</a:t>
            </a:fld>
            <a:endParaRPr lang="en-US" sz="1200" b="0" u="none" strike="noStrike">
              <a:solidFill>
                <a:srgbClr val="000000"/>
              </a:solidFill>
              <a:effectLst/>
              <a:uFillTx/>
              <a:latin typeface="Times New Roman"/>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7" name="PlaceHolder 1"/>
          <p:cNvSpPr>
            <a:spLocks noGrp="1" noRot="1" noChangeAspect="1"/>
          </p:cNvSpPr>
          <p:nvPr>
            <p:ph type="sldImg"/>
          </p:nvPr>
        </p:nvSpPr>
        <p:spPr>
          <a:xfrm>
            <a:off x="685800" y="1143000"/>
            <a:ext cx="5486040" cy="3085920"/>
          </a:xfrm>
          <a:prstGeom prst="rect">
            <a:avLst/>
          </a:prstGeom>
          <a:ln w="0">
            <a:noFill/>
          </a:ln>
        </p:spPr>
      </p:sp>
      <p:sp>
        <p:nvSpPr>
          <p:cNvPr id="152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29" name="PlaceHolder 3"/>
          <p:cNvSpPr>
            <a:spLocks noGrp="1"/>
          </p:cNvSpPr>
          <p:nvPr>
            <p:ph type="sldNum" idx="7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DBE7BC8-53A1-4557-9572-94963502D327}" type="slidenum">
              <a:rPr lang="en-US" sz="1200" b="0" u="none" strike="noStrike">
                <a:solidFill>
                  <a:schemeClr val="dk1"/>
                </a:solidFill>
                <a:effectLst/>
                <a:uFillTx/>
                <a:latin typeface="+mn-lt"/>
                <a:ea typeface="+mn-ea"/>
              </a:rPr>
              <a:t>72</a:t>
            </a:fld>
            <a:endParaRPr lang="en-US" sz="1200" b="0" u="none" strike="noStrike">
              <a:solidFill>
                <a:srgbClr val="000000"/>
              </a:solidFill>
              <a:effectLst/>
              <a:uFillTx/>
              <a:latin typeface="Times New Roman"/>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0" name="PlaceHolder 1"/>
          <p:cNvSpPr>
            <a:spLocks noGrp="1" noRot="1" noChangeAspect="1"/>
          </p:cNvSpPr>
          <p:nvPr>
            <p:ph type="sldImg"/>
          </p:nvPr>
        </p:nvSpPr>
        <p:spPr>
          <a:xfrm>
            <a:off x="685800" y="1143000"/>
            <a:ext cx="5486040" cy="3085920"/>
          </a:xfrm>
          <a:prstGeom prst="rect">
            <a:avLst/>
          </a:prstGeom>
          <a:ln w="0">
            <a:noFill/>
          </a:ln>
        </p:spPr>
      </p:sp>
      <p:sp>
        <p:nvSpPr>
          <p:cNvPr id="153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32" name="PlaceHolder 3"/>
          <p:cNvSpPr>
            <a:spLocks noGrp="1"/>
          </p:cNvSpPr>
          <p:nvPr>
            <p:ph type="sldNum" idx="7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F9F80D5-14A7-489A-AFA0-4DE39584434A}" type="slidenum">
              <a:rPr lang="en-US" sz="1200" b="0" u="none" strike="noStrike">
                <a:solidFill>
                  <a:schemeClr val="dk1"/>
                </a:solidFill>
                <a:effectLst/>
                <a:uFillTx/>
                <a:latin typeface="+mn-lt"/>
                <a:ea typeface="+mn-ea"/>
              </a:rPr>
              <a:t>73</a:t>
            </a:fld>
            <a:endParaRPr lang="en-US" sz="1200" b="0" u="none" strike="noStrike">
              <a:solidFill>
                <a:srgbClr val="000000"/>
              </a:solidFill>
              <a:effectLst/>
              <a:uFillTx/>
              <a:latin typeface="Times New Roman"/>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3" name="PlaceHolder 1"/>
          <p:cNvSpPr>
            <a:spLocks noGrp="1" noRot="1" noChangeAspect="1"/>
          </p:cNvSpPr>
          <p:nvPr>
            <p:ph type="sldImg"/>
          </p:nvPr>
        </p:nvSpPr>
        <p:spPr>
          <a:xfrm>
            <a:off x="685800" y="1143000"/>
            <a:ext cx="5486040" cy="3085920"/>
          </a:xfrm>
          <a:prstGeom prst="rect">
            <a:avLst/>
          </a:prstGeom>
          <a:ln w="0">
            <a:noFill/>
          </a:ln>
        </p:spPr>
      </p:sp>
      <p:sp>
        <p:nvSpPr>
          <p:cNvPr id="153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35" name="PlaceHolder 3"/>
          <p:cNvSpPr>
            <a:spLocks noGrp="1"/>
          </p:cNvSpPr>
          <p:nvPr>
            <p:ph type="sldNum" idx="7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61489CE-F208-4E75-812B-B64421D2AF5F}" type="slidenum">
              <a:rPr lang="en-US" sz="1200" b="0" u="none" strike="noStrike">
                <a:solidFill>
                  <a:schemeClr val="dk1"/>
                </a:solidFill>
                <a:effectLst/>
                <a:uFillTx/>
                <a:latin typeface="+mn-lt"/>
                <a:ea typeface="+mn-ea"/>
              </a:rPr>
              <a:t>74</a:t>
            </a:fld>
            <a:endParaRPr lang="en-US" sz="1200" b="0" u="none" strike="noStrike">
              <a:solidFill>
                <a:srgbClr val="000000"/>
              </a:solidFill>
              <a:effectLst/>
              <a:uFillTx/>
              <a:latin typeface="Times New Roman"/>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 name="PlaceHolder 1"/>
          <p:cNvSpPr>
            <a:spLocks noGrp="1" noRot="1" noChangeAspect="1"/>
          </p:cNvSpPr>
          <p:nvPr>
            <p:ph type="sldImg"/>
          </p:nvPr>
        </p:nvSpPr>
        <p:spPr>
          <a:xfrm>
            <a:off x="685800" y="1143000"/>
            <a:ext cx="5486040" cy="3085920"/>
          </a:xfrm>
          <a:prstGeom prst="rect">
            <a:avLst/>
          </a:prstGeom>
          <a:ln w="0">
            <a:noFill/>
          </a:ln>
        </p:spPr>
      </p:sp>
      <p:sp>
        <p:nvSpPr>
          <p:cNvPr id="153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38" name="PlaceHolder 3"/>
          <p:cNvSpPr>
            <a:spLocks noGrp="1"/>
          </p:cNvSpPr>
          <p:nvPr>
            <p:ph type="sldNum" idx="7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9F9FBCE-8D61-4379-AC40-941DF98A522A}"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9" name="PlaceHolder 1"/>
          <p:cNvSpPr>
            <a:spLocks noGrp="1" noRot="1" noChangeAspect="1"/>
          </p:cNvSpPr>
          <p:nvPr>
            <p:ph type="sldImg"/>
          </p:nvPr>
        </p:nvSpPr>
        <p:spPr>
          <a:xfrm>
            <a:off x="685800" y="1143000"/>
            <a:ext cx="5486040" cy="3085920"/>
          </a:xfrm>
          <a:prstGeom prst="rect">
            <a:avLst/>
          </a:prstGeom>
          <a:ln w="0">
            <a:noFill/>
          </a:ln>
        </p:spPr>
      </p:sp>
      <p:sp>
        <p:nvSpPr>
          <p:cNvPr id="154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41" name="PlaceHolder 3"/>
          <p:cNvSpPr>
            <a:spLocks noGrp="1"/>
          </p:cNvSpPr>
          <p:nvPr>
            <p:ph type="sldNum" idx="7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B05C181-F5D5-43C4-A016-013F2C1855D7}" type="slidenum">
              <a:rPr lang="en-US" sz="1200" b="0" u="none" strike="noStrike">
                <a:solidFill>
                  <a:schemeClr val="dk1"/>
                </a:solidFill>
                <a:effectLst/>
                <a:uFillTx/>
                <a:latin typeface="+mn-lt"/>
                <a:ea typeface="+mn-ea"/>
              </a:rPr>
              <a:t>76</a:t>
            </a:fld>
            <a:endParaRPr lang="en-US" sz="1200" b="0" u="none" strike="noStrike">
              <a:solidFill>
                <a:srgbClr val="000000"/>
              </a:solidFill>
              <a:effectLst/>
              <a:uFillTx/>
              <a:latin typeface="Times New Roman"/>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2" name="PlaceHolder 1"/>
          <p:cNvSpPr>
            <a:spLocks noGrp="1" noRot="1" noChangeAspect="1"/>
          </p:cNvSpPr>
          <p:nvPr>
            <p:ph type="sldImg"/>
          </p:nvPr>
        </p:nvSpPr>
        <p:spPr>
          <a:xfrm>
            <a:off x="685800" y="1143000"/>
            <a:ext cx="5486040" cy="3085920"/>
          </a:xfrm>
          <a:prstGeom prst="rect">
            <a:avLst/>
          </a:prstGeom>
          <a:ln w="0">
            <a:noFill/>
          </a:ln>
        </p:spPr>
      </p:sp>
      <p:sp>
        <p:nvSpPr>
          <p:cNvPr id="154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44" name="PlaceHolder 3"/>
          <p:cNvSpPr>
            <a:spLocks noGrp="1"/>
          </p:cNvSpPr>
          <p:nvPr>
            <p:ph type="sldNum" idx="7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EF213BE-E611-4407-B1CA-8A4AC4AEC8C5}" type="slidenum">
              <a:rPr lang="en-US" sz="1200" b="0" u="none" strike="noStrike">
                <a:solidFill>
                  <a:schemeClr val="dk1"/>
                </a:solidFill>
                <a:effectLst/>
                <a:uFillTx/>
                <a:latin typeface="+mn-lt"/>
                <a:ea typeface="+mn-ea"/>
              </a:rPr>
              <a:t>77</a:t>
            </a:fld>
            <a:endParaRPr lang="en-US" sz="1200" b="0" u="none" strike="noStrike">
              <a:solidFill>
                <a:srgbClr val="000000"/>
              </a:solidFill>
              <a:effectLst/>
              <a:uFillTx/>
              <a:latin typeface="Times New Roman"/>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5" name="PlaceHolder 1"/>
          <p:cNvSpPr>
            <a:spLocks noGrp="1" noRot="1" noChangeAspect="1"/>
          </p:cNvSpPr>
          <p:nvPr>
            <p:ph type="sldImg"/>
          </p:nvPr>
        </p:nvSpPr>
        <p:spPr>
          <a:xfrm>
            <a:off x="685800" y="1143000"/>
            <a:ext cx="5486040" cy="3085920"/>
          </a:xfrm>
          <a:prstGeom prst="rect">
            <a:avLst/>
          </a:prstGeom>
          <a:ln w="0">
            <a:noFill/>
          </a:ln>
        </p:spPr>
      </p:sp>
      <p:sp>
        <p:nvSpPr>
          <p:cNvPr id="154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47" name="PlaceHolder 3"/>
          <p:cNvSpPr>
            <a:spLocks noGrp="1"/>
          </p:cNvSpPr>
          <p:nvPr>
            <p:ph type="sldNum" idx="7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DFFB6E2-E606-4F3F-93C1-967516053DE2}" type="slidenum">
              <a:rPr lang="en-US" sz="1200" b="0" u="none" strike="noStrike">
                <a:solidFill>
                  <a:schemeClr val="dk1"/>
                </a:solidFill>
                <a:effectLst/>
                <a:uFillTx/>
                <a:latin typeface="+mn-lt"/>
                <a:ea typeface="+mn-ea"/>
              </a:rPr>
              <a:t>78</a:t>
            </a:fld>
            <a:endParaRPr lang="en-US" sz="1200" b="0" u="none" strike="noStrike">
              <a:solidFill>
                <a:srgbClr val="000000"/>
              </a:solidFill>
              <a:effectLst/>
              <a:uFillTx/>
              <a:latin typeface="Times New Roman"/>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8" name="PlaceHolder 1"/>
          <p:cNvSpPr>
            <a:spLocks noGrp="1" noRot="1" noChangeAspect="1"/>
          </p:cNvSpPr>
          <p:nvPr>
            <p:ph type="sldImg"/>
          </p:nvPr>
        </p:nvSpPr>
        <p:spPr>
          <a:xfrm>
            <a:off x="685800" y="1143000"/>
            <a:ext cx="5486040" cy="3085920"/>
          </a:xfrm>
          <a:prstGeom prst="rect">
            <a:avLst/>
          </a:prstGeom>
          <a:ln w="0">
            <a:noFill/>
          </a:ln>
        </p:spPr>
      </p:sp>
      <p:sp>
        <p:nvSpPr>
          <p:cNvPr id="154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50" name="PlaceHolder 3"/>
          <p:cNvSpPr>
            <a:spLocks noGrp="1"/>
          </p:cNvSpPr>
          <p:nvPr>
            <p:ph type="sldNum" idx="7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9D41EBD-AC44-4C2C-B520-B15A7A1C9B20}" type="slidenum">
              <a:rPr lang="en-US" sz="1200" b="0" u="none" strike="noStrike">
                <a:solidFill>
                  <a:schemeClr val="dk1"/>
                </a:solidFill>
                <a:effectLst/>
                <a:uFillTx/>
                <a:latin typeface="+mn-lt"/>
                <a:ea typeface="+mn-ea"/>
              </a:rPr>
              <a:t>79</a:t>
            </a:fld>
            <a:endParaRPr lang="en-US" sz="1200" b="0" u="none" strike="noStrike">
              <a:solidFill>
                <a:srgbClr val="000000"/>
              </a:solidFill>
              <a:effectLst/>
              <a:uFillTx/>
              <a:latin typeface="Times New Roman"/>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1" name="PlaceHolder 1"/>
          <p:cNvSpPr>
            <a:spLocks noGrp="1" noRot="1" noChangeAspect="1"/>
          </p:cNvSpPr>
          <p:nvPr>
            <p:ph type="sldImg"/>
          </p:nvPr>
        </p:nvSpPr>
        <p:spPr>
          <a:xfrm>
            <a:off x="685800" y="1143000"/>
            <a:ext cx="5486040" cy="3085920"/>
          </a:xfrm>
          <a:prstGeom prst="rect">
            <a:avLst/>
          </a:prstGeom>
          <a:ln w="0">
            <a:noFill/>
          </a:ln>
        </p:spPr>
      </p:sp>
      <p:sp>
        <p:nvSpPr>
          <p:cNvPr id="155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53" name="PlaceHolder 3"/>
          <p:cNvSpPr>
            <a:spLocks noGrp="1"/>
          </p:cNvSpPr>
          <p:nvPr>
            <p:ph type="sldNum" idx="7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F3CB0CC-0E12-461C-8A19-4B2076AD9A76}"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4" name="PlaceHolder 1"/>
          <p:cNvSpPr>
            <a:spLocks noGrp="1" noRot="1" noChangeAspect="1"/>
          </p:cNvSpPr>
          <p:nvPr>
            <p:ph type="sldImg"/>
          </p:nvPr>
        </p:nvSpPr>
        <p:spPr>
          <a:xfrm>
            <a:off x="685800" y="1143000"/>
            <a:ext cx="5486040" cy="3085920"/>
          </a:xfrm>
          <a:prstGeom prst="rect">
            <a:avLst/>
          </a:prstGeom>
          <a:ln w="0">
            <a:noFill/>
          </a:ln>
        </p:spPr>
      </p:sp>
      <p:sp>
        <p:nvSpPr>
          <p:cNvPr id="155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56" name="PlaceHolder 3"/>
          <p:cNvSpPr>
            <a:spLocks noGrp="1"/>
          </p:cNvSpPr>
          <p:nvPr>
            <p:ph type="sldNum" idx="7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F72436E-723A-4954-AADB-265008A65043}" type="slidenum">
              <a:rPr lang="en-US" sz="1200" b="0" u="none" strike="noStrike">
                <a:solidFill>
                  <a:schemeClr val="dk1"/>
                </a:solidFill>
                <a:effectLst/>
                <a:uFillTx/>
                <a:latin typeface="+mn-lt"/>
                <a:ea typeface="+mn-ea"/>
              </a:rPr>
              <a:t>81</a:t>
            </a:fld>
            <a:endParaRPr lang="en-US" sz="1200" b="0" u="none" strike="noStrike">
              <a:solidFill>
                <a:srgbClr val="000000"/>
              </a:solidFill>
              <a:effectLst/>
              <a:uFillTx/>
              <a:latin typeface="Times New Roman"/>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7" name="PlaceHolder 1"/>
          <p:cNvSpPr>
            <a:spLocks noGrp="1" noRot="1" noChangeAspect="1"/>
          </p:cNvSpPr>
          <p:nvPr>
            <p:ph type="sldImg"/>
          </p:nvPr>
        </p:nvSpPr>
        <p:spPr>
          <a:xfrm>
            <a:off x="685800" y="1143000"/>
            <a:ext cx="5486040" cy="3085920"/>
          </a:xfrm>
          <a:prstGeom prst="rect">
            <a:avLst/>
          </a:prstGeom>
          <a:ln w="0">
            <a:noFill/>
          </a:ln>
        </p:spPr>
      </p:sp>
      <p:sp>
        <p:nvSpPr>
          <p:cNvPr id="155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59" name="PlaceHolder 3"/>
          <p:cNvSpPr>
            <a:spLocks noGrp="1"/>
          </p:cNvSpPr>
          <p:nvPr>
            <p:ph type="sldNum" idx="8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A20C662-8DCB-4AFB-863C-DA44706ACC76}" type="slidenum">
              <a:rPr lang="en-US" sz="1200" b="0" u="none" strike="noStrike">
                <a:solidFill>
                  <a:schemeClr val="dk1"/>
                </a:solidFill>
                <a:effectLst/>
                <a:uFillTx/>
                <a:latin typeface="+mn-lt"/>
                <a:ea typeface="+mn-ea"/>
              </a:rPr>
              <a:t>82</a:t>
            </a:fld>
            <a:endParaRPr lang="en-US" sz="1200" b="0" u="none" strike="noStrike">
              <a:solidFill>
                <a:srgbClr val="000000"/>
              </a:solidFill>
              <a:effectLst/>
              <a:uFillTx/>
              <a:latin typeface="Times New Roman"/>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0" name="PlaceHolder 1"/>
          <p:cNvSpPr>
            <a:spLocks noGrp="1" noRot="1" noChangeAspect="1"/>
          </p:cNvSpPr>
          <p:nvPr>
            <p:ph type="sldImg"/>
          </p:nvPr>
        </p:nvSpPr>
        <p:spPr>
          <a:xfrm>
            <a:off x="685800" y="1143000"/>
            <a:ext cx="5486040" cy="3085920"/>
          </a:xfrm>
          <a:prstGeom prst="rect">
            <a:avLst/>
          </a:prstGeom>
          <a:ln w="0">
            <a:noFill/>
          </a:ln>
        </p:spPr>
      </p:sp>
      <p:sp>
        <p:nvSpPr>
          <p:cNvPr id="156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62" name="PlaceHolder 3"/>
          <p:cNvSpPr>
            <a:spLocks noGrp="1"/>
          </p:cNvSpPr>
          <p:nvPr>
            <p:ph type="sldNum" idx="8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8FC5375-DE80-485E-8BE6-F8E5EA469AC0}" type="slidenum">
              <a:rPr lang="en-US" sz="1200" b="0" u="none" strike="noStrike">
                <a:solidFill>
                  <a:schemeClr val="dk1"/>
                </a:solidFill>
                <a:effectLst/>
                <a:uFillTx/>
                <a:latin typeface="+mn-lt"/>
                <a:ea typeface="+mn-ea"/>
              </a:rPr>
              <a:t>83</a:t>
            </a:fld>
            <a:endParaRPr lang="en-US" sz="1200" b="0" u="none" strike="noStrike">
              <a:solidFill>
                <a:srgbClr val="000000"/>
              </a:solidFill>
              <a:effectLst/>
              <a:uFillTx/>
              <a:latin typeface="Times New Roman"/>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3" name="PlaceHolder 1"/>
          <p:cNvSpPr>
            <a:spLocks noGrp="1" noRot="1" noChangeAspect="1"/>
          </p:cNvSpPr>
          <p:nvPr>
            <p:ph type="sldImg"/>
          </p:nvPr>
        </p:nvSpPr>
        <p:spPr>
          <a:xfrm>
            <a:off x="685800" y="1143000"/>
            <a:ext cx="5486040" cy="3085920"/>
          </a:xfrm>
          <a:prstGeom prst="rect">
            <a:avLst/>
          </a:prstGeom>
          <a:ln w="0">
            <a:noFill/>
          </a:ln>
        </p:spPr>
      </p:sp>
      <p:sp>
        <p:nvSpPr>
          <p:cNvPr id="156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65" name="PlaceHolder 3"/>
          <p:cNvSpPr>
            <a:spLocks noGrp="1"/>
          </p:cNvSpPr>
          <p:nvPr>
            <p:ph type="sldNum" idx="8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E2880D5-C00B-43CC-AFEB-0F6D0EBBAF68}" type="slidenum">
              <a:rPr lang="en-US" sz="1200" b="0" u="none" strike="noStrike">
                <a:solidFill>
                  <a:schemeClr val="dk1"/>
                </a:solidFill>
                <a:effectLst/>
                <a:uFillTx/>
                <a:latin typeface="+mn-lt"/>
                <a:ea typeface="+mn-ea"/>
              </a:rPr>
              <a:t>84</a:t>
            </a:fld>
            <a:endParaRPr lang="en-US" sz="1200" b="0" u="none" strike="noStrike">
              <a:solidFill>
                <a:srgbClr val="000000"/>
              </a:solidFill>
              <a:effectLst/>
              <a:uFillTx/>
              <a:latin typeface="Times New Roman"/>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 name="PlaceHolder 1"/>
          <p:cNvSpPr>
            <a:spLocks noGrp="1" noRot="1" noChangeAspect="1"/>
          </p:cNvSpPr>
          <p:nvPr>
            <p:ph type="sldImg"/>
          </p:nvPr>
        </p:nvSpPr>
        <p:spPr>
          <a:xfrm>
            <a:off x="685800" y="1143000"/>
            <a:ext cx="5486040" cy="3085920"/>
          </a:xfrm>
          <a:prstGeom prst="rect">
            <a:avLst/>
          </a:prstGeom>
          <a:ln w="0">
            <a:noFill/>
          </a:ln>
        </p:spPr>
      </p:sp>
      <p:sp>
        <p:nvSpPr>
          <p:cNvPr id="156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68" name="PlaceHolder 3"/>
          <p:cNvSpPr>
            <a:spLocks noGrp="1"/>
          </p:cNvSpPr>
          <p:nvPr>
            <p:ph type="sldNum" idx="8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49F3B5B-48C1-480A-90F3-8288ED1A0A5B}" type="slidenum">
              <a:rPr lang="en-US" sz="1200" b="0" u="none" strike="noStrike">
                <a:solidFill>
                  <a:schemeClr val="dk1"/>
                </a:solidFill>
                <a:effectLst/>
                <a:uFillTx/>
                <a:latin typeface="+mn-lt"/>
                <a:ea typeface="+mn-ea"/>
              </a:rPr>
              <a:t>85</a:t>
            </a:fld>
            <a:endParaRPr lang="en-US" sz="1200" b="0" u="none" strike="noStrike">
              <a:solidFill>
                <a:srgbClr val="000000"/>
              </a:solidFill>
              <a:effectLst/>
              <a:uFillTx/>
              <a:latin typeface="Times New Roman"/>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9" name="PlaceHolder 1"/>
          <p:cNvSpPr>
            <a:spLocks noGrp="1" noRot="1" noChangeAspect="1"/>
          </p:cNvSpPr>
          <p:nvPr>
            <p:ph type="sldImg"/>
          </p:nvPr>
        </p:nvSpPr>
        <p:spPr>
          <a:xfrm>
            <a:off x="685800" y="1143000"/>
            <a:ext cx="5486040" cy="3085920"/>
          </a:xfrm>
          <a:prstGeom prst="rect">
            <a:avLst/>
          </a:prstGeom>
          <a:ln w="0">
            <a:noFill/>
          </a:ln>
        </p:spPr>
      </p:sp>
      <p:sp>
        <p:nvSpPr>
          <p:cNvPr id="157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71" name="PlaceHolder 3"/>
          <p:cNvSpPr>
            <a:spLocks noGrp="1"/>
          </p:cNvSpPr>
          <p:nvPr>
            <p:ph type="sldNum" idx="8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EA5138C-E56D-4592-9807-FD202ADA15B9}" type="slidenum">
              <a:rPr lang="en-US" sz="1200" b="0" u="none" strike="noStrike">
                <a:solidFill>
                  <a:schemeClr val="dk1"/>
                </a:solidFill>
                <a:effectLst/>
                <a:uFillTx/>
                <a:latin typeface="+mn-lt"/>
                <a:ea typeface="+mn-ea"/>
              </a:rPr>
              <a:t>86</a:t>
            </a:fld>
            <a:endParaRPr lang="en-US" sz="1200" b="0" u="none" strike="noStrike">
              <a:solidFill>
                <a:srgbClr val="000000"/>
              </a:solidFill>
              <a:effectLst/>
              <a:uFillTx/>
              <a:latin typeface="Times New Roman"/>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2" name="PlaceHolder 1"/>
          <p:cNvSpPr>
            <a:spLocks noGrp="1" noRot="1" noChangeAspect="1"/>
          </p:cNvSpPr>
          <p:nvPr>
            <p:ph type="sldImg"/>
          </p:nvPr>
        </p:nvSpPr>
        <p:spPr>
          <a:xfrm>
            <a:off x="685800" y="1143000"/>
            <a:ext cx="5486040" cy="3085920"/>
          </a:xfrm>
          <a:prstGeom prst="rect">
            <a:avLst/>
          </a:prstGeom>
          <a:ln w="0">
            <a:noFill/>
          </a:ln>
        </p:spPr>
      </p:sp>
      <p:sp>
        <p:nvSpPr>
          <p:cNvPr id="157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74" name="PlaceHolder 3"/>
          <p:cNvSpPr>
            <a:spLocks noGrp="1"/>
          </p:cNvSpPr>
          <p:nvPr>
            <p:ph type="sldNum" idx="8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7451845-5AFB-4142-BE2A-4D0E1CFC8070}" type="slidenum">
              <a:rPr lang="en-US" sz="1200" b="0" u="none" strike="noStrike">
                <a:solidFill>
                  <a:schemeClr val="dk1"/>
                </a:solidFill>
                <a:effectLst/>
                <a:uFillTx/>
                <a:latin typeface="+mn-lt"/>
                <a:ea typeface="+mn-ea"/>
              </a:rPr>
              <a:t>87</a:t>
            </a:fld>
            <a:endParaRPr lang="en-US" sz="1200" b="0" u="none" strike="noStrike">
              <a:solidFill>
                <a:srgbClr val="000000"/>
              </a:solidFill>
              <a:effectLst/>
              <a:uFillTx/>
              <a:latin typeface="Times New Roman"/>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5" name="PlaceHolder 1"/>
          <p:cNvSpPr>
            <a:spLocks noGrp="1" noRot="1" noChangeAspect="1"/>
          </p:cNvSpPr>
          <p:nvPr>
            <p:ph type="sldImg"/>
          </p:nvPr>
        </p:nvSpPr>
        <p:spPr>
          <a:xfrm>
            <a:off x="685800" y="1143000"/>
            <a:ext cx="5486040" cy="3085920"/>
          </a:xfrm>
          <a:prstGeom prst="rect">
            <a:avLst/>
          </a:prstGeom>
          <a:ln w="0">
            <a:noFill/>
          </a:ln>
        </p:spPr>
      </p:sp>
      <p:sp>
        <p:nvSpPr>
          <p:cNvPr id="157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77" name="PlaceHolder 3"/>
          <p:cNvSpPr>
            <a:spLocks noGrp="1"/>
          </p:cNvSpPr>
          <p:nvPr>
            <p:ph type="sldNum" idx="8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9ED02E8-F919-4A3C-AA70-CBA32D3023DD}" type="slidenum">
              <a:rPr lang="en-US" sz="1200" b="0" u="none" strike="noStrike">
                <a:solidFill>
                  <a:schemeClr val="dk1"/>
                </a:solidFill>
                <a:effectLst/>
                <a:uFillTx/>
                <a:latin typeface="+mn-lt"/>
                <a:ea typeface="+mn-ea"/>
              </a:rPr>
              <a:t>88</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0F17"/>
        </a:solidFill>
        <a:effectLst/>
      </p:bgPr>
    </p:bg>
    <p:spTree>
      <p:nvGrpSpPr>
        <p:cNvPr id="1" name=""/>
        <p:cNvGrpSpPr/>
        <p:nvPr/>
      </p:nvGrpSpPr>
      <p:grpSpPr>
        <a:xfrm>
          <a:off x="0" y="0"/>
          <a:ext cx="0" cy="0"/>
          <a:chOff x="0" y="0"/>
          <a:chExt cx="0" cy="0"/>
        </a:xfrm>
      </p:grpSpPr>
      <p:sp>
        <p:nvSpPr>
          <p:cNvPr id="10" name="Shape 0"/>
          <p:cNvSpPr/>
          <p:nvPr/>
        </p:nvSpPr>
        <p:spPr>
          <a:xfrm>
            <a:off x="8778240" y="-2194560"/>
            <a:ext cx="5486040" cy="5486040"/>
          </a:xfrm>
          <a:prstGeom prst="ellipse">
            <a:avLst/>
          </a:prstGeom>
          <a:solidFill>
            <a:srgbClr val="262758">
              <a:alpha val="55000"/>
            </a:srgbClr>
          </a:solidFill>
          <a:ln w="12700">
            <a:solidFill>
              <a:srgbClr val="262758">
                <a:alpha val="5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 name="Shape 1"/>
          <p:cNvSpPr/>
          <p:nvPr/>
        </p:nvSpPr>
        <p:spPr>
          <a:xfrm>
            <a:off x="-1645920" y="4754880"/>
            <a:ext cx="3474360" cy="3474360"/>
          </a:xfrm>
          <a:prstGeom prst="ellipse">
            <a:avLst/>
          </a:prstGeom>
          <a:solidFill>
            <a:srgbClr val="11362E">
              <a:alpha val="45000"/>
            </a:srgbClr>
          </a:solidFill>
          <a:ln w="12700">
            <a:solidFill>
              <a:srgbClr val="11362E">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 name="Shape 2"/>
          <p:cNvSpPr/>
          <p:nvPr/>
        </p:nvSpPr>
        <p:spPr>
          <a:xfrm>
            <a:off x="5943600" y="5212080"/>
            <a:ext cx="1462680" cy="1462680"/>
          </a:xfrm>
          <a:prstGeom prst="ellipse">
            <a:avLst/>
          </a:prstGeom>
          <a:solidFill>
            <a:srgbClr val="4C112D">
              <a:alpha val="45000"/>
            </a:srgbClr>
          </a:solidFill>
          <a:ln w="12700">
            <a:solidFill>
              <a:srgbClr val="4C112D">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3" name="Image 0" descr="/home/claude/assets/logo_card.png"/>
          <p:cNvPicPr/>
          <p:nvPr/>
        </p:nvPicPr>
        <p:blipFill>
          <a:blip r:embed="rId3"/>
          <a:stretch/>
        </p:blipFill>
        <p:spPr>
          <a:xfrm>
            <a:off x="731520" y="502920"/>
            <a:ext cx="2559960" cy="831600"/>
          </a:xfrm>
          <a:prstGeom prst="rect">
            <a:avLst/>
          </a:prstGeom>
          <a:noFill/>
          <a:ln w="0">
            <a:noFill/>
          </a:ln>
        </p:spPr>
      </p:pic>
      <p:sp>
        <p:nvSpPr>
          <p:cNvPr id="14" name="Shape 4"/>
          <p:cNvSpPr/>
          <p:nvPr/>
        </p:nvSpPr>
        <p:spPr>
          <a:xfrm>
            <a:off x="713160" y="2331720"/>
            <a:ext cx="3931560" cy="292320"/>
          </a:xfrm>
          <a:prstGeom prst="roundRect">
            <a:avLst>
              <a:gd name="adj" fmla="val 156250"/>
            </a:avLst>
          </a:prstGeom>
          <a:solidFill>
            <a:srgbClr val="262758"/>
          </a:solidFill>
          <a:ln w="12700">
            <a:solidFill>
              <a:srgbClr val="26275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5" name="Text 5"/>
          <p:cNvSpPr/>
          <p:nvPr/>
        </p:nvSpPr>
        <p:spPr>
          <a:xfrm>
            <a:off x="713160" y="2331720"/>
            <a:ext cx="39315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E0E7FF"/>
                </a:solidFill>
                <a:effectLst/>
                <a:uFillTx/>
                <a:latin typeface="Plus Jakarta Sans"/>
                <a:ea typeface="Plus Jakarta Sans"/>
              </a:rPr>
              <a:t>SESSION 18  ·  AI &amp; ML PLAYGROUND</a:t>
            </a:r>
            <a:endParaRPr lang="en-US" sz="1100" b="0" u="none" strike="noStrike">
              <a:solidFill>
                <a:srgbClr val="FFFFFF"/>
              </a:solidFill>
              <a:effectLst/>
              <a:uFillTx/>
              <a:latin typeface="Arial"/>
            </a:endParaRPr>
          </a:p>
        </p:txBody>
      </p:sp>
      <p:sp>
        <p:nvSpPr>
          <p:cNvPr id="16" name="Text 6"/>
          <p:cNvSpPr/>
          <p:nvPr/>
        </p:nvSpPr>
        <p:spPr>
          <a:xfrm>
            <a:off x="658440" y="2788920"/>
            <a:ext cx="105152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000" b="1" u="none" strike="noStrike">
                <a:solidFill>
                  <a:srgbClr val="F1F5F9"/>
                </a:solidFill>
                <a:effectLst/>
                <a:uFillTx/>
                <a:latin typeface="Bricolage Grotesque"/>
                <a:ea typeface="Bricolage Grotesque"/>
              </a:rPr>
              <a:t>Descriptive Statistics I</a:t>
            </a:r>
            <a:endParaRPr lang="en-US" sz="4000" b="0" u="none" strike="noStrike">
              <a:solidFill>
                <a:srgbClr val="FFFFFF"/>
              </a:solidFill>
              <a:effectLst/>
              <a:uFillTx/>
              <a:latin typeface="Arial"/>
            </a:endParaRPr>
          </a:p>
        </p:txBody>
      </p:sp>
      <p:sp>
        <p:nvSpPr>
          <p:cNvPr id="17" name="Text 7"/>
          <p:cNvSpPr/>
          <p:nvPr/>
        </p:nvSpPr>
        <p:spPr>
          <a:xfrm>
            <a:off x="713160" y="3703320"/>
            <a:ext cx="960084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700" b="0" u="none" strike="noStrike">
                <a:solidFill>
                  <a:srgbClr val="94A3B8"/>
                </a:solidFill>
                <a:effectLst/>
                <a:uFillTx/>
                <a:latin typeface="Hanken Grotesk"/>
                <a:ea typeface="Hanken Grotesk"/>
              </a:rPr>
              <a:t>What Statistics Is, Data Types, Measurement Scales, Errors, Every Chart You Need &amp; Central Tendency — with Python</a:t>
            </a:r>
            <a:endParaRPr lang="en-US" sz="1700" b="0" u="none" strike="noStrike">
              <a:solidFill>
                <a:srgbClr val="FFFFFF"/>
              </a:solidFill>
              <a:effectLst/>
              <a:uFillTx/>
              <a:latin typeface="Arial"/>
            </a:endParaRPr>
          </a:p>
        </p:txBody>
      </p:sp>
      <p:sp>
        <p:nvSpPr>
          <p:cNvPr id="18" name="Shape 8"/>
          <p:cNvSpPr/>
          <p:nvPr/>
        </p:nvSpPr>
        <p:spPr>
          <a:xfrm>
            <a:off x="713160" y="4572000"/>
            <a:ext cx="2926080" cy="360"/>
          </a:xfrm>
          <a:prstGeom prst="line">
            <a:avLst/>
          </a:prstGeom>
          <a:ln w="12700">
            <a:solidFill>
              <a:srgbClr val="1E293B"/>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19" name="Text 9"/>
          <p:cNvSpPr/>
          <p:nvPr/>
        </p:nvSpPr>
        <p:spPr>
          <a:xfrm>
            <a:off x="713160" y="4663440"/>
            <a:ext cx="54860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a:solidFill>
                  <a:srgbClr val="2DD4BF"/>
                </a:solidFill>
                <a:effectLst/>
                <a:uFillTx/>
                <a:latin typeface="Plus Jakarta Sans"/>
                <a:ea typeface="Plus Jakarta Sans"/>
              </a:rPr>
              <a:t>CodeByPaxto: The AI &amp; ML Playground</a:t>
            </a:r>
            <a:endParaRPr lang="en-US" sz="1300" b="0" u="none" strike="noStrike">
              <a:solidFill>
                <a:srgbClr val="FFFFFF"/>
              </a:solidFill>
              <a:effectLst/>
              <a:uFillTx/>
              <a:latin typeface="Arial"/>
            </a:endParaRPr>
          </a:p>
        </p:txBody>
      </p:sp>
      <p:sp>
        <p:nvSpPr>
          <p:cNvPr id="20" name="Text 10"/>
          <p:cNvSpPr/>
          <p:nvPr/>
        </p:nvSpPr>
        <p:spPr>
          <a:xfrm>
            <a:off x="713160" y="5001840"/>
            <a:ext cx="54860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94A3B8"/>
                </a:solidFill>
                <a:effectLst/>
                <a:uFillTx/>
                <a:latin typeface="Hanken Grotesk"/>
                <a:ea typeface="Hanken Grotesk"/>
              </a:rPr>
              <a:t>Hafiz Waseem Ahmed (Paxto)</a:t>
            </a:r>
            <a:endParaRPr lang="en-US" sz="1200" b="0" u="none" strike="noStrike">
              <a:solidFill>
                <a:srgbClr val="FFFFFF"/>
              </a:solidFill>
              <a:effectLst/>
              <a:uFillTx/>
              <a:latin typeface="Arial"/>
            </a:endParaRPr>
          </a:p>
        </p:txBody>
      </p:sp>
      <p:sp>
        <p:nvSpPr>
          <p:cNvPr id="21" name="Text 1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94A3B8"/>
                </a:solidFill>
                <a:effectLst/>
                <a:uFillTx/>
                <a:latin typeface="Plus Jakarta Sans"/>
                <a:ea typeface="Plus Jakarta Sans"/>
              </a:rPr>
              <a:t>01</a:t>
            </a:r>
            <a:endParaRPr lang="en-US" sz="900" b="0" u="none" strike="noStrike">
              <a:solidFill>
                <a:srgbClr val="FFFFFF"/>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22"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23"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02</a:t>
            </a:r>
            <a:endParaRPr lang="en-US" sz="900" b="0" u="none" strike="noStrike">
              <a:solidFill>
                <a:srgbClr val="000000"/>
              </a:solidFill>
              <a:effectLst/>
              <a:uFillTx/>
              <a:latin typeface="Arial"/>
            </a:endParaRPr>
          </a:p>
        </p:txBody>
      </p:sp>
      <p:pic>
        <p:nvPicPr>
          <p:cNvPr id="24" name="Image 0" descr="/home/claude/assets/logo_crop.png"/>
          <p:cNvPicPr/>
          <p:nvPr/>
        </p:nvPicPr>
        <p:blipFill>
          <a:blip r:embed="rId3"/>
          <a:stretch/>
        </p:blipFill>
        <p:spPr>
          <a:xfrm>
            <a:off x="11201400" y="384120"/>
            <a:ext cx="456840" cy="511560"/>
          </a:xfrm>
          <a:prstGeom prst="rect">
            <a:avLst/>
          </a:prstGeom>
          <a:noFill/>
          <a:ln w="0">
            <a:noFill/>
          </a:ln>
        </p:spPr>
      </p:pic>
      <p:sp>
        <p:nvSpPr>
          <p:cNvPr id="25"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What We're Covering Today</a:t>
            </a:r>
            <a:endParaRPr lang="en-US" sz="2600" b="0" u="none" strike="noStrike">
              <a:solidFill>
                <a:srgbClr val="000000"/>
              </a:solidFill>
              <a:effectLst/>
              <a:uFillTx/>
              <a:latin typeface="Arial"/>
            </a:endParaRPr>
          </a:p>
        </p:txBody>
      </p:sp>
      <p:sp>
        <p:nvSpPr>
          <p:cNvPr id="26" name="Shape 3"/>
          <p:cNvSpPr/>
          <p:nvPr/>
        </p:nvSpPr>
        <p:spPr>
          <a:xfrm>
            <a:off x="548640" y="1371600"/>
            <a:ext cx="11109600" cy="529920"/>
          </a:xfrm>
          <a:prstGeom prst="roundRect">
            <a:avLst>
              <a:gd name="adj" fmla="val 1724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 name="Shape 4"/>
          <p:cNvSpPr/>
          <p:nvPr/>
        </p:nvSpPr>
        <p:spPr>
          <a:xfrm>
            <a:off x="731520" y="1481400"/>
            <a:ext cx="310680" cy="310680"/>
          </a:xfrm>
          <a:prstGeom prst="roundRect">
            <a:avLst>
              <a:gd name="adj" fmla="val 29412"/>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 name="Text 5"/>
          <p:cNvSpPr/>
          <p:nvPr/>
        </p:nvSpPr>
        <p:spPr>
          <a:xfrm>
            <a:off x="731520" y="148140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29" name="Text 6"/>
          <p:cNvSpPr/>
          <p:nvPr/>
        </p:nvSpPr>
        <p:spPr>
          <a:xfrm>
            <a:off x="1234440" y="1371600"/>
            <a:ext cx="1014948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What statistics actually is, and the two types: descriptive vs. inferential</a:t>
            </a:r>
            <a:endParaRPr lang="en-US" sz="1400" b="0" u="none" strike="noStrike">
              <a:solidFill>
                <a:srgbClr val="000000"/>
              </a:solidFill>
              <a:effectLst/>
              <a:uFillTx/>
              <a:latin typeface="Arial"/>
            </a:endParaRPr>
          </a:p>
        </p:txBody>
      </p:sp>
      <p:sp>
        <p:nvSpPr>
          <p:cNvPr id="30" name="Shape 7"/>
          <p:cNvSpPr/>
          <p:nvPr/>
        </p:nvSpPr>
        <p:spPr>
          <a:xfrm>
            <a:off x="548640" y="1993320"/>
            <a:ext cx="11109600" cy="529920"/>
          </a:xfrm>
          <a:prstGeom prst="roundRect">
            <a:avLst>
              <a:gd name="adj" fmla="val 1724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 name="Shape 8"/>
          <p:cNvSpPr/>
          <p:nvPr/>
        </p:nvSpPr>
        <p:spPr>
          <a:xfrm>
            <a:off x="731520" y="2103120"/>
            <a:ext cx="310680" cy="310680"/>
          </a:xfrm>
          <a:prstGeom prst="roundRect">
            <a:avLst>
              <a:gd name="adj" fmla="val 29412"/>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2" name="Text 9"/>
          <p:cNvSpPr/>
          <p:nvPr/>
        </p:nvSpPr>
        <p:spPr>
          <a:xfrm>
            <a:off x="731520" y="210312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33" name="Text 10"/>
          <p:cNvSpPr/>
          <p:nvPr/>
        </p:nvSpPr>
        <p:spPr>
          <a:xfrm>
            <a:off x="1234440" y="1993320"/>
            <a:ext cx="1014948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Population vs. sample, and dependent vs. independent variables</a:t>
            </a:r>
            <a:endParaRPr lang="en-US" sz="1400" b="0" u="none" strike="noStrike">
              <a:solidFill>
                <a:srgbClr val="000000"/>
              </a:solidFill>
              <a:effectLst/>
              <a:uFillTx/>
              <a:latin typeface="Arial"/>
            </a:endParaRPr>
          </a:p>
        </p:txBody>
      </p:sp>
      <p:sp>
        <p:nvSpPr>
          <p:cNvPr id="34" name="Shape 11"/>
          <p:cNvSpPr/>
          <p:nvPr/>
        </p:nvSpPr>
        <p:spPr>
          <a:xfrm>
            <a:off x="548640" y="2615040"/>
            <a:ext cx="11109600" cy="529920"/>
          </a:xfrm>
          <a:prstGeom prst="roundRect">
            <a:avLst>
              <a:gd name="adj" fmla="val 1724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5" name="Shape 12"/>
          <p:cNvSpPr/>
          <p:nvPr/>
        </p:nvSpPr>
        <p:spPr>
          <a:xfrm>
            <a:off x="731520" y="2724840"/>
            <a:ext cx="310680" cy="310680"/>
          </a:xfrm>
          <a:prstGeom prst="roundRect">
            <a:avLst>
              <a:gd name="adj" fmla="val 29412"/>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6" name="Text 13"/>
          <p:cNvSpPr/>
          <p:nvPr/>
        </p:nvSpPr>
        <p:spPr>
          <a:xfrm>
            <a:off x="731520" y="272484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37" name="Text 14"/>
          <p:cNvSpPr/>
          <p:nvPr/>
        </p:nvSpPr>
        <p:spPr>
          <a:xfrm>
            <a:off x="1234440" y="2615040"/>
            <a:ext cx="1014948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Collecting &amp; measuring data — sources, sampling techniques, and reliability vs. validity</a:t>
            </a:r>
            <a:endParaRPr lang="en-US" sz="1400" b="0" u="none" strike="noStrike">
              <a:solidFill>
                <a:srgbClr val="000000"/>
              </a:solidFill>
              <a:effectLst/>
              <a:uFillTx/>
              <a:latin typeface="Arial"/>
            </a:endParaRPr>
          </a:p>
        </p:txBody>
      </p:sp>
      <p:sp>
        <p:nvSpPr>
          <p:cNvPr id="38" name="Shape 15"/>
          <p:cNvSpPr/>
          <p:nvPr/>
        </p:nvSpPr>
        <p:spPr>
          <a:xfrm>
            <a:off x="548640" y="3237120"/>
            <a:ext cx="11109600" cy="529920"/>
          </a:xfrm>
          <a:prstGeom prst="roundRect">
            <a:avLst>
              <a:gd name="adj" fmla="val 1724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 name="Shape 16"/>
          <p:cNvSpPr/>
          <p:nvPr/>
        </p:nvSpPr>
        <p:spPr>
          <a:xfrm>
            <a:off x="731520" y="3346560"/>
            <a:ext cx="310680" cy="310680"/>
          </a:xfrm>
          <a:prstGeom prst="roundRect">
            <a:avLst>
              <a:gd name="adj" fmla="val 29412"/>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0" name="Text 17"/>
          <p:cNvSpPr/>
          <p:nvPr/>
        </p:nvSpPr>
        <p:spPr>
          <a:xfrm>
            <a:off x="731520" y="334656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41" name="Text 18"/>
          <p:cNvSpPr/>
          <p:nvPr/>
        </p:nvSpPr>
        <p:spPr>
          <a:xfrm>
            <a:off x="1234440" y="3237120"/>
            <a:ext cx="1014948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Types of data and the four measurement scales — and where each is used</a:t>
            </a:r>
            <a:endParaRPr lang="en-US" sz="1400" b="0" u="none" strike="noStrike">
              <a:solidFill>
                <a:srgbClr val="000000"/>
              </a:solidFill>
              <a:effectLst/>
              <a:uFillTx/>
              <a:latin typeface="Arial"/>
            </a:endParaRPr>
          </a:p>
        </p:txBody>
      </p:sp>
      <p:sp>
        <p:nvSpPr>
          <p:cNvPr id="42" name="Shape 19"/>
          <p:cNvSpPr/>
          <p:nvPr/>
        </p:nvSpPr>
        <p:spPr>
          <a:xfrm>
            <a:off x="548640" y="3858840"/>
            <a:ext cx="11109600" cy="529920"/>
          </a:xfrm>
          <a:prstGeom prst="roundRect">
            <a:avLst>
              <a:gd name="adj" fmla="val 1724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3" name="Shape 20"/>
          <p:cNvSpPr/>
          <p:nvPr/>
        </p:nvSpPr>
        <p:spPr>
          <a:xfrm>
            <a:off x="731520" y="3968640"/>
            <a:ext cx="310680" cy="310680"/>
          </a:xfrm>
          <a:prstGeom prst="roundRect">
            <a:avLst>
              <a:gd name="adj" fmla="val 29412"/>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4" name="Text 21"/>
          <p:cNvSpPr/>
          <p:nvPr/>
        </p:nvSpPr>
        <p:spPr>
          <a:xfrm>
            <a:off x="731520" y="396864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5</a:t>
            </a:r>
            <a:endParaRPr lang="en-US" sz="1300" b="0" u="none" strike="noStrike">
              <a:solidFill>
                <a:srgbClr val="000000"/>
              </a:solidFill>
              <a:effectLst/>
              <a:uFillTx/>
              <a:latin typeface="Arial"/>
            </a:endParaRPr>
          </a:p>
        </p:txBody>
      </p:sp>
      <p:sp>
        <p:nvSpPr>
          <p:cNvPr id="45" name="Text 22"/>
          <p:cNvSpPr/>
          <p:nvPr/>
        </p:nvSpPr>
        <p:spPr>
          <a:xfrm>
            <a:off x="1234440" y="3858840"/>
            <a:ext cx="1014948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Errors and bias in data — what’s random, what’s systematic, and how to reduce it</a:t>
            </a:r>
            <a:endParaRPr lang="en-US" sz="1400" b="0" u="none" strike="noStrike">
              <a:solidFill>
                <a:srgbClr val="000000"/>
              </a:solidFill>
              <a:effectLst/>
              <a:uFillTx/>
              <a:latin typeface="Arial"/>
            </a:endParaRPr>
          </a:p>
        </p:txBody>
      </p:sp>
      <p:sp>
        <p:nvSpPr>
          <p:cNvPr id="46" name="Shape 23"/>
          <p:cNvSpPr/>
          <p:nvPr/>
        </p:nvSpPr>
        <p:spPr>
          <a:xfrm>
            <a:off x="548640" y="4480560"/>
            <a:ext cx="11109600" cy="529920"/>
          </a:xfrm>
          <a:prstGeom prst="roundRect">
            <a:avLst>
              <a:gd name="adj" fmla="val 1724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7" name="Shape 24"/>
          <p:cNvSpPr/>
          <p:nvPr/>
        </p:nvSpPr>
        <p:spPr>
          <a:xfrm>
            <a:off x="731520" y="4590360"/>
            <a:ext cx="310680" cy="310680"/>
          </a:xfrm>
          <a:prstGeom prst="roundRect">
            <a:avLst>
              <a:gd name="adj" fmla="val 29412"/>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8" name="Text 25"/>
          <p:cNvSpPr/>
          <p:nvPr/>
        </p:nvSpPr>
        <p:spPr>
          <a:xfrm>
            <a:off x="731520" y="459036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6</a:t>
            </a:r>
            <a:endParaRPr lang="en-US" sz="1300" b="0" u="none" strike="noStrike">
              <a:solidFill>
                <a:srgbClr val="000000"/>
              </a:solidFill>
              <a:effectLst/>
              <a:uFillTx/>
              <a:latin typeface="Arial"/>
            </a:endParaRPr>
          </a:p>
        </p:txBody>
      </p:sp>
      <p:sp>
        <p:nvSpPr>
          <p:cNvPr id="49" name="Text 26"/>
          <p:cNvSpPr/>
          <p:nvPr/>
        </p:nvSpPr>
        <p:spPr>
          <a:xfrm>
            <a:off x="1234440" y="4480560"/>
            <a:ext cx="1014948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The complete chart &amp; graph catalog — when to use each, and when not to</a:t>
            </a:r>
            <a:endParaRPr lang="en-US" sz="1400" b="0" u="none" strike="noStrike">
              <a:solidFill>
                <a:srgbClr val="000000"/>
              </a:solidFill>
              <a:effectLst/>
              <a:uFillTx/>
              <a:latin typeface="Arial"/>
            </a:endParaRPr>
          </a:p>
        </p:txBody>
      </p:sp>
      <p:sp>
        <p:nvSpPr>
          <p:cNvPr id="50" name="Shape 27"/>
          <p:cNvSpPr/>
          <p:nvPr/>
        </p:nvSpPr>
        <p:spPr>
          <a:xfrm>
            <a:off x="548640" y="5102280"/>
            <a:ext cx="11109600" cy="529920"/>
          </a:xfrm>
          <a:prstGeom prst="roundRect">
            <a:avLst>
              <a:gd name="adj" fmla="val 1724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1" name="Shape 28"/>
          <p:cNvSpPr/>
          <p:nvPr/>
        </p:nvSpPr>
        <p:spPr>
          <a:xfrm>
            <a:off x="731520" y="5212080"/>
            <a:ext cx="310680" cy="310680"/>
          </a:xfrm>
          <a:prstGeom prst="roundRect">
            <a:avLst>
              <a:gd name="adj" fmla="val 29412"/>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2" name="Text 29"/>
          <p:cNvSpPr/>
          <p:nvPr/>
        </p:nvSpPr>
        <p:spPr>
          <a:xfrm>
            <a:off x="731520" y="521208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7</a:t>
            </a:r>
            <a:endParaRPr lang="en-US" sz="1300" b="0" u="none" strike="noStrike">
              <a:solidFill>
                <a:srgbClr val="000000"/>
              </a:solidFill>
              <a:effectLst/>
              <a:uFillTx/>
              <a:latin typeface="Arial"/>
            </a:endParaRPr>
          </a:p>
        </p:txBody>
      </p:sp>
      <p:sp>
        <p:nvSpPr>
          <p:cNvPr id="53" name="Text 30"/>
          <p:cNvSpPr/>
          <p:nvPr/>
        </p:nvSpPr>
        <p:spPr>
          <a:xfrm>
            <a:off x="1234440" y="5102280"/>
            <a:ext cx="1014948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Measures of central tendency — mean, median, and mode</a:t>
            </a:r>
            <a:endParaRPr lang="en-US" sz="1400" b="0" u="none" strike="noStrike">
              <a:solidFill>
                <a:srgbClr val="000000"/>
              </a:solidFill>
              <a:effectLst/>
              <a:uFillTx/>
              <a:latin typeface="Arial"/>
            </a:endParaRPr>
          </a:p>
        </p:txBody>
      </p:sp>
      <p:sp>
        <p:nvSpPr>
          <p:cNvPr id="54" name="Shape 31"/>
          <p:cNvSpPr/>
          <p:nvPr/>
        </p:nvSpPr>
        <p:spPr>
          <a:xfrm>
            <a:off x="548640" y="5724000"/>
            <a:ext cx="11109600" cy="529920"/>
          </a:xfrm>
          <a:prstGeom prst="roundRect">
            <a:avLst>
              <a:gd name="adj" fmla="val 1724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5" name="Shape 32"/>
          <p:cNvSpPr/>
          <p:nvPr/>
        </p:nvSpPr>
        <p:spPr>
          <a:xfrm>
            <a:off x="731520" y="5833800"/>
            <a:ext cx="310680" cy="310680"/>
          </a:xfrm>
          <a:prstGeom prst="roundRect">
            <a:avLst>
              <a:gd name="adj" fmla="val 29412"/>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6" name="Text 33"/>
          <p:cNvSpPr/>
          <p:nvPr/>
        </p:nvSpPr>
        <p:spPr>
          <a:xfrm>
            <a:off x="731520" y="583380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8</a:t>
            </a:r>
            <a:endParaRPr lang="en-US" sz="1300" b="0" u="none" strike="noStrike">
              <a:solidFill>
                <a:srgbClr val="000000"/>
              </a:solidFill>
              <a:effectLst/>
              <a:uFillTx/>
              <a:latin typeface="Arial"/>
            </a:endParaRPr>
          </a:p>
        </p:txBody>
      </p:sp>
      <p:sp>
        <p:nvSpPr>
          <p:cNvPr id="57" name="Text 34"/>
          <p:cNvSpPr/>
          <p:nvPr/>
        </p:nvSpPr>
        <p:spPr>
          <a:xfrm>
            <a:off x="1234440" y="5724000"/>
            <a:ext cx="1014948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Today's tasks and a mini project — profiling a real dataset</a:t>
            </a:r>
            <a:endParaRPr lang="en-US" sz="14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58"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59"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03</a:t>
            </a:r>
            <a:endParaRPr lang="en-US" sz="900" b="0" u="none" strike="noStrike">
              <a:solidFill>
                <a:srgbClr val="000000"/>
              </a:solidFill>
              <a:effectLst/>
              <a:uFillTx/>
              <a:latin typeface="Arial"/>
            </a:endParaRPr>
          </a:p>
        </p:txBody>
      </p:sp>
      <p:pic>
        <p:nvPicPr>
          <p:cNvPr id="60" name="Image 0" descr="/home/claude/assets/logo_crop.png"/>
          <p:cNvPicPr/>
          <p:nvPr/>
        </p:nvPicPr>
        <p:blipFill>
          <a:blip r:embed="rId3"/>
          <a:stretch/>
        </p:blipFill>
        <p:spPr>
          <a:xfrm>
            <a:off x="11201400" y="384120"/>
            <a:ext cx="456840" cy="511560"/>
          </a:xfrm>
          <a:prstGeom prst="rect">
            <a:avLst/>
          </a:prstGeom>
          <a:noFill/>
          <a:ln w="0">
            <a:noFill/>
          </a:ln>
        </p:spPr>
      </p:pic>
      <p:sp>
        <p:nvSpPr>
          <p:cNvPr id="61"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Your First Python Cell</a:t>
            </a:r>
            <a:endParaRPr lang="en-US" sz="2600" b="0" u="none" strike="noStrike">
              <a:solidFill>
                <a:srgbClr val="000000"/>
              </a:solidFill>
              <a:effectLst/>
              <a:uFillTx/>
              <a:latin typeface="Arial"/>
            </a:endParaRPr>
          </a:p>
        </p:txBody>
      </p:sp>
      <p:sp>
        <p:nvSpPr>
          <p:cNvPr id="62"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You do NOT need to know these libraries yet — copy, run, and read the comments.</a:t>
            </a:r>
            <a:endParaRPr lang="en-US" sz="2000" b="0" u="none" strike="noStrike">
              <a:solidFill>
                <a:srgbClr val="000000"/>
              </a:solidFill>
              <a:effectLst/>
              <a:uFillTx/>
              <a:latin typeface="Arial"/>
              <a:cs typeface="Arial"/>
            </a:endParaRPr>
          </a:p>
          <a:p>
            <a:pPr marL="342900" indent="-342900">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math and statistics ship with Python. </a:t>
            </a:r>
            <a:r>
              <a:rPr lang="en-US" sz="2000" b="0" u="none" strike="noStrike" dirty="0" err="1">
                <a:solidFill>
                  <a:srgbClr val="1B1B20"/>
                </a:solidFill>
                <a:effectLst/>
                <a:uFillTx/>
                <a:latin typeface="Hanken Grotesk"/>
                <a:ea typeface="Hanken Grotesk"/>
              </a:rPr>
              <a:t>numpy</a:t>
            </a:r>
            <a:r>
              <a:rPr lang="en-US" sz="2000" b="0" u="none" strike="noStrike" dirty="0">
                <a:solidFill>
                  <a:srgbClr val="1B1B20"/>
                </a:solidFill>
                <a:effectLst/>
                <a:uFillTx/>
                <a:latin typeface="Hanken Grotesk"/>
                <a:ea typeface="Hanken Grotesk"/>
              </a:rPr>
              <a:t>, pandas and </a:t>
            </a:r>
            <a:r>
              <a:rPr lang="en-US" sz="2000" b="0" u="none" strike="noStrike" dirty="0" err="1">
                <a:solidFill>
                  <a:srgbClr val="1B1B20"/>
                </a:solidFill>
                <a:effectLst/>
                <a:uFillTx/>
                <a:latin typeface="Hanken Grotesk"/>
                <a:ea typeface="Hanken Grotesk"/>
              </a:rPr>
              <a:t>scipy</a:t>
            </a:r>
            <a:r>
              <a:rPr lang="en-US" sz="2000" b="0" u="none" strike="noStrike" dirty="0">
                <a:solidFill>
                  <a:srgbClr val="1B1B20"/>
                </a:solidFill>
                <a:effectLst/>
                <a:uFillTx/>
                <a:latin typeface="Hanken Grotesk"/>
                <a:ea typeface="Hanken Grotesk"/>
              </a:rPr>
              <a:t> are one pip</a:t>
            </a:r>
            <a:r>
              <a:rPr lang="en-US" sz="2000" dirty="0">
                <a:solidFill>
                  <a:srgbClr val="1B1B20"/>
                </a:solidFill>
                <a:latin typeface="Hanken Grotesk"/>
                <a:ea typeface="Hanken Grotesk"/>
              </a:rPr>
              <a:t> / </a:t>
            </a:r>
            <a:r>
              <a:rPr lang="en-US" sz="2000" dirty="0" err="1">
                <a:solidFill>
                  <a:srgbClr val="1B1B20"/>
                </a:solidFill>
                <a:latin typeface="Hanken Grotesk"/>
                <a:ea typeface="Hanken Grotesk"/>
              </a:rPr>
              <a:t>conda</a:t>
            </a:r>
            <a:r>
              <a:rPr lang="en-US" sz="2000" b="0" u="none" strike="noStrike" dirty="0">
                <a:solidFill>
                  <a:srgbClr val="1B1B20"/>
                </a:solidFill>
                <a:effectLst/>
                <a:uFillTx/>
                <a:latin typeface="Hanken Grotesk"/>
                <a:ea typeface="Hanken Grotesk"/>
              </a:rPr>
              <a:t> install away.</a:t>
            </a:r>
            <a:endParaRPr lang="en-US" sz="2000" b="0" u="none" strike="noStrike" dirty="0">
              <a:solidFill>
                <a:srgbClr val="000000"/>
              </a:solidFill>
              <a:effectLst/>
              <a:uFillTx/>
              <a:latin typeface="Arial"/>
              <a:cs typeface="Arial"/>
            </a:endParaRPr>
          </a:p>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Every code slide today uses small, made-up data so you can run it anywhere.</a:t>
            </a:r>
            <a:endParaRPr lang="en-US" sz="2000" b="0" u="none" strike="noStrike">
              <a:solidFill>
                <a:srgbClr val="000000"/>
              </a:solidFill>
              <a:effectLst/>
              <a:uFillTx/>
              <a:latin typeface="Arial"/>
              <a:cs typeface="Arial"/>
            </a:endParaRPr>
          </a:p>
        </p:txBody>
      </p:sp>
      <p:sp>
        <p:nvSpPr>
          <p:cNvPr id="63"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4"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65"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66"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67"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300" b="0" i="1" u="none" strike="noStrike">
                <a:solidFill>
                  <a:srgbClr val="94A3B8"/>
                </a:solidFill>
                <a:effectLst/>
                <a:uFillTx/>
                <a:latin typeface="Cantarell"/>
                <a:ea typeface="Consolas"/>
              </a:rPr>
              <a:t># Built into Python: nothing to install</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import math</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import statistics</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i="1" u="none" strike="noStrike">
                <a:solidFill>
                  <a:srgbClr val="94A3B8"/>
                </a:solidFill>
                <a:effectLst/>
                <a:uFillTx/>
                <a:latin typeface="Cantarell"/>
                <a:ea typeface="Consolas"/>
              </a:rPr>
              <a:t># One-time install: pip install numpy pandas scipy</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import numpy as np</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import pandas as pd</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from scipy import stats</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scores = [72, 85, 90, 66, 85]</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print(statistics.mean(scores))    </a:t>
            </a:r>
            <a:r>
              <a:rPr lang="en-US" sz="1300" b="0" i="1" u="none" strike="noStrike">
                <a:solidFill>
                  <a:srgbClr val="94A3B8"/>
                </a:solidFill>
                <a:effectLst/>
                <a:uFillTx/>
                <a:latin typeface="Cantarell"/>
                <a:ea typeface="Consolas"/>
              </a:rPr>
              <a:t># 79.6</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print(np.mean(scores))            </a:t>
            </a:r>
            <a:r>
              <a:rPr lang="en-US" sz="1300" b="0" i="1" u="none" strike="noStrike">
                <a:solidFill>
                  <a:srgbClr val="94A3B8"/>
                </a:solidFill>
                <a:effectLst/>
                <a:uFillTx/>
                <a:latin typeface="Cantarell"/>
                <a:ea typeface="Consolas"/>
              </a:rPr>
              <a:t># 79.6</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print(math.sqrt(16))              </a:t>
            </a:r>
            <a:r>
              <a:rPr lang="en-US" sz="1300" b="0" i="1" u="none" strike="noStrike">
                <a:solidFill>
                  <a:srgbClr val="94A3B8"/>
                </a:solidFill>
                <a:effectLst/>
                <a:uFillTx/>
                <a:latin typeface="Cantarell"/>
                <a:ea typeface="Consolas"/>
              </a:rPr>
              <a:t># 4.0</a:t>
            </a:r>
            <a:endParaRPr lang="en-US" sz="13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0F17"/>
        </a:solidFill>
        <a:effectLst/>
      </p:bgPr>
    </p:bg>
    <p:spTree>
      <p:nvGrpSpPr>
        <p:cNvPr id="1" name=""/>
        <p:cNvGrpSpPr/>
        <p:nvPr/>
      </p:nvGrpSpPr>
      <p:grpSpPr>
        <a:xfrm>
          <a:off x="0" y="0"/>
          <a:ext cx="0" cy="0"/>
          <a:chOff x="0" y="0"/>
          <a:chExt cx="0" cy="0"/>
        </a:xfrm>
      </p:grpSpPr>
      <p:sp>
        <p:nvSpPr>
          <p:cNvPr id="68" name="Shape 0"/>
          <p:cNvSpPr/>
          <p:nvPr/>
        </p:nvSpPr>
        <p:spPr>
          <a:xfrm>
            <a:off x="9692640" y="-1463040"/>
            <a:ext cx="3840120" cy="3840120"/>
          </a:xfrm>
          <a:prstGeom prst="ellipse">
            <a:avLst/>
          </a:prstGeom>
          <a:solidFill>
            <a:srgbClr val="262758">
              <a:alpha val="55000"/>
            </a:srgbClr>
          </a:solidFill>
          <a:ln w="12700">
            <a:solidFill>
              <a:srgbClr val="262758">
                <a:alpha val="5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9" name="Shape 1"/>
          <p:cNvSpPr/>
          <p:nvPr/>
        </p:nvSpPr>
        <p:spPr>
          <a:xfrm>
            <a:off x="-1645920" y="4754880"/>
            <a:ext cx="3474360" cy="3474360"/>
          </a:xfrm>
          <a:prstGeom prst="ellipse">
            <a:avLst/>
          </a:prstGeom>
          <a:solidFill>
            <a:srgbClr val="11362E">
              <a:alpha val="45000"/>
            </a:srgbClr>
          </a:solidFill>
          <a:ln w="12700">
            <a:solidFill>
              <a:srgbClr val="11362E">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0" name="Text 2"/>
          <p:cNvSpPr/>
          <p:nvPr/>
        </p:nvSpPr>
        <p:spPr>
          <a:xfrm>
            <a:off x="640080" y="2194560"/>
            <a:ext cx="91436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spc="201">
                <a:solidFill>
                  <a:srgbClr val="2DD4BF"/>
                </a:solidFill>
                <a:effectLst/>
                <a:uFillTx/>
                <a:latin typeface="Plus Jakarta Sans"/>
                <a:ea typeface="Plus Jakarta Sans"/>
              </a:rPr>
              <a:t>PART 1</a:t>
            </a:r>
            <a:endParaRPr lang="en-US" sz="1400" b="0" u="none" strike="noStrike">
              <a:solidFill>
                <a:srgbClr val="FFFFFF"/>
              </a:solidFill>
              <a:effectLst/>
              <a:uFillTx/>
              <a:latin typeface="Arial"/>
            </a:endParaRPr>
          </a:p>
        </p:txBody>
      </p:sp>
      <p:sp>
        <p:nvSpPr>
          <p:cNvPr id="71" name="Text 3"/>
          <p:cNvSpPr/>
          <p:nvPr/>
        </p:nvSpPr>
        <p:spPr>
          <a:xfrm>
            <a:off x="640080" y="2697480"/>
            <a:ext cx="1033236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4000" b="1" u="none" strike="noStrike">
                <a:solidFill>
                  <a:srgbClr val="F1F5F9"/>
                </a:solidFill>
                <a:effectLst/>
                <a:uFillTx/>
                <a:latin typeface="Bricolage Grotesque"/>
                <a:ea typeface="Bricolage Grotesque"/>
              </a:rPr>
              <a:t>What Is Statistics?</a:t>
            </a:r>
            <a:endParaRPr lang="en-US" sz="4000" b="0" u="none" strike="noStrike">
              <a:solidFill>
                <a:srgbClr val="FFFFFF"/>
              </a:solidFill>
              <a:effectLst/>
              <a:uFillTx/>
              <a:latin typeface="Arial"/>
            </a:endParaRPr>
          </a:p>
        </p:txBody>
      </p:sp>
      <p:sp>
        <p:nvSpPr>
          <p:cNvPr id="72" name="Text 4"/>
          <p:cNvSpPr/>
          <p:nvPr/>
        </p:nvSpPr>
        <p:spPr>
          <a:xfrm>
            <a:off x="640080" y="4023360"/>
            <a:ext cx="969228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500" b="0" u="none" strike="noStrike">
                <a:solidFill>
                  <a:srgbClr val="94A3B8"/>
                </a:solidFill>
                <a:effectLst/>
                <a:uFillTx/>
                <a:latin typeface="Hanken Grotesk"/>
                <a:ea typeface="Hanken Grotesk"/>
              </a:rPr>
              <a:t>Before any formula, a clear picture of what this field actually does, and the two very different jobs it does it for</a:t>
            </a:r>
            <a:endParaRPr lang="en-US" sz="1500" b="0" u="none" strike="noStrike">
              <a:solidFill>
                <a:srgbClr val="FFFFFF"/>
              </a:solidFill>
              <a:effectLst/>
              <a:uFillTx/>
              <a:latin typeface="Arial"/>
            </a:endParaRPr>
          </a:p>
        </p:txBody>
      </p:sp>
      <p:sp>
        <p:nvSpPr>
          <p:cNvPr id="73" name="Text 5"/>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94A3B8"/>
                </a:solidFill>
                <a:effectLst/>
                <a:uFillTx/>
                <a:latin typeface="Plus Jakarta Sans"/>
                <a:ea typeface="Plus Jakarta Sans"/>
              </a:rPr>
              <a:t>04</a:t>
            </a:r>
            <a:endParaRPr lang="en-US" sz="900" b="0" u="none" strike="noStrike">
              <a:solidFill>
                <a:srgbClr val="FFFFFF"/>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74"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75"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05</a:t>
            </a:r>
            <a:endParaRPr lang="en-US" sz="900" b="0" u="none" strike="noStrike">
              <a:solidFill>
                <a:srgbClr val="000000"/>
              </a:solidFill>
              <a:effectLst/>
              <a:uFillTx/>
              <a:latin typeface="Arial"/>
            </a:endParaRPr>
          </a:p>
        </p:txBody>
      </p:sp>
      <p:pic>
        <p:nvPicPr>
          <p:cNvPr id="76" name="Image 0" descr="/home/claude/assets/logo_crop.png"/>
          <p:cNvPicPr/>
          <p:nvPr/>
        </p:nvPicPr>
        <p:blipFill>
          <a:blip r:embed="rId3"/>
          <a:stretch/>
        </p:blipFill>
        <p:spPr>
          <a:xfrm>
            <a:off x="11201400" y="384120"/>
            <a:ext cx="456840" cy="511560"/>
          </a:xfrm>
          <a:prstGeom prst="rect">
            <a:avLst/>
          </a:prstGeom>
          <a:noFill/>
          <a:ln w="0">
            <a:noFill/>
          </a:ln>
        </p:spPr>
      </p:pic>
      <p:sp>
        <p:nvSpPr>
          <p:cNvPr id="77"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What Is Statistics, Really?</a:t>
            </a:r>
            <a:endParaRPr lang="en-US" sz="2600" b="0" u="none" strike="noStrike">
              <a:solidFill>
                <a:srgbClr val="000000"/>
              </a:solidFill>
              <a:effectLst/>
              <a:uFillTx/>
              <a:latin typeface="Arial"/>
            </a:endParaRPr>
          </a:p>
        </p:txBody>
      </p:sp>
      <p:sp>
        <p:nvSpPr>
          <p:cNvPr id="78"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9"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0"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a:t>
            </a:r>
            <a:endParaRPr lang="en-US" sz="2800" b="0" u="none" strike="noStrike">
              <a:solidFill>
                <a:srgbClr val="000000"/>
              </a:solidFill>
              <a:effectLst/>
              <a:uFillTx/>
              <a:latin typeface="Arial"/>
            </a:endParaRPr>
          </a:p>
        </p:txBody>
      </p:sp>
      <p:sp>
        <p:nvSpPr>
          <p:cNvPr id="81"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Making sense of data</a:t>
            </a:r>
            <a:endParaRPr lang="en-US" sz="1700" b="0" u="none" strike="noStrike">
              <a:solidFill>
                <a:srgbClr val="000000"/>
              </a:solidFill>
              <a:effectLst/>
              <a:uFillTx/>
              <a:latin typeface="Arial"/>
            </a:endParaRPr>
          </a:p>
        </p:txBody>
      </p:sp>
      <p:sp>
        <p:nvSpPr>
          <p:cNvPr id="82"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Statistics is the field of collecting, organizing, summarizing, and drawing conclusions from data</a:t>
            </a:r>
            <a:endParaRPr lang="en-US" sz="2000" b="0" u="none" strike="noStrike">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At its core, it answers two very different kinds of questions: "what does this data show?" and "what can this data tell me about something bigger than itself?"</a:t>
            </a:r>
            <a:endParaRPr lang="en-US" sz="2000" b="0" u="none" strike="noStrike" dirty="0">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Every dataset is meaningless until statistics gives you a way to describe it, compare it, or trust (or doubt) a conclusion drawn from it</a:t>
            </a:r>
            <a:endParaRPr lang="en-US" sz="2000" b="0" u="none" strike="noStrike" dirty="0">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This is genuinely one of the most widely used branches of math in the world — not just in AI, but in every field that collects data of any kind</a:t>
            </a:r>
            <a:endParaRPr lang="en-US" sz="20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83"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84"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06</a:t>
            </a:r>
            <a:endParaRPr lang="en-US" sz="900" b="0" u="none" strike="noStrike">
              <a:solidFill>
                <a:srgbClr val="000000"/>
              </a:solidFill>
              <a:effectLst/>
              <a:uFillTx/>
              <a:latin typeface="Arial"/>
            </a:endParaRPr>
          </a:p>
        </p:txBody>
      </p:sp>
      <p:pic>
        <p:nvPicPr>
          <p:cNvPr id="85" name="Image 0" descr="/home/claude/assets/logo_crop.png"/>
          <p:cNvPicPr/>
          <p:nvPr/>
        </p:nvPicPr>
        <p:blipFill>
          <a:blip r:embed="rId3"/>
          <a:stretch/>
        </p:blipFill>
        <p:spPr>
          <a:xfrm>
            <a:off x="11201400" y="384120"/>
            <a:ext cx="456840" cy="511560"/>
          </a:xfrm>
          <a:prstGeom prst="rect">
            <a:avLst/>
          </a:prstGeom>
          <a:noFill/>
          <a:ln w="0">
            <a:noFill/>
          </a:ln>
        </p:spPr>
      </p:pic>
      <p:sp>
        <p:nvSpPr>
          <p:cNvPr id="86"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Where Statistics Is Actually Used</a:t>
            </a:r>
            <a:endParaRPr lang="en-US" sz="2600" b="0" u="none" strike="noStrike">
              <a:solidFill>
                <a:srgbClr val="000000"/>
              </a:solidFill>
              <a:effectLst/>
              <a:uFillTx/>
              <a:latin typeface="Arial"/>
            </a:endParaRPr>
          </a:p>
        </p:txBody>
      </p:sp>
      <p:sp>
        <p:nvSpPr>
          <p:cNvPr id="87" name="Shape 3"/>
          <p:cNvSpPr/>
          <p:nvPr/>
        </p:nvSpPr>
        <p:spPr>
          <a:xfrm>
            <a:off x="54864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8" name="Shape 4"/>
          <p:cNvSpPr/>
          <p:nvPr/>
        </p:nvSpPr>
        <p:spPr>
          <a:xfrm>
            <a:off x="1604880" y="1920240"/>
            <a:ext cx="493560" cy="493560"/>
          </a:xfrm>
          <a:prstGeom prst="roundRect">
            <a:avLst>
              <a:gd name="adj" fmla="val 18519"/>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9" name="Text 5"/>
          <p:cNvSpPr/>
          <p:nvPr/>
        </p:nvSpPr>
        <p:spPr>
          <a:xfrm>
            <a:off x="160488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Bricolage Grotesque"/>
                <a:ea typeface="Bricolage Grotesque"/>
              </a:rPr>
              <a:t>1</a:t>
            </a:r>
            <a:endParaRPr lang="en-US" sz="1600" b="0" u="none" strike="noStrike">
              <a:solidFill>
                <a:srgbClr val="000000"/>
              </a:solidFill>
              <a:effectLst/>
              <a:uFillTx/>
              <a:latin typeface="Arial"/>
            </a:endParaRPr>
          </a:p>
        </p:txBody>
      </p:sp>
      <p:sp>
        <p:nvSpPr>
          <p:cNvPr id="90" name="Shape 6"/>
          <p:cNvSpPr/>
          <p:nvPr/>
        </p:nvSpPr>
        <p:spPr>
          <a:xfrm>
            <a:off x="731520" y="2606040"/>
            <a:ext cx="2239920" cy="456840"/>
          </a:xfrm>
          <a:prstGeom prst="roundRect">
            <a:avLst>
              <a:gd name="adj" fmla="val 5000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1" name="Text 7"/>
          <p:cNvSpPr/>
          <p:nvPr/>
        </p:nvSpPr>
        <p:spPr>
          <a:xfrm>
            <a:off x="73152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Plus Jakarta Sans"/>
                <a:ea typeface="Plus Jakarta Sans"/>
              </a:rPr>
              <a:t>Medicine &amp; Research</a:t>
            </a:r>
            <a:endParaRPr lang="en-US" sz="1400" b="0" u="none" strike="noStrike">
              <a:solidFill>
                <a:srgbClr val="000000"/>
              </a:solidFill>
              <a:effectLst/>
              <a:uFillTx/>
              <a:latin typeface="Arial"/>
            </a:endParaRPr>
          </a:p>
        </p:txBody>
      </p:sp>
      <p:sp>
        <p:nvSpPr>
          <p:cNvPr id="92" name="Text 8"/>
          <p:cNvSpPr/>
          <p:nvPr/>
        </p:nvSpPr>
        <p:spPr>
          <a:xfrm>
            <a:off x="77724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Clinical trials, drug effectiveness, and public health decisions all rest on statistical evidence</a:t>
            </a:r>
            <a:endParaRPr lang="en-US" sz="1300" b="0" u="none" strike="noStrike">
              <a:solidFill>
                <a:srgbClr val="000000"/>
              </a:solidFill>
              <a:effectLst/>
              <a:uFillTx/>
              <a:latin typeface="Arial"/>
            </a:endParaRPr>
          </a:p>
        </p:txBody>
      </p:sp>
      <p:sp>
        <p:nvSpPr>
          <p:cNvPr id="93" name="Shape 9"/>
          <p:cNvSpPr/>
          <p:nvPr/>
        </p:nvSpPr>
        <p:spPr>
          <a:xfrm>
            <a:off x="338328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4" name="Shape 10"/>
          <p:cNvSpPr/>
          <p:nvPr/>
        </p:nvSpPr>
        <p:spPr>
          <a:xfrm>
            <a:off x="4439520" y="1920240"/>
            <a:ext cx="493560" cy="493560"/>
          </a:xfrm>
          <a:prstGeom prst="roundRect">
            <a:avLst>
              <a:gd name="adj" fmla="val 18519"/>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5" name="Text 11"/>
          <p:cNvSpPr/>
          <p:nvPr/>
        </p:nvSpPr>
        <p:spPr>
          <a:xfrm>
            <a:off x="443952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002019"/>
                </a:solidFill>
                <a:effectLst/>
                <a:uFillTx/>
                <a:latin typeface="Bricolage Grotesque"/>
                <a:ea typeface="Bricolage Grotesque"/>
              </a:rPr>
              <a:t>2</a:t>
            </a:r>
            <a:endParaRPr lang="en-US" sz="1600" b="0" u="none" strike="noStrike">
              <a:solidFill>
                <a:srgbClr val="000000"/>
              </a:solidFill>
              <a:effectLst/>
              <a:uFillTx/>
              <a:latin typeface="Arial"/>
            </a:endParaRPr>
          </a:p>
        </p:txBody>
      </p:sp>
      <p:sp>
        <p:nvSpPr>
          <p:cNvPr id="96" name="Shape 12"/>
          <p:cNvSpPr/>
          <p:nvPr/>
        </p:nvSpPr>
        <p:spPr>
          <a:xfrm>
            <a:off x="3566160" y="2606040"/>
            <a:ext cx="2239920" cy="456840"/>
          </a:xfrm>
          <a:prstGeom prst="roundRect">
            <a:avLst>
              <a:gd name="adj" fmla="val 50000"/>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7" name="Text 13"/>
          <p:cNvSpPr/>
          <p:nvPr/>
        </p:nvSpPr>
        <p:spPr>
          <a:xfrm>
            <a:off x="356616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Business</a:t>
            </a:r>
            <a:endParaRPr lang="en-US" sz="1400" b="0" u="none" strike="noStrike">
              <a:solidFill>
                <a:srgbClr val="000000"/>
              </a:solidFill>
              <a:effectLst/>
              <a:uFillTx/>
              <a:latin typeface="Arial"/>
            </a:endParaRPr>
          </a:p>
        </p:txBody>
      </p:sp>
      <p:sp>
        <p:nvSpPr>
          <p:cNvPr id="98" name="Text 14"/>
          <p:cNvSpPr/>
          <p:nvPr/>
        </p:nvSpPr>
        <p:spPr>
          <a:xfrm>
            <a:off x="361188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Sales forecasting, customer segmentation, and A/B testing a new feature or price</a:t>
            </a:r>
            <a:endParaRPr lang="en-US" sz="1300" b="0" u="none" strike="noStrike">
              <a:solidFill>
                <a:srgbClr val="000000"/>
              </a:solidFill>
              <a:effectLst/>
              <a:uFillTx/>
              <a:latin typeface="Arial"/>
            </a:endParaRPr>
          </a:p>
        </p:txBody>
      </p:sp>
      <p:sp>
        <p:nvSpPr>
          <p:cNvPr id="99" name="Shape 15"/>
          <p:cNvSpPr/>
          <p:nvPr/>
        </p:nvSpPr>
        <p:spPr>
          <a:xfrm>
            <a:off x="621792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0" name="Shape 16"/>
          <p:cNvSpPr/>
          <p:nvPr/>
        </p:nvSpPr>
        <p:spPr>
          <a:xfrm>
            <a:off x="7274160" y="1920240"/>
            <a:ext cx="493560" cy="493560"/>
          </a:xfrm>
          <a:prstGeom prst="roundRect">
            <a:avLst>
              <a:gd name="adj" fmla="val 18519"/>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1" name="Text 17"/>
          <p:cNvSpPr/>
          <p:nvPr/>
        </p:nvSpPr>
        <p:spPr>
          <a:xfrm>
            <a:off x="727416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4C112D"/>
                </a:solidFill>
                <a:effectLst/>
                <a:uFillTx/>
                <a:latin typeface="Bricolage Grotesque"/>
                <a:ea typeface="Bricolage Grotesque"/>
              </a:rPr>
              <a:t>3</a:t>
            </a:r>
            <a:endParaRPr lang="en-US" sz="1600" b="0" u="none" strike="noStrike">
              <a:solidFill>
                <a:srgbClr val="000000"/>
              </a:solidFill>
              <a:effectLst/>
              <a:uFillTx/>
              <a:latin typeface="Arial"/>
            </a:endParaRPr>
          </a:p>
        </p:txBody>
      </p:sp>
      <p:sp>
        <p:nvSpPr>
          <p:cNvPr id="102" name="Shape 18"/>
          <p:cNvSpPr/>
          <p:nvPr/>
        </p:nvSpPr>
        <p:spPr>
          <a:xfrm>
            <a:off x="6400800" y="2606040"/>
            <a:ext cx="2239920" cy="456840"/>
          </a:xfrm>
          <a:prstGeom prst="roundRect">
            <a:avLst>
              <a:gd name="adj" fmla="val 50000"/>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3" name="Text 19"/>
          <p:cNvSpPr/>
          <p:nvPr/>
        </p:nvSpPr>
        <p:spPr>
          <a:xfrm>
            <a:off x="640080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4C112D"/>
                </a:solidFill>
                <a:effectLst/>
                <a:uFillTx/>
                <a:latin typeface="Plus Jakarta Sans"/>
                <a:ea typeface="Plus Jakarta Sans"/>
              </a:rPr>
              <a:t>Sports</a:t>
            </a:r>
            <a:endParaRPr lang="en-US" sz="1400" b="0" u="none" strike="noStrike">
              <a:solidFill>
                <a:srgbClr val="000000"/>
              </a:solidFill>
              <a:effectLst/>
              <a:uFillTx/>
              <a:latin typeface="Arial"/>
            </a:endParaRPr>
          </a:p>
        </p:txBody>
      </p:sp>
      <p:sp>
        <p:nvSpPr>
          <p:cNvPr id="104" name="Text 20"/>
          <p:cNvSpPr/>
          <p:nvPr/>
        </p:nvSpPr>
        <p:spPr>
          <a:xfrm>
            <a:off x="644652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Player performance metrics, game strategy, and predicting match outcomes</a:t>
            </a:r>
            <a:endParaRPr lang="en-US" sz="1300" b="0" u="none" strike="noStrike">
              <a:solidFill>
                <a:srgbClr val="000000"/>
              </a:solidFill>
              <a:effectLst/>
              <a:uFillTx/>
              <a:latin typeface="Arial"/>
            </a:endParaRPr>
          </a:p>
        </p:txBody>
      </p:sp>
      <p:sp>
        <p:nvSpPr>
          <p:cNvPr id="105" name="Shape 21"/>
          <p:cNvSpPr/>
          <p:nvPr/>
        </p:nvSpPr>
        <p:spPr>
          <a:xfrm>
            <a:off x="905256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6" name="Shape 22"/>
          <p:cNvSpPr/>
          <p:nvPr/>
        </p:nvSpPr>
        <p:spPr>
          <a:xfrm>
            <a:off x="10108800" y="1920240"/>
            <a:ext cx="493560" cy="493560"/>
          </a:xfrm>
          <a:prstGeom prst="roundRect">
            <a:avLst>
              <a:gd name="adj" fmla="val 18519"/>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7" name="Text 23"/>
          <p:cNvSpPr/>
          <p:nvPr/>
        </p:nvSpPr>
        <p:spPr>
          <a:xfrm>
            <a:off x="1010880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002019"/>
                </a:solidFill>
                <a:effectLst/>
                <a:uFillTx/>
                <a:latin typeface="Bricolage Grotesque"/>
                <a:ea typeface="Bricolage Grotesque"/>
              </a:rPr>
              <a:t>4</a:t>
            </a:r>
            <a:endParaRPr lang="en-US" sz="1600" b="0" u="none" strike="noStrike">
              <a:solidFill>
                <a:srgbClr val="000000"/>
              </a:solidFill>
              <a:effectLst/>
              <a:uFillTx/>
              <a:latin typeface="Arial"/>
            </a:endParaRPr>
          </a:p>
        </p:txBody>
      </p:sp>
      <p:sp>
        <p:nvSpPr>
          <p:cNvPr id="108" name="Shape 24"/>
          <p:cNvSpPr/>
          <p:nvPr/>
        </p:nvSpPr>
        <p:spPr>
          <a:xfrm>
            <a:off x="9235440" y="2606040"/>
            <a:ext cx="2239920" cy="456840"/>
          </a:xfrm>
          <a:prstGeom prst="roundRect">
            <a:avLst>
              <a:gd name="adj" fmla="val 50000"/>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9" name="Text 25"/>
          <p:cNvSpPr/>
          <p:nvPr/>
        </p:nvSpPr>
        <p:spPr>
          <a:xfrm>
            <a:off x="923544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Government &amp; Policy</a:t>
            </a:r>
            <a:endParaRPr lang="en-US" sz="1400" b="0" u="none" strike="noStrike">
              <a:solidFill>
                <a:srgbClr val="000000"/>
              </a:solidFill>
              <a:effectLst/>
              <a:uFillTx/>
              <a:latin typeface="Arial"/>
            </a:endParaRPr>
          </a:p>
        </p:txBody>
      </p:sp>
      <p:sp>
        <p:nvSpPr>
          <p:cNvPr id="110" name="Text 26"/>
          <p:cNvSpPr/>
          <p:nvPr/>
        </p:nvSpPr>
        <p:spPr>
          <a:xfrm>
            <a:off x="928116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Census data, unemployment rates, and evidence behind public policy decisions</a:t>
            </a:r>
            <a:endParaRPr lang="en-US" sz="13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11"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12"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07</a:t>
            </a:r>
            <a:endParaRPr lang="en-US" sz="900" b="0" u="none" strike="noStrike">
              <a:solidFill>
                <a:srgbClr val="000000"/>
              </a:solidFill>
              <a:effectLst/>
              <a:uFillTx/>
              <a:latin typeface="Arial"/>
            </a:endParaRPr>
          </a:p>
        </p:txBody>
      </p:sp>
      <p:pic>
        <p:nvPicPr>
          <p:cNvPr id="113" name="Image 0" descr="/home/claude/assets/logo_crop.png"/>
          <p:cNvPicPr/>
          <p:nvPr/>
        </p:nvPicPr>
        <p:blipFill>
          <a:blip r:embed="rId3"/>
          <a:stretch/>
        </p:blipFill>
        <p:spPr>
          <a:xfrm>
            <a:off x="11201400" y="384120"/>
            <a:ext cx="456840" cy="511560"/>
          </a:xfrm>
          <a:prstGeom prst="rect">
            <a:avLst/>
          </a:prstGeom>
          <a:noFill/>
          <a:ln w="0">
            <a:noFill/>
          </a:ln>
        </p:spPr>
      </p:pic>
      <p:sp>
        <p:nvSpPr>
          <p:cNvPr id="114"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Descriptive vs. Inferential Statistics</a:t>
            </a:r>
            <a:endParaRPr lang="en-US" sz="2600" b="0" u="none" strike="noStrike">
              <a:solidFill>
                <a:srgbClr val="000000"/>
              </a:solidFill>
              <a:effectLst/>
              <a:uFillTx/>
              <a:latin typeface="Arial"/>
            </a:endParaRPr>
          </a:p>
        </p:txBody>
      </p:sp>
      <p:sp>
        <p:nvSpPr>
          <p:cNvPr id="115" name="Shape 3"/>
          <p:cNvSpPr/>
          <p:nvPr/>
        </p:nvSpPr>
        <p:spPr>
          <a:xfrm>
            <a:off x="548640" y="1737360"/>
            <a:ext cx="5486040" cy="4023000"/>
          </a:xfrm>
          <a:prstGeom prst="roundRect">
            <a:avLst>
              <a:gd name="adj" fmla="val 1818"/>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6" name="Shape 4"/>
          <p:cNvSpPr/>
          <p:nvPr/>
        </p:nvSpPr>
        <p:spPr>
          <a:xfrm>
            <a:off x="777240" y="1965960"/>
            <a:ext cx="5028840" cy="456840"/>
          </a:xfrm>
          <a:prstGeom prst="roundRect">
            <a:avLst>
              <a:gd name="adj" fmla="val 5000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7" name="Text 5"/>
          <p:cNvSpPr/>
          <p:nvPr/>
        </p:nvSpPr>
        <p:spPr>
          <a:xfrm>
            <a:off x="777240" y="1965960"/>
            <a:ext cx="5028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Plus Jakarta Sans"/>
                <a:ea typeface="Plus Jakarta Sans"/>
              </a:rPr>
              <a:t>Descriptive Statistics</a:t>
            </a:r>
            <a:endParaRPr lang="en-US" sz="1400" b="0" u="none" strike="noStrike">
              <a:solidFill>
                <a:srgbClr val="000000"/>
              </a:solidFill>
              <a:effectLst/>
              <a:uFillTx/>
              <a:latin typeface="Arial"/>
            </a:endParaRPr>
          </a:p>
        </p:txBody>
      </p:sp>
      <p:sp>
        <p:nvSpPr>
          <p:cNvPr id="118" name="Text 6"/>
          <p:cNvSpPr/>
          <p:nvPr/>
        </p:nvSpPr>
        <p:spPr>
          <a:xfrm>
            <a:off x="822960" y="2697480"/>
            <a:ext cx="4937400" cy="2925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03040" indent="-203040" defTabSz="914400">
              <a:lnSpc>
                <a:spcPct val="100000"/>
              </a:lnSpc>
              <a:spcAft>
                <a:spcPts val="901"/>
              </a:spcAft>
              <a:buClr>
                <a:srgbClr val="1B1B20"/>
              </a:buClr>
              <a:buFont typeface="Symbol" charset="2"/>
              <a:buChar char=""/>
            </a:pPr>
            <a:r>
              <a:rPr lang="en-US" sz="1400" b="0" u="none" strike="noStrike">
                <a:solidFill>
                  <a:srgbClr val="1B1B20"/>
                </a:solidFill>
                <a:effectLst/>
                <a:uFillTx/>
                <a:latin typeface="Hanken Grotesk"/>
                <a:ea typeface="Hanken Grotesk"/>
              </a:rPr>
              <a:t>Describes and summarizes the exact data you already have — nothing more</a:t>
            </a:r>
            <a:endParaRPr lang="en-US" sz="1400" b="0" u="none" strike="noStrike">
              <a:solidFill>
                <a:srgbClr val="000000"/>
              </a:solidFill>
              <a:effectLst/>
              <a:uFillTx/>
              <a:latin typeface="Arial"/>
            </a:endParaRPr>
          </a:p>
          <a:p>
            <a:pPr marL="203040" indent="-203040" defTabSz="914400">
              <a:lnSpc>
                <a:spcPct val="100000"/>
              </a:lnSpc>
              <a:spcAft>
                <a:spcPts val="901"/>
              </a:spcAft>
              <a:buClr>
                <a:srgbClr val="1B1B20"/>
              </a:buClr>
              <a:buFont typeface="Symbol" charset="2"/>
              <a:buChar char=""/>
            </a:pPr>
            <a:r>
              <a:rPr lang="en-US" sz="1400" b="0" u="none" strike="noStrike">
                <a:solidFill>
                  <a:srgbClr val="1B1B20"/>
                </a:solidFill>
                <a:effectLst/>
                <a:uFillTx/>
                <a:latin typeface="Hanken Grotesk"/>
                <a:ea typeface="Hanken Grotesk"/>
              </a:rPr>
              <a:t>Answers "what happened in THIS data?" — the average, the spread, the shape</a:t>
            </a:r>
            <a:endParaRPr lang="en-US" sz="1400" b="0" u="none" strike="noStrike">
              <a:solidFill>
                <a:srgbClr val="000000"/>
              </a:solidFill>
              <a:effectLst/>
              <a:uFillTx/>
              <a:latin typeface="Arial"/>
            </a:endParaRPr>
          </a:p>
          <a:p>
            <a:pPr marL="203040" indent="-203040" defTabSz="914400">
              <a:lnSpc>
                <a:spcPct val="100000"/>
              </a:lnSpc>
              <a:spcAft>
                <a:spcPts val="901"/>
              </a:spcAft>
              <a:buClr>
                <a:srgbClr val="1B1B20"/>
              </a:buClr>
              <a:buFont typeface="Symbol" charset="2"/>
              <a:buChar char=""/>
            </a:pPr>
            <a:r>
              <a:rPr lang="en-US" sz="1400" b="0" u="none" strike="noStrike">
                <a:solidFill>
                  <a:srgbClr val="1B1B20"/>
                </a:solidFill>
                <a:effectLst/>
                <a:uFillTx/>
                <a:latin typeface="Hanken Grotesk"/>
                <a:ea typeface="Hanken Grotesk"/>
              </a:rPr>
              <a:t>This entire session, and the next, live here</a:t>
            </a:r>
            <a:endParaRPr lang="en-US" sz="1400" b="0" u="none" strike="noStrike">
              <a:solidFill>
                <a:srgbClr val="000000"/>
              </a:solidFill>
              <a:effectLst/>
              <a:uFillTx/>
              <a:latin typeface="Arial"/>
            </a:endParaRPr>
          </a:p>
        </p:txBody>
      </p:sp>
      <p:sp>
        <p:nvSpPr>
          <p:cNvPr id="119" name="Shape 7"/>
          <p:cNvSpPr/>
          <p:nvPr/>
        </p:nvSpPr>
        <p:spPr>
          <a:xfrm>
            <a:off x="6172200" y="1737360"/>
            <a:ext cx="5486040" cy="4023000"/>
          </a:xfrm>
          <a:prstGeom prst="roundRect">
            <a:avLst>
              <a:gd name="adj" fmla="val 1818"/>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0" name="Shape 8"/>
          <p:cNvSpPr/>
          <p:nvPr/>
        </p:nvSpPr>
        <p:spPr>
          <a:xfrm>
            <a:off x="6400800" y="1965960"/>
            <a:ext cx="5028840" cy="456840"/>
          </a:xfrm>
          <a:prstGeom prst="roundRect">
            <a:avLst>
              <a:gd name="adj" fmla="val 50000"/>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1" name="Text 9"/>
          <p:cNvSpPr/>
          <p:nvPr/>
        </p:nvSpPr>
        <p:spPr>
          <a:xfrm>
            <a:off x="6400800" y="1965960"/>
            <a:ext cx="5028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Inferential Statistics</a:t>
            </a:r>
            <a:endParaRPr lang="en-US" sz="1400" b="0" u="none" strike="noStrike">
              <a:solidFill>
                <a:srgbClr val="000000"/>
              </a:solidFill>
              <a:effectLst/>
              <a:uFillTx/>
              <a:latin typeface="Arial"/>
            </a:endParaRPr>
          </a:p>
        </p:txBody>
      </p:sp>
      <p:sp>
        <p:nvSpPr>
          <p:cNvPr id="122" name="Text 10"/>
          <p:cNvSpPr/>
          <p:nvPr/>
        </p:nvSpPr>
        <p:spPr>
          <a:xfrm>
            <a:off x="6446520" y="2697480"/>
            <a:ext cx="4937400" cy="2925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03040" indent="-203040" defTabSz="914400">
              <a:lnSpc>
                <a:spcPct val="100000"/>
              </a:lnSpc>
              <a:spcAft>
                <a:spcPts val="901"/>
              </a:spcAft>
              <a:buClr>
                <a:srgbClr val="1B1B20"/>
              </a:buClr>
              <a:buFont typeface="Symbol" charset="2"/>
              <a:buChar char=""/>
            </a:pPr>
            <a:r>
              <a:rPr lang="en-US" sz="1400" b="0" u="none" strike="noStrike">
                <a:solidFill>
                  <a:srgbClr val="1B1B20"/>
                </a:solidFill>
                <a:effectLst/>
                <a:uFillTx/>
                <a:latin typeface="Hanken Grotesk"/>
                <a:ea typeface="Hanken Grotesk"/>
              </a:rPr>
              <a:t>Uses a smaller sample to draw conclusions about a larger population you didn’t fully measure</a:t>
            </a:r>
            <a:endParaRPr lang="en-US" sz="1400" b="0" u="none" strike="noStrike">
              <a:solidFill>
                <a:srgbClr val="000000"/>
              </a:solidFill>
              <a:effectLst/>
              <a:uFillTx/>
              <a:latin typeface="Arial"/>
            </a:endParaRPr>
          </a:p>
          <a:p>
            <a:pPr marL="203040" indent="-203040" defTabSz="914400">
              <a:lnSpc>
                <a:spcPct val="100000"/>
              </a:lnSpc>
              <a:spcAft>
                <a:spcPts val="901"/>
              </a:spcAft>
              <a:buClr>
                <a:srgbClr val="1B1B20"/>
              </a:buClr>
              <a:buFont typeface="Symbol" charset="2"/>
              <a:buChar char=""/>
            </a:pPr>
            <a:r>
              <a:rPr lang="en-US" sz="1400" b="0" u="none" strike="noStrike">
                <a:solidFill>
                  <a:srgbClr val="1B1B20"/>
                </a:solidFill>
                <a:effectLst/>
                <a:uFillTx/>
                <a:latin typeface="Hanken Grotesk"/>
                <a:ea typeface="Hanken Grotesk"/>
              </a:rPr>
              <a:t>Answers "what can I confidently CONCLUDE, beyond just this data?" — confidence, significance, hypothesis tests</a:t>
            </a:r>
            <a:endParaRPr lang="en-US" sz="1400" b="0" u="none" strike="noStrike">
              <a:solidFill>
                <a:srgbClr val="000000"/>
              </a:solidFill>
              <a:effectLst/>
              <a:uFillTx/>
              <a:latin typeface="Arial"/>
            </a:endParaRPr>
          </a:p>
          <a:p>
            <a:pPr marL="203040" indent="-203040" defTabSz="914400">
              <a:lnSpc>
                <a:spcPct val="100000"/>
              </a:lnSpc>
              <a:spcAft>
                <a:spcPts val="901"/>
              </a:spcAft>
              <a:buClr>
                <a:srgbClr val="1B1B20"/>
              </a:buClr>
              <a:buFont typeface="Symbol" charset="2"/>
              <a:buChar char=""/>
            </a:pPr>
            <a:r>
              <a:rPr lang="en-US" sz="1400" b="0" u="none" strike="noStrike">
                <a:solidFill>
                  <a:srgbClr val="1B1B20"/>
                </a:solidFill>
                <a:effectLst/>
                <a:uFillTx/>
                <a:latin typeface="Hanken Grotesk"/>
                <a:ea typeface="Hanken Grotesk"/>
              </a:rPr>
              <a:t>This is where the course goes in Sessions 21 and 22</a:t>
            </a:r>
            <a:endParaRPr lang="en-US" sz="14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23"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24"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08</a:t>
            </a:r>
            <a:endParaRPr lang="en-US" sz="900" b="0" u="none" strike="noStrike">
              <a:solidFill>
                <a:srgbClr val="000000"/>
              </a:solidFill>
              <a:effectLst/>
              <a:uFillTx/>
              <a:latin typeface="Arial"/>
            </a:endParaRPr>
          </a:p>
        </p:txBody>
      </p:sp>
      <p:pic>
        <p:nvPicPr>
          <p:cNvPr id="125" name="Image 0" descr="/home/claude/assets/logo_crop.png"/>
          <p:cNvPicPr/>
          <p:nvPr/>
        </p:nvPicPr>
        <p:blipFill>
          <a:blip r:embed="rId3"/>
          <a:stretch/>
        </p:blipFill>
        <p:spPr>
          <a:xfrm>
            <a:off x="11201400" y="384120"/>
            <a:ext cx="456840" cy="511560"/>
          </a:xfrm>
          <a:prstGeom prst="rect">
            <a:avLst/>
          </a:prstGeom>
          <a:noFill/>
          <a:ln w="0">
            <a:noFill/>
          </a:ln>
        </p:spPr>
      </p:pic>
      <p:sp>
        <p:nvSpPr>
          <p:cNvPr id="126"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Population vs. Sample</a:t>
            </a:r>
            <a:endParaRPr lang="en-US" sz="2600" b="0" u="none" strike="noStrike">
              <a:solidFill>
                <a:srgbClr val="000000"/>
              </a:solidFill>
              <a:effectLst/>
              <a:uFillTx/>
              <a:latin typeface="Arial"/>
            </a:endParaRPr>
          </a:p>
        </p:txBody>
      </p:sp>
      <p:sp>
        <p:nvSpPr>
          <p:cNvPr id="127"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8"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9"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a:t>
            </a:r>
            <a:endParaRPr lang="en-US" sz="2800" b="0" u="none" strike="noStrike">
              <a:solidFill>
                <a:srgbClr val="000000"/>
              </a:solidFill>
              <a:effectLst/>
              <a:uFillTx/>
              <a:latin typeface="Arial"/>
            </a:endParaRPr>
          </a:p>
        </p:txBody>
      </p:sp>
      <p:sp>
        <p:nvSpPr>
          <p:cNvPr id="130"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The whole group, vs. a slice of it</a:t>
            </a:r>
            <a:endParaRPr lang="en-US" sz="1700" b="0" u="none" strike="noStrike">
              <a:solidFill>
                <a:srgbClr val="000000"/>
              </a:solidFill>
              <a:effectLst/>
              <a:uFillTx/>
              <a:latin typeface="Arial"/>
            </a:endParaRPr>
          </a:p>
        </p:txBody>
      </p:sp>
      <p:sp>
        <p:nvSpPr>
          <p:cNvPr id="131"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A population is every single member of the group you actually care about — every voter, every customer, every product ever made</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A sample is a smaller, manageable subset of that population, actually measured — usually because measuring the entire population is impossible or impractical</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Almost everything in real data science is a sample — you rarely have data on literally everyone or everything</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This single distinction is the entire reason inferential statistics needs to exist at all — keep it in mind, it comes back constantly</a:t>
            </a:r>
            <a:endParaRPr lang="en-US" sz="20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32"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33"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09</a:t>
            </a:r>
            <a:endParaRPr lang="en-US" sz="900" b="0" u="none" strike="noStrike">
              <a:solidFill>
                <a:srgbClr val="000000"/>
              </a:solidFill>
              <a:effectLst/>
              <a:uFillTx/>
              <a:latin typeface="Arial"/>
            </a:endParaRPr>
          </a:p>
        </p:txBody>
      </p:sp>
      <p:pic>
        <p:nvPicPr>
          <p:cNvPr id="134" name="Image 0" descr="/home/claude/assets/logo_crop.png"/>
          <p:cNvPicPr/>
          <p:nvPr/>
        </p:nvPicPr>
        <p:blipFill>
          <a:blip r:embed="rId3"/>
          <a:stretch/>
        </p:blipFill>
        <p:spPr>
          <a:xfrm>
            <a:off x="11201400" y="384120"/>
            <a:ext cx="456840" cy="511560"/>
          </a:xfrm>
          <a:prstGeom prst="rect">
            <a:avLst/>
          </a:prstGeom>
          <a:noFill/>
          <a:ln w="0">
            <a:noFill/>
          </a:ln>
        </p:spPr>
      </p:pic>
      <p:sp>
        <p:nvSpPr>
          <p:cNvPr id="135"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Sample vs. Population in Python</a:t>
            </a:r>
            <a:endParaRPr lang="en-US" sz="2600" b="0" u="none" strike="noStrike">
              <a:solidFill>
                <a:srgbClr val="000000"/>
              </a:solidFill>
              <a:effectLst/>
              <a:uFillTx/>
              <a:latin typeface="Arial"/>
            </a:endParaRPr>
          </a:p>
        </p:txBody>
      </p:sp>
      <p:sp>
        <p:nvSpPr>
          <p:cNvPr id="136"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We invent a population of 10,000 scores, then measure only 100 of them.</a:t>
            </a:r>
            <a:endParaRPr lang="en-US" sz="2000" b="0" u="none" strike="noStrike" dirty="0">
              <a:solidFill>
                <a:srgbClr val="000000"/>
              </a:solidFill>
              <a:effectLst/>
              <a:uFillTx/>
              <a:latin typeface="Arial"/>
              <a:cs typeface="Arial"/>
            </a:endParaRPr>
          </a:p>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The sample mean lands close to the population mean — but almost never exactly on it.</a:t>
            </a:r>
            <a:endParaRPr lang="en-US" sz="2000" b="0" u="none" strike="noStrike" dirty="0">
              <a:solidFill>
                <a:srgbClr val="000000"/>
              </a:solidFill>
              <a:effectLst/>
              <a:uFillTx/>
              <a:latin typeface="Arial"/>
              <a:cs typeface="Arial"/>
            </a:endParaRPr>
          </a:p>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That small gap is exactly why inferential statistics exists.</a:t>
            </a:r>
            <a:endParaRPr lang="en-US" sz="2000" b="0" u="none" strike="noStrike" dirty="0">
              <a:solidFill>
                <a:srgbClr val="000000"/>
              </a:solidFill>
              <a:effectLst/>
              <a:uFillTx/>
              <a:latin typeface="Arial"/>
              <a:cs typeface="Arial"/>
            </a:endParaRPr>
          </a:p>
        </p:txBody>
      </p:sp>
      <p:sp>
        <p:nvSpPr>
          <p:cNvPr id="137"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8"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39"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40"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41"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300" b="0" u="none" strike="noStrike">
                <a:solidFill>
                  <a:srgbClr val="F1F5F9"/>
                </a:solidFill>
                <a:effectLst/>
                <a:uFillTx/>
                <a:latin typeface="Cantarell"/>
                <a:ea typeface="Consolas"/>
              </a:rPr>
              <a:t>import numpy as np</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rng = np.random.default_rng(42)</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population = rng.normal(70, 10, size=10_000)</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sample = rng.choice(population, size=100,</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replace=False)</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print(round(population.mean(), 2))  </a:t>
            </a:r>
            <a:r>
              <a:rPr lang="en-US" sz="1300" b="0" i="1" u="none" strike="noStrike">
                <a:solidFill>
                  <a:srgbClr val="94A3B8"/>
                </a:solidFill>
                <a:effectLst/>
                <a:uFillTx/>
                <a:latin typeface="Cantarell"/>
                <a:ea typeface="Consolas"/>
              </a:rPr>
              <a:t># 69.9</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print(round(sample.mean(), 2))    </a:t>
            </a:r>
            <a:r>
              <a:rPr lang="en-US" sz="1300" b="0" i="1" u="none" strike="noStrike">
                <a:solidFill>
                  <a:srgbClr val="94A3B8"/>
                </a:solidFill>
                <a:effectLst/>
                <a:uFillTx/>
                <a:latin typeface="Cantarell"/>
                <a:ea typeface="Consolas"/>
              </a:rPr>
              <a:t># 71.11</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print(len(population), len(sample))  </a:t>
            </a:r>
            <a:r>
              <a:rPr lang="en-US" sz="1300" b="0" i="1" u="none" strike="noStrike">
                <a:solidFill>
                  <a:srgbClr val="94A3B8"/>
                </a:solidFill>
                <a:effectLst/>
                <a:uFillTx/>
                <a:latin typeface="Cantarell"/>
                <a:ea typeface="Consolas"/>
              </a:rPr>
              <a:t># 10000 100</a:t>
            </a:r>
            <a:endParaRPr lang="en-US" sz="13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42"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43"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10</a:t>
            </a:r>
            <a:endParaRPr lang="en-US" sz="900" b="0" u="none" strike="noStrike">
              <a:solidFill>
                <a:srgbClr val="000000"/>
              </a:solidFill>
              <a:effectLst/>
              <a:uFillTx/>
              <a:latin typeface="Arial"/>
            </a:endParaRPr>
          </a:p>
        </p:txBody>
      </p:sp>
      <p:pic>
        <p:nvPicPr>
          <p:cNvPr id="144" name="Image 0" descr="/home/claude/assets/logo_crop.png"/>
          <p:cNvPicPr/>
          <p:nvPr/>
        </p:nvPicPr>
        <p:blipFill>
          <a:blip r:embed="rId3"/>
          <a:stretch/>
        </p:blipFill>
        <p:spPr>
          <a:xfrm>
            <a:off x="11201400" y="384120"/>
            <a:ext cx="456840" cy="511560"/>
          </a:xfrm>
          <a:prstGeom prst="rect">
            <a:avLst/>
          </a:prstGeom>
          <a:noFill/>
          <a:ln w="0">
            <a:noFill/>
          </a:ln>
        </p:spPr>
      </p:pic>
      <p:sp>
        <p:nvSpPr>
          <p:cNvPr id="145"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Dependent vs. Independent Variables</a:t>
            </a:r>
            <a:endParaRPr lang="en-US" sz="2600" b="0" u="none" strike="noStrike">
              <a:solidFill>
                <a:srgbClr val="000000"/>
              </a:solidFill>
              <a:effectLst/>
              <a:uFillTx/>
              <a:latin typeface="Arial"/>
            </a:endParaRPr>
          </a:p>
        </p:txBody>
      </p:sp>
      <p:sp>
        <p:nvSpPr>
          <p:cNvPr id="146"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7"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8"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a:t>
            </a:r>
            <a:endParaRPr lang="en-US" sz="2800" b="0" u="none" strike="noStrike">
              <a:solidFill>
                <a:srgbClr val="000000"/>
              </a:solidFill>
              <a:effectLst/>
              <a:uFillTx/>
              <a:latin typeface="Arial"/>
            </a:endParaRPr>
          </a:p>
        </p:txBody>
      </p:sp>
      <p:sp>
        <p:nvSpPr>
          <p:cNvPr id="149"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Cause, and the effect</a:t>
            </a:r>
            <a:endParaRPr lang="en-US" sz="1700" b="0" u="none" strike="noStrike">
              <a:solidFill>
                <a:srgbClr val="000000"/>
              </a:solidFill>
              <a:effectLst/>
              <a:uFillTx/>
              <a:latin typeface="Arial"/>
            </a:endParaRPr>
          </a:p>
        </p:txBody>
      </p:sp>
      <p:sp>
        <p:nvSpPr>
          <p:cNvPr id="150"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An independent variable is the one you change, control, or use to explain something — it stands on its own, unaffected by the other variables in the study</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A dependent variable is the one you measure as an outcome — its value "depends on" the </a:t>
            </a:r>
            <a:r>
              <a:rPr lang="en-US" sz="2000" dirty="0">
                <a:solidFill>
                  <a:srgbClr val="1B1B20"/>
                </a:solidFill>
                <a:latin typeface="Hanken Grotesk"/>
                <a:ea typeface="Hanken Grotesk"/>
              </a:rPr>
              <a:t>independent</a:t>
            </a:r>
            <a:r>
              <a:rPr lang="en-US" sz="2000" b="0" u="none" strike="noStrike" dirty="0">
                <a:solidFill>
                  <a:srgbClr val="1B1B20"/>
                </a:solidFill>
                <a:effectLst/>
                <a:uFillTx/>
                <a:latin typeface="Hanken Grotesk"/>
                <a:ea typeface="Hanken Grotesk"/>
              </a:rPr>
              <a:t> variable</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In "does study time affect exam score," study time is independent, exam score is dependent — the score depends on the hours studied, not the other way around</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This distinction quietly decides which axis a variable belongs on in a scatter plot, and which side of a formula it belongs on in a regression — both coming up soon</a:t>
            </a:r>
            <a:endParaRPr lang="en-US" sz="20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51"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52"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11</a:t>
            </a:r>
            <a:endParaRPr lang="en-US" sz="900" b="0" u="none" strike="noStrike">
              <a:solidFill>
                <a:srgbClr val="000000"/>
              </a:solidFill>
              <a:effectLst/>
              <a:uFillTx/>
              <a:latin typeface="Arial"/>
            </a:endParaRPr>
          </a:p>
        </p:txBody>
      </p:sp>
      <p:pic>
        <p:nvPicPr>
          <p:cNvPr id="153" name="Image 0" descr="/home/claude/assets/logo_crop.png"/>
          <p:cNvPicPr/>
          <p:nvPr/>
        </p:nvPicPr>
        <p:blipFill>
          <a:blip r:embed="rId3"/>
          <a:stretch/>
        </p:blipFill>
        <p:spPr>
          <a:xfrm>
            <a:off x="11201400" y="384120"/>
            <a:ext cx="456840" cy="511560"/>
          </a:xfrm>
          <a:prstGeom prst="rect">
            <a:avLst/>
          </a:prstGeom>
          <a:noFill/>
          <a:ln w="0">
            <a:noFill/>
          </a:ln>
        </p:spPr>
      </p:pic>
      <p:sp>
        <p:nvSpPr>
          <p:cNvPr id="154"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Independent &amp; Dependent Variables in a Table</a:t>
            </a:r>
            <a:endParaRPr lang="en-US" sz="2600" b="0" u="none" strike="noStrike">
              <a:solidFill>
                <a:srgbClr val="000000"/>
              </a:solidFill>
              <a:effectLst/>
              <a:uFillTx/>
              <a:latin typeface="Arial"/>
            </a:endParaRPr>
          </a:p>
        </p:txBody>
      </p:sp>
      <p:sp>
        <p:nvSpPr>
          <p:cNvPr id="155"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pandas stores data as a table: each column is one variable.</a:t>
            </a:r>
            <a:endParaRPr lang="en-US" sz="2000" b="0" u="none" strike="noStrike" dirty="0">
              <a:solidFill>
                <a:srgbClr val="000000"/>
              </a:solidFill>
              <a:effectLst/>
              <a:uFillTx/>
              <a:latin typeface="Arial"/>
              <a:cs typeface="Arial"/>
            </a:endParaRPr>
          </a:p>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Put the independent variable in x and the dependent variable in y — you will reuse this habit in every ML model.</a:t>
            </a:r>
            <a:endParaRPr lang="en-US" sz="2000" b="0" u="none" strike="noStrike" dirty="0">
              <a:solidFill>
                <a:srgbClr val="000000"/>
              </a:solidFill>
              <a:effectLst/>
              <a:uFillTx/>
              <a:latin typeface="Arial"/>
              <a:cs typeface="Arial"/>
            </a:endParaRPr>
          </a:p>
          <a:p>
            <a:pPr marL="285750" indent="-285750" defTabSz="914400">
              <a:lnSpc>
                <a:spcPct val="100000"/>
              </a:lnSpc>
              <a:spcAft>
                <a:spcPts val="1400"/>
              </a:spcAft>
              <a:buClr>
                <a:srgbClr val="1B1B20"/>
              </a:buClr>
              <a:buFont typeface="Arial"/>
              <a:buChar char="•"/>
            </a:pPr>
            <a:r>
              <a:rPr lang="en-US" sz="2000" b="0" u="none" strike="noStrike" dirty="0" err="1">
                <a:solidFill>
                  <a:srgbClr val="1B1B20"/>
                </a:solidFill>
                <a:effectLst/>
                <a:uFillTx/>
                <a:latin typeface="Hanken Grotesk"/>
                <a:ea typeface="Hanken Grotesk"/>
              </a:rPr>
              <a:t>df</a:t>
            </a:r>
            <a:r>
              <a:rPr lang="en-US" sz="2000" b="0" u="none" strike="noStrike" dirty="0">
                <a:solidFill>
                  <a:srgbClr val="1B1B20"/>
                </a:solidFill>
                <a:effectLst/>
                <a:uFillTx/>
                <a:latin typeface="Hanken Grotesk"/>
                <a:ea typeface="Hanken Grotesk"/>
              </a:rPr>
              <a:t>["hours"] simply pulls out one column.</a:t>
            </a:r>
            <a:endParaRPr lang="en-US" sz="2000" b="0" u="none" strike="noStrike" dirty="0">
              <a:solidFill>
                <a:srgbClr val="000000"/>
              </a:solidFill>
              <a:effectLst/>
              <a:uFillTx/>
              <a:latin typeface="Arial"/>
              <a:cs typeface="Arial"/>
            </a:endParaRPr>
          </a:p>
        </p:txBody>
      </p:sp>
      <p:sp>
        <p:nvSpPr>
          <p:cNvPr id="156"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57"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58"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59"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60"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200" b="0" u="none" strike="noStrike">
                <a:solidFill>
                  <a:srgbClr val="F1F5F9"/>
                </a:solidFill>
                <a:effectLst/>
                <a:uFillTx/>
                <a:latin typeface="Cantarell"/>
                <a:ea typeface="Consolas"/>
              </a:rPr>
              <a:t>import pandas as pd</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df = pd.DataFrame({</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"hours": [1, 2, 3, 4, 5],       </a:t>
            </a:r>
            <a:r>
              <a:rPr lang="en-US" sz="1200" b="0" i="1" u="none" strike="noStrike">
                <a:solidFill>
                  <a:srgbClr val="94A3B8"/>
                </a:solidFill>
                <a:effectLst/>
                <a:uFillTx/>
                <a:latin typeface="Cantarell"/>
                <a:ea typeface="Consolas"/>
              </a:rPr>
              <a:t># independent (x)</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"score": [52, 60, 58, 71, 75],  </a:t>
            </a:r>
            <a:r>
              <a:rPr lang="en-US" sz="1200" b="0" i="1" u="none" strike="noStrike">
                <a:solidFill>
                  <a:srgbClr val="94A3B8"/>
                </a:solidFill>
                <a:effectLst/>
                <a:uFillTx/>
                <a:latin typeface="Cantarell"/>
                <a:ea typeface="Consolas"/>
              </a:rPr>
              <a:t># dependent (y)</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x = df["hours"]   </a:t>
            </a:r>
            <a:r>
              <a:rPr lang="en-US" sz="1200" b="0" i="1" u="none" strike="noStrike">
                <a:solidFill>
                  <a:srgbClr val="94A3B8"/>
                </a:solidFill>
                <a:effectLst/>
                <a:uFillTx/>
                <a:latin typeface="Cantarell"/>
                <a:ea typeface="Consolas"/>
              </a:rPr>
              <a:t># what we change or explain</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y = df["score"]   </a:t>
            </a:r>
            <a:r>
              <a:rPr lang="en-US" sz="1200" b="0" i="1" u="none" strike="noStrike">
                <a:solidFill>
                  <a:srgbClr val="94A3B8"/>
                </a:solidFill>
                <a:effectLst/>
                <a:uFillTx/>
                <a:latin typeface="Cantarell"/>
                <a:ea typeface="Consolas"/>
              </a:rPr>
              <a:t># what we measure as outcome</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print(x.mean(), y.mean())         </a:t>
            </a:r>
            <a:r>
              <a:rPr lang="en-US" sz="1200" b="0" i="1" u="none" strike="noStrike">
                <a:solidFill>
                  <a:srgbClr val="94A3B8"/>
                </a:solidFill>
                <a:effectLst/>
                <a:uFillTx/>
                <a:latin typeface="Cantarell"/>
                <a:ea typeface="Consolas"/>
              </a:rPr>
              <a:t># 3.0 63.2</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print(df.shape)                   </a:t>
            </a:r>
            <a:r>
              <a:rPr lang="en-US" sz="1200" b="0" i="1" u="none" strike="noStrike">
                <a:solidFill>
                  <a:srgbClr val="94A3B8"/>
                </a:solidFill>
                <a:effectLst/>
                <a:uFillTx/>
                <a:latin typeface="Cantarell"/>
                <a:ea typeface="Consolas"/>
              </a:rPr>
              <a:t># (5, 2)</a:t>
            </a:r>
            <a:endParaRPr lang="en-US" sz="12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61"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62"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12</a:t>
            </a:r>
            <a:endParaRPr lang="en-US" sz="900" b="0" u="none" strike="noStrike">
              <a:solidFill>
                <a:srgbClr val="000000"/>
              </a:solidFill>
              <a:effectLst/>
              <a:uFillTx/>
              <a:latin typeface="Arial"/>
            </a:endParaRPr>
          </a:p>
        </p:txBody>
      </p:sp>
      <p:pic>
        <p:nvPicPr>
          <p:cNvPr id="163" name="Image 0" descr="/home/claude/assets/logo_crop.png"/>
          <p:cNvPicPr/>
          <p:nvPr/>
        </p:nvPicPr>
        <p:blipFill>
          <a:blip r:embed="rId3"/>
          <a:stretch/>
        </p:blipFill>
        <p:spPr>
          <a:xfrm>
            <a:off x="11201400" y="384120"/>
            <a:ext cx="456840" cy="511560"/>
          </a:xfrm>
          <a:prstGeom prst="rect">
            <a:avLst/>
          </a:prstGeom>
          <a:noFill/>
          <a:ln w="0">
            <a:noFill/>
          </a:ln>
        </p:spPr>
      </p:pic>
      <p:sp>
        <p:nvSpPr>
          <p:cNvPr id="164" name="Shape 2"/>
          <p:cNvSpPr/>
          <p:nvPr/>
        </p:nvSpPr>
        <p:spPr>
          <a:xfrm>
            <a:off x="548640" y="502920"/>
            <a:ext cx="566640" cy="566640"/>
          </a:xfrm>
          <a:prstGeom prst="roundRect">
            <a:avLst>
              <a:gd name="adj" fmla="val 19355"/>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65" name="Text 3"/>
          <p:cNvSpPr/>
          <p:nvPr/>
        </p:nvSpPr>
        <p:spPr>
          <a:xfrm>
            <a:off x="548640" y="50292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231F71"/>
                </a:solidFill>
                <a:effectLst/>
                <a:uFillTx/>
                <a:latin typeface="Bricolage Grotesque"/>
                <a:ea typeface="Bricolage Grotesque"/>
              </a:rPr>
              <a:t>◎</a:t>
            </a:r>
            <a:endParaRPr lang="en-US" sz="1800" b="0" u="none" strike="noStrike">
              <a:solidFill>
                <a:srgbClr val="000000"/>
              </a:solidFill>
              <a:effectLst/>
              <a:uFillTx/>
              <a:latin typeface="Arial"/>
            </a:endParaRPr>
          </a:p>
        </p:txBody>
      </p:sp>
      <p:sp>
        <p:nvSpPr>
          <p:cNvPr id="166" name="Text 4"/>
          <p:cNvSpPr/>
          <p:nvPr/>
        </p:nvSpPr>
        <p:spPr>
          <a:xfrm>
            <a:off x="1261800" y="5029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spc="99">
                <a:solidFill>
                  <a:srgbClr val="5755A7"/>
                </a:solidFill>
                <a:effectLst/>
                <a:uFillTx/>
                <a:latin typeface="Plus Jakarta Sans"/>
                <a:ea typeface="Plus Jakarta Sans"/>
              </a:rPr>
              <a:t>PART 1</a:t>
            </a:r>
            <a:endParaRPr lang="en-US" sz="900" b="0" u="none" strike="noStrike">
              <a:solidFill>
                <a:srgbClr val="000000"/>
              </a:solidFill>
              <a:effectLst/>
              <a:uFillTx/>
              <a:latin typeface="Arial"/>
            </a:endParaRPr>
          </a:p>
        </p:txBody>
      </p:sp>
      <p:sp>
        <p:nvSpPr>
          <p:cNvPr id="167" name="Text 5"/>
          <p:cNvSpPr/>
          <p:nvPr/>
        </p:nvSpPr>
        <p:spPr>
          <a:xfrm>
            <a:off x="1261800" y="77724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00" b="1" u="none" strike="noStrike">
                <a:solidFill>
                  <a:srgbClr val="1B1B20"/>
                </a:solidFill>
                <a:effectLst/>
                <a:uFillTx/>
                <a:latin typeface="Bricolage Grotesque"/>
                <a:ea typeface="Bricolage Grotesque"/>
              </a:rPr>
              <a:t>Practice Set — What Is Statistics?</a:t>
            </a:r>
            <a:endParaRPr lang="en-US" sz="2200" b="0" u="none" strike="noStrike">
              <a:solidFill>
                <a:srgbClr val="000000"/>
              </a:solidFill>
              <a:effectLst/>
              <a:uFillTx/>
              <a:latin typeface="Arial"/>
            </a:endParaRPr>
          </a:p>
        </p:txBody>
      </p:sp>
      <p:sp>
        <p:nvSpPr>
          <p:cNvPr id="168" name="Text 6"/>
          <p:cNvSpPr/>
          <p:nvPr/>
        </p:nvSpPr>
        <p:spPr>
          <a:xfrm>
            <a:off x="548640" y="1417320"/>
            <a:ext cx="10515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i="1" u="none" strike="noStrike">
                <a:solidFill>
                  <a:srgbClr val="474651"/>
                </a:solidFill>
                <a:effectLst/>
                <a:uFillTx/>
                <a:latin typeface="Hanken Grotesk"/>
                <a:ea typeface="Hanken Grotesk"/>
              </a:rPr>
              <a:t>Try these yourself first — pencil, paper or a quick Python cell.</a:t>
            </a:r>
            <a:endParaRPr lang="en-US" sz="1200" b="0" u="none" strike="noStrike">
              <a:solidFill>
                <a:srgbClr val="000000"/>
              </a:solidFill>
              <a:effectLst/>
              <a:uFillTx/>
              <a:latin typeface="Arial"/>
            </a:endParaRPr>
          </a:p>
        </p:txBody>
      </p:sp>
      <p:sp>
        <p:nvSpPr>
          <p:cNvPr id="169" name="Shape 7"/>
          <p:cNvSpPr/>
          <p:nvPr/>
        </p:nvSpPr>
        <p:spPr>
          <a:xfrm>
            <a:off x="548640" y="196596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0" name="Shape 8"/>
          <p:cNvSpPr/>
          <p:nvPr/>
        </p:nvSpPr>
        <p:spPr>
          <a:xfrm>
            <a:off x="731520" y="220356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1" name="Text 9"/>
          <p:cNvSpPr/>
          <p:nvPr/>
        </p:nvSpPr>
        <p:spPr>
          <a:xfrm>
            <a:off x="731520" y="220356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172" name="Text 10"/>
          <p:cNvSpPr/>
          <p:nvPr/>
        </p:nvSpPr>
        <p:spPr>
          <a:xfrm>
            <a:off x="1234440" y="196596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Name one real decision (personal, business, or public) that was likely made using statistics</a:t>
            </a:r>
            <a:endParaRPr lang="en-US" sz="1400" b="0" u="none" strike="noStrike">
              <a:solidFill>
                <a:srgbClr val="000000"/>
              </a:solidFill>
              <a:effectLst/>
              <a:uFillTx/>
              <a:latin typeface="Arial"/>
            </a:endParaRPr>
          </a:p>
        </p:txBody>
      </p:sp>
      <p:sp>
        <p:nvSpPr>
          <p:cNvPr id="173" name="Shape 11"/>
          <p:cNvSpPr/>
          <p:nvPr/>
        </p:nvSpPr>
        <p:spPr>
          <a:xfrm>
            <a:off x="548640" y="289872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4" name="Shape 12"/>
          <p:cNvSpPr/>
          <p:nvPr/>
        </p:nvSpPr>
        <p:spPr>
          <a:xfrm>
            <a:off x="731520" y="313632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5" name="Text 13"/>
          <p:cNvSpPr/>
          <p:nvPr/>
        </p:nvSpPr>
        <p:spPr>
          <a:xfrm>
            <a:off x="731520" y="313632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176" name="Text 14"/>
          <p:cNvSpPr/>
          <p:nvPr/>
        </p:nvSpPr>
        <p:spPr>
          <a:xfrm>
            <a:off x="1234440" y="289872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For a survey of 200 university students about study habits, identify the population and the sample</a:t>
            </a:r>
            <a:endParaRPr lang="en-US" sz="1400" b="0" u="none" strike="noStrike">
              <a:solidFill>
                <a:srgbClr val="000000"/>
              </a:solidFill>
              <a:effectLst/>
              <a:uFillTx/>
              <a:latin typeface="Arial"/>
            </a:endParaRPr>
          </a:p>
        </p:txBody>
      </p:sp>
      <p:sp>
        <p:nvSpPr>
          <p:cNvPr id="177" name="Shape 15"/>
          <p:cNvSpPr/>
          <p:nvPr/>
        </p:nvSpPr>
        <p:spPr>
          <a:xfrm>
            <a:off x="548640" y="383148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8" name="Shape 16"/>
          <p:cNvSpPr/>
          <p:nvPr/>
        </p:nvSpPr>
        <p:spPr>
          <a:xfrm>
            <a:off x="731520" y="406908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9" name="Text 17"/>
          <p:cNvSpPr/>
          <p:nvPr/>
        </p:nvSpPr>
        <p:spPr>
          <a:xfrm>
            <a:off x="731520" y="406908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180" name="Text 18"/>
          <p:cNvSpPr/>
          <p:nvPr/>
        </p:nvSpPr>
        <p:spPr>
          <a:xfrm>
            <a:off x="1234440" y="383148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Explain in your own words the difference between descriptive and inferential statistics, using your own example for each</a:t>
            </a:r>
            <a:endParaRPr lang="en-US" sz="1400" b="0" u="none" strike="noStrike">
              <a:solidFill>
                <a:srgbClr val="000000"/>
              </a:solidFill>
              <a:effectLst/>
              <a:uFillTx/>
              <a:latin typeface="Arial"/>
            </a:endParaRPr>
          </a:p>
        </p:txBody>
      </p:sp>
      <p:sp>
        <p:nvSpPr>
          <p:cNvPr id="181" name="Shape 19"/>
          <p:cNvSpPr/>
          <p:nvPr/>
        </p:nvSpPr>
        <p:spPr>
          <a:xfrm>
            <a:off x="548640" y="476388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2" name="Shape 20"/>
          <p:cNvSpPr/>
          <p:nvPr/>
        </p:nvSpPr>
        <p:spPr>
          <a:xfrm>
            <a:off x="731520" y="500184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3" name="Text 21"/>
          <p:cNvSpPr/>
          <p:nvPr/>
        </p:nvSpPr>
        <p:spPr>
          <a:xfrm>
            <a:off x="731520" y="500184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184" name="Text 22"/>
          <p:cNvSpPr/>
          <p:nvPr/>
        </p:nvSpPr>
        <p:spPr>
          <a:xfrm>
            <a:off x="1234440" y="476388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For "does fertilizer amount affect plant height," identify the independent and dependent variable, and explain your reasoning</a:t>
            </a:r>
            <a:endParaRPr lang="en-US" sz="14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0F17"/>
        </a:solidFill>
        <a:effectLst/>
      </p:bgPr>
    </p:bg>
    <p:spTree>
      <p:nvGrpSpPr>
        <p:cNvPr id="1" name=""/>
        <p:cNvGrpSpPr/>
        <p:nvPr/>
      </p:nvGrpSpPr>
      <p:grpSpPr>
        <a:xfrm>
          <a:off x="0" y="0"/>
          <a:ext cx="0" cy="0"/>
          <a:chOff x="0" y="0"/>
          <a:chExt cx="0" cy="0"/>
        </a:xfrm>
      </p:grpSpPr>
      <p:sp>
        <p:nvSpPr>
          <p:cNvPr id="185" name="Shape 0"/>
          <p:cNvSpPr/>
          <p:nvPr/>
        </p:nvSpPr>
        <p:spPr>
          <a:xfrm>
            <a:off x="9692640" y="-1463040"/>
            <a:ext cx="3840120" cy="3840120"/>
          </a:xfrm>
          <a:prstGeom prst="ellipse">
            <a:avLst/>
          </a:prstGeom>
          <a:solidFill>
            <a:srgbClr val="262758">
              <a:alpha val="55000"/>
            </a:srgbClr>
          </a:solidFill>
          <a:ln w="12700">
            <a:solidFill>
              <a:srgbClr val="262758">
                <a:alpha val="5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6" name="Shape 1"/>
          <p:cNvSpPr/>
          <p:nvPr/>
        </p:nvSpPr>
        <p:spPr>
          <a:xfrm>
            <a:off x="-1645920" y="4754880"/>
            <a:ext cx="3474360" cy="3474360"/>
          </a:xfrm>
          <a:prstGeom prst="ellipse">
            <a:avLst/>
          </a:prstGeom>
          <a:solidFill>
            <a:srgbClr val="11362E">
              <a:alpha val="45000"/>
            </a:srgbClr>
          </a:solidFill>
          <a:ln w="12700">
            <a:solidFill>
              <a:srgbClr val="11362E">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7" name="Text 2"/>
          <p:cNvSpPr/>
          <p:nvPr/>
        </p:nvSpPr>
        <p:spPr>
          <a:xfrm>
            <a:off x="640080" y="2194560"/>
            <a:ext cx="91436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spc="201">
                <a:solidFill>
                  <a:srgbClr val="2DD4BF"/>
                </a:solidFill>
                <a:effectLst/>
                <a:uFillTx/>
                <a:latin typeface="Plus Jakarta Sans"/>
                <a:ea typeface="Plus Jakarta Sans"/>
              </a:rPr>
              <a:t>PART 2</a:t>
            </a:r>
            <a:endParaRPr lang="en-US" sz="1400" b="0" u="none" strike="noStrike">
              <a:solidFill>
                <a:srgbClr val="FFFFFF"/>
              </a:solidFill>
              <a:effectLst/>
              <a:uFillTx/>
              <a:latin typeface="Arial"/>
            </a:endParaRPr>
          </a:p>
        </p:txBody>
      </p:sp>
      <p:sp>
        <p:nvSpPr>
          <p:cNvPr id="188" name="Text 3"/>
          <p:cNvSpPr/>
          <p:nvPr/>
        </p:nvSpPr>
        <p:spPr>
          <a:xfrm>
            <a:off x="640080" y="2697480"/>
            <a:ext cx="1033236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4000" b="1" u="none" strike="noStrike">
                <a:solidFill>
                  <a:srgbClr val="F1F5F9"/>
                </a:solidFill>
                <a:effectLst/>
                <a:uFillTx/>
                <a:latin typeface="Bricolage Grotesque"/>
                <a:ea typeface="Bricolage Grotesque"/>
              </a:rPr>
              <a:t>Collecting &amp; Measuring Data</a:t>
            </a:r>
            <a:endParaRPr lang="en-US" sz="4000" b="0" u="none" strike="noStrike">
              <a:solidFill>
                <a:srgbClr val="FFFFFF"/>
              </a:solidFill>
              <a:effectLst/>
              <a:uFillTx/>
              <a:latin typeface="Arial"/>
            </a:endParaRPr>
          </a:p>
        </p:txBody>
      </p:sp>
      <p:sp>
        <p:nvSpPr>
          <p:cNvPr id="189" name="Text 4"/>
          <p:cNvSpPr/>
          <p:nvPr/>
        </p:nvSpPr>
        <p:spPr>
          <a:xfrm>
            <a:off x="640080" y="4023360"/>
            <a:ext cx="969228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500" b="0" u="none" strike="noStrike">
                <a:solidFill>
                  <a:srgbClr val="94A3B8"/>
                </a:solidFill>
                <a:effectLst/>
                <a:uFillTx/>
                <a:latin typeface="Hanken Grotesk"/>
                <a:ea typeface="Hanken Grotesk"/>
              </a:rPr>
              <a:t>Where your data actually comes from, how it was sampled, and whether the way it was measured can even be trusted</a:t>
            </a:r>
            <a:endParaRPr lang="en-US" sz="1500" b="0" u="none" strike="noStrike">
              <a:solidFill>
                <a:srgbClr val="FFFFFF"/>
              </a:solidFill>
              <a:effectLst/>
              <a:uFillTx/>
              <a:latin typeface="Arial"/>
            </a:endParaRPr>
          </a:p>
        </p:txBody>
      </p:sp>
      <p:sp>
        <p:nvSpPr>
          <p:cNvPr id="190" name="Text 5"/>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94A3B8"/>
                </a:solidFill>
                <a:effectLst/>
                <a:uFillTx/>
                <a:latin typeface="Plus Jakarta Sans"/>
                <a:ea typeface="Plus Jakarta Sans"/>
              </a:rPr>
              <a:t>13</a:t>
            </a:r>
            <a:endParaRPr lang="en-US" sz="900" b="0" u="none" strike="noStrike">
              <a:solidFill>
                <a:srgbClr val="FFFFFF"/>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91"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92"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14</a:t>
            </a:r>
            <a:endParaRPr lang="en-US" sz="900" b="0" u="none" strike="noStrike">
              <a:solidFill>
                <a:srgbClr val="000000"/>
              </a:solidFill>
              <a:effectLst/>
              <a:uFillTx/>
              <a:latin typeface="Arial"/>
            </a:endParaRPr>
          </a:p>
        </p:txBody>
      </p:sp>
      <p:pic>
        <p:nvPicPr>
          <p:cNvPr id="193" name="Image 0" descr="/home/claude/assets/logo_crop.png"/>
          <p:cNvPicPr/>
          <p:nvPr/>
        </p:nvPicPr>
        <p:blipFill>
          <a:blip r:embed="rId3"/>
          <a:stretch/>
        </p:blipFill>
        <p:spPr>
          <a:xfrm>
            <a:off x="11201400" y="384120"/>
            <a:ext cx="456840" cy="511560"/>
          </a:xfrm>
          <a:prstGeom prst="rect">
            <a:avLst/>
          </a:prstGeom>
          <a:noFill/>
          <a:ln w="0">
            <a:noFill/>
          </a:ln>
        </p:spPr>
      </p:pic>
      <p:sp>
        <p:nvSpPr>
          <p:cNvPr id="194"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Primary vs. Secondary Data</a:t>
            </a:r>
            <a:endParaRPr lang="en-US" sz="2600" b="0" u="none" strike="noStrike">
              <a:solidFill>
                <a:srgbClr val="000000"/>
              </a:solidFill>
              <a:effectLst/>
              <a:uFillTx/>
              <a:latin typeface="Arial"/>
            </a:endParaRPr>
          </a:p>
        </p:txBody>
      </p:sp>
      <p:sp>
        <p:nvSpPr>
          <p:cNvPr id="195"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96"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7"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Δ</a:t>
            </a:r>
            <a:endParaRPr lang="en-US" sz="2800" b="0" u="none" strike="noStrike">
              <a:solidFill>
                <a:srgbClr val="000000"/>
              </a:solidFill>
              <a:effectLst/>
              <a:uFillTx/>
              <a:latin typeface="Arial"/>
            </a:endParaRPr>
          </a:p>
        </p:txBody>
      </p:sp>
      <p:sp>
        <p:nvSpPr>
          <p:cNvPr id="198"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Who collected it first</a:t>
            </a:r>
            <a:endParaRPr lang="en-US" sz="1700" b="0" u="none" strike="noStrike">
              <a:solidFill>
                <a:srgbClr val="000000"/>
              </a:solidFill>
              <a:effectLst/>
              <a:uFillTx/>
              <a:latin typeface="Arial"/>
            </a:endParaRPr>
          </a:p>
        </p:txBody>
      </p:sp>
      <p:sp>
        <p:nvSpPr>
          <p:cNvPr id="199"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Primary data is collected firsthand, specifically for your own purpose — your own survey, your own experiment, your own sensor readings</a:t>
            </a:r>
            <a:endParaRPr lang="en-US" sz="2000" b="0" u="none" strike="noStrike" dirty="0">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Secondary data was collected by someone else, for a different original purpose, and you’re reusing it — government census data, a public dataset, a previous study’s results</a:t>
            </a:r>
            <a:endParaRPr lang="en-US" sz="2000" b="0" u="none" strike="noStrike" dirty="0">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Primary data fits your exact question perfectly, but costs real time and money to collect. Secondary data is fast and often free, but may not perfectly match what you actually need</a:t>
            </a:r>
            <a:endParaRPr lang="en-US" sz="2000" b="0" u="none" strike="noStrike" dirty="0">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Most real-world data science work is a mix of both — recognizing which kind you’re holding shapes how much you should trust and reshape it</a:t>
            </a:r>
            <a:endParaRPr lang="en-US" sz="20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200"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201"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15</a:t>
            </a:r>
            <a:endParaRPr lang="en-US" sz="900" b="0" u="none" strike="noStrike">
              <a:solidFill>
                <a:srgbClr val="000000"/>
              </a:solidFill>
              <a:effectLst/>
              <a:uFillTx/>
              <a:latin typeface="Arial"/>
            </a:endParaRPr>
          </a:p>
        </p:txBody>
      </p:sp>
      <p:pic>
        <p:nvPicPr>
          <p:cNvPr id="202" name="Image 0" descr="/home/claude/assets/logo_crop.png"/>
          <p:cNvPicPr/>
          <p:nvPr/>
        </p:nvPicPr>
        <p:blipFill>
          <a:blip r:embed="rId3"/>
          <a:stretch/>
        </p:blipFill>
        <p:spPr>
          <a:xfrm>
            <a:off x="11201400" y="384120"/>
            <a:ext cx="456840" cy="511560"/>
          </a:xfrm>
          <a:prstGeom prst="rect">
            <a:avLst/>
          </a:prstGeom>
          <a:noFill/>
          <a:ln w="0">
            <a:noFill/>
          </a:ln>
        </p:spPr>
      </p:pic>
      <p:sp>
        <p:nvSpPr>
          <p:cNvPr id="203"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Sampling Types &amp; Techniques</a:t>
            </a:r>
            <a:endParaRPr lang="en-US" sz="2600" b="0" u="none" strike="noStrike">
              <a:solidFill>
                <a:srgbClr val="000000"/>
              </a:solidFill>
              <a:effectLst/>
              <a:uFillTx/>
              <a:latin typeface="Arial"/>
            </a:endParaRPr>
          </a:p>
        </p:txBody>
      </p:sp>
      <p:sp>
        <p:nvSpPr>
          <p:cNvPr id="204"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05"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6"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a:t>
            </a:r>
            <a:endParaRPr lang="en-US" sz="2800" b="0" u="none" strike="noStrike">
              <a:solidFill>
                <a:srgbClr val="000000"/>
              </a:solidFill>
              <a:effectLst/>
              <a:uFillTx/>
              <a:latin typeface="Arial"/>
            </a:endParaRPr>
          </a:p>
        </p:txBody>
      </p:sp>
      <p:sp>
        <p:nvSpPr>
          <p:cNvPr id="207"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How you pick the slice</a:t>
            </a:r>
            <a:endParaRPr lang="en-US" sz="1700" b="0" u="none" strike="noStrike">
              <a:solidFill>
                <a:srgbClr val="000000"/>
              </a:solidFill>
              <a:effectLst/>
              <a:uFillTx/>
              <a:latin typeface="Arial"/>
            </a:endParaRPr>
          </a:p>
        </p:txBody>
      </p:sp>
      <p:sp>
        <p:nvSpPr>
          <p:cNvPr id="208"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How a sample is chosen directly determines whether it can honestly represent the population it came from</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Probability sampling gives every member of the population a known chance of being selected — this is what makes inferential statistics (Sessions 21–22) mathematically valid at all</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Non-probability sampling doesn’t guarantee that — it’s often faster and cheaper, but carries a real risk of a biased, unrepresentative sample</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The next slide walks through the specific techniques inside each category</a:t>
            </a:r>
            <a:endParaRPr lang="en-US" sz="20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209"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210"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16</a:t>
            </a:r>
            <a:endParaRPr lang="en-US" sz="900" b="0" u="none" strike="noStrike">
              <a:solidFill>
                <a:srgbClr val="000000"/>
              </a:solidFill>
              <a:effectLst/>
              <a:uFillTx/>
              <a:latin typeface="Arial"/>
            </a:endParaRPr>
          </a:p>
        </p:txBody>
      </p:sp>
      <p:pic>
        <p:nvPicPr>
          <p:cNvPr id="211" name="Image 0" descr="/home/claude/assets/logo_crop.png"/>
          <p:cNvPicPr/>
          <p:nvPr/>
        </p:nvPicPr>
        <p:blipFill>
          <a:blip r:embed="rId3"/>
          <a:stretch/>
        </p:blipFill>
        <p:spPr>
          <a:xfrm>
            <a:off x="11201400" y="384120"/>
            <a:ext cx="456840" cy="511560"/>
          </a:xfrm>
          <a:prstGeom prst="rect">
            <a:avLst/>
          </a:prstGeom>
          <a:noFill/>
          <a:ln w="0">
            <a:noFill/>
          </a:ln>
        </p:spPr>
      </p:pic>
      <p:sp>
        <p:nvSpPr>
          <p:cNvPr id="212"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Common Sampling Techniques</a:t>
            </a:r>
            <a:endParaRPr lang="en-US" sz="2600" b="0" u="none" strike="noStrike">
              <a:solidFill>
                <a:srgbClr val="000000"/>
              </a:solidFill>
              <a:effectLst/>
              <a:uFillTx/>
              <a:latin typeface="Arial"/>
            </a:endParaRPr>
          </a:p>
        </p:txBody>
      </p:sp>
      <p:sp>
        <p:nvSpPr>
          <p:cNvPr id="213" name="Shape 3"/>
          <p:cNvSpPr/>
          <p:nvPr/>
        </p:nvSpPr>
        <p:spPr>
          <a:xfrm>
            <a:off x="54864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4" name="Shape 4"/>
          <p:cNvSpPr/>
          <p:nvPr/>
        </p:nvSpPr>
        <p:spPr>
          <a:xfrm>
            <a:off x="1604880" y="1920240"/>
            <a:ext cx="493560" cy="493560"/>
          </a:xfrm>
          <a:prstGeom prst="roundRect">
            <a:avLst>
              <a:gd name="adj" fmla="val 18519"/>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15" name="Text 5"/>
          <p:cNvSpPr/>
          <p:nvPr/>
        </p:nvSpPr>
        <p:spPr>
          <a:xfrm>
            <a:off x="160488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Bricolage Grotesque"/>
                <a:ea typeface="Bricolage Grotesque"/>
              </a:rPr>
              <a:t>1</a:t>
            </a:r>
            <a:endParaRPr lang="en-US" sz="1600" b="0" u="none" strike="noStrike">
              <a:solidFill>
                <a:srgbClr val="000000"/>
              </a:solidFill>
              <a:effectLst/>
              <a:uFillTx/>
              <a:latin typeface="Arial"/>
            </a:endParaRPr>
          </a:p>
        </p:txBody>
      </p:sp>
      <p:sp>
        <p:nvSpPr>
          <p:cNvPr id="216" name="Shape 6"/>
          <p:cNvSpPr/>
          <p:nvPr/>
        </p:nvSpPr>
        <p:spPr>
          <a:xfrm>
            <a:off x="731520" y="2606040"/>
            <a:ext cx="2239920" cy="456840"/>
          </a:xfrm>
          <a:prstGeom prst="roundRect">
            <a:avLst>
              <a:gd name="adj" fmla="val 5000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17" name="Text 7"/>
          <p:cNvSpPr/>
          <p:nvPr/>
        </p:nvSpPr>
        <p:spPr>
          <a:xfrm>
            <a:off x="73152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Plus Jakarta Sans"/>
                <a:ea typeface="Plus Jakarta Sans"/>
              </a:rPr>
              <a:t>Simple Random</a:t>
            </a:r>
            <a:endParaRPr lang="en-US" sz="1400" b="0" u="none" strike="noStrike">
              <a:solidFill>
                <a:srgbClr val="000000"/>
              </a:solidFill>
              <a:effectLst/>
              <a:uFillTx/>
              <a:latin typeface="Arial"/>
            </a:endParaRPr>
          </a:p>
        </p:txBody>
      </p:sp>
      <p:sp>
        <p:nvSpPr>
          <p:cNvPr id="218" name="Text 8"/>
          <p:cNvSpPr/>
          <p:nvPr/>
        </p:nvSpPr>
        <p:spPr>
          <a:xfrm>
            <a:off x="77724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Every member has an exactly equal chance of selection — like drawing names from a hat</a:t>
            </a:r>
            <a:endParaRPr lang="en-US" sz="1300" b="0" u="none" strike="noStrike">
              <a:solidFill>
                <a:srgbClr val="000000"/>
              </a:solidFill>
              <a:effectLst/>
              <a:uFillTx/>
              <a:latin typeface="Arial"/>
            </a:endParaRPr>
          </a:p>
        </p:txBody>
      </p:sp>
      <p:sp>
        <p:nvSpPr>
          <p:cNvPr id="219" name="Shape 9"/>
          <p:cNvSpPr/>
          <p:nvPr/>
        </p:nvSpPr>
        <p:spPr>
          <a:xfrm>
            <a:off x="338328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0" name="Shape 10"/>
          <p:cNvSpPr/>
          <p:nvPr/>
        </p:nvSpPr>
        <p:spPr>
          <a:xfrm>
            <a:off x="4439520" y="1920240"/>
            <a:ext cx="493560" cy="493560"/>
          </a:xfrm>
          <a:prstGeom prst="roundRect">
            <a:avLst>
              <a:gd name="adj" fmla="val 18519"/>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1" name="Text 11"/>
          <p:cNvSpPr/>
          <p:nvPr/>
        </p:nvSpPr>
        <p:spPr>
          <a:xfrm>
            <a:off x="443952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002019"/>
                </a:solidFill>
                <a:effectLst/>
                <a:uFillTx/>
                <a:latin typeface="Bricolage Grotesque"/>
                <a:ea typeface="Bricolage Grotesque"/>
              </a:rPr>
              <a:t>2</a:t>
            </a:r>
            <a:endParaRPr lang="en-US" sz="1600" b="0" u="none" strike="noStrike">
              <a:solidFill>
                <a:srgbClr val="000000"/>
              </a:solidFill>
              <a:effectLst/>
              <a:uFillTx/>
              <a:latin typeface="Arial"/>
            </a:endParaRPr>
          </a:p>
        </p:txBody>
      </p:sp>
      <p:sp>
        <p:nvSpPr>
          <p:cNvPr id="222" name="Shape 12"/>
          <p:cNvSpPr/>
          <p:nvPr/>
        </p:nvSpPr>
        <p:spPr>
          <a:xfrm>
            <a:off x="3566160" y="2606040"/>
            <a:ext cx="2239920" cy="456840"/>
          </a:xfrm>
          <a:prstGeom prst="roundRect">
            <a:avLst>
              <a:gd name="adj" fmla="val 50000"/>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3" name="Text 13"/>
          <p:cNvSpPr/>
          <p:nvPr/>
        </p:nvSpPr>
        <p:spPr>
          <a:xfrm>
            <a:off x="356616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Stratified</a:t>
            </a:r>
            <a:endParaRPr lang="en-US" sz="1400" b="0" u="none" strike="noStrike">
              <a:solidFill>
                <a:srgbClr val="000000"/>
              </a:solidFill>
              <a:effectLst/>
              <a:uFillTx/>
              <a:latin typeface="Arial"/>
            </a:endParaRPr>
          </a:p>
        </p:txBody>
      </p:sp>
      <p:sp>
        <p:nvSpPr>
          <p:cNvPr id="224" name="Text 14"/>
          <p:cNvSpPr/>
          <p:nvPr/>
        </p:nvSpPr>
        <p:spPr>
          <a:xfrm>
            <a:off x="361188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The population is split into meaningful subgroups first, then randomly sampled within each</a:t>
            </a:r>
            <a:endParaRPr lang="en-US" sz="1300" b="0" u="none" strike="noStrike">
              <a:solidFill>
                <a:srgbClr val="000000"/>
              </a:solidFill>
              <a:effectLst/>
              <a:uFillTx/>
              <a:latin typeface="Arial"/>
            </a:endParaRPr>
          </a:p>
        </p:txBody>
      </p:sp>
      <p:sp>
        <p:nvSpPr>
          <p:cNvPr id="225" name="Shape 15"/>
          <p:cNvSpPr/>
          <p:nvPr/>
        </p:nvSpPr>
        <p:spPr>
          <a:xfrm>
            <a:off x="621792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6" name="Shape 16"/>
          <p:cNvSpPr/>
          <p:nvPr/>
        </p:nvSpPr>
        <p:spPr>
          <a:xfrm>
            <a:off x="7274160" y="1920240"/>
            <a:ext cx="493560" cy="493560"/>
          </a:xfrm>
          <a:prstGeom prst="roundRect">
            <a:avLst>
              <a:gd name="adj" fmla="val 18519"/>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7" name="Text 17"/>
          <p:cNvSpPr/>
          <p:nvPr/>
        </p:nvSpPr>
        <p:spPr>
          <a:xfrm>
            <a:off x="727416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4C112D"/>
                </a:solidFill>
                <a:effectLst/>
                <a:uFillTx/>
                <a:latin typeface="Bricolage Grotesque"/>
                <a:ea typeface="Bricolage Grotesque"/>
              </a:rPr>
              <a:t>3</a:t>
            </a:r>
            <a:endParaRPr lang="en-US" sz="1600" b="0" u="none" strike="noStrike">
              <a:solidFill>
                <a:srgbClr val="000000"/>
              </a:solidFill>
              <a:effectLst/>
              <a:uFillTx/>
              <a:latin typeface="Arial"/>
            </a:endParaRPr>
          </a:p>
        </p:txBody>
      </p:sp>
      <p:sp>
        <p:nvSpPr>
          <p:cNvPr id="228" name="Shape 18"/>
          <p:cNvSpPr/>
          <p:nvPr/>
        </p:nvSpPr>
        <p:spPr>
          <a:xfrm>
            <a:off x="6400800" y="2606040"/>
            <a:ext cx="2239920" cy="456840"/>
          </a:xfrm>
          <a:prstGeom prst="roundRect">
            <a:avLst>
              <a:gd name="adj" fmla="val 50000"/>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9" name="Text 19"/>
          <p:cNvSpPr/>
          <p:nvPr/>
        </p:nvSpPr>
        <p:spPr>
          <a:xfrm>
            <a:off x="640080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4C112D"/>
                </a:solidFill>
                <a:effectLst/>
                <a:uFillTx/>
                <a:latin typeface="Plus Jakarta Sans"/>
                <a:ea typeface="Plus Jakarta Sans"/>
              </a:rPr>
              <a:t>Cluster</a:t>
            </a:r>
            <a:endParaRPr lang="en-US" sz="1400" b="0" u="none" strike="noStrike">
              <a:solidFill>
                <a:srgbClr val="000000"/>
              </a:solidFill>
              <a:effectLst/>
              <a:uFillTx/>
              <a:latin typeface="Arial"/>
            </a:endParaRPr>
          </a:p>
        </p:txBody>
      </p:sp>
      <p:sp>
        <p:nvSpPr>
          <p:cNvPr id="230" name="Text 20"/>
          <p:cNvSpPr/>
          <p:nvPr/>
        </p:nvSpPr>
        <p:spPr>
          <a:xfrm>
            <a:off x="644652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The population is split into naturally occurring groups (e.g. schools), and whole groups are randomly selected</a:t>
            </a:r>
            <a:endParaRPr lang="en-US" sz="1300" b="0" u="none" strike="noStrike">
              <a:solidFill>
                <a:srgbClr val="000000"/>
              </a:solidFill>
              <a:effectLst/>
              <a:uFillTx/>
              <a:latin typeface="Arial"/>
            </a:endParaRPr>
          </a:p>
        </p:txBody>
      </p:sp>
      <p:sp>
        <p:nvSpPr>
          <p:cNvPr id="231" name="Shape 21"/>
          <p:cNvSpPr/>
          <p:nvPr/>
        </p:nvSpPr>
        <p:spPr>
          <a:xfrm>
            <a:off x="905256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2" name="Shape 22"/>
          <p:cNvSpPr/>
          <p:nvPr/>
        </p:nvSpPr>
        <p:spPr>
          <a:xfrm>
            <a:off x="10108800" y="1920240"/>
            <a:ext cx="493560" cy="493560"/>
          </a:xfrm>
          <a:prstGeom prst="roundRect">
            <a:avLst>
              <a:gd name="adj" fmla="val 18519"/>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3" name="Text 23"/>
          <p:cNvSpPr/>
          <p:nvPr/>
        </p:nvSpPr>
        <p:spPr>
          <a:xfrm>
            <a:off x="1010880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002019"/>
                </a:solidFill>
                <a:effectLst/>
                <a:uFillTx/>
                <a:latin typeface="Bricolage Grotesque"/>
                <a:ea typeface="Bricolage Grotesque"/>
              </a:rPr>
              <a:t>4</a:t>
            </a:r>
            <a:endParaRPr lang="en-US" sz="1600" b="0" u="none" strike="noStrike">
              <a:solidFill>
                <a:srgbClr val="000000"/>
              </a:solidFill>
              <a:effectLst/>
              <a:uFillTx/>
              <a:latin typeface="Arial"/>
            </a:endParaRPr>
          </a:p>
        </p:txBody>
      </p:sp>
      <p:sp>
        <p:nvSpPr>
          <p:cNvPr id="234" name="Shape 24"/>
          <p:cNvSpPr/>
          <p:nvPr/>
        </p:nvSpPr>
        <p:spPr>
          <a:xfrm>
            <a:off x="9235440" y="2606040"/>
            <a:ext cx="2239920" cy="456840"/>
          </a:xfrm>
          <a:prstGeom prst="roundRect">
            <a:avLst>
              <a:gd name="adj" fmla="val 50000"/>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5" name="Text 25"/>
          <p:cNvSpPr/>
          <p:nvPr/>
        </p:nvSpPr>
        <p:spPr>
          <a:xfrm>
            <a:off x="923544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Convenience</a:t>
            </a:r>
            <a:endParaRPr lang="en-US" sz="1400" b="0" u="none" strike="noStrike">
              <a:solidFill>
                <a:srgbClr val="000000"/>
              </a:solidFill>
              <a:effectLst/>
              <a:uFillTx/>
              <a:latin typeface="Arial"/>
            </a:endParaRPr>
          </a:p>
        </p:txBody>
      </p:sp>
      <p:sp>
        <p:nvSpPr>
          <p:cNvPr id="236" name="Text 26"/>
          <p:cNvSpPr/>
          <p:nvPr/>
        </p:nvSpPr>
        <p:spPr>
          <a:xfrm>
            <a:off x="928116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Whoever is easiest to reach is sampled — fast, but carries the highest risk of an unrepresentative sample</a:t>
            </a:r>
            <a:endParaRPr lang="en-US" sz="13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237"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238"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17</a:t>
            </a:r>
            <a:endParaRPr lang="en-US" sz="900" b="0" u="none" strike="noStrike">
              <a:solidFill>
                <a:srgbClr val="000000"/>
              </a:solidFill>
              <a:effectLst/>
              <a:uFillTx/>
              <a:latin typeface="Arial"/>
            </a:endParaRPr>
          </a:p>
        </p:txBody>
      </p:sp>
      <p:pic>
        <p:nvPicPr>
          <p:cNvPr id="239" name="Image 0" descr="/home/claude/assets/logo_crop.png"/>
          <p:cNvPicPr/>
          <p:nvPr/>
        </p:nvPicPr>
        <p:blipFill>
          <a:blip r:embed="rId3"/>
          <a:stretch/>
        </p:blipFill>
        <p:spPr>
          <a:xfrm>
            <a:off x="11201400" y="384120"/>
            <a:ext cx="456840" cy="511560"/>
          </a:xfrm>
          <a:prstGeom prst="rect">
            <a:avLst/>
          </a:prstGeom>
          <a:noFill/>
          <a:ln w="0">
            <a:noFill/>
          </a:ln>
        </p:spPr>
      </p:pic>
      <p:sp>
        <p:nvSpPr>
          <p:cNvPr id="240"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More Sampling Techniques</a:t>
            </a:r>
            <a:endParaRPr lang="en-US" sz="2600" b="0" u="none" strike="noStrike">
              <a:solidFill>
                <a:srgbClr val="000000"/>
              </a:solidFill>
              <a:effectLst/>
              <a:uFillTx/>
              <a:latin typeface="Arial"/>
            </a:endParaRPr>
          </a:p>
        </p:txBody>
      </p:sp>
      <p:sp>
        <p:nvSpPr>
          <p:cNvPr id="241" name="Shape 3"/>
          <p:cNvSpPr/>
          <p:nvPr/>
        </p:nvSpPr>
        <p:spPr>
          <a:xfrm>
            <a:off x="548640" y="1737360"/>
            <a:ext cx="3550680" cy="4023000"/>
          </a:xfrm>
          <a:prstGeom prst="roundRect">
            <a:avLst>
              <a:gd name="adj" fmla="val 2060"/>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2" name="Shape 4"/>
          <p:cNvSpPr/>
          <p:nvPr/>
        </p:nvSpPr>
        <p:spPr>
          <a:xfrm>
            <a:off x="2077200" y="1920240"/>
            <a:ext cx="493560" cy="493560"/>
          </a:xfrm>
          <a:prstGeom prst="roundRect">
            <a:avLst>
              <a:gd name="adj" fmla="val 18519"/>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43" name="Text 5"/>
          <p:cNvSpPr/>
          <p:nvPr/>
        </p:nvSpPr>
        <p:spPr>
          <a:xfrm>
            <a:off x="207720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Bricolage Grotesque"/>
                <a:ea typeface="Bricolage Grotesque"/>
              </a:rPr>
              <a:t>1</a:t>
            </a:r>
            <a:endParaRPr lang="en-US" sz="1600" b="0" u="none" strike="noStrike">
              <a:solidFill>
                <a:srgbClr val="000000"/>
              </a:solidFill>
              <a:effectLst/>
              <a:uFillTx/>
              <a:latin typeface="Arial"/>
            </a:endParaRPr>
          </a:p>
        </p:txBody>
      </p:sp>
      <p:sp>
        <p:nvSpPr>
          <p:cNvPr id="244" name="Shape 6"/>
          <p:cNvSpPr/>
          <p:nvPr/>
        </p:nvSpPr>
        <p:spPr>
          <a:xfrm>
            <a:off x="731520" y="2606040"/>
            <a:ext cx="3184920" cy="456840"/>
          </a:xfrm>
          <a:prstGeom prst="roundRect">
            <a:avLst>
              <a:gd name="adj" fmla="val 5000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45" name="Text 7"/>
          <p:cNvSpPr/>
          <p:nvPr/>
        </p:nvSpPr>
        <p:spPr>
          <a:xfrm>
            <a:off x="731520" y="2606040"/>
            <a:ext cx="3184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Plus Jakarta Sans"/>
                <a:ea typeface="Plus Jakarta Sans"/>
              </a:rPr>
              <a:t>Systematic</a:t>
            </a:r>
            <a:endParaRPr lang="en-US" sz="1400" b="0" u="none" strike="noStrike">
              <a:solidFill>
                <a:srgbClr val="000000"/>
              </a:solidFill>
              <a:effectLst/>
              <a:uFillTx/>
              <a:latin typeface="Arial"/>
            </a:endParaRPr>
          </a:p>
        </p:txBody>
      </p:sp>
      <p:sp>
        <p:nvSpPr>
          <p:cNvPr id="246" name="Text 8"/>
          <p:cNvSpPr/>
          <p:nvPr/>
        </p:nvSpPr>
        <p:spPr>
          <a:xfrm>
            <a:off x="777240" y="3291840"/>
            <a:ext cx="3093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Select every k-th member from a list (e.g. every 10th name) after a random starting point — probability-based</a:t>
            </a:r>
            <a:endParaRPr lang="en-US" sz="1400" b="0" u="none" strike="noStrike">
              <a:solidFill>
                <a:srgbClr val="000000"/>
              </a:solidFill>
              <a:effectLst/>
              <a:uFillTx/>
              <a:latin typeface="Arial"/>
            </a:endParaRPr>
          </a:p>
        </p:txBody>
      </p:sp>
      <p:sp>
        <p:nvSpPr>
          <p:cNvPr id="247" name="Shape 9"/>
          <p:cNvSpPr/>
          <p:nvPr/>
        </p:nvSpPr>
        <p:spPr>
          <a:xfrm>
            <a:off x="4328280" y="1737360"/>
            <a:ext cx="3550680" cy="4023000"/>
          </a:xfrm>
          <a:prstGeom prst="roundRect">
            <a:avLst>
              <a:gd name="adj" fmla="val 2060"/>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8" name="Shape 10"/>
          <p:cNvSpPr/>
          <p:nvPr/>
        </p:nvSpPr>
        <p:spPr>
          <a:xfrm>
            <a:off x="5856840" y="1920240"/>
            <a:ext cx="493560" cy="493560"/>
          </a:xfrm>
          <a:prstGeom prst="roundRect">
            <a:avLst>
              <a:gd name="adj" fmla="val 18519"/>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9" name="Text 11"/>
          <p:cNvSpPr/>
          <p:nvPr/>
        </p:nvSpPr>
        <p:spPr>
          <a:xfrm>
            <a:off x="585684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002019"/>
                </a:solidFill>
                <a:effectLst/>
                <a:uFillTx/>
                <a:latin typeface="Bricolage Grotesque"/>
                <a:ea typeface="Bricolage Grotesque"/>
              </a:rPr>
              <a:t>2</a:t>
            </a:r>
            <a:endParaRPr lang="en-US" sz="1600" b="0" u="none" strike="noStrike">
              <a:solidFill>
                <a:srgbClr val="000000"/>
              </a:solidFill>
              <a:effectLst/>
              <a:uFillTx/>
              <a:latin typeface="Arial"/>
            </a:endParaRPr>
          </a:p>
        </p:txBody>
      </p:sp>
      <p:sp>
        <p:nvSpPr>
          <p:cNvPr id="250" name="Shape 12"/>
          <p:cNvSpPr/>
          <p:nvPr/>
        </p:nvSpPr>
        <p:spPr>
          <a:xfrm>
            <a:off x="4511160" y="2606040"/>
            <a:ext cx="3184920" cy="456840"/>
          </a:xfrm>
          <a:prstGeom prst="roundRect">
            <a:avLst>
              <a:gd name="adj" fmla="val 50000"/>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1" name="Text 13"/>
          <p:cNvSpPr/>
          <p:nvPr/>
        </p:nvSpPr>
        <p:spPr>
          <a:xfrm>
            <a:off x="4511160" y="2606040"/>
            <a:ext cx="3184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Snowball</a:t>
            </a:r>
            <a:endParaRPr lang="en-US" sz="1400" b="0" u="none" strike="noStrike">
              <a:solidFill>
                <a:srgbClr val="000000"/>
              </a:solidFill>
              <a:effectLst/>
              <a:uFillTx/>
              <a:latin typeface="Arial"/>
            </a:endParaRPr>
          </a:p>
        </p:txBody>
      </p:sp>
      <p:sp>
        <p:nvSpPr>
          <p:cNvPr id="252" name="Text 14"/>
          <p:cNvSpPr/>
          <p:nvPr/>
        </p:nvSpPr>
        <p:spPr>
          <a:xfrm>
            <a:off x="4556880" y="3291840"/>
            <a:ext cx="3093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Existing participants refer other participants — useful for hard-to-reach populations, but non-random</a:t>
            </a:r>
            <a:endParaRPr lang="en-US" sz="1400" b="0" u="none" strike="noStrike">
              <a:solidFill>
                <a:srgbClr val="000000"/>
              </a:solidFill>
              <a:effectLst/>
              <a:uFillTx/>
              <a:latin typeface="Arial"/>
            </a:endParaRPr>
          </a:p>
        </p:txBody>
      </p:sp>
      <p:sp>
        <p:nvSpPr>
          <p:cNvPr id="253" name="Shape 15"/>
          <p:cNvSpPr/>
          <p:nvPr/>
        </p:nvSpPr>
        <p:spPr>
          <a:xfrm>
            <a:off x="8107560" y="1737360"/>
            <a:ext cx="3550680" cy="4023000"/>
          </a:xfrm>
          <a:prstGeom prst="roundRect">
            <a:avLst>
              <a:gd name="adj" fmla="val 2060"/>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4" name="Shape 16"/>
          <p:cNvSpPr/>
          <p:nvPr/>
        </p:nvSpPr>
        <p:spPr>
          <a:xfrm>
            <a:off x="9636120" y="1920240"/>
            <a:ext cx="493560" cy="493560"/>
          </a:xfrm>
          <a:prstGeom prst="roundRect">
            <a:avLst>
              <a:gd name="adj" fmla="val 18519"/>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5" name="Text 17"/>
          <p:cNvSpPr/>
          <p:nvPr/>
        </p:nvSpPr>
        <p:spPr>
          <a:xfrm>
            <a:off x="963612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4C112D"/>
                </a:solidFill>
                <a:effectLst/>
                <a:uFillTx/>
                <a:latin typeface="Bricolage Grotesque"/>
                <a:ea typeface="Bricolage Grotesque"/>
              </a:rPr>
              <a:t>3</a:t>
            </a:r>
            <a:endParaRPr lang="en-US" sz="1600" b="0" u="none" strike="noStrike">
              <a:solidFill>
                <a:srgbClr val="000000"/>
              </a:solidFill>
              <a:effectLst/>
              <a:uFillTx/>
              <a:latin typeface="Arial"/>
            </a:endParaRPr>
          </a:p>
        </p:txBody>
      </p:sp>
      <p:sp>
        <p:nvSpPr>
          <p:cNvPr id="256" name="Shape 18"/>
          <p:cNvSpPr/>
          <p:nvPr/>
        </p:nvSpPr>
        <p:spPr>
          <a:xfrm>
            <a:off x="8290440" y="2606040"/>
            <a:ext cx="3184920" cy="456840"/>
          </a:xfrm>
          <a:prstGeom prst="roundRect">
            <a:avLst>
              <a:gd name="adj" fmla="val 50000"/>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7" name="Text 19"/>
          <p:cNvSpPr/>
          <p:nvPr/>
        </p:nvSpPr>
        <p:spPr>
          <a:xfrm>
            <a:off x="8290440" y="2606040"/>
            <a:ext cx="3184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4C112D"/>
                </a:solidFill>
                <a:effectLst/>
                <a:uFillTx/>
                <a:latin typeface="Plus Jakarta Sans"/>
                <a:ea typeface="Plus Jakarta Sans"/>
              </a:rPr>
              <a:t>Quota</a:t>
            </a:r>
            <a:endParaRPr lang="en-US" sz="1400" b="0" u="none" strike="noStrike">
              <a:solidFill>
                <a:srgbClr val="000000"/>
              </a:solidFill>
              <a:effectLst/>
              <a:uFillTx/>
              <a:latin typeface="Arial"/>
            </a:endParaRPr>
          </a:p>
        </p:txBody>
      </p:sp>
      <p:sp>
        <p:nvSpPr>
          <p:cNvPr id="258" name="Text 20"/>
          <p:cNvSpPr/>
          <p:nvPr/>
        </p:nvSpPr>
        <p:spPr>
          <a:xfrm>
            <a:off x="8336160" y="3291840"/>
            <a:ext cx="3093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A fixed number is sampled from each subgroup, like stratified — but selection within each group isn’t random</a:t>
            </a:r>
            <a:endParaRPr lang="en-US" sz="14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259"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260"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18</a:t>
            </a:r>
            <a:endParaRPr lang="en-US" sz="900" b="0" u="none" strike="noStrike">
              <a:solidFill>
                <a:srgbClr val="000000"/>
              </a:solidFill>
              <a:effectLst/>
              <a:uFillTx/>
              <a:latin typeface="Arial"/>
            </a:endParaRPr>
          </a:p>
        </p:txBody>
      </p:sp>
      <p:pic>
        <p:nvPicPr>
          <p:cNvPr id="261" name="Image 0" descr="/home/claude/assets/logo_crop.png"/>
          <p:cNvPicPr/>
          <p:nvPr/>
        </p:nvPicPr>
        <p:blipFill>
          <a:blip r:embed="rId3"/>
          <a:stretch/>
        </p:blipFill>
        <p:spPr>
          <a:xfrm>
            <a:off x="11201400" y="384120"/>
            <a:ext cx="456840" cy="511560"/>
          </a:xfrm>
          <a:prstGeom prst="rect">
            <a:avLst/>
          </a:prstGeom>
          <a:noFill/>
          <a:ln w="0">
            <a:noFill/>
          </a:ln>
        </p:spPr>
      </p:pic>
      <p:sp>
        <p:nvSpPr>
          <p:cNvPr id="262"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Hybrid Sampling in Practice</a:t>
            </a:r>
            <a:endParaRPr lang="en-US" sz="2600" b="0" u="none" strike="noStrike">
              <a:solidFill>
                <a:srgbClr val="000000"/>
              </a:solidFill>
              <a:effectLst/>
              <a:uFillTx/>
              <a:latin typeface="Arial"/>
            </a:endParaRPr>
          </a:p>
        </p:txBody>
      </p:sp>
      <p:sp>
        <p:nvSpPr>
          <p:cNvPr id="263"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64"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65"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a:t>
            </a:r>
            <a:endParaRPr lang="en-US" sz="2800" b="0" u="none" strike="noStrike">
              <a:solidFill>
                <a:srgbClr val="000000"/>
              </a:solidFill>
              <a:effectLst/>
              <a:uFillTx/>
              <a:latin typeface="Arial"/>
            </a:endParaRPr>
          </a:p>
        </p:txBody>
      </p:sp>
      <p:sp>
        <p:nvSpPr>
          <p:cNvPr id="266"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Mixing methods, honestly</a:t>
            </a:r>
            <a:endParaRPr lang="en-US" sz="1700" b="0" u="none" strike="noStrike">
              <a:solidFill>
                <a:srgbClr val="000000"/>
              </a:solidFill>
              <a:effectLst/>
              <a:uFillTx/>
              <a:latin typeface="Arial"/>
            </a:endParaRPr>
          </a:p>
        </p:txBody>
      </p:sp>
      <p:sp>
        <p:nvSpPr>
          <p:cNvPr id="267"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Real research often combines techniques rather than picking just one — for example, stratifying a national population by region, then using convenience sampling at accessible locations within each region</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This is completely legitimate — it balances practicality against representativeness far better than pure convenience sampling alone</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The key obligation is transparency: a hybrid approach should be reported exactly as it was done, so readers can judge for themselves how representative the sample really is</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Hiding a convenience step inside what looks like a fully random design is exactly how a study quietly inherits selection bias without anyone noticing</a:t>
            </a:r>
            <a:endParaRPr lang="en-US" sz="20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268"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269"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19</a:t>
            </a:r>
            <a:endParaRPr lang="en-US" sz="900" b="0" u="none" strike="noStrike">
              <a:solidFill>
                <a:srgbClr val="000000"/>
              </a:solidFill>
              <a:effectLst/>
              <a:uFillTx/>
              <a:latin typeface="Arial"/>
            </a:endParaRPr>
          </a:p>
        </p:txBody>
      </p:sp>
      <p:pic>
        <p:nvPicPr>
          <p:cNvPr id="270" name="Image 0" descr="/home/claude/assets/logo_crop.png"/>
          <p:cNvPicPr/>
          <p:nvPr/>
        </p:nvPicPr>
        <p:blipFill>
          <a:blip r:embed="rId3"/>
          <a:stretch/>
        </p:blipFill>
        <p:spPr>
          <a:xfrm>
            <a:off x="11201400" y="384120"/>
            <a:ext cx="456840" cy="511560"/>
          </a:xfrm>
          <a:prstGeom prst="rect">
            <a:avLst/>
          </a:prstGeom>
          <a:noFill/>
          <a:ln w="0">
            <a:noFill/>
          </a:ln>
        </p:spPr>
      </p:pic>
      <p:sp>
        <p:nvSpPr>
          <p:cNvPr id="271"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Three Sampling Techniques in Python</a:t>
            </a:r>
            <a:endParaRPr lang="en-US" sz="2600" b="0" u="none" strike="noStrike">
              <a:solidFill>
                <a:srgbClr val="000000"/>
              </a:solidFill>
              <a:effectLst/>
              <a:uFillTx/>
              <a:latin typeface="Arial"/>
            </a:endParaRPr>
          </a:p>
        </p:txBody>
      </p:sp>
      <p:sp>
        <p:nvSpPr>
          <p:cNvPr id="272"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Simple random: every row has an equal chance.</a:t>
            </a:r>
            <a:endParaRPr lang="en-US" sz="2000" b="0" u="none" strike="noStrike" dirty="0">
              <a:solidFill>
                <a:srgbClr val="000000"/>
              </a:solidFill>
              <a:effectLst/>
              <a:uFillTx/>
              <a:latin typeface="Arial"/>
              <a:cs typeface="Arial"/>
            </a:endParaRPr>
          </a:p>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Systematic: take every k-</a:t>
            </a:r>
            <a:r>
              <a:rPr lang="en-US" sz="2000" b="0" u="none" strike="noStrike" dirty="0" err="1">
                <a:solidFill>
                  <a:srgbClr val="1B1B20"/>
                </a:solidFill>
                <a:effectLst/>
                <a:uFillTx/>
                <a:latin typeface="Hanken Grotesk"/>
                <a:ea typeface="Hanken Grotesk"/>
              </a:rPr>
              <a:t>th</a:t>
            </a:r>
            <a:r>
              <a:rPr lang="en-US" sz="2000" b="0" u="none" strike="noStrike" dirty="0">
                <a:solidFill>
                  <a:srgbClr val="1B1B20"/>
                </a:solidFill>
                <a:effectLst/>
                <a:uFillTx/>
                <a:latin typeface="Hanken Grotesk"/>
                <a:ea typeface="Hanken Grotesk"/>
              </a:rPr>
              <a:t> row. Stratified: sample inside each group.</a:t>
            </a:r>
            <a:endParaRPr lang="en-US" sz="2000" b="0" u="none" strike="noStrike" dirty="0">
              <a:solidFill>
                <a:srgbClr val="000000"/>
              </a:solidFill>
              <a:effectLst/>
              <a:uFillTx/>
              <a:latin typeface="Arial"/>
              <a:cs typeface="Arial"/>
            </a:endParaRPr>
          </a:p>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Convenience and snowball sampling cannot be coded — they depend on how you reach people in the real world.</a:t>
            </a:r>
            <a:endParaRPr lang="en-US" sz="2000" b="0" u="none" strike="noStrike" dirty="0">
              <a:solidFill>
                <a:srgbClr val="000000"/>
              </a:solidFill>
              <a:effectLst/>
              <a:uFillTx/>
              <a:latin typeface="Arial"/>
              <a:cs typeface="Arial"/>
            </a:endParaRPr>
          </a:p>
        </p:txBody>
      </p:sp>
      <p:sp>
        <p:nvSpPr>
          <p:cNvPr id="273"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74"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275"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276"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277"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100" b="0" u="none" strike="noStrike">
                <a:solidFill>
                  <a:srgbClr val="F1F5F9"/>
                </a:solidFill>
                <a:effectLst/>
                <a:uFillTx/>
                <a:latin typeface="Cantarell"/>
                <a:ea typeface="Consolas"/>
              </a:rPr>
              <a:t>import pandas as pd</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df = pd.DataFrame({</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"student": range(1, 101),</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"year": ["1st"] * 40 + ["2nd"] * 35 + ["3rd"] * 25,</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simple = df.sample(n=10, random_state=1)</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systematic = df.iloc[::10]        </a:t>
            </a:r>
            <a:r>
              <a:rPr lang="en-US" sz="1100" b="0" i="1" u="none" strike="noStrike">
                <a:solidFill>
                  <a:srgbClr val="94A3B8"/>
                </a:solidFill>
                <a:effectLst/>
                <a:uFillTx/>
                <a:latin typeface="Cantarell"/>
                <a:ea typeface="Consolas"/>
              </a:rPr>
              <a:t># every 10th row</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strat = df.groupby("year").sample(frac=0.1,</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random_state=1)</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print(len(simple), len(systematic), len(strat))</a:t>
            </a:r>
            <a:endParaRPr lang="en-US" sz="1100" b="0" u="none" strike="noStrike">
              <a:solidFill>
                <a:srgbClr val="000000"/>
              </a:solidFill>
              <a:effectLst/>
              <a:uFillTx/>
              <a:latin typeface="Cantarell"/>
            </a:endParaRPr>
          </a:p>
          <a:p>
            <a:pPr defTabSz="914400">
              <a:lnSpc>
                <a:spcPct val="110000"/>
              </a:lnSpc>
              <a:tabLst>
                <a:tab pos="0" algn="l"/>
              </a:tabLst>
            </a:pPr>
            <a:r>
              <a:rPr lang="en-US" sz="1100" b="0" i="1" u="none" strike="noStrike">
                <a:solidFill>
                  <a:srgbClr val="94A3B8"/>
                </a:solidFill>
                <a:effectLst/>
                <a:uFillTx/>
                <a:latin typeface="Cantarell"/>
                <a:ea typeface="Consolas"/>
              </a:rPr>
              <a:t># → 10 10 10</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print(strat["year"].value_counts().to_dict())</a:t>
            </a:r>
            <a:endParaRPr lang="en-US" sz="1100" b="0" u="none" strike="noStrike">
              <a:solidFill>
                <a:srgbClr val="000000"/>
              </a:solidFill>
              <a:effectLst/>
              <a:uFillTx/>
              <a:latin typeface="Cantarell"/>
            </a:endParaRPr>
          </a:p>
          <a:p>
            <a:pPr defTabSz="914400">
              <a:lnSpc>
                <a:spcPct val="110000"/>
              </a:lnSpc>
              <a:tabLst>
                <a:tab pos="0" algn="l"/>
              </a:tabLst>
            </a:pPr>
            <a:r>
              <a:rPr lang="en-US" sz="1100" b="0" i="1" u="none" strike="noStrike">
                <a:solidFill>
                  <a:srgbClr val="94A3B8"/>
                </a:solidFill>
                <a:effectLst/>
                <a:uFillTx/>
                <a:latin typeface="Cantarell"/>
                <a:ea typeface="Consolas"/>
              </a:rPr>
              <a:t># → {'1st': 4, '2nd': 4, '3rd': 2}</a:t>
            </a:r>
            <a:endParaRPr lang="en-US" sz="11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278"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279"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20</a:t>
            </a:r>
            <a:endParaRPr lang="en-US" sz="900" b="0" u="none" strike="noStrike">
              <a:solidFill>
                <a:srgbClr val="000000"/>
              </a:solidFill>
              <a:effectLst/>
              <a:uFillTx/>
              <a:latin typeface="Arial"/>
            </a:endParaRPr>
          </a:p>
        </p:txBody>
      </p:sp>
      <p:pic>
        <p:nvPicPr>
          <p:cNvPr id="280" name="Image 0" descr="/home/claude/assets/logo_crop.png"/>
          <p:cNvPicPr/>
          <p:nvPr/>
        </p:nvPicPr>
        <p:blipFill>
          <a:blip r:embed="rId3"/>
          <a:stretch/>
        </p:blipFill>
        <p:spPr>
          <a:xfrm>
            <a:off x="11201400" y="384120"/>
            <a:ext cx="456840" cy="511560"/>
          </a:xfrm>
          <a:prstGeom prst="rect">
            <a:avLst/>
          </a:prstGeom>
          <a:noFill/>
          <a:ln w="0">
            <a:noFill/>
          </a:ln>
        </p:spPr>
      </p:pic>
      <p:sp>
        <p:nvSpPr>
          <p:cNvPr id="281"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Probability vs. Non-Probability Sampling</a:t>
            </a:r>
            <a:endParaRPr lang="en-US" sz="2600" b="0" u="none" strike="noStrike">
              <a:solidFill>
                <a:srgbClr val="000000"/>
              </a:solidFill>
              <a:effectLst/>
              <a:uFillTx/>
              <a:latin typeface="Arial"/>
            </a:endParaRPr>
          </a:p>
        </p:txBody>
      </p:sp>
      <p:sp>
        <p:nvSpPr>
          <p:cNvPr id="282" name="Shape 3"/>
          <p:cNvSpPr/>
          <p:nvPr/>
        </p:nvSpPr>
        <p:spPr>
          <a:xfrm>
            <a:off x="548640" y="1737360"/>
            <a:ext cx="5486040" cy="4023000"/>
          </a:xfrm>
          <a:prstGeom prst="roundRect">
            <a:avLst>
              <a:gd name="adj" fmla="val 1818"/>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3" name="Shape 4"/>
          <p:cNvSpPr/>
          <p:nvPr/>
        </p:nvSpPr>
        <p:spPr>
          <a:xfrm>
            <a:off x="777240" y="1965960"/>
            <a:ext cx="5028840" cy="456840"/>
          </a:xfrm>
          <a:prstGeom prst="roundRect">
            <a:avLst>
              <a:gd name="adj" fmla="val 5000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84" name="Text 5"/>
          <p:cNvSpPr/>
          <p:nvPr/>
        </p:nvSpPr>
        <p:spPr>
          <a:xfrm>
            <a:off x="777240" y="1965960"/>
            <a:ext cx="5028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Plus Jakarta Sans"/>
                <a:ea typeface="Plus Jakarta Sans"/>
              </a:rPr>
              <a:t>Probability Sampling</a:t>
            </a:r>
            <a:endParaRPr lang="en-US" sz="1400" b="0" u="none" strike="noStrike">
              <a:solidFill>
                <a:srgbClr val="000000"/>
              </a:solidFill>
              <a:effectLst/>
              <a:uFillTx/>
              <a:latin typeface="Arial"/>
            </a:endParaRPr>
          </a:p>
        </p:txBody>
      </p:sp>
      <p:sp>
        <p:nvSpPr>
          <p:cNvPr id="285" name="Text 6"/>
          <p:cNvSpPr/>
          <p:nvPr/>
        </p:nvSpPr>
        <p:spPr>
          <a:xfrm>
            <a:off x="822960" y="2697480"/>
            <a:ext cx="4937400" cy="2925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Simple random, stratified, cluster, and systematic sampling all belong here</a:t>
            </a:r>
            <a:endParaRPr lang="en-US" sz="16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Every member has a known, nonzero chance of selection</a:t>
            </a:r>
            <a:endParaRPr lang="en-US" sz="16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This is what lets you legitimately generalize a sample’s result back to the full population</a:t>
            </a:r>
            <a:endParaRPr lang="en-US" sz="1600" b="0" u="none" strike="noStrike" dirty="0">
              <a:solidFill>
                <a:srgbClr val="000000"/>
              </a:solidFill>
              <a:effectLst/>
              <a:uFillTx/>
              <a:latin typeface="Arial"/>
              <a:cs typeface="Arial"/>
            </a:endParaRPr>
          </a:p>
        </p:txBody>
      </p:sp>
      <p:sp>
        <p:nvSpPr>
          <p:cNvPr id="286" name="Shape 7"/>
          <p:cNvSpPr/>
          <p:nvPr/>
        </p:nvSpPr>
        <p:spPr>
          <a:xfrm>
            <a:off x="6172200" y="1737360"/>
            <a:ext cx="5486040" cy="4023000"/>
          </a:xfrm>
          <a:prstGeom prst="roundRect">
            <a:avLst>
              <a:gd name="adj" fmla="val 1818"/>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7" name="Shape 8"/>
          <p:cNvSpPr/>
          <p:nvPr/>
        </p:nvSpPr>
        <p:spPr>
          <a:xfrm>
            <a:off x="6400800" y="1965960"/>
            <a:ext cx="5028840" cy="456840"/>
          </a:xfrm>
          <a:prstGeom prst="roundRect">
            <a:avLst>
              <a:gd name="adj" fmla="val 50000"/>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8" name="Text 9"/>
          <p:cNvSpPr/>
          <p:nvPr/>
        </p:nvSpPr>
        <p:spPr>
          <a:xfrm>
            <a:off x="6400800" y="1965960"/>
            <a:ext cx="5028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Non-Probability Sampling</a:t>
            </a:r>
            <a:endParaRPr lang="en-US" sz="1400" b="0" u="none" strike="noStrike">
              <a:solidFill>
                <a:srgbClr val="000000"/>
              </a:solidFill>
              <a:effectLst/>
              <a:uFillTx/>
              <a:latin typeface="Arial"/>
            </a:endParaRPr>
          </a:p>
        </p:txBody>
      </p:sp>
      <p:sp>
        <p:nvSpPr>
          <p:cNvPr id="289" name="Text 10"/>
          <p:cNvSpPr/>
          <p:nvPr/>
        </p:nvSpPr>
        <p:spPr>
          <a:xfrm>
            <a:off x="6446520" y="2697480"/>
            <a:ext cx="4937400" cy="2925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Convenience, snowball, and quota sampling all belong here</a:t>
            </a:r>
            <a:endParaRPr lang="en-US" sz="16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Selection isn’t random — some members may have no chance of being included at all</a:t>
            </a:r>
            <a:endParaRPr lang="en-US" sz="16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A hybrid approach (mixing both) is common in practice — useful, but should be reported honestly, not hidden</a:t>
            </a:r>
            <a:endParaRPr lang="en-US" sz="16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290"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291"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21</a:t>
            </a:r>
            <a:endParaRPr lang="en-US" sz="900" b="0" u="none" strike="noStrike">
              <a:solidFill>
                <a:srgbClr val="000000"/>
              </a:solidFill>
              <a:effectLst/>
              <a:uFillTx/>
              <a:latin typeface="Arial"/>
            </a:endParaRPr>
          </a:p>
        </p:txBody>
      </p:sp>
      <p:pic>
        <p:nvPicPr>
          <p:cNvPr id="292" name="Image 0" descr="/home/claude/assets/logo_crop.png"/>
          <p:cNvPicPr/>
          <p:nvPr/>
        </p:nvPicPr>
        <p:blipFill>
          <a:blip r:embed="rId3"/>
          <a:stretch/>
        </p:blipFill>
        <p:spPr>
          <a:xfrm>
            <a:off x="11201400" y="384120"/>
            <a:ext cx="456840" cy="511560"/>
          </a:xfrm>
          <a:prstGeom prst="rect">
            <a:avLst/>
          </a:prstGeom>
          <a:noFill/>
          <a:ln w="0">
            <a:noFill/>
          </a:ln>
        </p:spPr>
      </p:pic>
      <p:sp>
        <p:nvSpPr>
          <p:cNvPr id="293"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Operationalization &amp; Proxy Measurements</a:t>
            </a:r>
            <a:endParaRPr lang="en-US" sz="2600" b="0" u="none" strike="noStrike">
              <a:solidFill>
                <a:srgbClr val="000000"/>
              </a:solidFill>
              <a:effectLst/>
              <a:uFillTx/>
              <a:latin typeface="Arial"/>
            </a:endParaRPr>
          </a:p>
        </p:txBody>
      </p:sp>
      <p:sp>
        <p:nvSpPr>
          <p:cNvPr id="294"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95"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6"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σ</a:t>
            </a:r>
            <a:endParaRPr lang="en-US" sz="2800" b="0" u="none" strike="noStrike">
              <a:solidFill>
                <a:srgbClr val="000000"/>
              </a:solidFill>
              <a:effectLst/>
              <a:uFillTx/>
              <a:latin typeface="Arial"/>
            </a:endParaRPr>
          </a:p>
        </p:txBody>
      </p:sp>
      <p:sp>
        <p:nvSpPr>
          <p:cNvPr id="297"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Turning an idea into a number</a:t>
            </a:r>
            <a:endParaRPr lang="en-US" sz="1700" b="0" u="none" strike="noStrike">
              <a:solidFill>
                <a:srgbClr val="000000"/>
              </a:solidFill>
              <a:effectLst/>
              <a:uFillTx/>
              <a:latin typeface="Arial"/>
            </a:endParaRPr>
          </a:p>
        </p:txBody>
      </p:sp>
      <p:sp>
        <p:nvSpPr>
          <p:cNvPr id="298"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Operationalization is the process of turning a vague, abstract idea — "happiness," "customer loyalty," "intelligence" — into something concrete enough to actually measure</a:t>
            </a:r>
            <a:endParaRPr lang="en-US" sz="2000" b="0" u="none" strike="noStrike">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A proxy measurement is a stand-in variable used because the real thing can’t be measured directly — using "number of repeat purchases" to represent "customer loyalty"</a:t>
            </a:r>
            <a:endParaRPr lang="en-US" sz="2000" b="0" u="none" strike="noStrike">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Every </a:t>
            </a:r>
            <a:r>
              <a:rPr lang="en-US" sz="2000" dirty="0">
                <a:solidFill>
                  <a:srgbClr val="1B1B20"/>
                </a:solidFill>
                <a:latin typeface="Hanken Grotesk"/>
                <a:ea typeface="Hanken Grotesk"/>
              </a:rPr>
              <a:t>operationalization</a:t>
            </a:r>
            <a:r>
              <a:rPr lang="en-US" sz="2000" b="0" u="none" strike="noStrike" dirty="0">
                <a:solidFill>
                  <a:srgbClr val="1B1B20"/>
                </a:solidFill>
                <a:effectLst/>
                <a:uFillTx/>
                <a:latin typeface="Hanken Grotesk"/>
                <a:ea typeface="Hanken Grotesk"/>
              </a:rPr>
              <a:t> involves a judgment call, and a different one can lead to a genuinely different result — this is worth stating openly in any real analysis</a:t>
            </a:r>
            <a:endParaRPr lang="en-US" sz="2000" b="0" u="none" strike="noStrike">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This is precisely the step where "reliability" and "validity," on the next slide, actually get put to the test</a:t>
            </a:r>
            <a:endParaRPr lang="en-US" sz="2000" b="0" u="none" strike="noStrike">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299"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300"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22</a:t>
            </a:r>
            <a:endParaRPr lang="en-US" sz="900" b="0" u="none" strike="noStrike">
              <a:solidFill>
                <a:srgbClr val="000000"/>
              </a:solidFill>
              <a:effectLst/>
              <a:uFillTx/>
              <a:latin typeface="Arial"/>
            </a:endParaRPr>
          </a:p>
        </p:txBody>
      </p:sp>
      <p:pic>
        <p:nvPicPr>
          <p:cNvPr id="301" name="Image 0" descr="/home/claude/assets/logo_crop.png"/>
          <p:cNvPicPr/>
          <p:nvPr/>
        </p:nvPicPr>
        <p:blipFill>
          <a:blip r:embed="rId3"/>
          <a:stretch/>
        </p:blipFill>
        <p:spPr>
          <a:xfrm>
            <a:off x="11201400" y="384120"/>
            <a:ext cx="456840" cy="511560"/>
          </a:xfrm>
          <a:prstGeom prst="rect">
            <a:avLst/>
          </a:prstGeom>
          <a:noFill/>
          <a:ln w="0">
            <a:noFill/>
          </a:ln>
        </p:spPr>
      </p:pic>
      <p:sp>
        <p:nvSpPr>
          <p:cNvPr id="302"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Reliability vs. Validity</a:t>
            </a:r>
            <a:endParaRPr lang="en-US" sz="2600" b="0" u="none" strike="noStrike">
              <a:solidFill>
                <a:srgbClr val="000000"/>
              </a:solidFill>
              <a:effectLst/>
              <a:uFillTx/>
              <a:latin typeface="Arial"/>
            </a:endParaRPr>
          </a:p>
        </p:txBody>
      </p:sp>
      <p:sp>
        <p:nvSpPr>
          <p:cNvPr id="303" name="Shape 3"/>
          <p:cNvSpPr/>
          <p:nvPr/>
        </p:nvSpPr>
        <p:spPr>
          <a:xfrm>
            <a:off x="548640" y="1737360"/>
            <a:ext cx="5486040" cy="4023000"/>
          </a:xfrm>
          <a:prstGeom prst="roundRect">
            <a:avLst>
              <a:gd name="adj" fmla="val 1818"/>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4" name="Shape 4"/>
          <p:cNvSpPr/>
          <p:nvPr/>
        </p:nvSpPr>
        <p:spPr>
          <a:xfrm>
            <a:off x="777240" y="1965960"/>
            <a:ext cx="5028840" cy="456840"/>
          </a:xfrm>
          <a:prstGeom prst="roundRect">
            <a:avLst>
              <a:gd name="adj" fmla="val 5000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05" name="Text 5"/>
          <p:cNvSpPr/>
          <p:nvPr/>
        </p:nvSpPr>
        <p:spPr>
          <a:xfrm>
            <a:off x="777240" y="1965960"/>
            <a:ext cx="5028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Plus Jakarta Sans"/>
                <a:ea typeface="Plus Jakarta Sans"/>
              </a:rPr>
              <a:t>Reliability</a:t>
            </a:r>
            <a:endParaRPr lang="en-US" sz="1400" b="0" u="none" strike="noStrike">
              <a:solidFill>
                <a:srgbClr val="000000"/>
              </a:solidFill>
              <a:effectLst/>
              <a:uFillTx/>
              <a:latin typeface="Arial"/>
            </a:endParaRPr>
          </a:p>
        </p:txBody>
      </p:sp>
      <p:sp>
        <p:nvSpPr>
          <p:cNvPr id="306" name="Text 6"/>
          <p:cNvSpPr/>
          <p:nvPr/>
        </p:nvSpPr>
        <p:spPr>
          <a:xfrm>
            <a:off x="822960" y="2697480"/>
            <a:ext cx="4937400" cy="2925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Asks: if I measure this again, under the same conditions, do I get a consistent result?</a:t>
            </a:r>
            <a:endParaRPr lang="en-US" sz="16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A bathroom scale that reads 3kg heavier every time is reliable — wrong, but consistently wrong</a:t>
            </a:r>
            <a:endParaRPr lang="en-US" sz="16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Without reliability, you can’t trust any single measurement at all</a:t>
            </a:r>
            <a:endParaRPr lang="en-US" sz="1600" b="0" u="none" strike="noStrike" dirty="0">
              <a:solidFill>
                <a:srgbClr val="000000"/>
              </a:solidFill>
              <a:effectLst/>
              <a:uFillTx/>
              <a:latin typeface="Arial"/>
              <a:cs typeface="Arial"/>
            </a:endParaRPr>
          </a:p>
        </p:txBody>
      </p:sp>
      <p:sp>
        <p:nvSpPr>
          <p:cNvPr id="307" name="Shape 7"/>
          <p:cNvSpPr/>
          <p:nvPr/>
        </p:nvSpPr>
        <p:spPr>
          <a:xfrm>
            <a:off x="6172200" y="1737360"/>
            <a:ext cx="5486040" cy="4023000"/>
          </a:xfrm>
          <a:prstGeom prst="roundRect">
            <a:avLst>
              <a:gd name="adj" fmla="val 1818"/>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8" name="Shape 8"/>
          <p:cNvSpPr/>
          <p:nvPr/>
        </p:nvSpPr>
        <p:spPr>
          <a:xfrm>
            <a:off x="6400800" y="1965960"/>
            <a:ext cx="5028840" cy="456840"/>
          </a:xfrm>
          <a:prstGeom prst="roundRect">
            <a:avLst>
              <a:gd name="adj" fmla="val 50000"/>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9" name="Text 9"/>
          <p:cNvSpPr/>
          <p:nvPr/>
        </p:nvSpPr>
        <p:spPr>
          <a:xfrm>
            <a:off x="6400800" y="1965960"/>
            <a:ext cx="5028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Validity</a:t>
            </a:r>
            <a:endParaRPr lang="en-US" sz="1400" b="0" u="none" strike="noStrike">
              <a:solidFill>
                <a:srgbClr val="000000"/>
              </a:solidFill>
              <a:effectLst/>
              <a:uFillTx/>
              <a:latin typeface="Arial"/>
            </a:endParaRPr>
          </a:p>
        </p:txBody>
      </p:sp>
      <p:sp>
        <p:nvSpPr>
          <p:cNvPr id="310" name="Text 10"/>
          <p:cNvSpPr/>
          <p:nvPr/>
        </p:nvSpPr>
        <p:spPr>
          <a:xfrm>
            <a:off x="6446520" y="2697480"/>
            <a:ext cx="4937400" cy="2925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Asks: am I actually measuring the concept I claim to be measuring?</a:t>
            </a:r>
            <a:endParaRPr lang="en-US" sz="16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A survey meant to measure "job satisfaction" that actually measures "salary satisfaction" is NOT valid, even if it’s perfectly reliable</a:t>
            </a:r>
            <a:endParaRPr lang="en-US" sz="16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A measurement can be reliable without being valid — but it can’t be genuinely valid without also being reliable</a:t>
            </a:r>
            <a:endParaRPr lang="en-US" sz="16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311"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312"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23</a:t>
            </a:r>
            <a:endParaRPr lang="en-US" sz="900" b="0" u="none" strike="noStrike">
              <a:solidFill>
                <a:srgbClr val="000000"/>
              </a:solidFill>
              <a:effectLst/>
              <a:uFillTx/>
              <a:latin typeface="Arial"/>
            </a:endParaRPr>
          </a:p>
        </p:txBody>
      </p:sp>
      <p:pic>
        <p:nvPicPr>
          <p:cNvPr id="313" name="Image 0" descr="/home/claude/assets/logo_crop.png"/>
          <p:cNvPicPr/>
          <p:nvPr/>
        </p:nvPicPr>
        <p:blipFill>
          <a:blip r:embed="rId3"/>
          <a:stretch/>
        </p:blipFill>
        <p:spPr>
          <a:xfrm>
            <a:off x="11201400" y="384120"/>
            <a:ext cx="456840" cy="511560"/>
          </a:xfrm>
          <a:prstGeom prst="rect">
            <a:avLst/>
          </a:prstGeom>
          <a:noFill/>
          <a:ln w="0">
            <a:noFill/>
          </a:ln>
        </p:spPr>
      </p:pic>
      <p:sp>
        <p:nvSpPr>
          <p:cNvPr id="314"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Reliability vs. Validity, Visualized</a:t>
            </a:r>
            <a:endParaRPr lang="en-US" sz="2600" b="0" u="none" strike="noStrike">
              <a:solidFill>
                <a:srgbClr val="000000"/>
              </a:solidFill>
              <a:effectLst/>
              <a:uFillTx/>
              <a:latin typeface="Arial"/>
            </a:endParaRPr>
          </a:p>
        </p:txBody>
      </p:sp>
      <p:sp>
        <p:nvSpPr>
          <p:cNvPr id="315" name="Shape 3"/>
          <p:cNvSpPr/>
          <p:nvPr/>
        </p:nvSpPr>
        <p:spPr>
          <a:xfrm>
            <a:off x="548640" y="1463040"/>
            <a:ext cx="5486040" cy="1874160"/>
          </a:xfrm>
          <a:prstGeom prst="roundRect">
            <a:avLst>
              <a:gd name="adj" fmla="val 3902"/>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6" name="Shape 4"/>
          <p:cNvSpPr/>
          <p:nvPr/>
        </p:nvSpPr>
        <p:spPr>
          <a:xfrm>
            <a:off x="850320" y="1654920"/>
            <a:ext cx="1499400" cy="1499400"/>
          </a:xfrm>
          <a:prstGeom prst="ellipse">
            <a:avLst/>
          </a:prstGeom>
          <a:solidFill>
            <a:srgbClr val="EDEBFF"/>
          </a:solidFill>
          <a:ln w="12700">
            <a:solidFill>
              <a:srgbClr val="EDEB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7" name="Shape 5"/>
          <p:cNvSpPr/>
          <p:nvPr/>
        </p:nvSpPr>
        <p:spPr>
          <a:xfrm>
            <a:off x="1097280" y="1901880"/>
            <a:ext cx="1005480" cy="1005480"/>
          </a:xfrm>
          <a:prstGeom prst="ellipse">
            <a:avLst/>
          </a:prstGeom>
          <a:solidFill>
            <a:srgbClr val="D2D0FA"/>
          </a:solidFill>
          <a:ln w="12700">
            <a:solidFill>
              <a:srgbClr val="D2D0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8" name="Shape 6"/>
          <p:cNvSpPr/>
          <p:nvPr/>
        </p:nvSpPr>
        <p:spPr>
          <a:xfrm>
            <a:off x="1344240" y="2148840"/>
            <a:ext cx="511560" cy="511560"/>
          </a:xfrm>
          <a:prstGeom prst="ellipse">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19" name="Shape 7"/>
          <p:cNvSpPr/>
          <p:nvPr/>
        </p:nvSpPr>
        <p:spPr>
          <a:xfrm>
            <a:off x="1554480" y="235908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20" name="Shape 8"/>
          <p:cNvSpPr/>
          <p:nvPr/>
        </p:nvSpPr>
        <p:spPr>
          <a:xfrm>
            <a:off x="1642320" y="243216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21" name="Shape 9"/>
          <p:cNvSpPr/>
          <p:nvPr/>
        </p:nvSpPr>
        <p:spPr>
          <a:xfrm>
            <a:off x="1481400" y="241776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22" name="Shape 10"/>
          <p:cNvSpPr/>
          <p:nvPr/>
        </p:nvSpPr>
        <p:spPr>
          <a:xfrm>
            <a:off x="1591200" y="227124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23" name="Shape 11"/>
          <p:cNvSpPr/>
          <p:nvPr/>
        </p:nvSpPr>
        <p:spPr>
          <a:xfrm>
            <a:off x="1495800" y="231516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24" name="Text 12"/>
          <p:cNvSpPr/>
          <p:nvPr/>
        </p:nvSpPr>
        <p:spPr>
          <a:xfrm>
            <a:off x="2606040" y="1874520"/>
            <a:ext cx="32000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rmAutofit/>
          </a:bodyPr>
          <a:lstStyle/>
          <a:p>
            <a:pPr defTabSz="914400">
              <a:lnSpc>
                <a:spcPct val="100000"/>
              </a:lnSpc>
              <a:tabLst>
                <a:tab pos="0" algn="l"/>
              </a:tabLst>
            </a:pPr>
            <a:r>
              <a:rPr lang="en-US" sz="1500" b="1" u="none" strike="noStrike">
                <a:solidFill>
                  <a:srgbClr val="1B1B20"/>
                </a:solidFill>
                <a:effectLst/>
                <a:uFillTx/>
                <a:latin typeface="Bricolage Grotesque"/>
                <a:ea typeface="Bricolage Grotesque"/>
              </a:rPr>
              <a:t>Reliable AND Valid</a:t>
            </a:r>
            <a:endParaRPr lang="en-US" sz="1500" b="0" u="none" strike="noStrike">
              <a:solidFill>
                <a:srgbClr val="000000"/>
              </a:solidFill>
              <a:effectLst/>
              <a:uFillTx/>
              <a:latin typeface="Arial"/>
            </a:endParaRPr>
          </a:p>
        </p:txBody>
      </p:sp>
      <p:sp>
        <p:nvSpPr>
          <p:cNvPr id="325" name="Text 13"/>
          <p:cNvSpPr/>
          <p:nvPr/>
        </p:nvSpPr>
        <p:spPr>
          <a:xfrm>
            <a:off x="2606040" y="2377440"/>
            <a:ext cx="32000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474651"/>
                </a:solidFill>
                <a:effectLst/>
                <a:uFillTx/>
                <a:latin typeface="Hanken Grotesk"/>
                <a:ea typeface="Hanken Grotesk"/>
              </a:rPr>
              <a:t>Tightly clustered, right on target</a:t>
            </a:r>
            <a:endParaRPr lang="en-US" sz="1300" b="0" u="none" strike="noStrike">
              <a:solidFill>
                <a:srgbClr val="000000"/>
              </a:solidFill>
              <a:effectLst/>
              <a:uFillTx/>
              <a:latin typeface="Arial"/>
            </a:endParaRPr>
          </a:p>
        </p:txBody>
      </p:sp>
      <p:sp>
        <p:nvSpPr>
          <p:cNvPr id="326" name="Shape 14"/>
          <p:cNvSpPr/>
          <p:nvPr/>
        </p:nvSpPr>
        <p:spPr>
          <a:xfrm>
            <a:off x="6172200" y="1463040"/>
            <a:ext cx="5486040" cy="1874160"/>
          </a:xfrm>
          <a:prstGeom prst="roundRect">
            <a:avLst>
              <a:gd name="adj" fmla="val 3902"/>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27" name="Shape 15"/>
          <p:cNvSpPr/>
          <p:nvPr/>
        </p:nvSpPr>
        <p:spPr>
          <a:xfrm>
            <a:off x="6473880" y="1654920"/>
            <a:ext cx="1499400" cy="1499400"/>
          </a:xfrm>
          <a:prstGeom prst="ellipse">
            <a:avLst/>
          </a:prstGeom>
          <a:solidFill>
            <a:srgbClr val="EDEBFF"/>
          </a:solidFill>
          <a:ln w="12700">
            <a:solidFill>
              <a:srgbClr val="EDEB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28" name="Shape 16"/>
          <p:cNvSpPr/>
          <p:nvPr/>
        </p:nvSpPr>
        <p:spPr>
          <a:xfrm>
            <a:off x="6720840" y="1901880"/>
            <a:ext cx="1005480" cy="1005480"/>
          </a:xfrm>
          <a:prstGeom prst="ellipse">
            <a:avLst/>
          </a:prstGeom>
          <a:solidFill>
            <a:srgbClr val="D2D0FA"/>
          </a:solidFill>
          <a:ln w="12700">
            <a:solidFill>
              <a:srgbClr val="D2D0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29" name="Shape 17"/>
          <p:cNvSpPr/>
          <p:nvPr/>
        </p:nvSpPr>
        <p:spPr>
          <a:xfrm>
            <a:off x="6967800" y="2148840"/>
            <a:ext cx="511560" cy="511560"/>
          </a:xfrm>
          <a:prstGeom prst="ellipse">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0" name="Shape 18"/>
          <p:cNvSpPr/>
          <p:nvPr/>
        </p:nvSpPr>
        <p:spPr>
          <a:xfrm>
            <a:off x="7580520" y="199332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31" name="Shape 19"/>
          <p:cNvSpPr/>
          <p:nvPr/>
        </p:nvSpPr>
        <p:spPr>
          <a:xfrm>
            <a:off x="7631640" y="205200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32" name="Shape 20"/>
          <p:cNvSpPr/>
          <p:nvPr/>
        </p:nvSpPr>
        <p:spPr>
          <a:xfrm>
            <a:off x="7543800" y="206640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33" name="Shape 21"/>
          <p:cNvSpPr/>
          <p:nvPr/>
        </p:nvSpPr>
        <p:spPr>
          <a:xfrm>
            <a:off x="7616880" y="195696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34" name="Shape 22"/>
          <p:cNvSpPr/>
          <p:nvPr/>
        </p:nvSpPr>
        <p:spPr>
          <a:xfrm>
            <a:off x="7558560" y="197892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35" name="Text 23"/>
          <p:cNvSpPr/>
          <p:nvPr/>
        </p:nvSpPr>
        <p:spPr>
          <a:xfrm>
            <a:off x="8229600" y="1874520"/>
            <a:ext cx="32000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rmAutofit/>
          </a:bodyPr>
          <a:lstStyle/>
          <a:p>
            <a:pPr defTabSz="914400">
              <a:lnSpc>
                <a:spcPct val="100000"/>
              </a:lnSpc>
              <a:tabLst>
                <a:tab pos="0" algn="l"/>
              </a:tabLst>
            </a:pPr>
            <a:r>
              <a:rPr lang="en-US" sz="1500" b="1" u="none" strike="noStrike">
                <a:solidFill>
                  <a:srgbClr val="1B1B20"/>
                </a:solidFill>
                <a:effectLst/>
                <a:uFillTx/>
                <a:latin typeface="Bricolage Grotesque"/>
                <a:ea typeface="Bricolage Grotesque"/>
              </a:rPr>
              <a:t>Reliable, but NOT Valid</a:t>
            </a:r>
            <a:endParaRPr lang="en-US" sz="1500" b="0" u="none" strike="noStrike">
              <a:solidFill>
                <a:srgbClr val="000000"/>
              </a:solidFill>
              <a:effectLst/>
              <a:uFillTx/>
              <a:latin typeface="Arial"/>
            </a:endParaRPr>
          </a:p>
        </p:txBody>
      </p:sp>
      <p:sp>
        <p:nvSpPr>
          <p:cNvPr id="336" name="Text 24"/>
          <p:cNvSpPr/>
          <p:nvPr/>
        </p:nvSpPr>
        <p:spPr>
          <a:xfrm>
            <a:off x="8229600" y="2377440"/>
            <a:ext cx="32000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474651"/>
                </a:solidFill>
                <a:effectLst/>
                <a:uFillTx/>
                <a:latin typeface="Hanken Grotesk"/>
                <a:ea typeface="Hanken Grotesk"/>
              </a:rPr>
              <a:t>Tightly clustered — consistently off-target</a:t>
            </a:r>
            <a:endParaRPr lang="en-US" sz="1300" b="0" u="none" strike="noStrike">
              <a:solidFill>
                <a:srgbClr val="000000"/>
              </a:solidFill>
              <a:effectLst/>
              <a:uFillTx/>
              <a:latin typeface="Arial"/>
            </a:endParaRPr>
          </a:p>
        </p:txBody>
      </p:sp>
      <p:sp>
        <p:nvSpPr>
          <p:cNvPr id="337" name="Shape 25"/>
          <p:cNvSpPr/>
          <p:nvPr/>
        </p:nvSpPr>
        <p:spPr>
          <a:xfrm>
            <a:off x="548640" y="3474720"/>
            <a:ext cx="5486040" cy="1874160"/>
          </a:xfrm>
          <a:prstGeom prst="roundRect">
            <a:avLst>
              <a:gd name="adj" fmla="val 3902"/>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38" name="Shape 26"/>
          <p:cNvSpPr/>
          <p:nvPr/>
        </p:nvSpPr>
        <p:spPr>
          <a:xfrm>
            <a:off x="850320" y="3666600"/>
            <a:ext cx="1499400" cy="1499400"/>
          </a:xfrm>
          <a:prstGeom prst="ellipse">
            <a:avLst/>
          </a:prstGeom>
          <a:solidFill>
            <a:srgbClr val="EDEBFF"/>
          </a:solidFill>
          <a:ln w="12700">
            <a:solidFill>
              <a:srgbClr val="EDEB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39" name="Shape 27"/>
          <p:cNvSpPr/>
          <p:nvPr/>
        </p:nvSpPr>
        <p:spPr>
          <a:xfrm>
            <a:off x="1097280" y="3913560"/>
            <a:ext cx="1005480" cy="1005480"/>
          </a:xfrm>
          <a:prstGeom prst="ellipse">
            <a:avLst/>
          </a:prstGeom>
          <a:solidFill>
            <a:srgbClr val="D2D0FA"/>
          </a:solidFill>
          <a:ln w="12700">
            <a:solidFill>
              <a:srgbClr val="D2D0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0" name="Shape 28"/>
          <p:cNvSpPr/>
          <p:nvPr/>
        </p:nvSpPr>
        <p:spPr>
          <a:xfrm>
            <a:off x="1344240" y="4160520"/>
            <a:ext cx="511560" cy="511560"/>
          </a:xfrm>
          <a:prstGeom prst="ellipse">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41" name="Shape 29"/>
          <p:cNvSpPr/>
          <p:nvPr/>
        </p:nvSpPr>
        <p:spPr>
          <a:xfrm>
            <a:off x="1920240" y="444384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42" name="Shape 30"/>
          <p:cNvSpPr/>
          <p:nvPr/>
        </p:nvSpPr>
        <p:spPr>
          <a:xfrm>
            <a:off x="1152000" y="422460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43" name="Shape 31"/>
          <p:cNvSpPr/>
          <p:nvPr/>
        </p:nvSpPr>
        <p:spPr>
          <a:xfrm>
            <a:off x="1627560" y="480960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44" name="Shape 32"/>
          <p:cNvSpPr/>
          <p:nvPr/>
        </p:nvSpPr>
        <p:spPr>
          <a:xfrm>
            <a:off x="1334880" y="396864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45" name="Shape 33"/>
          <p:cNvSpPr/>
          <p:nvPr/>
        </p:nvSpPr>
        <p:spPr>
          <a:xfrm>
            <a:off x="1481400" y="433440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46" name="Text 34"/>
          <p:cNvSpPr/>
          <p:nvPr/>
        </p:nvSpPr>
        <p:spPr>
          <a:xfrm>
            <a:off x="2606040" y="3886200"/>
            <a:ext cx="32000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rmAutofit/>
          </a:bodyPr>
          <a:lstStyle/>
          <a:p>
            <a:pPr defTabSz="914400">
              <a:lnSpc>
                <a:spcPct val="100000"/>
              </a:lnSpc>
              <a:tabLst>
                <a:tab pos="0" algn="l"/>
              </a:tabLst>
            </a:pPr>
            <a:r>
              <a:rPr lang="en-US" sz="1500" b="1" u="none" strike="noStrike">
                <a:solidFill>
                  <a:srgbClr val="1B1B20"/>
                </a:solidFill>
                <a:effectLst/>
                <a:uFillTx/>
                <a:latin typeface="Bricolage Grotesque"/>
                <a:ea typeface="Bricolage Grotesque"/>
              </a:rPr>
              <a:t>NOT Reliable, but Valid "on average"</a:t>
            </a:r>
            <a:endParaRPr lang="en-US" sz="1500" b="0" u="none" strike="noStrike">
              <a:solidFill>
                <a:srgbClr val="000000"/>
              </a:solidFill>
              <a:effectLst/>
              <a:uFillTx/>
              <a:latin typeface="Arial"/>
            </a:endParaRPr>
          </a:p>
        </p:txBody>
      </p:sp>
      <p:sp>
        <p:nvSpPr>
          <p:cNvPr id="347" name="Text 35"/>
          <p:cNvSpPr/>
          <p:nvPr/>
        </p:nvSpPr>
        <p:spPr>
          <a:xfrm>
            <a:off x="2606040" y="4389120"/>
            <a:ext cx="32000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474651"/>
                </a:solidFill>
                <a:effectLst/>
                <a:uFillTx/>
                <a:latin typeface="Hanken Grotesk"/>
                <a:ea typeface="Hanken Grotesk"/>
              </a:rPr>
              <a:t>Scattered widely, but centered on target</a:t>
            </a:r>
            <a:endParaRPr lang="en-US" sz="1300" b="0" u="none" strike="noStrike">
              <a:solidFill>
                <a:srgbClr val="000000"/>
              </a:solidFill>
              <a:effectLst/>
              <a:uFillTx/>
              <a:latin typeface="Arial"/>
            </a:endParaRPr>
          </a:p>
        </p:txBody>
      </p:sp>
      <p:sp>
        <p:nvSpPr>
          <p:cNvPr id="348" name="Shape 36"/>
          <p:cNvSpPr/>
          <p:nvPr/>
        </p:nvSpPr>
        <p:spPr>
          <a:xfrm>
            <a:off x="6172200" y="3474720"/>
            <a:ext cx="5486040" cy="1874160"/>
          </a:xfrm>
          <a:prstGeom prst="roundRect">
            <a:avLst>
              <a:gd name="adj" fmla="val 3902"/>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9" name="Shape 37"/>
          <p:cNvSpPr/>
          <p:nvPr/>
        </p:nvSpPr>
        <p:spPr>
          <a:xfrm>
            <a:off x="6473880" y="3666600"/>
            <a:ext cx="1499400" cy="1499400"/>
          </a:xfrm>
          <a:prstGeom prst="ellipse">
            <a:avLst/>
          </a:prstGeom>
          <a:solidFill>
            <a:srgbClr val="EDEBFF"/>
          </a:solidFill>
          <a:ln w="12700">
            <a:solidFill>
              <a:srgbClr val="EDEB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50" name="Shape 38"/>
          <p:cNvSpPr/>
          <p:nvPr/>
        </p:nvSpPr>
        <p:spPr>
          <a:xfrm>
            <a:off x="6720840" y="3913560"/>
            <a:ext cx="1005480" cy="1005480"/>
          </a:xfrm>
          <a:prstGeom prst="ellipse">
            <a:avLst/>
          </a:prstGeom>
          <a:solidFill>
            <a:srgbClr val="D2D0FA"/>
          </a:solidFill>
          <a:ln w="12700">
            <a:solidFill>
              <a:srgbClr val="D2D0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51" name="Shape 39"/>
          <p:cNvSpPr/>
          <p:nvPr/>
        </p:nvSpPr>
        <p:spPr>
          <a:xfrm>
            <a:off x="6967800" y="4160520"/>
            <a:ext cx="511560" cy="511560"/>
          </a:xfrm>
          <a:prstGeom prst="ellipse">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52" name="Shape 40"/>
          <p:cNvSpPr/>
          <p:nvPr/>
        </p:nvSpPr>
        <p:spPr>
          <a:xfrm>
            <a:off x="7689960" y="480960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53" name="Shape 41"/>
          <p:cNvSpPr/>
          <p:nvPr/>
        </p:nvSpPr>
        <p:spPr>
          <a:xfrm>
            <a:off x="6702480" y="466344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54" name="Shape 42"/>
          <p:cNvSpPr/>
          <p:nvPr/>
        </p:nvSpPr>
        <p:spPr>
          <a:xfrm>
            <a:off x="7434000" y="385884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55" name="Shape 43"/>
          <p:cNvSpPr/>
          <p:nvPr/>
        </p:nvSpPr>
        <p:spPr>
          <a:xfrm>
            <a:off x="7726680" y="429768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56" name="Shape 44"/>
          <p:cNvSpPr/>
          <p:nvPr/>
        </p:nvSpPr>
        <p:spPr>
          <a:xfrm>
            <a:off x="6958440" y="488304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57" name="Text 45"/>
          <p:cNvSpPr/>
          <p:nvPr/>
        </p:nvSpPr>
        <p:spPr>
          <a:xfrm>
            <a:off x="8229600" y="3886200"/>
            <a:ext cx="32000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rmAutofit/>
          </a:bodyPr>
          <a:lstStyle/>
          <a:p>
            <a:pPr defTabSz="914400">
              <a:lnSpc>
                <a:spcPct val="100000"/>
              </a:lnSpc>
              <a:tabLst>
                <a:tab pos="0" algn="l"/>
              </a:tabLst>
            </a:pPr>
            <a:r>
              <a:rPr lang="en-US" sz="1500" b="1" u="none" strike="noStrike">
                <a:solidFill>
                  <a:srgbClr val="1B1B20"/>
                </a:solidFill>
                <a:effectLst/>
                <a:uFillTx/>
                <a:latin typeface="Bricolage Grotesque"/>
                <a:ea typeface="Bricolage Grotesque"/>
              </a:rPr>
              <a:t>NOT Reliable, NOT Valid</a:t>
            </a:r>
            <a:endParaRPr lang="en-US" sz="1500" b="0" u="none" strike="noStrike">
              <a:solidFill>
                <a:srgbClr val="000000"/>
              </a:solidFill>
              <a:effectLst/>
              <a:uFillTx/>
              <a:latin typeface="Arial"/>
            </a:endParaRPr>
          </a:p>
        </p:txBody>
      </p:sp>
      <p:sp>
        <p:nvSpPr>
          <p:cNvPr id="358" name="Text 46"/>
          <p:cNvSpPr/>
          <p:nvPr/>
        </p:nvSpPr>
        <p:spPr>
          <a:xfrm>
            <a:off x="8229600" y="4389120"/>
            <a:ext cx="32000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474651"/>
                </a:solidFill>
                <a:effectLst/>
                <a:uFillTx/>
                <a:latin typeface="Hanken Grotesk"/>
                <a:ea typeface="Hanken Grotesk"/>
              </a:rPr>
              <a:t>Scattered randomly, nowhere near the target</a:t>
            </a:r>
            <a:endParaRPr lang="en-US" sz="1300" b="0" u="none" strike="noStrike">
              <a:solidFill>
                <a:srgbClr val="000000"/>
              </a:solidFill>
              <a:effectLst/>
              <a:uFillTx/>
              <a:latin typeface="Arial"/>
            </a:endParaRPr>
          </a:p>
        </p:txBody>
      </p:sp>
      <p:sp>
        <p:nvSpPr>
          <p:cNvPr id="359" name="Shape 47"/>
          <p:cNvSpPr/>
          <p:nvPr/>
        </p:nvSpPr>
        <p:spPr>
          <a:xfrm>
            <a:off x="548640" y="5577840"/>
            <a:ext cx="11109600" cy="658080"/>
          </a:xfrm>
          <a:prstGeom prst="roundRect">
            <a:avLst>
              <a:gd name="adj" fmla="val 13889"/>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60" name="Text 48"/>
          <p:cNvSpPr/>
          <p:nvPr/>
        </p:nvSpPr>
        <p:spPr>
          <a:xfrm>
            <a:off x="777240" y="5577840"/>
            <a:ext cx="1065240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002019"/>
                </a:solidFill>
                <a:effectLst/>
                <a:uFillTx/>
                <a:latin typeface="Hanken Grotesk"/>
                <a:ea typeface="Hanken Grotesk"/>
              </a:rPr>
              <a:t>Reliability asks: if I measure this again, do I get a consistent result? Validity asks: am I actually measuring the right thing? A measurement needs both to be trustworthy.</a:t>
            </a:r>
            <a:endParaRPr lang="en-US" sz="13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361"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362"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24</a:t>
            </a:r>
            <a:endParaRPr lang="en-US" sz="900" b="0" u="none" strike="noStrike">
              <a:solidFill>
                <a:srgbClr val="000000"/>
              </a:solidFill>
              <a:effectLst/>
              <a:uFillTx/>
              <a:latin typeface="Arial"/>
            </a:endParaRPr>
          </a:p>
        </p:txBody>
      </p:sp>
      <p:pic>
        <p:nvPicPr>
          <p:cNvPr id="363" name="Image 0" descr="/home/claude/assets/logo_crop.png"/>
          <p:cNvPicPr/>
          <p:nvPr/>
        </p:nvPicPr>
        <p:blipFill>
          <a:blip r:embed="rId3"/>
          <a:stretch/>
        </p:blipFill>
        <p:spPr>
          <a:xfrm>
            <a:off x="11201400" y="384120"/>
            <a:ext cx="456840" cy="511560"/>
          </a:xfrm>
          <a:prstGeom prst="rect">
            <a:avLst/>
          </a:prstGeom>
          <a:noFill/>
          <a:ln w="0">
            <a:noFill/>
          </a:ln>
        </p:spPr>
      </p:pic>
      <p:sp>
        <p:nvSpPr>
          <p:cNvPr id="364"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Reliability vs. Validity: Measure It</a:t>
            </a:r>
            <a:endParaRPr lang="en-US" sz="2600" b="0" u="none" strike="noStrike">
              <a:solidFill>
                <a:srgbClr val="000000"/>
              </a:solidFill>
              <a:effectLst/>
              <a:uFillTx/>
              <a:latin typeface="Arial"/>
            </a:endParaRPr>
          </a:p>
        </p:txBody>
      </p:sp>
      <p:sp>
        <p:nvSpPr>
          <p:cNvPr id="365"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Reliability = how small the spread is (standard deviation).</a:t>
            </a:r>
            <a:endParaRPr lang="en-US" sz="2000" b="0" u="none" strike="noStrike" dirty="0">
              <a:solidFill>
                <a:srgbClr val="000000"/>
              </a:solidFill>
              <a:effectLst/>
              <a:uFillTx/>
              <a:latin typeface="Arial"/>
              <a:cs typeface="Arial"/>
            </a:endParaRPr>
          </a:p>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Validity = how close the average is to the true value (bias).</a:t>
            </a:r>
            <a:endParaRPr lang="en-US" sz="2000" b="0" u="none" strike="noStrike" dirty="0">
              <a:solidFill>
                <a:srgbClr val="000000"/>
              </a:solidFill>
              <a:effectLst/>
              <a:uFillTx/>
              <a:latin typeface="Arial"/>
              <a:cs typeface="Arial"/>
            </a:endParaRPr>
          </a:p>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Each tuple below is (bias, spread) for 1,000 readings of a true value of 50.</a:t>
            </a:r>
            <a:endParaRPr lang="en-US" sz="2000" b="0" u="none" strike="noStrike" dirty="0">
              <a:solidFill>
                <a:srgbClr val="000000"/>
              </a:solidFill>
              <a:effectLst/>
              <a:uFillTx/>
              <a:latin typeface="Arial"/>
              <a:cs typeface="Arial"/>
            </a:endParaRPr>
          </a:p>
        </p:txBody>
      </p:sp>
      <p:sp>
        <p:nvSpPr>
          <p:cNvPr id="366"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67"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368"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369"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370"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100" b="0" u="none" strike="noStrike">
                <a:solidFill>
                  <a:srgbClr val="F1F5F9"/>
                </a:solidFill>
                <a:effectLst/>
                <a:uFillTx/>
                <a:latin typeface="Cantarell"/>
                <a:ea typeface="Consolas"/>
              </a:rPr>
              <a:t>import numpy as np</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rng = np.random.default_rng(0)</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true_value = 50</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def check(m):</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bias = m.mean() - true_value   </a:t>
            </a:r>
            <a:r>
              <a:rPr lang="en-US" sz="1100" b="0" i="1" u="none" strike="noStrike">
                <a:solidFill>
                  <a:srgbClr val="94A3B8"/>
                </a:solidFill>
                <a:effectLst/>
                <a:uFillTx/>
                <a:latin typeface="Cantarell"/>
                <a:ea typeface="Consolas"/>
              </a:rPr>
              <a:t># validity</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spread = m.std()               </a:t>
            </a:r>
            <a:r>
              <a:rPr lang="en-US" sz="1100" b="0" i="1" u="none" strike="noStrike">
                <a:solidFill>
                  <a:srgbClr val="94A3B8"/>
                </a:solidFill>
                <a:effectLst/>
                <a:uFillTx/>
                <a:latin typeface="Cantarell"/>
                <a:ea typeface="Consolas"/>
              </a:rPr>
              <a:t># reliability</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return round(float(bias), 1) + 0, round(float(spread), 1)</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good  = rng.normal(50, 1, 1000)    </a:t>
            </a:r>
            <a:r>
              <a:rPr lang="en-US" sz="1100" b="0" i="1" u="none" strike="noStrike">
                <a:solidFill>
                  <a:srgbClr val="94A3B8"/>
                </a:solidFill>
                <a:effectLst/>
                <a:uFillTx/>
                <a:latin typeface="Cantarell"/>
                <a:ea typeface="Consolas"/>
              </a:rPr>
              <a:t># reliable + valid</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off   = rng.normal(56, 1, 1000)    </a:t>
            </a:r>
            <a:r>
              <a:rPr lang="en-US" sz="1100" b="0" i="1" u="none" strike="noStrike">
                <a:solidFill>
                  <a:srgbClr val="94A3B8"/>
                </a:solidFill>
                <a:effectLst/>
                <a:uFillTx/>
                <a:latin typeface="Cantarell"/>
                <a:ea typeface="Consolas"/>
              </a:rPr>
              <a:t># reliable, NOT valid</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noisy = rng.normal(50, 8, 1000)    </a:t>
            </a:r>
            <a:r>
              <a:rPr lang="en-US" sz="1100" b="0" i="1" u="none" strike="noStrike">
                <a:solidFill>
                  <a:srgbClr val="94A3B8"/>
                </a:solidFill>
                <a:effectLst/>
                <a:uFillTx/>
                <a:latin typeface="Cantarell"/>
                <a:ea typeface="Consolas"/>
              </a:rPr>
              <a:t># NOT reliable, valid</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print(check(good))                </a:t>
            </a:r>
            <a:r>
              <a:rPr lang="en-US" sz="1100" b="0" i="1" u="none" strike="noStrike">
                <a:solidFill>
                  <a:srgbClr val="94A3B8"/>
                </a:solidFill>
                <a:effectLst/>
                <a:uFillTx/>
                <a:latin typeface="Cantarell"/>
                <a:ea typeface="Consolas"/>
              </a:rPr>
              <a:t># (0.0, 1.0)</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print(check(off))                 </a:t>
            </a:r>
            <a:r>
              <a:rPr lang="en-US" sz="1100" b="0" i="1" u="none" strike="noStrike">
                <a:solidFill>
                  <a:srgbClr val="94A3B8"/>
                </a:solidFill>
                <a:effectLst/>
                <a:uFillTx/>
                <a:latin typeface="Cantarell"/>
                <a:ea typeface="Consolas"/>
              </a:rPr>
              <a:t># (6.0, 1.0)</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print(check(noisy))               </a:t>
            </a:r>
            <a:r>
              <a:rPr lang="en-US" sz="1100" b="0" i="1" u="none" strike="noStrike">
                <a:solidFill>
                  <a:srgbClr val="94A3B8"/>
                </a:solidFill>
                <a:effectLst/>
                <a:uFillTx/>
                <a:latin typeface="Cantarell"/>
                <a:ea typeface="Consolas"/>
              </a:rPr>
              <a:t># (-0.4, 7.9)</a:t>
            </a:r>
            <a:endParaRPr lang="en-US" sz="11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371"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372"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25</a:t>
            </a:r>
            <a:endParaRPr lang="en-US" sz="900" b="0" u="none" strike="noStrike">
              <a:solidFill>
                <a:srgbClr val="000000"/>
              </a:solidFill>
              <a:effectLst/>
              <a:uFillTx/>
              <a:latin typeface="Arial"/>
            </a:endParaRPr>
          </a:p>
        </p:txBody>
      </p:sp>
      <p:pic>
        <p:nvPicPr>
          <p:cNvPr id="373" name="Image 0" descr="/home/claude/assets/logo_crop.png"/>
          <p:cNvPicPr/>
          <p:nvPr/>
        </p:nvPicPr>
        <p:blipFill>
          <a:blip r:embed="rId3"/>
          <a:stretch/>
        </p:blipFill>
        <p:spPr>
          <a:xfrm>
            <a:off x="11201400" y="384120"/>
            <a:ext cx="456840" cy="511560"/>
          </a:xfrm>
          <a:prstGeom prst="rect">
            <a:avLst/>
          </a:prstGeom>
          <a:noFill/>
          <a:ln w="0">
            <a:noFill/>
          </a:ln>
        </p:spPr>
      </p:pic>
      <p:sp>
        <p:nvSpPr>
          <p:cNvPr id="374" name="Shape 2"/>
          <p:cNvSpPr/>
          <p:nvPr/>
        </p:nvSpPr>
        <p:spPr>
          <a:xfrm>
            <a:off x="548640" y="502920"/>
            <a:ext cx="566640" cy="566640"/>
          </a:xfrm>
          <a:prstGeom prst="roundRect">
            <a:avLst>
              <a:gd name="adj" fmla="val 19355"/>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75" name="Text 3"/>
          <p:cNvSpPr/>
          <p:nvPr/>
        </p:nvSpPr>
        <p:spPr>
          <a:xfrm>
            <a:off x="548640" y="50292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231F71"/>
                </a:solidFill>
                <a:effectLst/>
                <a:uFillTx/>
                <a:latin typeface="Bricolage Grotesque"/>
                <a:ea typeface="Bricolage Grotesque"/>
              </a:rPr>
              <a:t>◎</a:t>
            </a:r>
            <a:endParaRPr lang="en-US" sz="1800" b="0" u="none" strike="noStrike">
              <a:solidFill>
                <a:srgbClr val="000000"/>
              </a:solidFill>
              <a:effectLst/>
              <a:uFillTx/>
              <a:latin typeface="Arial"/>
            </a:endParaRPr>
          </a:p>
        </p:txBody>
      </p:sp>
      <p:sp>
        <p:nvSpPr>
          <p:cNvPr id="376" name="Text 4"/>
          <p:cNvSpPr/>
          <p:nvPr/>
        </p:nvSpPr>
        <p:spPr>
          <a:xfrm>
            <a:off x="1261800" y="5029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spc="99">
                <a:solidFill>
                  <a:srgbClr val="5755A7"/>
                </a:solidFill>
                <a:effectLst/>
                <a:uFillTx/>
                <a:latin typeface="Plus Jakarta Sans"/>
                <a:ea typeface="Plus Jakarta Sans"/>
              </a:rPr>
              <a:t>PART 2</a:t>
            </a:r>
            <a:endParaRPr lang="en-US" sz="900" b="0" u="none" strike="noStrike">
              <a:solidFill>
                <a:srgbClr val="000000"/>
              </a:solidFill>
              <a:effectLst/>
              <a:uFillTx/>
              <a:latin typeface="Arial"/>
            </a:endParaRPr>
          </a:p>
        </p:txBody>
      </p:sp>
      <p:sp>
        <p:nvSpPr>
          <p:cNvPr id="377" name="Text 5"/>
          <p:cNvSpPr/>
          <p:nvPr/>
        </p:nvSpPr>
        <p:spPr>
          <a:xfrm>
            <a:off x="1261800" y="77724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00" b="1" u="none" strike="noStrike">
                <a:solidFill>
                  <a:srgbClr val="1B1B20"/>
                </a:solidFill>
                <a:effectLst/>
                <a:uFillTx/>
                <a:latin typeface="Bricolage Grotesque"/>
                <a:ea typeface="Bricolage Grotesque"/>
              </a:rPr>
              <a:t>Practice Set — Collecting &amp; Measuring Data</a:t>
            </a:r>
            <a:endParaRPr lang="en-US" sz="2200" b="0" u="none" strike="noStrike">
              <a:solidFill>
                <a:srgbClr val="000000"/>
              </a:solidFill>
              <a:effectLst/>
              <a:uFillTx/>
              <a:latin typeface="Arial"/>
            </a:endParaRPr>
          </a:p>
        </p:txBody>
      </p:sp>
      <p:sp>
        <p:nvSpPr>
          <p:cNvPr id="378" name="Text 6"/>
          <p:cNvSpPr/>
          <p:nvPr/>
        </p:nvSpPr>
        <p:spPr>
          <a:xfrm>
            <a:off x="548640" y="1417320"/>
            <a:ext cx="10515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i="1" u="none" strike="noStrike">
                <a:solidFill>
                  <a:srgbClr val="474651"/>
                </a:solidFill>
                <a:effectLst/>
                <a:uFillTx/>
                <a:latin typeface="Hanken Grotesk"/>
                <a:ea typeface="Hanken Grotesk"/>
              </a:rPr>
              <a:t>Try these yourself first — pencil, paper or a quick Python cell.</a:t>
            </a:r>
            <a:endParaRPr lang="en-US" sz="1200" b="0" u="none" strike="noStrike">
              <a:solidFill>
                <a:srgbClr val="000000"/>
              </a:solidFill>
              <a:effectLst/>
              <a:uFillTx/>
              <a:latin typeface="Arial"/>
            </a:endParaRPr>
          </a:p>
        </p:txBody>
      </p:sp>
      <p:sp>
        <p:nvSpPr>
          <p:cNvPr id="379" name="Shape 7"/>
          <p:cNvSpPr/>
          <p:nvPr/>
        </p:nvSpPr>
        <p:spPr>
          <a:xfrm>
            <a:off x="548640" y="1965960"/>
            <a:ext cx="11063880" cy="753120"/>
          </a:xfrm>
          <a:prstGeom prst="roundRect">
            <a:avLst>
              <a:gd name="adj" fmla="val 12136"/>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0" name="Shape 8"/>
          <p:cNvSpPr/>
          <p:nvPr/>
        </p:nvSpPr>
        <p:spPr>
          <a:xfrm>
            <a:off x="731520" y="216900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1" name="Text 9"/>
          <p:cNvSpPr/>
          <p:nvPr/>
        </p:nvSpPr>
        <p:spPr>
          <a:xfrm>
            <a:off x="731520" y="216900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382" name="Text 10"/>
          <p:cNvSpPr/>
          <p:nvPr/>
        </p:nvSpPr>
        <p:spPr>
          <a:xfrm>
            <a:off x="1234440" y="1965960"/>
            <a:ext cx="10149480" cy="753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For your own final project idea, decide whether your data would be primary or secondary, and explain why</a:t>
            </a:r>
            <a:endParaRPr lang="en-US" sz="1400" b="0" u="none" strike="noStrike">
              <a:solidFill>
                <a:srgbClr val="000000"/>
              </a:solidFill>
              <a:effectLst/>
              <a:uFillTx/>
              <a:latin typeface="Arial"/>
            </a:endParaRPr>
          </a:p>
        </p:txBody>
      </p:sp>
      <p:sp>
        <p:nvSpPr>
          <p:cNvPr id="383" name="Shape 11"/>
          <p:cNvSpPr/>
          <p:nvPr/>
        </p:nvSpPr>
        <p:spPr>
          <a:xfrm>
            <a:off x="548640" y="2829240"/>
            <a:ext cx="11063880" cy="753120"/>
          </a:xfrm>
          <a:prstGeom prst="roundRect">
            <a:avLst>
              <a:gd name="adj" fmla="val 12136"/>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4" name="Shape 12"/>
          <p:cNvSpPr/>
          <p:nvPr/>
        </p:nvSpPr>
        <p:spPr>
          <a:xfrm>
            <a:off x="731520" y="303228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5" name="Text 13"/>
          <p:cNvSpPr/>
          <p:nvPr/>
        </p:nvSpPr>
        <p:spPr>
          <a:xfrm>
            <a:off x="731520" y="303228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386" name="Text 14"/>
          <p:cNvSpPr/>
          <p:nvPr/>
        </p:nvSpPr>
        <p:spPr>
          <a:xfrm>
            <a:off x="1234440" y="2829240"/>
            <a:ext cx="10149480" cy="753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A researcher samples only students who walk past the library at noon. Name this sampling technique, and explain its main risk</a:t>
            </a:r>
            <a:endParaRPr lang="en-US" sz="1400" b="0" u="none" strike="noStrike">
              <a:solidFill>
                <a:srgbClr val="000000"/>
              </a:solidFill>
              <a:effectLst/>
              <a:uFillTx/>
              <a:latin typeface="Arial"/>
            </a:endParaRPr>
          </a:p>
        </p:txBody>
      </p:sp>
      <p:sp>
        <p:nvSpPr>
          <p:cNvPr id="387" name="Shape 15"/>
          <p:cNvSpPr/>
          <p:nvPr/>
        </p:nvSpPr>
        <p:spPr>
          <a:xfrm>
            <a:off x="548640" y="3692520"/>
            <a:ext cx="11063880" cy="753120"/>
          </a:xfrm>
          <a:prstGeom prst="roundRect">
            <a:avLst>
              <a:gd name="adj" fmla="val 12136"/>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8" name="Shape 16"/>
          <p:cNvSpPr/>
          <p:nvPr/>
        </p:nvSpPr>
        <p:spPr>
          <a:xfrm>
            <a:off x="731520" y="389520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9" name="Text 17"/>
          <p:cNvSpPr/>
          <p:nvPr/>
        </p:nvSpPr>
        <p:spPr>
          <a:xfrm>
            <a:off x="731520" y="389520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390" name="Text 18"/>
          <p:cNvSpPr/>
          <p:nvPr/>
        </p:nvSpPr>
        <p:spPr>
          <a:xfrm>
            <a:off x="1234440" y="3692520"/>
            <a:ext cx="10149480" cy="753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A study on a rare medical condition asks each participant to refer other people with the same condition. Name this technique, and explain when it’s genuinely the right choice despite being non-random</a:t>
            </a:r>
            <a:endParaRPr lang="en-US" sz="1400" b="0" u="none" strike="noStrike">
              <a:solidFill>
                <a:srgbClr val="000000"/>
              </a:solidFill>
              <a:effectLst/>
              <a:uFillTx/>
              <a:latin typeface="Arial"/>
            </a:endParaRPr>
          </a:p>
        </p:txBody>
      </p:sp>
      <p:sp>
        <p:nvSpPr>
          <p:cNvPr id="391" name="Shape 19"/>
          <p:cNvSpPr/>
          <p:nvPr/>
        </p:nvSpPr>
        <p:spPr>
          <a:xfrm>
            <a:off x="548640" y="4555440"/>
            <a:ext cx="11063880" cy="753120"/>
          </a:xfrm>
          <a:prstGeom prst="roundRect">
            <a:avLst>
              <a:gd name="adj" fmla="val 12136"/>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2" name="Shape 20"/>
          <p:cNvSpPr/>
          <p:nvPr/>
        </p:nvSpPr>
        <p:spPr>
          <a:xfrm>
            <a:off x="731520" y="475848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3" name="Text 21"/>
          <p:cNvSpPr/>
          <p:nvPr/>
        </p:nvSpPr>
        <p:spPr>
          <a:xfrm>
            <a:off x="731520" y="475848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394" name="Text 22"/>
          <p:cNvSpPr/>
          <p:nvPr/>
        </p:nvSpPr>
        <p:spPr>
          <a:xfrm>
            <a:off x="1234440" y="4555440"/>
            <a:ext cx="10149480" cy="753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Propose one reasonable way to operationalize "student engagement" using a measurable proxy</a:t>
            </a:r>
            <a:endParaRPr lang="en-US" sz="1400" b="0" u="none" strike="noStrike">
              <a:solidFill>
                <a:srgbClr val="000000"/>
              </a:solidFill>
              <a:effectLst/>
              <a:uFillTx/>
              <a:latin typeface="Arial"/>
            </a:endParaRPr>
          </a:p>
        </p:txBody>
      </p:sp>
      <p:sp>
        <p:nvSpPr>
          <p:cNvPr id="395" name="Shape 23"/>
          <p:cNvSpPr/>
          <p:nvPr/>
        </p:nvSpPr>
        <p:spPr>
          <a:xfrm>
            <a:off x="548640" y="5418720"/>
            <a:ext cx="11063880" cy="753120"/>
          </a:xfrm>
          <a:prstGeom prst="roundRect">
            <a:avLst>
              <a:gd name="adj" fmla="val 12136"/>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6" name="Shape 24"/>
          <p:cNvSpPr/>
          <p:nvPr/>
        </p:nvSpPr>
        <p:spPr>
          <a:xfrm>
            <a:off x="731520" y="562176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7" name="Text 25"/>
          <p:cNvSpPr/>
          <p:nvPr/>
        </p:nvSpPr>
        <p:spPr>
          <a:xfrm>
            <a:off x="731520" y="562176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5</a:t>
            </a:r>
            <a:endParaRPr lang="en-US" sz="1300" b="0" u="none" strike="noStrike">
              <a:solidFill>
                <a:srgbClr val="000000"/>
              </a:solidFill>
              <a:effectLst/>
              <a:uFillTx/>
              <a:latin typeface="Arial"/>
            </a:endParaRPr>
          </a:p>
        </p:txBody>
      </p:sp>
      <p:sp>
        <p:nvSpPr>
          <p:cNvPr id="398" name="Text 26"/>
          <p:cNvSpPr/>
          <p:nvPr/>
        </p:nvSpPr>
        <p:spPr>
          <a:xfrm>
            <a:off x="1234440" y="5418720"/>
            <a:ext cx="10149480" cy="753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A weight scale gives a different reading every time you step on it, seconds apart, with nothing else changing. Is this a reliability problem or a validity problem? Explain</a:t>
            </a:r>
            <a:endParaRPr lang="en-US" sz="14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B0F17"/>
        </a:solidFill>
        <a:effectLst/>
      </p:bgPr>
    </p:bg>
    <p:spTree>
      <p:nvGrpSpPr>
        <p:cNvPr id="1" name=""/>
        <p:cNvGrpSpPr/>
        <p:nvPr/>
      </p:nvGrpSpPr>
      <p:grpSpPr>
        <a:xfrm>
          <a:off x="0" y="0"/>
          <a:ext cx="0" cy="0"/>
          <a:chOff x="0" y="0"/>
          <a:chExt cx="0" cy="0"/>
        </a:xfrm>
      </p:grpSpPr>
      <p:sp>
        <p:nvSpPr>
          <p:cNvPr id="399" name="Shape 0"/>
          <p:cNvSpPr/>
          <p:nvPr/>
        </p:nvSpPr>
        <p:spPr>
          <a:xfrm>
            <a:off x="9692640" y="-1463040"/>
            <a:ext cx="3840120" cy="3840120"/>
          </a:xfrm>
          <a:prstGeom prst="ellipse">
            <a:avLst/>
          </a:prstGeom>
          <a:solidFill>
            <a:srgbClr val="262758">
              <a:alpha val="55000"/>
            </a:srgbClr>
          </a:solidFill>
          <a:ln w="12700">
            <a:solidFill>
              <a:srgbClr val="262758">
                <a:alpha val="5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00" name="Shape 1"/>
          <p:cNvSpPr/>
          <p:nvPr/>
        </p:nvSpPr>
        <p:spPr>
          <a:xfrm>
            <a:off x="-1645920" y="4754880"/>
            <a:ext cx="3474360" cy="3474360"/>
          </a:xfrm>
          <a:prstGeom prst="ellipse">
            <a:avLst/>
          </a:prstGeom>
          <a:solidFill>
            <a:srgbClr val="11362E">
              <a:alpha val="45000"/>
            </a:srgbClr>
          </a:solidFill>
          <a:ln w="12700">
            <a:solidFill>
              <a:srgbClr val="11362E">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01" name="Text 2"/>
          <p:cNvSpPr/>
          <p:nvPr/>
        </p:nvSpPr>
        <p:spPr>
          <a:xfrm>
            <a:off x="640080" y="2194560"/>
            <a:ext cx="91436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spc="201">
                <a:solidFill>
                  <a:srgbClr val="2DD4BF"/>
                </a:solidFill>
                <a:effectLst/>
                <a:uFillTx/>
                <a:latin typeface="Plus Jakarta Sans"/>
                <a:ea typeface="Plus Jakarta Sans"/>
              </a:rPr>
              <a:t>PART 3</a:t>
            </a:r>
            <a:endParaRPr lang="en-US" sz="1400" b="0" u="none" strike="noStrike">
              <a:solidFill>
                <a:srgbClr val="FFFFFF"/>
              </a:solidFill>
              <a:effectLst/>
              <a:uFillTx/>
              <a:latin typeface="Arial"/>
            </a:endParaRPr>
          </a:p>
        </p:txBody>
      </p:sp>
      <p:sp>
        <p:nvSpPr>
          <p:cNvPr id="402" name="Text 3"/>
          <p:cNvSpPr/>
          <p:nvPr/>
        </p:nvSpPr>
        <p:spPr>
          <a:xfrm>
            <a:off x="640080" y="2697480"/>
            <a:ext cx="1033236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4000" b="1" u="none" strike="noStrike">
                <a:solidFill>
                  <a:srgbClr val="F1F5F9"/>
                </a:solidFill>
                <a:effectLst/>
                <a:uFillTx/>
                <a:latin typeface="Bricolage Grotesque"/>
                <a:ea typeface="Bricolage Grotesque"/>
              </a:rPr>
              <a:t>Types of Data &amp; Measurement Scales</a:t>
            </a:r>
            <a:endParaRPr lang="en-US" sz="4000" b="0" u="none" strike="noStrike">
              <a:solidFill>
                <a:srgbClr val="FFFFFF"/>
              </a:solidFill>
              <a:effectLst/>
              <a:uFillTx/>
              <a:latin typeface="Arial"/>
            </a:endParaRPr>
          </a:p>
        </p:txBody>
      </p:sp>
      <p:sp>
        <p:nvSpPr>
          <p:cNvPr id="403" name="Text 4"/>
          <p:cNvSpPr/>
          <p:nvPr/>
        </p:nvSpPr>
        <p:spPr>
          <a:xfrm>
            <a:off x="640080" y="4023360"/>
            <a:ext cx="969228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500" b="0" u="none" strike="noStrike">
                <a:solidFill>
                  <a:srgbClr val="94A3B8"/>
                </a:solidFill>
                <a:effectLst/>
                <a:uFillTx/>
                <a:latin typeface="Hanken Grotesk"/>
                <a:ea typeface="Hanken Grotesk"/>
              </a:rPr>
              <a:t>Not all data can be treated the same way — this determines which statistics and which charts are even valid to use</a:t>
            </a:r>
            <a:endParaRPr lang="en-US" sz="1500" b="0" u="none" strike="noStrike">
              <a:solidFill>
                <a:srgbClr val="FFFFFF"/>
              </a:solidFill>
              <a:effectLst/>
              <a:uFillTx/>
              <a:latin typeface="Arial"/>
            </a:endParaRPr>
          </a:p>
        </p:txBody>
      </p:sp>
      <p:sp>
        <p:nvSpPr>
          <p:cNvPr id="404" name="Text 5"/>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94A3B8"/>
                </a:solidFill>
                <a:effectLst/>
                <a:uFillTx/>
                <a:latin typeface="Plus Jakarta Sans"/>
                <a:ea typeface="Plus Jakarta Sans"/>
              </a:rPr>
              <a:t>26</a:t>
            </a:r>
            <a:endParaRPr lang="en-US" sz="900" b="0" u="none" strike="noStrike">
              <a:solidFill>
                <a:srgbClr val="FFFFFF"/>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405"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406"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27</a:t>
            </a:r>
            <a:endParaRPr lang="en-US" sz="900" b="0" u="none" strike="noStrike">
              <a:solidFill>
                <a:srgbClr val="000000"/>
              </a:solidFill>
              <a:effectLst/>
              <a:uFillTx/>
              <a:latin typeface="Arial"/>
            </a:endParaRPr>
          </a:p>
        </p:txBody>
      </p:sp>
      <p:pic>
        <p:nvPicPr>
          <p:cNvPr id="407" name="Image 0" descr="/home/claude/assets/logo_crop.png"/>
          <p:cNvPicPr/>
          <p:nvPr/>
        </p:nvPicPr>
        <p:blipFill>
          <a:blip r:embed="rId3"/>
          <a:stretch/>
        </p:blipFill>
        <p:spPr>
          <a:xfrm>
            <a:off x="11201400" y="384120"/>
            <a:ext cx="456840" cy="511560"/>
          </a:xfrm>
          <a:prstGeom prst="rect">
            <a:avLst/>
          </a:prstGeom>
          <a:noFill/>
          <a:ln w="0">
            <a:noFill/>
          </a:ln>
        </p:spPr>
      </p:pic>
      <p:sp>
        <p:nvSpPr>
          <p:cNvPr id="408"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Categorical vs. Numerical Data</a:t>
            </a:r>
            <a:endParaRPr lang="en-US" sz="2600" b="0" u="none" strike="noStrike">
              <a:solidFill>
                <a:srgbClr val="000000"/>
              </a:solidFill>
              <a:effectLst/>
              <a:uFillTx/>
              <a:latin typeface="Arial"/>
            </a:endParaRPr>
          </a:p>
        </p:txBody>
      </p:sp>
      <p:sp>
        <p:nvSpPr>
          <p:cNvPr id="409" name="Shape 3"/>
          <p:cNvSpPr/>
          <p:nvPr/>
        </p:nvSpPr>
        <p:spPr>
          <a:xfrm>
            <a:off x="548640" y="1737360"/>
            <a:ext cx="5486040" cy="4023000"/>
          </a:xfrm>
          <a:prstGeom prst="roundRect">
            <a:avLst>
              <a:gd name="adj" fmla="val 1818"/>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0" name="Shape 4"/>
          <p:cNvSpPr/>
          <p:nvPr/>
        </p:nvSpPr>
        <p:spPr>
          <a:xfrm>
            <a:off x="777240" y="1965960"/>
            <a:ext cx="5028840" cy="456840"/>
          </a:xfrm>
          <a:prstGeom prst="roundRect">
            <a:avLst>
              <a:gd name="adj" fmla="val 5000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11" name="Text 5"/>
          <p:cNvSpPr/>
          <p:nvPr/>
        </p:nvSpPr>
        <p:spPr>
          <a:xfrm>
            <a:off x="777240" y="1965960"/>
            <a:ext cx="5028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Plus Jakarta Sans"/>
                <a:ea typeface="Plus Jakarta Sans"/>
              </a:rPr>
              <a:t>Categorical Data</a:t>
            </a:r>
            <a:endParaRPr lang="en-US" sz="1400" b="0" u="none" strike="noStrike">
              <a:solidFill>
                <a:srgbClr val="000000"/>
              </a:solidFill>
              <a:effectLst/>
              <a:uFillTx/>
              <a:latin typeface="Arial"/>
            </a:endParaRPr>
          </a:p>
        </p:txBody>
      </p:sp>
      <p:sp>
        <p:nvSpPr>
          <p:cNvPr id="412" name="Text 6"/>
          <p:cNvSpPr/>
          <p:nvPr/>
        </p:nvSpPr>
        <p:spPr>
          <a:xfrm>
            <a:off x="822960" y="2697480"/>
            <a:ext cx="4937400" cy="2925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901"/>
              </a:spcAft>
              <a:buClr>
                <a:srgbClr val="1B1B20"/>
              </a:buClr>
              <a:buFont typeface="Arial"/>
              <a:buChar char="•"/>
            </a:pPr>
            <a:r>
              <a:rPr lang="en-US" sz="2000" b="0" u="none" strike="noStrike" dirty="0">
                <a:solidFill>
                  <a:srgbClr val="1B1B20"/>
                </a:solidFill>
                <a:effectLst/>
                <a:uFillTx/>
                <a:latin typeface="Hanken Grotesk"/>
                <a:ea typeface="Hanken Grotesk"/>
              </a:rPr>
              <a:t>Describes a quality or category — groups, labels, names</a:t>
            </a:r>
            <a:endParaRPr lang="en-US" sz="2000" b="0" u="none" strike="noStrike" dirty="0">
              <a:solidFill>
                <a:srgbClr val="000000"/>
              </a:solidFill>
              <a:effectLst/>
              <a:uFillTx/>
              <a:latin typeface="Arial"/>
              <a:cs typeface="Arial"/>
            </a:endParaRPr>
          </a:p>
          <a:p>
            <a:pPr marL="342900" indent="-342900" defTabSz="914400">
              <a:lnSpc>
                <a:spcPct val="100000"/>
              </a:lnSpc>
              <a:spcAft>
                <a:spcPts val="901"/>
              </a:spcAft>
              <a:buClr>
                <a:srgbClr val="1B1B20"/>
              </a:buClr>
              <a:buFont typeface="Arial"/>
              <a:buChar char="•"/>
            </a:pPr>
            <a:r>
              <a:rPr lang="en-US" sz="2000" dirty="0">
                <a:solidFill>
                  <a:srgbClr val="1B1B20"/>
                </a:solidFill>
                <a:latin typeface="Hanken Grotesk"/>
                <a:ea typeface="Hanken Grotesk"/>
              </a:rPr>
              <a:t>Nominal</a:t>
            </a:r>
            <a:r>
              <a:rPr lang="en-US" sz="2000" b="0" u="none" strike="noStrike" dirty="0">
                <a:solidFill>
                  <a:srgbClr val="1B1B20"/>
                </a:solidFill>
                <a:effectLst/>
                <a:uFillTx/>
                <a:latin typeface="Hanken Grotesk"/>
                <a:ea typeface="Hanken Grotesk"/>
              </a:rPr>
              <a:t>: no natural order (blood type, country, color)</a:t>
            </a:r>
            <a:endParaRPr lang="en-US" sz="2000" b="0" u="none" strike="noStrike" dirty="0">
              <a:solidFill>
                <a:srgbClr val="000000"/>
              </a:solidFill>
              <a:effectLst/>
              <a:uFillTx/>
              <a:latin typeface="Arial"/>
              <a:cs typeface="Arial"/>
            </a:endParaRPr>
          </a:p>
          <a:p>
            <a:pPr marL="342900" indent="-342900" defTabSz="914400">
              <a:lnSpc>
                <a:spcPct val="100000"/>
              </a:lnSpc>
              <a:spcAft>
                <a:spcPts val="901"/>
              </a:spcAft>
              <a:buClr>
                <a:srgbClr val="1B1B20"/>
              </a:buClr>
              <a:buFont typeface="Arial"/>
              <a:buChar char="•"/>
            </a:pPr>
            <a:r>
              <a:rPr lang="en-US" sz="2000" b="0" u="none" strike="noStrike" dirty="0">
                <a:solidFill>
                  <a:srgbClr val="1B1B20"/>
                </a:solidFill>
                <a:effectLst/>
                <a:uFillTx/>
                <a:latin typeface="Hanken Grotesk"/>
                <a:ea typeface="Hanken Grotesk"/>
              </a:rPr>
              <a:t>Ordinal: a natural order exists, but distances aren’t meaningful (satisfaction rating, education level)</a:t>
            </a:r>
            <a:endParaRPr lang="en-US" sz="2000" b="0" u="none" strike="noStrike" dirty="0">
              <a:solidFill>
                <a:srgbClr val="000000"/>
              </a:solidFill>
              <a:effectLst/>
              <a:uFillTx/>
              <a:latin typeface="Arial"/>
              <a:cs typeface="Arial"/>
            </a:endParaRPr>
          </a:p>
        </p:txBody>
      </p:sp>
      <p:sp>
        <p:nvSpPr>
          <p:cNvPr id="413" name="Shape 7"/>
          <p:cNvSpPr/>
          <p:nvPr/>
        </p:nvSpPr>
        <p:spPr>
          <a:xfrm>
            <a:off x="6172200" y="1737360"/>
            <a:ext cx="5486040" cy="4023000"/>
          </a:xfrm>
          <a:prstGeom prst="roundRect">
            <a:avLst>
              <a:gd name="adj" fmla="val 1818"/>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4" name="Shape 8"/>
          <p:cNvSpPr/>
          <p:nvPr/>
        </p:nvSpPr>
        <p:spPr>
          <a:xfrm>
            <a:off x="6400800" y="1965960"/>
            <a:ext cx="5028840" cy="456840"/>
          </a:xfrm>
          <a:prstGeom prst="roundRect">
            <a:avLst>
              <a:gd name="adj" fmla="val 50000"/>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5" name="Text 9"/>
          <p:cNvSpPr/>
          <p:nvPr/>
        </p:nvSpPr>
        <p:spPr>
          <a:xfrm>
            <a:off x="6400800" y="1965960"/>
            <a:ext cx="5028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Numerical Data</a:t>
            </a:r>
            <a:endParaRPr lang="en-US" sz="1400" b="0" u="none" strike="noStrike">
              <a:solidFill>
                <a:srgbClr val="000000"/>
              </a:solidFill>
              <a:effectLst/>
              <a:uFillTx/>
              <a:latin typeface="Arial"/>
            </a:endParaRPr>
          </a:p>
        </p:txBody>
      </p:sp>
      <p:sp>
        <p:nvSpPr>
          <p:cNvPr id="416" name="Text 10"/>
          <p:cNvSpPr/>
          <p:nvPr/>
        </p:nvSpPr>
        <p:spPr>
          <a:xfrm>
            <a:off x="6446520" y="2697480"/>
            <a:ext cx="4937400" cy="2925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901"/>
              </a:spcAft>
              <a:buClr>
                <a:srgbClr val="1B1B20"/>
              </a:buClr>
              <a:buFont typeface="Arial"/>
              <a:buChar char="•"/>
            </a:pPr>
            <a:r>
              <a:rPr lang="en-US" sz="2000" b="0" u="none" strike="noStrike" dirty="0">
                <a:solidFill>
                  <a:srgbClr val="1B1B20"/>
                </a:solidFill>
                <a:effectLst/>
                <a:uFillTx/>
                <a:latin typeface="Hanken Grotesk"/>
                <a:ea typeface="Hanken Grotesk"/>
              </a:rPr>
              <a:t>Describes a measurable quantity — counts or measurements</a:t>
            </a:r>
            <a:endParaRPr lang="en-US" sz="20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2000" b="0" u="none" strike="noStrike" dirty="0">
                <a:solidFill>
                  <a:srgbClr val="1B1B20"/>
                </a:solidFill>
                <a:effectLst/>
                <a:uFillTx/>
                <a:latin typeface="Hanken Grotesk"/>
                <a:ea typeface="Hanken Grotesk"/>
              </a:rPr>
              <a:t>Discrete: countable, whole values only (number of children, number of orders)</a:t>
            </a:r>
            <a:endParaRPr lang="en-US" sz="20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2000" b="0" u="none" strike="noStrike" dirty="0">
                <a:solidFill>
                  <a:srgbClr val="1B1B20"/>
                </a:solidFill>
                <a:effectLst/>
                <a:uFillTx/>
                <a:latin typeface="Hanken Grotesk"/>
                <a:ea typeface="Hanken Grotesk"/>
              </a:rPr>
              <a:t>Continuous: can take any value in a range (height, temperature, time)</a:t>
            </a:r>
            <a:endParaRPr lang="en-US" sz="20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417"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418"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28</a:t>
            </a:r>
            <a:endParaRPr lang="en-US" sz="900" b="0" u="none" strike="noStrike">
              <a:solidFill>
                <a:srgbClr val="000000"/>
              </a:solidFill>
              <a:effectLst/>
              <a:uFillTx/>
              <a:latin typeface="Arial"/>
            </a:endParaRPr>
          </a:p>
        </p:txBody>
      </p:sp>
      <p:pic>
        <p:nvPicPr>
          <p:cNvPr id="419" name="Image 0" descr="/home/claude/assets/logo_crop.png"/>
          <p:cNvPicPr/>
          <p:nvPr/>
        </p:nvPicPr>
        <p:blipFill>
          <a:blip r:embed="rId3"/>
          <a:stretch/>
        </p:blipFill>
        <p:spPr>
          <a:xfrm>
            <a:off x="11201400" y="384120"/>
            <a:ext cx="456840" cy="511560"/>
          </a:xfrm>
          <a:prstGeom prst="rect">
            <a:avLst/>
          </a:prstGeom>
          <a:noFill/>
          <a:ln w="0">
            <a:noFill/>
          </a:ln>
        </p:spPr>
      </p:pic>
      <p:sp>
        <p:nvSpPr>
          <p:cNvPr id="420"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Data Types in pandas</a:t>
            </a:r>
            <a:endParaRPr lang="en-US" sz="2600" b="0" u="none" strike="noStrike">
              <a:solidFill>
                <a:srgbClr val="000000"/>
              </a:solidFill>
              <a:effectLst/>
              <a:uFillTx/>
              <a:latin typeface="Arial"/>
            </a:endParaRPr>
          </a:p>
        </p:txBody>
      </p:sp>
      <p:sp>
        <p:nvSpPr>
          <p:cNvPr id="421"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pandas tells you each column's type with .</a:t>
            </a:r>
            <a:r>
              <a:rPr lang="en-US" sz="2000" b="0" u="none" strike="noStrike" dirty="0" err="1">
                <a:solidFill>
                  <a:srgbClr val="1B1B20"/>
                </a:solidFill>
                <a:effectLst/>
                <a:uFillTx/>
                <a:latin typeface="Hanken Grotesk"/>
                <a:ea typeface="Hanken Grotesk"/>
              </a:rPr>
              <a:t>dtypes</a:t>
            </a:r>
            <a:r>
              <a:rPr lang="en-US" sz="2000" b="0" u="none" strike="noStrike" dirty="0">
                <a:solidFill>
                  <a:srgbClr val="1B1B20"/>
                </a:solidFill>
                <a:effectLst/>
                <a:uFillTx/>
                <a:latin typeface="Hanken Grotesk"/>
                <a:ea typeface="Hanken Grotesk"/>
              </a:rPr>
              <a:t>.</a:t>
            </a:r>
            <a:endParaRPr lang="en-US" sz="2000" b="0" u="none" strike="noStrike" dirty="0">
              <a:solidFill>
                <a:srgbClr val="000000"/>
              </a:solidFill>
              <a:effectLst/>
              <a:uFillTx/>
              <a:latin typeface="Arial"/>
              <a:cs typeface="Arial"/>
            </a:endParaRPr>
          </a:p>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Ordinal data needs an explicit order — otherwise Python treats labels as plain text.</a:t>
            </a:r>
            <a:endParaRPr lang="en-US" sz="2000" b="0" u="none" strike="noStrike" dirty="0">
              <a:solidFill>
                <a:srgbClr val="000000"/>
              </a:solidFill>
              <a:effectLst/>
              <a:uFillTx/>
              <a:latin typeface="Arial"/>
              <a:cs typeface="Arial"/>
            </a:endParaRPr>
          </a:p>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An ordered Categorical lets you ask for max or min of a rating.</a:t>
            </a:r>
            <a:endParaRPr lang="en-US" sz="2000" b="0" u="none" strike="noStrike" dirty="0">
              <a:solidFill>
                <a:srgbClr val="000000"/>
              </a:solidFill>
              <a:effectLst/>
              <a:uFillTx/>
              <a:latin typeface="Arial"/>
              <a:cs typeface="Arial"/>
            </a:endParaRPr>
          </a:p>
        </p:txBody>
      </p:sp>
      <p:sp>
        <p:nvSpPr>
          <p:cNvPr id="422"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23"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424"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425"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426"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200" b="0" u="none" strike="noStrike">
                <a:solidFill>
                  <a:srgbClr val="F1F5F9"/>
                </a:solidFill>
                <a:effectLst/>
                <a:uFillTx/>
                <a:latin typeface="Cantarell"/>
                <a:ea typeface="Consolas"/>
              </a:rPr>
              <a:t>import pandas as pd</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df = pd.DataFrame({</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"blood": ["A", "O", "B"],          </a:t>
            </a:r>
            <a:r>
              <a:rPr lang="en-US" sz="1200" b="0" i="1" u="none" strike="noStrike">
                <a:solidFill>
                  <a:srgbClr val="94A3B8"/>
                </a:solidFill>
                <a:effectLst/>
                <a:uFillTx/>
                <a:latin typeface="Cantarell"/>
                <a:ea typeface="Consolas"/>
              </a:rPr>
              <a:t># nominal</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"rating": ["low", "high", "mid"],  </a:t>
            </a:r>
            <a:r>
              <a:rPr lang="en-US" sz="1200" b="0" i="1" u="none" strike="noStrike">
                <a:solidFill>
                  <a:srgbClr val="94A3B8"/>
                </a:solidFill>
                <a:effectLst/>
                <a:uFillTx/>
                <a:latin typeface="Cantarell"/>
                <a:ea typeface="Consolas"/>
              </a:rPr>
              <a:t># ordinal</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"kids": [0, 2, 1],                 </a:t>
            </a:r>
            <a:r>
              <a:rPr lang="en-US" sz="1200" b="0" i="1" u="none" strike="noStrike">
                <a:solidFill>
                  <a:srgbClr val="94A3B8"/>
                </a:solidFill>
                <a:effectLst/>
                <a:uFillTx/>
                <a:latin typeface="Cantarell"/>
                <a:ea typeface="Consolas"/>
              </a:rPr>
              <a:t># discrete</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"height": [160.5, 172.0, 181.2],   </a:t>
            </a:r>
            <a:r>
              <a:rPr lang="en-US" sz="1200" b="0" i="1" u="none" strike="noStrike">
                <a:solidFill>
                  <a:srgbClr val="94A3B8"/>
                </a:solidFill>
                <a:effectLst/>
                <a:uFillTx/>
                <a:latin typeface="Cantarell"/>
                <a:ea typeface="Consolas"/>
              </a:rPr>
              <a:t># continuous</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df["rating"] = pd.Categorical(</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df["rating"], categories=["low", "mid", "high"],</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ordered=True)</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print(df.dtypes)</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print(df["rating"].max())         </a:t>
            </a:r>
            <a:r>
              <a:rPr lang="en-US" sz="1200" b="0" i="1" u="none" strike="noStrike">
                <a:solidFill>
                  <a:srgbClr val="94A3B8"/>
                </a:solidFill>
                <a:effectLst/>
                <a:uFillTx/>
                <a:latin typeface="Cantarell"/>
                <a:ea typeface="Consolas"/>
              </a:rPr>
              <a:t># high</a:t>
            </a:r>
            <a:endParaRPr lang="en-US" sz="12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427"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428"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29</a:t>
            </a:r>
            <a:endParaRPr lang="en-US" sz="900" b="0" u="none" strike="noStrike">
              <a:solidFill>
                <a:srgbClr val="000000"/>
              </a:solidFill>
              <a:effectLst/>
              <a:uFillTx/>
              <a:latin typeface="Arial"/>
            </a:endParaRPr>
          </a:p>
        </p:txBody>
      </p:sp>
      <p:pic>
        <p:nvPicPr>
          <p:cNvPr id="429" name="Image 0" descr="/home/claude/assets/logo_crop.png"/>
          <p:cNvPicPr/>
          <p:nvPr/>
        </p:nvPicPr>
        <p:blipFill>
          <a:blip r:embed="rId3"/>
          <a:stretch/>
        </p:blipFill>
        <p:spPr>
          <a:xfrm>
            <a:off x="11201400" y="384120"/>
            <a:ext cx="456840" cy="511560"/>
          </a:xfrm>
          <a:prstGeom prst="rect">
            <a:avLst/>
          </a:prstGeom>
          <a:noFill/>
          <a:ln w="0">
            <a:noFill/>
          </a:ln>
        </p:spPr>
      </p:pic>
      <p:sp>
        <p:nvSpPr>
          <p:cNvPr id="430"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The Four Measurement Scales, at a Glance</a:t>
            </a:r>
            <a:endParaRPr lang="en-US" sz="2600" b="0" u="none" strike="noStrike">
              <a:solidFill>
                <a:srgbClr val="000000"/>
              </a:solidFill>
              <a:effectLst/>
              <a:uFillTx/>
              <a:latin typeface="Arial"/>
            </a:endParaRPr>
          </a:p>
        </p:txBody>
      </p:sp>
      <p:sp>
        <p:nvSpPr>
          <p:cNvPr id="431" name="Shape 3"/>
          <p:cNvSpPr/>
          <p:nvPr/>
        </p:nvSpPr>
        <p:spPr>
          <a:xfrm>
            <a:off x="54864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32" name="Shape 4"/>
          <p:cNvSpPr/>
          <p:nvPr/>
        </p:nvSpPr>
        <p:spPr>
          <a:xfrm>
            <a:off x="1604880" y="1920240"/>
            <a:ext cx="493560" cy="493560"/>
          </a:xfrm>
          <a:prstGeom prst="roundRect">
            <a:avLst>
              <a:gd name="adj" fmla="val 18519"/>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33" name="Text 5"/>
          <p:cNvSpPr/>
          <p:nvPr/>
        </p:nvSpPr>
        <p:spPr>
          <a:xfrm>
            <a:off x="160488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Bricolage Grotesque"/>
                <a:ea typeface="Bricolage Grotesque"/>
              </a:rPr>
              <a:t>1</a:t>
            </a:r>
            <a:endParaRPr lang="en-US" sz="1600" b="0" u="none" strike="noStrike">
              <a:solidFill>
                <a:srgbClr val="000000"/>
              </a:solidFill>
              <a:effectLst/>
              <a:uFillTx/>
              <a:latin typeface="Arial"/>
            </a:endParaRPr>
          </a:p>
        </p:txBody>
      </p:sp>
      <p:sp>
        <p:nvSpPr>
          <p:cNvPr id="434" name="Shape 6"/>
          <p:cNvSpPr/>
          <p:nvPr/>
        </p:nvSpPr>
        <p:spPr>
          <a:xfrm>
            <a:off x="731520" y="2606040"/>
            <a:ext cx="2239920" cy="456840"/>
          </a:xfrm>
          <a:prstGeom prst="roundRect">
            <a:avLst>
              <a:gd name="adj" fmla="val 5000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35" name="Text 7"/>
          <p:cNvSpPr/>
          <p:nvPr/>
        </p:nvSpPr>
        <p:spPr>
          <a:xfrm>
            <a:off x="73152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Plus Jakarta Sans"/>
                <a:ea typeface="Plus Jakarta Sans"/>
              </a:rPr>
              <a:t>Nominal</a:t>
            </a:r>
            <a:endParaRPr lang="en-US" sz="1400" b="0" u="none" strike="noStrike">
              <a:solidFill>
                <a:srgbClr val="000000"/>
              </a:solidFill>
              <a:effectLst/>
              <a:uFillTx/>
              <a:latin typeface="Arial"/>
            </a:endParaRPr>
          </a:p>
        </p:txBody>
      </p:sp>
      <p:sp>
        <p:nvSpPr>
          <p:cNvPr id="436" name="Text 8"/>
          <p:cNvSpPr/>
          <p:nvPr/>
        </p:nvSpPr>
        <p:spPr>
          <a:xfrm>
            <a:off x="77724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Labels only — no order, no distance. Example: eye color, country of birth</a:t>
            </a:r>
            <a:endParaRPr lang="en-US" sz="1300" b="0" u="none" strike="noStrike">
              <a:solidFill>
                <a:srgbClr val="000000"/>
              </a:solidFill>
              <a:effectLst/>
              <a:uFillTx/>
              <a:latin typeface="Arial"/>
            </a:endParaRPr>
          </a:p>
        </p:txBody>
      </p:sp>
      <p:sp>
        <p:nvSpPr>
          <p:cNvPr id="437" name="Shape 9"/>
          <p:cNvSpPr/>
          <p:nvPr/>
        </p:nvSpPr>
        <p:spPr>
          <a:xfrm>
            <a:off x="338328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38" name="Shape 10"/>
          <p:cNvSpPr/>
          <p:nvPr/>
        </p:nvSpPr>
        <p:spPr>
          <a:xfrm>
            <a:off x="4439520" y="1920240"/>
            <a:ext cx="493560" cy="493560"/>
          </a:xfrm>
          <a:prstGeom prst="roundRect">
            <a:avLst>
              <a:gd name="adj" fmla="val 18519"/>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39" name="Text 11"/>
          <p:cNvSpPr/>
          <p:nvPr/>
        </p:nvSpPr>
        <p:spPr>
          <a:xfrm>
            <a:off x="443952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002019"/>
                </a:solidFill>
                <a:effectLst/>
                <a:uFillTx/>
                <a:latin typeface="Bricolage Grotesque"/>
                <a:ea typeface="Bricolage Grotesque"/>
              </a:rPr>
              <a:t>2</a:t>
            </a:r>
            <a:endParaRPr lang="en-US" sz="1600" b="0" u="none" strike="noStrike">
              <a:solidFill>
                <a:srgbClr val="000000"/>
              </a:solidFill>
              <a:effectLst/>
              <a:uFillTx/>
              <a:latin typeface="Arial"/>
            </a:endParaRPr>
          </a:p>
        </p:txBody>
      </p:sp>
      <p:sp>
        <p:nvSpPr>
          <p:cNvPr id="440" name="Shape 12"/>
          <p:cNvSpPr/>
          <p:nvPr/>
        </p:nvSpPr>
        <p:spPr>
          <a:xfrm>
            <a:off x="3566160" y="2606040"/>
            <a:ext cx="2239920" cy="456840"/>
          </a:xfrm>
          <a:prstGeom prst="roundRect">
            <a:avLst>
              <a:gd name="adj" fmla="val 50000"/>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41" name="Text 13"/>
          <p:cNvSpPr/>
          <p:nvPr/>
        </p:nvSpPr>
        <p:spPr>
          <a:xfrm>
            <a:off x="356616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Ordinal</a:t>
            </a:r>
            <a:endParaRPr lang="en-US" sz="1400" b="0" u="none" strike="noStrike">
              <a:solidFill>
                <a:srgbClr val="000000"/>
              </a:solidFill>
              <a:effectLst/>
              <a:uFillTx/>
              <a:latin typeface="Arial"/>
            </a:endParaRPr>
          </a:p>
        </p:txBody>
      </p:sp>
      <p:sp>
        <p:nvSpPr>
          <p:cNvPr id="442" name="Text 14"/>
          <p:cNvSpPr/>
          <p:nvPr/>
        </p:nvSpPr>
        <p:spPr>
          <a:xfrm>
            <a:off x="361188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Has order, but the gaps between values aren’t equal. Example: movie star ratings</a:t>
            </a:r>
            <a:endParaRPr lang="en-US" sz="1300" b="0" u="none" strike="noStrike">
              <a:solidFill>
                <a:srgbClr val="000000"/>
              </a:solidFill>
              <a:effectLst/>
              <a:uFillTx/>
              <a:latin typeface="Arial"/>
            </a:endParaRPr>
          </a:p>
        </p:txBody>
      </p:sp>
      <p:sp>
        <p:nvSpPr>
          <p:cNvPr id="443" name="Shape 15"/>
          <p:cNvSpPr/>
          <p:nvPr/>
        </p:nvSpPr>
        <p:spPr>
          <a:xfrm>
            <a:off x="621792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44" name="Shape 16"/>
          <p:cNvSpPr/>
          <p:nvPr/>
        </p:nvSpPr>
        <p:spPr>
          <a:xfrm>
            <a:off x="7274160" y="1920240"/>
            <a:ext cx="493560" cy="493560"/>
          </a:xfrm>
          <a:prstGeom prst="roundRect">
            <a:avLst>
              <a:gd name="adj" fmla="val 18519"/>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45" name="Text 17"/>
          <p:cNvSpPr/>
          <p:nvPr/>
        </p:nvSpPr>
        <p:spPr>
          <a:xfrm>
            <a:off x="727416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4C112D"/>
                </a:solidFill>
                <a:effectLst/>
                <a:uFillTx/>
                <a:latin typeface="Bricolage Grotesque"/>
                <a:ea typeface="Bricolage Grotesque"/>
              </a:rPr>
              <a:t>3</a:t>
            </a:r>
            <a:endParaRPr lang="en-US" sz="1600" b="0" u="none" strike="noStrike">
              <a:solidFill>
                <a:srgbClr val="000000"/>
              </a:solidFill>
              <a:effectLst/>
              <a:uFillTx/>
              <a:latin typeface="Arial"/>
            </a:endParaRPr>
          </a:p>
        </p:txBody>
      </p:sp>
      <p:sp>
        <p:nvSpPr>
          <p:cNvPr id="446" name="Shape 18"/>
          <p:cNvSpPr/>
          <p:nvPr/>
        </p:nvSpPr>
        <p:spPr>
          <a:xfrm>
            <a:off x="6400800" y="2606040"/>
            <a:ext cx="2239920" cy="456840"/>
          </a:xfrm>
          <a:prstGeom prst="roundRect">
            <a:avLst>
              <a:gd name="adj" fmla="val 50000"/>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47" name="Text 19"/>
          <p:cNvSpPr/>
          <p:nvPr/>
        </p:nvSpPr>
        <p:spPr>
          <a:xfrm>
            <a:off x="640080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4C112D"/>
                </a:solidFill>
                <a:effectLst/>
                <a:uFillTx/>
                <a:latin typeface="Plus Jakarta Sans"/>
                <a:ea typeface="Plus Jakarta Sans"/>
              </a:rPr>
              <a:t>Interval</a:t>
            </a:r>
            <a:endParaRPr lang="en-US" sz="1400" b="0" u="none" strike="noStrike">
              <a:solidFill>
                <a:srgbClr val="000000"/>
              </a:solidFill>
              <a:effectLst/>
              <a:uFillTx/>
              <a:latin typeface="Arial"/>
            </a:endParaRPr>
          </a:p>
        </p:txBody>
      </p:sp>
      <p:sp>
        <p:nvSpPr>
          <p:cNvPr id="448" name="Text 20"/>
          <p:cNvSpPr/>
          <p:nvPr/>
        </p:nvSpPr>
        <p:spPr>
          <a:xfrm>
            <a:off x="644652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Equal gaps between values, but no true zero. Example: temperature in °C</a:t>
            </a:r>
            <a:endParaRPr lang="en-US" sz="1300" b="0" u="none" strike="noStrike">
              <a:solidFill>
                <a:srgbClr val="000000"/>
              </a:solidFill>
              <a:effectLst/>
              <a:uFillTx/>
              <a:latin typeface="Arial"/>
            </a:endParaRPr>
          </a:p>
        </p:txBody>
      </p:sp>
      <p:sp>
        <p:nvSpPr>
          <p:cNvPr id="449" name="Shape 21"/>
          <p:cNvSpPr/>
          <p:nvPr/>
        </p:nvSpPr>
        <p:spPr>
          <a:xfrm>
            <a:off x="905256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50" name="Shape 22"/>
          <p:cNvSpPr/>
          <p:nvPr/>
        </p:nvSpPr>
        <p:spPr>
          <a:xfrm>
            <a:off x="10108800" y="1920240"/>
            <a:ext cx="493560" cy="493560"/>
          </a:xfrm>
          <a:prstGeom prst="roundRect">
            <a:avLst>
              <a:gd name="adj" fmla="val 18519"/>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51" name="Text 23"/>
          <p:cNvSpPr/>
          <p:nvPr/>
        </p:nvSpPr>
        <p:spPr>
          <a:xfrm>
            <a:off x="1010880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002019"/>
                </a:solidFill>
                <a:effectLst/>
                <a:uFillTx/>
                <a:latin typeface="Bricolage Grotesque"/>
                <a:ea typeface="Bricolage Grotesque"/>
              </a:rPr>
              <a:t>4</a:t>
            </a:r>
            <a:endParaRPr lang="en-US" sz="1600" b="0" u="none" strike="noStrike">
              <a:solidFill>
                <a:srgbClr val="000000"/>
              </a:solidFill>
              <a:effectLst/>
              <a:uFillTx/>
              <a:latin typeface="Arial"/>
            </a:endParaRPr>
          </a:p>
        </p:txBody>
      </p:sp>
      <p:sp>
        <p:nvSpPr>
          <p:cNvPr id="452" name="Shape 24"/>
          <p:cNvSpPr/>
          <p:nvPr/>
        </p:nvSpPr>
        <p:spPr>
          <a:xfrm>
            <a:off x="9235440" y="2606040"/>
            <a:ext cx="2239920" cy="456840"/>
          </a:xfrm>
          <a:prstGeom prst="roundRect">
            <a:avLst>
              <a:gd name="adj" fmla="val 50000"/>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53" name="Text 25"/>
          <p:cNvSpPr/>
          <p:nvPr/>
        </p:nvSpPr>
        <p:spPr>
          <a:xfrm>
            <a:off x="923544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Ratio</a:t>
            </a:r>
            <a:endParaRPr lang="en-US" sz="1400" b="0" u="none" strike="noStrike">
              <a:solidFill>
                <a:srgbClr val="000000"/>
              </a:solidFill>
              <a:effectLst/>
              <a:uFillTx/>
              <a:latin typeface="Arial"/>
            </a:endParaRPr>
          </a:p>
        </p:txBody>
      </p:sp>
      <p:sp>
        <p:nvSpPr>
          <p:cNvPr id="454" name="Text 26"/>
          <p:cNvSpPr/>
          <p:nvPr/>
        </p:nvSpPr>
        <p:spPr>
          <a:xfrm>
            <a:off x="928116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Equal gaps AND a true zero, meaning "none at all." Example: weight, income, age</a:t>
            </a:r>
            <a:endParaRPr lang="en-US" sz="13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455"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456"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30</a:t>
            </a:r>
            <a:endParaRPr lang="en-US" sz="900" b="0" u="none" strike="noStrike">
              <a:solidFill>
                <a:srgbClr val="000000"/>
              </a:solidFill>
              <a:effectLst/>
              <a:uFillTx/>
              <a:latin typeface="Arial"/>
            </a:endParaRPr>
          </a:p>
        </p:txBody>
      </p:sp>
      <p:pic>
        <p:nvPicPr>
          <p:cNvPr id="457" name="Image 0" descr="/home/claude/assets/logo_crop.png"/>
          <p:cNvPicPr/>
          <p:nvPr/>
        </p:nvPicPr>
        <p:blipFill>
          <a:blip r:embed="rId3"/>
          <a:stretch/>
        </p:blipFill>
        <p:spPr>
          <a:xfrm>
            <a:off x="11201400" y="384120"/>
            <a:ext cx="456840" cy="511560"/>
          </a:xfrm>
          <a:prstGeom prst="rect">
            <a:avLst/>
          </a:prstGeom>
          <a:noFill/>
          <a:ln w="0">
            <a:noFill/>
          </a:ln>
        </p:spPr>
      </p:pic>
      <p:sp>
        <p:nvSpPr>
          <p:cNvPr id="458"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The Measurement Scales Ladder</a:t>
            </a:r>
            <a:endParaRPr lang="en-US" sz="2600" b="0" u="none" strike="noStrike">
              <a:solidFill>
                <a:srgbClr val="000000"/>
              </a:solidFill>
              <a:effectLst/>
              <a:uFillTx/>
              <a:latin typeface="Arial"/>
            </a:endParaRPr>
          </a:p>
        </p:txBody>
      </p:sp>
      <p:sp>
        <p:nvSpPr>
          <p:cNvPr id="459" name="Shape 3"/>
          <p:cNvSpPr/>
          <p:nvPr/>
        </p:nvSpPr>
        <p:spPr>
          <a:xfrm>
            <a:off x="548640" y="3429000"/>
            <a:ext cx="2651400" cy="2102760"/>
          </a:xfrm>
          <a:prstGeom prst="roundRect">
            <a:avLst>
              <a:gd name="adj" fmla="val 4348"/>
            </a:avLst>
          </a:prstGeom>
          <a:solidFill>
            <a:srgbClr val="DCDBF7"/>
          </a:solidFill>
          <a:ln w="12700">
            <a:solidFill>
              <a:srgbClr val="DCDBF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60" name="Shape 4"/>
          <p:cNvSpPr/>
          <p:nvPr/>
        </p:nvSpPr>
        <p:spPr>
          <a:xfrm>
            <a:off x="731520" y="3611880"/>
            <a:ext cx="383760" cy="383760"/>
          </a:xfrm>
          <a:prstGeom prst="roundRect">
            <a:avLst>
              <a:gd name="adj" fmla="val 23810"/>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61" name="Text 5"/>
          <p:cNvSpPr/>
          <p:nvPr/>
        </p:nvSpPr>
        <p:spPr>
          <a:xfrm>
            <a:off x="731520" y="3611880"/>
            <a:ext cx="3837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1</a:t>
            </a:r>
            <a:endParaRPr lang="en-US" sz="1500" b="0" u="none" strike="noStrike">
              <a:solidFill>
                <a:srgbClr val="000000"/>
              </a:solidFill>
              <a:effectLst/>
              <a:uFillTx/>
              <a:latin typeface="Arial"/>
            </a:endParaRPr>
          </a:p>
        </p:txBody>
      </p:sp>
      <p:sp>
        <p:nvSpPr>
          <p:cNvPr id="462" name="Text 6"/>
          <p:cNvSpPr/>
          <p:nvPr/>
        </p:nvSpPr>
        <p:spPr>
          <a:xfrm>
            <a:off x="731520" y="4160520"/>
            <a:ext cx="22856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231F71"/>
                </a:solidFill>
                <a:effectLst/>
                <a:uFillTx/>
                <a:latin typeface="Bricolage Grotesque"/>
                <a:ea typeface="Bricolage Grotesque"/>
              </a:rPr>
              <a:t>Nominal</a:t>
            </a:r>
            <a:endParaRPr lang="en-US" sz="2000" b="0" u="none" strike="noStrike">
              <a:solidFill>
                <a:srgbClr val="000000"/>
              </a:solidFill>
              <a:effectLst/>
              <a:uFillTx/>
              <a:latin typeface="Arial"/>
            </a:endParaRPr>
          </a:p>
        </p:txBody>
      </p:sp>
      <p:sp>
        <p:nvSpPr>
          <p:cNvPr id="463" name="Text 7"/>
          <p:cNvSpPr/>
          <p:nvPr/>
        </p:nvSpPr>
        <p:spPr>
          <a:xfrm>
            <a:off x="731520" y="4572000"/>
            <a:ext cx="22856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i="1" u="none" strike="noStrike">
                <a:solidFill>
                  <a:srgbClr val="231F71"/>
                </a:solidFill>
                <a:effectLst/>
                <a:uFillTx/>
                <a:latin typeface="Hanken Grotesk"/>
                <a:ea typeface="Hanken Grotesk"/>
              </a:rPr>
              <a:t>e.g. blood type, country</a:t>
            </a:r>
            <a:endParaRPr lang="en-US" sz="1200" b="0" u="none" strike="noStrike">
              <a:solidFill>
                <a:srgbClr val="000000"/>
              </a:solidFill>
              <a:effectLst/>
              <a:uFillTx/>
              <a:latin typeface="Arial"/>
            </a:endParaRPr>
          </a:p>
        </p:txBody>
      </p:sp>
      <p:sp>
        <p:nvSpPr>
          <p:cNvPr id="464" name="Text 8"/>
          <p:cNvSpPr/>
          <p:nvPr/>
        </p:nvSpPr>
        <p:spPr>
          <a:xfrm>
            <a:off x="731520" y="5074920"/>
            <a:ext cx="2285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1" u="none" strike="noStrike">
                <a:solidFill>
                  <a:srgbClr val="231F71"/>
                </a:solidFill>
                <a:effectLst/>
                <a:uFillTx/>
                <a:latin typeface="Hanken Grotesk"/>
                <a:ea typeface="Hanken Grotesk"/>
              </a:rPr>
              <a:t>Can only check equal / not equal</a:t>
            </a:r>
            <a:endParaRPr lang="en-US" sz="1300" b="0" u="none" strike="noStrike">
              <a:solidFill>
                <a:srgbClr val="000000"/>
              </a:solidFill>
              <a:effectLst/>
              <a:uFillTx/>
              <a:latin typeface="Arial"/>
            </a:endParaRPr>
          </a:p>
        </p:txBody>
      </p:sp>
      <p:sp>
        <p:nvSpPr>
          <p:cNvPr id="465" name="Shape 9"/>
          <p:cNvSpPr/>
          <p:nvPr/>
        </p:nvSpPr>
        <p:spPr>
          <a:xfrm>
            <a:off x="3383280" y="2788920"/>
            <a:ext cx="2651400" cy="2742840"/>
          </a:xfrm>
          <a:prstGeom prst="roundRect">
            <a:avLst>
              <a:gd name="adj" fmla="val 3448"/>
            </a:avLst>
          </a:prstGeom>
          <a:solidFill>
            <a:srgbClr val="C0BFF1"/>
          </a:solidFill>
          <a:ln w="12700">
            <a:solidFill>
              <a:srgbClr val="C0BFF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66" name="Shape 10"/>
          <p:cNvSpPr/>
          <p:nvPr/>
        </p:nvSpPr>
        <p:spPr>
          <a:xfrm>
            <a:off x="3566160" y="2971800"/>
            <a:ext cx="383760" cy="383760"/>
          </a:xfrm>
          <a:prstGeom prst="roundRect">
            <a:avLst>
              <a:gd name="adj" fmla="val 23810"/>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67" name="Text 11"/>
          <p:cNvSpPr/>
          <p:nvPr/>
        </p:nvSpPr>
        <p:spPr>
          <a:xfrm>
            <a:off x="3566160" y="2971800"/>
            <a:ext cx="3837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2</a:t>
            </a:r>
            <a:endParaRPr lang="en-US" sz="1500" b="0" u="none" strike="noStrike">
              <a:solidFill>
                <a:srgbClr val="000000"/>
              </a:solidFill>
              <a:effectLst/>
              <a:uFillTx/>
              <a:latin typeface="Arial"/>
            </a:endParaRPr>
          </a:p>
        </p:txBody>
      </p:sp>
      <p:sp>
        <p:nvSpPr>
          <p:cNvPr id="468" name="Text 12"/>
          <p:cNvSpPr/>
          <p:nvPr/>
        </p:nvSpPr>
        <p:spPr>
          <a:xfrm>
            <a:off x="3566160" y="3520440"/>
            <a:ext cx="22856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231F71"/>
                </a:solidFill>
                <a:effectLst/>
                <a:uFillTx/>
                <a:latin typeface="Bricolage Grotesque"/>
                <a:ea typeface="Bricolage Grotesque"/>
              </a:rPr>
              <a:t>Ordinal</a:t>
            </a:r>
            <a:endParaRPr lang="en-US" sz="2000" b="0" u="none" strike="noStrike">
              <a:solidFill>
                <a:srgbClr val="000000"/>
              </a:solidFill>
              <a:effectLst/>
              <a:uFillTx/>
              <a:latin typeface="Arial"/>
            </a:endParaRPr>
          </a:p>
        </p:txBody>
      </p:sp>
      <p:sp>
        <p:nvSpPr>
          <p:cNvPr id="469" name="Text 13"/>
          <p:cNvSpPr/>
          <p:nvPr/>
        </p:nvSpPr>
        <p:spPr>
          <a:xfrm>
            <a:off x="3566160" y="3931920"/>
            <a:ext cx="22856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i="1" u="none" strike="noStrike">
                <a:solidFill>
                  <a:srgbClr val="231F71"/>
                </a:solidFill>
                <a:effectLst/>
                <a:uFillTx/>
                <a:latin typeface="Hanken Grotesk"/>
                <a:ea typeface="Hanken Grotesk"/>
              </a:rPr>
              <a:t>e.g. satisfaction rating</a:t>
            </a:r>
            <a:endParaRPr lang="en-US" sz="1200" b="0" u="none" strike="noStrike">
              <a:solidFill>
                <a:srgbClr val="000000"/>
              </a:solidFill>
              <a:effectLst/>
              <a:uFillTx/>
              <a:latin typeface="Arial"/>
            </a:endParaRPr>
          </a:p>
        </p:txBody>
      </p:sp>
      <p:sp>
        <p:nvSpPr>
          <p:cNvPr id="470" name="Text 14"/>
          <p:cNvSpPr/>
          <p:nvPr/>
        </p:nvSpPr>
        <p:spPr>
          <a:xfrm>
            <a:off x="3566160" y="4434840"/>
            <a:ext cx="2285640" cy="959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1" u="none" strike="noStrike">
                <a:solidFill>
                  <a:srgbClr val="231F71"/>
                </a:solidFill>
                <a:effectLst/>
                <a:uFillTx/>
                <a:latin typeface="Hanken Grotesk"/>
                <a:ea typeface="Hanken Grotesk"/>
              </a:rPr>
              <a:t>Can also rank: greater / less than</a:t>
            </a:r>
            <a:endParaRPr lang="en-US" sz="1300" b="0" u="none" strike="noStrike">
              <a:solidFill>
                <a:srgbClr val="000000"/>
              </a:solidFill>
              <a:effectLst/>
              <a:uFillTx/>
              <a:latin typeface="Arial"/>
            </a:endParaRPr>
          </a:p>
        </p:txBody>
      </p:sp>
      <p:sp>
        <p:nvSpPr>
          <p:cNvPr id="471" name="Shape 15"/>
          <p:cNvSpPr/>
          <p:nvPr/>
        </p:nvSpPr>
        <p:spPr>
          <a:xfrm>
            <a:off x="6217920" y="2148840"/>
            <a:ext cx="2651400" cy="3382920"/>
          </a:xfrm>
          <a:prstGeom prst="roundRect">
            <a:avLst>
              <a:gd name="adj" fmla="val 3448"/>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72" name="Shape 16"/>
          <p:cNvSpPr/>
          <p:nvPr/>
        </p:nvSpPr>
        <p:spPr>
          <a:xfrm>
            <a:off x="6400800" y="2331720"/>
            <a:ext cx="383760" cy="383760"/>
          </a:xfrm>
          <a:prstGeom prst="roundRect">
            <a:avLst>
              <a:gd name="adj" fmla="val 23810"/>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73" name="Text 17"/>
          <p:cNvSpPr/>
          <p:nvPr/>
        </p:nvSpPr>
        <p:spPr>
          <a:xfrm>
            <a:off x="6400800" y="2331720"/>
            <a:ext cx="3837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3</a:t>
            </a:r>
            <a:endParaRPr lang="en-US" sz="1500" b="0" u="none" strike="noStrike">
              <a:solidFill>
                <a:srgbClr val="000000"/>
              </a:solidFill>
              <a:effectLst/>
              <a:uFillTx/>
              <a:latin typeface="Arial"/>
            </a:endParaRPr>
          </a:p>
        </p:txBody>
      </p:sp>
      <p:sp>
        <p:nvSpPr>
          <p:cNvPr id="474" name="Text 18"/>
          <p:cNvSpPr/>
          <p:nvPr/>
        </p:nvSpPr>
        <p:spPr>
          <a:xfrm>
            <a:off x="6400800" y="2880360"/>
            <a:ext cx="22856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FFFFFF"/>
                </a:solidFill>
                <a:effectLst/>
                <a:uFillTx/>
                <a:latin typeface="Bricolage Grotesque"/>
                <a:ea typeface="Bricolage Grotesque"/>
              </a:rPr>
              <a:t>Interval</a:t>
            </a:r>
            <a:endParaRPr lang="en-US" sz="2000" b="0" u="none" strike="noStrike">
              <a:solidFill>
                <a:srgbClr val="000000"/>
              </a:solidFill>
              <a:effectLst/>
              <a:uFillTx/>
              <a:latin typeface="Arial"/>
            </a:endParaRPr>
          </a:p>
        </p:txBody>
      </p:sp>
      <p:sp>
        <p:nvSpPr>
          <p:cNvPr id="475" name="Text 19"/>
          <p:cNvSpPr/>
          <p:nvPr/>
        </p:nvSpPr>
        <p:spPr>
          <a:xfrm>
            <a:off x="6400800" y="3291840"/>
            <a:ext cx="22856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i="1" u="none" strike="noStrike">
                <a:solidFill>
                  <a:srgbClr val="FFFFFF"/>
                </a:solidFill>
                <a:effectLst/>
                <a:uFillTx/>
                <a:latin typeface="Hanken Grotesk"/>
                <a:ea typeface="Hanken Grotesk"/>
              </a:rPr>
              <a:t>e.g. temperature in °C</a:t>
            </a:r>
            <a:endParaRPr lang="en-US" sz="1200" b="0" u="none" strike="noStrike">
              <a:solidFill>
                <a:srgbClr val="000000"/>
              </a:solidFill>
              <a:effectLst/>
              <a:uFillTx/>
              <a:latin typeface="Arial"/>
            </a:endParaRPr>
          </a:p>
        </p:txBody>
      </p:sp>
      <p:sp>
        <p:nvSpPr>
          <p:cNvPr id="476" name="Text 20"/>
          <p:cNvSpPr/>
          <p:nvPr/>
        </p:nvSpPr>
        <p:spPr>
          <a:xfrm>
            <a:off x="6400800" y="3794760"/>
            <a:ext cx="2285640" cy="1599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1" u="none" strike="noStrike">
                <a:solidFill>
                  <a:srgbClr val="FFFFFF"/>
                </a:solidFill>
                <a:effectLst/>
                <a:uFillTx/>
                <a:latin typeface="Hanken Grotesk"/>
                <a:ea typeface="Hanken Grotesk"/>
              </a:rPr>
              <a:t>Can also add / subtract meaningfully</a:t>
            </a:r>
            <a:endParaRPr lang="en-US" sz="1300" b="0" u="none" strike="noStrike">
              <a:solidFill>
                <a:srgbClr val="000000"/>
              </a:solidFill>
              <a:effectLst/>
              <a:uFillTx/>
              <a:latin typeface="Arial"/>
            </a:endParaRPr>
          </a:p>
        </p:txBody>
      </p:sp>
      <p:sp>
        <p:nvSpPr>
          <p:cNvPr id="477" name="Shape 21"/>
          <p:cNvSpPr/>
          <p:nvPr/>
        </p:nvSpPr>
        <p:spPr>
          <a:xfrm>
            <a:off x="9052560" y="1508760"/>
            <a:ext cx="2651400" cy="4023000"/>
          </a:xfrm>
          <a:prstGeom prst="roundRect">
            <a:avLst>
              <a:gd name="adj" fmla="val 3448"/>
            </a:avLst>
          </a:prstGeom>
          <a:solidFill>
            <a:srgbClr val="5755A7"/>
          </a:solidFill>
          <a:ln w="12700">
            <a:solidFill>
              <a:srgbClr val="5755A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78" name="Shape 22"/>
          <p:cNvSpPr/>
          <p:nvPr/>
        </p:nvSpPr>
        <p:spPr>
          <a:xfrm>
            <a:off x="9235440" y="1691640"/>
            <a:ext cx="383760" cy="383760"/>
          </a:xfrm>
          <a:prstGeom prst="roundRect">
            <a:avLst>
              <a:gd name="adj" fmla="val 23810"/>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79" name="Text 23"/>
          <p:cNvSpPr/>
          <p:nvPr/>
        </p:nvSpPr>
        <p:spPr>
          <a:xfrm>
            <a:off x="9235440" y="1691640"/>
            <a:ext cx="3837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4</a:t>
            </a:r>
            <a:endParaRPr lang="en-US" sz="1500" b="0" u="none" strike="noStrike">
              <a:solidFill>
                <a:srgbClr val="000000"/>
              </a:solidFill>
              <a:effectLst/>
              <a:uFillTx/>
              <a:latin typeface="Arial"/>
            </a:endParaRPr>
          </a:p>
        </p:txBody>
      </p:sp>
      <p:sp>
        <p:nvSpPr>
          <p:cNvPr id="480" name="Text 24"/>
          <p:cNvSpPr/>
          <p:nvPr/>
        </p:nvSpPr>
        <p:spPr>
          <a:xfrm>
            <a:off x="9235440" y="2240280"/>
            <a:ext cx="22856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FFFFFF"/>
                </a:solidFill>
                <a:effectLst/>
                <a:uFillTx/>
                <a:latin typeface="Bricolage Grotesque"/>
                <a:ea typeface="Bricolage Grotesque"/>
              </a:rPr>
              <a:t>Ratio</a:t>
            </a:r>
            <a:endParaRPr lang="en-US" sz="2000" b="0" u="none" strike="noStrike">
              <a:solidFill>
                <a:srgbClr val="000000"/>
              </a:solidFill>
              <a:effectLst/>
              <a:uFillTx/>
              <a:latin typeface="Arial"/>
            </a:endParaRPr>
          </a:p>
        </p:txBody>
      </p:sp>
      <p:sp>
        <p:nvSpPr>
          <p:cNvPr id="481" name="Text 25"/>
          <p:cNvSpPr/>
          <p:nvPr/>
        </p:nvSpPr>
        <p:spPr>
          <a:xfrm>
            <a:off x="9235440" y="2651760"/>
            <a:ext cx="22856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i="1" u="none" strike="noStrike">
                <a:solidFill>
                  <a:srgbClr val="FFFFFF"/>
                </a:solidFill>
                <a:effectLst/>
                <a:uFillTx/>
                <a:latin typeface="Hanken Grotesk"/>
                <a:ea typeface="Hanken Grotesk"/>
              </a:rPr>
              <a:t>e.g. height, weight, income</a:t>
            </a:r>
            <a:endParaRPr lang="en-US" sz="1200" b="0" u="none" strike="noStrike">
              <a:solidFill>
                <a:srgbClr val="000000"/>
              </a:solidFill>
              <a:effectLst/>
              <a:uFillTx/>
              <a:latin typeface="Arial"/>
            </a:endParaRPr>
          </a:p>
        </p:txBody>
      </p:sp>
      <p:sp>
        <p:nvSpPr>
          <p:cNvPr id="482" name="Text 26"/>
          <p:cNvSpPr/>
          <p:nvPr/>
        </p:nvSpPr>
        <p:spPr>
          <a:xfrm>
            <a:off x="9235440" y="3154680"/>
            <a:ext cx="2285640" cy="223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1" u="none" strike="noStrike">
                <a:solidFill>
                  <a:srgbClr val="FFFFFF"/>
                </a:solidFill>
                <a:effectLst/>
                <a:uFillTx/>
                <a:latin typeface="Hanken Grotesk"/>
                <a:ea typeface="Hanken Grotesk"/>
              </a:rPr>
              <a:t>Can also multiply / divide — has a true zero</a:t>
            </a:r>
            <a:endParaRPr lang="en-US" sz="1300" b="0" u="none" strike="noStrike">
              <a:solidFill>
                <a:srgbClr val="000000"/>
              </a:solidFill>
              <a:effectLst/>
              <a:uFillTx/>
              <a:latin typeface="Arial"/>
            </a:endParaRPr>
          </a:p>
        </p:txBody>
      </p:sp>
      <p:sp>
        <p:nvSpPr>
          <p:cNvPr id="483" name="Text 27"/>
          <p:cNvSpPr/>
          <p:nvPr/>
        </p:nvSpPr>
        <p:spPr>
          <a:xfrm>
            <a:off x="548640" y="5760720"/>
            <a:ext cx="1106388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i="1" u="none" strike="noStrike">
                <a:solidFill>
                  <a:srgbClr val="474651"/>
                </a:solidFill>
                <a:effectLst/>
                <a:uFillTx/>
                <a:latin typeface="Hanken Grotesk"/>
                <a:ea typeface="Hanken Grotesk"/>
              </a:rPr>
              <a:t>Each step up the ladder keeps everything the step below could do, and adds one new ability on top of it.</a:t>
            </a:r>
            <a:endParaRPr lang="en-US" sz="13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484"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485"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31</a:t>
            </a:r>
            <a:endParaRPr lang="en-US" sz="900" b="0" u="none" strike="noStrike">
              <a:solidFill>
                <a:srgbClr val="000000"/>
              </a:solidFill>
              <a:effectLst/>
              <a:uFillTx/>
              <a:latin typeface="Arial"/>
            </a:endParaRPr>
          </a:p>
        </p:txBody>
      </p:sp>
      <p:pic>
        <p:nvPicPr>
          <p:cNvPr id="486" name="Image 0" descr="/home/claude/assets/logo_crop.png"/>
          <p:cNvPicPr/>
          <p:nvPr/>
        </p:nvPicPr>
        <p:blipFill>
          <a:blip r:embed="rId3"/>
          <a:stretch/>
        </p:blipFill>
        <p:spPr>
          <a:xfrm>
            <a:off x="11201400" y="384120"/>
            <a:ext cx="456840" cy="511560"/>
          </a:xfrm>
          <a:prstGeom prst="rect">
            <a:avLst/>
          </a:prstGeom>
          <a:noFill/>
          <a:ln w="0">
            <a:noFill/>
          </a:ln>
        </p:spPr>
      </p:pic>
      <p:sp>
        <p:nvSpPr>
          <p:cNvPr id="487"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Nominal Scale — Labels Only</a:t>
            </a:r>
            <a:endParaRPr lang="en-US" sz="2600" b="0" u="none" strike="noStrike">
              <a:solidFill>
                <a:srgbClr val="000000"/>
              </a:solidFill>
              <a:effectLst/>
              <a:uFillTx/>
              <a:latin typeface="Arial"/>
            </a:endParaRPr>
          </a:p>
        </p:txBody>
      </p:sp>
      <p:sp>
        <p:nvSpPr>
          <p:cNvPr id="488"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89"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90"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μ</a:t>
            </a:r>
            <a:endParaRPr lang="en-US" sz="2800" b="0" u="none" strike="noStrike">
              <a:solidFill>
                <a:srgbClr val="000000"/>
              </a:solidFill>
              <a:effectLst/>
              <a:uFillTx/>
              <a:latin typeface="Arial"/>
            </a:endParaRPr>
          </a:p>
        </p:txBody>
      </p:sp>
      <p:sp>
        <p:nvSpPr>
          <p:cNvPr id="491"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Just names, no order</a:t>
            </a:r>
            <a:endParaRPr lang="en-US" sz="1700" b="0" u="none" strike="noStrike">
              <a:solidFill>
                <a:srgbClr val="000000"/>
              </a:solidFill>
              <a:effectLst/>
              <a:uFillTx/>
              <a:latin typeface="Arial"/>
            </a:endParaRPr>
          </a:p>
        </p:txBody>
      </p:sp>
      <p:sp>
        <p:nvSpPr>
          <p:cNvPr id="492"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Nominal data sorts things into named categories, with no meaningful order between them — "red" isn’t more or less than "blue"</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Examples: gender, blood type, country of residence, a customer’s preferred payment method</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The only valid comparison is equality — you can say two things are the same category or different categories, and nothing more mathematically</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You can count how often each category appears, and find the mode — but calculating a "mean country" makes no sense at all</a:t>
            </a:r>
            <a:endParaRPr lang="en-US" sz="20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493"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494"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32</a:t>
            </a:r>
            <a:endParaRPr lang="en-US" sz="900" b="0" u="none" strike="noStrike">
              <a:solidFill>
                <a:srgbClr val="000000"/>
              </a:solidFill>
              <a:effectLst/>
              <a:uFillTx/>
              <a:latin typeface="Arial"/>
            </a:endParaRPr>
          </a:p>
        </p:txBody>
      </p:sp>
      <p:pic>
        <p:nvPicPr>
          <p:cNvPr id="495" name="Image 0" descr="/home/claude/assets/logo_crop.png"/>
          <p:cNvPicPr/>
          <p:nvPr/>
        </p:nvPicPr>
        <p:blipFill>
          <a:blip r:embed="rId3"/>
          <a:stretch/>
        </p:blipFill>
        <p:spPr>
          <a:xfrm>
            <a:off x="11201400" y="384120"/>
            <a:ext cx="456840" cy="511560"/>
          </a:xfrm>
          <a:prstGeom prst="rect">
            <a:avLst/>
          </a:prstGeom>
          <a:noFill/>
          <a:ln w="0">
            <a:noFill/>
          </a:ln>
        </p:spPr>
      </p:pic>
      <p:sp>
        <p:nvSpPr>
          <p:cNvPr id="496"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Ordinal Scale — Order, But No Real Distance</a:t>
            </a:r>
            <a:endParaRPr lang="en-US" sz="2600" b="0" u="none" strike="noStrike">
              <a:solidFill>
                <a:srgbClr val="000000"/>
              </a:solidFill>
              <a:effectLst/>
              <a:uFillTx/>
              <a:latin typeface="Arial"/>
            </a:endParaRPr>
          </a:p>
        </p:txBody>
      </p:sp>
      <p:sp>
        <p:nvSpPr>
          <p:cNvPr id="497"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98"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99"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a:t>
            </a:r>
            <a:endParaRPr lang="en-US" sz="2800" b="0" u="none" strike="noStrike">
              <a:solidFill>
                <a:srgbClr val="000000"/>
              </a:solidFill>
              <a:effectLst/>
              <a:uFillTx/>
              <a:latin typeface="Arial"/>
            </a:endParaRPr>
          </a:p>
        </p:txBody>
      </p:sp>
      <p:sp>
        <p:nvSpPr>
          <p:cNvPr id="500"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Ranked, but not measured</a:t>
            </a:r>
            <a:endParaRPr lang="en-US" sz="1700" b="0" u="none" strike="noStrike">
              <a:solidFill>
                <a:srgbClr val="000000"/>
              </a:solidFill>
              <a:effectLst/>
              <a:uFillTx/>
              <a:latin typeface="Arial"/>
            </a:endParaRPr>
          </a:p>
        </p:txBody>
      </p:sp>
      <p:sp>
        <p:nvSpPr>
          <p:cNvPr id="501"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Ordinal data has a genuine, meaningful order — but the gap between adjacent values isn’t guaranteed to be equal</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Examples: a 5-star rating, a t-shirt size (S/M/L/XL), an education level (high school/bachelor’s/master’s)</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The jump from 1 star to 2 stars might not represent the same "amount" of change as 4 stars to 5 stars — you only know the direction, not the exact size</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You can find the median and mode reliably — but averaging star ratings, while extremely common in practice, is technically stretching what the scale actually guarantees</a:t>
            </a:r>
            <a:endParaRPr lang="en-US" sz="20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502"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503"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33</a:t>
            </a:r>
            <a:endParaRPr lang="en-US" sz="900" b="0" u="none" strike="noStrike">
              <a:solidFill>
                <a:srgbClr val="000000"/>
              </a:solidFill>
              <a:effectLst/>
              <a:uFillTx/>
              <a:latin typeface="Arial"/>
            </a:endParaRPr>
          </a:p>
        </p:txBody>
      </p:sp>
      <p:pic>
        <p:nvPicPr>
          <p:cNvPr id="504" name="Image 0" descr="/home/claude/assets/logo_crop.png"/>
          <p:cNvPicPr/>
          <p:nvPr/>
        </p:nvPicPr>
        <p:blipFill>
          <a:blip r:embed="rId3"/>
          <a:stretch/>
        </p:blipFill>
        <p:spPr>
          <a:xfrm>
            <a:off x="11201400" y="384120"/>
            <a:ext cx="456840" cy="511560"/>
          </a:xfrm>
          <a:prstGeom prst="rect">
            <a:avLst/>
          </a:prstGeom>
          <a:noFill/>
          <a:ln w="0">
            <a:noFill/>
          </a:ln>
        </p:spPr>
      </p:pic>
      <p:sp>
        <p:nvSpPr>
          <p:cNvPr id="505"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400" b="1" u="none" strike="noStrike">
                <a:solidFill>
                  <a:srgbClr val="1B1B20"/>
                </a:solidFill>
                <a:effectLst/>
                <a:uFillTx/>
                <a:latin typeface="Bricolage Grotesque"/>
                <a:ea typeface="Bricolage Grotesque"/>
              </a:rPr>
              <a:t>Interval Scale — Equal Distance, No True Zero</a:t>
            </a:r>
            <a:endParaRPr lang="en-US" sz="2400" b="0" u="none" strike="noStrike">
              <a:solidFill>
                <a:srgbClr val="000000"/>
              </a:solidFill>
              <a:effectLst/>
              <a:uFillTx/>
              <a:latin typeface="Arial"/>
            </a:endParaRPr>
          </a:p>
        </p:txBody>
      </p:sp>
      <p:sp>
        <p:nvSpPr>
          <p:cNvPr id="506"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07"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08"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a:t>
            </a:r>
            <a:endParaRPr lang="en-US" sz="2800" b="0" u="none" strike="noStrike">
              <a:solidFill>
                <a:srgbClr val="000000"/>
              </a:solidFill>
              <a:effectLst/>
              <a:uFillTx/>
              <a:latin typeface="Arial"/>
            </a:endParaRPr>
          </a:p>
        </p:txBody>
      </p:sp>
      <p:sp>
        <p:nvSpPr>
          <p:cNvPr id="509"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Zero doesn’t mean "none"</a:t>
            </a:r>
            <a:endParaRPr lang="en-US" sz="1700" b="0" u="none" strike="noStrike">
              <a:solidFill>
                <a:srgbClr val="000000"/>
              </a:solidFill>
              <a:effectLst/>
              <a:uFillTx/>
              <a:latin typeface="Arial"/>
            </a:endParaRPr>
          </a:p>
        </p:txBody>
      </p:sp>
      <p:sp>
        <p:nvSpPr>
          <p:cNvPr id="510"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Interval data has consistent, equal gaps between values — the difference between 10°C and 20°C is the same "amount" as between 20°C and 30°C</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But zero doesn’t mean "nothing" — 0°C isn’t "no temperature at all," it’s just the freezing point of water, an arbitrary reference</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Because of this, ratios are meaningless here: 20°C is NOT "twice as hot" as 10°C — that claim doesn’t survive converting to Fahrenheit</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Classic examples: temperature in Celsius or Fahrenheit, and calendar year (year 0 doesn’t mean "no time has passed")</a:t>
            </a:r>
            <a:endParaRPr lang="en-US" sz="20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511"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512"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34</a:t>
            </a:r>
            <a:endParaRPr lang="en-US" sz="900" b="0" u="none" strike="noStrike">
              <a:solidFill>
                <a:srgbClr val="000000"/>
              </a:solidFill>
              <a:effectLst/>
              <a:uFillTx/>
              <a:latin typeface="Arial"/>
            </a:endParaRPr>
          </a:p>
        </p:txBody>
      </p:sp>
      <p:pic>
        <p:nvPicPr>
          <p:cNvPr id="513" name="Image 0" descr="/home/claude/assets/logo_crop.png"/>
          <p:cNvPicPr/>
          <p:nvPr/>
        </p:nvPicPr>
        <p:blipFill>
          <a:blip r:embed="rId3"/>
          <a:stretch/>
        </p:blipFill>
        <p:spPr>
          <a:xfrm>
            <a:off x="11201400" y="384120"/>
            <a:ext cx="456840" cy="511560"/>
          </a:xfrm>
          <a:prstGeom prst="rect">
            <a:avLst/>
          </a:prstGeom>
          <a:noFill/>
          <a:ln w="0">
            <a:noFill/>
          </a:ln>
        </p:spPr>
      </p:pic>
      <p:sp>
        <p:nvSpPr>
          <p:cNvPr id="514"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Why Ratios Break on Interval Data</a:t>
            </a:r>
            <a:endParaRPr lang="en-US" sz="2600" b="0" u="none" strike="noStrike">
              <a:solidFill>
                <a:srgbClr val="000000"/>
              </a:solidFill>
              <a:effectLst/>
              <a:uFillTx/>
              <a:latin typeface="Arial"/>
            </a:endParaRPr>
          </a:p>
        </p:txBody>
      </p:sp>
      <p:sp>
        <p:nvSpPr>
          <p:cNvPr id="515"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20°C to 40°C looks like “twice as hot” — it is not.</a:t>
            </a:r>
            <a:endParaRPr lang="en-US" sz="2000" b="0" u="none" strike="noStrike" dirty="0">
              <a:solidFill>
                <a:srgbClr val="000000"/>
              </a:solidFill>
              <a:effectLst/>
              <a:uFillTx/>
              <a:latin typeface="Arial"/>
              <a:cs typeface="Arial"/>
            </a:endParaRPr>
          </a:p>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Convert the same temperatures to Fahrenheit and the ratio changes.</a:t>
            </a:r>
            <a:endParaRPr lang="en-US" sz="2000" b="0" u="none" strike="noStrike" dirty="0">
              <a:solidFill>
                <a:srgbClr val="000000"/>
              </a:solidFill>
              <a:effectLst/>
              <a:uFillTx/>
              <a:latin typeface="Arial"/>
              <a:cs typeface="Arial"/>
            </a:endParaRPr>
          </a:p>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A true zero is what makes a ratio meaningful.</a:t>
            </a:r>
            <a:endParaRPr lang="en-US" sz="2000" b="0" u="none" strike="noStrike" dirty="0">
              <a:solidFill>
                <a:srgbClr val="000000"/>
              </a:solidFill>
              <a:effectLst/>
              <a:uFillTx/>
              <a:latin typeface="Arial"/>
              <a:cs typeface="Arial"/>
            </a:endParaRPr>
          </a:p>
        </p:txBody>
      </p:sp>
      <p:sp>
        <p:nvSpPr>
          <p:cNvPr id="516"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17"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518"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519"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520"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300" b="0" u="none" strike="noStrike">
                <a:solidFill>
                  <a:srgbClr val="F1F5F9"/>
                </a:solidFill>
                <a:effectLst/>
                <a:uFillTx/>
                <a:latin typeface="Cantarell"/>
                <a:ea typeface="Consolas"/>
              </a:rPr>
              <a:t>celsius = [20, 40]</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fahrenheit = [c * 9 / 5 + 32 for c in celsius]</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print(fahrenheit)                 </a:t>
            </a:r>
            <a:r>
              <a:rPr lang="en-US" sz="1300" b="0" i="1" u="none" strike="noStrike">
                <a:solidFill>
                  <a:srgbClr val="94A3B8"/>
                </a:solidFill>
                <a:effectLst/>
                <a:uFillTx/>
                <a:latin typeface="Cantarell"/>
                <a:ea typeface="Consolas"/>
              </a:rPr>
              <a:t># [68.0, 104.0]</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print(celsius[1] / celsius[0])    </a:t>
            </a:r>
            <a:r>
              <a:rPr lang="en-US" sz="1300" b="0" i="1" u="none" strike="noStrike">
                <a:solidFill>
                  <a:srgbClr val="94A3B8"/>
                </a:solidFill>
                <a:effectLst/>
                <a:uFillTx/>
                <a:latin typeface="Cantarell"/>
                <a:ea typeface="Consolas"/>
              </a:rPr>
              <a:t># 2.0</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ratio_f = fahrenheit[1] / fahrenheit[0]</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print(round(ratio_f, 2))          </a:t>
            </a:r>
            <a:r>
              <a:rPr lang="en-US" sz="1300" b="0" i="1" u="none" strike="noStrike">
                <a:solidFill>
                  <a:srgbClr val="94A3B8"/>
                </a:solidFill>
                <a:effectLst/>
                <a:uFillTx/>
                <a:latin typeface="Cantarell"/>
                <a:ea typeface="Consolas"/>
              </a:rPr>
              <a:t># 1.53</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i="1" u="none" strike="noStrike">
                <a:solidFill>
                  <a:srgbClr val="94A3B8"/>
                </a:solidFill>
                <a:effectLst/>
                <a:uFillTx/>
                <a:latin typeface="Cantarell"/>
                <a:ea typeface="Consolas"/>
              </a:rPr>
              <a:t># Ratio data (money) survives any unit change</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usd = [20, 40]</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print(usd[1] / usd[0])            </a:t>
            </a:r>
            <a:r>
              <a:rPr lang="en-US" sz="1300" b="0" i="1" u="none" strike="noStrike">
                <a:solidFill>
                  <a:srgbClr val="94A3B8"/>
                </a:solidFill>
                <a:effectLst/>
                <a:uFillTx/>
                <a:latin typeface="Cantarell"/>
                <a:ea typeface="Consolas"/>
              </a:rPr>
              <a:t># 2.0</a:t>
            </a:r>
            <a:endParaRPr lang="en-US" sz="13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521"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522"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35</a:t>
            </a:r>
            <a:endParaRPr lang="en-US" sz="900" b="0" u="none" strike="noStrike">
              <a:solidFill>
                <a:srgbClr val="000000"/>
              </a:solidFill>
              <a:effectLst/>
              <a:uFillTx/>
              <a:latin typeface="Arial"/>
            </a:endParaRPr>
          </a:p>
        </p:txBody>
      </p:sp>
      <p:pic>
        <p:nvPicPr>
          <p:cNvPr id="523" name="Image 0" descr="/home/claude/assets/logo_crop.png"/>
          <p:cNvPicPr/>
          <p:nvPr/>
        </p:nvPicPr>
        <p:blipFill>
          <a:blip r:embed="rId3"/>
          <a:stretch/>
        </p:blipFill>
        <p:spPr>
          <a:xfrm>
            <a:off x="11201400" y="384120"/>
            <a:ext cx="456840" cy="511560"/>
          </a:xfrm>
          <a:prstGeom prst="rect">
            <a:avLst/>
          </a:prstGeom>
          <a:noFill/>
          <a:ln w="0">
            <a:noFill/>
          </a:ln>
        </p:spPr>
      </p:pic>
      <p:sp>
        <p:nvSpPr>
          <p:cNvPr id="524"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Ratio Scale — Equal Distance AND a True Zero</a:t>
            </a:r>
            <a:endParaRPr lang="en-US" sz="2600" b="0" u="none" strike="noStrike">
              <a:solidFill>
                <a:srgbClr val="000000"/>
              </a:solidFill>
              <a:effectLst/>
              <a:uFillTx/>
              <a:latin typeface="Arial"/>
            </a:endParaRPr>
          </a:p>
        </p:txBody>
      </p:sp>
      <p:sp>
        <p:nvSpPr>
          <p:cNvPr id="525"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26"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27"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a:t>
            </a:r>
            <a:endParaRPr lang="en-US" sz="2800" b="0" u="none" strike="noStrike">
              <a:solidFill>
                <a:srgbClr val="000000"/>
              </a:solidFill>
              <a:effectLst/>
              <a:uFillTx/>
              <a:latin typeface="Arial"/>
            </a:endParaRPr>
          </a:p>
        </p:txBody>
      </p:sp>
      <p:sp>
        <p:nvSpPr>
          <p:cNvPr id="528"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The most flexible scale</a:t>
            </a:r>
            <a:endParaRPr lang="en-US" sz="1700" b="0" u="none" strike="noStrike">
              <a:solidFill>
                <a:srgbClr val="000000"/>
              </a:solidFill>
              <a:effectLst/>
              <a:uFillTx/>
              <a:latin typeface="Arial"/>
            </a:endParaRPr>
          </a:p>
        </p:txBody>
      </p:sp>
      <p:sp>
        <p:nvSpPr>
          <p:cNvPr id="529"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Ratio data has everything interval data has, PLUS a true, meaningful zero — zero really does mean "none at all"</a:t>
            </a:r>
            <a:endParaRPr lang="en-US" sz="2000" b="0" u="none" strike="noStrike" dirty="0">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Because of that true zero, ratios genuinely make sense: $20 really is twice as much money as $10; 40kg really is twice as heavy as 20kg</a:t>
            </a:r>
            <a:endParaRPr lang="en-US" sz="2000" b="0" u="none" strike="noStrike" dirty="0">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Examples: height, weight, age, income, distance, time elapsed — most of the "hard numbers" you’ll work with in data science live here</a:t>
            </a:r>
            <a:endParaRPr lang="en-US" sz="2000" b="0" u="none" strike="noStrike" dirty="0">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Every mathematical operation is valid on this scale — which is exactly why it sits at the top of the ladder</a:t>
            </a:r>
            <a:endParaRPr lang="en-US" sz="20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530"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531"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36</a:t>
            </a:r>
            <a:endParaRPr lang="en-US" sz="900" b="0" u="none" strike="noStrike">
              <a:solidFill>
                <a:srgbClr val="000000"/>
              </a:solidFill>
              <a:effectLst/>
              <a:uFillTx/>
              <a:latin typeface="Arial"/>
            </a:endParaRPr>
          </a:p>
        </p:txBody>
      </p:sp>
      <p:pic>
        <p:nvPicPr>
          <p:cNvPr id="532" name="Image 0" descr="/home/claude/assets/logo_crop.png"/>
          <p:cNvPicPr/>
          <p:nvPr/>
        </p:nvPicPr>
        <p:blipFill>
          <a:blip r:embed="rId3"/>
          <a:stretch/>
        </p:blipFill>
        <p:spPr>
          <a:xfrm>
            <a:off x="11201400" y="384120"/>
            <a:ext cx="456840" cy="511560"/>
          </a:xfrm>
          <a:prstGeom prst="rect">
            <a:avLst/>
          </a:prstGeom>
          <a:noFill/>
          <a:ln w="0">
            <a:noFill/>
          </a:ln>
        </p:spPr>
      </p:pic>
      <p:sp>
        <p:nvSpPr>
          <p:cNvPr id="533"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Which Operations Are Valid on Which Scale</a:t>
            </a:r>
            <a:endParaRPr lang="en-US" sz="2600" b="0" u="none" strike="noStrike">
              <a:solidFill>
                <a:srgbClr val="000000"/>
              </a:solidFill>
              <a:effectLst/>
              <a:uFillTx/>
              <a:latin typeface="Arial"/>
            </a:endParaRPr>
          </a:p>
        </p:txBody>
      </p:sp>
      <p:sp>
        <p:nvSpPr>
          <p:cNvPr id="534" name="Shape 3"/>
          <p:cNvSpPr/>
          <p:nvPr/>
        </p:nvSpPr>
        <p:spPr>
          <a:xfrm>
            <a:off x="54864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35" name="Shape 4"/>
          <p:cNvSpPr/>
          <p:nvPr/>
        </p:nvSpPr>
        <p:spPr>
          <a:xfrm>
            <a:off x="1604880" y="1920240"/>
            <a:ext cx="493560" cy="493560"/>
          </a:xfrm>
          <a:prstGeom prst="roundRect">
            <a:avLst>
              <a:gd name="adj" fmla="val 18519"/>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36" name="Text 5"/>
          <p:cNvSpPr/>
          <p:nvPr/>
        </p:nvSpPr>
        <p:spPr>
          <a:xfrm>
            <a:off x="160488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Bricolage Grotesque"/>
                <a:ea typeface="Bricolage Grotesque"/>
              </a:rPr>
              <a:t>1</a:t>
            </a:r>
            <a:endParaRPr lang="en-US" sz="1600" b="0" u="none" strike="noStrike">
              <a:solidFill>
                <a:srgbClr val="000000"/>
              </a:solidFill>
              <a:effectLst/>
              <a:uFillTx/>
              <a:latin typeface="Arial"/>
            </a:endParaRPr>
          </a:p>
        </p:txBody>
      </p:sp>
      <p:sp>
        <p:nvSpPr>
          <p:cNvPr id="537" name="Shape 6"/>
          <p:cNvSpPr/>
          <p:nvPr/>
        </p:nvSpPr>
        <p:spPr>
          <a:xfrm>
            <a:off x="731520" y="2606040"/>
            <a:ext cx="2239920" cy="456840"/>
          </a:xfrm>
          <a:prstGeom prst="roundRect">
            <a:avLst>
              <a:gd name="adj" fmla="val 5000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38" name="Text 7"/>
          <p:cNvSpPr/>
          <p:nvPr/>
        </p:nvSpPr>
        <p:spPr>
          <a:xfrm>
            <a:off x="73152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Plus Jakarta Sans"/>
                <a:ea typeface="Plus Jakarta Sans"/>
              </a:rPr>
              <a:t>Nominal</a:t>
            </a:r>
            <a:endParaRPr lang="en-US" sz="1400" b="0" u="none" strike="noStrike">
              <a:solidFill>
                <a:srgbClr val="000000"/>
              </a:solidFill>
              <a:effectLst/>
              <a:uFillTx/>
              <a:latin typeface="Arial"/>
            </a:endParaRPr>
          </a:p>
        </p:txBody>
      </p:sp>
      <p:sp>
        <p:nvSpPr>
          <p:cNvPr id="539" name="Text 8"/>
          <p:cNvSpPr/>
          <p:nvPr/>
        </p:nvSpPr>
        <p:spPr>
          <a:xfrm>
            <a:off x="77724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Valid: mode, frequency counts. NOT valid: mean, median, or any ranking</a:t>
            </a:r>
            <a:endParaRPr lang="en-US" sz="1300" b="0" u="none" strike="noStrike">
              <a:solidFill>
                <a:srgbClr val="000000"/>
              </a:solidFill>
              <a:effectLst/>
              <a:uFillTx/>
              <a:latin typeface="Arial"/>
            </a:endParaRPr>
          </a:p>
        </p:txBody>
      </p:sp>
      <p:sp>
        <p:nvSpPr>
          <p:cNvPr id="540" name="Shape 9"/>
          <p:cNvSpPr/>
          <p:nvPr/>
        </p:nvSpPr>
        <p:spPr>
          <a:xfrm>
            <a:off x="338328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41" name="Shape 10"/>
          <p:cNvSpPr/>
          <p:nvPr/>
        </p:nvSpPr>
        <p:spPr>
          <a:xfrm>
            <a:off x="4439520" y="1920240"/>
            <a:ext cx="493560" cy="493560"/>
          </a:xfrm>
          <a:prstGeom prst="roundRect">
            <a:avLst>
              <a:gd name="adj" fmla="val 18519"/>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42" name="Text 11"/>
          <p:cNvSpPr/>
          <p:nvPr/>
        </p:nvSpPr>
        <p:spPr>
          <a:xfrm>
            <a:off x="443952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002019"/>
                </a:solidFill>
                <a:effectLst/>
                <a:uFillTx/>
                <a:latin typeface="Bricolage Grotesque"/>
                <a:ea typeface="Bricolage Grotesque"/>
              </a:rPr>
              <a:t>2</a:t>
            </a:r>
            <a:endParaRPr lang="en-US" sz="1600" b="0" u="none" strike="noStrike">
              <a:solidFill>
                <a:srgbClr val="000000"/>
              </a:solidFill>
              <a:effectLst/>
              <a:uFillTx/>
              <a:latin typeface="Arial"/>
            </a:endParaRPr>
          </a:p>
        </p:txBody>
      </p:sp>
      <p:sp>
        <p:nvSpPr>
          <p:cNvPr id="543" name="Shape 12"/>
          <p:cNvSpPr/>
          <p:nvPr/>
        </p:nvSpPr>
        <p:spPr>
          <a:xfrm>
            <a:off x="3566160" y="2606040"/>
            <a:ext cx="2239920" cy="456840"/>
          </a:xfrm>
          <a:prstGeom prst="roundRect">
            <a:avLst>
              <a:gd name="adj" fmla="val 50000"/>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44" name="Text 13"/>
          <p:cNvSpPr/>
          <p:nvPr/>
        </p:nvSpPr>
        <p:spPr>
          <a:xfrm>
            <a:off x="356616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Ordinal</a:t>
            </a:r>
            <a:endParaRPr lang="en-US" sz="1400" b="0" u="none" strike="noStrike">
              <a:solidFill>
                <a:srgbClr val="000000"/>
              </a:solidFill>
              <a:effectLst/>
              <a:uFillTx/>
              <a:latin typeface="Arial"/>
            </a:endParaRPr>
          </a:p>
        </p:txBody>
      </p:sp>
      <p:sp>
        <p:nvSpPr>
          <p:cNvPr id="545" name="Text 14"/>
          <p:cNvSpPr/>
          <p:nvPr/>
        </p:nvSpPr>
        <p:spPr>
          <a:xfrm>
            <a:off x="361188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Valid: mode, median, ranking. Debatable: mean (common in practice, technically imprecise)</a:t>
            </a:r>
            <a:endParaRPr lang="en-US" sz="1300" b="0" u="none" strike="noStrike">
              <a:solidFill>
                <a:srgbClr val="000000"/>
              </a:solidFill>
              <a:effectLst/>
              <a:uFillTx/>
              <a:latin typeface="Arial"/>
            </a:endParaRPr>
          </a:p>
        </p:txBody>
      </p:sp>
      <p:sp>
        <p:nvSpPr>
          <p:cNvPr id="546" name="Shape 15"/>
          <p:cNvSpPr/>
          <p:nvPr/>
        </p:nvSpPr>
        <p:spPr>
          <a:xfrm>
            <a:off x="621792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47" name="Shape 16"/>
          <p:cNvSpPr/>
          <p:nvPr/>
        </p:nvSpPr>
        <p:spPr>
          <a:xfrm>
            <a:off x="7274160" y="1920240"/>
            <a:ext cx="493560" cy="493560"/>
          </a:xfrm>
          <a:prstGeom prst="roundRect">
            <a:avLst>
              <a:gd name="adj" fmla="val 18519"/>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48" name="Text 17"/>
          <p:cNvSpPr/>
          <p:nvPr/>
        </p:nvSpPr>
        <p:spPr>
          <a:xfrm>
            <a:off x="727416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4C112D"/>
                </a:solidFill>
                <a:effectLst/>
                <a:uFillTx/>
                <a:latin typeface="Bricolage Grotesque"/>
                <a:ea typeface="Bricolage Grotesque"/>
              </a:rPr>
              <a:t>3</a:t>
            </a:r>
            <a:endParaRPr lang="en-US" sz="1600" b="0" u="none" strike="noStrike">
              <a:solidFill>
                <a:srgbClr val="000000"/>
              </a:solidFill>
              <a:effectLst/>
              <a:uFillTx/>
              <a:latin typeface="Arial"/>
            </a:endParaRPr>
          </a:p>
        </p:txBody>
      </p:sp>
      <p:sp>
        <p:nvSpPr>
          <p:cNvPr id="549" name="Shape 18"/>
          <p:cNvSpPr/>
          <p:nvPr/>
        </p:nvSpPr>
        <p:spPr>
          <a:xfrm>
            <a:off x="6400800" y="2606040"/>
            <a:ext cx="2239920" cy="456840"/>
          </a:xfrm>
          <a:prstGeom prst="roundRect">
            <a:avLst>
              <a:gd name="adj" fmla="val 50000"/>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50" name="Text 19"/>
          <p:cNvSpPr/>
          <p:nvPr/>
        </p:nvSpPr>
        <p:spPr>
          <a:xfrm>
            <a:off x="640080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4C112D"/>
                </a:solidFill>
                <a:effectLst/>
                <a:uFillTx/>
                <a:latin typeface="Plus Jakarta Sans"/>
                <a:ea typeface="Plus Jakarta Sans"/>
              </a:rPr>
              <a:t>Interval</a:t>
            </a:r>
            <a:endParaRPr lang="en-US" sz="1400" b="0" u="none" strike="noStrike">
              <a:solidFill>
                <a:srgbClr val="000000"/>
              </a:solidFill>
              <a:effectLst/>
              <a:uFillTx/>
              <a:latin typeface="Arial"/>
            </a:endParaRPr>
          </a:p>
        </p:txBody>
      </p:sp>
      <p:sp>
        <p:nvSpPr>
          <p:cNvPr id="551" name="Text 20"/>
          <p:cNvSpPr/>
          <p:nvPr/>
        </p:nvSpPr>
        <p:spPr>
          <a:xfrm>
            <a:off x="644652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Valid: mean, median, mode, addition/subtraction. NOT valid: meaningful ratios ("twice as much")</a:t>
            </a:r>
            <a:endParaRPr lang="en-US" sz="1300" b="0" u="none" strike="noStrike">
              <a:solidFill>
                <a:srgbClr val="000000"/>
              </a:solidFill>
              <a:effectLst/>
              <a:uFillTx/>
              <a:latin typeface="Arial"/>
            </a:endParaRPr>
          </a:p>
        </p:txBody>
      </p:sp>
      <p:sp>
        <p:nvSpPr>
          <p:cNvPr id="552" name="Shape 21"/>
          <p:cNvSpPr/>
          <p:nvPr/>
        </p:nvSpPr>
        <p:spPr>
          <a:xfrm>
            <a:off x="905256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53" name="Shape 22"/>
          <p:cNvSpPr/>
          <p:nvPr/>
        </p:nvSpPr>
        <p:spPr>
          <a:xfrm>
            <a:off x="10108800" y="1920240"/>
            <a:ext cx="493560" cy="493560"/>
          </a:xfrm>
          <a:prstGeom prst="roundRect">
            <a:avLst>
              <a:gd name="adj" fmla="val 18519"/>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54" name="Text 23"/>
          <p:cNvSpPr/>
          <p:nvPr/>
        </p:nvSpPr>
        <p:spPr>
          <a:xfrm>
            <a:off x="1010880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002019"/>
                </a:solidFill>
                <a:effectLst/>
                <a:uFillTx/>
                <a:latin typeface="Bricolage Grotesque"/>
                <a:ea typeface="Bricolage Grotesque"/>
              </a:rPr>
              <a:t>4</a:t>
            </a:r>
            <a:endParaRPr lang="en-US" sz="1600" b="0" u="none" strike="noStrike">
              <a:solidFill>
                <a:srgbClr val="000000"/>
              </a:solidFill>
              <a:effectLst/>
              <a:uFillTx/>
              <a:latin typeface="Arial"/>
            </a:endParaRPr>
          </a:p>
        </p:txBody>
      </p:sp>
      <p:sp>
        <p:nvSpPr>
          <p:cNvPr id="555" name="Shape 24"/>
          <p:cNvSpPr/>
          <p:nvPr/>
        </p:nvSpPr>
        <p:spPr>
          <a:xfrm>
            <a:off x="9235440" y="2606040"/>
            <a:ext cx="2239920" cy="456840"/>
          </a:xfrm>
          <a:prstGeom prst="roundRect">
            <a:avLst>
              <a:gd name="adj" fmla="val 50000"/>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56" name="Text 25"/>
          <p:cNvSpPr/>
          <p:nvPr/>
        </p:nvSpPr>
        <p:spPr>
          <a:xfrm>
            <a:off x="923544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Ratio</a:t>
            </a:r>
            <a:endParaRPr lang="en-US" sz="1400" b="0" u="none" strike="noStrike">
              <a:solidFill>
                <a:srgbClr val="000000"/>
              </a:solidFill>
              <a:effectLst/>
              <a:uFillTx/>
              <a:latin typeface="Arial"/>
            </a:endParaRPr>
          </a:p>
        </p:txBody>
      </p:sp>
      <p:sp>
        <p:nvSpPr>
          <p:cNvPr id="557" name="Text 26"/>
          <p:cNvSpPr/>
          <p:nvPr/>
        </p:nvSpPr>
        <p:spPr>
          <a:xfrm>
            <a:off x="928116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Valid: absolutely everything — mean, median, mode, ratios, and every arithmetic operation</a:t>
            </a:r>
            <a:endParaRPr lang="en-US" sz="13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558"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559"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37</a:t>
            </a:r>
            <a:endParaRPr lang="en-US" sz="900" b="0" u="none" strike="noStrike">
              <a:solidFill>
                <a:srgbClr val="000000"/>
              </a:solidFill>
              <a:effectLst/>
              <a:uFillTx/>
              <a:latin typeface="Arial"/>
            </a:endParaRPr>
          </a:p>
        </p:txBody>
      </p:sp>
      <p:pic>
        <p:nvPicPr>
          <p:cNvPr id="560" name="Image 0" descr="/home/claude/assets/logo_crop.png"/>
          <p:cNvPicPr/>
          <p:nvPr/>
        </p:nvPicPr>
        <p:blipFill>
          <a:blip r:embed="rId3"/>
          <a:stretch/>
        </p:blipFill>
        <p:spPr>
          <a:xfrm>
            <a:off x="11201400" y="384120"/>
            <a:ext cx="456840" cy="511560"/>
          </a:xfrm>
          <a:prstGeom prst="rect">
            <a:avLst/>
          </a:prstGeom>
          <a:noFill/>
          <a:ln w="0">
            <a:noFill/>
          </a:ln>
        </p:spPr>
      </p:pic>
      <p:sp>
        <p:nvSpPr>
          <p:cNvPr id="561"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Valid Statistics for Each Scale</a:t>
            </a:r>
            <a:endParaRPr lang="en-US" sz="2600" b="0" u="none" strike="noStrike">
              <a:solidFill>
                <a:srgbClr val="000000"/>
              </a:solidFill>
              <a:effectLst/>
              <a:uFillTx/>
              <a:latin typeface="Arial"/>
            </a:endParaRPr>
          </a:p>
        </p:txBody>
      </p:sp>
      <p:sp>
        <p:nvSpPr>
          <p:cNvPr id="562"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Match the statistic to the scale before you compute anything.</a:t>
            </a:r>
            <a:endParaRPr lang="en-US" sz="2000" b="0" u="none" strike="noStrike">
              <a:solidFill>
                <a:srgbClr val="000000"/>
              </a:solidFill>
              <a:effectLst/>
              <a:uFillTx/>
              <a:latin typeface="Arial"/>
              <a:cs typeface="Arial"/>
            </a:endParaRPr>
          </a:p>
          <a:p>
            <a:pPr marL="285750" indent="-285750" defTabSz="914400">
              <a:lnSpc>
                <a:spcPct val="100000"/>
              </a:lnSpc>
              <a:spcAft>
                <a:spcPts val="1400"/>
              </a:spcAft>
              <a:buClr>
                <a:srgbClr val="1B1B20"/>
              </a:buClr>
              <a:buFont typeface="Arial"/>
              <a:buChar char="•"/>
            </a:pPr>
            <a:r>
              <a:rPr lang="en-US" sz="2000" b="0" u="none" strike="noStrike" dirty="0" err="1">
                <a:solidFill>
                  <a:srgbClr val="1B1B20"/>
                </a:solidFill>
                <a:effectLst/>
                <a:uFillTx/>
                <a:latin typeface="Hanken Grotesk"/>
                <a:ea typeface="Hanken Grotesk"/>
              </a:rPr>
              <a:t>statistics.mode</a:t>
            </a:r>
            <a:r>
              <a:rPr lang="en-US" sz="2000" b="0" u="none" strike="noStrike" dirty="0">
                <a:solidFill>
                  <a:srgbClr val="1B1B20"/>
                </a:solidFill>
                <a:effectLst/>
                <a:uFillTx/>
                <a:latin typeface="Hanken Grotesk"/>
                <a:ea typeface="Hanken Grotesk"/>
              </a:rPr>
              <a:t> works on labels; median needs an order; mean needs real distances.</a:t>
            </a:r>
            <a:endParaRPr lang="en-US" sz="2000" b="0" u="none" strike="noStrike">
              <a:solidFill>
                <a:srgbClr val="000000"/>
              </a:solidFill>
              <a:effectLst/>
              <a:uFillTx/>
              <a:latin typeface="Arial"/>
              <a:cs typeface="Arial"/>
            </a:endParaRPr>
          </a:p>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Computing a “mean </a:t>
            </a:r>
            <a:r>
              <a:rPr lang="en-US" sz="2000" b="0" u="none" strike="noStrike" dirty="0" err="1">
                <a:solidFill>
                  <a:srgbClr val="1B1B20"/>
                </a:solidFill>
                <a:effectLst/>
                <a:uFillTx/>
                <a:latin typeface="Hanken Grotesk"/>
                <a:ea typeface="Hanken Grotesk"/>
              </a:rPr>
              <a:t>colour</a:t>
            </a:r>
            <a:r>
              <a:rPr lang="en-US" sz="2000" b="0" u="none" strike="noStrike" dirty="0">
                <a:solidFill>
                  <a:srgbClr val="1B1B20"/>
                </a:solidFill>
                <a:effectLst/>
                <a:uFillTx/>
                <a:latin typeface="Hanken Grotesk"/>
                <a:ea typeface="Hanken Grotesk"/>
              </a:rPr>
              <a:t>” is possible in code — but meaningless.</a:t>
            </a:r>
            <a:endParaRPr lang="en-US" sz="2000" b="0" u="none" strike="noStrike">
              <a:solidFill>
                <a:srgbClr val="000000"/>
              </a:solidFill>
              <a:effectLst/>
              <a:uFillTx/>
              <a:latin typeface="Arial"/>
              <a:cs typeface="Arial"/>
            </a:endParaRPr>
          </a:p>
        </p:txBody>
      </p:sp>
      <p:sp>
        <p:nvSpPr>
          <p:cNvPr id="563"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64"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565"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566"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567"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200" b="0" u="none" strike="noStrike">
                <a:solidFill>
                  <a:srgbClr val="F1F5F9"/>
                </a:solidFill>
                <a:effectLst/>
                <a:uFillTx/>
                <a:latin typeface="Cantarell"/>
                <a:ea typeface="Consolas"/>
              </a:rPr>
              <a:t>import statistics</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colors = ["red", "blue", "red", "green"]  </a:t>
            </a:r>
            <a:r>
              <a:rPr lang="en-US" sz="1200" b="0" i="1" u="none" strike="noStrike">
                <a:solidFill>
                  <a:srgbClr val="94A3B8"/>
                </a:solidFill>
                <a:effectLst/>
                <a:uFillTx/>
                <a:latin typeface="Cantarell"/>
                <a:ea typeface="Consolas"/>
              </a:rPr>
              <a:t># nominal</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sizes = [1, 2, 2, 3, 4]                   </a:t>
            </a:r>
            <a:r>
              <a:rPr lang="en-US" sz="1200" b="0" i="1" u="none" strike="noStrike">
                <a:solidFill>
                  <a:srgbClr val="94A3B8"/>
                </a:solidFill>
                <a:effectLst/>
                <a:uFillTx/>
                <a:latin typeface="Cantarell"/>
                <a:ea typeface="Consolas"/>
              </a:rPr>
              <a:t># ordinal</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temps = [20, 25, 30]                      </a:t>
            </a:r>
            <a:r>
              <a:rPr lang="en-US" sz="1200" b="0" i="1" u="none" strike="noStrike">
                <a:solidFill>
                  <a:srgbClr val="94A3B8"/>
                </a:solidFill>
                <a:effectLst/>
                <a:uFillTx/>
                <a:latin typeface="Cantarell"/>
                <a:ea typeface="Consolas"/>
              </a:rPr>
              <a:t># interval</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income = [20, 40]                         </a:t>
            </a:r>
            <a:r>
              <a:rPr lang="en-US" sz="1200" b="0" i="1" u="none" strike="noStrike">
                <a:solidFill>
                  <a:srgbClr val="94A3B8"/>
                </a:solidFill>
                <a:effectLst/>
                <a:uFillTx/>
                <a:latin typeface="Cantarell"/>
                <a:ea typeface="Consolas"/>
              </a:rPr>
              <a:t># ratio</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print(statistics.mode(colors))    </a:t>
            </a:r>
            <a:r>
              <a:rPr lang="en-US" sz="1200" b="0" i="1" u="none" strike="noStrike">
                <a:solidFill>
                  <a:srgbClr val="94A3B8"/>
                </a:solidFill>
                <a:effectLst/>
                <a:uFillTx/>
                <a:latin typeface="Cantarell"/>
                <a:ea typeface="Consolas"/>
              </a:rPr>
              <a:t># red</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print(statistics.median(sizes))   </a:t>
            </a:r>
            <a:r>
              <a:rPr lang="en-US" sz="1200" b="0" i="1" u="none" strike="noStrike">
                <a:solidFill>
                  <a:srgbClr val="94A3B8"/>
                </a:solidFill>
                <a:effectLst/>
                <a:uFillTx/>
                <a:latin typeface="Cantarell"/>
                <a:ea typeface="Consolas"/>
              </a:rPr>
              <a:t># 2</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print(statistics.mean(temps))     </a:t>
            </a:r>
            <a:r>
              <a:rPr lang="en-US" sz="1200" b="0" i="1" u="none" strike="noStrike">
                <a:solidFill>
                  <a:srgbClr val="94A3B8"/>
                </a:solidFill>
                <a:effectLst/>
                <a:uFillTx/>
                <a:latin typeface="Cantarell"/>
                <a:ea typeface="Consolas"/>
              </a:rPr>
              <a:t># 25</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print(income[1] / income[0])      </a:t>
            </a:r>
            <a:r>
              <a:rPr lang="en-US" sz="1200" b="0" i="1" u="none" strike="noStrike">
                <a:solidFill>
                  <a:srgbClr val="94A3B8"/>
                </a:solidFill>
                <a:effectLst/>
                <a:uFillTx/>
                <a:latin typeface="Cantarell"/>
                <a:ea typeface="Consolas"/>
              </a:rPr>
              <a:t># 2.0</a:t>
            </a:r>
            <a:endParaRPr lang="en-US" sz="12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568"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569"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38</a:t>
            </a:r>
            <a:endParaRPr lang="en-US" sz="900" b="0" u="none" strike="noStrike">
              <a:solidFill>
                <a:srgbClr val="000000"/>
              </a:solidFill>
              <a:effectLst/>
              <a:uFillTx/>
              <a:latin typeface="Arial"/>
            </a:endParaRPr>
          </a:p>
        </p:txBody>
      </p:sp>
      <p:pic>
        <p:nvPicPr>
          <p:cNvPr id="570" name="Image 0" descr="/home/claude/assets/logo_crop.png"/>
          <p:cNvPicPr/>
          <p:nvPr/>
        </p:nvPicPr>
        <p:blipFill>
          <a:blip r:embed="rId3"/>
          <a:stretch/>
        </p:blipFill>
        <p:spPr>
          <a:xfrm>
            <a:off x="11201400" y="384120"/>
            <a:ext cx="456840" cy="511560"/>
          </a:xfrm>
          <a:prstGeom prst="rect">
            <a:avLst/>
          </a:prstGeom>
          <a:noFill/>
          <a:ln w="0">
            <a:noFill/>
          </a:ln>
        </p:spPr>
      </p:pic>
      <p:sp>
        <p:nvSpPr>
          <p:cNvPr id="571" name="Shape 2"/>
          <p:cNvSpPr/>
          <p:nvPr/>
        </p:nvSpPr>
        <p:spPr>
          <a:xfrm>
            <a:off x="548640" y="502920"/>
            <a:ext cx="566640" cy="566640"/>
          </a:xfrm>
          <a:prstGeom prst="roundRect">
            <a:avLst>
              <a:gd name="adj" fmla="val 19355"/>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72" name="Text 3"/>
          <p:cNvSpPr/>
          <p:nvPr/>
        </p:nvSpPr>
        <p:spPr>
          <a:xfrm>
            <a:off x="548640" y="50292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231F71"/>
                </a:solidFill>
                <a:effectLst/>
                <a:uFillTx/>
                <a:latin typeface="Bricolage Grotesque"/>
                <a:ea typeface="Bricolage Grotesque"/>
              </a:rPr>
              <a:t>◎</a:t>
            </a:r>
            <a:endParaRPr lang="en-US" sz="1800" b="0" u="none" strike="noStrike">
              <a:solidFill>
                <a:srgbClr val="000000"/>
              </a:solidFill>
              <a:effectLst/>
              <a:uFillTx/>
              <a:latin typeface="Arial"/>
            </a:endParaRPr>
          </a:p>
        </p:txBody>
      </p:sp>
      <p:sp>
        <p:nvSpPr>
          <p:cNvPr id="573" name="Text 4"/>
          <p:cNvSpPr/>
          <p:nvPr/>
        </p:nvSpPr>
        <p:spPr>
          <a:xfrm>
            <a:off x="1261800" y="5029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spc="99">
                <a:solidFill>
                  <a:srgbClr val="5755A7"/>
                </a:solidFill>
                <a:effectLst/>
                <a:uFillTx/>
                <a:latin typeface="Plus Jakarta Sans"/>
                <a:ea typeface="Plus Jakarta Sans"/>
              </a:rPr>
              <a:t>PART 3</a:t>
            </a:r>
            <a:endParaRPr lang="en-US" sz="900" b="0" u="none" strike="noStrike">
              <a:solidFill>
                <a:srgbClr val="000000"/>
              </a:solidFill>
              <a:effectLst/>
              <a:uFillTx/>
              <a:latin typeface="Arial"/>
            </a:endParaRPr>
          </a:p>
        </p:txBody>
      </p:sp>
      <p:sp>
        <p:nvSpPr>
          <p:cNvPr id="574" name="Text 5"/>
          <p:cNvSpPr/>
          <p:nvPr/>
        </p:nvSpPr>
        <p:spPr>
          <a:xfrm>
            <a:off x="1261800" y="77724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00" b="1" u="none" strike="noStrike">
                <a:solidFill>
                  <a:srgbClr val="1B1B20"/>
                </a:solidFill>
                <a:effectLst/>
                <a:uFillTx/>
                <a:latin typeface="Bricolage Grotesque"/>
                <a:ea typeface="Bricolage Grotesque"/>
              </a:rPr>
              <a:t>Practice Set — Types of Data &amp; Measurement Scales</a:t>
            </a:r>
            <a:endParaRPr lang="en-US" sz="2000" b="0" u="none" strike="noStrike">
              <a:solidFill>
                <a:srgbClr val="000000"/>
              </a:solidFill>
              <a:effectLst/>
              <a:uFillTx/>
              <a:latin typeface="Arial"/>
            </a:endParaRPr>
          </a:p>
        </p:txBody>
      </p:sp>
      <p:sp>
        <p:nvSpPr>
          <p:cNvPr id="575" name="Text 6"/>
          <p:cNvSpPr/>
          <p:nvPr/>
        </p:nvSpPr>
        <p:spPr>
          <a:xfrm>
            <a:off x="548640" y="1417320"/>
            <a:ext cx="10515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i="1" u="none" strike="noStrike">
                <a:solidFill>
                  <a:srgbClr val="474651"/>
                </a:solidFill>
                <a:effectLst/>
                <a:uFillTx/>
                <a:latin typeface="Hanken Grotesk"/>
                <a:ea typeface="Hanken Grotesk"/>
              </a:rPr>
              <a:t>Try these yourself first — pencil, paper or a quick Python cell.</a:t>
            </a:r>
            <a:endParaRPr lang="en-US" sz="1200" b="0" u="none" strike="noStrike">
              <a:solidFill>
                <a:srgbClr val="000000"/>
              </a:solidFill>
              <a:effectLst/>
              <a:uFillTx/>
              <a:latin typeface="Arial"/>
            </a:endParaRPr>
          </a:p>
        </p:txBody>
      </p:sp>
      <p:sp>
        <p:nvSpPr>
          <p:cNvPr id="576" name="Shape 7"/>
          <p:cNvSpPr/>
          <p:nvPr/>
        </p:nvSpPr>
        <p:spPr>
          <a:xfrm>
            <a:off x="548640" y="196596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77" name="Shape 8"/>
          <p:cNvSpPr/>
          <p:nvPr/>
        </p:nvSpPr>
        <p:spPr>
          <a:xfrm>
            <a:off x="731520" y="220356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78" name="Text 9"/>
          <p:cNvSpPr/>
          <p:nvPr/>
        </p:nvSpPr>
        <p:spPr>
          <a:xfrm>
            <a:off x="731520" y="220356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579" name="Text 10"/>
          <p:cNvSpPr/>
          <p:nvPr/>
        </p:nvSpPr>
        <p:spPr>
          <a:xfrm>
            <a:off x="1234440" y="196596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Classify each as nominal, ordinal, interval, or ratio: shoe size, exam grade (A/B/C), income, year of birth</a:t>
            </a:r>
            <a:endParaRPr lang="en-US" sz="1400" b="0" u="none" strike="noStrike">
              <a:solidFill>
                <a:srgbClr val="000000"/>
              </a:solidFill>
              <a:effectLst/>
              <a:uFillTx/>
              <a:latin typeface="Arial"/>
            </a:endParaRPr>
          </a:p>
        </p:txBody>
      </p:sp>
      <p:sp>
        <p:nvSpPr>
          <p:cNvPr id="580" name="Shape 11"/>
          <p:cNvSpPr/>
          <p:nvPr/>
        </p:nvSpPr>
        <p:spPr>
          <a:xfrm>
            <a:off x="548640" y="289872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81" name="Shape 12"/>
          <p:cNvSpPr/>
          <p:nvPr/>
        </p:nvSpPr>
        <p:spPr>
          <a:xfrm>
            <a:off x="731520" y="313632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82" name="Text 13"/>
          <p:cNvSpPr/>
          <p:nvPr/>
        </p:nvSpPr>
        <p:spPr>
          <a:xfrm>
            <a:off x="731520" y="313632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583" name="Text 14"/>
          <p:cNvSpPr/>
          <p:nvPr/>
        </p:nvSpPr>
        <p:spPr>
          <a:xfrm>
            <a:off x="1234440" y="289872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Explain why "average zip code" is a meaningless calculation, using what you learned about nominal data</a:t>
            </a:r>
            <a:endParaRPr lang="en-US" sz="1400" b="0" u="none" strike="noStrike">
              <a:solidFill>
                <a:srgbClr val="000000"/>
              </a:solidFill>
              <a:effectLst/>
              <a:uFillTx/>
              <a:latin typeface="Arial"/>
            </a:endParaRPr>
          </a:p>
        </p:txBody>
      </p:sp>
      <p:sp>
        <p:nvSpPr>
          <p:cNvPr id="584" name="Shape 15"/>
          <p:cNvSpPr/>
          <p:nvPr/>
        </p:nvSpPr>
        <p:spPr>
          <a:xfrm>
            <a:off x="548640" y="383148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85" name="Shape 16"/>
          <p:cNvSpPr/>
          <p:nvPr/>
        </p:nvSpPr>
        <p:spPr>
          <a:xfrm>
            <a:off x="731520" y="406908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86" name="Text 17"/>
          <p:cNvSpPr/>
          <p:nvPr/>
        </p:nvSpPr>
        <p:spPr>
          <a:xfrm>
            <a:off x="731520" y="406908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587" name="Text 18"/>
          <p:cNvSpPr/>
          <p:nvPr/>
        </p:nvSpPr>
        <p:spPr>
          <a:xfrm>
            <a:off x="1234440" y="383148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Explain why saying "40°C is twice as hot as 20°C" is incorrect, using the interval scale’s lack of a true zero</a:t>
            </a:r>
            <a:endParaRPr lang="en-US" sz="1400" b="0" u="none" strike="noStrike">
              <a:solidFill>
                <a:srgbClr val="000000"/>
              </a:solidFill>
              <a:effectLst/>
              <a:uFillTx/>
              <a:latin typeface="Arial"/>
            </a:endParaRPr>
          </a:p>
        </p:txBody>
      </p:sp>
      <p:sp>
        <p:nvSpPr>
          <p:cNvPr id="588" name="Shape 19"/>
          <p:cNvSpPr/>
          <p:nvPr/>
        </p:nvSpPr>
        <p:spPr>
          <a:xfrm>
            <a:off x="548640" y="476388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89" name="Shape 20"/>
          <p:cNvSpPr/>
          <p:nvPr/>
        </p:nvSpPr>
        <p:spPr>
          <a:xfrm>
            <a:off x="731520" y="500184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90" name="Text 21"/>
          <p:cNvSpPr/>
          <p:nvPr/>
        </p:nvSpPr>
        <p:spPr>
          <a:xfrm>
            <a:off x="731520" y="500184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591" name="Text 22"/>
          <p:cNvSpPr/>
          <p:nvPr/>
        </p:nvSpPr>
        <p:spPr>
          <a:xfrm>
            <a:off x="1234440" y="476388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For a customer satisfaction survey using a 1–5 star rating, identify the scale and explain what operations are safely valid on it</a:t>
            </a:r>
            <a:endParaRPr lang="en-US" sz="14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B0F17"/>
        </a:solidFill>
        <a:effectLst/>
      </p:bgPr>
    </p:bg>
    <p:spTree>
      <p:nvGrpSpPr>
        <p:cNvPr id="1" name=""/>
        <p:cNvGrpSpPr/>
        <p:nvPr/>
      </p:nvGrpSpPr>
      <p:grpSpPr>
        <a:xfrm>
          <a:off x="0" y="0"/>
          <a:ext cx="0" cy="0"/>
          <a:chOff x="0" y="0"/>
          <a:chExt cx="0" cy="0"/>
        </a:xfrm>
      </p:grpSpPr>
      <p:sp>
        <p:nvSpPr>
          <p:cNvPr id="592" name="Shape 0"/>
          <p:cNvSpPr/>
          <p:nvPr/>
        </p:nvSpPr>
        <p:spPr>
          <a:xfrm>
            <a:off x="9692640" y="-1463040"/>
            <a:ext cx="3840120" cy="3840120"/>
          </a:xfrm>
          <a:prstGeom prst="ellipse">
            <a:avLst/>
          </a:prstGeom>
          <a:solidFill>
            <a:srgbClr val="262758">
              <a:alpha val="55000"/>
            </a:srgbClr>
          </a:solidFill>
          <a:ln w="12700">
            <a:solidFill>
              <a:srgbClr val="262758">
                <a:alpha val="5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93" name="Shape 1"/>
          <p:cNvSpPr/>
          <p:nvPr/>
        </p:nvSpPr>
        <p:spPr>
          <a:xfrm>
            <a:off x="-1645920" y="4754880"/>
            <a:ext cx="3474360" cy="3474360"/>
          </a:xfrm>
          <a:prstGeom prst="ellipse">
            <a:avLst/>
          </a:prstGeom>
          <a:solidFill>
            <a:srgbClr val="11362E">
              <a:alpha val="45000"/>
            </a:srgbClr>
          </a:solidFill>
          <a:ln w="12700">
            <a:solidFill>
              <a:srgbClr val="11362E">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94" name="Text 2"/>
          <p:cNvSpPr/>
          <p:nvPr/>
        </p:nvSpPr>
        <p:spPr>
          <a:xfrm>
            <a:off x="640080" y="2194560"/>
            <a:ext cx="91436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spc="201">
                <a:solidFill>
                  <a:srgbClr val="2DD4BF"/>
                </a:solidFill>
                <a:effectLst/>
                <a:uFillTx/>
                <a:latin typeface="Plus Jakarta Sans"/>
                <a:ea typeface="Plus Jakarta Sans"/>
              </a:rPr>
              <a:t>PART 4</a:t>
            </a:r>
            <a:endParaRPr lang="en-US" sz="1400" b="0" u="none" strike="noStrike">
              <a:solidFill>
                <a:srgbClr val="FFFFFF"/>
              </a:solidFill>
              <a:effectLst/>
              <a:uFillTx/>
              <a:latin typeface="Arial"/>
            </a:endParaRPr>
          </a:p>
        </p:txBody>
      </p:sp>
      <p:sp>
        <p:nvSpPr>
          <p:cNvPr id="595" name="Text 3"/>
          <p:cNvSpPr/>
          <p:nvPr/>
        </p:nvSpPr>
        <p:spPr>
          <a:xfrm>
            <a:off x="640080" y="2697480"/>
            <a:ext cx="1033236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4000" b="1" u="none" strike="noStrike">
                <a:solidFill>
                  <a:srgbClr val="F1F5F9"/>
                </a:solidFill>
                <a:effectLst/>
                <a:uFillTx/>
                <a:latin typeface="Bricolage Grotesque"/>
                <a:ea typeface="Bricolage Grotesque"/>
              </a:rPr>
              <a:t>Errors &amp; Bias in Data &amp; Measurement</a:t>
            </a:r>
            <a:endParaRPr lang="en-US" sz="4000" b="0" u="none" strike="noStrike">
              <a:solidFill>
                <a:srgbClr val="FFFFFF"/>
              </a:solidFill>
              <a:effectLst/>
              <a:uFillTx/>
              <a:latin typeface="Arial"/>
            </a:endParaRPr>
          </a:p>
        </p:txBody>
      </p:sp>
      <p:sp>
        <p:nvSpPr>
          <p:cNvPr id="596" name="Text 4"/>
          <p:cNvSpPr/>
          <p:nvPr/>
        </p:nvSpPr>
        <p:spPr>
          <a:xfrm>
            <a:off x="640080" y="4023360"/>
            <a:ext cx="969228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500" b="0" u="none" strike="noStrike">
                <a:solidFill>
                  <a:srgbClr val="94A3B8"/>
                </a:solidFill>
                <a:effectLst/>
                <a:uFillTx/>
                <a:latin typeface="Hanken Grotesk"/>
                <a:ea typeface="Hanken Grotesk"/>
              </a:rPr>
              <a:t>Before trusting any statistic, it’s worth asking where the data could have gone wrong on the way to you</a:t>
            </a:r>
            <a:endParaRPr lang="en-US" sz="1500" b="0" u="none" strike="noStrike">
              <a:solidFill>
                <a:srgbClr val="FFFFFF"/>
              </a:solidFill>
              <a:effectLst/>
              <a:uFillTx/>
              <a:latin typeface="Arial"/>
            </a:endParaRPr>
          </a:p>
        </p:txBody>
      </p:sp>
      <p:sp>
        <p:nvSpPr>
          <p:cNvPr id="597" name="Text 5"/>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94A3B8"/>
                </a:solidFill>
                <a:effectLst/>
                <a:uFillTx/>
                <a:latin typeface="Plus Jakarta Sans"/>
                <a:ea typeface="Plus Jakarta Sans"/>
              </a:rPr>
              <a:t>39</a:t>
            </a:r>
            <a:endParaRPr lang="en-US" sz="900" b="0" u="none" strike="noStrike">
              <a:solidFill>
                <a:srgbClr val="FFFFFF"/>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598"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599"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40</a:t>
            </a:r>
            <a:endParaRPr lang="en-US" sz="900" b="0" u="none" strike="noStrike">
              <a:solidFill>
                <a:srgbClr val="000000"/>
              </a:solidFill>
              <a:effectLst/>
              <a:uFillTx/>
              <a:latin typeface="Arial"/>
            </a:endParaRPr>
          </a:p>
        </p:txBody>
      </p:sp>
      <p:pic>
        <p:nvPicPr>
          <p:cNvPr id="600" name="Image 0" descr="/home/claude/assets/logo_crop.png"/>
          <p:cNvPicPr/>
          <p:nvPr/>
        </p:nvPicPr>
        <p:blipFill>
          <a:blip r:embed="rId3"/>
          <a:stretch/>
        </p:blipFill>
        <p:spPr>
          <a:xfrm>
            <a:off x="11201400" y="384120"/>
            <a:ext cx="456840" cy="511560"/>
          </a:xfrm>
          <a:prstGeom prst="rect">
            <a:avLst/>
          </a:prstGeom>
          <a:noFill/>
          <a:ln w="0">
            <a:noFill/>
          </a:ln>
        </p:spPr>
      </p:pic>
      <p:sp>
        <p:nvSpPr>
          <p:cNvPr id="601"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400" b="1" u="none" strike="noStrike">
                <a:solidFill>
                  <a:srgbClr val="1B1B20"/>
                </a:solidFill>
                <a:effectLst/>
                <a:uFillTx/>
                <a:latin typeface="Bricolage Grotesque"/>
                <a:ea typeface="Bricolage Grotesque"/>
              </a:rPr>
              <a:t>Why Errors Matter Before You Even Start Analyzing</a:t>
            </a:r>
            <a:endParaRPr lang="en-US" sz="2400" b="0" u="none" strike="noStrike">
              <a:solidFill>
                <a:srgbClr val="000000"/>
              </a:solidFill>
              <a:effectLst/>
              <a:uFillTx/>
              <a:latin typeface="Arial"/>
            </a:endParaRPr>
          </a:p>
        </p:txBody>
      </p:sp>
      <p:sp>
        <p:nvSpPr>
          <p:cNvPr id="602"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03"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04"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a:t>
            </a:r>
            <a:endParaRPr lang="en-US" sz="2800" b="0" u="none" strike="noStrike">
              <a:solidFill>
                <a:srgbClr val="000000"/>
              </a:solidFill>
              <a:effectLst/>
              <a:uFillTx/>
              <a:latin typeface="Arial"/>
            </a:endParaRPr>
          </a:p>
        </p:txBody>
      </p:sp>
      <p:sp>
        <p:nvSpPr>
          <p:cNvPr id="605"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Garbage in, garbage out</a:t>
            </a:r>
            <a:endParaRPr lang="en-US" sz="1700" b="0" u="none" strike="noStrike">
              <a:solidFill>
                <a:srgbClr val="000000"/>
              </a:solidFill>
              <a:effectLst/>
              <a:uFillTx/>
              <a:latin typeface="Arial"/>
            </a:endParaRPr>
          </a:p>
        </p:txBody>
      </p:sp>
      <p:sp>
        <p:nvSpPr>
          <p:cNvPr id="606"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No formula can fix data that was collected badly — statistics can describe your data perfectly and still describe the wrong thing entirely</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Understanding where error creeps in is exactly what separates a careful analysis from a misleading one, especially in research</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Error, here, doesn’t mean "a mistake someone made" — it means any gap between what you measured and the real truth, even an entirely honest one</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Two broad categories cover almost every real-world case: sampling error, and non-sampling error</a:t>
            </a:r>
            <a:endParaRPr lang="en-US" sz="20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607"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608"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41</a:t>
            </a:r>
            <a:endParaRPr lang="en-US" sz="900" b="0" u="none" strike="noStrike">
              <a:solidFill>
                <a:srgbClr val="000000"/>
              </a:solidFill>
              <a:effectLst/>
              <a:uFillTx/>
              <a:latin typeface="Arial"/>
            </a:endParaRPr>
          </a:p>
        </p:txBody>
      </p:sp>
      <p:pic>
        <p:nvPicPr>
          <p:cNvPr id="609" name="Image 0" descr="/home/claude/assets/logo_crop.png"/>
          <p:cNvPicPr/>
          <p:nvPr/>
        </p:nvPicPr>
        <p:blipFill>
          <a:blip r:embed="rId3"/>
          <a:stretch/>
        </p:blipFill>
        <p:spPr>
          <a:xfrm>
            <a:off x="11201400" y="384120"/>
            <a:ext cx="456840" cy="511560"/>
          </a:xfrm>
          <a:prstGeom prst="rect">
            <a:avLst/>
          </a:prstGeom>
          <a:noFill/>
          <a:ln w="0">
            <a:noFill/>
          </a:ln>
        </p:spPr>
      </p:pic>
      <p:sp>
        <p:nvSpPr>
          <p:cNvPr id="610"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Sampling Error</a:t>
            </a:r>
            <a:endParaRPr lang="en-US" sz="2600" b="0" u="none" strike="noStrike">
              <a:solidFill>
                <a:srgbClr val="000000"/>
              </a:solidFill>
              <a:effectLst/>
              <a:uFillTx/>
              <a:latin typeface="Arial"/>
            </a:endParaRPr>
          </a:p>
        </p:txBody>
      </p:sp>
      <p:sp>
        <p:nvSpPr>
          <p:cNvPr id="611"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12"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13"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a:t>
            </a:r>
            <a:endParaRPr lang="en-US" sz="2800" b="0" u="none" strike="noStrike">
              <a:solidFill>
                <a:srgbClr val="000000"/>
              </a:solidFill>
              <a:effectLst/>
              <a:uFillTx/>
              <a:latin typeface="Arial"/>
            </a:endParaRPr>
          </a:p>
        </p:txBody>
      </p:sp>
      <p:sp>
        <p:nvSpPr>
          <p:cNvPr id="614"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The sample wasn’t the population</a:t>
            </a:r>
            <a:endParaRPr lang="en-US" sz="1700" b="0" u="none" strike="noStrike">
              <a:solidFill>
                <a:srgbClr val="000000"/>
              </a:solidFill>
              <a:effectLst/>
              <a:uFillTx/>
              <a:latin typeface="Arial"/>
            </a:endParaRPr>
          </a:p>
        </p:txBody>
      </p:sp>
      <p:sp>
        <p:nvSpPr>
          <p:cNvPr id="615"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Sampling error is the natural, unavoidable difference between a sample’s result and the true population value — simply because you didn’t measure everyone</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This exists even with a perfectly random, perfectly executed sample — it’s a mathematical consequence of sampling itself, not a mistake</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Generally, larger samples have smaller sampling error — this is exactly why survey sample sizes matter so much</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This concept is the direct seed of "margin of error" and confidence intervals, which get fully covered in Session 21</a:t>
            </a:r>
            <a:endParaRPr lang="en-US" sz="20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616"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617"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42</a:t>
            </a:r>
            <a:endParaRPr lang="en-US" sz="900" b="0" u="none" strike="noStrike">
              <a:solidFill>
                <a:srgbClr val="000000"/>
              </a:solidFill>
              <a:effectLst/>
              <a:uFillTx/>
              <a:latin typeface="Arial"/>
            </a:endParaRPr>
          </a:p>
        </p:txBody>
      </p:sp>
      <p:pic>
        <p:nvPicPr>
          <p:cNvPr id="618" name="Image 0" descr="/home/claude/assets/logo_crop.png"/>
          <p:cNvPicPr/>
          <p:nvPr/>
        </p:nvPicPr>
        <p:blipFill>
          <a:blip r:embed="rId3"/>
          <a:stretch/>
        </p:blipFill>
        <p:spPr>
          <a:xfrm>
            <a:off x="11201400" y="384120"/>
            <a:ext cx="456840" cy="511560"/>
          </a:xfrm>
          <a:prstGeom prst="rect">
            <a:avLst/>
          </a:prstGeom>
          <a:noFill/>
          <a:ln w="0">
            <a:noFill/>
          </a:ln>
        </p:spPr>
      </p:pic>
      <p:sp>
        <p:nvSpPr>
          <p:cNvPr id="619"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Sampling Error Shrinks with Bigger Samples</a:t>
            </a:r>
            <a:endParaRPr lang="en-US" sz="2600" b="0" u="none" strike="noStrike">
              <a:solidFill>
                <a:srgbClr val="000000"/>
              </a:solidFill>
              <a:effectLst/>
              <a:uFillTx/>
              <a:latin typeface="Arial"/>
            </a:endParaRPr>
          </a:p>
        </p:txBody>
      </p:sp>
      <p:sp>
        <p:nvSpPr>
          <p:cNvPr id="620"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For each sample size we draw 200 samples and average how far off they land.</a:t>
            </a:r>
            <a:endParaRPr lang="en-US" sz="2000" b="0" u="none" strike="noStrike" dirty="0">
              <a:solidFill>
                <a:srgbClr val="000000"/>
              </a:solidFill>
              <a:effectLst/>
              <a:uFillTx/>
              <a:latin typeface="Arial"/>
              <a:cs typeface="Arial"/>
            </a:endParaRPr>
          </a:p>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Bigger samples sit closer to the true mean.</a:t>
            </a:r>
            <a:endParaRPr lang="en-US" sz="2000" b="0" u="none" strike="noStrike" dirty="0">
              <a:solidFill>
                <a:srgbClr val="000000"/>
              </a:solidFill>
              <a:effectLst/>
              <a:uFillTx/>
              <a:latin typeface="Arial"/>
              <a:cs typeface="Arial"/>
            </a:endParaRPr>
          </a:p>
          <a:p>
            <a:pPr marL="342900" indent="-342900" defTabSz="914400">
              <a:lnSpc>
                <a:spcPct val="100000"/>
              </a:lnSpc>
              <a:spcAft>
                <a:spcPts val="1400"/>
              </a:spcAft>
              <a:buClr>
                <a:srgbClr val="1B1B20"/>
              </a:buClr>
              <a:buFont typeface="Arial"/>
              <a:buChar char="•"/>
            </a:pPr>
            <a:r>
              <a:rPr lang="en-US" sz="2000" b="0" u="none" strike="noStrike" dirty="0" err="1">
                <a:solidFill>
                  <a:srgbClr val="1B1B20"/>
                </a:solidFill>
                <a:effectLst/>
                <a:uFillTx/>
                <a:latin typeface="Hanken Grotesk"/>
                <a:ea typeface="Hanken Grotesk"/>
              </a:rPr>
              <a:t>numpy's</a:t>
            </a:r>
            <a:r>
              <a:rPr lang="en-US" sz="2000" b="0" u="none" strike="noStrike" dirty="0">
                <a:solidFill>
                  <a:srgbClr val="1B1B20"/>
                </a:solidFill>
                <a:effectLst/>
                <a:uFillTx/>
                <a:latin typeface="Hanken Grotesk"/>
                <a:ea typeface="Hanken Grotesk"/>
              </a:rPr>
              <a:t> </a:t>
            </a:r>
            <a:r>
              <a:rPr lang="en-US" sz="2000" b="0" u="none" strike="noStrike" dirty="0" err="1">
                <a:solidFill>
                  <a:srgbClr val="1B1B20"/>
                </a:solidFill>
                <a:effectLst/>
                <a:uFillTx/>
                <a:latin typeface="Hanken Grotesk"/>
                <a:ea typeface="Hanken Grotesk"/>
              </a:rPr>
              <a:t>rng.choice</a:t>
            </a:r>
            <a:r>
              <a:rPr lang="en-US" sz="2000" b="0" u="none" strike="noStrike" dirty="0">
                <a:solidFill>
                  <a:srgbClr val="1B1B20"/>
                </a:solidFill>
                <a:effectLst/>
                <a:uFillTx/>
                <a:latin typeface="Hanken Grotesk"/>
                <a:ea typeface="Hanken Grotesk"/>
              </a:rPr>
              <a:t> draws the random samples.</a:t>
            </a:r>
            <a:endParaRPr lang="en-US" sz="2000" b="0" u="none" strike="noStrike" dirty="0">
              <a:solidFill>
                <a:srgbClr val="000000"/>
              </a:solidFill>
              <a:effectLst/>
              <a:uFillTx/>
              <a:latin typeface="Arial"/>
              <a:cs typeface="Arial"/>
            </a:endParaRPr>
          </a:p>
        </p:txBody>
      </p:sp>
      <p:sp>
        <p:nvSpPr>
          <p:cNvPr id="621"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22"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623"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624"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625"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100" b="0" u="none" strike="noStrike">
                <a:solidFill>
                  <a:srgbClr val="F1F5F9"/>
                </a:solidFill>
                <a:effectLst/>
                <a:uFillTx/>
                <a:latin typeface="Cantarell"/>
                <a:ea typeface="Consolas"/>
              </a:rPr>
              <a:t>import numpy as np</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rng = np.random.default_rng(1)</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population = rng.normal(70, 10, 10_000)</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true_mean = population.mean()</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def avg_error(n):</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errs = []</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for _ in range(200):</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s = rng.choice(population, n)</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errs.append(abs(s.mean() - true_mean))</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return round(float(np.mean(errs)), 2)</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print(avg_error(10))              </a:t>
            </a:r>
            <a:r>
              <a:rPr lang="en-US" sz="1100" b="0" i="1" u="none" strike="noStrike">
                <a:solidFill>
                  <a:srgbClr val="94A3B8"/>
                </a:solidFill>
                <a:effectLst/>
                <a:uFillTx/>
                <a:latin typeface="Cantarell"/>
                <a:ea typeface="Consolas"/>
              </a:rPr>
              <a:t># 2.78</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print(avg_error(100))             </a:t>
            </a:r>
            <a:r>
              <a:rPr lang="en-US" sz="1100" b="0" i="1" u="none" strike="noStrike">
                <a:solidFill>
                  <a:srgbClr val="94A3B8"/>
                </a:solidFill>
                <a:effectLst/>
                <a:uFillTx/>
                <a:latin typeface="Cantarell"/>
                <a:ea typeface="Consolas"/>
              </a:rPr>
              <a:t># 0.8</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print(avg_error(1000))            </a:t>
            </a:r>
            <a:r>
              <a:rPr lang="en-US" sz="1100" b="0" i="1" u="none" strike="noStrike">
                <a:solidFill>
                  <a:srgbClr val="94A3B8"/>
                </a:solidFill>
                <a:effectLst/>
                <a:uFillTx/>
                <a:latin typeface="Cantarell"/>
                <a:ea typeface="Consolas"/>
              </a:rPr>
              <a:t># 0.23</a:t>
            </a:r>
            <a:endParaRPr lang="en-US" sz="11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626"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627"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43</a:t>
            </a:r>
            <a:endParaRPr lang="en-US" sz="900" b="0" u="none" strike="noStrike">
              <a:solidFill>
                <a:srgbClr val="000000"/>
              </a:solidFill>
              <a:effectLst/>
              <a:uFillTx/>
              <a:latin typeface="Arial"/>
            </a:endParaRPr>
          </a:p>
        </p:txBody>
      </p:sp>
      <p:pic>
        <p:nvPicPr>
          <p:cNvPr id="628" name="Image 0" descr="/home/claude/assets/logo_crop.png"/>
          <p:cNvPicPr/>
          <p:nvPr/>
        </p:nvPicPr>
        <p:blipFill>
          <a:blip r:embed="rId3"/>
          <a:stretch/>
        </p:blipFill>
        <p:spPr>
          <a:xfrm>
            <a:off x="11201400" y="384120"/>
            <a:ext cx="456840" cy="511560"/>
          </a:xfrm>
          <a:prstGeom prst="rect">
            <a:avLst/>
          </a:prstGeom>
          <a:noFill/>
          <a:ln w="0">
            <a:noFill/>
          </a:ln>
        </p:spPr>
      </p:pic>
      <p:sp>
        <p:nvSpPr>
          <p:cNvPr id="629"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00" b="1" u="none" strike="noStrike">
                <a:solidFill>
                  <a:srgbClr val="1B1B20"/>
                </a:solidFill>
                <a:effectLst/>
                <a:uFillTx/>
                <a:latin typeface="Bricolage Grotesque"/>
                <a:ea typeface="Bricolage Grotesque"/>
              </a:rPr>
              <a:t>Non-Sampling Error — Everything Else That Can Go Wrong</a:t>
            </a:r>
            <a:endParaRPr lang="en-US" sz="2200" b="0" u="none" strike="noStrike">
              <a:solidFill>
                <a:srgbClr val="000000"/>
              </a:solidFill>
              <a:effectLst/>
              <a:uFillTx/>
              <a:latin typeface="Arial"/>
            </a:endParaRPr>
          </a:p>
        </p:txBody>
      </p:sp>
      <p:sp>
        <p:nvSpPr>
          <p:cNvPr id="630"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31"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32"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a:t>
            </a:r>
            <a:endParaRPr lang="en-US" sz="2800" b="0" u="none" strike="noStrike">
              <a:solidFill>
                <a:srgbClr val="000000"/>
              </a:solidFill>
              <a:effectLst/>
              <a:uFillTx/>
              <a:latin typeface="Arial"/>
            </a:endParaRPr>
          </a:p>
        </p:txBody>
      </p:sp>
      <p:sp>
        <p:nvSpPr>
          <p:cNvPr id="633"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Avoidable, if you’re careful</a:t>
            </a:r>
            <a:endParaRPr lang="en-US" sz="1700" b="0" u="none" strike="noStrike">
              <a:solidFill>
                <a:srgbClr val="000000"/>
              </a:solidFill>
              <a:effectLst/>
              <a:uFillTx/>
              <a:latin typeface="Arial"/>
            </a:endParaRPr>
          </a:p>
        </p:txBody>
      </p:sp>
      <p:sp>
        <p:nvSpPr>
          <p:cNvPr id="634"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Unlike sampling error, non-sampling error is NOT unavoidable — it comes from how the data was collected, entered, or reported, and better process can reduce it</a:t>
            </a:r>
            <a:endParaRPr lang="en-US" sz="2000" b="0" u="none" strike="noStrike">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Measurement error: a faulty scale, a poorly worded survey question, or an inconsistent way of recording something</a:t>
            </a:r>
            <a:endParaRPr lang="en-US" sz="2000" b="0" u="none" strike="noStrike">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Non-response error: the people who didn’t answer your survey may differ systematically from those who did</a:t>
            </a:r>
            <a:endParaRPr lang="en-US" sz="2000" b="0" u="none" strike="noStrike">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Data entry error: simple typos, duplicate records, or a unit mismatch (recording kg as </a:t>
            </a:r>
            <a:r>
              <a:rPr lang="en-US" sz="2000" b="0" u="none" strike="noStrike" dirty="0" err="1">
                <a:solidFill>
                  <a:srgbClr val="1B1B20"/>
                </a:solidFill>
                <a:effectLst/>
                <a:uFillTx/>
                <a:latin typeface="Hanken Grotesk"/>
                <a:ea typeface="Hanken Grotesk"/>
              </a:rPr>
              <a:t>lbs</a:t>
            </a:r>
            <a:r>
              <a:rPr lang="en-US" sz="2000" b="0" u="none" strike="noStrike" dirty="0">
                <a:solidFill>
                  <a:srgbClr val="1B1B20"/>
                </a:solidFill>
                <a:effectLst/>
                <a:uFillTx/>
                <a:latin typeface="Hanken Grotesk"/>
                <a:ea typeface="Hanken Grotesk"/>
              </a:rPr>
              <a:t>) during data collection</a:t>
            </a:r>
            <a:endParaRPr lang="en-US" sz="2000" b="0" u="none" strike="noStrike">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635"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636"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44</a:t>
            </a:r>
            <a:endParaRPr lang="en-US" sz="900" b="0" u="none" strike="noStrike">
              <a:solidFill>
                <a:srgbClr val="000000"/>
              </a:solidFill>
              <a:effectLst/>
              <a:uFillTx/>
              <a:latin typeface="Arial"/>
            </a:endParaRPr>
          </a:p>
        </p:txBody>
      </p:sp>
      <p:pic>
        <p:nvPicPr>
          <p:cNvPr id="637" name="Image 0" descr="/home/claude/assets/logo_crop.png"/>
          <p:cNvPicPr/>
          <p:nvPr/>
        </p:nvPicPr>
        <p:blipFill>
          <a:blip r:embed="rId3"/>
          <a:stretch/>
        </p:blipFill>
        <p:spPr>
          <a:xfrm>
            <a:off x="11201400" y="384120"/>
            <a:ext cx="456840" cy="511560"/>
          </a:xfrm>
          <a:prstGeom prst="rect">
            <a:avLst/>
          </a:prstGeom>
          <a:noFill/>
          <a:ln w="0">
            <a:noFill/>
          </a:ln>
        </p:spPr>
      </p:pic>
      <p:sp>
        <p:nvSpPr>
          <p:cNvPr id="638"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400" b="1" u="none" strike="noStrike">
                <a:solidFill>
                  <a:srgbClr val="1B1B20"/>
                </a:solidFill>
                <a:effectLst/>
                <a:uFillTx/>
                <a:latin typeface="Bricolage Grotesque"/>
                <a:ea typeface="Bricolage Grotesque"/>
              </a:rPr>
              <a:t>Common Sources of Non-Sampling Error, at a Glance</a:t>
            </a:r>
            <a:endParaRPr lang="en-US" sz="2400" b="0" u="none" strike="noStrike">
              <a:solidFill>
                <a:srgbClr val="000000"/>
              </a:solidFill>
              <a:effectLst/>
              <a:uFillTx/>
              <a:latin typeface="Arial"/>
            </a:endParaRPr>
          </a:p>
        </p:txBody>
      </p:sp>
      <p:sp>
        <p:nvSpPr>
          <p:cNvPr id="639" name="Shape 3"/>
          <p:cNvSpPr/>
          <p:nvPr/>
        </p:nvSpPr>
        <p:spPr>
          <a:xfrm>
            <a:off x="548640" y="1737360"/>
            <a:ext cx="3550680" cy="4023000"/>
          </a:xfrm>
          <a:prstGeom prst="roundRect">
            <a:avLst>
              <a:gd name="adj" fmla="val 2060"/>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40" name="Shape 4"/>
          <p:cNvSpPr/>
          <p:nvPr/>
        </p:nvSpPr>
        <p:spPr>
          <a:xfrm>
            <a:off x="2077200" y="1920240"/>
            <a:ext cx="493560" cy="493560"/>
          </a:xfrm>
          <a:prstGeom prst="roundRect">
            <a:avLst>
              <a:gd name="adj" fmla="val 18519"/>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41" name="Text 5"/>
          <p:cNvSpPr/>
          <p:nvPr/>
        </p:nvSpPr>
        <p:spPr>
          <a:xfrm>
            <a:off x="207720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Bricolage Grotesque"/>
                <a:ea typeface="Bricolage Grotesque"/>
              </a:rPr>
              <a:t>1</a:t>
            </a:r>
            <a:endParaRPr lang="en-US" sz="1600" b="0" u="none" strike="noStrike">
              <a:solidFill>
                <a:srgbClr val="000000"/>
              </a:solidFill>
              <a:effectLst/>
              <a:uFillTx/>
              <a:latin typeface="Arial"/>
            </a:endParaRPr>
          </a:p>
        </p:txBody>
      </p:sp>
      <p:sp>
        <p:nvSpPr>
          <p:cNvPr id="642" name="Shape 6"/>
          <p:cNvSpPr/>
          <p:nvPr/>
        </p:nvSpPr>
        <p:spPr>
          <a:xfrm>
            <a:off x="731520" y="2606040"/>
            <a:ext cx="3184920" cy="456840"/>
          </a:xfrm>
          <a:prstGeom prst="roundRect">
            <a:avLst>
              <a:gd name="adj" fmla="val 5000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43" name="Text 7"/>
          <p:cNvSpPr/>
          <p:nvPr/>
        </p:nvSpPr>
        <p:spPr>
          <a:xfrm>
            <a:off x="731520" y="2606040"/>
            <a:ext cx="3184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Plus Jakarta Sans"/>
                <a:ea typeface="Plus Jakarta Sans"/>
              </a:rPr>
              <a:t>Measurement Error</a:t>
            </a:r>
            <a:endParaRPr lang="en-US" sz="1400" b="0" u="none" strike="noStrike">
              <a:solidFill>
                <a:srgbClr val="000000"/>
              </a:solidFill>
              <a:effectLst/>
              <a:uFillTx/>
              <a:latin typeface="Arial"/>
            </a:endParaRPr>
          </a:p>
        </p:txBody>
      </p:sp>
      <p:sp>
        <p:nvSpPr>
          <p:cNvPr id="644" name="Text 8"/>
          <p:cNvSpPr/>
          <p:nvPr/>
        </p:nvSpPr>
        <p:spPr>
          <a:xfrm>
            <a:off x="777240" y="3291840"/>
            <a:ext cx="3093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The tool, question, or process used to record the data was flawed or inconsistent</a:t>
            </a:r>
            <a:endParaRPr lang="en-US" sz="1400" b="0" u="none" strike="noStrike">
              <a:solidFill>
                <a:srgbClr val="000000"/>
              </a:solidFill>
              <a:effectLst/>
              <a:uFillTx/>
              <a:latin typeface="Arial"/>
            </a:endParaRPr>
          </a:p>
        </p:txBody>
      </p:sp>
      <p:sp>
        <p:nvSpPr>
          <p:cNvPr id="645" name="Shape 9"/>
          <p:cNvSpPr/>
          <p:nvPr/>
        </p:nvSpPr>
        <p:spPr>
          <a:xfrm>
            <a:off x="4328280" y="1737360"/>
            <a:ext cx="3550680" cy="4023000"/>
          </a:xfrm>
          <a:prstGeom prst="roundRect">
            <a:avLst>
              <a:gd name="adj" fmla="val 2060"/>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46" name="Shape 10"/>
          <p:cNvSpPr/>
          <p:nvPr/>
        </p:nvSpPr>
        <p:spPr>
          <a:xfrm>
            <a:off x="5856840" y="1920240"/>
            <a:ext cx="493560" cy="493560"/>
          </a:xfrm>
          <a:prstGeom prst="roundRect">
            <a:avLst>
              <a:gd name="adj" fmla="val 18519"/>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47" name="Text 11"/>
          <p:cNvSpPr/>
          <p:nvPr/>
        </p:nvSpPr>
        <p:spPr>
          <a:xfrm>
            <a:off x="585684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002019"/>
                </a:solidFill>
                <a:effectLst/>
                <a:uFillTx/>
                <a:latin typeface="Bricolage Grotesque"/>
                <a:ea typeface="Bricolage Grotesque"/>
              </a:rPr>
              <a:t>2</a:t>
            </a:r>
            <a:endParaRPr lang="en-US" sz="1600" b="0" u="none" strike="noStrike">
              <a:solidFill>
                <a:srgbClr val="000000"/>
              </a:solidFill>
              <a:effectLst/>
              <a:uFillTx/>
              <a:latin typeface="Arial"/>
            </a:endParaRPr>
          </a:p>
        </p:txBody>
      </p:sp>
      <p:sp>
        <p:nvSpPr>
          <p:cNvPr id="648" name="Shape 12"/>
          <p:cNvSpPr/>
          <p:nvPr/>
        </p:nvSpPr>
        <p:spPr>
          <a:xfrm>
            <a:off x="4511160" y="2606040"/>
            <a:ext cx="3184920" cy="456840"/>
          </a:xfrm>
          <a:prstGeom prst="roundRect">
            <a:avLst>
              <a:gd name="adj" fmla="val 50000"/>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49" name="Text 13"/>
          <p:cNvSpPr/>
          <p:nvPr/>
        </p:nvSpPr>
        <p:spPr>
          <a:xfrm>
            <a:off x="4511160" y="2606040"/>
            <a:ext cx="3184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Non-Response Error</a:t>
            </a:r>
            <a:endParaRPr lang="en-US" sz="1400" b="0" u="none" strike="noStrike">
              <a:solidFill>
                <a:srgbClr val="000000"/>
              </a:solidFill>
              <a:effectLst/>
              <a:uFillTx/>
              <a:latin typeface="Arial"/>
            </a:endParaRPr>
          </a:p>
        </p:txBody>
      </p:sp>
      <p:sp>
        <p:nvSpPr>
          <p:cNvPr id="650" name="Text 14"/>
          <p:cNvSpPr/>
          <p:nvPr/>
        </p:nvSpPr>
        <p:spPr>
          <a:xfrm>
            <a:off x="4556880" y="3291840"/>
            <a:ext cx="3093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The people who didn’t respond likely differ from those who did, skewing results</a:t>
            </a:r>
            <a:endParaRPr lang="en-US" sz="1400" b="0" u="none" strike="noStrike">
              <a:solidFill>
                <a:srgbClr val="000000"/>
              </a:solidFill>
              <a:effectLst/>
              <a:uFillTx/>
              <a:latin typeface="Arial"/>
            </a:endParaRPr>
          </a:p>
        </p:txBody>
      </p:sp>
      <p:sp>
        <p:nvSpPr>
          <p:cNvPr id="651" name="Shape 15"/>
          <p:cNvSpPr/>
          <p:nvPr/>
        </p:nvSpPr>
        <p:spPr>
          <a:xfrm>
            <a:off x="8107560" y="1737360"/>
            <a:ext cx="3550680" cy="4023000"/>
          </a:xfrm>
          <a:prstGeom prst="roundRect">
            <a:avLst>
              <a:gd name="adj" fmla="val 2060"/>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52" name="Shape 16"/>
          <p:cNvSpPr/>
          <p:nvPr/>
        </p:nvSpPr>
        <p:spPr>
          <a:xfrm>
            <a:off x="9636120" y="1920240"/>
            <a:ext cx="493560" cy="493560"/>
          </a:xfrm>
          <a:prstGeom prst="roundRect">
            <a:avLst>
              <a:gd name="adj" fmla="val 18519"/>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53" name="Text 17"/>
          <p:cNvSpPr/>
          <p:nvPr/>
        </p:nvSpPr>
        <p:spPr>
          <a:xfrm>
            <a:off x="963612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4C112D"/>
                </a:solidFill>
                <a:effectLst/>
                <a:uFillTx/>
                <a:latin typeface="Bricolage Grotesque"/>
                <a:ea typeface="Bricolage Grotesque"/>
              </a:rPr>
              <a:t>3</a:t>
            </a:r>
            <a:endParaRPr lang="en-US" sz="1600" b="0" u="none" strike="noStrike">
              <a:solidFill>
                <a:srgbClr val="000000"/>
              </a:solidFill>
              <a:effectLst/>
              <a:uFillTx/>
              <a:latin typeface="Arial"/>
            </a:endParaRPr>
          </a:p>
        </p:txBody>
      </p:sp>
      <p:sp>
        <p:nvSpPr>
          <p:cNvPr id="654" name="Shape 18"/>
          <p:cNvSpPr/>
          <p:nvPr/>
        </p:nvSpPr>
        <p:spPr>
          <a:xfrm>
            <a:off x="8290440" y="2606040"/>
            <a:ext cx="3184920" cy="456840"/>
          </a:xfrm>
          <a:prstGeom prst="roundRect">
            <a:avLst>
              <a:gd name="adj" fmla="val 50000"/>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55" name="Text 19"/>
          <p:cNvSpPr/>
          <p:nvPr/>
        </p:nvSpPr>
        <p:spPr>
          <a:xfrm>
            <a:off x="8290440" y="2606040"/>
            <a:ext cx="3184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4C112D"/>
                </a:solidFill>
                <a:effectLst/>
                <a:uFillTx/>
                <a:latin typeface="Plus Jakarta Sans"/>
                <a:ea typeface="Plus Jakarta Sans"/>
              </a:rPr>
              <a:t>Data Entry Error</a:t>
            </a:r>
            <a:endParaRPr lang="en-US" sz="1400" b="0" u="none" strike="noStrike">
              <a:solidFill>
                <a:srgbClr val="000000"/>
              </a:solidFill>
              <a:effectLst/>
              <a:uFillTx/>
              <a:latin typeface="Arial"/>
            </a:endParaRPr>
          </a:p>
        </p:txBody>
      </p:sp>
      <p:sp>
        <p:nvSpPr>
          <p:cNvPr id="656" name="Text 20"/>
          <p:cNvSpPr/>
          <p:nvPr/>
        </p:nvSpPr>
        <p:spPr>
          <a:xfrm>
            <a:off x="8336160" y="3291840"/>
            <a:ext cx="3093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Typos, duplicates, and unit mismatches introduced while recording or storing data</a:t>
            </a:r>
            <a:endParaRPr lang="en-US" sz="14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657"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658"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45</a:t>
            </a:r>
            <a:endParaRPr lang="en-US" sz="900" b="0" u="none" strike="noStrike">
              <a:solidFill>
                <a:srgbClr val="000000"/>
              </a:solidFill>
              <a:effectLst/>
              <a:uFillTx/>
              <a:latin typeface="Arial"/>
            </a:endParaRPr>
          </a:p>
        </p:txBody>
      </p:sp>
      <p:pic>
        <p:nvPicPr>
          <p:cNvPr id="659" name="Image 0" descr="/home/claude/assets/logo_crop.png"/>
          <p:cNvPicPr/>
          <p:nvPr/>
        </p:nvPicPr>
        <p:blipFill>
          <a:blip r:embed="rId3"/>
          <a:stretch/>
        </p:blipFill>
        <p:spPr>
          <a:xfrm>
            <a:off x="11201400" y="384120"/>
            <a:ext cx="456840" cy="511560"/>
          </a:xfrm>
          <a:prstGeom prst="rect">
            <a:avLst/>
          </a:prstGeom>
          <a:noFill/>
          <a:ln w="0">
            <a:noFill/>
          </a:ln>
        </p:spPr>
      </p:pic>
      <p:sp>
        <p:nvSpPr>
          <p:cNvPr id="660"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Catching Data Entry Errors with pandas</a:t>
            </a:r>
            <a:endParaRPr lang="en-US" sz="2600" b="0" u="none" strike="noStrike">
              <a:solidFill>
                <a:srgbClr val="000000"/>
              </a:solidFill>
              <a:effectLst/>
              <a:uFillTx/>
              <a:latin typeface="Arial"/>
            </a:endParaRPr>
          </a:p>
        </p:txBody>
      </p:sp>
      <p:sp>
        <p:nvSpPr>
          <p:cNvPr id="661"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Duplicates and impossible values are the most common data entry errors.</a:t>
            </a:r>
            <a:endParaRPr lang="en-US" sz="2000" b="0" u="none" strike="noStrike">
              <a:solidFill>
                <a:srgbClr val="000000"/>
              </a:solidFill>
              <a:effectLst/>
              <a:uFillTx/>
              <a:latin typeface="Arial"/>
              <a:cs typeface="Arial"/>
            </a:endParaRPr>
          </a:p>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.duplicated() flags repeated rows; a simple filter flags impossible ones.</a:t>
            </a:r>
            <a:endParaRPr lang="en-US" sz="2000" b="0" u="none" strike="noStrike">
              <a:solidFill>
                <a:srgbClr val="000000"/>
              </a:solidFill>
              <a:effectLst/>
              <a:uFillTx/>
              <a:latin typeface="Arial"/>
              <a:cs typeface="Arial"/>
            </a:endParaRPr>
          </a:p>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Here 1.82 looks like </a:t>
            </a:r>
            <a:r>
              <a:rPr lang="en-US" sz="2000" b="0" u="none" strike="noStrike" err="1">
                <a:solidFill>
                  <a:srgbClr val="1B1B20"/>
                </a:solidFill>
                <a:effectLst/>
                <a:uFillTx/>
                <a:latin typeface="Hanken Grotesk"/>
                <a:ea typeface="Hanken Grotesk"/>
              </a:rPr>
              <a:t>metres</a:t>
            </a:r>
            <a:r>
              <a:rPr lang="en-US" sz="2000" b="0" u="none" strike="noStrike" dirty="0">
                <a:solidFill>
                  <a:srgbClr val="1B1B20"/>
                </a:solidFill>
                <a:effectLst/>
                <a:uFillTx/>
                <a:latin typeface="Hanken Grotesk"/>
                <a:ea typeface="Hanken Grotesk"/>
              </a:rPr>
              <a:t> typed into a </a:t>
            </a:r>
            <a:r>
              <a:rPr lang="en-US" sz="2000" b="0" u="none" strike="noStrike" err="1">
                <a:solidFill>
                  <a:srgbClr val="1B1B20"/>
                </a:solidFill>
                <a:effectLst/>
                <a:uFillTx/>
                <a:latin typeface="Hanken Grotesk"/>
                <a:ea typeface="Hanken Grotesk"/>
              </a:rPr>
              <a:t>centimetres</a:t>
            </a:r>
            <a:r>
              <a:rPr lang="en-US" sz="2000" b="0" u="none" strike="noStrike" dirty="0">
                <a:solidFill>
                  <a:srgbClr val="1B1B20"/>
                </a:solidFill>
                <a:effectLst/>
                <a:uFillTx/>
                <a:latin typeface="Hanken Grotesk"/>
                <a:ea typeface="Hanken Grotesk"/>
              </a:rPr>
              <a:t> column.</a:t>
            </a:r>
            <a:endParaRPr lang="en-US" sz="2000" b="0" u="none" strike="noStrike">
              <a:solidFill>
                <a:srgbClr val="000000"/>
              </a:solidFill>
              <a:effectLst/>
              <a:uFillTx/>
              <a:latin typeface="Arial"/>
              <a:cs typeface="Arial"/>
            </a:endParaRPr>
          </a:p>
        </p:txBody>
      </p:sp>
      <p:sp>
        <p:nvSpPr>
          <p:cNvPr id="662"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63"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664"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665"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666"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200" b="0" u="none" strike="noStrike">
                <a:solidFill>
                  <a:srgbClr val="F1F5F9"/>
                </a:solidFill>
                <a:effectLst/>
                <a:uFillTx/>
                <a:latin typeface="Cantarell"/>
                <a:ea typeface="Consolas"/>
              </a:rPr>
              <a:t>import pandas as pd</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df = pd.DataFrame({</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"name": ["Ali", "Sara", "Sara", "Omar", "Zoya"],</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"height": [170, 165, 165, 1.82, 999],  </a:t>
            </a:r>
            <a:r>
              <a:rPr lang="en-US" sz="1200" b="0" i="1" u="none" strike="noStrike">
                <a:solidFill>
                  <a:srgbClr val="94A3B8"/>
                </a:solidFill>
                <a:effectLst/>
                <a:uFillTx/>
                <a:latin typeface="Cantarell"/>
                <a:ea typeface="Consolas"/>
              </a:rPr>
              <a:t># cm</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print(df.duplicated().sum())      </a:t>
            </a:r>
            <a:r>
              <a:rPr lang="en-US" sz="1200" b="0" i="1" u="none" strike="noStrike">
                <a:solidFill>
                  <a:srgbClr val="94A3B8"/>
                </a:solidFill>
                <a:effectLst/>
                <a:uFillTx/>
                <a:latin typeface="Cantarell"/>
                <a:ea typeface="Consolas"/>
              </a:rPr>
              <a:t># 1</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bad = df[(df["height"] &lt; 100) | (df["height"] &gt; 250)]</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print(bad["name"].tolist())       </a:t>
            </a:r>
            <a:r>
              <a:rPr lang="en-US" sz="1200" b="0" i="1" u="none" strike="noStrike">
                <a:solidFill>
                  <a:srgbClr val="94A3B8"/>
                </a:solidFill>
                <a:effectLst/>
                <a:uFillTx/>
                <a:latin typeface="Cantarell"/>
                <a:ea typeface="Consolas"/>
              </a:rPr>
              <a:t># ['Omar', 'Zoya']</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clean = df.drop_duplicates()</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print(len(clean))                 </a:t>
            </a:r>
            <a:r>
              <a:rPr lang="en-US" sz="1200" b="0" i="1" u="none" strike="noStrike">
                <a:solidFill>
                  <a:srgbClr val="94A3B8"/>
                </a:solidFill>
                <a:effectLst/>
                <a:uFillTx/>
                <a:latin typeface="Cantarell"/>
                <a:ea typeface="Consolas"/>
              </a:rPr>
              <a:t># 4</a:t>
            </a:r>
            <a:endParaRPr lang="en-US" sz="12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667"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668"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46</a:t>
            </a:r>
            <a:endParaRPr lang="en-US" sz="900" b="0" u="none" strike="noStrike">
              <a:solidFill>
                <a:srgbClr val="000000"/>
              </a:solidFill>
              <a:effectLst/>
              <a:uFillTx/>
              <a:latin typeface="Arial"/>
            </a:endParaRPr>
          </a:p>
        </p:txBody>
      </p:sp>
      <p:pic>
        <p:nvPicPr>
          <p:cNvPr id="669" name="Image 0" descr="/home/claude/assets/logo_crop.png"/>
          <p:cNvPicPr/>
          <p:nvPr/>
        </p:nvPicPr>
        <p:blipFill>
          <a:blip r:embed="rId3"/>
          <a:stretch/>
        </p:blipFill>
        <p:spPr>
          <a:xfrm>
            <a:off x="11201400" y="384120"/>
            <a:ext cx="456840" cy="511560"/>
          </a:xfrm>
          <a:prstGeom prst="rect">
            <a:avLst/>
          </a:prstGeom>
          <a:noFill/>
          <a:ln w="0">
            <a:noFill/>
          </a:ln>
        </p:spPr>
      </p:pic>
      <p:sp>
        <p:nvSpPr>
          <p:cNvPr id="670"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Bias — Not the Same Thing as Error</a:t>
            </a:r>
            <a:endParaRPr lang="en-US" sz="2600" b="0" u="none" strike="noStrike">
              <a:solidFill>
                <a:srgbClr val="000000"/>
              </a:solidFill>
              <a:effectLst/>
              <a:uFillTx/>
              <a:latin typeface="Arial"/>
            </a:endParaRPr>
          </a:p>
        </p:txBody>
      </p:sp>
      <p:sp>
        <p:nvSpPr>
          <p:cNvPr id="671"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72"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73"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a:t>
            </a:r>
            <a:endParaRPr lang="en-US" sz="2800" b="0" u="none" strike="noStrike">
              <a:solidFill>
                <a:srgbClr val="000000"/>
              </a:solidFill>
              <a:effectLst/>
              <a:uFillTx/>
              <a:latin typeface="Arial"/>
            </a:endParaRPr>
          </a:p>
        </p:txBody>
      </p:sp>
      <p:sp>
        <p:nvSpPr>
          <p:cNvPr id="674"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Systematic, not random</a:t>
            </a:r>
            <a:endParaRPr lang="en-US" sz="1700" b="0" u="none" strike="noStrike">
              <a:solidFill>
                <a:srgbClr val="000000"/>
              </a:solidFill>
              <a:effectLst/>
              <a:uFillTx/>
              <a:latin typeface="Arial"/>
            </a:endParaRPr>
          </a:p>
        </p:txBody>
      </p:sp>
      <p:sp>
        <p:nvSpPr>
          <p:cNvPr id="675"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Random error scatters your data around the true value — sometimes too high, sometimes too low, roughly canceling out on average</a:t>
            </a:r>
            <a:endParaRPr lang="en-US" sz="2000" b="0" u="none" strike="noStrike" dirty="0">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Bias pushes your data consistently in ONE direction — it doesn’t cancel out no matter how much data you collect, because the flaw is systematic, not random</a:t>
            </a:r>
            <a:endParaRPr lang="en-US" sz="2000" b="0" u="none" strike="noStrike" dirty="0">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This is exactly why sampling error shrinks with a bigger sample, but bias does not — a biased sampling method just gives you a more precisely wrong answer with more data</a:t>
            </a:r>
            <a:endParaRPr lang="en-US" sz="2000" b="0" u="none" strike="noStrike" dirty="0">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Recognizing bias means looking critically at HOW data was collected, not just how much of it there is</a:t>
            </a:r>
            <a:endParaRPr lang="en-US" sz="20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676"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677"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47</a:t>
            </a:r>
            <a:endParaRPr lang="en-US" sz="900" b="0" u="none" strike="noStrike">
              <a:solidFill>
                <a:srgbClr val="000000"/>
              </a:solidFill>
              <a:effectLst/>
              <a:uFillTx/>
              <a:latin typeface="Arial"/>
            </a:endParaRPr>
          </a:p>
        </p:txBody>
      </p:sp>
      <p:pic>
        <p:nvPicPr>
          <p:cNvPr id="678" name="Image 0" descr="/home/claude/assets/logo_crop.png"/>
          <p:cNvPicPr/>
          <p:nvPr/>
        </p:nvPicPr>
        <p:blipFill>
          <a:blip r:embed="rId3"/>
          <a:stretch/>
        </p:blipFill>
        <p:spPr>
          <a:xfrm>
            <a:off x="11201400" y="384120"/>
            <a:ext cx="456840" cy="511560"/>
          </a:xfrm>
          <a:prstGeom prst="rect">
            <a:avLst/>
          </a:prstGeom>
          <a:noFill/>
          <a:ln w="0">
            <a:noFill/>
          </a:ln>
        </p:spPr>
      </p:pic>
      <p:sp>
        <p:nvSpPr>
          <p:cNvPr id="679"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Common Types of Bias</a:t>
            </a:r>
            <a:endParaRPr lang="en-US" sz="2600" b="0" u="none" strike="noStrike">
              <a:solidFill>
                <a:srgbClr val="000000"/>
              </a:solidFill>
              <a:effectLst/>
              <a:uFillTx/>
              <a:latin typeface="Arial"/>
            </a:endParaRPr>
          </a:p>
        </p:txBody>
      </p:sp>
      <p:sp>
        <p:nvSpPr>
          <p:cNvPr id="680" name="Shape 3"/>
          <p:cNvSpPr/>
          <p:nvPr/>
        </p:nvSpPr>
        <p:spPr>
          <a:xfrm>
            <a:off x="54864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81" name="Shape 4"/>
          <p:cNvSpPr/>
          <p:nvPr/>
        </p:nvSpPr>
        <p:spPr>
          <a:xfrm>
            <a:off x="1604880" y="1920240"/>
            <a:ext cx="493560" cy="493560"/>
          </a:xfrm>
          <a:prstGeom prst="roundRect">
            <a:avLst>
              <a:gd name="adj" fmla="val 18519"/>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82" name="Text 5"/>
          <p:cNvSpPr/>
          <p:nvPr/>
        </p:nvSpPr>
        <p:spPr>
          <a:xfrm>
            <a:off x="160488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Bricolage Grotesque"/>
                <a:ea typeface="Bricolage Grotesque"/>
              </a:rPr>
              <a:t>1</a:t>
            </a:r>
            <a:endParaRPr lang="en-US" sz="1600" b="0" u="none" strike="noStrike">
              <a:solidFill>
                <a:srgbClr val="000000"/>
              </a:solidFill>
              <a:effectLst/>
              <a:uFillTx/>
              <a:latin typeface="Arial"/>
            </a:endParaRPr>
          </a:p>
        </p:txBody>
      </p:sp>
      <p:sp>
        <p:nvSpPr>
          <p:cNvPr id="683" name="Shape 6"/>
          <p:cNvSpPr/>
          <p:nvPr/>
        </p:nvSpPr>
        <p:spPr>
          <a:xfrm>
            <a:off x="731520" y="2606040"/>
            <a:ext cx="2239920" cy="456840"/>
          </a:xfrm>
          <a:prstGeom prst="roundRect">
            <a:avLst>
              <a:gd name="adj" fmla="val 5000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84" name="Text 7"/>
          <p:cNvSpPr/>
          <p:nvPr/>
        </p:nvSpPr>
        <p:spPr>
          <a:xfrm>
            <a:off x="73152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Plus Jakarta Sans"/>
                <a:ea typeface="Plus Jakarta Sans"/>
              </a:rPr>
              <a:t>Selection Bias</a:t>
            </a:r>
            <a:endParaRPr lang="en-US" sz="1400" b="0" u="none" strike="noStrike">
              <a:solidFill>
                <a:srgbClr val="000000"/>
              </a:solidFill>
              <a:effectLst/>
              <a:uFillTx/>
              <a:latin typeface="Arial"/>
            </a:endParaRPr>
          </a:p>
        </p:txBody>
      </p:sp>
      <p:sp>
        <p:nvSpPr>
          <p:cNvPr id="685" name="Text 8"/>
          <p:cNvSpPr/>
          <p:nvPr/>
        </p:nvSpPr>
        <p:spPr>
          <a:xfrm>
            <a:off x="77724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The sample systematically favors certain members of the population over others</a:t>
            </a:r>
            <a:endParaRPr lang="en-US" sz="1300" b="0" u="none" strike="noStrike">
              <a:solidFill>
                <a:srgbClr val="000000"/>
              </a:solidFill>
              <a:effectLst/>
              <a:uFillTx/>
              <a:latin typeface="Arial"/>
            </a:endParaRPr>
          </a:p>
        </p:txBody>
      </p:sp>
      <p:sp>
        <p:nvSpPr>
          <p:cNvPr id="686" name="Shape 9"/>
          <p:cNvSpPr/>
          <p:nvPr/>
        </p:nvSpPr>
        <p:spPr>
          <a:xfrm>
            <a:off x="338328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87" name="Shape 10"/>
          <p:cNvSpPr/>
          <p:nvPr/>
        </p:nvSpPr>
        <p:spPr>
          <a:xfrm>
            <a:off x="4439520" y="1920240"/>
            <a:ext cx="493560" cy="493560"/>
          </a:xfrm>
          <a:prstGeom prst="roundRect">
            <a:avLst>
              <a:gd name="adj" fmla="val 18519"/>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88" name="Text 11"/>
          <p:cNvSpPr/>
          <p:nvPr/>
        </p:nvSpPr>
        <p:spPr>
          <a:xfrm>
            <a:off x="443952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002019"/>
                </a:solidFill>
                <a:effectLst/>
                <a:uFillTx/>
                <a:latin typeface="Bricolage Grotesque"/>
                <a:ea typeface="Bricolage Grotesque"/>
              </a:rPr>
              <a:t>2</a:t>
            </a:r>
            <a:endParaRPr lang="en-US" sz="1600" b="0" u="none" strike="noStrike">
              <a:solidFill>
                <a:srgbClr val="000000"/>
              </a:solidFill>
              <a:effectLst/>
              <a:uFillTx/>
              <a:latin typeface="Arial"/>
            </a:endParaRPr>
          </a:p>
        </p:txBody>
      </p:sp>
      <p:sp>
        <p:nvSpPr>
          <p:cNvPr id="689" name="Shape 12"/>
          <p:cNvSpPr/>
          <p:nvPr/>
        </p:nvSpPr>
        <p:spPr>
          <a:xfrm>
            <a:off x="3566160" y="2606040"/>
            <a:ext cx="2239920" cy="456840"/>
          </a:xfrm>
          <a:prstGeom prst="roundRect">
            <a:avLst>
              <a:gd name="adj" fmla="val 50000"/>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90" name="Text 13"/>
          <p:cNvSpPr/>
          <p:nvPr/>
        </p:nvSpPr>
        <p:spPr>
          <a:xfrm>
            <a:off x="356616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Confirmation Bias</a:t>
            </a:r>
            <a:endParaRPr lang="en-US" sz="1400" b="0" u="none" strike="noStrike">
              <a:solidFill>
                <a:srgbClr val="000000"/>
              </a:solidFill>
              <a:effectLst/>
              <a:uFillTx/>
              <a:latin typeface="Arial"/>
            </a:endParaRPr>
          </a:p>
        </p:txBody>
      </p:sp>
      <p:sp>
        <p:nvSpPr>
          <p:cNvPr id="691" name="Text 14"/>
          <p:cNvSpPr/>
          <p:nvPr/>
        </p:nvSpPr>
        <p:spPr>
          <a:xfrm>
            <a:off x="361188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Collecting or interpreting data in a way that favors what you already expected to find</a:t>
            </a:r>
            <a:endParaRPr lang="en-US" sz="1300" b="0" u="none" strike="noStrike">
              <a:solidFill>
                <a:srgbClr val="000000"/>
              </a:solidFill>
              <a:effectLst/>
              <a:uFillTx/>
              <a:latin typeface="Arial"/>
            </a:endParaRPr>
          </a:p>
        </p:txBody>
      </p:sp>
      <p:sp>
        <p:nvSpPr>
          <p:cNvPr id="692" name="Shape 15"/>
          <p:cNvSpPr/>
          <p:nvPr/>
        </p:nvSpPr>
        <p:spPr>
          <a:xfrm>
            <a:off x="621792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93" name="Shape 16"/>
          <p:cNvSpPr/>
          <p:nvPr/>
        </p:nvSpPr>
        <p:spPr>
          <a:xfrm>
            <a:off x="7274160" y="1920240"/>
            <a:ext cx="493560" cy="493560"/>
          </a:xfrm>
          <a:prstGeom prst="roundRect">
            <a:avLst>
              <a:gd name="adj" fmla="val 18519"/>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94" name="Text 17"/>
          <p:cNvSpPr/>
          <p:nvPr/>
        </p:nvSpPr>
        <p:spPr>
          <a:xfrm>
            <a:off x="727416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4C112D"/>
                </a:solidFill>
                <a:effectLst/>
                <a:uFillTx/>
                <a:latin typeface="Bricolage Grotesque"/>
                <a:ea typeface="Bricolage Grotesque"/>
              </a:rPr>
              <a:t>3</a:t>
            </a:r>
            <a:endParaRPr lang="en-US" sz="1600" b="0" u="none" strike="noStrike">
              <a:solidFill>
                <a:srgbClr val="000000"/>
              </a:solidFill>
              <a:effectLst/>
              <a:uFillTx/>
              <a:latin typeface="Arial"/>
            </a:endParaRPr>
          </a:p>
        </p:txBody>
      </p:sp>
      <p:sp>
        <p:nvSpPr>
          <p:cNvPr id="695" name="Shape 18"/>
          <p:cNvSpPr/>
          <p:nvPr/>
        </p:nvSpPr>
        <p:spPr>
          <a:xfrm>
            <a:off x="6400800" y="2606040"/>
            <a:ext cx="2239920" cy="456840"/>
          </a:xfrm>
          <a:prstGeom prst="roundRect">
            <a:avLst>
              <a:gd name="adj" fmla="val 50000"/>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96" name="Text 19"/>
          <p:cNvSpPr/>
          <p:nvPr/>
        </p:nvSpPr>
        <p:spPr>
          <a:xfrm>
            <a:off x="640080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4C112D"/>
                </a:solidFill>
                <a:effectLst/>
                <a:uFillTx/>
                <a:latin typeface="Plus Jakarta Sans"/>
                <a:ea typeface="Plus Jakarta Sans"/>
              </a:rPr>
              <a:t>Response Bias</a:t>
            </a:r>
            <a:endParaRPr lang="en-US" sz="1400" b="0" u="none" strike="noStrike">
              <a:solidFill>
                <a:srgbClr val="000000"/>
              </a:solidFill>
              <a:effectLst/>
              <a:uFillTx/>
              <a:latin typeface="Arial"/>
            </a:endParaRPr>
          </a:p>
        </p:txBody>
      </p:sp>
      <p:sp>
        <p:nvSpPr>
          <p:cNvPr id="697" name="Text 20"/>
          <p:cNvSpPr/>
          <p:nvPr/>
        </p:nvSpPr>
        <p:spPr>
          <a:xfrm>
            <a:off x="644652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People answer inaccurately, often to appear more socially acceptable than their true answer</a:t>
            </a:r>
            <a:endParaRPr lang="en-US" sz="1300" b="0" u="none" strike="noStrike">
              <a:solidFill>
                <a:srgbClr val="000000"/>
              </a:solidFill>
              <a:effectLst/>
              <a:uFillTx/>
              <a:latin typeface="Arial"/>
            </a:endParaRPr>
          </a:p>
        </p:txBody>
      </p:sp>
      <p:sp>
        <p:nvSpPr>
          <p:cNvPr id="698" name="Shape 21"/>
          <p:cNvSpPr/>
          <p:nvPr/>
        </p:nvSpPr>
        <p:spPr>
          <a:xfrm>
            <a:off x="905256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99" name="Shape 22"/>
          <p:cNvSpPr/>
          <p:nvPr/>
        </p:nvSpPr>
        <p:spPr>
          <a:xfrm>
            <a:off x="10108800" y="1920240"/>
            <a:ext cx="493560" cy="493560"/>
          </a:xfrm>
          <a:prstGeom prst="roundRect">
            <a:avLst>
              <a:gd name="adj" fmla="val 18519"/>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00" name="Text 23"/>
          <p:cNvSpPr/>
          <p:nvPr/>
        </p:nvSpPr>
        <p:spPr>
          <a:xfrm>
            <a:off x="1010880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002019"/>
                </a:solidFill>
                <a:effectLst/>
                <a:uFillTx/>
                <a:latin typeface="Bricolage Grotesque"/>
                <a:ea typeface="Bricolage Grotesque"/>
              </a:rPr>
              <a:t>4</a:t>
            </a:r>
            <a:endParaRPr lang="en-US" sz="1600" b="0" u="none" strike="noStrike">
              <a:solidFill>
                <a:srgbClr val="000000"/>
              </a:solidFill>
              <a:effectLst/>
              <a:uFillTx/>
              <a:latin typeface="Arial"/>
            </a:endParaRPr>
          </a:p>
        </p:txBody>
      </p:sp>
      <p:sp>
        <p:nvSpPr>
          <p:cNvPr id="701" name="Shape 24"/>
          <p:cNvSpPr/>
          <p:nvPr/>
        </p:nvSpPr>
        <p:spPr>
          <a:xfrm>
            <a:off x="9235440" y="2606040"/>
            <a:ext cx="2239920" cy="456840"/>
          </a:xfrm>
          <a:prstGeom prst="roundRect">
            <a:avLst>
              <a:gd name="adj" fmla="val 50000"/>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02" name="Text 25"/>
          <p:cNvSpPr/>
          <p:nvPr/>
        </p:nvSpPr>
        <p:spPr>
          <a:xfrm>
            <a:off x="923544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Survivorship Bias</a:t>
            </a:r>
            <a:endParaRPr lang="en-US" sz="1400" b="0" u="none" strike="noStrike">
              <a:solidFill>
                <a:srgbClr val="000000"/>
              </a:solidFill>
              <a:effectLst/>
              <a:uFillTx/>
              <a:latin typeface="Arial"/>
            </a:endParaRPr>
          </a:p>
        </p:txBody>
      </p:sp>
      <p:sp>
        <p:nvSpPr>
          <p:cNvPr id="703" name="Text 26"/>
          <p:cNvSpPr/>
          <p:nvPr/>
        </p:nvSpPr>
        <p:spPr>
          <a:xfrm>
            <a:off x="928116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Only the "survivors" of a process get measured, hiding the failures that dropped out</a:t>
            </a:r>
            <a:endParaRPr lang="en-US" sz="13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704"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705"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48</a:t>
            </a:r>
            <a:endParaRPr lang="en-US" sz="900" b="0" u="none" strike="noStrike">
              <a:solidFill>
                <a:srgbClr val="000000"/>
              </a:solidFill>
              <a:effectLst/>
              <a:uFillTx/>
              <a:latin typeface="Arial"/>
            </a:endParaRPr>
          </a:p>
        </p:txBody>
      </p:sp>
      <p:pic>
        <p:nvPicPr>
          <p:cNvPr id="706" name="Image 0" descr="/home/claude/assets/logo_crop.png"/>
          <p:cNvPicPr/>
          <p:nvPr/>
        </p:nvPicPr>
        <p:blipFill>
          <a:blip r:embed="rId3"/>
          <a:stretch/>
        </p:blipFill>
        <p:spPr>
          <a:xfrm>
            <a:off x="11201400" y="384120"/>
            <a:ext cx="456840" cy="511560"/>
          </a:xfrm>
          <a:prstGeom prst="rect">
            <a:avLst/>
          </a:prstGeom>
          <a:noFill/>
          <a:ln w="0">
            <a:noFill/>
          </a:ln>
        </p:spPr>
      </p:pic>
      <p:sp>
        <p:nvSpPr>
          <p:cNvPr id="707"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Bias Does Not Shrink with More Data</a:t>
            </a:r>
            <a:endParaRPr lang="en-US" sz="2600" b="0" u="none" strike="noStrike">
              <a:solidFill>
                <a:srgbClr val="000000"/>
              </a:solidFill>
              <a:effectLst/>
              <a:uFillTx/>
              <a:latin typeface="Arial"/>
            </a:endParaRPr>
          </a:p>
        </p:txBody>
      </p:sp>
      <p:sp>
        <p:nvSpPr>
          <p:cNvPr id="708"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A random sample of 200 lands near the true mean.</a:t>
            </a:r>
            <a:endParaRPr lang="en-US" sz="2000" b="0" u="none" strike="noStrike">
              <a:solidFill>
                <a:srgbClr val="000000"/>
              </a:solidFill>
              <a:effectLst/>
              <a:uFillTx/>
              <a:latin typeface="Arial"/>
              <a:cs typeface="Arial"/>
            </a:endParaRPr>
          </a:p>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A biased sample — only top performers — misses it by a lot, and collecting more would not help.</a:t>
            </a:r>
            <a:endParaRPr lang="en-US" sz="2000" b="0" u="none" strike="noStrike">
              <a:solidFill>
                <a:srgbClr val="000000"/>
              </a:solidFill>
              <a:effectLst/>
              <a:uFillTx/>
              <a:latin typeface="Arial"/>
              <a:cs typeface="Arial"/>
            </a:endParaRPr>
          </a:p>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Fixing bias means fixing the sampling design, not the sample size.</a:t>
            </a:r>
            <a:endParaRPr lang="en-US" sz="2000" b="0" u="none" strike="noStrike">
              <a:solidFill>
                <a:srgbClr val="000000"/>
              </a:solidFill>
              <a:effectLst/>
              <a:uFillTx/>
              <a:latin typeface="Arial"/>
              <a:cs typeface="Arial"/>
            </a:endParaRPr>
          </a:p>
        </p:txBody>
      </p:sp>
      <p:sp>
        <p:nvSpPr>
          <p:cNvPr id="709"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10"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711"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712"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713"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200" b="0" u="none" strike="noStrike">
                <a:solidFill>
                  <a:srgbClr val="F1F5F9"/>
                </a:solidFill>
                <a:effectLst/>
                <a:uFillTx/>
                <a:latin typeface="Cantarell"/>
                <a:ea typeface="Consolas"/>
              </a:rPr>
              <a:t>import numpy as np</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rng = np.random.default_rng(3)</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pop = rng.normal(70, 10, 10_000)</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random_sample = rng.choice(pop, 200)</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biased_sample = pop[pop &gt; 75][:200]   </a:t>
            </a:r>
            <a:r>
              <a:rPr lang="en-US" sz="1200" b="0" i="1" u="none" strike="noStrike">
                <a:solidFill>
                  <a:srgbClr val="94A3B8"/>
                </a:solidFill>
                <a:effectLst/>
                <a:uFillTx/>
                <a:latin typeface="Cantarell"/>
                <a:ea typeface="Consolas"/>
              </a:rPr>
              <a:t># top scorers only</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print(round(pop.mean(), 1))       </a:t>
            </a:r>
            <a:r>
              <a:rPr lang="en-US" sz="1200" b="0" i="1" u="none" strike="noStrike">
                <a:solidFill>
                  <a:srgbClr val="94A3B8"/>
                </a:solidFill>
                <a:effectLst/>
                <a:uFillTx/>
                <a:latin typeface="Cantarell"/>
                <a:ea typeface="Consolas"/>
              </a:rPr>
              <a:t># 70.0</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print(round(random_sample.mean(), 1))  </a:t>
            </a:r>
            <a:r>
              <a:rPr lang="en-US" sz="1200" b="0" i="1" u="none" strike="noStrike">
                <a:solidFill>
                  <a:srgbClr val="94A3B8"/>
                </a:solidFill>
                <a:effectLst/>
                <a:uFillTx/>
                <a:latin typeface="Cantarell"/>
                <a:ea typeface="Consolas"/>
              </a:rPr>
              <a:t># 69.2</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print(round(biased_sample.mean(), 1))  </a:t>
            </a:r>
            <a:r>
              <a:rPr lang="en-US" sz="1200" b="0" i="1" u="none" strike="noStrike">
                <a:solidFill>
                  <a:srgbClr val="94A3B8"/>
                </a:solidFill>
                <a:effectLst/>
                <a:uFillTx/>
                <a:latin typeface="Cantarell"/>
                <a:ea typeface="Consolas"/>
              </a:rPr>
              <a:t># 81.0</a:t>
            </a:r>
            <a:endParaRPr lang="en-US" sz="12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714"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715"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49</a:t>
            </a:r>
            <a:endParaRPr lang="en-US" sz="900" b="0" u="none" strike="noStrike">
              <a:solidFill>
                <a:srgbClr val="000000"/>
              </a:solidFill>
              <a:effectLst/>
              <a:uFillTx/>
              <a:latin typeface="Arial"/>
            </a:endParaRPr>
          </a:p>
        </p:txBody>
      </p:sp>
      <p:pic>
        <p:nvPicPr>
          <p:cNvPr id="716" name="Image 0" descr="/home/claude/assets/logo_crop.png"/>
          <p:cNvPicPr/>
          <p:nvPr/>
        </p:nvPicPr>
        <p:blipFill>
          <a:blip r:embed="rId3"/>
          <a:stretch/>
        </p:blipFill>
        <p:spPr>
          <a:xfrm>
            <a:off x="11201400" y="384120"/>
            <a:ext cx="456840" cy="511560"/>
          </a:xfrm>
          <a:prstGeom prst="rect">
            <a:avLst/>
          </a:prstGeom>
          <a:noFill/>
          <a:ln w="0">
            <a:noFill/>
          </a:ln>
        </p:spPr>
      </p:pic>
      <p:sp>
        <p:nvSpPr>
          <p:cNvPr id="717"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How to Actually Reduce Bias</a:t>
            </a:r>
            <a:endParaRPr lang="en-US" sz="2600" b="0" u="none" strike="noStrike">
              <a:solidFill>
                <a:srgbClr val="000000"/>
              </a:solidFill>
              <a:effectLst/>
              <a:uFillTx/>
              <a:latin typeface="Arial"/>
            </a:endParaRPr>
          </a:p>
        </p:txBody>
      </p:sp>
      <p:sp>
        <p:nvSpPr>
          <p:cNvPr id="718"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19"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20"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Δ</a:t>
            </a:r>
            <a:endParaRPr lang="en-US" sz="2800" b="0" u="none" strike="noStrike">
              <a:solidFill>
                <a:srgbClr val="000000"/>
              </a:solidFill>
              <a:effectLst/>
              <a:uFillTx/>
              <a:latin typeface="Arial"/>
            </a:endParaRPr>
          </a:p>
        </p:txBody>
      </p:sp>
      <p:sp>
        <p:nvSpPr>
          <p:cNvPr id="721"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Design it out, before collecting</a:t>
            </a:r>
            <a:endParaRPr lang="en-US" sz="1700" b="0" u="none" strike="noStrike">
              <a:solidFill>
                <a:srgbClr val="000000"/>
              </a:solidFill>
              <a:effectLst/>
              <a:uFillTx/>
              <a:latin typeface="Arial"/>
            </a:endParaRPr>
          </a:p>
        </p:txBody>
      </p:sp>
      <p:sp>
        <p:nvSpPr>
          <p:cNvPr id="722"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Randomization: using genuine probability sampling gives every member a fair, known chance of selection, directly countering selection bias</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Standardized instruments: using the exact same questions, wording, and measurement process for everyone reduces measurement and response bias</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Blinding: keeping data collectors unaware of the hypothesis being tested reduces the chance their expectations influence the results</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Pilot testing: trying your data collection process on a small group first surfaces confusing questions or flawed measurements before they contaminate the real dataset</a:t>
            </a:r>
            <a:endParaRPr lang="en-US" sz="20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723"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724"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50</a:t>
            </a:r>
            <a:endParaRPr lang="en-US" sz="900" b="0" u="none" strike="noStrike">
              <a:solidFill>
                <a:srgbClr val="000000"/>
              </a:solidFill>
              <a:effectLst/>
              <a:uFillTx/>
              <a:latin typeface="Arial"/>
            </a:endParaRPr>
          </a:p>
        </p:txBody>
      </p:sp>
      <p:pic>
        <p:nvPicPr>
          <p:cNvPr id="725" name="Image 0" descr="/home/claude/assets/logo_crop.png"/>
          <p:cNvPicPr/>
          <p:nvPr/>
        </p:nvPicPr>
        <p:blipFill>
          <a:blip r:embed="rId3"/>
          <a:stretch/>
        </p:blipFill>
        <p:spPr>
          <a:xfrm>
            <a:off x="11201400" y="384120"/>
            <a:ext cx="456840" cy="511560"/>
          </a:xfrm>
          <a:prstGeom prst="rect">
            <a:avLst/>
          </a:prstGeom>
          <a:noFill/>
          <a:ln w="0">
            <a:noFill/>
          </a:ln>
        </p:spPr>
      </p:pic>
      <p:sp>
        <p:nvSpPr>
          <p:cNvPr id="726" name="Shape 2"/>
          <p:cNvSpPr/>
          <p:nvPr/>
        </p:nvSpPr>
        <p:spPr>
          <a:xfrm>
            <a:off x="548640" y="502920"/>
            <a:ext cx="566640" cy="566640"/>
          </a:xfrm>
          <a:prstGeom prst="roundRect">
            <a:avLst>
              <a:gd name="adj" fmla="val 19355"/>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27" name="Text 3"/>
          <p:cNvSpPr/>
          <p:nvPr/>
        </p:nvSpPr>
        <p:spPr>
          <a:xfrm>
            <a:off x="548640" y="50292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231F71"/>
                </a:solidFill>
                <a:effectLst/>
                <a:uFillTx/>
                <a:latin typeface="Bricolage Grotesque"/>
                <a:ea typeface="Bricolage Grotesque"/>
              </a:rPr>
              <a:t>◎</a:t>
            </a:r>
            <a:endParaRPr lang="en-US" sz="1800" b="0" u="none" strike="noStrike">
              <a:solidFill>
                <a:srgbClr val="000000"/>
              </a:solidFill>
              <a:effectLst/>
              <a:uFillTx/>
              <a:latin typeface="Arial"/>
            </a:endParaRPr>
          </a:p>
        </p:txBody>
      </p:sp>
      <p:sp>
        <p:nvSpPr>
          <p:cNvPr id="728" name="Text 4"/>
          <p:cNvSpPr/>
          <p:nvPr/>
        </p:nvSpPr>
        <p:spPr>
          <a:xfrm>
            <a:off x="1261800" y="5029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spc="99">
                <a:solidFill>
                  <a:srgbClr val="5755A7"/>
                </a:solidFill>
                <a:effectLst/>
                <a:uFillTx/>
                <a:latin typeface="Plus Jakarta Sans"/>
                <a:ea typeface="Plus Jakarta Sans"/>
              </a:rPr>
              <a:t>PART 4</a:t>
            </a:r>
            <a:endParaRPr lang="en-US" sz="900" b="0" u="none" strike="noStrike">
              <a:solidFill>
                <a:srgbClr val="000000"/>
              </a:solidFill>
              <a:effectLst/>
              <a:uFillTx/>
              <a:latin typeface="Arial"/>
            </a:endParaRPr>
          </a:p>
        </p:txBody>
      </p:sp>
      <p:sp>
        <p:nvSpPr>
          <p:cNvPr id="729" name="Text 5"/>
          <p:cNvSpPr/>
          <p:nvPr/>
        </p:nvSpPr>
        <p:spPr>
          <a:xfrm>
            <a:off x="1261800" y="77724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00" b="1" u="none" strike="noStrike">
                <a:solidFill>
                  <a:srgbClr val="1B1B20"/>
                </a:solidFill>
                <a:effectLst/>
                <a:uFillTx/>
                <a:latin typeface="Bricolage Grotesque"/>
                <a:ea typeface="Bricolage Grotesque"/>
              </a:rPr>
              <a:t>Practice Set — Errors &amp; Bias</a:t>
            </a:r>
            <a:endParaRPr lang="en-US" sz="2200" b="0" u="none" strike="noStrike">
              <a:solidFill>
                <a:srgbClr val="000000"/>
              </a:solidFill>
              <a:effectLst/>
              <a:uFillTx/>
              <a:latin typeface="Arial"/>
            </a:endParaRPr>
          </a:p>
        </p:txBody>
      </p:sp>
      <p:sp>
        <p:nvSpPr>
          <p:cNvPr id="730" name="Text 6"/>
          <p:cNvSpPr/>
          <p:nvPr/>
        </p:nvSpPr>
        <p:spPr>
          <a:xfrm>
            <a:off x="548640" y="1417320"/>
            <a:ext cx="10515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i="1" u="none" strike="noStrike">
                <a:solidFill>
                  <a:srgbClr val="474651"/>
                </a:solidFill>
                <a:effectLst/>
                <a:uFillTx/>
                <a:latin typeface="Hanken Grotesk"/>
                <a:ea typeface="Hanken Grotesk"/>
              </a:rPr>
              <a:t>Try these yourself first — pencil, paper or a quick Python cell.</a:t>
            </a:r>
            <a:endParaRPr lang="en-US" sz="1200" b="0" u="none" strike="noStrike">
              <a:solidFill>
                <a:srgbClr val="000000"/>
              </a:solidFill>
              <a:effectLst/>
              <a:uFillTx/>
              <a:latin typeface="Arial"/>
            </a:endParaRPr>
          </a:p>
        </p:txBody>
      </p:sp>
      <p:sp>
        <p:nvSpPr>
          <p:cNvPr id="731" name="Shape 7"/>
          <p:cNvSpPr/>
          <p:nvPr/>
        </p:nvSpPr>
        <p:spPr>
          <a:xfrm>
            <a:off x="548640" y="196596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32" name="Shape 8"/>
          <p:cNvSpPr/>
          <p:nvPr/>
        </p:nvSpPr>
        <p:spPr>
          <a:xfrm>
            <a:off x="731520" y="220356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33" name="Text 9"/>
          <p:cNvSpPr/>
          <p:nvPr/>
        </p:nvSpPr>
        <p:spPr>
          <a:xfrm>
            <a:off x="731520" y="220356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734" name="Text 10"/>
          <p:cNvSpPr/>
          <p:nvPr/>
        </p:nvSpPr>
        <p:spPr>
          <a:xfrm>
            <a:off x="1234440" y="196596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A survey about phone usage was only sent by email — explain what kind of error or bias this risks, and why</a:t>
            </a:r>
            <a:endParaRPr lang="en-US" sz="1400" b="0" u="none" strike="noStrike">
              <a:solidFill>
                <a:srgbClr val="000000"/>
              </a:solidFill>
              <a:effectLst/>
              <a:uFillTx/>
              <a:latin typeface="Arial"/>
            </a:endParaRPr>
          </a:p>
        </p:txBody>
      </p:sp>
      <p:sp>
        <p:nvSpPr>
          <p:cNvPr id="735" name="Shape 11"/>
          <p:cNvSpPr/>
          <p:nvPr/>
        </p:nvSpPr>
        <p:spPr>
          <a:xfrm>
            <a:off x="548640" y="289872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36" name="Shape 12"/>
          <p:cNvSpPr/>
          <p:nvPr/>
        </p:nvSpPr>
        <p:spPr>
          <a:xfrm>
            <a:off x="731520" y="313632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37" name="Text 13"/>
          <p:cNvSpPr/>
          <p:nvPr/>
        </p:nvSpPr>
        <p:spPr>
          <a:xfrm>
            <a:off x="731520" y="313632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738" name="Text 14"/>
          <p:cNvSpPr/>
          <p:nvPr/>
        </p:nvSpPr>
        <p:spPr>
          <a:xfrm>
            <a:off x="1234440" y="289872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Explain, in your own words, why bias doesn’t shrink with a larger sample size, while sampling error does</a:t>
            </a:r>
            <a:endParaRPr lang="en-US" sz="1400" b="0" u="none" strike="noStrike">
              <a:solidFill>
                <a:srgbClr val="000000"/>
              </a:solidFill>
              <a:effectLst/>
              <a:uFillTx/>
              <a:latin typeface="Arial"/>
            </a:endParaRPr>
          </a:p>
        </p:txBody>
      </p:sp>
      <p:sp>
        <p:nvSpPr>
          <p:cNvPr id="739" name="Shape 15"/>
          <p:cNvSpPr/>
          <p:nvPr/>
        </p:nvSpPr>
        <p:spPr>
          <a:xfrm>
            <a:off x="548640" y="383148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40" name="Shape 16"/>
          <p:cNvSpPr/>
          <p:nvPr/>
        </p:nvSpPr>
        <p:spPr>
          <a:xfrm>
            <a:off x="731520" y="406908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41" name="Text 17"/>
          <p:cNvSpPr/>
          <p:nvPr/>
        </p:nvSpPr>
        <p:spPr>
          <a:xfrm>
            <a:off x="731520" y="406908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742" name="Text 18"/>
          <p:cNvSpPr/>
          <p:nvPr/>
        </p:nvSpPr>
        <p:spPr>
          <a:xfrm>
            <a:off x="1234440" y="383148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A fitness study only reports results from participants who completed the full 12-week program. Name this type of bias, and explain what’s being hidden</a:t>
            </a:r>
            <a:endParaRPr lang="en-US" sz="1400" b="0" u="none" strike="noStrike">
              <a:solidFill>
                <a:srgbClr val="000000"/>
              </a:solidFill>
              <a:effectLst/>
              <a:uFillTx/>
              <a:latin typeface="Arial"/>
            </a:endParaRPr>
          </a:p>
        </p:txBody>
      </p:sp>
      <p:sp>
        <p:nvSpPr>
          <p:cNvPr id="743" name="Shape 19"/>
          <p:cNvSpPr/>
          <p:nvPr/>
        </p:nvSpPr>
        <p:spPr>
          <a:xfrm>
            <a:off x="548640" y="476388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44" name="Shape 20"/>
          <p:cNvSpPr/>
          <p:nvPr/>
        </p:nvSpPr>
        <p:spPr>
          <a:xfrm>
            <a:off x="731520" y="500184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45" name="Text 21"/>
          <p:cNvSpPr/>
          <p:nvPr/>
        </p:nvSpPr>
        <p:spPr>
          <a:xfrm>
            <a:off x="731520" y="500184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746" name="Text 22"/>
          <p:cNvSpPr/>
          <p:nvPr/>
        </p:nvSpPr>
        <p:spPr>
          <a:xfrm>
            <a:off x="1234440" y="476388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Suggest one practical way to reduce response bias in a survey about employee satisfaction with their manager</a:t>
            </a:r>
            <a:endParaRPr lang="en-US" sz="14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B0F17"/>
        </a:solidFill>
        <a:effectLst/>
      </p:bgPr>
    </p:bg>
    <p:spTree>
      <p:nvGrpSpPr>
        <p:cNvPr id="1" name=""/>
        <p:cNvGrpSpPr/>
        <p:nvPr/>
      </p:nvGrpSpPr>
      <p:grpSpPr>
        <a:xfrm>
          <a:off x="0" y="0"/>
          <a:ext cx="0" cy="0"/>
          <a:chOff x="0" y="0"/>
          <a:chExt cx="0" cy="0"/>
        </a:xfrm>
      </p:grpSpPr>
      <p:sp>
        <p:nvSpPr>
          <p:cNvPr id="747" name="Shape 0"/>
          <p:cNvSpPr/>
          <p:nvPr/>
        </p:nvSpPr>
        <p:spPr>
          <a:xfrm>
            <a:off x="9692640" y="-1463040"/>
            <a:ext cx="3840120" cy="3840120"/>
          </a:xfrm>
          <a:prstGeom prst="ellipse">
            <a:avLst/>
          </a:prstGeom>
          <a:solidFill>
            <a:srgbClr val="262758">
              <a:alpha val="55000"/>
            </a:srgbClr>
          </a:solidFill>
          <a:ln w="12700">
            <a:solidFill>
              <a:srgbClr val="262758">
                <a:alpha val="5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48" name="Shape 1"/>
          <p:cNvSpPr/>
          <p:nvPr/>
        </p:nvSpPr>
        <p:spPr>
          <a:xfrm>
            <a:off x="-1645920" y="4754880"/>
            <a:ext cx="3474360" cy="3474360"/>
          </a:xfrm>
          <a:prstGeom prst="ellipse">
            <a:avLst/>
          </a:prstGeom>
          <a:solidFill>
            <a:srgbClr val="11362E">
              <a:alpha val="45000"/>
            </a:srgbClr>
          </a:solidFill>
          <a:ln w="12700">
            <a:solidFill>
              <a:srgbClr val="11362E">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49" name="Text 2"/>
          <p:cNvSpPr/>
          <p:nvPr/>
        </p:nvSpPr>
        <p:spPr>
          <a:xfrm>
            <a:off x="640080" y="2194560"/>
            <a:ext cx="91436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spc="201">
                <a:solidFill>
                  <a:srgbClr val="2DD4BF"/>
                </a:solidFill>
                <a:effectLst/>
                <a:uFillTx/>
                <a:latin typeface="Plus Jakarta Sans"/>
                <a:ea typeface="Plus Jakarta Sans"/>
              </a:rPr>
              <a:t>PART 5</a:t>
            </a:r>
            <a:endParaRPr lang="en-US" sz="1400" b="0" u="none" strike="noStrike">
              <a:solidFill>
                <a:srgbClr val="FFFFFF"/>
              </a:solidFill>
              <a:effectLst/>
              <a:uFillTx/>
              <a:latin typeface="Arial"/>
            </a:endParaRPr>
          </a:p>
        </p:txBody>
      </p:sp>
      <p:sp>
        <p:nvSpPr>
          <p:cNvPr id="750" name="Text 3"/>
          <p:cNvSpPr/>
          <p:nvPr/>
        </p:nvSpPr>
        <p:spPr>
          <a:xfrm>
            <a:off x="640080" y="2697480"/>
            <a:ext cx="1033236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4000" b="1" u="none" strike="noStrike">
                <a:solidFill>
                  <a:srgbClr val="F1F5F9"/>
                </a:solidFill>
                <a:effectLst/>
                <a:uFillTx/>
                <a:latin typeface="Bricolage Grotesque"/>
                <a:ea typeface="Bricolage Grotesque"/>
              </a:rPr>
              <a:t>The Complete Chart &amp; Graph Catalog</a:t>
            </a:r>
            <a:endParaRPr lang="en-US" sz="4000" b="0" u="none" strike="noStrike">
              <a:solidFill>
                <a:srgbClr val="FFFFFF"/>
              </a:solidFill>
              <a:effectLst/>
              <a:uFillTx/>
              <a:latin typeface="Arial"/>
            </a:endParaRPr>
          </a:p>
        </p:txBody>
      </p:sp>
      <p:sp>
        <p:nvSpPr>
          <p:cNvPr id="751" name="Text 4"/>
          <p:cNvSpPr/>
          <p:nvPr/>
        </p:nvSpPr>
        <p:spPr>
          <a:xfrm>
            <a:off x="640080" y="4023360"/>
            <a:ext cx="969228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500" b="0" u="none" strike="noStrike">
                <a:solidFill>
                  <a:srgbClr val="94A3B8"/>
                </a:solidFill>
                <a:effectLst/>
                <a:uFillTx/>
                <a:latin typeface="Hanken Grotesk"/>
                <a:ea typeface="Hanken Grotesk"/>
              </a:rPr>
              <a:t>A picture is only worth a thousand words if it’s the right picture — here’s how to choose one on purpose</a:t>
            </a:r>
            <a:endParaRPr lang="en-US" sz="1500" b="0" u="none" strike="noStrike">
              <a:solidFill>
                <a:srgbClr val="FFFFFF"/>
              </a:solidFill>
              <a:effectLst/>
              <a:uFillTx/>
              <a:latin typeface="Arial"/>
            </a:endParaRPr>
          </a:p>
        </p:txBody>
      </p:sp>
      <p:sp>
        <p:nvSpPr>
          <p:cNvPr id="752" name="Text 5"/>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94A3B8"/>
                </a:solidFill>
                <a:effectLst/>
                <a:uFillTx/>
                <a:latin typeface="Plus Jakarta Sans"/>
                <a:ea typeface="Plus Jakarta Sans"/>
              </a:rPr>
              <a:t>51</a:t>
            </a:r>
            <a:endParaRPr lang="en-US" sz="900" b="0" u="none" strike="noStrike">
              <a:solidFill>
                <a:srgbClr val="FFFFFF"/>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753"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754"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52</a:t>
            </a:r>
            <a:endParaRPr lang="en-US" sz="900" b="0" u="none" strike="noStrike">
              <a:solidFill>
                <a:srgbClr val="000000"/>
              </a:solidFill>
              <a:effectLst/>
              <a:uFillTx/>
              <a:latin typeface="Arial"/>
            </a:endParaRPr>
          </a:p>
        </p:txBody>
      </p:sp>
      <p:pic>
        <p:nvPicPr>
          <p:cNvPr id="755" name="Image 0" descr="/home/claude/assets/logo_crop.png"/>
          <p:cNvPicPr/>
          <p:nvPr/>
        </p:nvPicPr>
        <p:blipFill>
          <a:blip r:embed="rId3"/>
          <a:stretch/>
        </p:blipFill>
        <p:spPr>
          <a:xfrm>
            <a:off x="11201400" y="384120"/>
            <a:ext cx="456840" cy="511560"/>
          </a:xfrm>
          <a:prstGeom prst="rect">
            <a:avLst/>
          </a:prstGeom>
          <a:noFill/>
          <a:ln w="0">
            <a:noFill/>
          </a:ln>
        </p:spPr>
      </p:pic>
      <p:sp>
        <p:nvSpPr>
          <p:cNvPr id="756"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Why Chart Choice Actually Matters</a:t>
            </a:r>
            <a:endParaRPr lang="en-US" sz="2600" b="0" u="none" strike="noStrike">
              <a:solidFill>
                <a:srgbClr val="000000"/>
              </a:solidFill>
              <a:effectLst/>
              <a:uFillTx/>
              <a:latin typeface="Arial"/>
            </a:endParaRPr>
          </a:p>
        </p:txBody>
      </p:sp>
      <p:sp>
        <p:nvSpPr>
          <p:cNvPr id="757"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58"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59"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a:t>
            </a:r>
            <a:endParaRPr lang="en-US" sz="2800" b="0" u="none" strike="noStrike">
              <a:solidFill>
                <a:srgbClr val="000000"/>
              </a:solidFill>
              <a:effectLst/>
              <a:uFillTx/>
              <a:latin typeface="Arial"/>
            </a:endParaRPr>
          </a:p>
        </p:txBody>
      </p:sp>
      <p:sp>
        <p:nvSpPr>
          <p:cNvPr id="760"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The wrong chart misleads</a:t>
            </a:r>
            <a:endParaRPr lang="en-US" sz="1700" b="0" u="none" strike="noStrike">
              <a:solidFill>
                <a:srgbClr val="000000"/>
              </a:solidFill>
              <a:effectLst/>
              <a:uFillTx/>
              <a:latin typeface="Arial"/>
            </a:endParaRPr>
          </a:p>
        </p:txBody>
      </p:sp>
      <p:sp>
        <p:nvSpPr>
          <p:cNvPr id="761"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Every chart makes a silent claim about your data’s type and structure — using the wrong one doesn’t just look odd, it can genuinely mislead your reader</a:t>
            </a:r>
            <a:endParaRPr lang="en-US" sz="2000" b="0" u="none" strike="noStrike">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The right question is never "which chart looks nice" — it’s "what is this data’s type, and what relationship am I trying to show?"</a:t>
            </a:r>
            <a:endParaRPr lang="en-US" sz="2000" b="0" u="none" strike="noStrike">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This catalog is organized around exactly that question: what your data looks like, first, then which chart fits it</a:t>
            </a:r>
            <a:endParaRPr lang="en-US" sz="2000" b="0" u="none" strike="noStrike">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Every chart on the next several slides will be classified by three things: what it shows, when to use it, and when NOT to</a:t>
            </a:r>
            <a:endParaRPr lang="en-US" sz="2000" b="0" u="none" strike="noStrike">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762"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763"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53</a:t>
            </a:r>
            <a:endParaRPr lang="en-US" sz="900" b="0" u="none" strike="noStrike">
              <a:solidFill>
                <a:srgbClr val="000000"/>
              </a:solidFill>
              <a:effectLst/>
              <a:uFillTx/>
              <a:latin typeface="Arial"/>
            </a:endParaRPr>
          </a:p>
        </p:txBody>
      </p:sp>
      <p:pic>
        <p:nvPicPr>
          <p:cNvPr id="764" name="Image 0" descr="/home/claude/assets/logo_crop.png"/>
          <p:cNvPicPr/>
          <p:nvPr/>
        </p:nvPicPr>
        <p:blipFill>
          <a:blip r:embed="rId3"/>
          <a:stretch/>
        </p:blipFill>
        <p:spPr>
          <a:xfrm>
            <a:off x="11201400" y="384120"/>
            <a:ext cx="456840" cy="511560"/>
          </a:xfrm>
          <a:prstGeom prst="rect">
            <a:avLst/>
          </a:prstGeom>
          <a:noFill/>
          <a:ln w="0">
            <a:noFill/>
          </a:ln>
        </p:spPr>
      </p:pic>
      <p:sp>
        <p:nvSpPr>
          <p:cNvPr id="765"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Charts for Categorical Data</a:t>
            </a:r>
            <a:endParaRPr lang="en-US" sz="2600" b="0" u="none" strike="noStrike">
              <a:solidFill>
                <a:srgbClr val="000000"/>
              </a:solidFill>
              <a:effectLst/>
              <a:uFillTx/>
              <a:latin typeface="Arial"/>
            </a:endParaRPr>
          </a:p>
        </p:txBody>
      </p:sp>
      <p:sp>
        <p:nvSpPr>
          <p:cNvPr id="766" name="Card"/>
          <p:cNvSpPr/>
          <p:nvPr/>
        </p:nvSpPr>
        <p:spPr>
          <a:xfrm>
            <a:off x="548640" y="1463040"/>
            <a:ext cx="11109600" cy="3565800"/>
          </a:xfrm>
          <a:prstGeom prst="roundRect">
            <a:avLst>
              <a:gd name="adj" fmla="val 205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67" name="Pill"/>
          <p:cNvSpPr/>
          <p:nvPr/>
        </p:nvSpPr>
        <p:spPr>
          <a:xfrm>
            <a:off x="777240" y="1691640"/>
            <a:ext cx="3200040" cy="456840"/>
          </a:xfrm>
          <a:prstGeom prst="roundRect">
            <a:avLst>
              <a:gd name="adj" fmla="val 5000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68" name="Pill label"/>
          <p:cNvSpPr/>
          <p:nvPr/>
        </p:nvSpPr>
        <p:spPr>
          <a:xfrm>
            <a:off x="777240" y="1691640"/>
            <a:ext cx="32000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Plus Jakarta Sans"/>
                <a:ea typeface="Plus Jakarta Sans"/>
              </a:rPr>
              <a:t>Bar Chart</a:t>
            </a:r>
            <a:endParaRPr lang="en-US" sz="1400" b="0" u="none" strike="noStrike">
              <a:solidFill>
                <a:srgbClr val="000000"/>
              </a:solidFill>
              <a:effectLst/>
              <a:uFillTx/>
              <a:latin typeface="Arial"/>
            </a:endParaRPr>
          </a:p>
        </p:txBody>
      </p:sp>
      <p:sp>
        <p:nvSpPr>
          <p:cNvPr id="769" name="Description"/>
          <p:cNvSpPr/>
          <p:nvPr/>
        </p:nvSpPr>
        <p:spPr>
          <a:xfrm>
            <a:off x="777240" y="2377440"/>
            <a:ext cx="338292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Compares counts or values across categories. Use for comparing groups. Avoid for showing change over time</a:t>
            </a:r>
            <a:endParaRPr lang="en-US" sz="1400" b="0" u="none" strike="noStrike">
              <a:solidFill>
                <a:srgbClr val="000000"/>
              </a:solidFill>
              <a:effectLst/>
              <a:uFillTx/>
              <a:latin typeface="Arial"/>
            </a:endParaRPr>
          </a:p>
        </p:txBody>
      </p:sp>
      <p:sp>
        <p:nvSpPr>
          <p:cNvPr id="770" name="Chip"/>
          <p:cNvSpPr/>
          <p:nvPr/>
        </p:nvSpPr>
        <p:spPr>
          <a:xfrm>
            <a:off x="777240" y="3794760"/>
            <a:ext cx="3200040" cy="365400"/>
          </a:xfrm>
          <a:prstGeom prst="roundRect">
            <a:avLst>
              <a:gd name="adj" fmla="val 50000"/>
            </a:avLst>
          </a:prstGeom>
          <a:solidFill>
            <a:srgbClr val="D2D0FA"/>
          </a:solidFill>
          <a:ln w="12700">
            <a:solidFill>
              <a:srgbClr val="D2D0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71" name="Chip label"/>
          <p:cNvSpPr/>
          <p:nvPr/>
        </p:nvSpPr>
        <p:spPr>
          <a:xfrm>
            <a:off x="777240" y="3794760"/>
            <a:ext cx="32000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231F71"/>
                </a:solidFill>
                <a:effectLst/>
                <a:uFillTx/>
                <a:latin typeface="Plus Jakarta Sans"/>
                <a:ea typeface="Plus Jakarta Sans"/>
              </a:rPr>
              <a:t>Matplotlib  ·  plt.bar()</a:t>
            </a:r>
            <a:endParaRPr lang="en-US" sz="1200" b="0" u="none" strike="noStrike">
              <a:solidFill>
                <a:srgbClr val="000000"/>
              </a:solidFill>
              <a:effectLst/>
              <a:uFillTx/>
              <a:latin typeface="Arial"/>
            </a:endParaRPr>
          </a:p>
        </p:txBody>
      </p:sp>
      <p:sp>
        <p:nvSpPr>
          <p:cNvPr id="772" name="Chip"/>
          <p:cNvSpPr/>
          <p:nvPr/>
        </p:nvSpPr>
        <p:spPr>
          <a:xfrm>
            <a:off x="777240" y="4251960"/>
            <a:ext cx="3200040" cy="365400"/>
          </a:xfrm>
          <a:prstGeom prst="roundRect">
            <a:avLst>
              <a:gd name="adj" fmla="val 50000"/>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73" name="Chip label"/>
          <p:cNvSpPr/>
          <p:nvPr/>
        </p:nvSpPr>
        <p:spPr>
          <a:xfrm>
            <a:off x="777240" y="4251960"/>
            <a:ext cx="32000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002019"/>
                </a:solidFill>
                <a:effectLst/>
                <a:uFillTx/>
                <a:latin typeface="Plus Jakarta Sans"/>
                <a:ea typeface="Plus Jakarta Sans"/>
              </a:rPr>
              <a:t>Seaborn  ·  sns.countplot()</a:t>
            </a:r>
            <a:endParaRPr lang="en-US" sz="1200" b="0" u="none" strike="noStrike">
              <a:solidFill>
                <a:srgbClr val="000000"/>
              </a:solidFill>
              <a:effectLst/>
              <a:uFillTx/>
              <a:latin typeface="Arial"/>
            </a:endParaRPr>
          </a:p>
        </p:txBody>
      </p:sp>
      <p:sp>
        <p:nvSpPr>
          <p:cNvPr id="774" name="Y title"/>
          <p:cNvSpPr/>
          <p:nvPr/>
        </p:nvSpPr>
        <p:spPr>
          <a:xfrm>
            <a:off x="4572000" y="1527120"/>
            <a:ext cx="7311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50" b="0" u="none" strike="noStrike">
                <a:solidFill>
                  <a:srgbClr val="474651"/>
                </a:solidFill>
                <a:effectLst/>
                <a:uFillTx/>
                <a:latin typeface="Hanken Grotesk"/>
                <a:ea typeface="Hanken Grotesk"/>
              </a:rPr>
              <a:t>count</a:t>
            </a:r>
            <a:endParaRPr lang="en-US" sz="1150" b="0" u="none" strike="noStrike">
              <a:solidFill>
                <a:srgbClr val="000000"/>
              </a:solidFill>
              <a:effectLst/>
              <a:uFillTx/>
              <a:latin typeface="Arial"/>
            </a:endParaRPr>
          </a:p>
        </p:txBody>
      </p:sp>
      <p:sp>
        <p:nvSpPr>
          <p:cNvPr id="775" name="Tick"/>
          <p:cNvSpPr/>
          <p:nvPr/>
        </p:nvSpPr>
        <p:spPr>
          <a:xfrm>
            <a:off x="4846320" y="409212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50" b="0" u="none" strike="noStrike">
                <a:solidFill>
                  <a:srgbClr val="474651"/>
                </a:solidFill>
                <a:effectLst/>
                <a:uFillTx/>
                <a:latin typeface="Hanken Grotesk"/>
                <a:ea typeface="Hanken Grotesk"/>
              </a:rPr>
              <a:t>0</a:t>
            </a:r>
            <a:endParaRPr lang="en-US" sz="1150" b="0" u="none" strike="noStrike">
              <a:solidFill>
                <a:srgbClr val="000000"/>
              </a:solidFill>
              <a:effectLst/>
              <a:uFillTx/>
              <a:latin typeface="Arial"/>
            </a:endParaRPr>
          </a:p>
        </p:txBody>
      </p:sp>
      <p:sp>
        <p:nvSpPr>
          <p:cNvPr id="776" name="Grid"/>
          <p:cNvSpPr/>
          <p:nvPr/>
        </p:nvSpPr>
        <p:spPr>
          <a:xfrm>
            <a:off x="5303520" y="3786120"/>
            <a:ext cx="5715000" cy="360"/>
          </a:xfrm>
          <a:prstGeom prst="line">
            <a:avLst/>
          </a:prstGeom>
          <a:ln w="9525">
            <a:solidFill>
              <a:srgbClr val="E6E3F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777" name="Tick"/>
          <p:cNvSpPr/>
          <p:nvPr/>
        </p:nvSpPr>
        <p:spPr>
          <a:xfrm>
            <a:off x="4846320" y="367200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50" b="0" u="none" strike="noStrike">
                <a:solidFill>
                  <a:srgbClr val="474651"/>
                </a:solidFill>
                <a:effectLst/>
                <a:uFillTx/>
                <a:latin typeface="Hanken Grotesk"/>
                <a:ea typeface="Hanken Grotesk"/>
              </a:rPr>
              <a:t>1</a:t>
            </a:r>
            <a:endParaRPr lang="en-US" sz="1150" b="0" u="none" strike="noStrike">
              <a:solidFill>
                <a:srgbClr val="000000"/>
              </a:solidFill>
              <a:effectLst/>
              <a:uFillTx/>
              <a:latin typeface="Arial"/>
            </a:endParaRPr>
          </a:p>
        </p:txBody>
      </p:sp>
      <p:sp>
        <p:nvSpPr>
          <p:cNvPr id="778" name="Grid"/>
          <p:cNvSpPr/>
          <p:nvPr/>
        </p:nvSpPr>
        <p:spPr>
          <a:xfrm>
            <a:off x="5303520" y="3366000"/>
            <a:ext cx="5715000" cy="360"/>
          </a:xfrm>
          <a:prstGeom prst="line">
            <a:avLst/>
          </a:prstGeom>
          <a:ln w="9525">
            <a:solidFill>
              <a:srgbClr val="E6E3F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779" name="Tick"/>
          <p:cNvSpPr/>
          <p:nvPr/>
        </p:nvSpPr>
        <p:spPr>
          <a:xfrm>
            <a:off x="4846320" y="325188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50" b="0" u="none" strike="noStrike">
                <a:solidFill>
                  <a:srgbClr val="474651"/>
                </a:solidFill>
                <a:effectLst/>
                <a:uFillTx/>
                <a:latin typeface="Hanken Grotesk"/>
                <a:ea typeface="Hanken Grotesk"/>
              </a:rPr>
              <a:t>2</a:t>
            </a:r>
            <a:endParaRPr lang="en-US" sz="1150" b="0" u="none" strike="noStrike">
              <a:solidFill>
                <a:srgbClr val="000000"/>
              </a:solidFill>
              <a:effectLst/>
              <a:uFillTx/>
              <a:latin typeface="Arial"/>
            </a:endParaRPr>
          </a:p>
        </p:txBody>
      </p:sp>
      <p:sp>
        <p:nvSpPr>
          <p:cNvPr id="780" name="Grid"/>
          <p:cNvSpPr/>
          <p:nvPr/>
        </p:nvSpPr>
        <p:spPr>
          <a:xfrm>
            <a:off x="5303520" y="2946240"/>
            <a:ext cx="5715000" cy="360"/>
          </a:xfrm>
          <a:prstGeom prst="line">
            <a:avLst/>
          </a:prstGeom>
          <a:ln w="9525">
            <a:solidFill>
              <a:srgbClr val="E6E3F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781" name="Tick"/>
          <p:cNvSpPr/>
          <p:nvPr/>
        </p:nvSpPr>
        <p:spPr>
          <a:xfrm>
            <a:off x="4846320" y="283212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50" b="0" u="none" strike="noStrike">
                <a:solidFill>
                  <a:srgbClr val="474651"/>
                </a:solidFill>
                <a:effectLst/>
                <a:uFillTx/>
                <a:latin typeface="Hanken Grotesk"/>
                <a:ea typeface="Hanken Grotesk"/>
              </a:rPr>
              <a:t>3</a:t>
            </a:r>
            <a:endParaRPr lang="en-US" sz="1150" b="0" u="none" strike="noStrike">
              <a:solidFill>
                <a:srgbClr val="000000"/>
              </a:solidFill>
              <a:effectLst/>
              <a:uFillTx/>
              <a:latin typeface="Arial"/>
            </a:endParaRPr>
          </a:p>
        </p:txBody>
      </p:sp>
      <p:sp>
        <p:nvSpPr>
          <p:cNvPr id="782" name="Grid"/>
          <p:cNvSpPr/>
          <p:nvPr/>
        </p:nvSpPr>
        <p:spPr>
          <a:xfrm>
            <a:off x="5303520" y="2526120"/>
            <a:ext cx="5715000" cy="360"/>
          </a:xfrm>
          <a:prstGeom prst="line">
            <a:avLst/>
          </a:prstGeom>
          <a:ln w="9525">
            <a:solidFill>
              <a:srgbClr val="E6E3F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783" name="Tick"/>
          <p:cNvSpPr/>
          <p:nvPr/>
        </p:nvSpPr>
        <p:spPr>
          <a:xfrm>
            <a:off x="4846320" y="241200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50" b="0" u="none" strike="noStrike">
                <a:solidFill>
                  <a:srgbClr val="474651"/>
                </a:solidFill>
                <a:effectLst/>
                <a:uFillTx/>
                <a:latin typeface="Hanken Grotesk"/>
                <a:ea typeface="Hanken Grotesk"/>
              </a:rPr>
              <a:t>4</a:t>
            </a:r>
            <a:endParaRPr lang="en-US" sz="1150" b="0" u="none" strike="noStrike">
              <a:solidFill>
                <a:srgbClr val="000000"/>
              </a:solidFill>
              <a:effectLst/>
              <a:uFillTx/>
              <a:latin typeface="Arial"/>
            </a:endParaRPr>
          </a:p>
        </p:txBody>
      </p:sp>
      <p:sp>
        <p:nvSpPr>
          <p:cNvPr id="784" name="Grid"/>
          <p:cNvSpPr/>
          <p:nvPr/>
        </p:nvSpPr>
        <p:spPr>
          <a:xfrm>
            <a:off x="5303520" y="2106000"/>
            <a:ext cx="5715000" cy="360"/>
          </a:xfrm>
          <a:prstGeom prst="line">
            <a:avLst/>
          </a:prstGeom>
          <a:ln w="9525">
            <a:solidFill>
              <a:srgbClr val="E6E3F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785" name="Tick"/>
          <p:cNvSpPr/>
          <p:nvPr/>
        </p:nvSpPr>
        <p:spPr>
          <a:xfrm>
            <a:off x="4846320" y="199188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50" b="0" u="none" strike="noStrike">
                <a:solidFill>
                  <a:srgbClr val="474651"/>
                </a:solidFill>
                <a:effectLst/>
                <a:uFillTx/>
                <a:latin typeface="Hanken Grotesk"/>
                <a:ea typeface="Hanken Grotesk"/>
              </a:rPr>
              <a:t>5</a:t>
            </a:r>
            <a:endParaRPr lang="en-US" sz="1150" b="0" u="none" strike="noStrike">
              <a:solidFill>
                <a:srgbClr val="000000"/>
              </a:solidFill>
              <a:effectLst/>
              <a:uFillTx/>
              <a:latin typeface="Arial"/>
            </a:endParaRPr>
          </a:p>
        </p:txBody>
      </p:sp>
      <p:sp>
        <p:nvSpPr>
          <p:cNvPr id="786" name="Y axis"/>
          <p:cNvSpPr/>
          <p:nvPr/>
        </p:nvSpPr>
        <p:spPr>
          <a:xfrm>
            <a:off x="5303520" y="1828800"/>
            <a:ext cx="360" cy="2377440"/>
          </a:xfrm>
          <a:prstGeom prst="line">
            <a:avLst/>
          </a:prstGeom>
          <a:ln w="19050">
            <a:solidFill>
              <a:srgbClr val="474651"/>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87" name="X axis"/>
          <p:cNvSpPr/>
          <p:nvPr/>
        </p:nvSpPr>
        <p:spPr>
          <a:xfrm>
            <a:off x="5303520" y="4206240"/>
            <a:ext cx="5715000" cy="360"/>
          </a:xfrm>
          <a:prstGeom prst="line">
            <a:avLst/>
          </a:prstGeom>
          <a:ln w="19050">
            <a:solidFill>
              <a:srgbClr val="47465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788" name="Bar"/>
          <p:cNvSpPr/>
          <p:nvPr/>
        </p:nvSpPr>
        <p:spPr>
          <a:xfrm>
            <a:off x="5760720" y="2106360"/>
            <a:ext cx="1142640" cy="2099520"/>
          </a:xfrm>
          <a:prstGeom prst="rect">
            <a:avLst/>
          </a:prstGeom>
          <a:solidFill>
            <a:srgbClr val="8C8AE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89" name="Value"/>
          <p:cNvSpPr/>
          <p:nvPr/>
        </p:nvSpPr>
        <p:spPr>
          <a:xfrm>
            <a:off x="5760720" y="1786320"/>
            <a:ext cx="11426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231F71"/>
                </a:solidFill>
                <a:effectLst/>
                <a:uFillTx/>
                <a:latin typeface="Bricolage Grotesque"/>
                <a:ea typeface="Bricolage Grotesque"/>
              </a:rPr>
              <a:t>5</a:t>
            </a:r>
            <a:endParaRPr lang="en-US" sz="1600" b="0" u="none" strike="noStrike">
              <a:solidFill>
                <a:srgbClr val="000000"/>
              </a:solidFill>
              <a:effectLst/>
              <a:uFillTx/>
              <a:latin typeface="Arial"/>
            </a:endParaRPr>
          </a:p>
        </p:txBody>
      </p:sp>
      <p:sp>
        <p:nvSpPr>
          <p:cNvPr id="790" name="Category"/>
          <p:cNvSpPr/>
          <p:nvPr/>
        </p:nvSpPr>
        <p:spPr>
          <a:xfrm>
            <a:off x="5463720" y="4297680"/>
            <a:ext cx="17370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1B1B20"/>
                </a:solidFill>
                <a:effectLst/>
                <a:uFillTx/>
                <a:latin typeface="Bricolage Grotesque"/>
                <a:ea typeface="Bricolage Grotesque"/>
              </a:rPr>
              <a:t>Quetta</a:t>
            </a:r>
            <a:endParaRPr lang="en-US" sz="1400" b="0" u="none" strike="noStrike">
              <a:solidFill>
                <a:srgbClr val="000000"/>
              </a:solidFill>
              <a:effectLst/>
              <a:uFillTx/>
              <a:latin typeface="Arial"/>
            </a:endParaRPr>
          </a:p>
        </p:txBody>
      </p:sp>
      <p:sp>
        <p:nvSpPr>
          <p:cNvPr id="791" name="Bar"/>
          <p:cNvSpPr/>
          <p:nvPr/>
        </p:nvSpPr>
        <p:spPr>
          <a:xfrm>
            <a:off x="7498080" y="2946240"/>
            <a:ext cx="1142640" cy="1259640"/>
          </a:xfrm>
          <a:prstGeom prst="rect">
            <a:avLst/>
          </a:prstGeom>
          <a:solidFill>
            <a:srgbClr val="8C8AE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92" name="Value"/>
          <p:cNvSpPr/>
          <p:nvPr/>
        </p:nvSpPr>
        <p:spPr>
          <a:xfrm>
            <a:off x="7498080" y="2626200"/>
            <a:ext cx="11426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231F71"/>
                </a:solidFill>
                <a:effectLst/>
                <a:uFillTx/>
                <a:latin typeface="Bricolage Grotesque"/>
                <a:ea typeface="Bricolage Grotesque"/>
              </a:rPr>
              <a:t>3</a:t>
            </a:r>
            <a:endParaRPr lang="en-US" sz="1600" b="0" u="none" strike="noStrike">
              <a:solidFill>
                <a:srgbClr val="000000"/>
              </a:solidFill>
              <a:effectLst/>
              <a:uFillTx/>
              <a:latin typeface="Arial"/>
            </a:endParaRPr>
          </a:p>
        </p:txBody>
      </p:sp>
      <p:sp>
        <p:nvSpPr>
          <p:cNvPr id="793" name="Category"/>
          <p:cNvSpPr/>
          <p:nvPr/>
        </p:nvSpPr>
        <p:spPr>
          <a:xfrm>
            <a:off x="7201080" y="4297680"/>
            <a:ext cx="17370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1B1B20"/>
                </a:solidFill>
                <a:effectLst/>
                <a:uFillTx/>
                <a:latin typeface="Bricolage Grotesque"/>
                <a:ea typeface="Bricolage Grotesque"/>
              </a:rPr>
              <a:t>Lahore</a:t>
            </a:r>
            <a:endParaRPr lang="en-US" sz="1400" b="0" u="none" strike="noStrike">
              <a:solidFill>
                <a:srgbClr val="000000"/>
              </a:solidFill>
              <a:effectLst/>
              <a:uFillTx/>
              <a:latin typeface="Arial"/>
            </a:endParaRPr>
          </a:p>
        </p:txBody>
      </p:sp>
      <p:sp>
        <p:nvSpPr>
          <p:cNvPr id="794" name="Bar"/>
          <p:cNvSpPr/>
          <p:nvPr/>
        </p:nvSpPr>
        <p:spPr>
          <a:xfrm>
            <a:off x="9235440" y="3366360"/>
            <a:ext cx="1142640" cy="839520"/>
          </a:xfrm>
          <a:prstGeom prst="rect">
            <a:avLst/>
          </a:prstGeom>
          <a:solidFill>
            <a:srgbClr val="8C8AE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95" name="Value"/>
          <p:cNvSpPr/>
          <p:nvPr/>
        </p:nvSpPr>
        <p:spPr>
          <a:xfrm>
            <a:off x="9235440" y="3046320"/>
            <a:ext cx="11426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231F71"/>
                </a:solidFill>
                <a:effectLst/>
                <a:uFillTx/>
                <a:latin typeface="Bricolage Grotesque"/>
                <a:ea typeface="Bricolage Grotesque"/>
              </a:rPr>
              <a:t>2</a:t>
            </a:r>
            <a:endParaRPr lang="en-US" sz="1600" b="0" u="none" strike="noStrike">
              <a:solidFill>
                <a:srgbClr val="000000"/>
              </a:solidFill>
              <a:effectLst/>
              <a:uFillTx/>
              <a:latin typeface="Arial"/>
            </a:endParaRPr>
          </a:p>
        </p:txBody>
      </p:sp>
      <p:sp>
        <p:nvSpPr>
          <p:cNvPr id="796" name="Category"/>
          <p:cNvSpPr/>
          <p:nvPr/>
        </p:nvSpPr>
        <p:spPr>
          <a:xfrm>
            <a:off x="8938440" y="4297680"/>
            <a:ext cx="17370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1B1B20"/>
                </a:solidFill>
                <a:effectLst/>
                <a:uFillTx/>
                <a:latin typeface="Bricolage Grotesque"/>
                <a:ea typeface="Bricolage Grotesque"/>
              </a:rPr>
              <a:t>Karachi</a:t>
            </a:r>
            <a:endParaRPr lang="en-US" sz="1400" b="0" u="none" strike="noStrike">
              <a:solidFill>
                <a:srgbClr val="000000"/>
              </a:solidFill>
              <a:effectLst/>
              <a:uFillTx/>
              <a:latin typeface="Arial"/>
            </a:endParaRPr>
          </a:p>
        </p:txBody>
      </p:sp>
      <p:sp>
        <p:nvSpPr>
          <p:cNvPr id="797" name="X title"/>
          <p:cNvSpPr/>
          <p:nvPr/>
        </p:nvSpPr>
        <p:spPr>
          <a:xfrm>
            <a:off x="5303520" y="4617720"/>
            <a:ext cx="57146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50" b="0" u="none" strike="noStrike">
                <a:solidFill>
                  <a:srgbClr val="474651"/>
                </a:solidFill>
                <a:effectLst/>
                <a:uFillTx/>
                <a:latin typeface="Hanken Grotesk"/>
                <a:ea typeface="Hanken Grotesk"/>
              </a:rPr>
              <a:t>city</a:t>
            </a:r>
            <a:endParaRPr lang="en-US" sz="1150" b="0" u="none" strike="noStrike">
              <a:solidFill>
                <a:srgbClr val="000000"/>
              </a:solidFill>
              <a:effectLst/>
              <a:uFillTx/>
              <a:latin typeface="Arial"/>
            </a:endParaRPr>
          </a:p>
        </p:txBody>
      </p:sp>
      <p:sp>
        <p:nvSpPr>
          <p:cNvPr id="798" name="Callout"/>
          <p:cNvSpPr/>
          <p:nvPr/>
        </p:nvSpPr>
        <p:spPr>
          <a:xfrm>
            <a:off x="548640" y="5257800"/>
            <a:ext cx="11109600" cy="822600"/>
          </a:xfrm>
          <a:prstGeom prst="roundRect">
            <a:avLst>
              <a:gd name="adj" fmla="val 11111"/>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99" name="Callout text"/>
          <p:cNvSpPr/>
          <p:nvPr/>
        </p:nvSpPr>
        <p:spPr>
          <a:xfrm>
            <a:off x="777240" y="5257800"/>
            <a:ext cx="106524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dirty="0">
                <a:solidFill>
                  <a:srgbClr val="002019"/>
                </a:solidFill>
                <a:effectLst/>
                <a:uFillTx/>
                <a:latin typeface="cantarell"/>
                <a:ea typeface="Hanken Grotesk"/>
              </a:rPr>
              <a:t>One bar per category, and its height is the count. Bars sit apart because categories are separate, and the y-axis should always start at 0.</a:t>
            </a:r>
            <a:endParaRPr lang="en-US" sz="1300" b="0" u="none" strike="noStrike" dirty="0">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800"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801"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54</a:t>
            </a:r>
            <a:endParaRPr lang="en-US" sz="900" b="0" u="none" strike="noStrike">
              <a:solidFill>
                <a:srgbClr val="000000"/>
              </a:solidFill>
              <a:effectLst/>
              <a:uFillTx/>
              <a:latin typeface="Arial"/>
            </a:endParaRPr>
          </a:p>
        </p:txBody>
      </p:sp>
      <p:pic>
        <p:nvPicPr>
          <p:cNvPr id="802" name="Image 0" descr="/home/claude/assets/logo_crop.png"/>
          <p:cNvPicPr/>
          <p:nvPr/>
        </p:nvPicPr>
        <p:blipFill>
          <a:blip r:embed="rId2"/>
          <a:stretch/>
        </p:blipFill>
        <p:spPr>
          <a:xfrm>
            <a:off x="11201400" y="384120"/>
            <a:ext cx="456840" cy="511560"/>
          </a:xfrm>
          <a:prstGeom prst="rect">
            <a:avLst/>
          </a:prstGeom>
          <a:noFill/>
          <a:ln w="0">
            <a:noFill/>
          </a:ln>
        </p:spPr>
      </p:pic>
      <p:sp>
        <p:nvSpPr>
          <p:cNvPr id="803"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Bar Chart in Code</a:t>
            </a:r>
            <a:endParaRPr lang="en-US" sz="2600" b="0" u="none" strike="noStrike">
              <a:solidFill>
                <a:srgbClr val="000000"/>
              </a:solidFill>
              <a:effectLst/>
              <a:uFillTx/>
              <a:latin typeface="Arial"/>
            </a:endParaRPr>
          </a:p>
        </p:txBody>
      </p:sp>
      <p:sp>
        <p:nvSpPr>
          <p:cNvPr id="804"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400"/>
              </a:spcAft>
              <a:buClr>
                <a:srgbClr val="1B1B20"/>
              </a:buClr>
              <a:buFont typeface="Arial"/>
              <a:buChar char="•"/>
            </a:pPr>
            <a:r>
              <a:rPr lang="en-US" sz="2000" b="0" u="none" strike="noStrike" dirty="0" err="1">
                <a:solidFill>
                  <a:srgbClr val="1B1B20"/>
                </a:solidFill>
                <a:effectLst/>
                <a:uFillTx/>
                <a:latin typeface="cantarell"/>
                <a:ea typeface="Hanken Grotesk"/>
              </a:rPr>
              <a:t>plt.bar</a:t>
            </a:r>
            <a:r>
              <a:rPr lang="en-US" sz="2000" b="0" u="none" strike="noStrike" dirty="0">
                <a:solidFill>
                  <a:srgbClr val="1B1B20"/>
                </a:solidFill>
                <a:effectLst/>
                <a:uFillTx/>
                <a:latin typeface="cantarell"/>
                <a:ea typeface="Hanken Grotesk"/>
              </a:rPr>
              <a:t> draws bars from counts you have already computed.</a:t>
            </a:r>
            <a:endParaRPr lang="en-US" sz="2000" b="0" u="none" strike="noStrike">
              <a:solidFill>
                <a:srgbClr val="000000"/>
              </a:solidFill>
              <a:effectLst/>
              <a:uFillTx/>
              <a:latin typeface="cantarell"/>
              <a:cs typeface="Arial"/>
            </a:endParaRPr>
          </a:p>
          <a:p>
            <a:pPr marL="342900" indent="-342900" defTabSz="914400">
              <a:lnSpc>
                <a:spcPct val="100000"/>
              </a:lnSpc>
              <a:spcAft>
                <a:spcPts val="1400"/>
              </a:spcAft>
              <a:buClr>
                <a:srgbClr val="1B1B20"/>
              </a:buClr>
              <a:buFont typeface="Arial"/>
              <a:buChar char="•"/>
            </a:pPr>
            <a:r>
              <a:rPr lang="en-US" sz="2000" b="0" u="none" strike="noStrike" dirty="0" err="1">
                <a:solidFill>
                  <a:srgbClr val="1B1B20"/>
                </a:solidFill>
                <a:effectLst/>
                <a:uFillTx/>
                <a:latin typeface="cantarell"/>
                <a:ea typeface="Hanken Grotesk"/>
              </a:rPr>
              <a:t>sns.countplot</a:t>
            </a:r>
            <a:r>
              <a:rPr lang="en-US" sz="2000" b="0" u="none" strike="noStrike" dirty="0">
                <a:solidFill>
                  <a:srgbClr val="1B1B20"/>
                </a:solidFill>
                <a:effectLst/>
                <a:uFillTx/>
                <a:latin typeface="cantarell"/>
                <a:ea typeface="Hanken Grotesk"/>
              </a:rPr>
              <a:t> counts the rows for you, straight from the raw data.</a:t>
            </a:r>
            <a:endParaRPr lang="en-US" sz="2000" b="0" u="none" strike="noStrike">
              <a:solidFill>
                <a:srgbClr val="000000"/>
              </a:solidFill>
              <a:effectLst/>
              <a:uFillTx/>
              <a:latin typeface="cantarell"/>
              <a:cs typeface="Arial"/>
            </a:endParaRPr>
          </a:p>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cantarell"/>
                <a:ea typeface="Hanken Grotesk"/>
              </a:rPr>
              <a:t>A first look only: styling and customization come in the Matplotlib and Seaborn sessions.</a:t>
            </a:r>
            <a:endParaRPr lang="en-US" sz="2000" b="0" u="none" strike="noStrike">
              <a:solidFill>
                <a:srgbClr val="000000"/>
              </a:solidFill>
              <a:effectLst/>
              <a:uFillTx/>
              <a:latin typeface="cantarell"/>
              <a:cs typeface="Arial"/>
            </a:endParaRPr>
          </a:p>
        </p:txBody>
      </p:sp>
      <p:sp>
        <p:nvSpPr>
          <p:cNvPr id="805"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06"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807"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808"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809"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300" b="0" u="none" strike="noStrike">
                <a:solidFill>
                  <a:srgbClr val="F1F5F9"/>
                </a:solidFill>
                <a:effectLst/>
                <a:uFillTx/>
                <a:latin typeface="Cantarell"/>
                <a:ea typeface="Consolas"/>
              </a:rPr>
              <a:t>import pandas as pd</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import matplotlib.pyplot as plt</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import seaborn as sns</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cities = pd.Series(["Quetta"] * 5 + ["Lahore"] * 3</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 ["Karachi"] * 2)</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counts = cities.value_counts()</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plt.bar(counts.index, counts.values)   </a:t>
            </a:r>
            <a:r>
              <a:rPr lang="en-US" sz="1300" b="0" i="1" u="none" strike="noStrike">
                <a:solidFill>
                  <a:srgbClr val="94A3B8"/>
                </a:solidFill>
                <a:effectLst/>
                <a:uFillTx/>
                <a:latin typeface="Cantarell"/>
                <a:ea typeface="Consolas"/>
              </a:rPr>
              <a:t># Matplotlib</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plt.show()</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sns.countplot(x=cities)                </a:t>
            </a:r>
            <a:r>
              <a:rPr lang="en-US" sz="1300" b="0" i="1" u="none" strike="noStrike">
                <a:solidFill>
                  <a:srgbClr val="94A3B8"/>
                </a:solidFill>
                <a:effectLst/>
                <a:uFillTx/>
                <a:latin typeface="Cantarell"/>
                <a:ea typeface="Consolas"/>
              </a:rPr>
              <a:t># Seaborn</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plt.show()</a:t>
            </a:r>
            <a:endParaRPr lang="en-US" sz="13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810"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811"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55</a:t>
            </a:r>
            <a:endParaRPr lang="en-US" sz="900" b="0" u="none" strike="noStrike">
              <a:solidFill>
                <a:srgbClr val="000000"/>
              </a:solidFill>
              <a:effectLst/>
              <a:uFillTx/>
              <a:latin typeface="Arial"/>
            </a:endParaRPr>
          </a:p>
        </p:txBody>
      </p:sp>
      <p:pic>
        <p:nvPicPr>
          <p:cNvPr id="812" name="Image 0" descr="/home/claude/assets/logo_crop.png"/>
          <p:cNvPicPr/>
          <p:nvPr/>
        </p:nvPicPr>
        <p:blipFill>
          <a:blip r:embed="rId3"/>
          <a:stretch/>
        </p:blipFill>
        <p:spPr>
          <a:xfrm>
            <a:off x="11201400" y="384120"/>
            <a:ext cx="456840" cy="511560"/>
          </a:xfrm>
          <a:prstGeom prst="rect">
            <a:avLst/>
          </a:prstGeom>
          <a:noFill/>
          <a:ln w="0">
            <a:noFill/>
          </a:ln>
        </p:spPr>
      </p:pic>
      <p:sp>
        <p:nvSpPr>
          <p:cNvPr id="813"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Charts for a Single Numerical Variable</a:t>
            </a:r>
            <a:endParaRPr lang="en-US" sz="2600" b="0" u="none" strike="noStrike">
              <a:solidFill>
                <a:srgbClr val="000000"/>
              </a:solidFill>
              <a:effectLst/>
              <a:uFillTx/>
              <a:latin typeface="Arial"/>
            </a:endParaRPr>
          </a:p>
        </p:txBody>
      </p:sp>
      <p:sp>
        <p:nvSpPr>
          <p:cNvPr id="814" name="Card"/>
          <p:cNvSpPr/>
          <p:nvPr/>
        </p:nvSpPr>
        <p:spPr>
          <a:xfrm>
            <a:off x="548640" y="1737360"/>
            <a:ext cx="5409720" cy="4023000"/>
          </a:xfrm>
          <a:prstGeom prst="roundRect">
            <a:avLst>
              <a:gd name="adj" fmla="val 2060"/>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15" name="Badge"/>
          <p:cNvSpPr/>
          <p:nvPr/>
        </p:nvSpPr>
        <p:spPr>
          <a:xfrm>
            <a:off x="3006720" y="1920240"/>
            <a:ext cx="493560" cy="493560"/>
          </a:xfrm>
          <a:prstGeom prst="roundRect">
            <a:avLst>
              <a:gd name="adj" fmla="val 18519"/>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16" name="Badge num"/>
          <p:cNvSpPr/>
          <p:nvPr/>
        </p:nvSpPr>
        <p:spPr>
          <a:xfrm>
            <a:off x="300672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Bricolage Grotesque"/>
                <a:ea typeface="Bricolage Grotesque"/>
              </a:rPr>
              <a:t>1</a:t>
            </a:r>
            <a:endParaRPr lang="en-US" sz="1600" b="0" u="none" strike="noStrike">
              <a:solidFill>
                <a:srgbClr val="000000"/>
              </a:solidFill>
              <a:effectLst/>
              <a:uFillTx/>
              <a:latin typeface="Arial"/>
            </a:endParaRPr>
          </a:p>
        </p:txBody>
      </p:sp>
      <p:sp>
        <p:nvSpPr>
          <p:cNvPr id="817" name="Pill"/>
          <p:cNvSpPr/>
          <p:nvPr/>
        </p:nvSpPr>
        <p:spPr>
          <a:xfrm>
            <a:off x="1661040" y="2606040"/>
            <a:ext cx="3184920" cy="456840"/>
          </a:xfrm>
          <a:prstGeom prst="roundRect">
            <a:avLst>
              <a:gd name="adj" fmla="val 5000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18" name="Pill label"/>
          <p:cNvSpPr/>
          <p:nvPr/>
        </p:nvSpPr>
        <p:spPr>
          <a:xfrm>
            <a:off x="1661040" y="2606040"/>
            <a:ext cx="3184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Plus Jakarta Sans"/>
                <a:ea typeface="Plus Jakarta Sans"/>
              </a:rPr>
              <a:t>Histogram</a:t>
            </a:r>
            <a:endParaRPr lang="en-US" sz="1400" b="0" u="none" strike="noStrike">
              <a:solidFill>
                <a:srgbClr val="000000"/>
              </a:solidFill>
              <a:effectLst/>
              <a:uFillTx/>
              <a:latin typeface="Arial"/>
            </a:endParaRPr>
          </a:p>
        </p:txBody>
      </p:sp>
      <p:sp>
        <p:nvSpPr>
          <p:cNvPr id="819" name="Description"/>
          <p:cNvSpPr/>
          <p:nvPr/>
        </p:nvSpPr>
        <p:spPr>
          <a:xfrm>
            <a:off x="777240" y="3291840"/>
            <a:ext cx="495252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Shows the distribution and shape of numerical data by grouping values into bins. Avoid on categorical data</a:t>
            </a:r>
            <a:endParaRPr lang="en-US" sz="1400" b="0" u="none" strike="noStrike">
              <a:solidFill>
                <a:srgbClr val="000000"/>
              </a:solidFill>
              <a:effectLst/>
              <a:uFillTx/>
              <a:latin typeface="Arial"/>
            </a:endParaRPr>
          </a:p>
        </p:txBody>
      </p:sp>
      <p:sp>
        <p:nvSpPr>
          <p:cNvPr id="820" name="Card"/>
          <p:cNvSpPr/>
          <p:nvPr/>
        </p:nvSpPr>
        <p:spPr>
          <a:xfrm>
            <a:off x="6248520" y="1737360"/>
            <a:ext cx="5409720" cy="4023000"/>
          </a:xfrm>
          <a:prstGeom prst="roundRect">
            <a:avLst>
              <a:gd name="adj" fmla="val 2060"/>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21" name="Badge"/>
          <p:cNvSpPr/>
          <p:nvPr/>
        </p:nvSpPr>
        <p:spPr>
          <a:xfrm>
            <a:off x="8706600" y="1920240"/>
            <a:ext cx="493560" cy="493560"/>
          </a:xfrm>
          <a:prstGeom prst="roundRect">
            <a:avLst>
              <a:gd name="adj" fmla="val 18519"/>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22" name="Badge num"/>
          <p:cNvSpPr/>
          <p:nvPr/>
        </p:nvSpPr>
        <p:spPr>
          <a:xfrm>
            <a:off x="870660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002019"/>
                </a:solidFill>
                <a:effectLst/>
                <a:uFillTx/>
                <a:latin typeface="Bricolage Grotesque"/>
                <a:ea typeface="Bricolage Grotesque"/>
              </a:rPr>
              <a:t>2</a:t>
            </a:r>
            <a:endParaRPr lang="en-US" sz="1600" b="0" u="none" strike="noStrike">
              <a:solidFill>
                <a:srgbClr val="000000"/>
              </a:solidFill>
              <a:effectLst/>
              <a:uFillTx/>
              <a:latin typeface="Arial"/>
            </a:endParaRPr>
          </a:p>
        </p:txBody>
      </p:sp>
      <p:sp>
        <p:nvSpPr>
          <p:cNvPr id="823" name="Pill"/>
          <p:cNvSpPr/>
          <p:nvPr/>
        </p:nvSpPr>
        <p:spPr>
          <a:xfrm>
            <a:off x="7360920" y="2606040"/>
            <a:ext cx="3184920" cy="456840"/>
          </a:xfrm>
          <a:prstGeom prst="roundRect">
            <a:avLst>
              <a:gd name="adj" fmla="val 50000"/>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24" name="Pill label"/>
          <p:cNvSpPr/>
          <p:nvPr/>
        </p:nvSpPr>
        <p:spPr>
          <a:xfrm>
            <a:off x="7360920" y="2606040"/>
            <a:ext cx="3184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Box Plot</a:t>
            </a:r>
            <a:endParaRPr lang="en-US" sz="1400" b="0" u="none" strike="noStrike">
              <a:solidFill>
                <a:srgbClr val="000000"/>
              </a:solidFill>
              <a:effectLst/>
              <a:uFillTx/>
              <a:latin typeface="Arial"/>
            </a:endParaRPr>
          </a:p>
        </p:txBody>
      </p:sp>
      <p:sp>
        <p:nvSpPr>
          <p:cNvPr id="825" name="Description"/>
          <p:cNvSpPr/>
          <p:nvPr/>
        </p:nvSpPr>
        <p:spPr>
          <a:xfrm>
            <a:off x="6477120" y="3291840"/>
            <a:ext cx="495252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Shows the five-number summary and flags outliers at a glance. Use to compare spread across groups</a:t>
            </a:r>
            <a:endParaRPr lang="en-US" sz="1400" b="0" u="none" strike="noStrike">
              <a:solidFill>
                <a:srgbClr val="000000"/>
              </a:solidFill>
              <a:effectLst/>
              <a:uFillTx/>
              <a:latin typeface="Arial"/>
            </a:endParaRPr>
          </a:p>
        </p:txBody>
      </p:sp>
      <p:sp>
        <p:nvSpPr>
          <p:cNvPr id="826" name="Bin"/>
          <p:cNvSpPr/>
          <p:nvPr/>
        </p:nvSpPr>
        <p:spPr>
          <a:xfrm>
            <a:off x="1493640" y="5044320"/>
            <a:ext cx="502560" cy="167400"/>
          </a:xfrm>
          <a:prstGeom prst="rect">
            <a:avLst/>
          </a:prstGeom>
          <a:solidFill>
            <a:srgbClr val="8C8AE0"/>
          </a:solidFill>
          <a:ln w="9525">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27" name="Bin"/>
          <p:cNvSpPr/>
          <p:nvPr/>
        </p:nvSpPr>
        <p:spPr>
          <a:xfrm>
            <a:off x="1996560" y="4709160"/>
            <a:ext cx="502560" cy="502560"/>
          </a:xfrm>
          <a:prstGeom prst="rect">
            <a:avLst/>
          </a:prstGeom>
          <a:solidFill>
            <a:srgbClr val="8C8AE0"/>
          </a:solidFill>
          <a:ln w="9525">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28" name="Bin"/>
          <p:cNvSpPr/>
          <p:nvPr/>
        </p:nvSpPr>
        <p:spPr>
          <a:xfrm>
            <a:off x="2499480" y="4374000"/>
            <a:ext cx="502560" cy="837720"/>
          </a:xfrm>
          <a:prstGeom prst="rect">
            <a:avLst/>
          </a:prstGeom>
          <a:solidFill>
            <a:srgbClr val="8C8AE0"/>
          </a:solidFill>
          <a:ln w="9525">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29" name="Bin"/>
          <p:cNvSpPr/>
          <p:nvPr/>
        </p:nvSpPr>
        <p:spPr>
          <a:xfrm>
            <a:off x="3002400" y="4206240"/>
            <a:ext cx="502560" cy="1005480"/>
          </a:xfrm>
          <a:prstGeom prst="rect">
            <a:avLst/>
          </a:prstGeom>
          <a:solidFill>
            <a:srgbClr val="8C8AE0"/>
          </a:solidFill>
          <a:ln w="9525">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30" name="Bin"/>
          <p:cNvSpPr/>
          <p:nvPr/>
        </p:nvSpPr>
        <p:spPr>
          <a:xfrm>
            <a:off x="3505320" y="4541400"/>
            <a:ext cx="502560" cy="670320"/>
          </a:xfrm>
          <a:prstGeom prst="rect">
            <a:avLst/>
          </a:prstGeom>
          <a:solidFill>
            <a:srgbClr val="8C8AE0"/>
          </a:solidFill>
          <a:ln w="9525">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31" name="Bin"/>
          <p:cNvSpPr/>
          <p:nvPr/>
        </p:nvSpPr>
        <p:spPr>
          <a:xfrm>
            <a:off x="4008240" y="4876920"/>
            <a:ext cx="502560" cy="334800"/>
          </a:xfrm>
          <a:prstGeom prst="rect">
            <a:avLst/>
          </a:prstGeom>
          <a:solidFill>
            <a:srgbClr val="8C8AE0"/>
          </a:solidFill>
          <a:ln w="9525">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32" name="Bin"/>
          <p:cNvSpPr/>
          <p:nvPr/>
        </p:nvSpPr>
        <p:spPr>
          <a:xfrm>
            <a:off x="4511160" y="5044320"/>
            <a:ext cx="502560" cy="167400"/>
          </a:xfrm>
          <a:prstGeom prst="rect">
            <a:avLst/>
          </a:prstGeom>
          <a:solidFill>
            <a:srgbClr val="8C8AE0"/>
          </a:solidFill>
          <a:ln w="9525">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33" name="Axis"/>
          <p:cNvSpPr/>
          <p:nvPr/>
        </p:nvSpPr>
        <p:spPr>
          <a:xfrm>
            <a:off x="1401840" y="5212080"/>
            <a:ext cx="3703320" cy="360"/>
          </a:xfrm>
          <a:prstGeom prst="line">
            <a:avLst/>
          </a:prstGeom>
          <a:ln w="19050">
            <a:solidFill>
              <a:srgbClr val="47465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834" name="Caption"/>
          <p:cNvSpPr/>
          <p:nvPr/>
        </p:nvSpPr>
        <p:spPr>
          <a:xfrm>
            <a:off x="548640" y="5257800"/>
            <a:ext cx="54097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50" b="0" u="none" strike="noStrike">
                <a:solidFill>
                  <a:srgbClr val="474651"/>
                </a:solidFill>
                <a:effectLst/>
                <a:uFillTx/>
                <a:latin typeface="Hanken Grotesk"/>
                <a:ea typeface="Hanken Grotesk"/>
              </a:rPr>
              <a:t>values grouped into bins; bars touch because the scale is continuous</a:t>
            </a:r>
            <a:endParaRPr lang="en-US" sz="1150" b="0" u="none" strike="noStrike">
              <a:solidFill>
                <a:srgbClr val="000000"/>
              </a:solidFill>
              <a:effectLst/>
              <a:uFillTx/>
              <a:latin typeface="Arial"/>
            </a:endParaRPr>
          </a:p>
        </p:txBody>
      </p:sp>
      <p:sp>
        <p:nvSpPr>
          <p:cNvPr id="835" name="Whisker"/>
          <p:cNvSpPr/>
          <p:nvPr/>
        </p:nvSpPr>
        <p:spPr>
          <a:xfrm>
            <a:off x="7253280" y="4663440"/>
            <a:ext cx="3200040" cy="360"/>
          </a:xfrm>
          <a:prstGeom prst="line">
            <a:avLst/>
          </a:prstGeom>
          <a:ln w="25400">
            <a:solidFill>
              <a:srgbClr val="5755A7"/>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836" name="Cap min"/>
          <p:cNvSpPr/>
          <p:nvPr/>
        </p:nvSpPr>
        <p:spPr>
          <a:xfrm>
            <a:off x="7253280" y="4503240"/>
            <a:ext cx="360" cy="320040"/>
          </a:xfrm>
          <a:prstGeom prst="line">
            <a:avLst/>
          </a:prstGeom>
          <a:ln w="25400">
            <a:solidFill>
              <a:srgbClr val="5755A7"/>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37" name="Cap max"/>
          <p:cNvSpPr/>
          <p:nvPr/>
        </p:nvSpPr>
        <p:spPr>
          <a:xfrm>
            <a:off x="10453320" y="4503240"/>
            <a:ext cx="360" cy="320040"/>
          </a:xfrm>
          <a:prstGeom prst="line">
            <a:avLst/>
          </a:prstGeom>
          <a:ln w="25400">
            <a:solidFill>
              <a:srgbClr val="5755A7"/>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38" name="Box"/>
          <p:cNvSpPr/>
          <p:nvPr/>
        </p:nvSpPr>
        <p:spPr>
          <a:xfrm>
            <a:off x="8203680" y="4320720"/>
            <a:ext cx="1349640" cy="685440"/>
          </a:xfrm>
          <a:prstGeom prst="rect">
            <a:avLst/>
          </a:prstGeom>
          <a:solidFill>
            <a:srgbClr val="D2D0FA"/>
          </a:solidFill>
          <a:ln w="12700">
            <a:solidFill>
              <a:srgbClr val="5755A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39" name="Median"/>
          <p:cNvSpPr/>
          <p:nvPr/>
        </p:nvSpPr>
        <p:spPr>
          <a:xfrm>
            <a:off x="8853480" y="4320360"/>
            <a:ext cx="360" cy="685800"/>
          </a:xfrm>
          <a:prstGeom prst="line">
            <a:avLst/>
          </a:prstGeom>
          <a:ln w="44450">
            <a:solidFill>
              <a:srgbClr val="F43F5E"/>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40" name="Outlier"/>
          <p:cNvSpPr/>
          <p:nvPr/>
        </p:nvSpPr>
        <p:spPr>
          <a:xfrm>
            <a:off x="10839600" y="4599360"/>
            <a:ext cx="127800" cy="12780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41" name="Caption"/>
          <p:cNvSpPr/>
          <p:nvPr/>
        </p:nvSpPr>
        <p:spPr>
          <a:xfrm>
            <a:off x="6248520" y="5257800"/>
            <a:ext cx="54097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50" b="0" u="none" strike="noStrike">
                <a:solidFill>
                  <a:srgbClr val="474651"/>
                </a:solidFill>
                <a:effectLst/>
                <a:uFillTx/>
                <a:latin typeface="Hanken Grotesk"/>
                <a:ea typeface="Hanken Grotesk"/>
              </a:rPr>
              <a:t>box = middle 50%  ·  red line = median  ·  dot = outlier</a:t>
            </a:r>
            <a:endParaRPr lang="en-US" sz="115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842"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843"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56</a:t>
            </a:r>
            <a:endParaRPr lang="en-US" sz="900" b="0" u="none" strike="noStrike">
              <a:solidFill>
                <a:srgbClr val="000000"/>
              </a:solidFill>
              <a:effectLst/>
              <a:uFillTx/>
              <a:latin typeface="Arial"/>
            </a:endParaRPr>
          </a:p>
        </p:txBody>
      </p:sp>
      <p:pic>
        <p:nvPicPr>
          <p:cNvPr id="844" name="Image 0" descr="/home/claude/assets/logo_crop.png"/>
          <p:cNvPicPr/>
          <p:nvPr/>
        </p:nvPicPr>
        <p:blipFill>
          <a:blip r:embed="rId3"/>
          <a:stretch/>
        </p:blipFill>
        <p:spPr>
          <a:xfrm>
            <a:off x="11201400" y="384120"/>
            <a:ext cx="456840" cy="511560"/>
          </a:xfrm>
          <a:prstGeom prst="rect">
            <a:avLst/>
          </a:prstGeom>
          <a:noFill/>
          <a:ln w="0">
            <a:noFill/>
          </a:ln>
        </p:spPr>
      </p:pic>
      <p:sp>
        <p:nvSpPr>
          <p:cNvPr id="845"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A Chart Is Just Counted Data</a:t>
            </a:r>
            <a:endParaRPr lang="en-US" sz="2600" b="0" u="none" strike="noStrike">
              <a:solidFill>
                <a:srgbClr val="000000"/>
              </a:solidFill>
              <a:effectLst/>
              <a:uFillTx/>
              <a:latin typeface="Arial"/>
            </a:endParaRPr>
          </a:p>
        </p:txBody>
      </p:sp>
      <p:sp>
        <p:nvSpPr>
          <p:cNvPr id="846"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Before any chart is drawn, the data is counted or binned.</a:t>
            </a:r>
            <a:endParaRPr lang="en-US" sz="2000" b="0" u="none" strike="noStrike">
              <a:solidFill>
                <a:srgbClr val="000000"/>
              </a:solidFill>
              <a:effectLst/>
              <a:uFillTx/>
              <a:latin typeface="Hanken Grotesk"/>
              <a:cs typeface="Arial"/>
            </a:endParaRPr>
          </a:p>
          <a:p>
            <a:pPr marL="285750" indent="-285750" defTabSz="914400">
              <a:lnSpc>
                <a:spcPct val="100000"/>
              </a:lnSpc>
              <a:spcAft>
                <a:spcPts val="1400"/>
              </a:spcAft>
              <a:buClr>
                <a:srgbClr val="1B1B20"/>
              </a:buClr>
              <a:buFont typeface="Arial"/>
              <a:buChar char="•"/>
            </a:pPr>
            <a:r>
              <a:rPr lang="en-US" sz="2000" b="0" u="none" strike="noStrike" dirty="0" err="1">
                <a:solidFill>
                  <a:srgbClr val="1B1B20"/>
                </a:solidFill>
                <a:effectLst/>
                <a:uFillTx/>
                <a:latin typeface="Hanken Grotesk"/>
                <a:ea typeface="Hanken Grotesk"/>
              </a:rPr>
              <a:t>value_counts</a:t>
            </a:r>
            <a:r>
              <a:rPr lang="en-US" sz="2000" b="0" u="none" strike="noStrike" dirty="0">
                <a:solidFill>
                  <a:srgbClr val="1B1B20"/>
                </a:solidFill>
                <a:effectLst/>
                <a:uFillTx/>
                <a:latin typeface="Hanken Grotesk"/>
                <a:ea typeface="Hanken Grotesk"/>
              </a:rPr>
              <a:t>() gives bar-chart numbers; </a:t>
            </a:r>
            <a:r>
              <a:rPr lang="en-US" sz="2000" b="0" u="none" strike="noStrike" dirty="0" err="1">
                <a:solidFill>
                  <a:srgbClr val="1B1B20"/>
                </a:solidFill>
                <a:effectLst/>
                <a:uFillTx/>
                <a:latin typeface="Hanken Grotesk"/>
                <a:ea typeface="Hanken Grotesk"/>
              </a:rPr>
              <a:t>np.histogram</a:t>
            </a:r>
            <a:r>
              <a:rPr lang="en-US" sz="2000" b="0" u="none" strike="noStrike" dirty="0">
                <a:solidFill>
                  <a:srgbClr val="1B1B20"/>
                </a:solidFill>
                <a:effectLst/>
                <a:uFillTx/>
                <a:latin typeface="Hanken Grotesk"/>
                <a:ea typeface="Hanken Grotesk"/>
              </a:rPr>
              <a:t> gives histogram bins.</a:t>
            </a:r>
            <a:endParaRPr lang="en-US" sz="2000" b="0" u="none" strike="noStrike">
              <a:solidFill>
                <a:srgbClr val="000000"/>
              </a:solidFill>
              <a:effectLst/>
              <a:uFillTx/>
              <a:latin typeface="Hanken Grotesk"/>
              <a:cs typeface="Arial"/>
            </a:endParaRPr>
          </a:p>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Actual plotting with Matplotlib and Seaborn comes later in the course.</a:t>
            </a:r>
            <a:endParaRPr lang="en-US" sz="2000" b="0" u="none" strike="noStrike">
              <a:solidFill>
                <a:srgbClr val="000000"/>
              </a:solidFill>
              <a:effectLst/>
              <a:uFillTx/>
              <a:latin typeface="Hanken Grotesk"/>
              <a:cs typeface="Arial"/>
            </a:endParaRPr>
          </a:p>
        </p:txBody>
      </p:sp>
      <p:sp>
        <p:nvSpPr>
          <p:cNvPr id="847"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48"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849"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850"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851"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300" b="0" u="none" strike="noStrike">
                <a:solidFill>
                  <a:srgbClr val="F1F5F9"/>
                </a:solidFill>
                <a:effectLst/>
                <a:uFillTx/>
                <a:latin typeface="Cantarell"/>
                <a:ea typeface="Consolas"/>
              </a:rPr>
              <a:t>import numpy as np</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import pandas as pd</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cities = pd.Series(["Quetta", "Lahore", "Quetta",</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"Karachi", "Quetta"])</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print(cities.value_counts().to_dict())</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ages = [18, 19, 19, 20, 21, 21, 21, 22, 25, 31]</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counts, edges = np.histogram(ages, bins=3)</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print(counts.tolist())            </a:t>
            </a:r>
            <a:r>
              <a:rPr lang="en-US" sz="1300" b="0" i="1" u="none" strike="noStrike">
                <a:solidFill>
                  <a:srgbClr val="94A3B8"/>
                </a:solidFill>
                <a:effectLst/>
                <a:uFillTx/>
                <a:latin typeface="Cantarell"/>
                <a:ea typeface="Consolas"/>
              </a:rPr>
              <a:t># [8, 1, 1]</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print(edges.round(1).tolist())</a:t>
            </a:r>
            <a:endParaRPr lang="en-US" sz="1300" b="0" u="none" strike="noStrike">
              <a:solidFill>
                <a:srgbClr val="000000"/>
              </a:solidFill>
              <a:effectLst/>
              <a:uFillTx/>
              <a:latin typeface="Cantarell"/>
            </a:endParaRPr>
          </a:p>
          <a:p>
            <a:pPr defTabSz="914400">
              <a:lnSpc>
                <a:spcPct val="110000"/>
              </a:lnSpc>
              <a:tabLst>
                <a:tab pos="0" algn="l"/>
              </a:tabLst>
            </a:pPr>
            <a:r>
              <a:rPr lang="en-US" sz="1300" b="0" i="1" u="none" strike="noStrike">
                <a:solidFill>
                  <a:srgbClr val="94A3B8"/>
                </a:solidFill>
                <a:effectLst/>
                <a:uFillTx/>
                <a:latin typeface="Cantarell"/>
                <a:ea typeface="Consolas"/>
              </a:rPr>
              <a:t># → [18.0, 22.3, 26.7, 31.0]</a:t>
            </a:r>
            <a:endParaRPr lang="en-US" sz="13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852"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853"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57</a:t>
            </a:r>
            <a:endParaRPr lang="en-US" sz="900" b="0" u="none" strike="noStrike">
              <a:solidFill>
                <a:srgbClr val="000000"/>
              </a:solidFill>
              <a:effectLst/>
              <a:uFillTx/>
              <a:latin typeface="Arial"/>
            </a:endParaRPr>
          </a:p>
        </p:txBody>
      </p:sp>
      <p:pic>
        <p:nvPicPr>
          <p:cNvPr id="854" name="Image 0" descr="/home/claude/assets/logo_crop.png"/>
          <p:cNvPicPr/>
          <p:nvPr/>
        </p:nvPicPr>
        <p:blipFill>
          <a:blip r:embed="rId2"/>
          <a:stretch/>
        </p:blipFill>
        <p:spPr>
          <a:xfrm>
            <a:off x="11201400" y="384120"/>
            <a:ext cx="456840" cy="511560"/>
          </a:xfrm>
          <a:prstGeom prst="rect">
            <a:avLst/>
          </a:prstGeom>
          <a:noFill/>
          <a:ln w="0">
            <a:noFill/>
          </a:ln>
        </p:spPr>
      </p:pic>
      <p:sp>
        <p:nvSpPr>
          <p:cNvPr id="855"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Histogram in Code</a:t>
            </a:r>
            <a:endParaRPr lang="en-US" sz="2600" b="0" u="none" strike="noStrike">
              <a:solidFill>
                <a:srgbClr val="000000"/>
              </a:solidFill>
              <a:effectLst/>
              <a:uFillTx/>
              <a:latin typeface="Arial"/>
            </a:endParaRPr>
          </a:p>
        </p:txBody>
      </p:sp>
      <p:sp>
        <p:nvSpPr>
          <p:cNvPr id="856"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400"/>
              </a:spcAft>
              <a:buClr>
                <a:srgbClr val="1B1B20"/>
              </a:buClr>
              <a:buFont typeface="Arial"/>
              <a:buChar char="•"/>
            </a:pPr>
            <a:r>
              <a:rPr lang="en-US" sz="2000" b="0" u="none" strike="noStrike" dirty="0" err="1">
                <a:solidFill>
                  <a:srgbClr val="1B1B20"/>
                </a:solidFill>
                <a:effectLst/>
                <a:uFillTx/>
                <a:latin typeface="Hanken Grotesk"/>
                <a:ea typeface="Hanken Grotesk"/>
              </a:rPr>
              <a:t>plt.hist</a:t>
            </a:r>
            <a:r>
              <a:rPr lang="en-US" sz="2000" b="0" u="none" strike="noStrike" dirty="0">
                <a:solidFill>
                  <a:srgbClr val="1B1B20"/>
                </a:solidFill>
                <a:effectLst/>
                <a:uFillTx/>
                <a:latin typeface="Hanken Grotesk"/>
                <a:ea typeface="Hanken Grotesk"/>
              </a:rPr>
              <a:t> does the binning from the previous slide and draws the bars in one call.</a:t>
            </a:r>
            <a:endParaRPr lang="en-US" sz="2000" b="0" u="none" strike="noStrike">
              <a:solidFill>
                <a:srgbClr val="000000"/>
              </a:solidFill>
              <a:effectLst/>
              <a:uFillTx/>
              <a:latin typeface="Arial"/>
              <a:cs typeface="Arial"/>
            </a:endParaRPr>
          </a:p>
          <a:p>
            <a:pPr marL="342900" indent="-342900" defTabSz="914400">
              <a:lnSpc>
                <a:spcPct val="100000"/>
              </a:lnSpc>
              <a:spcAft>
                <a:spcPts val="1400"/>
              </a:spcAft>
              <a:buClr>
                <a:srgbClr val="1B1B20"/>
              </a:buClr>
              <a:buFont typeface="Arial"/>
              <a:buChar char="•"/>
            </a:pPr>
            <a:r>
              <a:rPr lang="en-US" sz="2000" b="0" u="none" strike="noStrike" dirty="0" err="1">
                <a:solidFill>
                  <a:srgbClr val="1B1B20"/>
                </a:solidFill>
                <a:effectLst/>
                <a:uFillTx/>
                <a:latin typeface="Hanken Grotesk"/>
                <a:ea typeface="Hanken Grotesk"/>
              </a:rPr>
              <a:t>sns.histplot</a:t>
            </a:r>
            <a:r>
              <a:rPr lang="en-US" sz="2000" b="0" u="none" strike="noStrike" dirty="0">
                <a:solidFill>
                  <a:srgbClr val="1B1B20"/>
                </a:solidFill>
                <a:effectLst/>
                <a:uFillTx/>
                <a:latin typeface="Hanken Grotesk"/>
                <a:ea typeface="Hanken Grotesk"/>
              </a:rPr>
              <a:t> adds a smooth density curve when you set </a:t>
            </a:r>
            <a:r>
              <a:rPr lang="en-US" sz="2000" b="0" u="none" strike="noStrike" dirty="0" err="1">
                <a:solidFill>
                  <a:srgbClr val="1B1B20"/>
                </a:solidFill>
                <a:effectLst/>
                <a:uFillTx/>
                <a:latin typeface="Hanken Grotesk"/>
                <a:ea typeface="Hanken Grotesk"/>
              </a:rPr>
              <a:t>kde</a:t>
            </a:r>
            <a:r>
              <a:rPr lang="en-US" sz="2000" b="0" u="none" strike="noStrike" dirty="0">
                <a:solidFill>
                  <a:srgbClr val="1B1B20"/>
                </a:solidFill>
                <a:effectLst/>
                <a:uFillTx/>
                <a:latin typeface="Hanken Grotesk"/>
                <a:ea typeface="Hanken Grotesk"/>
              </a:rPr>
              <a:t>=True.</a:t>
            </a:r>
            <a:endParaRPr lang="en-US" sz="2000" b="0" u="none" strike="noStrike">
              <a:solidFill>
                <a:srgbClr val="000000"/>
              </a:solidFill>
              <a:effectLst/>
              <a:uFillTx/>
              <a:latin typeface="Arial"/>
              <a:cs typeface="Arial"/>
            </a:endParaRPr>
          </a:p>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More bins show more detail but also more noise: try bins=3, then bins=10.</a:t>
            </a:r>
            <a:endParaRPr lang="en-US" sz="2000" b="0" u="none" strike="noStrike">
              <a:solidFill>
                <a:srgbClr val="000000"/>
              </a:solidFill>
              <a:effectLst/>
              <a:uFillTx/>
              <a:latin typeface="Arial"/>
              <a:cs typeface="Arial"/>
            </a:endParaRPr>
          </a:p>
        </p:txBody>
      </p:sp>
      <p:sp>
        <p:nvSpPr>
          <p:cNvPr id="857"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58"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859"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860"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861"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300" b="0" u="none" strike="noStrike">
                <a:solidFill>
                  <a:srgbClr val="F1F5F9"/>
                </a:solidFill>
                <a:effectLst/>
                <a:uFillTx/>
                <a:latin typeface="Cantarell"/>
                <a:ea typeface="Consolas"/>
              </a:rPr>
              <a:t>import matplotlib.pyplot as plt</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import seaborn as sns</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ages = [18, 19, 19, 20, 21, 21, 21, 22, 25, 31]</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plt.hist(ages, bins=3)                 </a:t>
            </a:r>
            <a:r>
              <a:rPr lang="en-US" sz="1300" b="0" i="1" u="none" strike="noStrike">
                <a:solidFill>
                  <a:srgbClr val="94A3B8"/>
                </a:solidFill>
                <a:effectLst/>
                <a:uFillTx/>
                <a:latin typeface="Cantarell"/>
                <a:ea typeface="Consolas"/>
              </a:rPr>
              <a:t># Matplotlib</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plt.show()</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sns.histplot(ages, bins=3, kde=True)   </a:t>
            </a:r>
            <a:r>
              <a:rPr lang="en-US" sz="1300" b="0" i="1" u="none" strike="noStrike">
                <a:solidFill>
                  <a:srgbClr val="94A3B8"/>
                </a:solidFill>
                <a:effectLst/>
                <a:uFillTx/>
                <a:latin typeface="Cantarell"/>
                <a:ea typeface="Consolas"/>
              </a:rPr>
              <a:t># Seaborn</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plt.show()</a:t>
            </a:r>
            <a:endParaRPr lang="en-US" sz="13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862"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863"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58</a:t>
            </a:r>
            <a:endParaRPr lang="en-US" sz="900" b="0" u="none" strike="noStrike">
              <a:solidFill>
                <a:srgbClr val="000000"/>
              </a:solidFill>
              <a:effectLst/>
              <a:uFillTx/>
              <a:latin typeface="Arial"/>
            </a:endParaRPr>
          </a:p>
        </p:txBody>
      </p:sp>
      <p:pic>
        <p:nvPicPr>
          <p:cNvPr id="864" name="Image 0" descr="/home/claude/assets/logo_crop.png"/>
          <p:cNvPicPr/>
          <p:nvPr/>
        </p:nvPicPr>
        <p:blipFill>
          <a:blip r:embed="rId3"/>
          <a:stretch/>
        </p:blipFill>
        <p:spPr>
          <a:xfrm>
            <a:off x="11201400" y="384120"/>
            <a:ext cx="456840" cy="511560"/>
          </a:xfrm>
          <a:prstGeom prst="rect">
            <a:avLst/>
          </a:prstGeom>
          <a:noFill/>
          <a:ln w="0">
            <a:noFill/>
          </a:ln>
        </p:spPr>
      </p:pic>
      <p:sp>
        <p:nvSpPr>
          <p:cNvPr id="865"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Anatomy of a Box Plot</a:t>
            </a:r>
            <a:endParaRPr lang="en-US" sz="2600" b="0" u="none" strike="noStrike">
              <a:solidFill>
                <a:srgbClr val="000000"/>
              </a:solidFill>
              <a:effectLst/>
              <a:uFillTx/>
              <a:latin typeface="Arial"/>
            </a:endParaRPr>
          </a:p>
        </p:txBody>
      </p:sp>
      <p:sp>
        <p:nvSpPr>
          <p:cNvPr id="866" name="Shape 3"/>
          <p:cNvSpPr/>
          <p:nvPr/>
        </p:nvSpPr>
        <p:spPr>
          <a:xfrm>
            <a:off x="548640" y="1463040"/>
            <a:ext cx="11109600" cy="3565800"/>
          </a:xfrm>
          <a:prstGeom prst="roundRect">
            <a:avLst>
              <a:gd name="adj" fmla="val 205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67" name="Shape 4"/>
          <p:cNvSpPr/>
          <p:nvPr/>
        </p:nvSpPr>
        <p:spPr>
          <a:xfrm>
            <a:off x="1463040" y="3017520"/>
            <a:ext cx="9144000" cy="360"/>
          </a:xfrm>
          <a:prstGeom prst="line">
            <a:avLst/>
          </a:prstGeom>
          <a:ln w="25400">
            <a:solidFill>
              <a:srgbClr val="5755A7"/>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868" name="Shape 5"/>
          <p:cNvSpPr/>
          <p:nvPr/>
        </p:nvSpPr>
        <p:spPr>
          <a:xfrm>
            <a:off x="1463040" y="2743200"/>
            <a:ext cx="360" cy="548640"/>
          </a:xfrm>
          <a:prstGeom prst="line">
            <a:avLst/>
          </a:prstGeom>
          <a:ln w="25400">
            <a:solidFill>
              <a:srgbClr val="5755A7"/>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69" name="Shape 6"/>
          <p:cNvSpPr/>
          <p:nvPr/>
        </p:nvSpPr>
        <p:spPr>
          <a:xfrm>
            <a:off x="10607040" y="2743200"/>
            <a:ext cx="360" cy="548640"/>
          </a:xfrm>
          <a:prstGeom prst="line">
            <a:avLst/>
          </a:prstGeom>
          <a:ln w="25400">
            <a:solidFill>
              <a:srgbClr val="5755A7"/>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70" name="Shape 7"/>
          <p:cNvSpPr/>
          <p:nvPr/>
        </p:nvSpPr>
        <p:spPr>
          <a:xfrm>
            <a:off x="4206240" y="2468880"/>
            <a:ext cx="3657240" cy="1096920"/>
          </a:xfrm>
          <a:prstGeom prst="rect">
            <a:avLst/>
          </a:prstGeom>
          <a:solidFill>
            <a:srgbClr val="D2D0FA"/>
          </a:solidFill>
          <a:ln w="12700">
            <a:solidFill>
              <a:srgbClr val="5755A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71" name="Shape 8"/>
          <p:cNvSpPr/>
          <p:nvPr/>
        </p:nvSpPr>
        <p:spPr>
          <a:xfrm>
            <a:off x="6035040" y="2468880"/>
            <a:ext cx="360" cy="1097280"/>
          </a:xfrm>
          <a:prstGeom prst="line">
            <a:avLst/>
          </a:prstGeom>
          <a:ln w="44450">
            <a:solidFill>
              <a:srgbClr val="F43F5E"/>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72" name="Shape 9"/>
          <p:cNvSpPr/>
          <p:nvPr/>
        </p:nvSpPr>
        <p:spPr>
          <a:xfrm>
            <a:off x="11292840" y="2953440"/>
            <a:ext cx="127800" cy="12780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73" name="Shape 10"/>
          <p:cNvSpPr/>
          <p:nvPr/>
        </p:nvSpPr>
        <p:spPr>
          <a:xfrm>
            <a:off x="4206240" y="2148840"/>
            <a:ext cx="3657600" cy="360"/>
          </a:xfrm>
          <a:prstGeom prst="line">
            <a:avLst/>
          </a:prstGeom>
          <a:ln w="25400">
            <a:solidFill>
              <a:srgbClr val="2DD4BF"/>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874" name="Text 11"/>
          <p:cNvSpPr/>
          <p:nvPr/>
        </p:nvSpPr>
        <p:spPr>
          <a:xfrm>
            <a:off x="3749040" y="1645920"/>
            <a:ext cx="45716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Hanken Grotesk"/>
                <a:ea typeface="Hanken Grotesk"/>
              </a:rPr>
              <a:t>IQR = Q3 − Q1  (the middle 50% of the data)</a:t>
            </a:r>
            <a:endParaRPr lang="en-US" sz="1300" b="0" u="none" strike="noStrike">
              <a:solidFill>
                <a:srgbClr val="000000"/>
              </a:solidFill>
              <a:effectLst/>
              <a:uFillTx/>
              <a:latin typeface="Arial"/>
            </a:endParaRPr>
          </a:p>
        </p:txBody>
      </p:sp>
      <p:sp>
        <p:nvSpPr>
          <p:cNvPr id="875" name="Text 12"/>
          <p:cNvSpPr/>
          <p:nvPr/>
        </p:nvSpPr>
        <p:spPr>
          <a:xfrm>
            <a:off x="548640" y="3886200"/>
            <a:ext cx="1828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231F71"/>
                </a:solidFill>
                <a:effectLst/>
                <a:uFillTx/>
                <a:latin typeface="Bricolage Grotesque"/>
                <a:ea typeface="Bricolage Grotesque"/>
              </a:rPr>
              <a:t>Min</a:t>
            </a:r>
            <a:endParaRPr lang="en-US" sz="1600" b="0" u="none" strike="noStrike">
              <a:solidFill>
                <a:srgbClr val="000000"/>
              </a:solidFill>
              <a:effectLst/>
              <a:uFillTx/>
              <a:latin typeface="Arial"/>
            </a:endParaRPr>
          </a:p>
        </p:txBody>
      </p:sp>
      <p:sp>
        <p:nvSpPr>
          <p:cNvPr id="876" name="Text 13"/>
          <p:cNvSpPr/>
          <p:nvPr/>
        </p:nvSpPr>
        <p:spPr>
          <a:xfrm>
            <a:off x="457200" y="4251960"/>
            <a:ext cx="201132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150" b="0" u="none" strike="noStrike">
                <a:solidFill>
                  <a:srgbClr val="474651"/>
                </a:solidFill>
                <a:effectLst/>
                <a:uFillTx/>
                <a:latin typeface="Hanken Grotesk"/>
                <a:ea typeface="Hanken Grotesk"/>
              </a:rPr>
              <a:t>smallest value (within 1.5×IQR)</a:t>
            </a:r>
            <a:endParaRPr lang="en-US" sz="1150" b="0" u="none" strike="noStrike">
              <a:solidFill>
                <a:srgbClr val="000000"/>
              </a:solidFill>
              <a:effectLst/>
              <a:uFillTx/>
              <a:latin typeface="Arial"/>
            </a:endParaRPr>
          </a:p>
        </p:txBody>
      </p:sp>
      <p:sp>
        <p:nvSpPr>
          <p:cNvPr id="877" name="Text 14"/>
          <p:cNvSpPr/>
          <p:nvPr/>
        </p:nvSpPr>
        <p:spPr>
          <a:xfrm>
            <a:off x="3291840" y="3886200"/>
            <a:ext cx="1828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231F71"/>
                </a:solidFill>
                <a:effectLst/>
                <a:uFillTx/>
                <a:latin typeface="Bricolage Grotesque"/>
                <a:ea typeface="Bricolage Grotesque"/>
              </a:rPr>
              <a:t>Q1</a:t>
            </a:r>
            <a:endParaRPr lang="en-US" sz="1600" b="0" u="none" strike="noStrike">
              <a:solidFill>
                <a:srgbClr val="000000"/>
              </a:solidFill>
              <a:effectLst/>
              <a:uFillTx/>
              <a:latin typeface="Arial"/>
            </a:endParaRPr>
          </a:p>
        </p:txBody>
      </p:sp>
      <p:sp>
        <p:nvSpPr>
          <p:cNvPr id="878" name="Text 15"/>
          <p:cNvSpPr/>
          <p:nvPr/>
        </p:nvSpPr>
        <p:spPr>
          <a:xfrm>
            <a:off x="3200400" y="4251960"/>
            <a:ext cx="201132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150" b="0" u="none" strike="noStrike">
                <a:solidFill>
                  <a:srgbClr val="474651"/>
                </a:solidFill>
                <a:effectLst/>
                <a:uFillTx/>
                <a:latin typeface="Hanken Grotesk"/>
                <a:ea typeface="Hanken Grotesk"/>
              </a:rPr>
              <a:t>25th percentile</a:t>
            </a:r>
            <a:endParaRPr lang="en-US" sz="1150" b="0" u="none" strike="noStrike">
              <a:solidFill>
                <a:srgbClr val="000000"/>
              </a:solidFill>
              <a:effectLst/>
              <a:uFillTx/>
              <a:latin typeface="Arial"/>
            </a:endParaRPr>
          </a:p>
        </p:txBody>
      </p:sp>
      <p:sp>
        <p:nvSpPr>
          <p:cNvPr id="879" name="Text 16"/>
          <p:cNvSpPr/>
          <p:nvPr/>
        </p:nvSpPr>
        <p:spPr>
          <a:xfrm>
            <a:off x="5120640" y="3886200"/>
            <a:ext cx="1828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231F71"/>
                </a:solidFill>
                <a:effectLst/>
                <a:uFillTx/>
                <a:latin typeface="Bricolage Grotesque"/>
                <a:ea typeface="Bricolage Grotesque"/>
              </a:rPr>
              <a:t>Median</a:t>
            </a:r>
            <a:endParaRPr lang="en-US" sz="1600" b="0" u="none" strike="noStrike">
              <a:solidFill>
                <a:srgbClr val="000000"/>
              </a:solidFill>
              <a:effectLst/>
              <a:uFillTx/>
              <a:latin typeface="Arial"/>
            </a:endParaRPr>
          </a:p>
        </p:txBody>
      </p:sp>
      <p:sp>
        <p:nvSpPr>
          <p:cNvPr id="880" name="Text 17"/>
          <p:cNvSpPr/>
          <p:nvPr/>
        </p:nvSpPr>
        <p:spPr>
          <a:xfrm>
            <a:off x="5029200" y="4251960"/>
            <a:ext cx="201132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150" b="0" u="none" strike="noStrike">
                <a:solidFill>
                  <a:srgbClr val="474651"/>
                </a:solidFill>
                <a:effectLst/>
                <a:uFillTx/>
                <a:latin typeface="Hanken Grotesk"/>
                <a:ea typeface="Hanken Grotesk"/>
              </a:rPr>
              <a:t>50th percentile</a:t>
            </a:r>
            <a:endParaRPr lang="en-US" sz="1150" b="0" u="none" strike="noStrike">
              <a:solidFill>
                <a:srgbClr val="000000"/>
              </a:solidFill>
              <a:effectLst/>
              <a:uFillTx/>
              <a:latin typeface="Arial"/>
            </a:endParaRPr>
          </a:p>
        </p:txBody>
      </p:sp>
      <p:sp>
        <p:nvSpPr>
          <p:cNvPr id="881" name="Text 18"/>
          <p:cNvSpPr/>
          <p:nvPr/>
        </p:nvSpPr>
        <p:spPr>
          <a:xfrm>
            <a:off x="6949440" y="3886200"/>
            <a:ext cx="1828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231F71"/>
                </a:solidFill>
                <a:effectLst/>
                <a:uFillTx/>
                <a:latin typeface="Bricolage Grotesque"/>
                <a:ea typeface="Bricolage Grotesque"/>
              </a:rPr>
              <a:t>Q3</a:t>
            </a:r>
            <a:endParaRPr lang="en-US" sz="1600" b="0" u="none" strike="noStrike">
              <a:solidFill>
                <a:srgbClr val="000000"/>
              </a:solidFill>
              <a:effectLst/>
              <a:uFillTx/>
              <a:latin typeface="Arial"/>
            </a:endParaRPr>
          </a:p>
        </p:txBody>
      </p:sp>
      <p:sp>
        <p:nvSpPr>
          <p:cNvPr id="882" name="Text 19"/>
          <p:cNvSpPr/>
          <p:nvPr/>
        </p:nvSpPr>
        <p:spPr>
          <a:xfrm>
            <a:off x="6858000" y="4251960"/>
            <a:ext cx="201132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150" b="0" u="none" strike="noStrike">
                <a:solidFill>
                  <a:srgbClr val="474651"/>
                </a:solidFill>
                <a:effectLst/>
                <a:uFillTx/>
                <a:latin typeface="Hanken Grotesk"/>
                <a:ea typeface="Hanken Grotesk"/>
              </a:rPr>
              <a:t>75th percentile</a:t>
            </a:r>
            <a:endParaRPr lang="en-US" sz="1150" b="0" u="none" strike="noStrike">
              <a:solidFill>
                <a:srgbClr val="000000"/>
              </a:solidFill>
              <a:effectLst/>
              <a:uFillTx/>
              <a:latin typeface="Arial"/>
            </a:endParaRPr>
          </a:p>
        </p:txBody>
      </p:sp>
      <p:sp>
        <p:nvSpPr>
          <p:cNvPr id="883" name="Text 20"/>
          <p:cNvSpPr/>
          <p:nvPr/>
        </p:nvSpPr>
        <p:spPr>
          <a:xfrm>
            <a:off x="9692640" y="3886200"/>
            <a:ext cx="1828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231F71"/>
                </a:solidFill>
                <a:effectLst/>
                <a:uFillTx/>
                <a:latin typeface="Bricolage Grotesque"/>
                <a:ea typeface="Bricolage Grotesque"/>
              </a:rPr>
              <a:t>Max</a:t>
            </a:r>
            <a:endParaRPr lang="en-US" sz="1600" b="0" u="none" strike="noStrike">
              <a:solidFill>
                <a:srgbClr val="000000"/>
              </a:solidFill>
              <a:effectLst/>
              <a:uFillTx/>
              <a:latin typeface="Arial"/>
            </a:endParaRPr>
          </a:p>
        </p:txBody>
      </p:sp>
      <p:sp>
        <p:nvSpPr>
          <p:cNvPr id="884" name="Text 21"/>
          <p:cNvSpPr/>
          <p:nvPr/>
        </p:nvSpPr>
        <p:spPr>
          <a:xfrm>
            <a:off x="9601200" y="4251960"/>
            <a:ext cx="201132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150" b="0" u="none" strike="noStrike">
                <a:solidFill>
                  <a:srgbClr val="474651"/>
                </a:solidFill>
                <a:effectLst/>
                <a:uFillTx/>
                <a:latin typeface="Hanken Grotesk"/>
                <a:ea typeface="Hanken Grotesk"/>
              </a:rPr>
              <a:t>largest value (within 1.5×IQR)</a:t>
            </a:r>
            <a:endParaRPr lang="en-US" sz="1150" b="0" u="none" strike="noStrike">
              <a:solidFill>
                <a:srgbClr val="000000"/>
              </a:solidFill>
              <a:effectLst/>
              <a:uFillTx/>
              <a:latin typeface="Arial"/>
            </a:endParaRPr>
          </a:p>
        </p:txBody>
      </p:sp>
      <p:sp>
        <p:nvSpPr>
          <p:cNvPr id="885" name="Shape 22"/>
          <p:cNvSpPr/>
          <p:nvPr/>
        </p:nvSpPr>
        <p:spPr>
          <a:xfrm>
            <a:off x="548640" y="5257800"/>
            <a:ext cx="11109600" cy="822600"/>
          </a:xfrm>
          <a:prstGeom prst="roundRect">
            <a:avLst>
              <a:gd name="adj" fmla="val 11111"/>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86" name="Text 23"/>
          <p:cNvSpPr/>
          <p:nvPr/>
        </p:nvSpPr>
        <p:spPr>
          <a:xfrm>
            <a:off x="777240" y="5257800"/>
            <a:ext cx="106524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002019"/>
                </a:solidFill>
                <a:effectLst/>
                <a:uFillTx/>
                <a:latin typeface="Hanken Grotesk"/>
                <a:ea typeface="Hanken Grotesk"/>
              </a:rPr>
              <a:t>Together, Min, Q1, Median, Q3, and Max make up the "five-number summary" — the box plot is simply a picture of those five numbers.</a:t>
            </a:r>
            <a:endParaRPr lang="en-US" sz="13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887"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888"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59</a:t>
            </a:r>
            <a:endParaRPr lang="en-US" sz="900" b="0" u="none" strike="noStrike">
              <a:solidFill>
                <a:srgbClr val="000000"/>
              </a:solidFill>
              <a:effectLst/>
              <a:uFillTx/>
              <a:latin typeface="Arial"/>
            </a:endParaRPr>
          </a:p>
        </p:txBody>
      </p:sp>
      <p:pic>
        <p:nvPicPr>
          <p:cNvPr id="889" name="Image 0" descr="/home/claude/assets/logo_crop.png"/>
          <p:cNvPicPr/>
          <p:nvPr/>
        </p:nvPicPr>
        <p:blipFill>
          <a:blip r:embed="rId3"/>
          <a:stretch/>
        </p:blipFill>
        <p:spPr>
          <a:xfrm>
            <a:off x="11201400" y="384120"/>
            <a:ext cx="456840" cy="511560"/>
          </a:xfrm>
          <a:prstGeom prst="rect">
            <a:avLst/>
          </a:prstGeom>
          <a:noFill/>
          <a:ln w="0">
            <a:noFill/>
          </a:ln>
        </p:spPr>
      </p:pic>
      <p:sp>
        <p:nvSpPr>
          <p:cNvPr id="890"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The Five-Number Summary in Code</a:t>
            </a:r>
            <a:endParaRPr lang="en-US" sz="2600" b="0" u="none" strike="noStrike">
              <a:solidFill>
                <a:srgbClr val="000000"/>
              </a:solidFill>
              <a:effectLst/>
              <a:uFillTx/>
              <a:latin typeface="Arial"/>
            </a:endParaRPr>
          </a:p>
        </p:txBody>
      </p:sp>
      <p:sp>
        <p:nvSpPr>
          <p:cNvPr id="891"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spcAft>
                <a:spcPts val="1400"/>
              </a:spcAft>
              <a:buClr>
                <a:srgbClr val="1B1B20"/>
              </a:buClr>
            </a:pPr>
            <a:r>
              <a:rPr lang="en-US" sz="2000" b="0" u="none" strike="noStrike" dirty="0" err="1">
                <a:solidFill>
                  <a:srgbClr val="1B1B20"/>
                </a:solidFill>
                <a:effectLst/>
                <a:uFillTx/>
                <a:latin typeface="Hanken Grotesk"/>
                <a:ea typeface="Hanken Grotesk"/>
              </a:rPr>
              <a:t>np.percentile</a:t>
            </a:r>
            <a:r>
              <a:rPr lang="en-US" sz="2000" b="0" u="none" strike="noStrike" dirty="0">
                <a:solidFill>
                  <a:srgbClr val="1B1B20"/>
                </a:solidFill>
                <a:effectLst/>
                <a:uFillTx/>
                <a:latin typeface="Hanken Grotesk"/>
                <a:ea typeface="Hanken Grotesk"/>
              </a:rPr>
              <a:t> gives Q1, the median, and Q3 in one call.</a:t>
            </a:r>
            <a:endParaRPr lang="en-US" sz="2000" b="0" u="none" strike="noStrike">
              <a:solidFill>
                <a:srgbClr val="000000"/>
              </a:solidFill>
              <a:effectLst/>
              <a:uFillTx/>
              <a:latin typeface="Arial"/>
              <a:cs typeface="Arial"/>
            </a:endParaRPr>
          </a:p>
          <a:p>
            <a:pPr defTabSz="914400">
              <a:lnSpc>
                <a:spcPct val="100000"/>
              </a:lnSpc>
              <a:spcAft>
                <a:spcPts val="1400"/>
              </a:spcAft>
              <a:buClr>
                <a:srgbClr val="1B1B20"/>
              </a:buClr>
            </a:pPr>
            <a:r>
              <a:rPr lang="en-US" sz="2000" b="0" u="none" strike="noStrike" dirty="0">
                <a:solidFill>
                  <a:srgbClr val="1B1B20"/>
                </a:solidFill>
                <a:effectLst/>
                <a:uFillTx/>
                <a:latin typeface="Hanken Grotesk"/>
                <a:ea typeface="Hanken Grotesk"/>
              </a:rPr>
              <a:t>IQR = Q3 − Q1, and the 1.5×IQR rule gives the box-plot fences.</a:t>
            </a:r>
            <a:endParaRPr lang="en-US" sz="2000" b="0" u="none" strike="noStrike">
              <a:solidFill>
                <a:srgbClr val="000000"/>
              </a:solidFill>
              <a:effectLst/>
              <a:uFillTx/>
              <a:latin typeface="Arial"/>
              <a:cs typeface="Arial"/>
            </a:endParaRPr>
          </a:p>
          <a:p>
            <a:pPr defTabSz="914400">
              <a:lnSpc>
                <a:spcPct val="100000"/>
              </a:lnSpc>
              <a:spcAft>
                <a:spcPts val="1400"/>
              </a:spcAft>
              <a:buClr>
                <a:srgbClr val="1B1B20"/>
              </a:buClr>
            </a:pPr>
            <a:r>
              <a:rPr lang="en-US" sz="2000" b="0" u="none" strike="noStrike" dirty="0">
                <a:solidFill>
                  <a:srgbClr val="1B1B20"/>
                </a:solidFill>
                <a:effectLst/>
                <a:uFillTx/>
                <a:latin typeface="Hanken Grotesk"/>
                <a:ea typeface="Hanken Grotesk"/>
              </a:rPr>
              <a:t>Anything beyond a fence is flagged as an outlier.</a:t>
            </a:r>
            <a:endParaRPr lang="en-US" sz="2000" b="0" u="none" strike="noStrike">
              <a:solidFill>
                <a:srgbClr val="000000"/>
              </a:solidFill>
              <a:effectLst/>
              <a:uFillTx/>
              <a:latin typeface="Arial"/>
              <a:cs typeface="Arial"/>
            </a:endParaRPr>
          </a:p>
        </p:txBody>
      </p:sp>
      <p:sp>
        <p:nvSpPr>
          <p:cNvPr id="892"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93"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894"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895"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896"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200" b="0" u="none" strike="noStrike">
                <a:solidFill>
                  <a:srgbClr val="F1F5F9"/>
                </a:solidFill>
                <a:effectLst/>
                <a:uFillTx/>
                <a:latin typeface="Cantarell"/>
                <a:ea typeface="Consolas"/>
              </a:rPr>
              <a:t>import numpy as np</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data = [12, 15, 14, 10, 18, 20, 22, 16, 13, 60]</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q1, med, q3 = np.percentile(data, [25, 50, 75])</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iqr = q3 - q1</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low = q1 - 1.5 * iqr</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high = q3 + 1.5 * iqr</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print(q1, med, q3)                </a:t>
            </a:r>
            <a:r>
              <a:rPr lang="en-US" sz="1200" b="0" i="1" u="none" strike="noStrike">
                <a:solidFill>
                  <a:srgbClr val="94A3B8"/>
                </a:solidFill>
                <a:effectLst/>
                <a:uFillTx/>
                <a:latin typeface="Cantarell"/>
                <a:ea typeface="Consolas"/>
              </a:rPr>
              <a:t># 13.25 15.5 19.5</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print(iqr)                        </a:t>
            </a:r>
            <a:r>
              <a:rPr lang="en-US" sz="1200" b="0" i="1" u="none" strike="noStrike">
                <a:solidFill>
                  <a:srgbClr val="94A3B8"/>
                </a:solidFill>
                <a:effectLst/>
                <a:uFillTx/>
                <a:latin typeface="Cantarell"/>
                <a:ea typeface="Consolas"/>
              </a:rPr>
              <a:t># 6.25</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outliers = [x for x in data if x &lt; low or x &gt; high]</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print(outliers)                   </a:t>
            </a:r>
            <a:r>
              <a:rPr lang="en-US" sz="1200" b="0" i="1" u="none" strike="noStrike">
                <a:solidFill>
                  <a:srgbClr val="94A3B8"/>
                </a:solidFill>
                <a:effectLst/>
                <a:uFillTx/>
                <a:latin typeface="Cantarell"/>
                <a:ea typeface="Consolas"/>
              </a:rPr>
              <a:t># [60]</a:t>
            </a:r>
            <a:endParaRPr lang="en-US" sz="12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897"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898"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60</a:t>
            </a:r>
            <a:endParaRPr lang="en-US" sz="900" b="0" u="none" strike="noStrike">
              <a:solidFill>
                <a:srgbClr val="000000"/>
              </a:solidFill>
              <a:effectLst/>
              <a:uFillTx/>
              <a:latin typeface="Arial"/>
            </a:endParaRPr>
          </a:p>
        </p:txBody>
      </p:sp>
      <p:pic>
        <p:nvPicPr>
          <p:cNvPr id="899" name="Image 0" descr="/home/claude/assets/logo_crop.png"/>
          <p:cNvPicPr/>
          <p:nvPr/>
        </p:nvPicPr>
        <p:blipFill>
          <a:blip r:embed="rId2"/>
          <a:stretch/>
        </p:blipFill>
        <p:spPr>
          <a:xfrm>
            <a:off x="11201400" y="384120"/>
            <a:ext cx="456840" cy="511560"/>
          </a:xfrm>
          <a:prstGeom prst="rect">
            <a:avLst/>
          </a:prstGeom>
          <a:noFill/>
          <a:ln w="0">
            <a:noFill/>
          </a:ln>
        </p:spPr>
      </p:pic>
      <p:sp>
        <p:nvSpPr>
          <p:cNvPr id="900"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Box Plot in Code</a:t>
            </a:r>
            <a:endParaRPr lang="en-US" sz="2600" b="0" u="none" strike="noStrike">
              <a:solidFill>
                <a:srgbClr val="000000"/>
              </a:solidFill>
              <a:effectLst/>
              <a:uFillTx/>
              <a:latin typeface="Arial"/>
            </a:endParaRPr>
          </a:p>
        </p:txBody>
      </p:sp>
      <p:sp>
        <p:nvSpPr>
          <p:cNvPr id="901"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Both draw the five-number summary you just computed: the box runs from Q1 to Q3, with a line at the median.</a:t>
            </a:r>
            <a:endParaRPr lang="en-US" sz="2000" b="0" u="none" strike="noStrike">
              <a:solidFill>
                <a:srgbClr val="000000"/>
              </a:solidFill>
              <a:effectLst/>
              <a:uFillTx/>
              <a:latin typeface="Arial"/>
              <a:cs typeface="Arial"/>
            </a:endParaRPr>
          </a:p>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60 sits beyond the 1.5×IQR fence, so it is drawn as its own dot instead of stretching the whisker.</a:t>
            </a:r>
            <a:endParaRPr lang="en-US" sz="2000" b="0" u="none" strike="noStrike">
              <a:solidFill>
                <a:srgbClr val="000000"/>
              </a:solidFill>
              <a:effectLst/>
              <a:uFillTx/>
              <a:latin typeface="Arial"/>
              <a:cs typeface="Arial"/>
            </a:endParaRPr>
          </a:p>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To compare groups, put a category on the x-axis: </a:t>
            </a:r>
            <a:r>
              <a:rPr lang="en-US" sz="2000" b="0" u="none" strike="noStrike" dirty="0" err="1">
                <a:solidFill>
                  <a:srgbClr val="1B1B20"/>
                </a:solidFill>
                <a:effectLst/>
                <a:uFillTx/>
                <a:latin typeface="Hanken Grotesk"/>
                <a:ea typeface="Hanken Grotesk"/>
              </a:rPr>
              <a:t>sns.boxplot</a:t>
            </a:r>
            <a:r>
              <a:rPr lang="en-US" sz="2000" b="0" u="none" strike="noStrike" dirty="0">
                <a:solidFill>
                  <a:srgbClr val="1B1B20"/>
                </a:solidFill>
                <a:effectLst/>
                <a:uFillTx/>
                <a:latin typeface="Hanken Grotesk"/>
                <a:ea typeface="Hanken Grotesk"/>
              </a:rPr>
              <a:t>(data=</a:t>
            </a:r>
            <a:r>
              <a:rPr lang="en-US" sz="2000" b="0" u="none" strike="noStrike" dirty="0" err="1">
                <a:solidFill>
                  <a:srgbClr val="1B1B20"/>
                </a:solidFill>
                <a:effectLst/>
                <a:uFillTx/>
                <a:latin typeface="Hanken Grotesk"/>
                <a:ea typeface="Hanken Grotesk"/>
              </a:rPr>
              <a:t>df</a:t>
            </a:r>
            <a:r>
              <a:rPr lang="en-US" sz="2000" b="0" u="none" strike="noStrike" dirty="0">
                <a:solidFill>
                  <a:srgbClr val="1B1B20"/>
                </a:solidFill>
                <a:effectLst/>
                <a:uFillTx/>
                <a:latin typeface="Hanken Grotesk"/>
                <a:ea typeface="Hanken Grotesk"/>
              </a:rPr>
              <a:t>, x="group", y="score").</a:t>
            </a:r>
            <a:endParaRPr lang="en-US" sz="2000" b="0" u="none" strike="noStrike">
              <a:solidFill>
                <a:srgbClr val="000000"/>
              </a:solidFill>
              <a:effectLst/>
              <a:uFillTx/>
              <a:latin typeface="Arial"/>
              <a:cs typeface="Arial"/>
            </a:endParaRPr>
          </a:p>
        </p:txBody>
      </p:sp>
      <p:sp>
        <p:nvSpPr>
          <p:cNvPr id="902"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03"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904"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905"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906"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300" b="0" u="none" strike="noStrike">
                <a:solidFill>
                  <a:srgbClr val="F1F5F9"/>
                </a:solidFill>
                <a:effectLst/>
                <a:uFillTx/>
                <a:latin typeface="Cantarell"/>
                <a:ea typeface="Consolas"/>
              </a:rPr>
              <a:t>import matplotlib.pyplot as plt</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import seaborn as sns</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data = [12, 15, 14, 10, 18, 20, 22, 16, 13, 60]</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plt.boxplot(data)                      </a:t>
            </a:r>
            <a:r>
              <a:rPr lang="en-US" sz="1300" b="0" i="1" u="none" strike="noStrike">
                <a:solidFill>
                  <a:srgbClr val="94A3B8"/>
                </a:solidFill>
                <a:effectLst/>
                <a:uFillTx/>
                <a:latin typeface="Cantarell"/>
                <a:ea typeface="Consolas"/>
              </a:rPr>
              <a:t># Matplotlib</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plt.show()</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sns.boxplot(y=data)                    </a:t>
            </a:r>
            <a:r>
              <a:rPr lang="en-US" sz="1300" b="0" i="1" u="none" strike="noStrike">
                <a:solidFill>
                  <a:srgbClr val="94A3B8"/>
                </a:solidFill>
                <a:effectLst/>
                <a:uFillTx/>
                <a:latin typeface="Cantarell"/>
                <a:ea typeface="Consolas"/>
              </a:rPr>
              <a:t># Seaborn</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plt.show()</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i="1" u="none" strike="noStrike">
                <a:solidFill>
                  <a:srgbClr val="94A3B8"/>
                </a:solidFill>
                <a:effectLst/>
                <a:uFillTx/>
                <a:latin typeface="Cantarell"/>
                <a:ea typeface="Consolas"/>
              </a:rPr>
              <a:t># 60 shows up as a dot above the top whisker</a:t>
            </a:r>
            <a:endParaRPr lang="en-US" sz="13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907"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908"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61</a:t>
            </a:r>
            <a:endParaRPr lang="en-US" sz="900" b="0" u="none" strike="noStrike">
              <a:solidFill>
                <a:srgbClr val="000000"/>
              </a:solidFill>
              <a:effectLst/>
              <a:uFillTx/>
              <a:latin typeface="Arial"/>
            </a:endParaRPr>
          </a:p>
        </p:txBody>
      </p:sp>
      <p:pic>
        <p:nvPicPr>
          <p:cNvPr id="909" name="Image 0" descr="/home/claude/assets/logo_crop.png"/>
          <p:cNvPicPr/>
          <p:nvPr/>
        </p:nvPicPr>
        <p:blipFill>
          <a:blip r:embed="rId3"/>
          <a:stretch/>
        </p:blipFill>
        <p:spPr>
          <a:xfrm>
            <a:off x="11201400" y="384120"/>
            <a:ext cx="456840" cy="511560"/>
          </a:xfrm>
          <a:prstGeom prst="rect">
            <a:avLst/>
          </a:prstGeom>
          <a:noFill/>
          <a:ln w="0">
            <a:noFill/>
          </a:ln>
        </p:spPr>
      </p:pic>
      <p:sp>
        <p:nvSpPr>
          <p:cNvPr id="910"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Charts for Relationships Between Variables</a:t>
            </a:r>
            <a:endParaRPr lang="en-US" sz="2600" b="0" u="none" strike="noStrike">
              <a:solidFill>
                <a:srgbClr val="000000"/>
              </a:solidFill>
              <a:effectLst/>
              <a:uFillTx/>
              <a:latin typeface="Arial"/>
            </a:endParaRPr>
          </a:p>
        </p:txBody>
      </p:sp>
      <p:sp>
        <p:nvSpPr>
          <p:cNvPr id="911" name="Card"/>
          <p:cNvSpPr/>
          <p:nvPr/>
        </p:nvSpPr>
        <p:spPr>
          <a:xfrm>
            <a:off x="548640" y="1463040"/>
            <a:ext cx="11109600" cy="3565800"/>
          </a:xfrm>
          <a:prstGeom prst="roundRect">
            <a:avLst>
              <a:gd name="adj" fmla="val 205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12" name="Pill"/>
          <p:cNvSpPr/>
          <p:nvPr/>
        </p:nvSpPr>
        <p:spPr>
          <a:xfrm>
            <a:off x="777240" y="1691640"/>
            <a:ext cx="3200040" cy="456840"/>
          </a:xfrm>
          <a:prstGeom prst="roundRect">
            <a:avLst>
              <a:gd name="adj" fmla="val 5000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13" name="Pill label"/>
          <p:cNvSpPr/>
          <p:nvPr/>
        </p:nvSpPr>
        <p:spPr>
          <a:xfrm>
            <a:off x="777240" y="1691640"/>
            <a:ext cx="32000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Plus Jakarta Sans"/>
                <a:ea typeface="Plus Jakarta Sans"/>
              </a:rPr>
              <a:t>Scatter Plot</a:t>
            </a:r>
            <a:endParaRPr lang="en-US" sz="1400" b="0" u="none" strike="noStrike">
              <a:solidFill>
                <a:srgbClr val="000000"/>
              </a:solidFill>
              <a:effectLst/>
              <a:uFillTx/>
              <a:latin typeface="Arial"/>
            </a:endParaRPr>
          </a:p>
        </p:txBody>
      </p:sp>
      <p:sp>
        <p:nvSpPr>
          <p:cNvPr id="914" name="Description"/>
          <p:cNvSpPr/>
          <p:nvPr/>
        </p:nvSpPr>
        <p:spPr>
          <a:xfrm>
            <a:off x="777240" y="2377440"/>
            <a:ext cx="338292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Shows the relationship between two numerical variables. The foundation for spotting correlation</a:t>
            </a:r>
            <a:endParaRPr lang="en-US" sz="1400" b="0" u="none" strike="noStrike">
              <a:solidFill>
                <a:srgbClr val="000000"/>
              </a:solidFill>
              <a:effectLst/>
              <a:uFillTx/>
              <a:latin typeface="Arial"/>
            </a:endParaRPr>
          </a:p>
        </p:txBody>
      </p:sp>
      <p:sp>
        <p:nvSpPr>
          <p:cNvPr id="915" name="Chip"/>
          <p:cNvSpPr/>
          <p:nvPr/>
        </p:nvSpPr>
        <p:spPr>
          <a:xfrm>
            <a:off x="777240" y="3794760"/>
            <a:ext cx="3200040" cy="365400"/>
          </a:xfrm>
          <a:prstGeom prst="roundRect">
            <a:avLst>
              <a:gd name="adj" fmla="val 50000"/>
            </a:avLst>
          </a:prstGeom>
          <a:solidFill>
            <a:srgbClr val="D2D0FA"/>
          </a:solidFill>
          <a:ln w="12700">
            <a:solidFill>
              <a:srgbClr val="D2D0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16" name="Chip label"/>
          <p:cNvSpPr/>
          <p:nvPr/>
        </p:nvSpPr>
        <p:spPr>
          <a:xfrm>
            <a:off x="777240" y="3794760"/>
            <a:ext cx="32000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231F71"/>
                </a:solidFill>
                <a:effectLst/>
                <a:uFillTx/>
                <a:latin typeface="Plus Jakarta Sans"/>
                <a:ea typeface="Plus Jakarta Sans"/>
              </a:rPr>
              <a:t>Matplotlib  ·  plt.scatter()</a:t>
            </a:r>
            <a:endParaRPr lang="en-US" sz="1200" b="0" u="none" strike="noStrike">
              <a:solidFill>
                <a:srgbClr val="000000"/>
              </a:solidFill>
              <a:effectLst/>
              <a:uFillTx/>
              <a:latin typeface="Arial"/>
            </a:endParaRPr>
          </a:p>
        </p:txBody>
      </p:sp>
      <p:sp>
        <p:nvSpPr>
          <p:cNvPr id="917" name="Chip"/>
          <p:cNvSpPr/>
          <p:nvPr/>
        </p:nvSpPr>
        <p:spPr>
          <a:xfrm>
            <a:off x="777240" y="4251960"/>
            <a:ext cx="3200040" cy="365400"/>
          </a:xfrm>
          <a:prstGeom prst="roundRect">
            <a:avLst>
              <a:gd name="adj" fmla="val 50000"/>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18" name="Chip label"/>
          <p:cNvSpPr/>
          <p:nvPr/>
        </p:nvSpPr>
        <p:spPr>
          <a:xfrm>
            <a:off x="777240" y="4251960"/>
            <a:ext cx="32000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002019"/>
                </a:solidFill>
                <a:effectLst/>
                <a:uFillTx/>
                <a:latin typeface="Plus Jakarta Sans"/>
                <a:ea typeface="Plus Jakarta Sans"/>
              </a:rPr>
              <a:t>Seaborn  ·  sns.scatterplot()</a:t>
            </a:r>
            <a:endParaRPr lang="en-US" sz="1200" b="0" u="none" strike="noStrike">
              <a:solidFill>
                <a:srgbClr val="000000"/>
              </a:solidFill>
              <a:effectLst/>
              <a:uFillTx/>
              <a:latin typeface="Arial"/>
            </a:endParaRPr>
          </a:p>
        </p:txBody>
      </p:sp>
      <p:sp>
        <p:nvSpPr>
          <p:cNvPr id="919" name="Y title"/>
          <p:cNvSpPr/>
          <p:nvPr/>
        </p:nvSpPr>
        <p:spPr>
          <a:xfrm>
            <a:off x="4114800" y="1527120"/>
            <a:ext cx="11883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50" b="0" u="none" strike="noStrike">
                <a:solidFill>
                  <a:srgbClr val="474651"/>
                </a:solidFill>
                <a:effectLst/>
                <a:uFillTx/>
                <a:latin typeface="Hanken Grotesk"/>
                <a:ea typeface="Hanken Grotesk"/>
              </a:rPr>
              <a:t>exam score</a:t>
            </a:r>
            <a:endParaRPr lang="en-US" sz="1150" b="0" u="none" strike="noStrike">
              <a:solidFill>
                <a:srgbClr val="000000"/>
              </a:solidFill>
              <a:effectLst/>
              <a:uFillTx/>
              <a:latin typeface="Arial"/>
            </a:endParaRPr>
          </a:p>
        </p:txBody>
      </p:sp>
      <p:sp>
        <p:nvSpPr>
          <p:cNvPr id="920" name="Tick"/>
          <p:cNvSpPr/>
          <p:nvPr/>
        </p:nvSpPr>
        <p:spPr>
          <a:xfrm>
            <a:off x="4846320" y="409212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50" b="0" u="none" strike="noStrike">
                <a:solidFill>
                  <a:srgbClr val="474651"/>
                </a:solidFill>
                <a:effectLst/>
                <a:uFillTx/>
                <a:latin typeface="Hanken Grotesk"/>
                <a:ea typeface="Hanken Grotesk"/>
              </a:rPr>
              <a:t>40</a:t>
            </a:r>
            <a:endParaRPr lang="en-US" sz="1150" b="0" u="none" strike="noStrike">
              <a:solidFill>
                <a:srgbClr val="000000"/>
              </a:solidFill>
              <a:effectLst/>
              <a:uFillTx/>
              <a:latin typeface="Arial"/>
            </a:endParaRPr>
          </a:p>
        </p:txBody>
      </p:sp>
      <p:sp>
        <p:nvSpPr>
          <p:cNvPr id="921" name="Grid"/>
          <p:cNvSpPr/>
          <p:nvPr/>
        </p:nvSpPr>
        <p:spPr>
          <a:xfrm>
            <a:off x="5303520" y="3717000"/>
            <a:ext cx="5715000" cy="360"/>
          </a:xfrm>
          <a:prstGeom prst="line">
            <a:avLst/>
          </a:prstGeom>
          <a:ln w="9525">
            <a:solidFill>
              <a:srgbClr val="E6E3F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922" name="Tick"/>
          <p:cNvSpPr/>
          <p:nvPr/>
        </p:nvSpPr>
        <p:spPr>
          <a:xfrm>
            <a:off x="4846320" y="360288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50" b="0" u="none" strike="noStrike">
                <a:solidFill>
                  <a:srgbClr val="474651"/>
                </a:solidFill>
                <a:effectLst/>
                <a:uFillTx/>
                <a:latin typeface="Hanken Grotesk"/>
                <a:ea typeface="Hanken Grotesk"/>
              </a:rPr>
              <a:t>50</a:t>
            </a:r>
            <a:endParaRPr lang="en-US" sz="1150" b="0" u="none" strike="noStrike">
              <a:solidFill>
                <a:srgbClr val="000000"/>
              </a:solidFill>
              <a:effectLst/>
              <a:uFillTx/>
              <a:latin typeface="Arial"/>
            </a:endParaRPr>
          </a:p>
        </p:txBody>
      </p:sp>
      <p:sp>
        <p:nvSpPr>
          <p:cNvPr id="923" name="Grid"/>
          <p:cNvSpPr/>
          <p:nvPr/>
        </p:nvSpPr>
        <p:spPr>
          <a:xfrm>
            <a:off x="5303520" y="3228120"/>
            <a:ext cx="5715000" cy="360"/>
          </a:xfrm>
          <a:prstGeom prst="line">
            <a:avLst/>
          </a:prstGeom>
          <a:ln w="9525">
            <a:solidFill>
              <a:srgbClr val="E6E3F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924" name="Tick"/>
          <p:cNvSpPr/>
          <p:nvPr/>
        </p:nvSpPr>
        <p:spPr>
          <a:xfrm>
            <a:off x="4846320" y="311400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50" b="0" u="none" strike="noStrike">
                <a:solidFill>
                  <a:srgbClr val="474651"/>
                </a:solidFill>
                <a:effectLst/>
                <a:uFillTx/>
                <a:latin typeface="Hanken Grotesk"/>
                <a:ea typeface="Hanken Grotesk"/>
              </a:rPr>
              <a:t>60</a:t>
            </a:r>
            <a:endParaRPr lang="en-US" sz="1150" b="0" u="none" strike="noStrike">
              <a:solidFill>
                <a:srgbClr val="000000"/>
              </a:solidFill>
              <a:effectLst/>
              <a:uFillTx/>
              <a:latin typeface="Arial"/>
            </a:endParaRPr>
          </a:p>
        </p:txBody>
      </p:sp>
      <p:sp>
        <p:nvSpPr>
          <p:cNvPr id="925" name="Grid"/>
          <p:cNvSpPr/>
          <p:nvPr/>
        </p:nvSpPr>
        <p:spPr>
          <a:xfrm>
            <a:off x="5303520" y="2739240"/>
            <a:ext cx="5715000" cy="360"/>
          </a:xfrm>
          <a:prstGeom prst="line">
            <a:avLst/>
          </a:prstGeom>
          <a:ln w="9525">
            <a:solidFill>
              <a:srgbClr val="E6E3F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926" name="Tick"/>
          <p:cNvSpPr/>
          <p:nvPr/>
        </p:nvSpPr>
        <p:spPr>
          <a:xfrm>
            <a:off x="4846320" y="262512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50" b="0" u="none" strike="noStrike">
                <a:solidFill>
                  <a:srgbClr val="474651"/>
                </a:solidFill>
                <a:effectLst/>
                <a:uFillTx/>
                <a:latin typeface="Hanken Grotesk"/>
                <a:ea typeface="Hanken Grotesk"/>
              </a:rPr>
              <a:t>70</a:t>
            </a:r>
            <a:endParaRPr lang="en-US" sz="1150" b="0" u="none" strike="noStrike">
              <a:solidFill>
                <a:srgbClr val="000000"/>
              </a:solidFill>
              <a:effectLst/>
              <a:uFillTx/>
              <a:latin typeface="Arial"/>
            </a:endParaRPr>
          </a:p>
        </p:txBody>
      </p:sp>
      <p:sp>
        <p:nvSpPr>
          <p:cNvPr id="927" name="Grid"/>
          <p:cNvSpPr/>
          <p:nvPr/>
        </p:nvSpPr>
        <p:spPr>
          <a:xfrm>
            <a:off x="5303520" y="2250360"/>
            <a:ext cx="5715000" cy="360"/>
          </a:xfrm>
          <a:prstGeom prst="line">
            <a:avLst/>
          </a:prstGeom>
          <a:ln w="9525">
            <a:solidFill>
              <a:srgbClr val="E6E3F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928" name="Tick"/>
          <p:cNvSpPr/>
          <p:nvPr/>
        </p:nvSpPr>
        <p:spPr>
          <a:xfrm>
            <a:off x="4846320" y="213624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50" b="0" u="none" strike="noStrike">
                <a:solidFill>
                  <a:srgbClr val="474651"/>
                </a:solidFill>
                <a:effectLst/>
                <a:uFillTx/>
                <a:latin typeface="Hanken Grotesk"/>
                <a:ea typeface="Hanken Grotesk"/>
              </a:rPr>
              <a:t>80</a:t>
            </a:r>
            <a:endParaRPr lang="en-US" sz="1150" b="0" u="none" strike="noStrike">
              <a:solidFill>
                <a:srgbClr val="000000"/>
              </a:solidFill>
              <a:effectLst/>
              <a:uFillTx/>
              <a:latin typeface="Arial"/>
            </a:endParaRPr>
          </a:p>
        </p:txBody>
      </p:sp>
      <p:sp>
        <p:nvSpPr>
          <p:cNvPr id="929" name="Y axis"/>
          <p:cNvSpPr/>
          <p:nvPr/>
        </p:nvSpPr>
        <p:spPr>
          <a:xfrm>
            <a:off x="5303520" y="1828800"/>
            <a:ext cx="360" cy="2377440"/>
          </a:xfrm>
          <a:prstGeom prst="line">
            <a:avLst/>
          </a:prstGeom>
          <a:ln w="19050">
            <a:solidFill>
              <a:srgbClr val="474651"/>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30" name="X axis"/>
          <p:cNvSpPr/>
          <p:nvPr/>
        </p:nvSpPr>
        <p:spPr>
          <a:xfrm>
            <a:off x="5303520" y="4206240"/>
            <a:ext cx="5715000" cy="360"/>
          </a:xfrm>
          <a:prstGeom prst="line">
            <a:avLst/>
          </a:prstGeom>
          <a:ln w="19050">
            <a:solidFill>
              <a:srgbClr val="47465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931" name="Point"/>
          <p:cNvSpPr/>
          <p:nvPr/>
        </p:nvSpPr>
        <p:spPr>
          <a:xfrm>
            <a:off x="5802840" y="3714480"/>
            <a:ext cx="200880" cy="200880"/>
          </a:xfrm>
          <a:prstGeom prst="ellipse">
            <a:avLst/>
          </a:prstGeom>
          <a:solidFill>
            <a:srgbClr val="8C8AE0"/>
          </a:solidFill>
          <a:ln w="12700">
            <a:solidFill>
              <a:srgbClr val="5755A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32" name="Tick"/>
          <p:cNvSpPr/>
          <p:nvPr/>
        </p:nvSpPr>
        <p:spPr>
          <a:xfrm>
            <a:off x="5720760" y="426096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50" b="0" u="none" strike="noStrike">
                <a:solidFill>
                  <a:srgbClr val="474651"/>
                </a:solidFill>
                <a:effectLst/>
                <a:uFillTx/>
                <a:latin typeface="Hanken Grotesk"/>
                <a:ea typeface="Hanken Grotesk"/>
              </a:rPr>
              <a:t>1</a:t>
            </a:r>
            <a:endParaRPr lang="en-US" sz="1150" b="0" u="none" strike="noStrike">
              <a:solidFill>
                <a:srgbClr val="000000"/>
              </a:solidFill>
              <a:effectLst/>
              <a:uFillTx/>
              <a:latin typeface="Arial"/>
            </a:endParaRPr>
          </a:p>
        </p:txBody>
      </p:sp>
      <p:sp>
        <p:nvSpPr>
          <p:cNvPr id="933" name="Point"/>
          <p:cNvSpPr/>
          <p:nvPr/>
        </p:nvSpPr>
        <p:spPr>
          <a:xfrm>
            <a:off x="6402960" y="3519000"/>
            <a:ext cx="200880" cy="200880"/>
          </a:xfrm>
          <a:prstGeom prst="ellipse">
            <a:avLst/>
          </a:prstGeom>
          <a:solidFill>
            <a:srgbClr val="8C8AE0"/>
          </a:solidFill>
          <a:ln w="12700">
            <a:solidFill>
              <a:srgbClr val="5755A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34" name="Tick"/>
          <p:cNvSpPr/>
          <p:nvPr/>
        </p:nvSpPr>
        <p:spPr>
          <a:xfrm>
            <a:off x="6320520" y="426096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50" b="0" u="none" strike="noStrike">
                <a:solidFill>
                  <a:srgbClr val="474651"/>
                </a:solidFill>
                <a:effectLst/>
                <a:uFillTx/>
                <a:latin typeface="Hanken Grotesk"/>
                <a:ea typeface="Hanken Grotesk"/>
              </a:rPr>
              <a:t>2</a:t>
            </a:r>
            <a:endParaRPr lang="en-US" sz="1150" b="0" u="none" strike="noStrike">
              <a:solidFill>
                <a:srgbClr val="000000"/>
              </a:solidFill>
              <a:effectLst/>
              <a:uFillTx/>
              <a:latin typeface="Arial"/>
            </a:endParaRPr>
          </a:p>
        </p:txBody>
      </p:sp>
      <p:sp>
        <p:nvSpPr>
          <p:cNvPr id="935" name="Point"/>
          <p:cNvSpPr/>
          <p:nvPr/>
        </p:nvSpPr>
        <p:spPr>
          <a:xfrm>
            <a:off x="7003080" y="3372480"/>
            <a:ext cx="200880" cy="200880"/>
          </a:xfrm>
          <a:prstGeom prst="ellipse">
            <a:avLst/>
          </a:prstGeom>
          <a:solidFill>
            <a:srgbClr val="8C8AE0"/>
          </a:solidFill>
          <a:ln w="12700">
            <a:solidFill>
              <a:srgbClr val="5755A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36" name="Tick"/>
          <p:cNvSpPr/>
          <p:nvPr/>
        </p:nvSpPr>
        <p:spPr>
          <a:xfrm>
            <a:off x="6920640" y="426096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50" b="0" u="none" strike="noStrike">
                <a:solidFill>
                  <a:srgbClr val="474651"/>
                </a:solidFill>
                <a:effectLst/>
                <a:uFillTx/>
                <a:latin typeface="Hanken Grotesk"/>
                <a:ea typeface="Hanken Grotesk"/>
              </a:rPr>
              <a:t>3</a:t>
            </a:r>
            <a:endParaRPr lang="en-US" sz="1150" b="0" u="none" strike="noStrike">
              <a:solidFill>
                <a:srgbClr val="000000"/>
              </a:solidFill>
              <a:effectLst/>
              <a:uFillTx/>
              <a:latin typeface="Arial"/>
            </a:endParaRPr>
          </a:p>
        </p:txBody>
      </p:sp>
      <p:sp>
        <p:nvSpPr>
          <p:cNvPr id="937" name="Point"/>
          <p:cNvSpPr/>
          <p:nvPr/>
        </p:nvSpPr>
        <p:spPr>
          <a:xfrm>
            <a:off x="7602840" y="3079080"/>
            <a:ext cx="200880" cy="200880"/>
          </a:xfrm>
          <a:prstGeom prst="ellipse">
            <a:avLst/>
          </a:prstGeom>
          <a:solidFill>
            <a:srgbClr val="8C8AE0"/>
          </a:solidFill>
          <a:ln w="12700">
            <a:solidFill>
              <a:srgbClr val="5755A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38" name="Tick"/>
          <p:cNvSpPr/>
          <p:nvPr/>
        </p:nvSpPr>
        <p:spPr>
          <a:xfrm>
            <a:off x="7520760" y="426096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50" b="0" u="none" strike="noStrike">
                <a:solidFill>
                  <a:srgbClr val="474651"/>
                </a:solidFill>
                <a:effectLst/>
                <a:uFillTx/>
                <a:latin typeface="Hanken Grotesk"/>
                <a:ea typeface="Hanken Grotesk"/>
              </a:rPr>
              <a:t>4</a:t>
            </a:r>
            <a:endParaRPr lang="en-US" sz="1150" b="0" u="none" strike="noStrike">
              <a:solidFill>
                <a:srgbClr val="000000"/>
              </a:solidFill>
              <a:effectLst/>
              <a:uFillTx/>
              <a:latin typeface="Arial"/>
            </a:endParaRPr>
          </a:p>
        </p:txBody>
      </p:sp>
      <p:sp>
        <p:nvSpPr>
          <p:cNvPr id="939" name="Point"/>
          <p:cNvSpPr/>
          <p:nvPr/>
        </p:nvSpPr>
        <p:spPr>
          <a:xfrm>
            <a:off x="8202960" y="3128040"/>
            <a:ext cx="200880" cy="200880"/>
          </a:xfrm>
          <a:prstGeom prst="ellipse">
            <a:avLst/>
          </a:prstGeom>
          <a:solidFill>
            <a:srgbClr val="8C8AE0"/>
          </a:solidFill>
          <a:ln w="12700">
            <a:solidFill>
              <a:srgbClr val="5755A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40" name="Tick"/>
          <p:cNvSpPr/>
          <p:nvPr/>
        </p:nvSpPr>
        <p:spPr>
          <a:xfrm>
            <a:off x="8120520" y="426096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50" b="0" u="none" strike="noStrike">
                <a:solidFill>
                  <a:srgbClr val="474651"/>
                </a:solidFill>
                <a:effectLst/>
                <a:uFillTx/>
                <a:latin typeface="Hanken Grotesk"/>
                <a:ea typeface="Hanken Grotesk"/>
              </a:rPr>
              <a:t>5</a:t>
            </a:r>
            <a:endParaRPr lang="en-US" sz="1150" b="0" u="none" strike="noStrike">
              <a:solidFill>
                <a:srgbClr val="000000"/>
              </a:solidFill>
              <a:effectLst/>
              <a:uFillTx/>
              <a:latin typeface="Arial"/>
            </a:endParaRPr>
          </a:p>
        </p:txBody>
      </p:sp>
      <p:sp>
        <p:nvSpPr>
          <p:cNvPr id="941" name="Point"/>
          <p:cNvSpPr/>
          <p:nvPr/>
        </p:nvSpPr>
        <p:spPr>
          <a:xfrm>
            <a:off x="8803080" y="2736720"/>
            <a:ext cx="200880" cy="200880"/>
          </a:xfrm>
          <a:prstGeom prst="ellipse">
            <a:avLst/>
          </a:prstGeom>
          <a:solidFill>
            <a:srgbClr val="8C8AE0"/>
          </a:solidFill>
          <a:ln w="12700">
            <a:solidFill>
              <a:srgbClr val="5755A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42" name="Tick"/>
          <p:cNvSpPr/>
          <p:nvPr/>
        </p:nvSpPr>
        <p:spPr>
          <a:xfrm>
            <a:off x="8720640" y="426096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50" b="0" u="none" strike="noStrike">
                <a:solidFill>
                  <a:srgbClr val="474651"/>
                </a:solidFill>
                <a:effectLst/>
                <a:uFillTx/>
                <a:latin typeface="Hanken Grotesk"/>
                <a:ea typeface="Hanken Grotesk"/>
              </a:rPr>
              <a:t>6</a:t>
            </a:r>
            <a:endParaRPr lang="en-US" sz="1150" b="0" u="none" strike="noStrike">
              <a:solidFill>
                <a:srgbClr val="000000"/>
              </a:solidFill>
              <a:effectLst/>
              <a:uFillTx/>
              <a:latin typeface="Arial"/>
            </a:endParaRPr>
          </a:p>
        </p:txBody>
      </p:sp>
      <p:sp>
        <p:nvSpPr>
          <p:cNvPr id="943" name="Point"/>
          <p:cNvSpPr/>
          <p:nvPr/>
        </p:nvSpPr>
        <p:spPr>
          <a:xfrm>
            <a:off x="9402840" y="2443320"/>
            <a:ext cx="200880" cy="200880"/>
          </a:xfrm>
          <a:prstGeom prst="ellipse">
            <a:avLst/>
          </a:prstGeom>
          <a:solidFill>
            <a:srgbClr val="8C8AE0"/>
          </a:solidFill>
          <a:ln w="12700">
            <a:solidFill>
              <a:srgbClr val="5755A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44" name="Tick"/>
          <p:cNvSpPr/>
          <p:nvPr/>
        </p:nvSpPr>
        <p:spPr>
          <a:xfrm>
            <a:off x="9320760" y="426096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50" b="0" u="none" strike="noStrike">
                <a:solidFill>
                  <a:srgbClr val="474651"/>
                </a:solidFill>
                <a:effectLst/>
                <a:uFillTx/>
                <a:latin typeface="Hanken Grotesk"/>
                <a:ea typeface="Hanken Grotesk"/>
              </a:rPr>
              <a:t>7</a:t>
            </a:r>
            <a:endParaRPr lang="en-US" sz="1150" b="0" u="none" strike="noStrike">
              <a:solidFill>
                <a:srgbClr val="000000"/>
              </a:solidFill>
              <a:effectLst/>
              <a:uFillTx/>
              <a:latin typeface="Arial"/>
            </a:endParaRPr>
          </a:p>
        </p:txBody>
      </p:sp>
      <p:sp>
        <p:nvSpPr>
          <p:cNvPr id="945" name="Point"/>
          <p:cNvSpPr/>
          <p:nvPr/>
        </p:nvSpPr>
        <p:spPr>
          <a:xfrm>
            <a:off x="10002960" y="2198880"/>
            <a:ext cx="200880" cy="200880"/>
          </a:xfrm>
          <a:prstGeom prst="ellipse">
            <a:avLst/>
          </a:prstGeom>
          <a:solidFill>
            <a:srgbClr val="8C8AE0"/>
          </a:solidFill>
          <a:ln w="12700">
            <a:solidFill>
              <a:srgbClr val="5755A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46" name="Tick"/>
          <p:cNvSpPr/>
          <p:nvPr/>
        </p:nvSpPr>
        <p:spPr>
          <a:xfrm>
            <a:off x="9920520" y="426096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50" b="0" u="none" strike="noStrike">
                <a:solidFill>
                  <a:srgbClr val="474651"/>
                </a:solidFill>
                <a:effectLst/>
                <a:uFillTx/>
                <a:latin typeface="Hanken Grotesk"/>
                <a:ea typeface="Hanken Grotesk"/>
              </a:rPr>
              <a:t>8</a:t>
            </a:r>
            <a:endParaRPr lang="en-US" sz="1150" b="0" u="none" strike="noStrike">
              <a:solidFill>
                <a:srgbClr val="000000"/>
              </a:solidFill>
              <a:effectLst/>
              <a:uFillTx/>
              <a:latin typeface="Arial"/>
            </a:endParaRPr>
          </a:p>
        </p:txBody>
      </p:sp>
      <p:sp>
        <p:nvSpPr>
          <p:cNvPr id="947" name="X title"/>
          <p:cNvSpPr/>
          <p:nvPr/>
        </p:nvSpPr>
        <p:spPr>
          <a:xfrm>
            <a:off x="5303520" y="4617720"/>
            <a:ext cx="57146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50" b="0" u="none" strike="noStrike">
                <a:solidFill>
                  <a:srgbClr val="474651"/>
                </a:solidFill>
                <a:effectLst/>
                <a:uFillTx/>
                <a:latin typeface="Hanken Grotesk"/>
                <a:ea typeface="Hanken Grotesk"/>
              </a:rPr>
              <a:t>study hours</a:t>
            </a:r>
            <a:endParaRPr lang="en-US" sz="1150" b="0" u="none" strike="noStrike">
              <a:solidFill>
                <a:srgbClr val="000000"/>
              </a:solidFill>
              <a:effectLst/>
              <a:uFillTx/>
              <a:latin typeface="Arial"/>
            </a:endParaRPr>
          </a:p>
        </p:txBody>
      </p:sp>
      <p:sp>
        <p:nvSpPr>
          <p:cNvPr id="948" name="Callout"/>
          <p:cNvSpPr/>
          <p:nvPr/>
        </p:nvSpPr>
        <p:spPr>
          <a:xfrm>
            <a:off x="548640" y="5257800"/>
            <a:ext cx="11109600" cy="822600"/>
          </a:xfrm>
          <a:prstGeom prst="roundRect">
            <a:avLst>
              <a:gd name="adj" fmla="val 11111"/>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49" name="Callout text"/>
          <p:cNvSpPr/>
          <p:nvPr/>
        </p:nvSpPr>
        <p:spPr>
          <a:xfrm>
            <a:off x="777240" y="5257800"/>
            <a:ext cx="106524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a:solidFill>
                  <a:srgbClr val="002019"/>
                </a:solidFill>
                <a:effectLst/>
                <a:uFillTx/>
                <a:latin typeface="Hanken Grotesk"/>
                <a:ea typeface="Hanken Grotesk"/>
              </a:rPr>
              <a:t>Each dot is one student: hours studied across, score up. Dots drifting up and to the right mean a positive relationship.</a:t>
            </a:r>
            <a:endParaRPr lang="en-US" sz="13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950"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951"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62</a:t>
            </a:r>
            <a:endParaRPr lang="en-US" sz="900" b="0" u="none" strike="noStrike">
              <a:solidFill>
                <a:srgbClr val="000000"/>
              </a:solidFill>
              <a:effectLst/>
              <a:uFillTx/>
              <a:latin typeface="Arial"/>
            </a:endParaRPr>
          </a:p>
        </p:txBody>
      </p:sp>
      <p:pic>
        <p:nvPicPr>
          <p:cNvPr id="952" name="Image 0" descr="/home/claude/assets/logo_crop.png"/>
          <p:cNvPicPr/>
          <p:nvPr/>
        </p:nvPicPr>
        <p:blipFill>
          <a:blip r:embed="rId2"/>
          <a:stretch/>
        </p:blipFill>
        <p:spPr>
          <a:xfrm>
            <a:off x="11201400" y="384120"/>
            <a:ext cx="456840" cy="511560"/>
          </a:xfrm>
          <a:prstGeom prst="rect">
            <a:avLst/>
          </a:prstGeom>
          <a:noFill/>
          <a:ln w="0">
            <a:noFill/>
          </a:ln>
        </p:spPr>
      </p:pic>
      <p:sp>
        <p:nvSpPr>
          <p:cNvPr id="953"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Scatter Plot in Code</a:t>
            </a:r>
            <a:endParaRPr lang="en-US" sz="2600" b="0" u="none" strike="noStrike">
              <a:solidFill>
                <a:srgbClr val="000000"/>
              </a:solidFill>
              <a:effectLst/>
              <a:uFillTx/>
              <a:latin typeface="Arial"/>
            </a:endParaRPr>
          </a:p>
        </p:txBody>
      </p:sp>
      <p:sp>
        <p:nvSpPr>
          <p:cNvPr id="954"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400"/>
              </a:spcAft>
              <a:buClr>
                <a:srgbClr val="1B1B20"/>
              </a:buClr>
              <a:buFont typeface="Arial"/>
              <a:buChar char="•"/>
            </a:pPr>
            <a:r>
              <a:rPr lang="en-US" sz="2000" b="0" u="none" strike="noStrike" dirty="0" err="1">
                <a:solidFill>
                  <a:srgbClr val="1B1B20"/>
                </a:solidFill>
                <a:effectLst/>
                <a:uFillTx/>
                <a:latin typeface="Hanken Grotesk"/>
                <a:ea typeface="Hanken Grotesk"/>
              </a:rPr>
              <a:t>plt.scatter</a:t>
            </a:r>
            <a:r>
              <a:rPr lang="en-US" sz="2000" b="0" u="none" strike="noStrike" dirty="0">
                <a:solidFill>
                  <a:srgbClr val="1B1B20"/>
                </a:solidFill>
                <a:effectLst/>
                <a:uFillTx/>
                <a:latin typeface="Hanken Grotesk"/>
                <a:ea typeface="Hanken Grotesk"/>
              </a:rPr>
              <a:t> takes the x values, then the y values: one dot per pair.</a:t>
            </a:r>
            <a:endParaRPr lang="en-US" sz="2000" b="0" u="none" strike="noStrike" dirty="0">
              <a:solidFill>
                <a:srgbClr val="000000"/>
              </a:solidFill>
              <a:effectLst/>
              <a:uFillTx/>
              <a:latin typeface="Arial"/>
              <a:cs typeface="Arial"/>
            </a:endParaRPr>
          </a:p>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Label both axes. A chart without labels forces the reader to guess.</a:t>
            </a:r>
            <a:endParaRPr lang="en-US" sz="2000" b="0" u="none" strike="noStrike" dirty="0">
              <a:solidFill>
                <a:srgbClr val="000000"/>
              </a:solidFill>
              <a:effectLst/>
              <a:uFillTx/>
              <a:latin typeface="Arial"/>
              <a:cs typeface="Arial"/>
            </a:endParaRPr>
          </a:p>
          <a:p>
            <a:pPr marL="285750" indent="-285750" defTabSz="914400">
              <a:lnSpc>
                <a:spcPct val="100000"/>
              </a:lnSpc>
              <a:spcAft>
                <a:spcPts val="1400"/>
              </a:spcAft>
              <a:buClr>
                <a:srgbClr val="1B1B20"/>
              </a:buClr>
              <a:buFont typeface="Arial"/>
              <a:buChar char="•"/>
            </a:pPr>
            <a:r>
              <a:rPr lang="en-US" sz="2000" b="0" u="none" strike="noStrike" dirty="0" err="1">
                <a:solidFill>
                  <a:srgbClr val="1B1B20"/>
                </a:solidFill>
                <a:effectLst/>
                <a:uFillTx/>
                <a:latin typeface="Hanken Grotesk"/>
                <a:ea typeface="Hanken Grotesk"/>
              </a:rPr>
              <a:t>sns.scatterplot</a:t>
            </a:r>
            <a:r>
              <a:rPr lang="en-US" sz="2000" b="0" u="none" strike="noStrike" dirty="0">
                <a:solidFill>
                  <a:srgbClr val="1B1B20"/>
                </a:solidFill>
                <a:effectLst/>
                <a:uFillTx/>
                <a:latin typeface="Hanken Grotesk"/>
                <a:ea typeface="Hanken Grotesk"/>
              </a:rPr>
              <a:t> does the same job, and later adds color by group with hue.</a:t>
            </a:r>
            <a:endParaRPr lang="en-US" sz="2000" b="0" u="none" strike="noStrike" dirty="0">
              <a:solidFill>
                <a:srgbClr val="000000"/>
              </a:solidFill>
              <a:effectLst/>
              <a:uFillTx/>
              <a:latin typeface="Arial"/>
              <a:cs typeface="Arial"/>
            </a:endParaRPr>
          </a:p>
        </p:txBody>
      </p:sp>
      <p:sp>
        <p:nvSpPr>
          <p:cNvPr id="955"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56"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957"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958"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959"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300" b="0" u="none" strike="noStrike">
                <a:solidFill>
                  <a:srgbClr val="F1F5F9"/>
                </a:solidFill>
                <a:effectLst/>
                <a:uFillTx/>
                <a:latin typeface="Cantarell"/>
                <a:ea typeface="Consolas"/>
              </a:rPr>
              <a:t>import matplotlib.pyplot as plt</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import seaborn as sns</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hours = [1, 2, 3, 4, 5, 6, 7, 8]</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score = [48, 52, 55, 61, 60, 68, 74, 79]</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plt.scatter(hours, score)              </a:t>
            </a:r>
            <a:r>
              <a:rPr lang="en-US" sz="1300" b="0" i="1" u="none" strike="noStrike">
                <a:solidFill>
                  <a:srgbClr val="94A3B8"/>
                </a:solidFill>
                <a:effectLst/>
                <a:uFillTx/>
                <a:latin typeface="Cantarell"/>
                <a:ea typeface="Consolas"/>
              </a:rPr>
              <a:t># Matplotlib</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plt.xlabel("Study hours")</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plt.ylabel("Exam score")</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plt.show()</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sns.scatterplot(x=hours, y=score)      </a:t>
            </a:r>
            <a:r>
              <a:rPr lang="en-US" sz="1300" b="0" i="1" u="none" strike="noStrike">
                <a:solidFill>
                  <a:srgbClr val="94A3B8"/>
                </a:solidFill>
                <a:effectLst/>
                <a:uFillTx/>
                <a:latin typeface="Cantarell"/>
                <a:ea typeface="Consolas"/>
              </a:rPr>
              <a:t># Seaborn</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plt.show()</a:t>
            </a:r>
            <a:endParaRPr lang="en-US" sz="13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960"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961"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63</a:t>
            </a:r>
            <a:endParaRPr lang="en-US" sz="900" b="0" u="none" strike="noStrike">
              <a:solidFill>
                <a:srgbClr val="000000"/>
              </a:solidFill>
              <a:effectLst/>
              <a:uFillTx/>
              <a:latin typeface="Arial"/>
            </a:endParaRPr>
          </a:p>
        </p:txBody>
      </p:sp>
      <p:pic>
        <p:nvPicPr>
          <p:cNvPr id="962" name="Image 0" descr="/home/claude/assets/logo_crop.png"/>
          <p:cNvPicPr/>
          <p:nvPr/>
        </p:nvPicPr>
        <p:blipFill>
          <a:blip r:embed="rId3"/>
          <a:stretch/>
        </p:blipFill>
        <p:spPr>
          <a:xfrm>
            <a:off x="11201400" y="384120"/>
            <a:ext cx="456840" cy="511560"/>
          </a:xfrm>
          <a:prstGeom prst="rect">
            <a:avLst/>
          </a:prstGeom>
          <a:noFill/>
          <a:ln w="0">
            <a:noFill/>
          </a:ln>
        </p:spPr>
      </p:pic>
      <p:sp>
        <p:nvSpPr>
          <p:cNvPr id="963"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Heatmaps &amp; Correlation Matrices</a:t>
            </a:r>
            <a:endParaRPr lang="en-US" sz="2600" b="0" u="none" strike="noStrike">
              <a:solidFill>
                <a:srgbClr val="000000"/>
              </a:solidFill>
              <a:effectLst/>
              <a:uFillTx/>
              <a:latin typeface="Arial"/>
            </a:endParaRPr>
          </a:p>
        </p:txBody>
      </p:sp>
      <p:sp>
        <p:nvSpPr>
          <p:cNvPr id="964"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65"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66"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a:t>
            </a:r>
            <a:endParaRPr lang="en-US" sz="2800" b="0" u="none" strike="noStrike">
              <a:solidFill>
                <a:srgbClr val="000000"/>
              </a:solidFill>
              <a:effectLst/>
              <a:uFillTx/>
              <a:latin typeface="Arial"/>
            </a:endParaRPr>
          </a:p>
        </p:txBody>
      </p:sp>
      <p:sp>
        <p:nvSpPr>
          <p:cNvPr id="967"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Color as a stand-in for numbers</a:t>
            </a:r>
            <a:endParaRPr lang="en-US" sz="1700" b="0" u="none" strike="noStrike">
              <a:solidFill>
                <a:srgbClr val="000000"/>
              </a:solidFill>
              <a:effectLst/>
              <a:uFillTx/>
              <a:latin typeface="Arial"/>
            </a:endParaRPr>
          </a:p>
        </p:txBody>
      </p:sp>
      <p:sp>
        <p:nvSpPr>
          <p:cNvPr id="968"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A heatmap uses color intensity instead of length or position to represent values — useful whenever you have a full grid of numbers to compare at once</a:t>
            </a:r>
            <a:endParaRPr lang="en-US" sz="2000" b="0" u="none" strike="noStrike" dirty="0">
              <a:solidFill>
                <a:srgbClr val="000000"/>
              </a:solidFill>
              <a:effectLst/>
              <a:uFillTx/>
              <a:latin typeface="Cantarel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A correlation matrix is the most common heatmap you’ll build in data science — it shows how strongly every numerical variable relates to every other one, all at once</a:t>
            </a:r>
            <a:endParaRPr lang="en-US" sz="2000" b="0" u="none" strike="noStrike" dirty="0">
              <a:solidFill>
                <a:srgbClr val="000000"/>
              </a:solidFill>
              <a:effectLst/>
              <a:uFillTx/>
              <a:latin typeface="Cantarel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Use it to quickly scan for strong relationships across many variables before deciding which pairs deserve a closer look with a scatter plot</a:t>
            </a:r>
            <a:endParaRPr lang="en-US" sz="2000" b="0" u="none" strike="noStrike" dirty="0">
              <a:solidFill>
                <a:srgbClr val="000000"/>
              </a:solidFill>
              <a:effectLst/>
              <a:uFillTx/>
              <a:latin typeface="Cantarel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Avoid it when you only have two or three variables — at that point, a simple scatter plot communicates the same thing far more precisely</a:t>
            </a:r>
            <a:endParaRPr lang="en-US" sz="2000" b="0" u="none" strike="noStrike" dirty="0">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969"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970"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64</a:t>
            </a:r>
            <a:endParaRPr lang="en-US" sz="900" b="0" u="none" strike="noStrike">
              <a:solidFill>
                <a:srgbClr val="000000"/>
              </a:solidFill>
              <a:effectLst/>
              <a:uFillTx/>
              <a:latin typeface="Arial"/>
            </a:endParaRPr>
          </a:p>
        </p:txBody>
      </p:sp>
      <p:pic>
        <p:nvPicPr>
          <p:cNvPr id="971" name="Image 0" descr="/home/claude/assets/logo_crop.png"/>
          <p:cNvPicPr/>
          <p:nvPr/>
        </p:nvPicPr>
        <p:blipFill>
          <a:blip r:embed="rId3"/>
          <a:stretch/>
        </p:blipFill>
        <p:spPr>
          <a:xfrm>
            <a:off x="11201400" y="384120"/>
            <a:ext cx="456840" cy="511560"/>
          </a:xfrm>
          <a:prstGeom prst="rect">
            <a:avLst/>
          </a:prstGeom>
          <a:noFill/>
          <a:ln w="0">
            <a:noFill/>
          </a:ln>
        </p:spPr>
      </p:pic>
      <p:sp>
        <p:nvSpPr>
          <p:cNvPr id="972"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Reading a Correlation Heatmap</a:t>
            </a:r>
            <a:endParaRPr lang="en-US" sz="2600" b="0" u="none" strike="noStrike">
              <a:solidFill>
                <a:srgbClr val="000000"/>
              </a:solidFill>
              <a:effectLst/>
              <a:uFillTx/>
              <a:latin typeface="Arial"/>
            </a:endParaRPr>
          </a:p>
        </p:txBody>
      </p:sp>
      <p:sp>
        <p:nvSpPr>
          <p:cNvPr id="973" name="Text 3"/>
          <p:cNvSpPr/>
          <p:nvPr/>
        </p:nvSpPr>
        <p:spPr>
          <a:xfrm>
            <a:off x="2103120" y="1554480"/>
            <a:ext cx="12340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1B1B20"/>
                </a:solidFill>
                <a:effectLst/>
                <a:uFillTx/>
                <a:latin typeface="Bricolage Grotesque"/>
                <a:ea typeface="Bricolage Grotesque"/>
              </a:rPr>
              <a:t>Age</a:t>
            </a:r>
            <a:endParaRPr lang="en-US" sz="1400" b="0" u="none" strike="noStrike">
              <a:solidFill>
                <a:srgbClr val="000000"/>
              </a:solidFill>
              <a:effectLst/>
              <a:uFillTx/>
              <a:latin typeface="Arial"/>
            </a:endParaRPr>
          </a:p>
        </p:txBody>
      </p:sp>
      <p:sp>
        <p:nvSpPr>
          <p:cNvPr id="974" name="Text 4"/>
          <p:cNvSpPr/>
          <p:nvPr/>
        </p:nvSpPr>
        <p:spPr>
          <a:xfrm>
            <a:off x="548640" y="2011680"/>
            <a:ext cx="14626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400" b="1" u="none" strike="noStrike">
                <a:solidFill>
                  <a:srgbClr val="1B1B20"/>
                </a:solidFill>
                <a:effectLst/>
                <a:uFillTx/>
                <a:latin typeface="Bricolage Grotesque"/>
                <a:ea typeface="Bricolage Grotesque"/>
              </a:rPr>
              <a:t>Age</a:t>
            </a:r>
            <a:endParaRPr lang="en-US" sz="1400" b="0" u="none" strike="noStrike">
              <a:solidFill>
                <a:srgbClr val="000000"/>
              </a:solidFill>
              <a:effectLst/>
              <a:uFillTx/>
              <a:latin typeface="Arial"/>
            </a:endParaRPr>
          </a:p>
        </p:txBody>
      </p:sp>
      <p:sp>
        <p:nvSpPr>
          <p:cNvPr id="975" name="Text 5"/>
          <p:cNvSpPr/>
          <p:nvPr/>
        </p:nvSpPr>
        <p:spPr>
          <a:xfrm>
            <a:off x="3337560" y="1554480"/>
            <a:ext cx="12340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1B1B20"/>
                </a:solidFill>
                <a:effectLst/>
                <a:uFillTx/>
                <a:latin typeface="Bricolage Grotesque"/>
                <a:ea typeface="Bricolage Grotesque"/>
              </a:rPr>
              <a:t>Income</a:t>
            </a:r>
            <a:endParaRPr lang="en-US" sz="1400" b="0" u="none" strike="noStrike">
              <a:solidFill>
                <a:srgbClr val="000000"/>
              </a:solidFill>
              <a:effectLst/>
              <a:uFillTx/>
              <a:latin typeface="Arial"/>
            </a:endParaRPr>
          </a:p>
        </p:txBody>
      </p:sp>
      <p:sp>
        <p:nvSpPr>
          <p:cNvPr id="976" name="Text 6"/>
          <p:cNvSpPr/>
          <p:nvPr/>
        </p:nvSpPr>
        <p:spPr>
          <a:xfrm>
            <a:off x="548640" y="2834640"/>
            <a:ext cx="14626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400" b="1" u="none" strike="noStrike">
                <a:solidFill>
                  <a:srgbClr val="1B1B20"/>
                </a:solidFill>
                <a:effectLst/>
                <a:uFillTx/>
                <a:latin typeface="Bricolage Grotesque"/>
                <a:ea typeface="Bricolage Grotesque"/>
              </a:rPr>
              <a:t>Income</a:t>
            </a:r>
            <a:endParaRPr lang="en-US" sz="1400" b="0" u="none" strike="noStrike">
              <a:solidFill>
                <a:srgbClr val="000000"/>
              </a:solidFill>
              <a:effectLst/>
              <a:uFillTx/>
              <a:latin typeface="Arial"/>
            </a:endParaRPr>
          </a:p>
        </p:txBody>
      </p:sp>
      <p:sp>
        <p:nvSpPr>
          <p:cNvPr id="977" name="Text 7"/>
          <p:cNvSpPr/>
          <p:nvPr/>
        </p:nvSpPr>
        <p:spPr>
          <a:xfrm>
            <a:off x="4572000" y="1554480"/>
            <a:ext cx="12340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1B1B20"/>
                </a:solidFill>
                <a:effectLst/>
                <a:uFillTx/>
                <a:latin typeface="Bricolage Grotesque"/>
                <a:ea typeface="Bricolage Grotesque"/>
              </a:rPr>
              <a:t>Spend</a:t>
            </a:r>
            <a:endParaRPr lang="en-US" sz="1400" b="0" u="none" strike="noStrike">
              <a:solidFill>
                <a:srgbClr val="000000"/>
              </a:solidFill>
              <a:effectLst/>
              <a:uFillTx/>
              <a:latin typeface="Arial"/>
            </a:endParaRPr>
          </a:p>
        </p:txBody>
      </p:sp>
      <p:sp>
        <p:nvSpPr>
          <p:cNvPr id="978" name="Text 8"/>
          <p:cNvSpPr/>
          <p:nvPr/>
        </p:nvSpPr>
        <p:spPr>
          <a:xfrm>
            <a:off x="548640" y="3657600"/>
            <a:ext cx="14626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400" b="1" u="none" strike="noStrike">
                <a:solidFill>
                  <a:srgbClr val="1B1B20"/>
                </a:solidFill>
                <a:effectLst/>
                <a:uFillTx/>
                <a:latin typeface="Bricolage Grotesque"/>
                <a:ea typeface="Bricolage Grotesque"/>
              </a:rPr>
              <a:t>Spend</a:t>
            </a:r>
            <a:endParaRPr lang="en-US" sz="1400" b="0" u="none" strike="noStrike">
              <a:solidFill>
                <a:srgbClr val="000000"/>
              </a:solidFill>
              <a:effectLst/>
              <a:uFillTx/>
              <a:latin typeface="Arial"/>
            </a:endParaRPr>
          </a:p>
        </p:txBody>
      </p:sp>
      <p:sp>
        <p:nvSpPr>
          <p:cNvPr id="979" name="Text 9"/>
          <p:cNvSpPr/>
          <p:nvPr/>
        </p:nvSpPr>
        <p:spPr>
          <a:xfrm>
            <a:off x="5806440" y="1554480"/>
            <a:ext cx="12340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1B1B20"/>
                </a:solidFill>
                <a:effectLst/>
                <a:uFillTx/>
                <a:latin typeface="Bricolage Grotesque"/>
                <a:ea typeface="Bricolage Grotesque"/>
              </a:rPr>
              <a:t>Rating</a:t>
            </a:r>
            <a:endParaRPr lang="en-US" sz="1400" b="0" u="none" strike="noStrike">
              <a:solidFill>
                <a:srgbClr val="000000"/>
              </a:solidFill>
              <a:effectLst/>
              <a:uFillTx/>
              <a:latin typeface="Arial"/>
            </a:endParaRPr>
          </a:p>
        </p:txBody>
      </p:sp>
      <p:sp>
        <p:nvSpPr>
          <p:cNvPr id="980" name="Text 10"/>
          <p:cNvSpPr/>
          <p:nvPr/>
        </p:nvSpPr>
        <p:spPr>
          <a:xfrm>
            <a:off x="548640" y="4480560"/>
            <a:ext cx="14626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400" b="1" u="none" strike="noStrike">
                <a:solidFill>
                  <a:srgbClr val="1B1B20"/>
                </a:solidFill>
                <a:effectLst/>
                <a:uFillTx/>
                <a:latin typeface="Bricolage Grotesque"/>
                <a:ea typeface="Bricolage Grotesque"/>
              </a:rPr>
              <a:t>Rating</a:t>
            </a:r>
            <a:endParaRPr lang="en-US" sz="1400" b="0" u="none" strike="noStrike">
              <a:solidFill>
                <a:srgbClr val="000000"/>
              </a:solidFill>
              <a:effectLst/>
              <a:uFillTx/>
              <a:latin typeface="Arial"/>
            </a:endParaRPr>
          </a:p>
        </p:txBody>
      </p:sp>
      <p:sp>
        <p:nvSpPr>
          <p:cNvPr id="981" name="Shape 11"/>
          <p:cNvSpPr/>
          <p:nvPr/>
        </p:nvSpPr>
        <p:spPr>
          <a:xfrm>
            <a:off x="2130480" y="2039040"/>
            <a:ext cx="1179360" cy="767880"/>
          </a:xfrm>
          <a:prstGeom prst="rect">
            <a:avLst/>
          </a:prstGeom>
          <a:solidFill>
            <a:srgbClr val="5755A7"/>
          </a:solidFill>
          <a:ln w="12700">
            <a:solidFill>
              <a:srgbClr val="5755A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82" name="Text 12"/>
          <p:cNvSpPr/>
          <p:nvPr/>
        </p:nvSpPr>
        <p:spPr>
          <a:xfrm>
            <a:off x="2103120" y="2011680"/>
            <a:ext cx="12340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FFFFFF"/>
                </a:solidFill>
                <a:effectLst/>
                <a:uFillTx/>
                <a:latin typeface="Plus Jakarta Sans"/>
                <a:ea typeface="Plus Jakarta Sans"/>
              </a:rPr>
              <a:t>1.00</a:t>
            </a:r>
            <a:endParaRPr lang="en-US" sz="1500" b="0" u="none" strike="noStrike">
              <a:solidFill>
                <a:srgbClr val="000000"/>
              </a:solidFill>
              <a:effectLst/>
              <a:uFillTx/>
              <a:latin typeface="Arial"/>
            </a:endParaRPr>
          </a:p>
        </p:txBody>
      </p:sp>
      <p:sp>
        <p:nvSpPr>
          <p:cNvPr id="983" name="Shape 13"/>
          <p:cNvSpPr/>
          <p:nvPr/>
        </p:nvSpPr>
        <p:spPr>
          <a:xfrm>
            <a:off x="3364920" y="2039040"/>
            <a:ext cx="1179360" cy="767880"/>
          </a:xfrm>
          <a:prstGeom prst="rect">
            <a:avLst/>
          </a:prstGeom>
          <a:solidFill>
            <a:srgbClr val="5CDECD"/>
          </a:solidFill>
          <a:ln w="12700">
            <a:solidFill>
              <a:srgbClr val="5CDEC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84" name="Text 14"/>
          <p:cNvSpPr/>
          <p:nvPr/>
        </p:nvSpPr>
        <p:spPr>
          <a:xfrm>
            <a:off x="3337560" y="2011680"/>
            <a:ext cx="12340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1B1B20"/>
                </a:solidFill>
                <a:effectLst/>
                <a:uFillTx/>
                <a:latin typeface="Plus Jakarta Sans"/>
                <a:ea typeface="Plus Jakarta Sans"/>
              </a:rPr>
              <a:t>0.62</a:t>
            </a:r>
            <a:endParaRPr lang="en-US" sz="1500" b="0" u="none" strike="noStrike">
              <a:solidFill>
                <a:srgbClr val="000000"/>
              </a:solidFill>
              <a:effectLst/>
              <a:uFillTx/>
              <a:latin typeface="Arial"/>
            </a:endParaRPr>
          </a:p>
        </p:txBody>
      </p:sp>
      <p:sp>
        <p:nvSpPr>
          <p:cNvPr id="985" name="Shape 15"/>
          <p:cNvSpPr/>
          <p:nvPr/>
        </p:nvSpPr>
        <p:spPr>
          <a:xfrm>
            <a:off x="4599360" y="2039040"/>
            <a:ext cx="1179360" cy="767880"/>
          </a:xfrm>
          <a:prstGeom prst="rect">
            <a:avLst/>
          </a:prstGeom>
          <a:solidFill>
            <a:srgbClr val="FBBAC5"/>
          </a:solidFill>
          <a:ln w="12700">
            <a:solidFill>
              <a:srgbClr val="FBBAC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86" name="Text 16"/>
          <p:cNvSpPr/>
          <p:nvPr/>
        </p:nvSpPr>
        <p:spPr>
          <a:xfrm>
            <a:off x="4572000" y="2011680"/>
            <a:ext cx="12340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1B1B20"/>
                </a:solidFill>
                <a:effectLst/>
                <a:uFillTx/>
                <a:latin typeface="Plus Jakarta Sans"/>
                <a:ea typeface="Plus Jakarta Sans"/>
              </a:rPr>
              <a:t>-0.18</a:t>
            </a:r>
            <a:endParaRPr lang="en-US" sz="1500" b="0" u="none" strike="noStrike">
              <a:solidFill>
                <a:srgbClr val="000000"/>
              </a:solidFill>
              <a:effectLst/>
              <a:uFillTx/>
              <a:latin typeface="Arial"/>
            </a:endParaRPr>
          </a:p>
        </p:txBody>
      </p:sp>
      <p:sp>
        <p:nvSpPr>
          <p:cNvPr id="987" name="Shape 17"/>
          <p:cNvSpPr/>
          <p:nvPr/>
        </p:nvSpPr>
        <p:spPr>
          <a:xfrm>
            <a:off x="5833800" y="2039040"/>
            <a:ext cx="1179360" cy="767880"/>
          </a:xfrm>
          <a:prstGeom prst="rect">
            <a:avLst/>
          </a:prstGeom>
          <a:solidFill>
            <a:srgbClr val="F2FCFB"/>
          </a:solidFill>
          <a:ln w="12700">
            <a:solidFill>
              <a:srgbClr val="F2FCF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88" name="Text 18"/>
          <p:cNvSpPr/>
          <p:nvPr/>
        </p:nvSpPr>
        <p:spPr>
          <a:xfrm>
            <a:off x="5806440" y="2011680"/>
            <a:ext cx="12340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1B1B20"/>
                </a:solidFill>
                <a:effectLst/>
                <a:uFillTx/>
                <a:latin typeface="Plus Jakarta Sans"/>
                <a:ea typeface="Plus Jakarta Sans"/>
              </a:rPr>
              <a:t>0.05</a:t>
            </a:r>
            <a:endParaRPr lang="en-US" sz="1500" b="0" u="none" strike="noStrike">
              <a:solidFill>
                <a:srgbClr val="000000"/>
              </a:solidFill>
              <a:effectLst/>
              <a:uFillTx/>
              <a:latin typeface="Arial"/>
            </a:endParaRPr>
          </a:p>
        </p:txBody>
      </p:sp>
      <p:sp>
        <p:nvSpPr>
          <p:cNvPr id="989" name="Shape 19"/>
          <p:cNvSpPr/>
          <p:nvPr/>
        </p:nvSpPr>
        <p:spPr>
          <a:xfrm>
            <a:off x="2130480" y="2862000"/>
            <a:ext cx="1179360" cy="767880"/>
          </a:xfrm>
          <a:prstGeom prst="rect">
            <a:avLst/>
          </a:prstGeom>
          <a:solidFill>
            <a:srgbClr val="5CDECD"/>
          </a:solidFill>
          <a:ln w="12700">
            <a:solidFill>
              <a:srgbClr val="5CDEC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90" name="Text 20"/>
          <p:cNvSpPr/>
          <p:nvPr/>
        </p:nvSpPr>
        <p:spPr>
          <a:xfrm>
            <a:off x="2103120" y="2834640"/>
            <a:ext cx="12340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1B1B20"/>
                </a:solidFill>
                <a:effectLst/>
                <a:uFillTx/>
                <a:latin typeface="Plus Jakarta Sans"/>
                <a:ea typeface="Plus Jakarta Sans"/>
              </a:rPr>
              <a:t>0.62</a:t>
            </a:r>
            <a:endParaRPr lang="en-US" sz="1500" b="0" u="none" strike="noStrike">
              <a:solidFill>
                <a:srgbClr val="000000"/>
              </a:solidFill>
              <a:effectLst/>
              <a:uFillTx/>
              <a:latin typeface="Arial"/>
            </a:endParaRPr>
          </a:p>
        </p:txBody>
      </p:sp>
      <p:sp>
        <p:nvSpPr>
          <p:cNvPr id="991" name="Shape 21"/>
          <p:cNvSpPr/>
          <p:nvPr/>
        </p:nvSpPr>
        <p:spPr>
          <a:xfrm>
            <a:off x="3364920" y="2862000"/>
            <a:ext cx="1179360" cy="767880"/>
          </a:xfrm>
          <a:prstGeom prst="rect">
            <a:avLst/>
          </a:prstGeom>
          <a:solidFill>
            <a:srgbClr val="5755A7"/>
          </a:solidFill>
          <a:ln w="12700">
            <a:solidFill>
              <a:srgbClr val="5755A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92" name="Text 22"/>
          <p:cNvSpPr/>
          <p:nvPr/>
        </p:nvSpPr>
        <p:spPr>
          <a:xfrm>
            <a:off x="3337560" y="2834640"/>
            <a:ext cx="12340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FFFFFF"/>
                </a:solidFill>
                <a:effectLst/>
                <a:uFillTx/>
                <a:latin typeface="Plus Jakarta Sans"/>
                <a:ea typeface="Plus Jakarta Sans"/>
              </a:rPr>
              <a:t>1.00</a:t>
            </a:r>
            <a:endParaRPr lang="en-US" sz="1500" b="0" u="none" strike="noStrike">
              <a:solidFill>
                <a:srgbClr val="000000"/>
              </a:solidFill>
              <a:effectLst/>
              <a:uFillTx/>
              <a:latin typeface="Arial"/>
            </a:endParaRPr>
          </a:p>
        </p:txBody>
      </p:sp>
      <p:sp>
        <p:nvSpPr>
          <p:cNvPr id="993" name="Shape 23"/>
          <p:cNvSpPr/>
          <p:nvPr/>
        </p:nvSpPr>
        <p:spPr>
          <a:xfrm>
            <a:off x="4599360" y="2862000"/>
            <a:ext cx="1179360" cy="767880"/>
          </a:xfrm>
          <a:prstGeom prst="rect">
            <a:avLst/>
          </a:prstGeom>
          <a:solidFill>
            <a:srgbClr val="45D9C6"/>
          </a:solidFill>
          <a:ln w="12700">
            <a:solidFill>
              <a:srgbClr val="45D9C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94" name="Text 24"/>
          <p:cNvSpPr/>
          <p:nvPr/>
        </p:nvSpPr>
        <p:spPr>
          <a:xfrm>
            <a:off x="4572000" y="2834640"/>
            <a:ext cx="12340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1B1B20"/>
                </a:solidFill>
                <a:effectLst/>
                <a:uFillTx/>
                <a:latin typeface="Plus Jakarta Sans"/>
                <a:ea typeface="Plus Jakarta Sans"/>
              </a:rPr>
              <a:t>0.71</a:t>
            </a:r>
            <a:endParaRPr lang="en-US" sz="1500" b="0" u="none" strike="noStrike">
              <a:solidFill>
                <a:srgbClr val="000000"/>
              </a:solidFill>
              <a:effectLst/>
              <a:uFillTx/>
              <a:latin typeface="Arial"/>
            </a:endParaRPr>
          </a:p>
        </p:txBody>
      </p:sp>
      <p:sp>
        <p:nvSpPr>
          <p:cNvPr id="995" name="Shape 25"/>
          <p:cNvSpPr/>
          <p:nvPr/>
        </p:nvSpPr>
        <p:spPr>
          <a:xfrm>
            <a:off x="5833800" y="2862000"/>
            <a:ext cx="1179360" cy="767880"/>
          </a:xfrm>
          <a:prstGeom prst="rect">
            <a:avLst/>
          </a:prstGeom>
          <a:solidFill>
            <a:srgbClr val="FDD9DF"/>
          </a:solidFill>
          <a:ln w="12700">
            <a:solidFill>
              <a:srgbClr val="FDD9D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96" name="Text 26"/>
          <p:cNvSpPr/>
          <p:nvPr/>
        </p:nvSpPr>
        <p:spPr>
          <a:xfrm>
            <a:off x="5806440" y="2834640"/>
            <a:ext cx="12340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1B1B20"/>
                </a:solidFill>
                <a:effectLst/>
                <a:uFillTx/>
                <a:latin typeface="Plus Jakarta Sans"/>
                <a:ea typeface="Plus Jakarta Sans"/>
              </a:rPr>
              <a:t>-0.10</a:t>
            </a:r>
            <a:endParaRPr lang="en-US" sz="1500" b="0" u="none" strike="noStrike">
              <a:solidFill>
                <a:srgbClr val="000000"/>
              </a:solidFill>
              <a:effectLst/>
              <a:uFillTx/>
              <a:latin typeface="Arial"/>
            </a:endParaRPr>
          </a:p>
        </p:txBody>
      </p:sp>
      <p:sp>
        <p:nvSpPr>
          <p:cNvPr id="997" name="Shape 27"/>
          <p:cNvSpPr/>
          <p:nvPr/>
        </p:nvSpPr>
        <p:spPr>
          <a:xfrm>
            <a:off x="2130480" y="3684960"/>
            <a:ext cx="1179360" cy="767880"/>
          </a:xfrm>
          <a:prstGeom prst="rect">
            <a:avLst/>
          </a:prstGeom>
          <a:solidFill>
            <a:srgbClr val="FBBAC5"/>
          </a:solidFill>
          <a:ln w="12700">
            <a:solidFill>
              <a:srgbClr val="FBBAC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98" name="Text 28"/>
          <p:cNvSpPr/>
          <p:nvPr/>
        </p:nvSpPr>
        <p:spPr>
          <a:xfrm>
            <a:off x="2103120" y="3657600"/>
            <a:ext cx="12340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1B1B20"/>
                </a:solidFill>
                <a:effectLst/>
                <a:uFillTx/>
                <a:latin typeface="Plus Jakarta Sans"/>
                <a:ea typeface="Plus Jakarta Sans"/>
              </a:rPr>
              <a:t>-0.18</a:t>
            </a:r>
            <a:endParaRPr lang="en-US" sz="1500" b="0" u="none" strike="noStrike">
              <a:solidFill>
                <a:srgbClr val="000000"/>
              </a:solidFill>
              <a:effectLst/>
              <a:uFillTx/>
              <a:latin typeface="Arial"/>
            </a:endParaRPr>
          </a:p>
        </p:txBody>
      </p:sp>
      <p:sp>
        <p:nvSpPr>
          <p:cNvPr id="999" name="Shape 29"/>
          <p:cNvSpPr/>
          <p:nvPr/>
        </p:nvSpPr>
        <p:spPr>
          <a:xfrm>
            <a:off x="3364920" y="3684960"/>
            <a:ext cx="1179360" cy="767880"/>
          </a:xfrm>
          <a:prstGeom prst="rect">
            <a:avLst/>
          </a:prstGeom>
          <a:solidFill>
            <a:srgbClr val="45D9C6"/>
          </a:solidFill>
          <a:ln w="12700">
            <a:solidFill>
              <a:srgbClr val="45D9C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00" name="Text 30"/>
          <p:cNvSpPr/>
          <p:nvPr/>
        </p:nvSpPr>
        <p:spPr>
          <a:xfrm>
            <a:off x="3337560" y="3657600"/>
            <a:ext cx="12340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1B1B20"/>
                </a:solidFill>
                <a:effectLst/>
                <a:uFillTx/>
                <a:latin typeface="Plus Jakarta Sans"/>
                <a:ea typeface="Plus Jakarta Sans"/>
              </a:rPr>
              <a:t>0.71</a:t>
            </a:r>
            <a:endParaRPr lang="en-US" sz="1500" b="0" u="none" strike="noStrike">
              <a:solidFill>
                <a:srgbClr val="000000"/>
              </a:solidFill>
              <a:effectLst/>
              <a:uFillTx/>
              <a:latin typeface="Arial"/>
            </a:endParaRPr>
          </a:p>
        </p:txBody>
      </p:sp>
      <p:sp>
        <p:nvSpPr>
          <p:cNvPr id="1001" name="Shape 31"/>
          <p:cNvSpPr/>
          <p:nvPr/>
        </p:nvSpPr>
        <p:spPr>
          <a:xfrm>
            <a:off x="4599360" y="3684960"/>
            <a:ext cx="1179360" cy="767880"/>
          </a:xfrm>
          <a:prstGeom prst="rect">
            <a:avLst/>
          </a:prstGeom>
          <a:solidFill>
            <a:srgbClr val="5755A7"/>
          </a:solidFill>
          <a:ln w="12700">
            <a:solidFill>
              <a:srgbClr val="5755A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02" name="Text 32"/>
          <p:cNvSpPr/>
          <p:nvPr/>
        </p:nvSpPr>
        <p:spPr>
          <a:xfrm>
            <a:off x="4572000" y="3657600"/>
            <a:ext cx="12340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FFFFFF"/>
                </a:solidFill>
                <a:effectLst/>
                <a:uFillTx/>
                <a:latin typeface="Plus Jakarta Sans"/>
                <a:ea typeface="Plus Jakarta Sans"/>
              </a:rPr>
              <a:t>1.00</a:t>
            </a:r>
            <a:endParaRPr lang="en-US" sz="1500" b="0" u="none" strike="noStrike">
              <a:solidFill>
                <a:srgbClr val="000000"/>
              </a:solidFill>
              <a:effectLst/>
              <a:uFillTx/>
              <a:latin typeface="Arial"/>
            </a:endParaRPr>
          </a:p>
        </p:txBody>
      </p:sp>
      <p:sp>
        <p:nvSpPr>
          <p:cNvPr id="1003" name="Shape 33"/>
          <p:cNvSpPr/>
          <p:nvPr/>
        </p:nvSpPr>
        <p:spPr>
          <a:xfrm>
            <a:off x="5833800" y="3684960"/>
            <a:ext cx="1179360" cy="767880"/>
          </a:xfrm>
          <a:prstGeom prst="rect">
            <a:avLst/>
          </a:prstGeom>
          <a:solidFill>
            <a:srgbClr val="A6EDE4"/>
          </a:solidFill>
          <a:ln w="12700">
            <a:solidFill>
              <a:srgbClr val="A6EDE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04" name="Text 34"/>
          <p:cNvSpPr/>
          <p:nvPr/>
        </p:nvSpPr>
        <p:spPr>
          <a:xfrm>
            <a:off x="5806440" y="3657600"/>
            <a:ext cx="12340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1B1B20"/>
                </a:solidFill>
                <a:effectLst/>
                <a:uFillTx/>
                <a:latin typeface="Plus Jakarta Sans"/>
                <a:ea typeface="Plus Jakarta Sans"/>
              </a:rPr>
              <a:t>0.34</a:t>
            </a:r>
            <a:endParaRPr lang="en-US" sz="1500" b="0" u="none" strike="noStrike">
              <a:solidFill>
                <a:srgbClr val="000000"/>
              </a:solidFill>
              <a:effectLst/>
              <a:uFillTx/>
              <a:latin typeface="Arial"/>
            </a:endParaRPr>
          </a:p>
        </p:txBody>
      </p:sp>
      <p:sp>
        <p:nvSpPr>
          <p:cNvPr id="1005" name="Shape 35"/>
          <p:cNvSpPr/>
          <p:nvPr/>
        </p:nvSpPr>
        <p:spPr>
          <a:xfrm>
            <a:off x="2130480" y="4507920"/>
            <a:ext cx="1179360" cy="767880"/>
          </a:xfrm>
          <a:prstGeom prst="rect">
            <a:avLst/>
          </a:prstGeom>
          <a:solidFill>
            <a:srgbClr val="F2FCFB"/>
          </a:solidFill>
          <a:ln w="12700">
            <a:solidFill>
              <a:srgbClr val="F2FCF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06" name="Text 36"/>
          <p:cNvSpPr/>
          <p:nvPr/>
        </p:nvSpPr>
        <p:spPr>
          <a:xfrm>
            <a:off x="2103120" y="4480560"/>
            <a:ext cx="12340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1B1B20"/>
                </a:solidFill>
                <a:effectLst/>
                <a:uFillTx/>
                <a:latin typeface="Plus Jakarta Sans"/>
                <a:ea typeface="Plus Jakarta Sans"/>
              </a:rPr>
              <a:t>0.05</a:t>
            </a:r>
            <a:endParaRPr lang="en-US" sz="1500" b="0" u="none" strike="noStrike">
              <a:solidFill>
                <a:srgbClr val="000000"/>
              </a:solidFill>
              <a:effectLst/>
              <a:uFillTx/>
              <a:latin typeface="Arial"/>
            </a:endParaRPr>
          </a:p>
        </p:txBody>
      </p:sp>
      <p:sp>
        <p:nvSpPr>
          <p:cNvPr id="1007" name="Shape 37"/>
          <p:cNvSpPr/>
          <p:nvPr/>
        </p:nvSpPr>
        <p:spPr>
          <a:xfrm>
            <a:off x="3364920" y="4507920"/>
            <a:ext cx="1179360" cy="767880"/>
          </a:xfrm>
          <a:prstGeom prst="rect">
            <a:avLst/>
          </a:prstGeom>
          <a:solidFill>
            <a:srgbClr val="FDD9DF"/>
          </a:solidFill>
          <a:ln w="12700">
            <a:solidFill>
              <a:srgbClr val="FDD9D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08" name="Text 38"/>
          <p:cNvSpPr/>
          <p:nvPr/>
        </p:nvSpPr>
        <p:spPr>
          <a:xfrm>
            <a:off x="3337560" y="4480560"/>
            <a:ext cx="12340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1B1B20"/>
                </a:solidFill>
                <a:effectLst/>
                <a:uFillTx/>
                <a:latin typeface="Plus Jakarta Sans"/>
                <a:ea typeface="Plus Jakarta Sans"/>
              </a:rPr>
              <a:t>-0.10</a:t>
            </a:r>
            <a:endParaRPr lang="en-US" sz="1500" b="0" u="none" strike="noStrike">
              <a:solidFill>
                <a:srgbClr val="000000"/>
              </a:solidFill>
              <a:effectLst/>
              <a:uFillTx/>
              <a:latin typeface="Arial"/>
            </a:endParaRPr>
          </a:p>
        </p:txBody>
      </p:sp>
      <p:sp>
        <p:nvSpPr>
          <p:cNvPr id="1009" name="Shape 39"/>
          <p:cNvSpPr/>
          <p:nvPr/>
        </p:nvSpPr>
        <p:spPr>
          <a:xfrm>
            <a:off x="4599360" y="4507920"/>
            <a:ext cx="1179360" cy="767880"/>
          </a:xfrm>
          <a:prstGeom prst="rect">
            <a:avLst/>
          </a:prstGeom>
          <a:solidFill>
            <a:srgbClr val="A6EDE4"/>
          </a:solidFill>
          <a:ln w="12700">
            <a:solidFill>
              <a:srgbClr val="A6EDE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10" name="Text 40"/>
          <p:cNvSpPr/>
          <p:nvPr/>
        </p:nvSpPr>
        <p:spPr>
          <a:xfrm>
            <a:off x="4572000" y="4480560"/>
            <a:ext cx="12340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1B1B20"/>
                </a:solidFill>
                <a:effectLst/>
                <a:uFillTx/>
                <a:latin typeface="Plus Jakarta Sans"/>
                <a:ea typeface="Plus Jakarta Sans"/>
              </a:rPr>
              <a:t>0.34</a:t>
            </a:r>
            <a:endParaRPr lang="en-US" sz="1500" b="0" u="none" strike="noStrike">
              <a:solidFill>
                <a:srgbClr val="000000"/>
              </a:solidFill>
              <a:effectLst/>
              <a:uFillTx/>
              <a:latin typeface="Arial"/>
            </a:endParaRPr>
          </a:p>
        </p:txBody>
      </p:sp>
      <p:sp>
        <p:nvSpPr>
          <p:cNvPr id="1011" name="Shape 41"/>
          <p:cNvSpPr/>
          <p:nvPr/>
        </p:nvSpPr>
        <p:spPr>
          <a:xfrm>
            <a:off x="5833800" y="4507920"/>
            <a:ext cx="1179360" cy="767880"/>
          </a:xfrm>
          <a:prstGeom prst="rect">
            <a:avLst/>
          </a:prstGeom>
          <a:solidFill>
            <a:srgbClr val="5755A7"/>
          </a:solidFill>
          <a:ln w="12700">
            <a:solidFill>
              <a:srgbClr val="5755A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12" name="Text 42"/>
          <p:cNvSpPr/>
          <p:nvPr/>
        </p:nvSpPr>
        <p:spPr>
          <a:xfrm>
            <a:off x="5806440" y="4480560"/>
            <a:ext cx="12340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FFFFFF"/>
                </a:solidFill>
                <a:effectLst/>
                <a:uFillTx/>
                <a:latin typeface="Plus Jakarta Sans"/>
                <a:ea typeface="Plus Jakarta Sans"/>
              </a:rPr>
              <a:t>1.00</a:t>
            </a:r>
            <a:endParaRPr lang="en-US" sz="1500" b="0" u="none" strike="noStrike">
              <a:solidFill>
                <a:srgbClr val="000000"/>
              </a:solidFill>
              <a:effectLst/>
              <a:uFillTx/>
              <a:latin typeface="Arial"/>
            </a:endParaRPr>
          </a:p>
        </p:txBody>
      </p:sp>
      <p:sp>
        <p:nvSpPr>
          <p:cNvPr id="1013" name="Shape 43"/>
          <p:cNvSpPr/>
          <p:nvPr/>
        </p:nvSpPr>
        <p:spPr>
          <a:xfrm>
            <a:off x="7589520" y="1554480"/>
            <a:ext cx="4068720" cy="868320"/>
          </a:xfrm>
          <a:prstGeom prst="roundRect">
            <a:avLst>
              <a:gd name="adj" fmla="val 10526"/>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14" name="Shape 44"/>
          <p:cNvSpPr/>
          <p:nvPr/>
        </p:nvSpPr>
        <p:spPr>
          <a:xfrm>
            <a:off x="7772400" y="1847160"/>
            <a:ext cx="273960" cy="27396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15" name="Text 45"/>
          <p:cNvSpPr/>
          <p:nvPr/>
        </p:nvSpPr>
        <p:spPr>
          <a:xfrm>
            <a:off x="8229600" y="1554480"/>
            <a:ext cx="329148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Near −1: strong negative</a:t>
            </a:r>
            <a:endParaRPr lang="en-US" sz="1300" b="0" u="none" strike="noStrike">
              <a:solidFill>
                <a:srgbClr val="000000"/>
              </a:solidFill>
              <a:effectLst/>
              <a:uFillTx/>
              <a:latin typeface="Arial"/>
            </a:endParaRPr>
          </a:p>
        </p:txBody>
      </p:sp>
      <p:sp>
        <p:nvSpPr>
          <p:cNvPr id="1016" name="Shape 46"/>
          <p:cNvSpPr/>
          <p:nvPr/>
        </p:nvSpPr>
        <p:spPr>
          <a:xfrm>
            <a:off x="7589520" y="2560320"/>
            <a:ext cx="4068720" cy="868320"/>
          </a:xfrm>
          <a:prstGeom prst="roundRect">
            <a:avLst>
              <a:gd name="adj" fmla="val 10526"/>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17" name="Shape 47"/>
          <p:cNvSpPr/>
          <p:nvPr/>
        </p:nvSpPr>
        <p:spPr>
          <a:xfrm>
            <a:off x="7772400" y="2853000"/>
            <a:ext cx="273960" cy="273960"/>
          </a:xfrm>
          <a:prstGeom prst="ellipse">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18" name="Text 48"/>
          <p:cNvSpPr/>
          <p:nvPr/>
        </p:nvSpPr>
        <p:spPr>
          <a:xfrm>
            <a:off x="8229600" y="2560320"/>
            <a:ext cx="329148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Near 0: little to no relationship</a:t>
            </a:r>
            <a:endParaRPr lang="en-US" sz="1300" b="0" u="none" strike="noStrike">
              <a:solidFill>
                <a:srgbClr val="000000"/>
              </a:solidFill>
              <a:effectLst/>
              <a:uFillTx/>
              <a:latin typeface="Arial"/>
            </a:endParaRPr>
          </a:p>
        </p:txBody>
      </p:sp>
      <p:sp>
        <p:nvSpPr>
          <p:cNvPr id="1019" name="Shape 49"/>
          <p:cNvSpPr/>
          <p:nvPr/>
        </p:nvSpPr>
        <p:spPr>
          <a:xfrm>
            <a:off x="7589520" y="3566160"/>
            <a:ext cx="4068720" cy="868320"/>
          </a:xfrm>
          <a:prstGeom prst="roundRect">
            <a:avLst>
              <a:gd name="adj" fmla="val 10526"/>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20" name="Shape 50"/>
          <p:cNvSpPr/>
          <p:nvPr/>
        </p:nvSpPr>
        <p:spPr>
          <a:xfrm>
            <a:off x="7772400" y="3858840"/>
            <a:ext cx="273960" cy="27396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21" name="Text 51"/>
          <p:cNvSpPr/>
          <p:nvPr/>
        </p:nvSpPr>
        <p:spPr>
          <a:xfrm>
            <a:off x="8229600" y="3566160"/>
            <a:ext cx="329148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Near +1: strong positive</a:t>
            </a:r>
            <a:endParaRPr lang="en-US" sz="1300" b="0" u="none" strike="noStrike">
              <a:solidFill>
                <a:srgbClr val="000000"/>
              </a:solidFill>
              <a:effectLst/>
              <a:uFillTx/>
              <a:latin typeface="Arial"/>
            </a:endParaRPr>
          </a:p>
        </p:txBody>
      </p:sp>
      <p:sp>
        <p:nvSpPr>
          <p:cNvPr id="1022" name="Shape 52"/>
          <p:cNvSpPr/>
          <p:nvPr/>
        </p:nvSpPr>
        <p:spPr>
          <a:xfrm>
            <a:off x="7589520" y="4572000"/>
            <a:ext cx="4068720" cy="868320"/>
          </a:xfrm>
          <a:prstGeom prst="roundRect">
            <a:avLst>
              <a:gd name="adj" fmla="val 10526"/>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23" name="Shape 53"/>
          <p:cNvSpPr/>
          <p:nvPr/>
        </p:nvSpPr>
        <p:spPr>
          <a:xfrm>
            <a:off x="7772400" y="4864680"/>
            <a:ext cx="273960" cy="273960"/>
          </a:xfrm>
          <a:prstGeom prst="ellipse">
            <a:avLst/>
          </a:prstGeom>
          <a:solidFill>
            <a:srgbClr val="5755A7"/>
          </a:solidFill>
          <a:ln w="12700">
            <a:solidFill>
              <a:srgbClr val="5755A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24" name="Text 54"/>
          <p:cNvSpPr/>
          <p:nvPr/>
        </p:nvSpPr>
        <p:spPr>
          <a:xfrm>
            <a:off x="8229600" y="4572000"/>
            <a:ext cx="329148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1.00: a variable with itself</a:t>
            </a:r>
            <a:endParaRPr lang="en-US" sz="13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025"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026"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65</a:t>
            </a:r>
            <a:endParaRPr lang="en-US" sz="900" b="0" u="none" strike="noStrike">
              <a:solidFill>
                <a:srgbClr val="000000"/>
              </a:solidFill>
              <a:effectLst/>
              <a:uFillTx/>
              <a:latin typeface="Arial"/>
            </a:endParaRPr>
          </a:p>
        </p:txBody>
      </p:sp>
      <p:pic>
        <p:nvPicPr>
          <p:cNvPr id="1027" name="Image 0" descr="/home/claude/assets/logo_crop.png"/>
          <p:cNvPicPr/>
          <p:nvPr/>
        </p:nvPicPr>
        <p:blipFill>
          <a:blip r:embed="rId3"/>
          <a:stretch/>
        </p:blipFill>
        <p:spPr>
          <a:xfrm>
            <a:off x="11201400" y="384120"/>
            <a:ext cx="456840" cy="511560"/>
          </a:xfrm>
          <a:prstGeom prst="rect">
            <a:avLst/>
          </a:prstGeom>
          <a:noFill/>
          <a:ln w="0">
            <a:noFill/>
          </a:ln>
        </p:spPr>
      </p:pic>
      <p:sp>
        <p:nvSpPr>
          <p:cNvPr id="1028"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A Correlation Matrix in One Line</a:t>
            </a:r>
            <a:endParaRPr lang="en-US" sz="2600" b="0" u="none" strike="noStrike">
              <a:solidFill>
                <a:srgbClr val="000000"/>
              </a:solidFill>
              <a:effectLst/>
              <a:uFillTx/>
              <a:latin typeface="Arial"/>
            </a:endParaRPr>
          </a:p>
        </p:txBody>
      </p:sp>
      <p:sp>
        <p:nvSpPr>
          <p:cNvPr id="1029"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400"/>
              </a:spcAft>
              <a:buClr>
                <a:srgbClr val="1B1B20"/>
              </a:buClr>
              <a:buFont typeface="Arial"/>
              <a:buChar char="•"/>
            </a:pPr>
            <a:r>
              <a:rPr lang="en-US" sz="2200" b="0" u="none" strike="noStrike" dirty="0" err="1">
                <a:solidFill>
                  <a:srgbClr val="1B1B20"/>
                </a:solidFill>
                <a:effectLst/>
                <a:uFillTx/>
                <a:latin typeface="Hanken Grotesk"/>
                <a:ea typeface="Hanken Grotesk"/>
              </a:rPr>
              <a:t>df.corr</a:t>
            </a:r>
            <a:r>
              <a:rPr lang="en-US" sz="2200" b="0" u="none" strike="noStrike" dirty="0">
                <a:solidFill>
                  <a:srgbClr val="1B1B20"/>
                </a:solidFill>
                <a:effectLst/>
                <a:uFillTx/>
                <a:latin typeface="Hanken Grotesk"/>
                <a:ea typeface="Hanken Grotesk"/>
              </a:rPr>
              <a:t>() builds the whole matrix a heatmap displays.</a:t>
            </a:r>
            <a:endParaRPr lang="en-US" sz="2200" b="0" u="none" strike="noStrike" dirty="0">
              <a:solidFill>
                <a:srgbClr val="000000"/>
              </a:solidFill>
              <a:effectLst/>
              <a:uFillTx/>
              <a:latin typeface="Arial"/>
              <a:cs typeface="Arial"/>
            </a:endParaRPr>
          </a:p>
          <a:p>
            <a:pPr marL="342900" indent="-342900" defTabSz="914400">
              <a:lnSpc>
                <a:spcPct val="100000"/>
              </a:lnSpc>
              <a:spcAft>
                <a:spcPts val="1400"/>
              </a:spcAft>
              <a:buClr>
                <a:srgbClr val="1B1B20"/>
              </a:buClr>
              <a:buFont typeface="Arial"/>
              <a:buChar char="•"/>
            </a:pPr>
            <a:r>
              <a:rPr lang="en-US" sz="2200" b="0" u="none" strike="noStrike" dirty="0">
                <a:solidFill>
                  <a:srgbClr val="1B1B20"/>
                </a:solidFill>
                <a:effectLst/>
                <a:uFillTx/>
                <a:latin typeface="Hanken Grotesk"/>
                <a:ea typeface="Hanken Grotesk"/>
              </a:rPr>
              <a:t>Each value sits between −1 and +1; the diagonal is always 1.</a:t>
            </a:r>
            <a:endParaRPr lang="en-US" sz="2200" b="0" u="none" strike="noStrike" dirty="0">
              <a:solidFill>
                <a:srgbClr val="000000"/>
              </a:solidFill>
              <a:effectLst/>
              <a:uFillTx/>
              <a:latin typeface="Arial"/>
              <a:cs typeface="Arial"/>
            </a:endParaRPr>
          </a:p>
          <a:p>
            <a:pPr marL="342900" indent="-342900" defTabSz="914400">
              <a:lnSpc>
                <a:spcPct val="100000"/>
              </a:lnSpc>
              <a:spcAft>
                <a:spcPts val="1400"/>
              </a:spcAft>
              <a:buClr>
                <a:srgbClr val="1B1B20"/>
              </a:buClr>
              <a:buFont typeface="Arial"/>
              <a:buChar char="•"/>
            </a:pPr>
            <a:r>
              <a:rPr lang="en-US" sz="2200" b="0" u="none" strike="noStrike" dirty="0">
                <a:solidFill>
                  <a:srgbClr val="1B1B20"/>
                </a:solidFill>
                <a:effectLst/>
                <a:uFillTx/>
                <a:latin typeface="Hanken Grotesk"/>
                <a:ea typeface="Hanken Grotesk"/>
              </a:rPr>
              <a:t>Correlation is covered properly in Descriptive Statistics II.</a:t>
            </a:r>
            <a:endParaRPr lang="en-US" sz="2200" b="0" u="none" strike="noStrike" dirty="0">
              <a:solidFill>
                <a:srgbClr val="000000"/>
              </a:solidFill>
              <a:effectLst/>
              <a:uFillTx/>
              <a:latin typeface="Arial"/>
              <a:cs typeface="Arial"/>
            </a:endParaRPr>
          </a:p>
        </p:txBody>
      </p:sp>
      <p:sp>
        <p:nvSpPr>
          <p:cNvPr id="1030"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31"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032"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033"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034"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300" b="0" u="none" strike="noStrike">
                <a:solidFill>
                  <a:srgbClr val="F1F5F9"/>
                </a:solidFill>
                <a:effectLst/>
                <a:uFillTx/>
                <a:latin typeface="Cantarell"/>
                <a:ea typeface="Consolas"/>
              </a:rPr>
              <a:t>import pandas as pd</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df = pd.DataFrame({</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"hours": [1, 2, 3, 4, 5],</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"score": [52, 60, 58, 71, 75],</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"sleep": [8, 7, 7, 6, 6],</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r1 = df["hours"].corr(df["score"])</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print(round(r1, 2))               </a:t>
            </a:r>
            <a:r>
              <a:rPr lang="en-US" sz="1300" b="0" i="1" u="none" strike="noStrike">
                <a:solidFill>
                  <a:srgbClr val="94A3B8"/>
                </a:solidFill>
                <a:effectLst/>
                <a:uFillTx/>
                <a:latin typeface="Cantarell"/>
                <a:ea typeface="Consolas"/>
              </a:rPr>
              <a:t># 0.95</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r2 = df["hours"].corr(df["sleep"])</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print(round(r2, 2))               </a:t>
            </a:r>
            <a:r>
              <a:rPr lang="en-US" sz="1300" b="0" i="1" u="none" strike="noStrike">
                <a:solidFill>
                  <a:srgbClr val="94A3B8"/>
                </a:solidFill>
                <a:effectLst/>
                <a:uFillTx/>
                <a:latin typeface="Cantarell"/>
                <a:ea typeface="Consolas"/>
              </a:rPr>
              <a:t># -0.94</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print(df.corr().shape)            </a:t>
            </a:r>
            <a:r>
              <a:rPr lang="en-US" sz="1300" b="0" i="1" u="none" strike="noStrike">
                <a:solidFill>
                  <a:srgbClr val="94A3B8"/>
                </a:solidFill>
                <a:effectLst/>
                <a:uFillTx/>
                <a:latin typeface="Cantarell"/>
                <a:ea typeface="Consolas"/>
              </a:rPr>
              <a:t># (3, 3)</a:t>
            </a:r>
            <a:endParaRPr lang="en-US" sz="13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035"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036"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66</a:t>
            </a:r>
            <a:endParaRPr lang="en-US" sz="900" b="0" u="none" strike="noStrike">
              <a:solidFill>
                <a:srgbClr val="000000"/>
              </a:solidFill>
              <a:effectLst/>
              <a:uFillTx/>
              <a:latin typeface="Arial"/>
            </a:endParaRPr>
          </a:p>
        </p:txBody>
      </p:sp>
      <p:pic>
        <p:nvPicPr>
          <p:cNvPr id="1037" name="Image 0" descr="/home/claude/assets/logo_crop.png"/>
          <p:cNvPicPr/>
          <p:nvPr/>
        </p:nvPicPr>
        <p:blipFill>
          <a:blip r:embed="rId2"/>
          <a:stretch/>
        </p:blipFill>
        <p:spPr>
          <a:xfrm>
            <a:off x="11201400" y="384120"/>
            <a:ext cx="456840" cy="511560"/>
          </a:xfrm>
          <a:prstGeom prst="rect">
            <a:avLst/>
          </a:prstGeom>
          <a:noFill/>
          <a:ln w="0">
            <a:noFill/>
          </a:ln>
        </p:spPr>
      </p:pic>
      <p:sp>
        <p:nvSpPr>
          <p:cNvPr id="1038"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Heatmap in Code</a:t>
            </a:r>
            <a:endParaRPr lang="en-US" sz="2600" b="0" u="none" strike="noStrike">
              <a:solidFill>
                <a:srgbClr val="000000"/>
              </a:solidFill>
              <a:effectLst/>
              <a:uFillTx/>
              <a:latin typeface="Arial"/>
            </a:endParaRPr>
          </a:p>
        </p:txBody>
      </p:sp>
      <p:sp>
        <p:nvSpPr>
          <p:cNvPr id="1039"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457200" indent="-457200" defTabSz="914400">
              <a:lnSpc>
                <a:spcPct val="100000"/>
              </a:lnSpc>
              <a:spcAft>
                <a:spcPts val="1400"/>
              </a:spcAft>
              <a:buClr>
                <a:srgbClr val="1B1B20"/>
              </a:buClr>
              <a:buFont typeface="Arial"/>
              <a:buChar char="•"/>
            </a:pPr>
            <a:r>
              <a:rPr lang="en-US" sz="2600" b="0" u="none" strike="noStrike" dirty="0" err="1">
                <a:solidFill>
                  <a:srgbClr val="1B1B20"/>
                </a:solidFill>
                <a:effectLst/>
                <a:uFillTx/>
                <a:latin typeface="Hanken Grotesk"/>
                <a:ea typeface="Hanken Grotesk"/>
              </a:rPr>
              <a:t>df.corr</a:t>
            </a:r>
            <a:r>
              <a:rPr lang="en-US" sz="2600" b="0" u="none" strike="noStrike" dirty="0">
                <a:solidFill>
                  <a:srgbClr val="1B1B20"/>
                </a:solidFill>
                <a:effectLst/>
                <a:uFillTx/>
                <a:latin typeface="Hanken Grotesk"/>
                <a:ea typeface="Hanken Grotesk"/>
              </a:rPr>
              <a:t>() builds the grid; a heatmap turns each number into a color.</a:t>
            </a:r>
            <a:endParaRPr lang="en-US" sz="2600" b="0" u="none" strike="noStrike" dirty="0">
              <a:solidFill>
                <a:srgbClr val="000000"/>
              </a:solidFill>
              <a:effectLst/>
              <a:uFillTx/>
              <a:latin typeface="Arial"/>
              <a:cs typeface="Arial"/>
            </a:endParaRPr>
          </a:p>
          <a:p>
            <a:pPr marL="457200" indent="-457200" defTabSz="914400">
              <a:lnSpc>
                <a:spcPct val="100000"/>
              </a:lnSpc>
              <a:spcAft>
                <a:spcPts val="1400"/>
              </a:spcAft>
              <a:buClr>
                <a:srgbClr val="1B1B20"/>
              </a:buClr>
              <a:buFont typeface="Arial"/>
              <a:buChar char="•"/>
            </a:pPr>
            <a:r>
              <a:rPr lang="en-US" sz="2600" b="0" u="none" strike="noStrike" dirty="0" err="1">
                <a:solidFill>
                  <a:srgbClr val="1B1B20"/>
                </a:solidFill>
                <a:effectLst/>
                <a:uFillTx/>
                <a:latin typeface="Hanken Grotesk"/>
                <a:ea typeface="Hanken Grotesk"/>
              </a:rPr>
              <a:t>plt.imshow</a:t>
            </a:r>
            <a:r>
              <a:rPr lang="en-US" sz="2600" b="0" u="none" strike="noStrike" dirty="0">
                <a:solidFill>
                  <a:srgbClr val="1B1B20"/>
                </a:solidFill>
                <a:effectLst/>
                <a:uFillTx/>
                <a:latin typeface="Hanken Grotesk"/>
                <a:ea typeface="Hanken Grotesk"/>
              </a:rPr>
              <a:t> is the Matplotlib way, and </a:t>
            </a:r>
            <a:r>
              <a:rPr lang="en-US" sz="2600" b="0" u="none" strike="noStrike" dirty="0" err="1">
                <a:solidFill>
                  <a:srgbClr val="1B1B20"/>
                </a:solidFill>
                <a:effectLst/>
                <a:uFillTx/>
                <a:latin typeface="Hanken Grotesk"/>
                <a:ea typeface="Hanken Grotesk"/>
              </a:rPr>
              <a:t>sns.heatmap</a:t>
            </a:r>
            <a:r>
              <a:rPr lang="en-US" sz="2600" b="0" u="none" strike="noStrike" dirty="0">
                <a:solidFill>
                  <a:srgbClr val="1B1B20"/>
                </a:solidFill>
                <a:effectLst/>
                <a:uFillTx/>
                <a:latin typeface="Hanken Grotesk"/>
                <a:ea typeface="Hanken Grotesk"/>
              </a:rPr>
              <a:t> is the usual choice.</a:t>
            </a:r>
            <a:endParaRPr lang="en-US" sz="2600" b="0" u="none" strike="noStrike" dirty="0">
              <a:solidFill>
                <a:srgbClr val="000000"/>
              </a:solidFill>
              <a:effectLst/>
              <a:uFillTx/>
              <a:latin typeface="Arial"/>
              <a:cs typeface="Arial"/>
            </a:endParaRPr>
          </a:p>
          <a:p>
            <a:pPr marL="457200" indent="-457200" defTabSz="914400">
              <a:lnSpc>
                <a:spcPct val="100000"/>
              </a:lnSpc>
              <a:spcAft>
                <a:spcPts val="1400"/>
              </a:spcAft>
              <a:buClr>
                <a:srgbClr val="1B1B20"/>
              </a:buClr>
              <a:buFont typeface="Arial"/>
              <a:buChar char="•"/>
            </a:pPr>
            <a:r>
              <a:rPr lang="en-US" sz="2600" b="0" u="none" strike="noStrike" dirty="0" err="1">
                <a:solidFill>
                  <a:srgbClr val="1B1B20"/>
                </a:solidFill>
                <a:effectLst/>
                <a:uFillTx/>
                <a:latin typeface="Hanken Grotesk"/>
                <a:ea typeface="Hanken Grotesk"/>
              </a:rPr>
              <a:t>annot</a:t>
            </a:r>
            <a:r>
              <a:rPr lang="en-US" sz="2600" b="0" u="none" strike="noStrike" dirty="0">
                <a:solidFill>
                  <a:srgbClr val="1B1B20"/>
                </a:solidFill>
                <a:effectLst/>
                <a:uFillTx/>
                <a:latin typeface="Hanken Grotesk"/>
                <a:ea typeface="Hanken Grotesk"/>
              </a:rPr>
              <a:t>=True prints each value inside its cell.</a:t>
            </a:r>
            <a:endParaRPr lang="en-US" sz="2600" b="0" u="none" strike="noStrike" dirty="0">
              <a:solidFill>
                <a:srgbClr val="000000"/>
              </a:solidFill>
              <a:effectLst/>
              <a:uFillTx/>
              <a:latin typeface="Arial"/>
              <a:cs typeface="Arial"/>
            </a:endParaRPr>
          </a:p>
        </p:txBody>
      </p:sp>
      <p:sp>
        <p:nvSpPr>
          <p:cNvPr id="1040"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41"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042"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043"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044"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300" b="0" u="none" strike="noStrike">
                <a:solidFill>
                  <a:srgbClr val="F1F5F9"/>
                </a:solidFill>
                <a:effectLst/>
                <a:uFillTx/>
                <a:latin typeface="Cantarell"/>
                <a:ea typeface="Consolas"/>
              </a:rPr>
              <a:t>import pandas as pd</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import matplotlib.pyplot as plt</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import seaborn as sns</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df = pd.DataFrame({"hours": [1, 2, 3, 4, 5],</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"score": [52, 60, 58, 71, 75],</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"sleep": [8, 7, 7, 6, 6]})</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corr = df.corr()</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plt.imshow(corr, cmap="coolwarm")      </a:t>
            </a:r>
            <a:r>
              <a:rPr lang="en-US" sz="1300" b="0" i="1" u="none" strike="noStrike">
                <a:solidFill>
                  <a:srgbClr val="94A3B8"/>
                </a:solidFill>
                <a:effectLst/>
                <a:uFillTx/>
                <a:latin typeface="Cantarell"/>
                <a:ea typeface="Consolas"/>
              </a:rPr>
              <a:t># Matplotlib</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plt.show()</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sns.heatmap(corr, annot=True)          </a:t>
            </a:r>
            <a:r>
              <a:rPr lang="en-US" sz="1300" b="0" i="1" u="none" strike="noStrike">
                <a:solidFill>
                  <a:srgbClr val="94A3B8"/>
                </a:solidFill>
                <a:effectLst/>
                <a:uFillTx/>
                <a:latin typeface="Cantarell"/>
                <a:ea typeface="Consolas"/>
              </a:rPr>
              <a:t># Seaborn</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plt.show()</a:t>
            </a:r>
            <a:endParaRPr lang="en-US" sz="13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045"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046"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67</a:t>
            </a:r>
            <a:endParaRPr lang="en-US" sz="900" b="0" u="none" strike="noStrike">
              <a:solidFill>
                <a:srgbClr val="000000"/>
              </a:solidFill>
              <a:effectLst/>
              <a:uFillTx/>
              <a:latin typeface="Arial"/>
            </a:endParaRPr>
          </a:p>
        </p:txBody>
      </p:sp>
      <p:pic>
        <p:nvPicPr>
          <p:cNvPr id="1047" name="Image 0" descr="/home/claude/assets/logo_crop.png"/>
          <p:cNvPicPr/>
          <p:nvPr/>
        </p:nvPicPr>
        <p:blipFill>
          <a:blip r:embed="rId3"/>
          <a:stretch/>
        </p:blipFill>
        <p:spPr>
          <a:xfrm>
            <a:off x="11201400" y="384120"/>
            <a:ext cx="456840" cy="511560"/>
          </a:xfrm>
          <a:prstGeom prst="rect">
            <a:avLst/>
          </a:prstGeom>
          <a:noFill/>
          <a:ln w="0">
            <a:noFill/>
          </a:ln>
        </p:spPr>
      </p:pic>
      <p:sp>
        <p:nvSpPr>
          <p:cNvPr id="1048"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Common Chart Mistakes to Avoid</a:t>
            </a:r>
            <a:endParaRPr lang="en-US" sz="2600" b="0" u="none" strike="noStrike">
              <a:solidFill>
                <a:srgbClr val="000000"/>
              </a:solidFill>
              <a:effectLst/>
              <a:uFillTx/>
              <a:latin typeface="Arial"/>
            </a:endParaRPr>
          </a:p>
        </p:txBody>
      </p:sp>
      <p:sp>
        <p:nvSpPr>
          <p:cNvPr id="1049" name="Shape 3"/>
          <p:cNvSpPr/>
          <p:nvPr/>
        </p:nvSpPr>
        <p:spPr>
          <a:xfrm>
            <a:off x="548640" y="1737360"/>
            <a:ext cx="5486040" cy="4023000"/>
          </a:xfrm>
          <a:prstGeom prst="roundRect">
            <a:avLst>
              <a:gd name="adj" fmla="val 1818"/>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50" name="Shape 4"/>
          <p:cNvSpPr/>
          <p:nvPr/>
        </p:nvSpPr>
        <p:spPr>
          <a:xfrm>
            <a:off x="777240" y="1965960"/>
            <a:ext cx="5028840" cy="456840"/>
          </a:xfrm>
          <a:prstGeom prst="roundRect">
            <a:avLst>
              <a:gd name="adj" fmla="val 5000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51" name="Text 5"/>
          <p:cNvSpPr/>
          <p:nvPr/>
        </p:nvSpPr>
        <p:spPr>
          <a:xfrm>
            <a:off x="777240" y="1965960"/>
            <a:ext cx="5028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Plus Jakarta Sans"/>
                <a:ea typeface="Plus Jakarta Sans"/>
              </a:rPr>
              <a:t>Misleading by Design</a:t>
            </a:r>
            <a:endParaRPr lang="en-US" sz="1400" b="0" u="none" strike="noStrike">
              <a:solidFill>
                <a:srgbClr val="000000"/>
              </a:solidFill>
              <a:effectLst/>
              <a:uFillTx/>
              <a:latin typeface="Arial"/>
            </a:endParaRPr>
          </a:p>
        </p:txBody>
      </p:sp>
      <p:sp>
        <p:nvSpPr>
          <p:cNvPr id="1052" name="Text 6"/>
          <p:cNvSpPr/>
          <p:nvPr/>
        </p:nvSpPr>
        <p:spPr>
          <a:xfrm>
            <a:off x="822960" y="2697480"/>
            <a:ext cx="4937400" cy="2925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901"/>
              </a:spcAft>
              <a:buClr>
                <a:srgbClr val="1B1B20"/>
              </a:buClr>
              <a:buFont typeface="Arial"/>
              <a:buChar char="•"/>
            </a:pPr>
            <a:r>
              <a:rPr lang="en-US" sz="1400" b="0" u="none" strike="noStrike" dirty="0">
                <a:solidFill>
                  <a:srgbClr val="1B1B20"/>
                </a:solidFill>
                <a:effectLst/>
                <a:uFillTx/>
                <a:latin typeface="Hanken Grotesk"/>
                <a:ea typeface="Hanken Grotesk"/>
              </a:rPr>
              <a:t>A pie chart with 12+ tiny slices — nobody can compare them accurately</a:t>
            </a:r>
            <a:endParaRPr lang="en-US" sz="14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1400" b="0" u="none" strike="noStrike" dirty="0">
                <a:solidFill>
                  <a:srgbClr val="1B1B20"/>
                </a:solidFill>
                <a:effectLst/>
                <a:uFillTx/>
                <a:latin typeface="Hanken Grotesk"/>
                <a:ea typeface="Hanken Grotesk"/>
              </a:rPr>
              <a:t>A bar chart whose y-axis doesn’t start at zero — exaggerates small differences dramatically</a:t>
            </a:r>
            <a:endParaRPr lang="en-US" sz="14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1400" b="0" u="none" strike="noStrike" dirty="0">
                <a:solidFill>
                  <a:srgbClr val="1B1B20"/>
                </a:solidFill>
                <a:effectLst/>
                <a:uFillTx/>
                <a:latin typeface="Hanken Grotesk"/>
                <a:ea typeface="Hanken Grotesk"/>
              </a:rPr>
              <a:t>A 3D chart adding visual flair but no real information — actively harder to read accurately</a:t>
            </a:r>
            <a:endParaRPr lang="en-US" sz="1400" b="0" u="none" strike="noStrike" dirty="0">
              <a:solidFill>
                <a:srgbClr val="000000"/>
              </a:solidFill>
              <a:effectLst/>
              <a:uFillTx/>
              <a:latin typeface="Arial"/>
              <a:cs typeface="Arial"/>
            </a:endParaRPr>
          </a:p>
        </p:txBody>
      </p:sp>
      <p:sp>
        <p:nvSpPr>
          <p:cNvPr id="1053" name="Shape 7"/>
          <p:cNvSpPr/>
          <p:nvPr/>
        </p:nvSpPr>
        <p:spPr>
          <a:xfrm>
            <a:off x="6172200" y="1737360"/>
            <a:ext cx="5486040" cy="4023000"/>
          </a:xfrm>
          <a:prstGeom prst="roundRect">
            <a:avLst>
              <a:gd name="adj" fmla="val 1818"/>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54" name="Shape 8"/>
          <p:cNvSpPr/>
          <p:nvPr/>
        </p:nvSpPr>
        <p:spPr>
          <a:xfrm>
            <a:off x="6400800" y="1965960"/>
            <a:ext cx="5028840" cy="456840"/>
          </a:xfrm>
          <a:prstGeom prst="roundRect">
            <a:avLst>
              <a:gd name="adj" fmla="val 50000"/>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55" name="Text 9"/>
          <p:cNvSpPr/>
          <p:nvPr/>
        </p:nvSpPr>
        <p:spPr>
          <a:xfrm>
            <a:off x="6400800" y="1965960"/>
            <a:ext cx="5028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Wrong Chart for the Data</a:t>
            </a:r>
            <a:endParaRPr lang="en-US" sz="1400" b="0" u="none" strike="noStrike">
              <a:solidFill>
                <a:srgbClr val="000000"/>
              </a:solidFill>
              <a:effectLst/>
              <a:uFillTx/>
              <a:latin typeface="Arial"/>
            </a:endParaRPr>
          </a:p>
        </p:txBody>
      </p:sp>
      <p:sp>
        <p:nvSpPr>
          <p:cNvPr id="1056" name="Text 10"/>
          <p:cNvSpPr/>
          <p:nvPr/>
        </p:nvSpPr>
        <p:spPr>
          <a:xfrm>
            <a:off x="6446520" y="2697480"/>
            <a:ext cx="4937400" cy="2925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901"/>
              </a:spcAft>
              <a:buClr>
                <a:srgbClr val="1B1B20"/>
              </a:buClr>
              <a:buFont typeface="Arial"/>
              <a:buChar char="•"/>
            </a:pPr>
            <a:r>
              <a:rPr lang="en-US" sz="1400" b="0" u="none" strike="noStrike" dirty="0">
                <a:solidFill>
                  <a:srgbClr val="1B1B20"/>
                </a:solidFill>
                <a:effectLst/>
                <a:uFillTx/>
                <a:latin typeface="Hanken Grotesk"/>
                <a:ea typeface="Hanken Grotesk"/>
              </a:rPr>
              <a:t>A line plot connecting unrelated categories — implies a trend that doesn’t exist</a:t>
            </a:r>
            <a:endParaRPr lang="en-US" sz="14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1400" b="0" u="none" strike="noStrike" dirty="0">
                <a:solidFill>
                  <a:srgbClr val="1B1B20"/>
                </a:solidFill>
                <a:effectLst/>
                <a:uFillTx/>
                <a:latin typeface="Hanken Grotesk"/>
                <a:ea typeface="Hanken Grotesk"/>
              </a:rPr>
              <a:t>A regression line forced through an obviously curved relationship</a:t>
            </a:r>
            <a:endParaRPr lang="en-US" sz="14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1400" b="0" u="none" strike="noStrike" dirty="0">
                <a:solidFill>
                  <a:srgbClr val="1B1B20"/>
                </a:solidFill>
                <a:effectLst/>
                <a:uFillTx/>
                <a:latin typeface="Hanken Grotesk"/>
                <a:ea typeface="Hanken Grotesk"/>
              </a:rPr>
              <a:t>Choosing a chart because it "looks impressive," rather than because it’s genuinely the clearest way to show this specific data</a:t>
            </a:r>
            <a:endParaRPr lang="en-US" sz="14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057"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058"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68</a:t>
            </a:r>
            <a:endParaRPr lang="en-US" sz="900" b="0" u="none" strike="noStrike">
              <a:solidFill>
                <a:srgbClr val="000000"/>
              </a:solidFill>
              <a:effectLst/>
              <a:uFillTx/>
              <a:latin typeface="Arial"/>
            </a:endParaRPr>
          </a:p>
        </p:txBody>
      </p:sp>
      <p:pic>
        <p:nvPicPr>
          <p:cNvPr id="1059" name="Image 0" descr="/home/claude/assets/logo_crop.png"/>
          <p:cNvPicPr/>
          <p:nvPr/>
        </p:nvPicPr>
        <p:blipFill>
          <a:blip r:embed="rId3"/>
          <a:stretch/>
        </p:blipFill>
        <p:spPr>
          <a:xfrm>
            <a:off x="11201400" y="384120"/>
            <a:ext cx="456840" cy="511560"/>
          </a:xfrm>
          <a:prstGeom prst="rect">
            <a:avLst/>
          </a:prstGeom>
          <a:noFill/>
          <a:ln w="0">
            <a:noFill/>
          </a:ln>
        </p:spPr>
      </p:pic>
      <p:sp>
        <p:nvSpPr>
          <p:cNvPr id="1060" name="Shape 2"/>
          <p:cNvSpPr/>
          <p:nvPr/>
        </p:nvSpPr>
        <p:spPr>
          <a:xfrm>
            <a:off x="548640" y="502920"/>
            <a:ext cx="566640" cy="566640"/>
          </a:xfrm>
          <a:prstGeom prst="roundRect">
            <a:avLst>
              <a:gd name="adj" fmla="val 19355"/>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61" name="Text 3"/>
          <p:cNvSpPr/>
          <p:nvPr/>
        </p:nvSpPr>
        <p:spPr>
          <a:xfrm>
            <a:off x="548640" y="50292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231F71"/>
                </a:solidFill>
                <a:effectLst/>
                <a:uFillTx/>
                <a:latin typeface="Bricolage Grotesque"/>
                <a:ea typeface="Bricolage Grotesque"/>
              </a:rPr>
              <a:t>◎</a:t>
            </a:r>
            <a:endParaRPr lang="en-US" sz="1800" b="0" u="none" strike="noStrike">
              <a:solidFill>
                <a:srgbClr val="000000"/>
              </a:solidFill>
              <a:effectLst/>
              <a:uFillTx/>
              <a:latin typeface="Arial"/>
            </a:endParaRPr>
          </a:p>
        </p:txBody>
      </p:sp>
      <p:sp>
        <p:nvSpPr>
          <p:cNvPr id="1062" name="Text 4"/>
          <p:cNvSpPr/>
          <p:nvPr/>
        </p:nvSpPr>
        <p:spPr>
          <a:xfrm>
            <a:off x="1261800" y="5029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spc="99">
                <a:solidFill>
                  <a:srgbClr val="5755A7"/>
                </a:solidFill>
                <a:effectLst/>
                <a:uFillTx/>
                <a:latin typeface="Plus Jakarta Sans"/>
                <a:ea typeface="Plus Jakarta Sans"/>
              </a:rPr>
              <a:t>PART 5</a:t>
            </a:r>
            <a:endParaRPr lang="en-US" sz="900" b="0" u="none" strike="noStrike">
              <a:solidFill>
                <a:srgbClr val="000000"/>
              </a:solidFill>
              <a:effectLst/>
              <a:uFillTx/>
              <a:latin typeface="Arial"/>
            </a:endParaRPr>
          </a:p>
        </p:txBody>
      </p:sp>
      <p:sp>
        <p:nvSpPr>
          <p:cNvPr id="1063" name="Text 5"/>
          <p:cNvSpPr/>
          <p:nvPr/>
        </p:nvSpPr>
        <p:spPr>
          <a:xfrm>
            <a:off x="1261800" y="77724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00" b="1" u="none" strike="noStrike">
                <a:solidFill>
                  <a:srgbClr val="1B1B20"/>
                </a:solidFill>
                <a:effectLst/>
                <a:uFillTx/>
                <a:latin typeface="Bricolage Grotesque"/>
                <a:ea typeface="Bricolage Grotesque"/>
              </a:rPr>
              <a:t>Practice Set — Choosing the Right Chart</a:t>
            </a:r>
            <a:endParaRPr lang="en-US" sz="2200" b="0" u="none" strike="noStrike">
              <a:solidFill>
                <a:srgbClr val="000000"/>
              </a:solidFill>
              <a:effectLst/>
              <a:uFillTx/>
              <a:latin typeface="Arial"/>
            </a:endParaRPr>
          </a:p>
        </p:txBody>
      </p:sp>
      <p:sp>
        <p:nvSpPr>
          <p:cNvPr id="1064" name="Text 6"/>
          <p:cNvSpPr/>
          <p:nvPr/>
        </p:nvSpPr>
        <p:spPr>
          <a:xfrm>
            <a:off x="548640" y="1417320"/>
            <a:ext cx="10515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i="1" u="none" strike="noStrike">
                <a:solidFill>
                  <a:srgbClr val="474651"/>
                </a:solidFill>
                <a:effectLst/>
                <a:uFillTx/>
                <a:latin typeface="Hanken Grotesk"/>
                <a:ea typeface="Hanken Grotesk"/>
              </a:rPr>
              <a:t>Try these yourself first — pencil, paper or a quick Python cell.</a:t>
            </a:r>
            <a:endParaRPr lang="en-US" sz="1200" b="0" u="none" strike="noStrike">
              <a:solidFill>
                <a:srgbClr val="000000"/>
              </a:solidFill>
              <a:effectLst/>
              <a:uFillTx/>
              <a:latin typeface="Arial"/>
            </a:endParaRPr>
          </a:p>
        </p:txBody>
      </p:sp>
      <p:sp>
        <p:nvSpPr>
          <p:cNvPr id="1065" name="Shape 7"/>
          <p:cNvSpPr/>
          <p:nvPr/>
        </p:nvSpPr>
        <p:spPr>
          <a:xfrm>
            <a:off x="548640" y="196596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66" name="Shape 8"/>
          <p:cNvSpPr/>
          <p:nvPr/>
        </p:nvSpPr>
        <p:spPr>
          <a:xfrm>
            <a:off x="731520" y="220356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67" name="Text 9"/>
          <p:cNvSpPr/>
          <p:nvPr/>
        </p:nvSpPr>
        <p:spPr>
          <a:xfrm>
            <a:off x="731520" y="220356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1068" name="Text 10"/>
          <p:cNvSpPr/>
          <p:nvPr/>
        </p:nvSpPr>
        <p:spPr>
          <a:xfrm>
            <a:off x="1234440" y="196596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For monthly sales over the last two years, name the best chart and explain why</a:t>
            </a:r>
            <a:endParaRPr lang="en-US" sz="1400" b="0" u="none" strike="noStrike">
              <a:solidFill>
                <a:srgbClr val="000000"/>
              </a:solidFill>
              <a:effectLst/>
              <a:uFillTx/>
              <a:latin typeface="Arial"/>
            </a:endParaRPr>
          </a:p>
        </p:txBody>
      </p:sp>
      <p:sp>
        <p:nvSpPr>
          <p:cNvPr id="1069" name="Shape 11"/>
          <p:cNvSpPr/>
          <p:nvPr/>
        </p:nvSpPr>
        <p:spPr>
          <a:xfrm>
            <a:off x="548640" y="289872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70" name="Shape 12"/>
          <p:cNvSpPr/>
          <p:nvPr/>
        </p:nvSpPr>
        <p:spPr>
          <a:xfrm>
            <a:off x="731520" y="313632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71" name="Text 13"/>
          <p:cNvSpPr/>
          <p:nvPr/>
        </p:nvSpPr>
        <p:spPr>
          <a:xfrm>
            <a:off x="731520" y="313632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1072" name="Text 14"/>
          <p:cNvSpPr/>
          <p:nvPr/>
        </p:nvSpPr>
        <p:spPr>
          <a:xfrm>
            <a:off x="1234440" y="289872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For comparing the market share of 3 competing products, choose between a pie chart and a bar chart, and justify it</a:t>
            </a:r>
            <a:endParaRPr lang="en-US" sz="1400" b="0" u="none" strike="noStrike">
              <a:solidFill>
                <a:srgbClr val="000000"/>
              </a:solidFill>
              <a:effectLst/>
              <a:uFillTx/>
              <a:latin typeface="Arial"/>
            </a:endParaRPr>
          </a:p>
        </p:txBody>
      </p:sp>
      <p:sp>
        <p:nvSpPr>
          <p:cNvPr id="1073" name="Shape 15"/>
          <p:cNvSpPr/>
          <p:nvPr/>
        </p:nvSpPr>
        <p:spPr>
          <a:xfrm>
            <a:off x="548640" y="383148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74" name="Shape 16"/>
          <p:cNvSpPr/>
          <p:nvPr/>
        </p:nvSpPr>
        <p:spPr>
          <a:xfrm>
            <a:off x="731520" y="406908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75" name="Text 17"/>
          <p:cNvSpPr/>
          <p:nvPr/>
        </p:nvSpPr>
        <p:spPr>
          <a:xfrm>
            <a:off x="731520" y="406908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1076" name="Text 18"/>
          <p:cNvSpPr/>
          <p:nvPr/>
        </p:nvSpPr>
        <p:spPr>
          <a:xfrm>
            <a:off x="1234440" y="383148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For checking whether study hours and exam scores are related, name the chart you’d reach for first</a:t>
            </a:r>
            <a:endParaRPr lang="en-US" sz="1400" b="0" u="none" strike="noStrike">
              <a:solidFill>
                <a:srgbClr val="000000"/>
              </a:solidFill>
              <a:effectLst/>
              <a:uFillTx/>
              <a:latin typeface="Arial"/>
            </a:endParaRPr>
          </a:p>
        </p:txBody>
      </p:sp>
      <p:sp>
        <p:nvSpPr>
          <p:cNvPr id="1077" name="Shape 19"/>
          <p:cNvSpPr/>
          <p:nvPr/>
        </p:nvSpPr>
        <p:spPr>
          <a:xfrm>
            <a:off x="548640" y="476388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78" name="Shape 20"/>
          <p:cNvSpPr/>
          <p:nvPr/>
        </p:nvSpPr>
        <p:spPr>
          <a:xfrm>
            <a:off x="731520" y="500184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79" name="Text 21"/>
          <p:cNvSpPr/>
          <p:nvPr/>
        </p:nvSpPr>
        <p:spPr>
          <a:xfrm>
            <a:off x="731520" y="500184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1080" name="Text 22"/>
          <p:cNvSpPr/>
          <p:nvPr/>
        </p:nvSpPr>
        <p:spPr>
          <a:xfrm>
            <a:off x="1234440" y="476388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Explain what specifically is misleading about a bar chart whose y-axis starts at 80 instead of 0</a:t>
            </a:r>
            <a:endParaRPr lang="en-US" sz="14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0B0F17"/>
        </a:solidFill>
        <a:effectLst/>
      </p:bgPr>
    </p:bg>
    <p:spTree>
      <p:nvGrpSpPr>
        <p:cNvPr id="1" name=""/>
        <p:cNvGrpSpPr/>
        <p:nvPr/>
      </p:nvGrpSpPr>
      <p:grpSpPr>
        <a:xfrm>
          <a:off x="0" y="0"/>
          <a:ext cx="0" cy="0"/>
          <a:chOff x="0" y="0"/>
          <a:chExt cx="0" cy="0"/>
        </a:xfrm>
      </p:grpSpPr>
      <p:sp>
        <p:nvSpPr>
          <p:cNvPr id="1081" name="Shape 0"/>
          <p:cNvSpPr/>
          <p:nvPr/>
        </p:nvSpPr>
        <p:spPr>
          <a:xfrm>
            <a:off x="9692640" y="-1463040"/>
            <a:ext cx="3840120" cy="3840120"/>
          </a:xfrm>
          <a:prstGeom prst="ellipse">
            <a:avLst/>
          </a:prstGeom>
          <a:solidFill>
            <a:srgbClr val="262758">
              <a:alpha val="55000"/>
            </a:srgbClr>
          </a:solidFill>
          <a:ln w="12700">
            <a:solidFill>
              <a:srgbClr val="262758">
                <a:alpha val="5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82" name="Shape 1"/>
          <p:cNvSpPr/>
          <p:nvPr/>
        </p:nvSpPr>
        <p:spPr>
          <a:xfrm>
            <a:off x="-1645920" y="4754880"/>
            <a:ext cx="3474360" cy="3474360"/>
          </a:xfrm>
          <a:prstGeom prst="ellipse">
            <a:avLst/>
          </a:prstGeom>
          <a:solidFill>
            <a:srgbClr val="11362E">
              <a:alpha val="45000"/>
            </a:srgbClr>
          </a:solidFill>
          <a:ln w="12700">
            <a:solidFill>
              <a:srgbClr val="11362E">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83" name="Text 2"/>
          <p:cNvSpPr/>
          <p:nvPr/>
        </p:nvSpPr>
        <p:spPr>
          <a:xfrm>
            <a:off x="640080" y="2194560"/>
            <a:ext cx="91436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spc="201">
                <a:solidFill>
                  <a:srgbClr val="2DD4BF"/>
                </a:solidFill>
                <a:effectLst/>
                <a:uFillTx/>
                <a:latin typeface="Plus Jakarta Sans"/>
                <a:ea typeface="Plus Jakarta Sans"/>
              </a:rPr>
              <a:t>PART 6</a:t>
            </a:r>
            <a:endParaRPr lang="en-US" sz="1400" b="0" u="none" strike="noStrike">
              <a:solidFill>
                <a:srgbClr val="FFFFFF"/>
              </a:solidFill>
              <a:effectLst/>
              <a:uFillTx/>
              <a:latin typeface="Arial"/>
            </a:endParaRPr>
          </a:p>
        </p:txBody>
      </p:sp>
      <p:sp>
        <p:nvSpPr>
          <p:cNvPr id="1084" name="Text 3"/>
          <p:cNvSpPr/>
          <p:nvPr/>
        </p:nvSpPr>
        <p:spPr>
          <a:xfrm>
            <a:off x="640080" y="2697480"/>
            <a:ext cx="1033236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4000" b="1" u="none" strike="noStrike">
                <a:solidFill>
                  <a:srgbClr val="F1F5F9"/>
                </a:solidFill>
                <a:effectLst/>
                <a:uFillTx/>
                <a:latin typeface="Bricolage Grotesque"/>
                <a:ea typeface="Bricolage Grotesque"/>
              </a:rPr>
              <a:t>Measures of Central Tendency</a:t>
            </a:r>
            <a:endParaRPr lang="en-US" sz="4000" b="0" u="none" strike="noStrike">
              <a:solidFill>
                <a:srgbClr val="FFFFFF"/>
              </a:solidFill>
              <a:effectLst/>
              <a:uFillTx/>
              <a:latin typeface="Arial"/>
            </a:endParaRPr>
          </a:p>
        </p:txBody>
      </p:sp>
      <p:sp>
        <p:nvSpPr>
          <p:cNvPr id="1085" name="Text 4"/>
          <p:cNvSpPr/>
          <p:nvPr/>
        </p:nvSpPr>
        <p:spPr>
          <a:xfrm>
            <a:off x="640080" y="4023360"/>
            <a:ext cx="969228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500" b="0" u="none" strike="noStrike">
                <a:solidFill>
                  <a:srgbClr val="94A3B8"/>
                </a:solidFill>
                <a:effectLst/>
                <a:uFillTx/>
                <a:latin typeface="Hanken Grotesk"/>
                <a:ea typeface="Hanken Grotesk"/>
              </a:rPr>
              <a:t>The single number that tries to represent an entire dataset — and the three different ways to pick one</a:t>
            </a:r>
            <a:endParaRPr lang="en-US" sz="1500" b="0" u="none" strike="noStrike">
              <a:solidFill>
                <a:srgbClr val="FFFFFF"/>
              </a:solidFill>
              <a:effectLst/>
              <a:uFillTx/>
              <a:latin typeface="Arial"/>
            </a:endParaRPr>
          </a:p>
        </p:txBody>
      </p:sp>
      <p:sp>
        <p:nvSpPr>
          <p:cNvPr id="1086" name="Text 5"/>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94A3B8"/>
                </a:solidFill>
                <a:effectLst/>
                <a:uFillTx/>
                <a:latin typeface="Plus Jakarta Sans"/>
                <a:ea typeface="Plus Jakarta Sans"/>
              </a:rPr>
              <a:t>69</a:t>
            </a:r>
            <a:endParaRPr lang="en-US" sz="900" b="0" u="none" strike="noStrike">
              <a:solidFill>
                <a:srgbClr val="FFFFFF"/>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087"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088"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70</a:t>
            </a:r>
            <a:endParaRPr lang="en-US" sz="900" b="0" u="none" strike="noStrike">
              <a:solidFill>
                <a:srgbClr val="000000"/>
              </a:solidFill>
              <a:effectLst/>
              <a:uFillTx/>
              <a:latin typeface="Arial"/>
            </a:endParaRPr>
          </a:p>
        </p:txBody>
      </p:sp>
      <p:pic>
        <p:nvPicPr>
          <p:cNvPr id="1089" name="Image 0" descr="/home/claude/assets/logo_crop.png"/>
          <p:cNvPicPr/>
          <p:nvPr/>
        </p:nvPicPr>
        <p:blipFill>
          <a:blip r:embed="rId3"/>
          <a:stretch/>
        </p:blipFill>
        <p:spPr>
          <a:xfrm>
            <a:off x="11201400" y="384120"/>
            <a:ext cx="456840" cy="511560"/>
          </a:xfrm>
          <a:prstGeom prst="rect">
            <a:avLst/>
          </a:prstGeom>
          <a:noFill/>
          <a:ln w="0">
            <a:noFill/>
          </a:ln>
        </p:spPr>
      </p:pic>
      <p:sp>
        <p:nvSpPr>
          <p:cNvPr id="1090"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What Is Central Tendency?</a:t>
            </a:r>
            <a:endParaRPr lang="en-US" sz="2600" b="0" u="none" strike="noStrike">
              <a:solidFill>
                <a:srgbClr val="000000"/>
              </a:solidFill>
              <a:effectLst/>
              <a:uFillTx/>
              <a:latin typeface="Arial"/>
            </a:endParaRPr>
          </a:p>
        </p:txBody>
      </p:sp>
      <p:sp>
        <p:nvSpPr>
          <p:cNvPr id="1091"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92"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93"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μ</a:t>
            </a:r>
            <a:endParaRPr lang="en-US" sz="2800" b="0" u="none" strike="noStrike">
              <a:solidFill>
                <a:srgbClr val="000000"/>
              </a:solidFill>
              <a:effectLst/>
              <a:uFillTx/>
              <a:latin typeface="Arial"/>
            </a:endParaRPr>
          </a:p>
        </p:txBody>
      </p:sp>
      <p:sp>
        <p:nvSpPr>
          <p:cNvPr id="1094"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One number, standing in for all</a:t>
            </a:r>
            <a:endParaRPr lang="en-US" sz="1700" b="0" u="none" strike="noStrike">
              <a:solidFill>
                <a:srgbClr val="000000"/>
              </a:solidFill>
              <a:effectLst/>
              <a:uFillTx/>
              <a:latin typeface="Arial"/>
            </a:endParaRPr>
          </a:p>
        </p:txBody>
      </p:sp>
      <p:sp>
        <p:nvSpPr>
          <p:cNvPr id="1095"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Central tendency is the general idea of finding a single, typical value that represents an entire dataset</a:t>
            </a:r>
            <a:endParaRPr lang="en-US" sz="2000" b="0" u="none" strike="noStrike" dirty="0">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There isn’t one universally "correct" way to do this — mean, median, and mode each answer a slightly different question</a:t>
            </a:r>
            <a:endParaRPr lang="en-US" sz="2000" b="0" u="none" strike="noStrike" dirty="0">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Choosing the right one isn’t a technicality — the wrong choice can genuinely misrepresent what your data actually looks like</a:t>
            </a:r>
            <a:endParaRPr lang="en-US" sz="2000" b="0" u="none" strike="noStrike" dirty="0">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This choice depends directly on the measurement scale and shape of your data — exactly what the last two parts of this session set up</a:t>
            </a:r>
            <a:endParaRPr lang="en-US" sz="20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096"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097"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71</a:t>
            </a:r>
            <a:endParaRPr lang="en-US" sz="900" b="0" u="none" strike="noStrike">
              <a:solidFill>
                <a:srgbClr val="000000"/>
              </a:solidFill>
              <a:effectLst/>
              <a:uFillTx/>
              <a:latin typeface="Arial"/>
            </a:endParaRPr>
          </a:p>
        </p:txBody>
      </p:sp>
      <p:pic>
        <p:nvPicPr>
          <p:cNvPr id="1098" name="Image 0" descr="/home/claude/assets/logo_crop.png"/>
          <p:cNvPicPr/>
          <p:nvPr/>
        </p:nvPicPr>
        <p:blipFill>
          <a:blip r:embed="rId3"/>
          <a:stretch/>
        </p:blipFill>
        <p:spPr>
          <a:xfrm>
            <a:off x="11201400" y="384120"/>
            <a:ext cx="456840" cy="511560"/>
          </a:xfrm>
          <a:prstGeom prst="rect">
            <a:avLst/>
          </a:prstGeom>
          <a:noFill/>
          <a:ln w="0">
            <a:noFill/>
          </a:ln>
        </p:spPr>
      </p:pic>
      <p:sp>
        <p:nvSpPr>
          <p:cNvPr id="1099"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Mean, Median &amp; Mode from Scratch</a:t>
            </a:r>
            <a:endParaRPr lang="en-US" sz="2600" b="0" u="none" strike="noStrike">
              <a:solidFill>
                <a:srgbClr val="000000"/>
              </a:solidFill>
              <a:effectLst/>
              <a:uFillTx/>
              <a:latin typeface="Arial"/>
            </a:endParaRPr>
          </a:p>
        </p:txBody>
      </p:sp>
      <p:sp>
        <p:nvSpPr>
          <p:cNvPr id="1100"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Pure Python — no libraries — so you see exactly what each one does.</a:t>
            </a:r>
            <a:endParaRPr lang="en-US" sz="2000" b="0" u="none" strike="noStrike">
              <a:solidFill>
                <a:srgbClr val="000000"/>
              </a:solidFill>
              <a:effectLst/>
              <a:uFillTx/>
              <a:latin typeface="Arial"/>
              <a:cs typeface="Arial"/>
            </a:endParaRPr>
          </a:p>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Mean: sum divided by count. Median: middle of the sorted list. Mode: most frequent value.</a:t>
            </a:r>
            <a:endParaRPr lang="en-US" sz="2000" b="0" u="none" strike="noStrike">
              <a:solidFill>
                <a:srgbClr val="000000"/>
              </a:solidFill>
              <a:effectLst/>
              <a:uFillTx/>
              <a:latin typeface="Arial"/>
              <a:cs typeface="Arial"/>
            </a:endParaRPr>
          </a:p>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For an even-length list the median is the average of the two middle values.</a:t>
            </a:r>
            <a:endParaRPr lang="en-US" sz="2000" b="0" u="none" strike="noStrike" dirty="0">
              <a:solidFill>
                <a:srgbClr val="000000"/>
              </a:solidFill>
              <a:effectLst/>
              <a:uFillTx/>
              <a:latin typeface="Arial"/>
              <a:cs typeface="Arial"/>
            </a:endParaRPr>
          </a:p>
        </p:txBody>
      </p:sp>
      <p:sp>
        <p:nvSpPr>
          <p:cNvPr id="1101"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02"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103"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104"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105"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200" b="0" u="none" strike="noStrike">
                <a:solidFill>
                  <a:srgbClr val="F1F5F9"/>
                </a:solidFill>
                <a:effectLst/>
                <a:uFillTx/>
                <a:latin typeface="Cantarell"/>
                <a:ea typeface="Consolas"/>
              </a:rPr>
              <a:t>data = [4, 8, 6, 5, 3, 8, 9]</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mean = sum(data) / len(data)</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s = sorted(data)</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mid = len(s) // 2</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median = (s[mid] if len(s) % 2</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else (s[mid-1] + s[mid]) / 2)</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mode = max(set(data), key=data.count)</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print(round(mean, 2))             </a:t>
            </a:r>
            <a:r>
              <a:rPr lang="en-US" sz="1200" b="0" i="1" u="none" strike="noStrike">
                <a:solidFill>
                  <a:srgbClr val="94A3B8"/>
                </a:solidFill>
                <a:effectLst/>
                <a:uFillTx/>
                <a:latin typeface="Cantarell"/>
                <a:ea typeface="Consolas"/>
              </a:rPr>
              <a:t># 6.14</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print(median)                     </a:t>
            </a:r>
            <a:r>
              <a:rPr lang="en-US" sz="1200" b="0" i="1" u="none" strike="noStrike">
                <a:solidFill>
                  <a:srgbClr val="94A3B8"/>
                </a:solidFill>
                <a:effectLst/>
                <a:uFillTx/>
                <a:latin typeface="Cantarell"/>
                <a:ea typeface="Consolas"/>
              </a:rPr>
              <a:t># 6</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print(mode)                       </a:t>
            </a:r>
            <a:r>
              <a:rPr lang="en-US" sz="1200" b="0" i="1" u="none" strike="noStrike">
                <a:solidFill>
                  <a:srgbClr val="94A3B8"/>
                </a:solidFill>
                <a:effectLst/>
                <a:uFillTx/>
                <a:latin typeface="Cantarell"/>
                <a:ea typeface="Consolas"/>
              </a:rPr>
              <a:t># 8</a:t>
            </a:r>
            <a:endParaRPr lang="en-US" sz="12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106"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107"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72</a:t>
            </a:r>
            <a:endParaRPr lang="en-US" sz="900" b="0" u="none" strike="noStrike">
              <a:solidFill>
                <a:srgbClr val="000000"/>
              </a:solidFill>
              <a:effectLst/>
              <a:uFillTx/>
              <a:latin typeface="Arial"/>
            </a:endParaRPr>
          </a:p>
        </p:txBody>
      </p:sp>
      <p:pic>
        <p:nvPicPr>
          <p:cNvPr id="1108" name="Image 0" descr="/home/claude/assets/logo_crop.png"/>
          <p:cNvPicPr/>
          <p:nvPr/>
        </p:nvPicPr>
        <p:blipFill>
          <a:blip r:embed="rId3"/>
          <a:stretch/>
        </p:blipFill>
        <p:spPr>
          <a:xfrm>
            <a:off x="11201400" y="384120"/>
            <a:ext cx="456840" cy="511560"/>
          </a:xfrm>
          <a:prstGeom prst="rect">
            <a:avLst/>
          </a:prstGeom>
          <a:noFill/>
          <a:ln w="0">
            <a:noFill/>
          </a:ln>
        </p:spPr>
      </p:pic>
      <p:sp>
        <p:nvSpPr>
          <p:cNvPr id="1109"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The Mean — The Arithmetic Average</a:t>
            </a:r>
            <a:endParaRPr lang="en-US" sz="2600" b="0" u="none" strike="noStrike">
              <a:solidFill>
                <a:srgbClr val="000000"/>
              </a:solidFill>
              <a:effectLst/>
              <a:uFillTx/>
              <a:latin typeface="Arial"/>
            </a:endParaRPr>
          </a:p>
        </p:txBody>
      </p:sp>
      <p:sp>
        <p:nvSpPr>
          <p:cNvPr id="1110" name="Text 3"/>
          <p:cNvSpPr/>
          <p:nvPr/>
        </p:nvSpPr>
        <p:spPr>
          <a:xfrm>
            <a:off x="548640" y="1783080"/>
            <a:ext cx="502884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The mean adds up every value and divides by how many values there are — the formula from last session’s notation lesson, in action</a:t>
            </a:r>
            <a:endParaRPr lang="en-US" sz="2000" b="0" u="none" strike="noStrike">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It uses every single value in the calculation, which makes it sensitive — one extreme value can shift it substantially</a:t>
            </a:r>
            <a:endParaRPr lang="en-US" sz="2000" b="0" u="none" strike="noStrike">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Only meaningful on interval or ratio data — calculating a "mean" of nominal categories makes no sense at all</a:t>
            </a:r>
            <a:endParaRPr lang="en-US" sz="2000" b="0" u="none" strike="noStrike">
              <a:solidFill>
                <a:srgbClr val="000000"/>
              </a:solidFill>
              <a:effectLst/>
              <a:uFillTx/>
              <a:latin typeface="Arial"/>
              <a:cs typeface="Arial"/>
            </a:endParaRPr>
          </a:p>
        </p:txBody>
      </p:sp>
      <p:sp>
        <p:nvSpPr>
          <p:cNvPr id="1111" name="Shape 4"/>
          <p:cNvSpPr/>
          <p:nvPr/>
        </p:nvSpPr>
        <p:spPr>
          <a:xfrm>
            <a:off x="5852160" y="1737360"/>
            <a:ext cx="580608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12" name="Shape 5"/>
          <p:cNvSpPr/>
          <p:nvPr/>
        </p:nvSpPr>
        <p:spPr>
          <a:xfrm>
            <a:off x="601668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113" name="Shape 6"/>
          <p:cNvSpPr/>
          <p:nvPr/>
        </p:nvSpPr>
        <p:spPr>
          <a:xfrm>
            <a:off x="621792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114" name="Shape 7"/>
          <p:cNvSpPr/>
          <p:nvPr/>
        </p:nvSpPr>
        <p:spPr>
          <a:xfrm>
            <a:off x="641916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115" name="Text 8"/>
          <p:cNvSpPr/>
          <p:nvPr/>
        </p:nvSpPr>
        <p:spPr>
          <a:xfrm>
            <a:off x="6035040" y="2148840"/>
            <a:ext cx="548604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400" b="0" u="none" strike="noStrike">
                <a:solidFill>
                  <a:srgbClr val="F1F5F9"/>
                </a:solidFill>
                <a:effectLst/>
                <a:uFillTx/>
                <a:latin typeface="Cantarell"/>
                <a:ea typeface="Consolas"/>
              </a:rPr>
              <a:t>x̄ = (1/n) · Σ xᵢ</a:t>
            </a:r>
            <a:endParaRPr lang="en-US" sz="1400" b="0" u="none" strike="noStrike">
              <a:solidFill>
                <a:srgbClr val="000000"/>
              </a:solidFill>
              <a:effectLst/>
              <a:uFillTx/>
              <a:latin typeface="Cantarell"/>
            </a:endParaRPr>
          </a:p>
          <a:p>
            <a:pPr defTabSz="914400">
              <a:lnSpc>
                <a:spcPct val="110000"/>
              </a:lnSpc>
              <a:tabLst>
                <a:tab pos="0" algn="l"/>
              </a:tabLst>
            </a:pPr>
            <a:r>
              <a:rPr lang="en-US" sz="1400" b="0" u="none" strike="noStrike">
                <a:solidFill>
                  <a:srgbClr val="F1F5F9"/>
                </a:solidFill>
                <a:effectLst/>
                <a:uFillTx/>
                <a:latin typeface="Cantarell"/>
                <a:ea typeface="Consolas"/>
              </a:rPr>
              <a:t> </a:t>
            </a:r>
            <a:endParaRPr lang="en-US" sz="1400" b="0" u="none" strike="noStrike">
              <a:solidFill>
                <a:srgbClr val="000000"/>
              </a:solidFill>
              <a:effectLst/>
              <a:uFillTx/>
              <a:latin typeface="Cantarell"/>
            </a:endParaRPr>
          </a:p>
          <a:p>
            <a:pPr defTabSz="914400">
              <a:lnSpc>
                <a:spcPct val="110000"/>
              </a:lnSpc>
              <a:tabLst>
                <a:tab pos="0" algn="l"/>
              </a:tabLst>
            </a:pPr>
            <a:r>
              <a:rPr lang="en-US" sz="1400" b="0" i="1" u="none" strike="noStrike">
                <a:solidFill>
                  <a:srgbClr val="94A3B8"/>
                </a:solidFill>
                <a:effectLst/>
                <a:uFillTx/>
                <a:latin typeface="Cantarell"/>
                <a:ea typeface="Consolas"/>
              </a:rPr>
              <a:t># Example: [4, 8, 6, 10, 2]</a:t>
            </a:r>
            <a:endParaRPr lang="en-US" sz="1400" b="0" u="none" strike="noStrike">
              <a:solidFill>
                <a:srgbClr val="000000"/>
              </a:solidFill>
              <a:effectLst/>
              <a:uFillTx/>
              <a:latin typeface="Cantarell"/>
            </a:endParaRPr>
          </a:p>
          <a:p>
            <a:pPr defTabSz="914400">
              <a:lnSpc>
                <a:spcPct val="110000"/>
              </a:lnSpc>
              <a:tabLst>
                <a:tab pos="0" algn="l"/>
              </a:tabLst>
            </a:pPr>
            <a:r>
              <a:rPr lang="en-US" sz="1400" b="0" u="none" strike="noStrike">
                <a:solidFill>
                  <a:srgbClr val="F1F5F9"/>
                </a:solidFill>
                <a:effectLst/>
                <a:uFillTx/>
                <a:latin typeface="Cantarell"/>
                <a:ea typeface="Consolas"/>
              </a:rPr>
              <a:t>mean = (4 + 8 + 6 + 10 + 2) / 5</a:t>
            </a:r>
            <a:endParaRPr lang="en-US" sz="1400" b="0" u="none" strike="noStrike">
              <a:solidFill>
                <a:srgbClr val="000000"/>
              </a:solidFill>
              <a:effectLst/>
              <a:uFillTx/>
              <a:latin typeface="Cantarell"/>
            </a:endParaRPr>
          </a:p>
          <a:p>
            <a:pPr defTabSz="914400">
              <a:lnSpc>
                <a:spcPct val="110000"/>
              </a:lnSpc>
              <a:tabLst>
                <a:tab pos="0" algn="l"/>
              </a:tabLst>
            </a:pPr>
            <a:r>
              <a:rPr lang="en-US" sz="1400" b="0" u="none" strike="noStrike">
                <a:solidFill>
                  <a:srgbClr val="F1F5F9"/>
                </a:solidFill>
                <a:effectLst/>
                <a:uFillTx/>
                <a:latin typeface="Cantarell"/>
                <a:ea typeface="Consolas"/>
              </a:rPr>
              <a:t>     = 30 / 5</a:t>
            </a:r>
            <a:endParaRPr lang="en-US" sz="1400" b="0" u="none" strike="noStrike">
              <a:solidFill>
                <a:srgbClr val="000000"/>
              </a:solidFill>
              <a:effectLst/>
              <a:uFillTx/>
              <a:latin typeface="Cantarell"/>
            </a:endParaRPr>
          </a:p>
          <a:p>
            <a:pPr defTabSz="914400">
              <a:lnSpc>
                <a:spcPct val="110000"/>
              </a:lnSpc>
              <a:tabLst>
                <a:tab pos="0" algn="l"/>
              </a:tabLst>
            </a:pPr>
            <a:r>
              <a:rPr lang="en-US" sz="1400" b="0" u="none" strike="noStrike">
                <a:solidFill>
                  <a:srgbClr val="F1F5F9"/>
                </a:solidFill>
                <a:effectLst/>
                <a:uFillTx/>
                <a:latin typeface="Cantarell"/>
                <a:ea typeface="Consolas"/>
              </a:rPr>
              <a:t>     = 6</a:t>
            </a:r>
            <a:endParaRPr lang="en-US" sz="14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116"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117"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73</a:t>
            </a:r>
            <a:endParaRPr lang="en-US" sz="900" b="0" u="none" strike="noStrike">
              <a:solidFill>
                <a:srgbClr val="000000"/>
              </a:solidFill>
              <a:effectLst/>
              <a:uFillTx/>
              <a:latin typeface="Arial"/>
            </a:endParaRPr>
          </a:p>
        </p:txBody>
      </p:sp>
      <p:pic>
        <p:nvPicPr>
          <p:cNvPr id="1118" name="Image 0" descr="/home/claude/assets/logo_crop.png"/>
          <p:cNvPicPr/>
          <p:nvPr/>
        </p:nvPicPr>
        <p:blipFill>
          <a:blip r:embed="rId3"/>
          <a:stretch/>
        </p:blipFill>
        <p:spPr>
          <a:xfrm>
            <a:off x="11201400" y="384120"/>
            <a:ext cx="456840" cy="511560"/>
          </a:xfrm>
          <a:prstGeom prst="rect">
            <a:avLst/>
          </a:prstGeom>
          <a:noFill/>
          <a:ln w="0">
            <a:noFill/>
          </a:ln>
        </p:spPr>
      </p:pic>
      <p:sp>
        <p:nvSpPr>
          <p:cNvPr id="1119"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The Median — The True Middle Value</a:t>
            </a:r>
            <a:endParaRPr lang="en-US" sz="2600" b="0" u="none" strike="noStrike">
              <a:solidFill>
                <a:srgbClr val="000000"/>
              </a:solidFill>
              <a:effectLst/>
              <a:uFillTx/>
              <a:latin typeface="Arial"/>
            </a:endParaRPr>
          </a:p>
        </p:txBody>
      </p:sp>
      <p:sp>
        <p:nvSpPr>
          <p:cNvPr id="1120" name="Text 3"/>
          <p:cNvSpPr/>
          <p:nvPr/>
        </p:nvSpPr>
        <p:spPr>
          <a:xfrm>
            <a:off x="548640" y="1783080"/>
            <a:ext cx="502884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The median is the exact middle value once all your data is sorted — half the values fall below it, half above</a:t>
            </a:r>
            <a:endParaRPr lang="en-US" sz="2000" b="0" u="none" strike="noStrike">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For an even number of values, it’s the average of the two middle numbers</a:t>
            </a:r>
            <a:endParaRPr lang="en-US" sz="2000" b="0" u="none" strike="noStrike">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It ignores how extreme the highest and lowest values are — this is exactly why it resists outliers so much better than the mean</a:t>
            </a:r>
            <a:endParaRPr lang="en-US" sz="2000" b="0" u="none" strike="noStrike">
              <a:solidFill>
                <a:srgbClr val="000000"/>
              </a:solidFill>
              <a:effectLst/>
              <a:uFillTx/>
              <a:latin typeface="Arial"/>
              <a:cs typeface="Arial"/>
            </a:endParaRPr>
          </a:p>
        </p:txBody>
      </p:sp>
      <p:sp>
        <p:nvSpPr>
          <p:cNvPr id="1121" name="Shape 4"/>
          <p:cNvSpPr/>
          <p:nvPr/>
        </p:nvSpPr>
        <p:spPr>
          <a:xfrm>
            <a:off x="5852160" y="1737360"/>
            <a:ext cx="580608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22" name="Shape 5"/>
          <p:cNvSpPr/>
          <p:nvPr/>
        </p:nvSpPr>
        <p:spPr>
          <a:xfrm>
            <a:off x="601668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123" name="Shape 6"/>
          <p:cNvSpPr/>
          <p:nvPr/>
        </p:nvSpPr>
        <p:spPr>
          <a:xfrm>
            <a:off x="621792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124" name="Shape 7"/>
          <p:cNvSpPr/>
          <p:nvPr/>
        </p:nvSpPr>
        <p:spPr>
          <a:xfrm>
            <a:off x="641916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125" name="Text 8"/>
          <p:cNvSpPr/>
          <p:nvPr/>
        </p:nvSpPr>
        <p:spPr>
          <a:xfrm>
            <a:off x="6035040" y="2148840"/>
            <a:ext cx="548604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400" b="0" i="1" u="none" strike="noStrike">
                <a:solidFill>
                  <a:srgbClr val="94A3B8"/>
                </a:solidFill>
                <a:effectLst/>
                <a:uFillTx/>
                <a:latin typeface="Cantarell"/>
                <a:ea typeface="Consolas"/>
              </a:rPr>
              <a:t># Odd count: sort, take the exact middle</a:t>
            </a:r>
            <a:endParaRPr lang="en-US" sz="1400" b="0" u="none" strike="noStrike">
              <a:solidFill>
                <a:srgbClr val="000000"/>
              </a:solidFill>
              <a:effectLst/>
              <a:uFillTx/>
              <a:latin typeface="Cantarell"/>
            </a:endParaRPr>
          </a:p>
          <a:p>
            <a:pPr defTabSz="914400">
              <a:lnSpc>
                <a:spcPct val="110000"/>
              </a:lnSpc>
              <a:tabLst>
                <a:tab pos="0" algn="l"/>
              </a:tabLst>
            </a:pPr>
            <a:r>
              <a:rPr lang="en-US" sz="1400" b="0" u="none" strike="noStrike">
                <a:solidFill>
                  <a:srgbClr val="F1F5F9"/>
                </a:solidFill>
                <a:effectLst/>
                <a:uFillTx/>
                <a:latin typeface="Cantarell"/>
                <a:ea typeface="Consolas"/>
              </a:rPr>
              <a:t>[2, 4, 6, 8, 10]  →  median = 6</a:t>
            </a:r>
            <a:endParaRPr lang="en-US" sz="1400" b="0" u="none" strike="noStrike">
              <a:solidFill>
                <a:srgbClr val="000000"/>
              </a:solidFill>
              <a:effectLst/>
              <a:uFillTx/>
              <a:latin typeface="Cantarell"/>
            </a:endParaRPr>
          </a:p>
          <a:p>
            <a:pPr defTabSz="914400">
              <a:lnSpc>
                <a:spcPct val="110000"/>
              </a:lnSpc>
              <a:tabLst>
                <a:tab pos="0" algn="l"/>
              </a:tabLst>
            </a:pPr>
            <a:r>
              <a:rPr lang="en-US" sz="1400" b="0" i="1" u="none" strike="noStrike">
                <a:solidFill>
                  <a:srgbClr val="94A3B8"/>
                </a:solidFill>
                <a:effectLst/>
                <a:uFillTx/>
                <a:latin typeface="Cantarell"/>
                <a:ea typeface="Consolas"/>
              </a:rPr>
              <a:t># Even count: average the two middle values</a:t>
            </a:r>
            <a:endParaRPr lang="en-US" sz="1400" b="0" u="none" strike="noStrike">
              <a:solidFill>
                <a:srgbClr val="000000"/>
              </a:solidFill>
              <a:effectLst/>
              <a:uFillTx/>
              <a:latin typeface="Cantarell"/>
            </a:endParaRPr>
          </a:p>
          <a:p>
            <a:pPr defTabSz="914400">
              <a:lnSpc>
                <a:spcPct val="110000"/>
              </a:lnSpc>
              <a:tabLst>
                <a:tab pos="0" algn="l"/>
              </a:tabLst>
            </a:pPr>
            <a:r>
              <a:rPr lang="en-US" sz="1400" b="0" u="none" strike="noStrike">
                <a:solidFill>
                  <a:srgbClr val="F1F5F9"/>
                </a:solidFill>
                <a:effectLst/>
                <a:uFillTx/>
                <a:latin typeface="Cantarell"/>
                <a:ea typeface="Consolas"/>
              </a:rPr>
              <a:t>[2, 4, 6, 8]      →  median = (4 + 6) / 2 = 5</a:t>
            </a:r>
            <a:endParaRPr lang="en-US" sz="1400" b="0" u="none" strike="noStrike">
              <a:solidFill>
                <a:srgbClr val="000000"/>
              </a:solidFill>
              <a:effectLst/>
              <a:uFillTx/>
              <a:latin typeface="Cantarell"/>
            </a:endParaRPr>
          </a:p>
          <a:p>
            <a:pPr defTabSz="914400">
              <a:lnSpc>
                <a:spcPct val="110000"/>
              </a:lnSpc>
              <a:tabLst>
                <a:tab pos="0" algn="l"/>
              </a:tabLst>
            </a:pPr>
            <a:r>
              <a:rPr lang="en-US" sz="1400" b="0" i="1" u="none" strike="noStrike">
                <a:solidFill>
                  <a:srgbClr val="94A3B8"/>
                </a:solidFill>
                <a:effectLst/>
                <a:uFillTx/>
                <a:latin typeface="Cantarell"/>
                <a:ea typeface="Consolas"/>
              </a:rPr>
              <a:t># Works even on ordinal data (e.g. star ratings)</a:t>
            </a:r>
            <a:endParaRPr lang="en-US" sz="14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126"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127"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74</a:t>
            </a:r>
            <a:endParaRPr lang="en-US" sz="900" b="0" u="none" strike="noStrike">
              <a:solidFill>
                <a:srgbClr val="000000"/>
              </a:solidFill>
              <a:effectLst/>
              <a:uFillTx/>
              <a:latin typeface="Arial"/>
            </a:endParaRPr>
          </a:p>
        </p:txBody>
      </p:sp>
      <p:pic>
        <p:nvPicPr>
          <p:cNvPr id="1128" name="Image 0" descr="/home/claude/assets/logo_crop.png"/>
          <p:cNvPicPr/>
          <p:nvPr/>
        </p:nvPicPr>
        <p:blipFill>
          <a:blip r:embed="rId3"/>
          <a:stretch/>
        </p:blipFill>
        <p:spPr>
          <a:xfrm>
            <a:off x="11201400" y="384120"/>
            <a:ext cx="456840" cy="511560"/>
          </a:xfrm>
          <a:prstGeom prst="rect">
            <a:avLst/>
          </a:prstGeom>
          <a:noFill/>
          <a:ln w="0">
            <a:noFill/>
          </a:ln>
        </p:spPr>
      </p:pic>
      <p:sp>
        <p:nvSpPr>
          <p:cNvPr id="1129"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The Mode — The Most Frequent Value</a:t>
            </a:r>
            <a:endParaRPr lang="en-US" sz="2600" b="0" u="none" strike="noStrike">
              <a:solidFill>
                <a:srgbClr val="000000"/>
              </a:solidFill>
              <a:effectLst/>
              <a:uFillTx/>
              <a:latin typeface="Arial"/>
            </a:endParaRPr>
          </a:p>
        </p:txBody>
      </p:sp>
      <p:sp>
        <p:nvSpPr>
          <p:cNvPr id="1130" name="Text 3"/>
          <p:cNvSpPr/>
          <p:nvPr/>
        </p:nvSpPr>
        <p:spPr>
          <a:xfrm>
            <a:off x="548640" y="1783080"/>
            <a:ext cx="502884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The mode is simply whichever value appears most often in the dataset</a:t>
            </a:r>
            <a:endParaRPr lang="en-US" sz="2000" b="0" u="none" strike="noStrike" dirty="0">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It’s the only measure of central tendency that works on nominal (category) data — mean and median don’t apply there at all</a:t>
            </a:r>
            <a:endParaRPr lang="en-US" sz="2000" b="0" u="none" strike="noStrike" dirty="0">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A dataset can have one mode, several (multimodal), or none at all if every value appears equally often</a:t>
            </a:r>
            <a:endParaRPr lang="en-US" sz="2000" b="0" u="none" strike="noStrike" dirty="0">
              <a:solidFill>
                <a:srgbClr val="000000"/>
              </a:solidFill>
              <a:effectLst/>
              <a:uFillTx/>
              <a:latin typeface="Arial"/>
              <a:cs typeface="Arial"/>
            </a:endParaRPr>
          </a:p>
        </p:txBody>
      </p:sp>
      <p:sp>
        <p:nvSpPr>
          <p:cNvPr id="1131" name="Shape 4"/>
          <p:cNvSpPr/>
          <p:nvPr/>
        </p:nvSpPr>
        <p:spPr>
          <a:xfrm>
            <a:off x="5852160" y="1737360"/>
            <a:ext cx="580608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32" name="Shape 5"/>
          <p:cNvSpPr/>
          <p:nvPr/>
        </p:nvSpPr>
        <p:spPr>
          <a:xfrm>
            <a:off x="601668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133" name="Shape 6"/>
          <p:cNvSpPr/>
          <p:nvPr/>
        </p:nvSpPr>
        <p:spPr>
          <a:xfrm>
            <a:off x="621792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134" name="Shape 7"/>
          <p:cNvSpPr/>
          <p:nvPr/>
        </p:nvSpPr>
        <p:spPr>
          <a:xfrm>
            <a:off x="641916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135" name="Text 8"/>
          <p:cNvSpPr/>
          <p:nvPr/>
        </p:nvSpPr>
        <p:spPr>
          <a:xfrm>
            <a:off x="6035040" y="2148840"/>
            <a:ext cx="548604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400" b="0" u="none" strike="noStrike">
                <a:solidFill>
                  <a:srgbClr val="F1F5F9"/>
                </a:solidFill>
                <a:effectLst/>
                <a:uFillTx/>
                <a:latin typeface="Cantarell"/>
                <a:ea typeface="Consolas"/>
              </a:rPr>
              <a:t>[2, 4, 4, 6, 8]  →  mode = 4</a:t>
            </a:r>
            <a:endParaRPr lang="en-US" sz="1400" b="0" u="none" strike="noStrike">
              <a:solidFill>
                <a:srgbClr val="000000"/>
              </a:solidFill>
              <a:effectLst/>
              <a:uFillTx/>
              <a:latin typeface="Cantarell"/>
            </a:endParaRPr>
          </a:p>
          <a:p>
            <a:pPr defTabSz="914400">
              <a:lnSpc>
                <a:spcPct val="110000"/>
              </a:lnSpc>
              <a:tabLst>
                <a:tab pos="0" algn="l"/>
              </a:tabLst>
            </a:pPr>
            <a:r>
              <a:rPr lang="en-US" sz="1400" b="0" i="1" u="none" strike="noStrike">
                <a:solidFill>
                  <a:srgbClr val="94A3B8"/>
                </a:solidFill>
                <a:effectLst/>
                <a:uFillTx/>
                <a:latin typeface="Cantarell"/>
                <a:ea typeface="Consolas"/>
              </a:rPr>
              <a:t># appears twice</a:t>
            </a:r>
            <a:endParaRPr lang="en-US" sz="1400" b="0" u="none" strike="noStrike">
              <a:solidFill>
                <a:srgbClr val="000000"/>
              </a:solidFill>
              <a:effectLst/>
              <a:uFillTx/>
              <a:latin typeface="Cantarell"/>
            </a:endParaRPr>
          </a:p>
          <a:p>
            <a:pPr defTabSz="914400">
              <a:lnSpc>
                <a:spcPct val="110000"/>
              </a:lnSpc>
              <a:tabLst>
                <a:tab pos="0" algn="l"/>
              </a:tabLst>
            </a:pPr>
            <a:r>
              <a:rPr lang="en-US" sz="1400" b="0" u="none" strike="noStrike">
                <a:solidFill>
                  <a:srgbClr val="F1F5F9"/>
                </a:solidFill>
                <a:effectLst/>
                <a:uFillTx/>
                <a:latin typeface="Cantarell"/>
                <a:ea typeface="Consolas"/>
              </a:rPr>
              <a:t> </a:t>
            </a:r>
            <a:endParaRPr lang="en-US" sz="1400" b="0" u="none" strike="noStrike">
              <a:solidFill>
                <a:srgbClr val="000000"/>
              </a:solidFill>
              <a:effectLst/>
              <a:uFillTx/>
              <a:latin typeface="Cantarell"/>
            </a:endParaRPr>
          </a:p>
          <a:p>
            <a:pPr defTabSz="914400">
              <a:lnSpc>
                <a:spcPct val="110000"/>
              </a:lnSpc>
              <a:tabLst>
                <a:tab pos="0" algn="l"/>
              </a:tabLst>
            </a:pPr>
            <a:r>
              <a:rPr lang="en-US" sz="1400" b="0" u="none" strike="noStrike">
                <a:solidFill>
                  <a:srgbClr val="F1F5F9"/>
                </a:solidFill>
                <a:effectLst/>
                <a:uFillTx/>
                <a:latin typeface="Cantarell"/>
                <a:ea typeface="Consolas"/>
              </a:rPr>
              <a:t>['red', 'blue', 'red', 'red']</a:t>
            </a:r>
            <a:endParaRPr lang="en-US" sz="1400" b="0" u="none" strike="noStrike">
              <a:solidFill>
                <a:srgbClr val="000000"/>
              </a:solidFill>
              <a:effectLst/>
              <a:uFillTx/>
              <a:latin typeface="Cantarell"/>
            </a:endParaRPr>
          </a:p>
          <a:p>
            <a:pPr defTabSz="914400">
              <a:lnSpc>
                <a:spcPct val="110000"/>
              </a:lnSpc>
              <a:tabLst>
                <a:tab pos="0" algn="l"/>
              </a:tabLst>
            </a:pPr>
            <a:r>
              <a:rPr lang="en-US" sz="1400" b="0" u="none" strike="noStrike">
                <a:solidFill>
                  <a:srgbClr val="F1F5F9"/>
                </a:solidFill>
                <a:effectLst/>
                <a:uFillTx/>
                <a:latin typeface="Cantarell"/>
                <a:ea typeface="Consolas"/>
              </a:rPr>
              <a:t>                 →  mode = 'red'</a:t>
            </a:r>
            <a:endParaRPr lang="en-US" sz="1400" b="0" u="none" strike="noStrike">
              <a:solidFill>
                <a:srgbClr val="000000"/>
              </a:solidFill>
              <a:effectLst/>
              <a:uFillTx/>
              <a:latin typeface="Cantarell"/>
            </a:endParaRPr>
          </a:p>
          <a:p>
            <a:pPr defTabSz="914400">
              <a:lnSpc>
                <a:spcPct val="110000"/>
              </a:lnSpc>
              <a:tabLst>
                <a:tab pos="0" algn="l"/>
              </a:tabLst>
            </a:pPr>
            <a:r>
              <a:rPr lang="en-US" sz="1400" b="0" u="none" strike="noStrike">
                <a:solidFill>
                  <a:srgbClr val="F1F5F9"/>
                </a:solidFill>
                <a:effectLst/>
                <a:uFillTx/>
                <a:latin typeface="Cantarell"/>
                <a:ea typeface="Consolas"/>
              </a:rPr>
              <a:t> </a:t>
            </a:r>
            <a:endParaRPr lang="en-US" sz="1400" b="0" u="none" strike="noStrike">
              <a:solidFill>
                <a:srgbClr val="000000"/>
              </a:solidFill>
              <a:effectLst/>
              <a:uFillTx/>
              <a:latin typeface="Cantarell"/>
            </a:endParaRPr>
          </a:p>
          <a:p>
            <a:pPr defTabSz="914400">
              <a:lnSpc>
                <a:spcPct val="110000"/>
              </a:lnSpc>
              <a:tabLst>
                <a:tab pos="0" algn="l"/>
              </a:tabLst>
            </a:pPr>
            <a:r>
              <a:rPr lang="en-US" sz="1400" b="0" u="none" strike="noStrike">
                <a:solidFill>
                  <a:srgbClr val="F1F5F9"/>
                </a:solidFill>
                <a:effectLst/>
                <a:uFillTx/>
                <a:latin typeface="Cantarell"/>
                <a:ea typeface="Consolas"/>
              </a:rPr>
              <a:t>[1, 2, 3, 4]  →  no mode</a:t>
            </a:r>
            <a:endParaRPr lang="en-US" sz="1400" b="0" u="none" strike="noStrike">
              <a:solidFill>
                <a:srgbClr val="000000"/>
              </a:solidFill>
              <a:effectLst/>
              <a:uFillTx/>
              <a:latin typeface="Cantarell"/>
            </a:endParaRPr>
          </a:p>
          <a:p>
            <a:pPr defTabSz="914400">
              <a:lnSpc>
                <a:spcPct val="110000"/>
              </a:lnSpc>
              <a:tabLst>
                <a:tab pos="0" algn="l"/>
              </a:tabLst>
            </a:pPr>
            <a:r>
              <a:rPr lang="en-US" sz="1400" b="0" i="1" u="none" strike="noStrike">
                <a:solidFill>
                  <a:srgbClr val="94A3B8"/>
                </a:solidFill>
                <a:effectLst/>
                <a:uFillTx/>
                <a:latin typeface="Cantarell"/>
                <a:ea typeface="Consolas"/>
              </a:rPr>
              <a:t># every value appears once</a:t>
            </a:r>
            <a:endParaRPr lang="en-US" sz="14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136"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137"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75</a:t>
            </a:r>
            <a:endParaRPr lang="en-US" sz="900" b="0" u="none" strike="noStrike">
              <a:solidFill>
                <a:srgbClr val="000000"/>
              </a:solidFill>
              <a:effectLst/>
              <a:uFillTx/>
              <a:latin typeface="Arial"/>
            </a:endParaRPr>
          </a:p>
        </p:txBody>
      </p:sp>
      <p:pic>
        <p:nvPicPr>
          <p:cNvPr id="1138" name="Image 0" descr="/home/claude/assets/logo_crop.png"/>
          <p:cNvPicPr/>
          <p:nvPr/>
        </p:nvPicPr>
        <p:blipFill>
          <a:blip r:embed="rId3"/>
          <a:stretch/>
        </p:blipFill>
        <p:spPr>
          <a:xfrm>
            <a:off x="11201400" y="384120"/>
            <a:ext cx="456840" cy="511560"/>
          </a:xfrm>
          <a:prstGeom prst="rect">
            <a:avLst/>
          </a:prstGeom>
          <a:noFill/>
          <a:ln w="0">
            <a:noFill/>
          </a:ln>
        </p:spPr>
      </p:pic>
      <p:sp>
        <p:nvSpPr>
          <p:cNvPr id="1139"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The Same Three, with Libraries</a:t>
            </a:r>
            <a:endParaRPr lang="en-US" sz="2600" b="0" u="none" strike="noStrike">
              <a:solidFill>
                <a:srgbClr val="000000"/>
              </a:solidFill>
              <a:effectLst/>
              <a:uFillTx/>
              <a:latin typeface="Arial"/>
            </a:endParaRPr>
          </a:p>
        </p:txBody>
      </p:sp>
      <p:sp>
        <p:nvSpPr>
          <p:cNvPr id="1140"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Every library gives the same answer — pick whichever is already in your code.</a:t>
            </a:r>
            <a:endParaRPr lang="en-US" sz="2000" b="0" u="none" strike="noStrike" dirty="0">
              <a:solidFill>
                <a:srgbClr val="000000"/>
              </a:solidFill>
              <a:effectLst/>
              <a:uFillTx/>
              <a:latin typeface="Arial"/>
              <a:cs typeface="Arial"/>
            </a:endParaRPr>
          </a:p>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statistics is simplest, </a:t>
            </a:r>
            <a:r>
              <a:rPr lang="en-US" sz="2000" b="0" u="none" strike="noStrike" dirty="0" err="1">
                <a:solidFill>
                  <a:srgbClr val="1B1B20"/>
                </a:solidFill>
                <a:effectLst/>
                <a:uFillTx/>
                <a:latin typeface="Hanken Grotesk"/>
                <a:ea typeface="Hanken Grotesk"/>
              </a:rPr>
              <a:t>numpy</a:t>
            </a:r>
            <a:r>
              <a:rPr lang="en-US" sz="2000" b="0" u="none" strike="noStrike" dirty="0">
                <a:solidFill>
                  <a:srgbClr val="1B1B20"/>
                </a:solidFill>
                <a:effectLst/>
                <a:uFillTx/>
                <a:latin typeface="Hanken Grotesk"/>
                <a:ea typeface="Hanken Grotesk"/>
              </a:rPr>
              <a:t> and pandas are fastest on big data.</a:t>
            </a:r>
            <a:endParaRPr lang="en-US" sz="2000" b="0" u="none" strike="noStrike" dirty="0">
              <a:solidFill>
                <a:srgbClr val="000000"/>
              </a:solidFill>
              <a:effectLst/>
              <a:uFillTx/>
              <a:latin typeface="Arial"/>
              <a:cs typeface="Arial"/>
            </a:endParaRPr>
          </a:p>
          <a:p>
            <a:pPr marL="285750" indent="-285750" defTabSz="914400">
              <a:lnSpc>
                <a:spcPct val="100000"/>
              </a:lnSpc>
              <a:spcAft>
                <a:spcPts val="1400"/>
              </a:spcAft>
              <a:buClr>
                <a:srgbClr val="1B1B20"/>
              </a:buClr>
              <a:buFont typeface="Arial"/>
              <a:buChar char="•"/>
            </a:pPr>
            <a:r>
              <a:rPr lang="en-US" sz="2000" b="0" u="none" strike="noStrike" err="1">
                <a:solidFill>
                  <a:srgbClr val="1B1B20"/>
                </a:solidFill>
                <a:effectLst/>
                <a:uFillTx/>
                <a:latin typeface="Hanken Grotesk"/>
                <a:ea typeface="Hanken Grotesk"/>
              </a:rPr>
              <a:t>scipy.stats.mode</a:t>
            </a:r>
            <a:r>
              <a:rPr lang="en-US" sz="2000" b="0" u="none" strike="noStrike" dirty="0">
                <a:solidFill>
                  <a:srgbClr val="1B1B20"/>
                </a:solidFill>
                <a:effectLst/>
                <a:uFillTx/>
                <a:latin typeface="Hanken Grotesk"/>
                <a:ea typeface="Hanken Grotesk"/>
              </a:rPr>
              <a:t> returns the mode too, with its count.</a:t>
            </a:r>
            <a:endParaRPr lang="en-US" sz="2000" b="0" u="none" strike="noStrike" dirty="0">
              <a:solidFill>
                <a:srgbClr val="000000"/>
              </a:solidFill>
              <a:effectLst/>
              <a:uFillTx/>
              <a:latin typeface="Arial"/>
              <a:cs typeface="Arial"/>
            </a:endParaRPr>
          </a:p>
        </p:txBody>
      </p:sp>
      <p:sp>
        <p:nvSpPr>
          <p:cNvPr id="1141"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42"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143"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144"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145"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200" b="0" u="none" strike="noStrike">
                <a:solidFill>
                  <a:srgbClr val="F1F5F9"/>
                </a:solidFill>
                <a:effectLst/>
                <a:uFillTx/>
                <a:latin typeface="Cantarell"/>
                <a:ea typeface="Consolas"/>
              </a:rPr>
              <a:t>import statistics</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import numpy as np</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import pandas as pd</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from scipy import stats</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data = [4, 8, 6, 5, 3, 8, 9]</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print(statistics.mean(data))      </a:t>
            </a:r>
            <a:r>
              <a:rPr lang="en-US" sz="1200" b="0" i="1" u="none" strike="noStrike">
                <a:solidFill>
                  <a:srgbClr val="94A3B8"/>
                </a:solidFill>
                <a:effectLst/>
                <a:uFillTx/>
                <a:latin typeface="Cantarell"/>
                <a:ea typeface="Consolas"/>
              </a:rPr>
              <a:t># 6.142857142857143</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print(np.median(data))            </a:t>
            </a:r>
            <a:r>
              <a:rPr lang="en-US" sz="1200" b="0" i="1" u="none" strike="noStrike">
                <a:solidFill>
                  <a:srgbClr val="94A3B8"/>
                </a:solidFill>
                <a:effectLst/>
                <a:uFillTx/>
                <a:latin typeface="Cantarell"/>
                <a:ea typeface="Consolas"/>
              </a:rPr>
              <a:t># 6.0</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print(pd.Series(data).mode()[0])  </a:t>
            </a:r>
            <a:r>
              <a:rPr lang="en-US" sz="1200" b="0" i="1" u="none" strike="noStrike">
                <a:solidFill>
                  <a:srgbClr val="94A3B8"/>
                </a:solidFill>
                <a:effectLst/>
                <a:uFillTx/>
                <a:latin typeface="Cantarell"/>
                <a:ea typeface="Consolas"/>
              </a:rPr>
              <a:t># 8</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print(stats.mode(data).mode)      </a:t>
            </a:r>
            <a:r>
              <a:rPr lang="en-US" sz="1200" b="0" i="1" u="none" strike="noStrike">
                <a:solidFill>
                  <a:srgbClr val="94A3B8"/>
                </a:solidFill>
                <a:effectLst/>
                <a:uFillTx/>
                <a:latin typeface="Cantarell"/>
                <a:ea typeface="Consolas"/>
              </a:rPr>
              <a:t># 8</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print(statistics.multimode([1, 1, 2, 2, 3]))  </a:t>
            </a:r>
            <a:r>
              <a:rPr lang="en-US" sz="1200" b="0" i="1" u="none" strike="noStrike">
                <a:solidFill>
                  <a:srgbClr val="94A3B8"/>
                </a:solidFill>
                <a:effectLst/>
                <a:uFillTx/>
                <a:latin typeface="Cantarell"/>
                <a:ea typeface="Consolas"/>
              </a:rPr>
              <a:t># [1, 2]</a:t>
            </a:r>
            <a:endParaRPr lang="en-US" sz="12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146"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147"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76</a:t>
            </a:r>
            <a:endParaRPr lang="en-US" sz="900" b="0" u="none" strike="noStrike">
              <a:solidFill>
                <a:srgbClr val="000000"/>
              </a:solidFill>
              <a:effectLst/>
              <a:uFillTx/>
              <a:latin typeface="Arial"/>
            </a:endParaRPr>
          </a:p>
        </p:txBody>
      </p:sp>
      <p:pic>
        <p:nvPicPr>
          <p:cNvPr id="1148" name="Image 0" descr="/home/claude/assets/logo_crop.png"/>
          <p:cNvPicPr/>
          <p:nvPr/>
        </p:nvPicPr>
        <p:blipFill>
          <a:blip r:embed="rId3"/>
          <a:stretch/>
        </p:blipFill>
        <p:spPr>
          <a:xfrm>
            <a:off x="11201400" y="384120"/>
            <a:ext cx="456840" cy="511560"/>
          </a:xfrm>
          <a:prstGeom prst="rect">
            <a:avLst/>
          </a:prstGeom>
          <a:noFill/>
          <a:ln w="0">
            <a:noFill/>
          </a:ln>
        </p:spPr>
      </p:pic>
      <p:sp>
        <p:nvSpPr>
          <p:cNvPr id="1149"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When the Mean Lies to You</a:t>
            </a:r>
            <a:endParaRPr lang="en-US" sz="2600" b="0" u="none" strike="noStrike">
              <a:solidFill>
                <a:srgbClr val="000000"/>
              </a:solidFill>
              <a:effectLst/>
              <a:uFillTx/>
              <a:latin typeface="Arial"/>
            </a:endParaRPr>
          </a:p>
        </p:txBody>
      </p:sp>
      <p:sp>
        <p:nvSpPr>
          <p:cNvPr id="1150" name="Shape 3"/>
          <p:cNvSpPr/>
          <p:nvPr/>
        </p:nvSpPr>
        <p:spPr>
          <a:xfrm>
            <a:off x="548640" y="1737360"/>
            <a:ext cx="5486040" cy="4023000"/>
          </a:xfrm>
          <a:prstGeom prst="roundRect">
            <a:avLst>
              <a:gd name="adj" fmla="val 1818"/>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1" name="Shape 4"/>
          <p:cNvSpPr/>
          <p:nvPr/>
        </p:nvSpPr>
        <p:spPr>
          <a:xfrm>
            <a:off x="777240" y="1965960"/>
            <a:ext cx="5028840" cy="456840"/>
          </a:xfrm>
          <a:prstGeom prst="roundRect">
            <a:avLst>
              <a:gd name="adj" fmla="val 5000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52" name="Text 5"/>
          <p:cNvSpPr/>
          <p:nvPr/>
        </p:nvSpPr>
        <p:spPr>
          <a:xfrm>
            <a:off x="777240" y="1965960"/>
            <a:ext cx="5028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Plus Jakarta Sans"/>
                <a:ea typeface="Plus Jakarta Sans"/>
              </a:rPr>
              <a:t>The Classic Example</a:t>
            </a:r>
            <a:endParaRPr lang="en-US" sz="1400" b="0" u="none" strike="noStrike">
              <a:solidFill>
                <a:srgbClr val="000000"/>
              </a:solidFill>
              <a:effectLst/>
              <a:uFillTx/>
              <a:latin typeface="Arial"/>
            </a:endParaRPr>
          </a:p>
        </p:txBody>
      </p:sp>
      <p:sp>
        <p:nvSpPr>
          <p:cNvPr id="1153" name="Text 6"/>
          <p:cNvSpPr/>
          <p:nvPr/>
        </p:nvSpPr>
        <p:spPr>
          <a:xfrm>
            <a:off x="822960" y="2697480"/>
            <a:ext cx="4937400" cy="2925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Salaries at a small company: $40k, $42k, $45k, $48k, $500k (the owner)</a:t>
            </a:r>
            <a:endParaRPr lang="en-US" sz="16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Mean = $135k — technically correct, but describes almost NOBODY’S actual salary</a:t>
            </a:r>
            <a:endParaRPr lang="en-US" sz="16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Median = $45k — this is what a "typical" employee genuinely earns</a:t>
            </a:r>
            <a:endParaRPr lang="en-US" sz="1600" b="0" u="none" strike="noStrike" dirty="0">
              <a:solidFill>
                <a:srgbClr val="000000"/>
              </a:solidFill>
              <a:effectLst/>
              <a:uFillTx/>
              <a:latin typeface="Arial"/>
              <a:cs typeface="Arial"/>
            </a:endParaRPr>
          </a:p>
        </p:txBody>
      </p:sp>
      <p:sp>
        <p:nvSpPr>
          <p:cNvPr id="1154" name="Shape 7"/>
          <p:cNvSpPr/>
          <p:nvPr/>
        </p:nvSpPr>
        <p:spPr>
          <a:xfrm>
            <a:off x="6172200" y="1737360"/>
            <a:ext cx="5486040" cy="4023000"/>
          </a:xfrm>
          <a:prstGeom prst="roundRect">
            <a:avLst>
              <a:gd name="adj" fmla="val 1818"/>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5" name="Shape 8"/>
          <p:cNvSpPr/>
          <p:nvPr/>
        </p:nvSpPr>
        <p:spPr>
          <a:xfrm>
            <a:off x="6400800" y="1965960"/>
            <a:ext cx="5028840" cy="456840"/>
          </a:xfrm>
          <a:prstGeom prst="roundRect">
            <a:avLst>
              <a:gd name="adj" fmla="val 50000"/>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6" name="Text 9"/>
          <p:cNvSpPr/>
          <p:nvPr/>
        </p:nvSpPr>
        <p:spPr>
          <a:xfrm>
            <a:off x="6400800" y="1965960"/>
            <a:ext cx="5028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The Rule of Thumb</a:t>
            </a:r>
            <a:endParaRPr lang="en-US" sz="1400" b="0" u="none" strike="noStrike">
              <a:solidFill>
                <a:srgbClr val="000000"/>
              </a:solidFill>
              <a:effectLst/>
              <a:uFillTx/>
              <a:latin typeface="Arial"/>
            </a:endParaRPr>
          </a:p>
        </p:txBody>
      </p:sp>
      <p:sp>
        <p:nvSpPr>
          <p:cNvPr id="1157" name="Text 10"/>
          <p:cNvSpPr/>
          <p:nvPr/>
        </p:nvSpPr>
        <p:spPr>
          <a:xfrm>
            <a:off x="6446520" y="2697480"/>
            <a:ext cx="4937400" cy="2925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When data is skewed or has extreme outliers, prefer the median</a:t>
            </a:r>
            <a:endParaRPr lang="en-US" sz="16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When data is roughly symmetric with no extreme values, the mean is fine, and uses more information</a:t>
            </a:r>
            <a:endParaRPr lang="en-US" sz="16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This is exactly why income, house prices, and similar data are almost always reported as medians in the news</a:t>
            </a:r>
            <a:endParaRPr lang="en-US" sz="16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158"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159"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77</a:t>
            </a:r>
            <a:endParaRPr lang="en-US" sz="900" b="0" u="none" strike="noStrike">
              <a:solidFill>
                <a:srgbClr val="000000"/>
              </a:solidFill>
              <a:effectLst/>
              <a:uFillTx/>
              <a:latin typeface="Arial"/>
            </a:endParaRPr>
          </a:p>
        </p:txBody>
      </p:sp>
      <p:pic>
        <p:nvPicPr>
          <p:cNvPr id="1160" name="Image 0" descr="/home/claude/assets/logo_crop.png"/>
          <p:cNvPicPr/>
          <p:nvPr/>
        </p:nvPicPr>
        <p:blipFill>
          <a:blip r:embed="rId3"/>
          <a:stretch/>
        </p:blipFill>
        <p:spPr>
          <a:xfrm>
            <a:off x="11201400" y="384120"/>
            <a:ext cx="456840" cy="511560"/>
          </a:xfrm>
          <a:prstGeom prst="rect">
            <a:avLst/>
          </a:prstGeom>
          <a:noFill/>
          <a:ln w="0">
            <a:noFill/>
          </a:ln>
        </p:spPr>
      </p:pic>
      <p:sp>
        <p:nvSpPr>
          <p:cNvPr id="1161"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When the Mean Lies — in Code</a:t>
            </a:r>
            <a:endParaRPr lang="en-US" sz="2600" b="0" u="none" strike="noStrike">
              <a:solidFill>
                <a:srgbClr val="000000"/>
              </a:solidFill>
              <a:effectLst/>
              <a:uFillTx/>
              <a:latin typeface="Arial"/>
            </a:endParaRPr>
          </a:p>
        </p:txBody>
      </p:sp>
      <p:sp>
        <p:nvSpPr>
          <p:cNvPr id="1162"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One $500k salary drags the mean to $135k; the median stays at $45k.</a:t>
            </a:r>
            <a:endParaRPr lang="en-US" sz="2000" b="0" u="none" strike="noStrike">
              <a:solidFill>
                <a:srgbClr val="000000"/>
              </a:solidFill>
              <a:effectLst/>
              <a:uFillTx/>
              <a:latin typeface="Arial"/>
              <a:cs typeface="Arial"/>
            </a:endParaRPr>
          </a:p>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A trimmed mean drops a slice from each end before averaging.</a:t>
            </a:r>
            <a:endParaRPr lang="en-US" sz="2000" b="0" u="none" strike="noStrike">
              <a:solidFill>
                <a:srgbClr val="000000"/>
              </a:solidFill>
              <a:effectLst/>
              <a:uFillTx/>
              <a:latin typeface="Arial"/>
              <a:cs typeface="Arial"/>
            </a:endParaRPr>
          </a:p>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A weighted mean counts some values more than others.</a:t>
            </a:r>
            <a:endParaRPr lang="en-US" sz="2000" b="0" u="none" strike="noStrike">
              <a:solidFill>
                <a:srgbClr val="000000"/>
              </a:solidFill>
              <a:effectLst/>
              <a:uFillTx/>
              <a:latin typeface="Arial"/>
              <a:cs typeface="Arial"/>
            </a:endParaRPr>
          </a:p>
        </p:txBody>
      </p:sp>
      <p:sp>
        <p:nvSpPr>
          <p:cNvPr id="1163"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64"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165"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166"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167"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200" b="0" u="none" strike="noStrike">
                <a:solidFill>
                  <a:srgbClr val="F1F5F9"/>
                </a:solidFill>
                <a:effectLst/>
                <a:uFillTx/>
                <a:latin typeface="Cantarell"/>
                <a:ea typeface="Consolas"/>
              </a:rPr>
              <a:t>import numpy as np</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from scipy import stats</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salaries = [40, 42, 45, 48, 500]   </a:t>
            </a:r>
            <a:r>
              <a:rPr lang="en-US" sz="1200" b="0" i="1" u="none" strike="noStrike">
                <a:solidFill>
                  <a:srgbClr val="94A3B8"/>
                </a:solidFill>
                <a:effectLst/>
                <a:uFillTx/>
                <a:latin typeface="Cantarell"/>
                <a:ea typeface="Consolas"/>
              </a:rPr>
              <a:t># in $k</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print(np.mean(salaries))          </a:t>
            </a:r>
            <a:r>
              <a:rPr lang="en-US" sz="1200" b="0" i="1" u="none" strike="noStrike">
                <a:solidFill>
                  <a:srgbClr val="94A3B8"/>
                </a:solidFill>
                <a:effectLst/>
                <a:uFillTx/>
                <a:latin typeface="Cantarell"/>
                <a:ea typeface="Consolas"/>
              </a:rPr>
              <a:t># 135.0</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print(np.median(salaries))        </a:t>
            </a:r>
            <a:r>
              <a:rPr lang="en-US" sz="1200" b="0" i="1" u="none" strike="noStrike">
                <a:solidFill>
                  <a:srgbClr val="94A3B8"/>
                </a:solidFill>
                <a:effectLst/>
                <a:uFillTx/>
                <a:latin typeface="Cantarell"/>
                <a:ea typeface="Consolas"/>
              </a:rPr>
              <a:t># 45.0</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print(stats.trim_mean(salaries, 0.2))  </a:t>
            </a:r>
            <a:r>
              <a:rPr lang="en-US" sz="1200" b="0" i="1" u="none" strike="noStrike">
                <a:solidFill>
                  <a:srgbClr val="94A3B8"/>
                </a:solidFill>
                <a:effectLst/>
                <a:uFillTx/>
                <a:latin typeface="Cantarell"/>
                <a:ea typeface="Consolas"/>
              </a:rPr>
              <a:t># 45.0</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i="1" u="none" strike="noStrike">
                <a:solidFill>
                  <a:srgbClr val="94A3B8"/>
                </a:solidFill>
                <a:effectLst/>
                <a:uFillTx/>
                <a:latin typeface="Cantarell"/>
                <a:ea typeface="Consolas"/>
              </a:rPr>
              <a:t># Weighted mean: exam worth 3x the quiz</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print(np.average([80, 90], weights=[1, 3]))  </a:t>
            </a:r>
            <a:r>
              <a:rPr lang="en-US" sz="1200" b="0" i="1" u="none" strike="noStrike">
                <a:solidFill>
                  <a:srgbClr val="94A3B8"/>
                </a:solidFill>
                <a:effectLst/>
                <a:uFillTx/>
                <a:latin typeface="Cantarell"/>
                <a:ea typeface="Consolas"/>
              </a:rPr>
              <a:t># 87.5</a:t>
            </a:r>
            <a:endParaRPr lang="en-US" sz="12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168"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169"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78</a:t>
            </a:r>
            <a:endParaRPr lang="en-US" sz="900" b="0" u="none" strike="noStrike">
              <a:solidFill>
                <a:srgbClr val="000000"/>
              </a:solidFill>
              <a:effectLst/>
              <a:uFillTx/>
              <a:latin typeface="Arial"/>
            </a:endParaRPr>
          </a:p>
        </p:txBody>
      </p:sp>
      <p:pic>
        <p:nvPicPr>
          <p:cNvPr id="1170" name="Image 0" descr="/home/claude/assets/logo_crop.png"/>
          <p:cNvPicPr/>
          <p:nvPr/>
        </p:nvPicPr>
        <p:blipFill>
          <a:blip r:embed="rId3"/>
          <a:stretch/>
        </p:blipFill>
        <p:spPr>
          <a:xfrm>
            <a:off x="11201400" y="384120"/>
            <a:ext cx="456840" cy="511560"/>
          </a:xfrm>
          <a:prstGeom prst="rect">
            <a:avLst/>
          </a:prstGeom>
          <a:noFill/>
          <a:ln w="0">
            <a:noFill/>
          </a:ln>
        </p:spPr>
      </p:pic>
      <p:sp>
        <p:nvSpPr>
          <p:cNvPr id="1171" name="Shape 2"/>
          <p:cNvSpPr/>
          <p:nvPr/>
        </p:nvSpPr>
        <p:spPr>
          <a:xfrm>
            <a:off x="548640" y="502920"/>
            <a:ext cx="566640" cy="566640"/>
          </a:xfrm>
          <a:prstGeom prst="roundRect">
            <a:avLst>
              <a:gd name="adj" fmla="val 19355"/>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72" name="Text 3"/>
          <p:cNvSpPr/>
          <p:nvPr/>
        </p:nvSpPr>
        <p:spPr>
          <a:xfrm>
            <a:off x="548640" y="50292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231F71"/>
                </a:solidFill>
                <a:effectLst/>
                <a:uFillTx/>
                <a:latin typeface="Bricolage Grotesque"/>
                <a:ea typeface="Bricolage Grotesque"/>
              </a:rPr>
              <a:t>◎</a:t>
            </a:r>
            <a:endParaRPr lang="en-US" sz="1800" b="0" u="none" strike="noStrike">
              <a:solidFill>
                <a:srgbClr val="000000"/>
              </a:solidFill>
              <a:effectLst/>
              <a:uFillTx/>
              <a:latin typeface="Arial"/>
            </a:endParaRPr>
          </a:p>
        </p:txBody>
      </p:sp>
      <p:sp>
        <p:nvSpPr>
          <p:cNvPr id="1173" name="Text 4"/>
          <p:cNvSpPr/>
          <p:nvPr/>
        </p:nvSpPr>
        <p:spPr>
          <a:xfrm>
            <a:off x="1261800" y="5029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spc="99">
                <a:solidFill>
                  <a:srgbClr val="5755A7"/>
                </a:solidFill>
                <a:effectLst/>
                <a:uFillTx/>
                <a:latin typeface="Plus Jakarta Sans"/>
                <a:ea typeface="Plus Jakarta Sans"/>
              </a:rPr>
              <a:t>PART 6</a:t>
            </a:r>
            <a:endParaRPr lang="en-US" sz="900" b="0" u="none" strike="noStrike">
              <a:solidFill>
                <a:srgbClr val="000000"/>
              </a:solidFill>
              <a:effectLst/>
              <a:uFillTx/>
              <a:latin typeface="Arial"/>
            </a:endParaRPr>
          </a:p>
        </p:txBody>
      </p:sp>
      <p:sp>
        <p:nvSpPr>
          <p:cNvPr id="1174" name="Text 5"/>
          <p:cNvSpPr/>
          <p:nvPr/>
        </p:nvSpPr>
        <p:spPr>
          <a:xfrm>
            <a:off x="1261800" y="77724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00" b="1" u="none" strike="noStrike">
                <a:solidFill>
                  <a:srgbClr val="1B1B20"/>
                </a:solidFill>
                <a:effectLst/>
                <a:uFillTx/>
                <a:latin typeface="Bricolage Grotesque"/>
                <a:ea typeface="Bricolage Grotesque"/>
              </a:rPr>
              <a:t>Practice Set — Central Tendency</a:t>
            </a:r>
            <a:endParaRPr lang="en-US" sz="2200" b="0" u="none" strike="noStrike">
              <a:solidFill>
                <a:srgbClr val="000000"/>
              </a:solidFill>
              <a:effectLst/>
              <a:uFillTx/>
              <a:latin typeface="Arial"/>
            </a:endParaRPr>
          </a:p>
        </p:txBody>
      </p:sp>
      <p:sp>
        <p:nvSpPr>
          <p:cNvPr id="1175" name="Text 6"/>
          <p:cNvSpPr/>
          <p:nvPr/>
        </p:nvSpPr>
        <p:spPr>
          <a:xfrm>
            <a:off x="548640" y="1417320"/>
            <a:ext cx="10515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i="1" u="none" strike="noStrike">
                <a:solidFill>
                  <a:srgbClr val="474651"/>
                </a:solidFill>
                <a:effectLst/>
                <a:uFillTx/>
                <a:latin typeface="Hanken Grotesk"/>
                <a:ea typeface="Hanken Grotesk"/>
              </a:rPr>
              <a:t>Try these yourself first — pencil, paper or a quick Python cell.</a:t>
            </a:r>
            <a:endParaRPr lang="en-US" sz="1200" b="0" u="none" strike="noStrike">
              <a:solidFill>
                <a:srgbClr val="000000"/>
              </a:solidFill>
              <a:effectLst/>
              <a:uFillTx/>
              <a:latin typeface="Arial"/>
            </a:endParaRPr>
          </a:p>
        </p:txBody>
      </p:sp>
      <p:sp>
        <p:nvSpPr>
          <p:cNvPr id="1176" name="Shape 7"/>
          <p:cNvSpPr/>
          <p:nvPr/>
        </p:nvSpPr>
        <p:spPr>
          <a:xfrm>
            <a:off x="548640" y="196596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77" name="Shape 8"/>
          <p:cNvSpPr/>
          <p:nvPr/>
        </p:nvSpPr>
        <p:spPr>
          <a:xfrm>
            <a:off x="731520" y="220356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78" name="Text 9"/>
          <p:cNvSpPr/>
          <p:nvPr/>
        </p:nvSpPr>
        <p:spPr>
          <a:xfrm>
            <a:off x="731520" y="220356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1179" name="Text 10"/>
          <p:cNvSpPr/>
          <p:nvPr/>
        </p:nvSpPr>
        <p:spPr>
          <a:xfrm>
            <a:off x="1234440" y="196596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Calculate the mean, median, and mode of [5, 7, 7, 9, 100] by hand</a:t>
            </a:r>
            <a:endParaRPr lang="en-US" sz="1400" b="0" u="none" strike="noStrike">
              <a:solidFill>
                <a:srgbClr val="000000"/>
              </a:solidFill>
              <a:effectLst/>
              <a:uFillTx/>
              <a:latin typeface="Arial"/>
            </a:endParaRPr>
          </a:p>
        </p:txBody>
      </p:sp>
      <p:sp>
        <p:nvSpPr>
          <p:cNvPr id="1180" name="Shape 11"/>
          <p:cNvSpPr/>
          <p:nvPr/>
        </p:nvSpPr>
        <p:spPr>
          <a:xfrm>
            <a:off x="548640" y="289872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81" name="Shape 12"/>
          <p:cNvSpPr/>
          <p:nvPr/>
        </p:nvSpPr>
        <p:spPr>
          <a:xfrm>
            <a:off x="731520" y="313632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82" name="Text 13"/>
          <p:cNvSpPr/>
          <p:nvPr/>
        </p:nvSpPr>
        <p:spPr>
          <a:xfrm>
            <a:off x="731520" y="313632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1183" name="Text 14"/>
          <p:cNvSpPr/>
          <p:nvPr/>
        </p:nvSpPr>
        <p:spPr>
          <a:xfrm>
            <a:off x="1234440" y="289872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Explain which measure best represents that dataset’s "typical" value, and why</a:t>
            </a:r>
            <a:endParaRPr lang="en-US" sz="1400" b="0" u="none" strike="noStrike">
              <a:solidFill>
                <a:srgbClr val="000000"/>
              </a:solidFill>
              <a:effectLst/>
              <a:uFillTx/>
              <a:latin typeface="Arial"/>
            </a:endParaRPr>
          </a:p>
        </p:txBody>
      </p:sp>
      <p:sp>
        <p:nvSpPr>
          <p:cNvPr id="1184" name="Shape 15"/>
          <p:cNvSpPr/>
          <p:nvPr/>
        </p:nvSpPr>
        <p:spPr>
          <a:xfrm>
            <a:off x="548640" y="383148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85" name="Shape 16"/>
          <p:cNvSpPr/>
          <p:nvPr/>
        </p:nvSpPr>
        <p:spPr>
          <a:xfrm>
            <a:off x="731520" y="406908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86" name="Text 17"/>
          <p:cNvSpPr/>
          <p:nvPr/>
        </p:nvSpPr>
        <p:spPr>
          <a:xfrm>
            <a:off x="731520" y="406908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1187" name="Text 18"/>
          <p:cNvSpPr/>
          <p:nvPr/>
        </p:nvSpPr>
        <p:spPr>
          <a:xfrm>
            <a:off x="1234440" y="383148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For a dataset of shoe sizes sold in a store, explain which measure of central tendency is most useful for restocking decisions</a:t>
            </a:r>
            <a:endParaRPr lang="en-US" sz="1400" b="0" u="none" strike="noStrike">
              <a:solidFill>
                <a:srgbClr val="000000"/>
              </a:solidFill>
              <a:effectLst/>
              <a:uFillTx/>
              <a:latin typeface="Arial"/>
            </a:endParaRPr>
          </a:p>
        </p:txBody>
      </p:sp>
      <p:sp>
        <p:nvSpPr>
          <p:cNvPr id="1188" name="Shape 19"/>
          <p:cNvSpPr/>
          <p:nvPr/>
        </p:nvSpPr>
        <p:spPr>
          <a:xfrm>
            <a:off x="548640" y="476388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89" name="Shape 20"/>
          <p:cNvSpPr/>
          <p:nvPr/>
        </p:nvSpPr>
        <p:spPr>
          <a:xfrm>
            <a:off x="731520" y="500184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90" name="Text 21"/>
          <p:cNvSpPr/>
          <p:nvPr/>
        </p:nvSpPr>
        <p:spPr>
          <a:xfrm>
            <a:off x="731520" y="500184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1191" name="Text 22"/>
          <p:cNvSpPr/>
          <p:nvPr/>
        </p:nvSpPr>
        <p:spPr>
          <a:xfrm>
            <a:off x="1234440" y="476388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Find one real, published statistic that uses the median instead of the mean, and explain why that was likely the right choice</a:t>
            </a:r>
            <a:endParaRPr lang="en-US" sz="14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0B0F17"/>
        </a:solidFill>
        <a:effectLst/>
      </p:bgPr>
    </p:bg>
    <p:spTree>
      <p:nvGrpSpPr>
        <p:cNvPr id="1" name=""/>
        <p:cNvGrpSpPr/>
        <p:nvPr/>
      </p:nvGrpSpPr>
      <p:grpSpPr>
        <a:xfrm>
          <a:off x="0" y="0"/>
          <a:ext cx="0" cy="0"/>
          <a:chOff x="0" y="0"/>
          <a:chExt cx="0" cy="0"/>
        </a:xfrm>
      </p:grpSpPr>
      <p:sp>
        <p:nvSpPr>
          <p:cNvPr id="1192" name="Shape 0"/>
          <p:cNvSpPr/>
          <p:nvPr/>
        </p:nvSpPr>
        <p:spPr>
          <a:xfrm>
            <a:off x="9692640" y="-1463040"/>
            <a:ext cx="3840120" cy="3840120"/>
          </a:xfrm>
          <a:prstGeom prst="ellipse">
            <a:avLst/>
          </a:prstGeom>
          <a:solidFill>
            <a:srgbClr val="262758">
              <a:alpha val="55000"/>
            </a:srgbClr>
          </a:solidFill>
          <a:ln w="12700">
            <a:solidFill>
              <a:srgbClr val="262758">
                <a:alpha val="5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93" name="Shape 1"/>
          <p:cNvSpPr/>
          <p:nvPr/>
        </p:nvSpPr>
        <p:spPr>
          <a:xfrm>
            <a:off x="-1645920" y="4754880"/>
            <a:ext cx="3474360" cy="3474360"/>
          </a:xfrm>
          <a:prstGeom prst="ellipse">
            <a:avLst/>
          </a:prstGeom>
          <a:solidFill>
            <a:srgbClr val="11362E">
              <a:alpha val="45000"/>
            </a:srgbClr>
          </a:solidFill>
          <a:ln w="12700">
            <a:solidFill>
              <a:srgbClr val="11362E">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94" name="Text 2"/>
          <p:cNvSpPr/>
          <p:nvPr/>
        </p:nvSpPr>
        <p:spPr>
          <a:xfrm>
            <a:off x="640080" y="2194560"/>
            <a:ext cx="91436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spc="201">
                <a:solidFill>
                  <a:srgbClr val="2DD4BF"/>
                </a:solidFill>
                <a:effectLst/>
                <a:uFillTx/>
                <a:latin typeface="Plus Jakarta Sans"/>
                <a:ea typeface="Plus Jakarta Sans"/>
              </a:rPr>
              <a:t>INDUSTRY-STYLE TASKS</a:t>
            </a:r>
            <a:endParaRPr lang="en-US" sz="1400" b="0" u="none" strike="noStrike">
              <a:solidFill>
                <a:srgbClr val="FFFFFF"/>
              </a:solidFill>
              <a:effectLst/>
              <a:uFillTx/>
              <a:latin typeface="Arial"/>
            </a:endParaRPr>
          </a:p>
        </p:txBody>
      </p:sp>
      <p:sp>
        <p:nvSpPr>
          <p:cNvPr id="1195" name="Text 3"/>
          <p:cNvSpPr/>
          <p:nvPr/>
        </p:nvSpPr>
        <p:spPr>
          <a:xfrm>
            <a:off x="640080" y="2697480"/>
            <a:ext cx="1033236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9999"/>
          </a:bodyPr>
          <a:lstStyle/>
          <a:p>
            <a:pPr defTabSz="914400">
              <a:lnSpc>
                <a:spcPct val="100000"/>
              </a:lnSpc>
              <a:tabLst>
                <a:tab pos="0" algn="l"/>
              </a:tabLst>
            </a:pPr>
            <a:r>
              <a:rPr lang="en-US" sz="4000" b="1" u="none" strike="noStrike">
                <a:solidFill>
                  <a:srgbClr val="F1F5F9"/>
                </a:solidFill>
                <a:effectLst/>
                <a:uFillTx/>
                <a:latin typeface="Bricolage Grotesque"/>
                <a:ea typeface="Bricolage Grotesque"/>
              </a:rPr>
              <a:t>Build the Judgment Every Real Analysis Depends On</a:t>
            </a:r>
            <a:endParaRPr lang="en-US" sz="4000" b="0" u="none" strike="noStrike">
              <a:solidFill>
                <a:srgbClr val="FFFFFF"/>
              </a:solidFill>
              <a:effectLst/>
              <a:uFillTx/>
              <a:latin typeface="Arial"/>
            </a:endParaRPr>
          </a:p>
        </p:txBody>
      </p:sp>
      <p:sp>
        <p:nvSpPr>
          <p:cNvPr id="1196" name="Text 4"/>
          <p:cNvSpPr/>
          <p:nvPr/>
        </p:nvSpPr>
        <p:spPr>
          <a:xfrm>
            <a:off x="640080" y="4023360"/>
            <a:ext cx="969228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500" b="0" u="none" strike="noStrike">
                <a:solidFill>
                  <a:srgbClr val="94A3B8"/>
                </a:solidFill>
                <a:effectLst/>
                <a:uFillTx/>
                <a:latin typeface="Hanken Grotesk"/>
                <a:ea typeface="Hanken Grotesk"/>
              </a:rPr>
              <a:t>Not abstract classification drills — choosing the right scale, chart, and average is what separates a clear analysis from a misleading one</a:t>
            </a:r>
            <a:endParaRPr lang="en-US" sz="1500" b="0" u="none" strike="noStrike">
              <a:solidFill>
                <a:srgbClr val="FFFFFF"/>
              </a:solidFill>
              <a:effectLst/>
              <a:uFillTx/>
              <a:latin typeface="Arial"/>
            </a:endParaRPr>
          </a:p>
        </p:txBody>
      </p:sp>
      <p:sp>
        <p:nvSpPr>
          <p:cNvPr id="1197" name="Text 5"/>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94A3B8"/>
                </a:solidFill>
                <a:effectLst/>
                <a:uFillTx/>
                <a:latin typeface="Plus Jakarta Sans"/>
                <a:ea typeface="Plus Jakarta Sans"/>
              </a:rPr>
              <a:t>79</a:t>
            </a:r>
            <a:endParaRPr lang="en-US" sz="900" b="0" u="none" strike="noStrike">
              <a:solidFill>
                <a:srgbClr val="FFFFFF"/>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198"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199"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80</a:t>
            </a:r>
            <a:endParaRPr lang="en-US" sz="900" b="0" u="none" strike="noStrike">
              <a:solidFill>
                <a:srgbClr val="000000"/>
              </a:solidFill>
              <a:effectLst/>
              <a:uFillTx/>
              <a:latin typeface="Arial"/>
            </a:endParaRPr>
          </a:p>
        </p:txBody>
      </p:sp>
      <p:pic>
        <p:nvPicPr>
          <p:cNvPr id="1200" name="Image 0" descr="/home/claude/assets/logo_crop.png"/>
          <p:cNvPicPr/>
          <p:nvPr/>
        </p:nvPicPr>
        <p:blipFill>
          <a:blip r:embed="rId3"/>
          <a:stretch/>
        </p:blipFill>
        <p:spPr>
          <a:xfrm>
            <a:off x="11201400" y="384120"/>
            <a:ext cx="456840" cy="511560"/>
          </a:xfrm>
          <a:prstGeom prst="rect">
            <a:avLst/>
          </a:prstGeom>
          <a:noFill/>
          <a:ln w="0">
            <a:noFill/>
          </a:ln>
        </p:spPr>
      </p:pic>
      <p:sp>
        <p:nvSpPr>
          <p:cNvPr id="1201" name="Shape 2"/>
          <p:cNvSpPr/>
          <p:nvPr/>
        </p:nvSpPr>
        <p:spPr>
          <a:xfrm>
            <a:off x="548640" y="502920"/>
            <a:ext cx="566640" cy="566640"/>
          </a:xfrm>
          <a:prstGeom prst="roundRect">
            <a:avLst>
              <a:gd name="adj" fmla="val 19355"/>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02" name="Text 3"/>
          <p:cNvSpPr/>
          <p:nvPr/>
        </p:nvSpPr>
        <p:spPr>
          <a:xfrm>
            <a:off x="548640" y="50292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231F71"/>
                </a:solidFill>
                <a:effectLst/>
                <a:uFillTx/>
                <a:latin typeface="Bricolage Grotesque"/>
                <a:ea typeface="Bricolage Grotesque"/>
              </a:rPr>
              <a:t>✎</a:t>
            </a:r>
            <a:endParaRPr lang="en-US" sz="1800" b="0" u="none" strike="noStrike">
              <a:solidFill>
                <a:srgbClr val="000000"/>
              </a:solidFill>
              <a:effectLst/>
              <a:uFillTx/>
              <a:latin typeface="Arial"/>
            </a:endParaRPr>
          </a:p>
        </p:txBody>
      </p:sp>
      <p:sp>
        <p:nvSpPr>
          <p:cNvPr id="1203" name="Text 4"/>
          <p:cNvSpPr/>
          <p:nvPr/>
        </p:nvSpPr>
        <p:spPr>
          <a:xfrm>
            <a:off x="1261800" y="5029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spc="99">
                <a:solidFill>
                  <a:srgbClr val="5755A7"/>
                </a:solidFill>
                <a:effectLst/>
                <a:uFillTx/>
                <a:latin typeface="Plus Jakarta Sans"/>
                <a:ea typeface="Plus Jakarta Sans"/>
              </a:rPr>
              <a:t>TASKS</a:t>
            </a:r>
            <a:endParaRPr lang="en-US" sz="900" b="0" u="none" strike="noStrike">
              <a:solidFill>
                <a:srgbClr val="000000"/>
              </a:solidFill>
              <a:effectLst/>
              <a:uFillTx/>
              <a:latin typeface="Arial"/>
            </a:endParaRPr>
          </a:p>
        </p:txBody>
      </p:sp>
      <p:sp>
        <p:nvSpPr>
          <p:cNvPr id="1204" name="Text 5"/>
          <p:cNvSpPr/>
          <p:nvPr/>
        </p:nvSpPr>
        <p:spPr>
          <a:xfrm>
            <a:off x="1261800" y="77724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00" b="1" u="none" strike="noStrike">
                <a:solidFill>
                  <a:srgbClr val="1B1B20"/>
                </a:solidFill>
                <a:effectLst/>
                <a:uFillTx/>
                <a:latin typeface="Bricolage Grotesque"/>
                <a:ea typeface="Bricolage Grotesque"/>
              </a:rPr>
              <a:t>Part A: Statistics Basics &amp; Variables</a:t>
            </a:r>
            <a:endParaRPr lang="en-US" sz="2200" b="0" u="none" strike="noStrike">
              <a:solidFill>
                <a:srgbClr val="000000"/>
              </a:solidFill>
              <a:effectLst/>
              <a:uFillTx/>
              <a:latin typeface="Arial"/>
            </a:endParaRPr>
          </a:p>
        </p:txBody>
      </p:sp>
      <p:sp>
        <p:nvSpPr>
          <p:cNvPr id="1205" name="Text 6"/>
          <p:cNvSpPr/>
          <p:nvPr/>
        </p:nvSpPr>
        <p:spPr>
          <a:xfrm>
            <a:off x="548640" y="1417320"/>
            <a:ext cx="10515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i="1" u="none" strike="noStrike">
                <a:solidFill>
                  <a:srgbClr val="474651"/>
                </a:solidFill>
                <a:effectLst/>
                <a:uFillTx/>
                <a:latin typeface="Hanken Grotesk"/>
                <a:ea typeface="Hanken Grotesk"/>
              </a:rPr>
              <a:t>Small tasks — do them in order.</a:t>
            </a:r>
            <a:endParaRPr lang="en-US" sz="1200" b="0" u="none" strike="noStrike">
              <a:solidFill>
                <a:srgbClr val="000000"/>
              </a:solidFill>
              <a:effectLst/>
              <a:uFillTx/>
              <a:latin typeface="Arial"/>
            </a:endParaRPr>
          </a:p>
        </p:txBody>
      </p:sp>
      <p:sp>
        <p:nvSpPr>
          <p:cNvPr id="1206" name="Shape 7"/>
          <p:cNvSpPr/>
          <p:nvPr/>
        </p:nvSpPr>
        <p:spPr>
          <a:xfrm>
            <a:off x="548640" y="196596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07" name="Shape 8"/>
          <p:cNvSpPr/>
          <p:nvPr/>
        </p:nvSpPr>
        <p:spPr>
          <a:xfrm>
            <a:off x="731520" y="220356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08" name="Text 9"/>
          <p:cNvSpPr/>
          <p:nvPr/>
        </p:nvSpPr>
        <p:spPr>
          <a:xfrm>
            <a:off x="731520" y="220356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1209" name="Text 10"/>
          <p:cNvSpPr/>
          <p:nvPr/>
        </p:nvSpPr>
        <p:spPr>
          <a:xfrm>
            <a:off x="1234440" y="196596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Write a two-sentence explanation, for a non-technical friend, of the difference between descriptive and inferential statistics, using your own example for each.</a:t>
            </a:r>
            <a:endParaRPr lang="en-US" sz="1400" b="0" u="none" strike="noStrike">
              <a:solidFill>
                <a:srgbClr val="000000"/>
              </a:solidFill>
              <a:effectLst/>
              <a:uFillTx/>
              <a:latin typeface="Arial"/>
            </a:endParaRPr>
          </a:p>
        </p:txBody>
      </p:sp>
      <p:sp>
        <p:nvSpPr>
          <p:cNvPr id="1210" name="Shape 11"/>
          <p:cNvSpPr/>
          <p:nvPr/>
        </p:nvSpPr>
        <p:spPr>
          <a:xfrm>
            <a:off x="548640" y="289872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11" name="Shape 12"/>
          <p:cNvSpPr/>
          <p:nvPr/>
        </p:nvSpPr>
        <p:spPr>
          <a:xfrm>
            <a:off x="731520" y="313632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12" name="Text 13"/>
          <p:cNvSpPr/>
          <p:nvPr/>
        </p:nvSpPr>
        <p:spPr>
          <a:xfrm>
            <a:off x="731520" y="313632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1213" name="Text 14"/>
          <p:cNvSpPr/>
          <p:nvPr/>
        </p:nvSpPr>
        <p:spPr>
          <a:xfrm>
            <a:off x="1234440" y="289872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For a study on "does sleep duration affect reaction time," identify the population, a reasonable sample, and the independent and dependent variables.</a:t>
            </a:r>
            <a:endParaRPr lang="en-US" sz="1400" b="0" u="none" strike="noStrike">
              <a:solidFill>
                <a:srgbClr val="000000"/>
              </a:solidFill>
              <a:effectLst/>
              <a:uFillTx/>
              <a:latin typeface="Arial"/>
            </a:endParaRPr>
          </a:p>
        </p:txBody>
      </p:sp>
      <p:sp>
        <p:nvSpPr>
          <p:cNvPr id="1214" name="Shape 15"/>
          <p:cNvSpPr/>
          <p:nvPr/>
        </p:nvSpPr>
        <p:spPr>
          <a:xfrm>
            <a:off x="548640" y="383148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15" name="Shape 16"/>
          <p:cNvSpPr/>
          <p:nvPr/>
        </p:nvSpPr>
        <p:spPr>
          <a:xfrm>
            <a:off x="731520" y="406908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16" name="Text 17"/>
          <p:cNvSpPr/>
          <p:nvPr/>
        </p:nvSpPr>
        <p:spPr>
          <a:xfrm>
            <a:off x="731520" y="406908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1217" name="Text 18"/>
          <p:cNvSpPr/>
          <p:nvPr/>
        </p:nvSpPr>
        <p:spPr>
          <a:xfrm>
            <a:off x="1234440" y="383148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Explain why almost all real-world data science analysis works with a sample rather than a full population, using a concrete example.</a:t>
            </a:r>
            <a:endParaRPr lang="en-US" sz="14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218"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219"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81</a:t>
            </a:r>
            <a:endParaRPr lang="en-US" sz="900" b="0" u="none" strike="noStrike">
              <a:solidFill>
                <a:srgbClr val="000000"/>
              </a:solidFill>
              <a:effectLst/>
              <a:uFillTx/>
              <a:latin typeface="Arial"/>
            </a:endParaRPr>
          </a:p>
        </p:txBody>
      </p:sp>
      <p:pic>
        <p:nvPicPr>
          <p:cNvPr id="1220" name="Image 0" descr="/home/claude/assets/logo_crop.png"/>
          <p:cNvPicPr/>
          <p:nvPr/>
        </p:nvPicPr>
        <p:blipFill>
          <a:blip r:embed="rId3"/>
          <a:stretch/>
        </p:blipFill>
        <p:spPr>
          <a:xfrm>
            <a:off x="11201400" y="384120"/>
            <a:ext cx="456840" cy="511560"/>
          </a:xfrm>
          <a:prstGeom prst="rect">
            <a:avLst/>
          </a:prstGeom>
          <a:noFill/>
          <a:ln w="0">
            <a:noFill/>
          </a:ln>
        </p:spPr>
      </p:pic>
      <p:sp>
        <p:nvSpPr>
          <p:cNvPr id="1221" name="Shape 2"/>
          <p:cNvSpPr/>
          <p:nvPr/>
        </p:nvSpPr>
        <p:spPr>
          <a:xfrm>
            <a:off x="548640" y="502920"/>
            <a:ext cx="566640" cy="566640"/>
          </a:xfrm>
          <a:prstGeom prst="roundRect">
            <a:avLst>
              <a:gd name="adj" fmla="val 19355"/>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22" name="Text 3"/>
          <p:cNvSpPr/>
          <p:nvPr/>
        </p:nvSpPr>
        <p:spPr>
          <a:xfrm>
            <a:off x="548640" y="50292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231F71"/>
                </a:solidFill>
                <a:effectLst/>
                <a:uFillTx/>
                <a:latin typeface="Bricolage Grotesque"/>
                <a:ea typeface="Bricolage Grotesque"/>
              </a:rPr>
              <a:t>✎</a:t>
            </a:r>
            <a:endParaRPr lang="en-US" sz="1800" b="0" u="none" strike="noStrike">
              <a:solidFill>
                <a:srgbClr val="000000"/>
              </a:solidFill>
              <a:effectLst/>
              <a:uFillTx/>
              <a:latin typeface="Arial"/>
            </a:endParaRPr>
          </a:p>
        </p:txBody>
      </p:sp>
      <p:sp>
        <p:nvSpPr>
          <p:cNvPr id="1223" name="Text 4"/>
          <p:cNvSpPr/>
          <p:nvPr/>
        </p:nvSpPr>
        <p:spPr>
          <a:xfrm>
            <a:off x="1261800" y="5029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spc="99">
                <a:solidFill>
                  <a:srgbClr val="5755A7"/>
                </a:solidFill>
                <a:effectLst/>
                <a:uFillTx/>
                <a:latin typeface="Plus Jakarta Sans"/>
                <a:ea typeface="Plus Jakarta Sans"/>
              </a:rPr>
              <a:t>TASKS</a:t>
            </a:r>
            <a:endParaRPr lang="en-US" sz="900" b="0" u="none" strike="noStrike">
              <a:solidFill>
                <a:srgbClr val="000000"/>
              </a:solidFill>
              <a:effectLst/>
              <a:uFillTx/>
              <a:latin typeface="Arial"/>
            </a:endParaRPr>
          </a:p>
        </p:txBody>
      </p:sp>
      <p:sp>
        <p:nvSpPr>
          <p:cNvPr id="1224" name="Text 5"/>
          <p:cNvSpPr/>
          <p:nvPr/>
        </p:nvSpPr>
        <p:spPr>
          <a:xfrm>
            <a:off x="1261800" y="77724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00" b="1" u="none" strike="noStrike">
                <a:solidFill>
                  <a:srgbClr val="1B1B20"/>
                </a:solidFill>
                <a:effectLst/>
                <a:uFillTx/>
                <a:latin typeface="Bricolage Grotesque"/>
                <a:ea typeface="Bricolage Grotesque"/>
              </a:rPr>
              <a:t>Part B: Data Collection &amp; Measurement Quality</a:t>
            </a:r>
            <a:endParaRPr lang="en-US" sz="2000" b="0" u="none" strike="noStrike">
              <a:solidFill>
                <a:srgbClr val="000000"/>
              </a:solidFill>
              <a:effectLst/>
              <a:uFillTx/>
              <a:latin typeface="Arial"/>
            </a:endParaRPr>
          </a:p>
        </p:txBody>
      </p:sp>
      <p:sp>
        <p:nvSpPr>
          <p:cNvPr id="1225" name="Text 6"/>
          <p:cNvSpPr/>
          <p:nvPr/>
        </p:nvSpPr>
        <p:spPr>
          <a:xfrm>
            <a:off x="548640" y="1417320"/>
            <a:ext cx="10515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i="1" u="none" strike="noStrike">
                <a:solidFill>
                  <a:srgbClr val="474651"/>
                </a:solidFill>
                <a:effectLst/>
                <a:uFillTx/>
                <a:latin typeface="Hanken Grotesk"/>
                <a:ea typeface="Hanken Grotesk"/>
              </a:rPr>
              <a:t>Small tasks — do them in order.</a:t>
            </a:r>
            <a:endParaRPr lang="en-US" sz="1200" b="0" u="none" strike="noStrike">
              <a:solidFill>
                <a:srgbClr val="000000"/>
              </a:solidFill>
              <a:effectLst/>
              <a:uFillTx/>
              <a:latin typeface="Arial"/>
            </a:endParaRPr>
          </a:p>
        </p:txBody>
      </p:sp>
      <p:sp>
        <p:nvSpPr>
          <p:cNvPr id="1226" name="Shape 7"/>
          <p:cNvSpPr/>
          <p:nvPr/>
        </p:nvSpPr>
        <p:spPr>
          <a:xfrm>
            <a:off x="548640" y="196596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27" name="Shape 8"/>
          <p:cNvSpPr/>
          <p:nvPr/>
        </p:nvSpPr>
        <p:spPr>
          <a:xfrm>
            <a:off x="731520" y="220356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28" name="Text 9"/>
          <p:cNvSpPr/>
          <p:nvPr/>
        </p:nvSpPr>
        <p:spPr>
          <a:xfrm>
            <a:off x="731520" y="220356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1229" name="Text 10"/>
          <p:cNvSpPr/>
          <p:nvPr/>
        </p:nvSpPr>
        <p:spPr>
          <a:xfrm>
            <a:off x="1234440" y="196596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For your own final project idea, decide whether you’d use primary or secondary data, and design a probability-based sampling plan to collect it.</a:t>
            </a:r>
            <a:endParaRPr lang="en-US" sz="1400" b="0" u="none" strike="noStrike">
              <a:solidFill>
                <a:srgbClr val="000000"/>
              </a:solidFill>
              <a:effectLst/>
              <a:uFillTx/>
              <a:latin typeface="Arial"/>
            </a:endParaRPr>
          </a:p>
        </p:txBody>
      </p:sp>
      <p:sp>
        <p:nvSpPr>
          <p:cNvPr id="1230" name="Shape 11"/>
          <p:cNvSpPr/>
          <p:nvPr/>
        </p:nvSpPr>
        <p:spPr>
          <a:xfrm>
            <a:off x="548640" y="289872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31" name="Shape 12"/>
          <p:cNvSpPr/>
          <p:nvPr/>
        </p:nvSpPr>
        <p:spPr>
          <a:xfrm>
            <a:off x="731520" y="313632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32" name="Text 13"/>
          <p:cNvSpPr/>
          <p:nvPr/>
        </p:nvSpPr>
        <p:spPr>
          <a:xfrm>
            <a:off x="731520" y="313632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1233" name="Text 14"/>
          <p:cNvSpPr/>
          <p:nvPr/>
        </p:nvSpPr>
        <p:spPr>
          <a:xfrm>
            <a:off x="1234440" y="289872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Propose an operationalization with a measurable proxy for an abstract concept of your choice (e.g. "brand trust," "team morale").</a:t>
            </a:r>
            <a:endParaRPr lang="en-US" sz="1400" b="0" u="none" strike="noStrike">
              <a:solidFill>
                <a:srgbClr val="000000"/>
              </a:solidFill>
              <a:effectLst/>
              <a:uFillTx/>
              <a:latin typeface="Arial"/>
            </a:endParaRPr>
          </a:p>
        </p:txBody>
      </p:sp>
      <p:sp>
        <p:nvSpPr>
          <p:cNvPr id="1234" name="Shape 15"/>
          <p:cNvSpPr/>
          <p:nvPr/>
        </p:nvSpPr>
        <p:spPr>
          <a:xfrm>
            <a:off x="548640" y="383148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35" name="Shape 16"/>
          <p:cNvSpPr/>
          <p:nvPr/>
        </p:nvSpPr>
        <p:spPr>
          <a:xfrm>
            <a:off x="731520" y="406908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36" name="Text 17"/>
          <p:cNvSpPr/>
          <p:nvPr/>
        </p:nvSpPr>
        <p:spPr>
          <a:xfrm>
            <a:off x="731520" y="406908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1237" name="Text 18"/>
          <p:cNvSpPr/>
          <p:nvPr/>
        </p:nvSpPr>
        <p:spPr>
          <a:xfrm>
            <a:off x="1234440" y="383148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Describe a realistic measurement tool or process, and evaluate it separately for reliability and for validity, explaining your reasoning for each.</a:t>
            </a:r>
            <a:endParaRPr lang="en-US" sz="14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238"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239"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82</a:t>
            </a:r>
            <a:endParaRPr lang="en-US" sz="900" b="0" u="none" strike="noStrike">
              <a:solidFill>
                <a:srgbClr val="000000"/>
              </a:solidFill>
              <a:effectLst/>
              <a:uFillTx/>
              <a:latin typeface="Arial"/>
            </a:endParaRPr>
          </a:p>
        </p:txBody>
      </p:sp>
      <p:pic>
        <p:nvPicPr>
          <p:cNvPr id="1240" name="Image 0" descr="/home/claude/assets/logo_crop.png"/>
          <p:cNvPicPr/>
          <p:nvPr/>
        </p:nvPicPr>
        <p:blipFill>
          <a:blip r:embed="rId3"/>
          <a:stretch/>
        </p:blipFill>
        <p:spPr>
          <a:xfrm>
            <a:off x="11201400" y="384120"/>
            <a:ext cx="456840" cy="511560"/>
          </a:xfrm>
          <a:prstGeom prst="rect">
            <a:avLst/>
          </a:prstGeom>
          <a:noFill/>
          <a:ln w="0">
            <a:noFill/>
          </a:ln>
        </p:spPr>
      </p:pic>
      <p:sp>
        <p:nvSpPr>
          <p:cNvPr id="1241" name="Shape 2"/>
          <p:cNvSpPr/>
          <p:nvPr/>
        </p:nvSpPr>
        <p:spPr>
          <a:xfrm>
            <a:off x="548640" y="502920"/>
            <a:ext cx="566640" cy="566640"/>
          </a:xfrm>
          <a:prstGeom prst="roundRect">
            <a:avLst>
              <a:gd name="adj" fmla="val 19355"/>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42" name="Text 3"/>
          <p:cNvSpPr/>
          <p:nvPr/>
        </p:nvSpPr>
        <p:spPr>
          <a:xfrm>
            <a:off x="548640" y="50292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231F71"/>
                </a:solidFill>
                <a:effectLst/>
                <a:uFillTx/>
                <a:latin typeface="Bricolage Grotesque"/>
                <a:ea typeface="Bricolage Grotesque"/>
              </a:rPr>
              <a:t>✎</a:t>
            </a:r>
            <a:endParaRPr lang="en-US" sz="1800" b="0" u="none" strike="noStrike">
              <a:solidFill>
                <a:srgbClr val="000000"/>
              </a:solidFill>
              <a:effectLst/>
              <a:uFillTx/>
              <a:latin typeface="Arial"/>
            </a:endParaRPr>
          </a:p>
        </p:txBody>
      </p:sp>
      <p:sp>
        <p:nvSpPr>
          <p:cNvPr id="1243" name="Text 4"/>
          <p:cNvSpPr/>
          <p:nvPr/>
        </p:nvSpPr>
        <p:spPr>
          <a:xfrm>
            <a:off x="1261800" y="5029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spc="99">
                <a:solidFill>
                  <a:srgbClr val="5755A7"/>
                </a:solidFill>
                <a:effectLst/>
                <a:uFillTx/>
                <a:latin typeface="Plus Jakarta Sans"/>
                <a:ea typeface="Plus Jakarta Sans"/>
              </a:rPr>
              <a:t>TASKS</a:t>
            </a:r>
            <a:endParaRPr lang="en-US" sz="900" b="0" u="none" strike="noStrike">
              <a:solidFill>
                <a:srgbClr val="000000"/>
              </a:solidFill>
              <a:effectLst/>
              <a:uFillTx/>
              <a:latin typeface="Arial"/>
            </a:endParaRPr>
          </a:p>
        </p:txBody>
      </p:sp>
      <p:sp>
        <p:nvSpPr>
          <p:cNvPr id="1244" name="Text 5"/>
          <p:cNvSpPr/>
          <p:nvPr/>
        </p:nvSpPr>
        <p:spPr>
          <a:xfrm>
            <a:off x="1261800" y="77724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00" b="1" u="none" strike="noStrike">
                <a:solidFill>
                  <a:srgbClr val="1B1B20"/>
                </a:solidFill>
                <a:effectLst/>
                <a:uFillTx/>
                <a:latin typeface="Bricolage Grotesque"/>
                <a:ea typeface="Bricolage Grotesque"/>
              </a:rPr>
              <a:t>Part C: Data Types &amp; Measurement Scales</a:t>
            </a:r>
            <a:endParaRPr lang="en-US" sz="2200" b="0" u="none" strike="noStrike">
              <a:solidFill>
                <a:srgbClr val="000000"/>
              </a:solidFill>
              <a:effectLst/>
              <a:uFillTx/>
              <a:latin typeface="Arial"/>
            </a:endParaRPr>
          </a:p>
        </p:txBody>
      </p:sp>
      <p:sp>
        <p:nvSpPr>
          <p:cNvPr id="1245" name="Text 6"/>
          <p:cNvSpPr/>
          <p:nvPr/>
        </p:nvSpPr>
        <p:spPr>
          <a:xfrm>
            <a:off x="548640" y="1417320"/>
            <a:ext cx="10515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i="1" u="none" strike="noStrike">
                <a:solidFill>
                  <a:srgbClr val="474651"/>
                </a:solidFill>
                <a:effectLst/>
                <a:uFillTx/>
                <a:latin typeface="Hanken Grotesk"/>
                <a:ea typeface="Hanken Grotesk"/>
              </a:rPr>
              <a:t>Small tasks — do them in order.</a:t>
            </a:r>
            <a:endParaRPr lang="en-US" sz="1200" b="0" u="none" strike="noStrike">
              <a:solidFill>
                <a:srgbClr val="000000"/>
              </a:solidFill>
              <a:effectLst/>
              <a:uFillTx/>
              <a:latin typeface="Arial"/>
            </a:endParaRPr>
          </a:p>
        </p:txBody>
      </p:sp>
      <p:sp>
        <p:nvSpPr>
          <p:cNvPr id="1246" name="Shape 7"/>
          <p:cNvSpPr/>
          <p:nvPr/>
        </p:nvSpPr>
        <p:spPr>
          <a:xfrm>
            <a:off x="548640" y="196596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47" name="Shape 8"/>
          <p:cNvSpPr/>
          <p:nvPr/>
        </p:nvSpPr>
        <p:spPr>
          <a:xfrm>
            <a:off x="731520" y="220356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48" name="Text 9"/>
          <p:cNvSpPr/>
          <p:nvPr/>
        </p:nvSpPr>
        <p:spPr>
          <a:xfrm>
            <a:off x="731520" y="220356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1249" name="Text 10"/>
          <p:cNvSpPr/>
          <p:nvPr/>
        </p:nvSpPr>
        <p:spPr>
          <a:xfrm>
            <a:off x="1234440" y="196596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Take any real dataset (or a provided one) and classify every single column by its measurement scale — nominal, ordinal, interval, or ratio.</a:t>
            </a:r>
            <a:endParaRPr lang="en-US" sz="1400" b="0" u="none" strike="noStrike">
              <a:solidFill>
                <a:srgbClr val="000000"/>
              </a:solidFill>
              <a:effectLst/>
              <a:uFillTx/>
              <a:latin typeface="Arial"/>
            </a:endParaRPr>
          </a:p>
        </p:txBody>
      </p:sp>
      <p:sp>
        <p:nvSpPr>
          <p:cNvPr id="1250" name="Shape 11"/>
          <p:cNvSpPr/>
          <p:nvPr/>
        </p:nvSpPr>
        <p:spPr>
          <a:xfrm>
            <a:off x="548640" y="289872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51" name="Shape 12"/>
          <p:cNvSpPr/>
          <p:nvPr/>
        </p:nvSpPr>
        <p:spPr>
          <a:xfrm>
            <a:off x="731520" y="313632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52" name="Text 13"/>
          <p:cNvSpPr/>
          <p:nvPr/>
        </p:nvSpPr>
        <p:spPr>
          <a:xfrm>
            <a:off x="731520" y="313632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1253" name="Text 14"/>
          <p:cNvSpPr/>
          <p:nvPr/>
        </p:nvSpPr>
        <p:spPr>
          <a:xfrm>
            <a:off x="1234440" y="289872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For each ordinal column found, explain specifically why averaging it directly would be mathematically imprecise.</a:t>
            </a:r>
            <a:endParaRPr lang="en-US" sz="1400" b="0" u="none" strike="noStrike">
              <a:solidFill>
                <a:srgbClr val="000000"/>
              </a:solidFill>
              <a:effectLst/>
              <a:uFillTx/>
              <a:latin typeface="Arial"/>
            </a:endParaRPr>
          </a:p>
        </p:txBody>
      </p:sp>
      <p:sp>
        <p:nvSpPr>
          <p:cNvPr id="1254" name="Shape 15"/>
          <p:cNvSpPr/>
          <p:nvPr/>
        </p:nvSpPr>
        <p:spPr>
          <a:xfrm>
            <a:off x="548640" y="383148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55" name="Shape 16"/>
          <p:cNvSpPr/>
          <p:nvPr/>
        </p:nvSpPr>
        <p:spPr>
          <a:xfrm>
            <a:off x="731520" y="406908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56" name="Text 17"/>
          <p:cNvSpPr/>
          <p:nvPr/>
        </p:nvSpPr>
        <p:spPr>
          <a:xfrm>
            <a:off x="731520" y="406908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1257" name="Text 18"/>
          <p:cNvSpPr/>
          <p:nvPr/>
        </p:nvSpPr>
        <p:spPr>
          <a:xfrm>
            <a:off x="1234440" y="383148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Write a one-paragraph explanation, for a non-technical reader, of why a "true zero" matters so much for ratio data.</a:t>
            </a:r>
            <a:endParaRPr lang="en-US" sz="14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258"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259"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83</a:t>
            </a:r>
            <a:endParaRPr lang="en-US" sz="900" b="0" u="none" strike="noStrike">
              <a:solidFill>
                <a:srgbClr val="000000"/>
              </a:solidFill>
              <a:effectLst/>
              <a:uFillTx/>
              <a:latin typeface="Arial"/>
            </a:endParaRPr>
          </a:p>
        </p:txBody>
      </p:sp>
      <p:pic>
        <p:nvPicPr>
          <p:cNvPr id="1260" name="Image 0" descr="/home/claude/assets/logo_crop.png"/>
          <p:cNvPicPr/>
          <p:nvPr/>
        </p:nvPicPr>
        <p:blipFill>
          <a:blip r:embed="rId3"/>
          <a:stretch/>
        </p:blipFill>
        <p:spPr>
          <a:xfrm>
            <a:off x="11201400" y="384120"/>
            <a:ext cx="456840" cy="511560"/>
          </a:xfrm>
          <a:prstGeom prst="rect">
            <a:avLst/>
          </a:prstGeom>
          <a:noFill/>
          <a:ln w="0">
            <a:noFill/>
          </a:ln>
        </p:spPr>
      </p:pic>
      <p:sp>
        <p:nvSpPr>
          <p:cNvPr id="1261" name="Shape 2"/>
          <p:cNvSpPr/>
          <p:nvPr/>
        </p:nvSpPr>
        <p:spPr>
          <a:xfrm>
            <a:off x="548640" y="502920"/>
            <a:ext cx="566640" cy="566640"/>
          </a:xfrm>
          <a:prstGeom prst="roundRect">
            <a:avLst>
              <a:gd name="adj" fmla="val 19355"/>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62" name="Text 3"/>
          <p:cNvSpPr/>
          <p:nvPr/>
        </p:nvSpPr>
        <p:spPr>
          <a:xfrm>
            <a:off x="548640" y="50292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231F71"/>
                </a:solidFill>
                <a:effectLst/>
                <a:uFillTx/>
                <a:latin typeface="Bricolage Grotesque"/>
                <a:ea typeface="Bricolage Grotesque"/>
              </a:rPr>
              <a:t>✎</a:t>
            </a:r>
            <a:endParaRPr lang="en-US" sz="1800" b="0" u="none" strike="noStrike">
              <a:solidFill>
                <a:srgbClr val="000000"/>
              </a:solidFill>
              <a:effectLst/>
              <a:uFillTx/>
              <a:latin typeface="Arial"/>
            </a:endParaRPr>
          </a:p>
        </p:txBody>
      </p:sp>
      <p:sp>
        <p:nvSpPr>
          <p:cNvPr id="1263" name="Text 4"/>
          <p:cNvSpPr/>
          <p:nvPr/>
        </p:nvSpPr>
        <p:spPr>
          <a:xfrm>
            <a:off x="1261800" y="5029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spc="99">
                <a:solidFill>
                  <a:srgbClr val="5755A7"/>
                </a:solidFill>
                <a:effectLst/>
                <a:uFillTx/>
                <a:latin typeface="Plus Jakarta Sans"/>
                <a:ea typeface="Plus Jakarta Sans"/>
              </a:rPr>
              <a:t>TASKS</a:t>
            </a:r>
            <a:endParaRPr lang="en-US" sz="900" b="0" u="none" strike="noStrike">
              <a:solidFill>
                <a:srgbClr val="000000"/>
              </a:solidFill>
              <a:effectLst/>
              <a:uFillTx/>
              <a:latin typeface="Arial"/>
            </a:endParaRPr>
          </a:p>
        </p:txBody>
      </p:sp>
      <p:sp>
        <p:nvSpPr>
          <p:cNvPr id="1264" name="Text 5"/>
          <p:cNvSpPr/>
          <p:nvPr/>
        </p:nvSpPr>
        <p:spPr>
          <a:xfrm>
            <a:off x="1261800" y="77724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00" b="1" u="none" strike="noStrike">
                <a:solidFill>
                  <a:srgbClr val="1B1B20"/>
                </a:solidFill>
                <a:effectLst/>
                <a:uFillTx/>
                <a:latin typeface="Bricolage Grotesque"/>
                <a:ea typeface="Bricolage Grotesque"/>
              </a:rPr>
              <a:t>Part D: Errors, Bias &amp; Chart Selection</a:t>
            </a:r>
            <a:endParaRPr lang="en-US" sz="2200" b="0" u="none" strike="noStrike">
              <a:solidFill>
                <a:srgbClr val="000000"/>
              </a:solidFill>
              <a:effectLst/>
              <a:uFillTx/>
              <a:latin typeface="Arial"/>
            </a:endParaRPr>
          </a:p>
        </p:txBody>
      </p:sp>
      <p:sp>
        <p:nvSpPr>
          <p:cNvPr id="1265" name="Text 6"/>
          <p:cNvSpPr/>
          <p:nvPr/>
        </p:nvSpPr>
        <p:spPr>
          <a:xfrm>
            <a:off x="548640" y="1417320"/>
            <a:ext cx="10515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i="1" u="none" strike="noStrike">
                <a:solidFill>
                  <a:srgbClr val="474651"/>
                </a:solidFill>
                <a:effectLst/>
                <a:uFillTx/>
                <a:latin typeface="Hanken Grotesk"/>
                <a:ea typeface="Hanken Grotesk"/>
              </a:rPr>
              <a:t>Small tasks — do them in order.</a:t>
            </a:r>
            <a:endParaRPr lang="en-US" sz="1200" b="0" u="none" strike="noStrike">
              <a:solidFill>
                <a:srgbClr val="000000"/>
              </a:solidFill>
              <a:effectLst/>
              <a:uFillTx/>
              <a:latin typeface="Arial"/>
            </a:endParaRPr>
          </a:p>
        </p:txBody>
      </p:sp>
      <p:sp>
        <p:nvSpPr>
          <p:cNvPr id="1266" name="Shape 7"/>
          <p:cNvSpPr/>
          <p:nvPr/>
        </p:nvSpPr>
        <p:spPr>
          <a:xfrm>
            <a:off x="548640" y="196596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67" name="Shape 8"/>
          <p:cNvSpPr/>
          <p:nvPr/>
        </p:nvSpPr>
        <p:spPr>
          <a:xfrm>
            <a:off x="731520" y="220356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68" name="Text 9"/>
          <p:cNvSpPr/>
          <p:nvPr/>
        </p:nvSpPr>
        <p:spPr>
          <a:xfrm>
            <a:off x="731520" y="220356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1269" name="Text 10"/>
          <p:cNvSpPr/>
          <p:nvPr/>
        </p:nvSpPr>
        <p:spPr>
          <a:xfrm>
            <a:off x="1234440" y="196596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Describe a realistic data collection scenario for your own final project idea, and identify one likely source of random error and one of systematic bias.</a:t>
            </a:r>
            <a:endParaRPr lang="en-US" sz="1400" b="0" u="none" strike="noStrike">
              <a:solidFill>
                <a:srgbClr val="000000"/>
              </a:solidFill>
              <a:effectLst/>
              <a:uFillTx/>
              <a:latin typeface="Arial"/>
            </a:endParaRPr>
          </a:p>
        </p:txBody>
      </p:sp>
      <p:sp>
        <p:nvSpPr>
          <p:cNvPr id="1270" name="Shape 11"/>
          <p:cNvSpPr/>
          <p:nvPr/>
        </p:nvSpPr>
        <p:spPr>
          <a:xfrm>
            <a:off x="548640" y="289872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71" name="Shape 12"/>
          <p:cNvSpPr/>
          <p:nvPr/>
        </p:nvSpPr>
        <p:spPr>
          <a:xfrm>
            <a:off x="731520" y="313632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72" name="Text 13"/>
          <p:cNvSpPr/>
          <p:nvPr/>
        </p:nvSpPr>
        <p:spPr>
          <a:xfrm>
            <a:off x="731520" y="313632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1273" name="Text 14"/>
          <p:cNvSpPr/>
          <p:nvPr/>
        </p:nvSpPr>
        <p:spPr>
          <a:xfrm>
            <a:off x="1234440" y="289872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Given a dataset with 3 numerical columns, choose and justify one appropriate chart for each column individually, and one for showing their relationships together.</a:t>
            </a:r>
            <a:endParaRPr lang="en-US" sz="1400" b="0" u="none" strike="noStrike">
              <a:solidFill>
                <a:srgbClr val="000000"/>
              </a:solidFill>
              <a:effectLst/>
              <a:uFillTx/>
              <a:latin typeface="Arial"/>
            </a:endParaRPr>
          </a:p>
        </p:txBody>
      </p:sp>
      <p:sp>
        <p:nvSpPr>
          <p:cNvPr id="1274" name="Shape 15"/>
          <p:cNvSpPr/>
          <p:nvPr/>
        </p:nvSpPr>
        <p:spPr>
          <a:xfrm>
            <a:off x="548640" y="383148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75" name="Shape 16"/>
          <p:cNvSpPr/>
          <p:nvPr/>
        </p:nvSpPr>
        <p:spPr>
          <a:xfrm>
            <a:off x="731520" y="406908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76" name="Text 17"/>
          <p:cNvSpPr/>
          <p:nvPr/>
        </p:nvSpPr>
        <p:spPr>
          <a:xfrm>
            <a:off x="731520" y="406908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1277" name="Text 18"/>
          <p:cNvSpPr/>
          <p:nvPr/>
        </p:nvSpPr>
        <p:spPr>
          <a:xfrm>
            <a:off x="1234440" y="383148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Find one real published chart (news article or report) that violates a "when NOT to use" rule from today, and explain specifically what’s misleading about it.</a:t>
            </a:r>
            <a:endParaRPr lang="en-US" sz="14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278"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279"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84</a:t>
            </a:r>
            <a:endParaRPr lang="en-US" sz="900" b="0" u="none" strike="noStrike">
              <a:solidFill>
                <a:srgbClr val="000000"/>
              </a:solidFill>
              <a:effectLst/>
              <a:uFillTx/>
              <a:latin typeface="Arial"/>
            </a:endParaRPr>
          </a:p>
        </p:txBody>
      </p:sp>
      <p:pic>
        <p:nvPicPr>
          <p:cNvPr id="1280" name="Image 0" descr="/home/claude/assets/logo_crop.png"/>
          <p:cNvPicPr/>
          <p:nvPr/>
        </p:nvPicPr>
        <p:blipFill>
          <a:blip r:embed="rId3"/>
          <a:stretch/>
        </p:blipFill>
        <p:spPr>
          <a:xfrm>
            <a:off x="11201400" y="384120"/>
            <a:ext cx="456840" cy="511560"/>
          </a:xfrm>
          <a:prstGeom prst="rect">
            <a:avLst/>
          </a:prstGeom>
          <a:noFill/>
          <a:ln w="0">
            <a:noFill/>
          </a:ln>
        </p:spPr>
      </p:pic>
      <p:sp>
        <p:nvSpPr>
          <p:cNvPr id="1281" name="Shape 2"/>
          <p:cNvSpPr/>
          <p:nvPr/>
        </p:nvSpPr>
        <p:spPr>
          <a:xfrm>
            <a:off x="548640" y="502920"/>
            <a:ext cx="566640" cy="566640"/>
          </a:xfrm>
          <a:prstGeom prst="roundRect">
            <a:avLst>
              <a:gd name="adj" fmla="val 19355"/>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82" name="Text 3"/>
          <p:cNvSpPr/>
          <p:nvPr/>
        </p:nvSpPr>
        <p:spPr>
          <a:xfrm>
            <a:off x="548640" y="50292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231F71"/>
                </a:solidFill>
                <a:effectLst/>
                <a:uFillTx/>
                <a:latin typeface="Bricolage Grotesque"/>
                <a:ea typeface="Bricolage Grotesque"/>
              </a:rPr>
              <a:t>✎</a:t>
            </a:r>
            <a:endParaRPr lang="en-US" sz="1800" b="0" u="none" strike="noStrike">
              <a:solidFill>
                <a:srgbClr val="000000"/>
              </a:solidFill>
              <a:effectLst/>
              <a:uFillTx/>
              <a:latin typeface="Arial"/>
            </a:endParaRPr>
          </a:p>
        </p:txBody>
      </p:sp>
      <p:sp>
        <p:nvSpPr>
          <p:cNvPr id="1283" name="Text 4"/>
          <p:cNvSpPr/>
          <p:nvPr/>
        </p:nvSpPr>
        <p:spPr>
          <a:xfrm>
            <a:off x="1261800" y="5029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spc="99">
                <a:solidFill>
                  <a:srgbClr val="5755A7"/>
                </a:solidFill>
                <a:effectLst/>
                <a:uFillTx/>
                <a:latin typeface="Plus Jakarta Sans"/>
                <a:ea typeface="Plus Jakarta Sans"/>
              </a:rPr>
              <a:t>TASKS</a:t>
            </a:r>
            <a:endParaRPr lang="en-US" sz="900" b="0" u="none" strike="noStrike">
              <a:solidFill>
                <a:srgbClr val="000000"/>
              </a:solidFill>
              <a:effectLst/>
              <a:uFillTx/>
              <a:latin typeface="Arial"/>
            </a:endParaRPr>
          </a:p>
        </p:txBody>
      </p:sp>
      <p:sp>
        <p:nvSpPr>
          <p:cNvPr id="1284" name="Text 5"/>
          <p:cNvSpPr/>
          <p:nvPr/>
        </p:nvSpPr>
        <p:spPr>
          <a:xfrm>
            <a:off x="1261800" y="77724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00" b="1" u="none" strike="noStrike">
                <a:solidFill>
                  <a:srgbClr val="1B1B20"/>
                </a:solidFill>
                <a:effectLst/>
                <a:uFillTx/>
                <a:latin typeface="Bricolage Grotesque"/>
                <a:ea typeface="Bricolage Grotesque"/>
              </a:rPr>
              <a:t>Part E: Central Tendency</a:t>
            </a:r>
            <a:endParaRPr lang="en-US" sz="2200" b="0" u="none" strike="noStrike">
              <a:solidFill>
                <a:srgbClr val="000000"/>
              </a:solidFill>
              <a:effectLst/>
              <a:uFillTx/>
              <a:latin typeface="Arial"/>
            </a:endParaRPr>
          </a:p>
        </p:txBody>
      </p:sp>
      <p:sp>
        <p:nvSpPr>
          <p:cNvPr id="1285" name="Text 6"/>
          <p:cNvSpPr/>
          <p:nvPr/>
        </p:nvSpPr>
        <p:spPr>
          <a:xfrm>
            <a:off x="548640" y="1417320"/>
            <a:ext cx="10515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i="1" u="none" strike="noStrike">
                <a:solidFill>
                  <a:srgbClr val="474651"/>
                </a:solidFill>
                <a:effectLst/>
                <a:uFillTx/>
                <a:latin typeface="Hanken Grotesk"/>
                <a:ea typeface="Hanken Grotesk"/>
              </a:rPr>
              <a:t>Small tasks — do them in order.</a:t>
            </a:r>
            <a:endParaRPr lang="en-US" sz="1200" b="0" u="none" strike="noStrike">
              <a:solidFill>
                <a:srgbClr val="000000"/>
              </a:solidFill>
              <a:effectLst/>
              <a:uFillTx/>
              <a:latin typeface="Arial"/>
            </a:endParaRPr>
          </a:p>
        </p:txBody>
      </p:sp>
      <p:sp>
        <p:nvSpPr>
          <p:cNvPr id="1286" name="Shape 7"/>
          <p:cNvSpPr/>
          <p:nvPr/>
        </p:nvSpPr>
        <p:spPr>
          <a:xfrm>
            <a:off x="548640" y="196596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87" name="Shape 8"/>
          <p:cNvSpPr/>
          <p:nvPr/>
        </p:nvSpPr>
        <p:spPr>
          <a:xfrm>
            <a:off x="731520" y="220356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88" name="Text 9"/>
          <p:cNvSpPr/>
          <p:nvPr/>
        </p:nvSpPr>
        <p:spPr>
          <a:xfrm>
            <a:off x="731520" y="220356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1289" name="Text 10"/>
          <p:cNvSpPr/>
          <p:nvPr/>
        </p:nvSpPr>
        <p:spPr>
          <a:xfrm>
            <a:off x="1234440" y="196596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Calculate the mean, median, and mode of a real numerical column from a dataset of your choice, by hand or with simple code.</a:t>
            </a:r>
            <a:endParaRPr lang="en-US" sz="1400" b="0" u="none" strike="noStrike">
              <a:solidFill>
                <a:srgbClr val="000000"/>
              </a:solidFill>
              <a:effectLst/>
              <a:uFillTx/>
              <a:latin typeface="Arial"/>
            </a:endParaRPr>
          </a:p>
        </p:txBody>
      </p:sp>
      <p:sp>
        <p:nvSpPr>
          <p:cNvPr id="1290" name="Shape 11"/>
          <p:cNvSpPr/>
          <p:nvPr/>
        </p:nvSpPr>
        <p:spPr>
          <a:xfrm>
            <a:off x="548640" y="289872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91" name="Shape 12"/>
          <p:cNvSpPr/>
          <p:nvPr/>
        </p:nvSpPr>
        <p:spPr>
          <a:xfrm>
            <a:off x="731520" y="313632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92" name="Text 13"/>
          <p:cNvSpPr/>
          <p:nvPr/>
        </p:nvSpPr>
        <p:spPr>
          <a:xfrm>
            <a:off x="731520" y="313632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1293" name="Text 14"/>
          <p:cNvSpPr/>
          <p:nvPr/>
        </p:nvSpPr>
        <p:spPr>
          <a:xfrm>
            <a:off x="1234440" y="289872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Identify whether that column is skewed by extreme values, and explain which measure most honestly represents it.</a:t>
            </a:r>
            <a:endParaRPr lang="en-US" sz="1400" b="0" u="none" strike="noStrike">
              <a:solidFill>
                <a:srgbClr val="000000"/>
              </a:solidFill>
              <a:effectLst/>
              <a:uFillTx/>
              <a:latin typeface="Arial"/>
            </a:endParaRPr>
          </a:p>
        </p:txBody>
      </p:sp>
      <p:sp>
        <p:nvSpPr>
          <p:cNvPr id="1294" name="Shape 15"/>
          <p:cNvSpPr/>
          <p:nvPr/>
        </p:nvSpPr>
        <p:spPr>
          <a:xfrm>
            <a:off x="548640" y="383148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95" name="Shape 16"/>
          <p:cNvSpPr/>
          <p:nvPr/>
        </p:nvSpPr>
        <p:spPr>
          <a:xfrm>
            <a:off x="731520" y="406908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96" name="Text 17"/>
          <p:cNvSpPr/>
          <p:nvPr/>
        </p:nvSpPr>
        <p:spPr>
          <a:xfrm>
            <a:off x="731520" y="406908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1297" name="Text 18"/>
          <p:cNvSpPr/>
          <p:nvPr/>
        </p:nvSpPr>
        <p:spPr>
          <a:xfrm>
            <a:off x="1234440" y="383148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Write a two-sentence summary of that column’s "typical value," suitable for someone who has never seen the raw data.</a:t>
            </a:r>
            <a:endParaRPr lang="en-US" sz="14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0B0F17"/>
        </a:solidFill>
        <a:effectLst/>
      </p:bgPr>
    </p:bg>
    <p:spTree>
      <p:nvGrpSpPr>
        <p:cNvPr id="1" name=""/>
        <p:cNvGrpSpPr/>
        <p:nvPr/>
      </p:nvGrpSpPr>
      <p:grpSpPr>
        <a:xfrm>
          <a:off x="0" y="0"/>
          <a:ext cx="0" cy="0"/>
          <a:chOff x="0" y="0"/>
          <a:chExt cx="0" cy="0"/>
        </a:xfrm>
      </p:grpSpPr>
      <p:sp>
        <p:nvSpPr>
          <p:cNvPr id="1298" name="Shape 0"/>
          <p:cNvSpPr/>
          <p:nvPr/>
        </p:nvSpPr>
        <p:spPr>
          <a:xfrm>
            <a:off x="9692640" y="-1463040"/>
            <a:ext cx="3840120" cy="3840120"/>
          </a:xfrm>
          <a:prstGeom prst="ellipse">
            <a:avLst/>
          </a:prstGeom>
          <a:solidFill>
            <a:srgbClr val="262758">
              <a:alpha val="55000"/>
            </a:srgbClr>
          </a:solidFill>
          <a:ln w="12700">
            <a:solidFill>
              <a:srgbClr val="262758">
                <a:alpha val="5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99" name="Shape 1"/>
          <p:cNvSpPr/>
          <p:nvPr/>
        </p:nvSpPr>
        <p:spPr>
          <a:xfrm>
            <a:off x="-1645920" y="4754880"/>
            <a:ext cx="3474360" cy="3474360"/>
          </a:xfrm>
          <a:prstGeom prst="ellipse">
            <a:avLst/>
          </a:prstGeom>
          <a:solidFill>
            <a:srgbClr val="11362E">
              <a:alpha val="45000"/>
            </a:srgbClr>
          </a:solidFill>
          <a:ln w="12700">
            <a:solidFill>
              <a:srgbClr val="11362E">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00" name="Text 2"/>
          <p:cNvSpPr/>
          <p:nvPr/>
        </p:nvSpPr>
        <p:spPr>
          <a:xfrm>
            <a:off x="640080" y="2194560"/>
            <a:ext cx="91436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spc="201">
                <a:solidFill>
                  <a:srgbClr val="2DD4BF"/>
                </a:solidFill>
                <a:effectLst/>
                <a:uFillTx/>
                <a:latin typeface="Plus Jakarta Sans"/>
                <a:ea typeface="Plus Jakarta Sans"/>
              </a:rPr>
              <a:t>MINI PROJECT</a:t>
            </a:r>
            <a:endParaRPr lang="en-US" sz="1400" b="0" u="none" strike="noStrike">
              <a:solidFill>
                <a:srgbClr val="FFFFFF"/>
              </a:solidFill>
              <a:effectLst/>
              <a:uFillTx/>
              <a:latin typeface="Arial"/>
            </a:endParaRPr>
          </a:p>
        </p:txBody>
      </p:sp>
      <p:sp>
        <p:nvSpPr>
          <p:cNvPr id="1301" name="Text 3"/>
          <p:cNvSpPr/>
          <p:nvPr/>
        </p:nvSpPr>
        <p:spPr>
          <a:xfrm>
            <a:off x="640080" y="2697480"/>
            <a:ext cx="1033236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4000" b="1" u="none" strike="noStrike">
                <a:solidFill>
                  <a:srgbClr val="F1F5F9"/>
                </a:solidFill>
                <a:effectLst/>
                <a:uFillTx/>
                <a:latin typeface="Bricolage Grotesque"/>
                <a:ea typeface="Bricolage Grotesque"/>
              </a:rPr>
              <a:t>Put It All Together</a:t>
            </a:r>
            <a:endParaRPr lang="en-US" sz="4000" b="0" u="none" strike="noStrike">
              <a:solidFill>
                <a:srgbClr val="FFFFFF"/>
              </a:solidFill>
              <a:effectLst/>
              <a:uFillTx/>
              <a:latin typeface="Arial"/>
            </a:endParaRPr>
          </a:p>
        </p:txBody>
      </p:sp>
      <p:sp>
        <p:nvSpPr>
          <p:cNvPr id="1302" name="Text 4"/>
          <p:cNvSpPr/>
          <p:nvPr/>
        </p:nvSpPr>
        <p:spPr>
          <a:xfrm>
            <a:off x="640080" y="4023360"/>
            <a:ext cx="969228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500" b="0" u="none" strike="noStrike">
                <a:solidFill>
                  <a:srgbClr val="94A3B8"/>
                </a:solidFill>
                <a:effectLst/>
                <a:uFillTx/>
                <a:latin typeface="Hanken Grotesk"/>
                <a:ea typeface="Hanken Grotesk"/>
              </a:rPr>
              <a:t>Profile a real dataset from the ground up, using every skill from this session</a:t>
            </a:r>
            <a:endParaRPr lang="en-US" sz="1500" b="0" u="none" strike="noStrike">
              <a:solidFill>
                <a:srgbClr val="FFFFFF"/>
              </a:solidFill>
              <a:effectLst/>
              <a:uFillTx/>
              <a:latin typeface="Arial"/>
            </a:endParaRPr>
          </a:p>
        </p:txBody>
      </p:sp>
      <p:sp>
        <p:nvSpPr>
          <p:cNvPr id="1303" name="Text 5"/>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94A3B8"/>
                </a:solidFill>
                <a:effectLst/>
                <a:uFillTx/>
                <a:latin typeface="Plus Jakarta Sans"/>
                <a:ea typeface="Plus Jakarta Sans"/>
              </a:rPr>
              <a:t>85</a:t>
            </a:r>
            <a:endParaRPr lang="en-US" sz="900" b="0" u="none" strike="noStrike">
              <a:solidFill>
                <a:srgbClr val="FFFFFF"/>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304"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305"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86</a:t>
            </a:r>
            <a:endParaRPr lang="en-US" sz="900" b="0" u="none" strike="noStrike">
              <a:solidFill>
                <a:srgbClr val="000000"/>
              </a:solidFill>
              <a:effectLst/>
              <a:uFillTx/>
              <a:latin typeface="Arial"/>
            </a:endParaRPr>
          </a:p>
        </p:txBody>
      </p:sp>
      <p:pic>
        <p:nvPicPr>
          <p:cNvPr id="1306" name="Image 0" descr="/home/claude/assets/logo_crop.png"/>
          <p:cNvPicPr/>
          <p:nvPr/>
        </p:nvPicPr>
        <p:blipFill>
          <a:blip r:embed="rId3"/>
          <a:stretch/>
        </p:blipFill>
        <p:spPr>
          <a:xfrm>
            <a:off x="11201400" y="384120"/>
            <a:ext cx="456840" cy="511560"/>
          </a:xfrm>
          <a:prstGeom prst="rect">
            <a:avLst/>
          </a:prstGeom>
          <a:noFill/>
          <a:ln w="0">
            <a:noFill/>
          </a:ln>
        </p:spPr>
      </p:pic>
      <p:sp>
        <p:nvSpPr>
          <p:cNvPr id="1307"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Mini Project: Profile a Real Dataset</a:t>
            </a:r>
            <a:endParaRPr lang="en-US" sz="2600" b="0" u="none" strike="noStrike">
              <a:solidFill>
                <a:srgbClr val="000000"/>
              </a:solidFill>
              <a:effectLst/>
              <a:uFillTx/>
              <a:latin typeface="Arial"/>
            </a:endParaRPr>
          </a:p>
        </p:txBody>
      </p:sp>
      <p:sp>
        <p:nvSpPr>
          <p:cNvPr id="1308"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09"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10"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a:t>
            </a:r>
            <a:endParaRPr lang="en-US" sz="2800" b="0" u="none" strike="noStrike">
              <a:solidFill>
                <a:srgbClr val="000000"/>
              </a:solidFill>
              <a:effectLst/>
              <a:uFillTx/>
              <a:latin typeface="Arial"/>
            </a:endParaRPr>
          </a:p>
        </p:txBody>
      </p:sp>
      <p:sp>
        <p:nvSpPr>
          <p:cNvPr id="1311"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Every skill from today, combined</a:t>
            </a:r>
            <a:endParaRPr lang="en-US" sz="1700" b="0" u="none" strike="noStrike">
              <a:solidFill>
                <a:srgbClr val="000000"/>
              </a:solidFill>
              <a:effectLst/>
              <a:uFillTx/>
              <a:latin typeface="Arial"/>
            </a:endParaRPr>
          </a:p>
        </p:txBody>
      </p:sp>
      <p:sp>
        <p:nvSpPr>
          <p:cNvPr id="1312"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Choose any small, real dataset (or a provided one), and classify every column by data type and measurement scale</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State whether the data is primary or secondary, and identify a plausible source of both random error and systematic bias in how it might have been collected</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For three different columns, choose and justify an appropriate chart — one categorical, one numerical distribution, and one relationship between two variables</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Calculate mean, median, and mode for the key numerical column, and write a short, honest summary of what "typical" looks like in this dataset</a:t>
            </a:r>
            <a:endParaRPr lang="en-US" sz="20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313"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314"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87</a:t>
            </a:r>
            <a:endParaRPr lang="en-US" sz="900" b="0" u="none" strike="noStrike">
              <a:solidFill>
                <a:srgbClr val="000000"/>
              </a:solidFill>
              <a:effectLst/>
              <a:uFillTx/>
              <a:latin typeface="Arial"/>
            </a:endParaRPr>
          </a:p>
        </p:txBody>
      </p:sp>
      <p:pic>
        <p:nvPicPr>
          <p:cNvPr id="1315" name="Image 0" descr="/home/claude/assets/logo_crop.png"/>
          <p:cNvPicPr/>
          <p:nvPr/>
        </p:nvPicPr>
        <p:blipFill>
          <a:blip r:embed="rId3"/>
          <a:stretch/>
        </p:blipFill>
        <p:spPr>
          <a:xfrm>
            <a:off x="11201400" y="384120"/>
            <a:ext cx="456840" cy="511560"/>
          </a:xfrm>
          <a:prstGeom prst="rect">
            <a:avLst/>
          </a:prstGeom>
          <a:noFill/>
          <a:ln w="0">
            <a:noFill/>
          </a:ln>
        </p:spPr>
      </p:pic>
      <p:sp>
        <p:nvSpPr>
          <p:cNvPr id="1316"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Mini Project Starter: Profile a Dataset</a:t>
            </a:r>
            <a:endParaRPr lang="en-US" sz="2600" b="0" u="none" strike="noStrike">
              <a:solidFill>
                <a:srgbClr val="000000"/>
              </a:solidFill>
              <a:effectLst/>
              <a:uFillTx/>
              <a:latin typeface="Arial"/>
            </a:endParaRPr>
          </a:p>
        </p:txBody>
      </p:sp>
      <p:sp>
        <p:nvSpPr>
          <p:cNvPr id="1317"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400"/>
              </a:spcAft>
              <a:buClr>
                <a:srgbClr val="1B1B20"/>
              </a:buClr>
              <a:buFont typeface="Arial"/>
              <a:buChar char="•"/>
            </a:pPr>
            <a:r>
              <a:rPr lang="en-US" sz="2200" b="0" u="none" strike="noStrike" dirty="0">
                <a:solidFill>
                  <a:srgbClr val="1B1B20"/>
                </a:solidFill>
                <a:effectLst/>
                <a:uFillTx/>
                <a:latin typeface="Hanken Grotesk"/>
                <a:ea typeface="Hanken Grotesk"/>
              </a:rPr>
              <a:t>Start from this tiny table, then swap in your own dataset.</a:t>
            </a:r>
            <a:endParaRPr lang="en-US" sz="2200" b="0" u="none" strike="noStrike" dirty="0">
              <a:solidFill>
                <a:srgbClr val="000000"/>
              </a:solidFill>
              <a:effectLst/>
              <a:uFillTx/>
              <a:latin typeface="Arial"/>
              <a:cs typeface="Arial"/>
            </a:endParaRPr>
          </a:p>
          <a:p>
            <a:pPr marL="342900" indent="-342900" defTabSz="914400">
              <a:lnSpc>
                <a:spcPct val="100000"/>
              </a:lnSpc>
              <a:spcAft>
                <a:spcPts val="1400"/>
              </a:spcAft>
              <a:buClr>
                <a:srgbClr val="1B1B20"/>
              </a:buClr>
              <a:buFont typeface="Arial"/>
              <a:buChar char="•"/>
            </a:pPr>
            <a:r>
              <a:rPr lang="en-US" sz="2200" b="0" u="none" strike="noStrike" dirty="0">
                <a:solidFill>
                  <a:srgbClr val="1B1B20"/>
                </a:solidFill>
                <a:effectLst/>
                <a:uFillTx/>
                <a:latin typeface="Hanken Grotesk"/>
                <a:ea typeface="Hanken Grotesk"/>
              </a:rPr>
              <a:t>Check the shape, the types, and the missing values before any statistic.</a:t>
            </a:r>
            <a:endParaRPr lang="en-US" sz="2200" b="0" u="none" strike="noStrike" dirty="0">
              <a:solidFill>
                <a:srgbClr val="000000"/>
              </a:solidFill>
              <a:effectLst/>
              <a:uFillTx/>
              <a:latin typeface="Arial"/>
              <a:cs typeface="Arial"/>
            </a:endParaRPr>
          </a:p>
          <a:p>
            <a:pPr marL="342900" indent="-342900" defTabSz="914400">
              <a:lnSpc>
                <a:spcPct val="100000"/>
              </a:lnSpc>
              <a:spcAft>
                <a:spcPts val="1400"/>
              </a:spcAft>
              <a:buClr>
                <a:srgbClr val="1B1B20"/>
              </a:buClr>
              <a:buFont typeface="Arial"/>
              <a:buChar char="•"/>
            </a:pPr>
            <a:r>
              <a:rPr lang="en-US" sz="2200" b="0" u="none" strike="noStrike" dirty="0">
                <a:solidFill>
                  <a:srgbClr val="1B1B20"/>
                </a:solidFill>
                <a:effectLst/>
                <a:uFillTx/>
                <a:latin typeface="Hanken Grotesk"/>
                <a:ea typeface="Hanken Grotesk"/>
              </a:rPr>
              <a:t>describe() gives a first summary of every numeric column.</a:t>
            </a:r>
            <a:endParaRPr lang="en-US" sz="2200" b="0" u="none" strike="noStrike" dirty="0">
              <a:solidFill>
                <a:srgbClr val="000000"/>
              </a:solidFill>
              <a:effectLst/>
              <a:uFillTx/>
              <a:latin typeface="Arial"/>
              <a:cs typeface="Arial"/>
            </a:endParaRPr>
          </a:p>
        </p:txBody>
      </p:sp>
      <p:sp>
        <p:nvSpPr>
          <p:cNvPr id="1318"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19"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320"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321"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322"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200" b="0" u="none" strike="noStrike">
                <a:solidFill>
                  <a:srgbClr val="F1F5F9"/>
                </a:solidFill>
                <a:effectLst/>
                <a:uFillTx/>
                <a:latin typeface="Cantarell"/>
                <a:ea typeface="Consolas"/>
              </a:rPr>
              <a:t>import pandas as pd</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df = pd.DataFrame({</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"city": ["Quetta", "Lahore", "Quetta", "Karachi"],</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"rating": ["low", "high", "mid", "high"],</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"age": [21, 25, 22, None],</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"income": [30, 52, 41, 38],</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print(df.shape)                   </a:t>
            </a:r>
            <a:r>
              <a:rPr lang="en-US" sz="1200" b="0" i="1" u="none" strike="noStrike">
                <a:solidFill>
                  <a:srgbClr val="94A3B8"/>
                </a:solidFill>
                <a:effectLst/>
                <a:uFillTx/>
                <a:latin typeface="Cantarell"/>
                <a:ea typeface="Consolas"/>
              </a:rPr>
              <a:t># (4, 4)</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print(df["age"].isna().sum())     </a:t>
            </a:r>
            <a:r>
              <a:rPr lang="en-US" sz="1200" b="0" i="1" u="none" strike="noStrike">
                <a:solidFill>
                  <a:srgbClr val="94A3B8"/>
                </a:solidFill>
                <a:effectLst/>
                <a:uFillTx/>
                <a:latin typeface="Cantarell"/>
                <a:ea typeface="Consolas"/>
              </a:rPr>
              <a:t># 1</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print(df["income"].mean())        </a:t>
            </a:r>
            <a:r>
              <a:rPr lang="en-US" sz="1200" b="0" i="1" u="none" strike="noStrike">
                <a:solidFill>
                  <a:srgbClr val="94A3B8"/>
                </a:solidFill>
                <a:effectLst/>
                <a:uFillTx/>
                <a:latin typeface="Cantarell"/>
                <a:ea typeface="Consolas"/>
              </a:rPr>
              <a:t># 40.25</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print(df["city"].mode()[0])       </a:t>
            </a:r>
            <a:r>
              <a:rPr lang="en-US" sz="1200" b="0" i="1" u="none" strike="noStrike">
                <a:solidFill>
                  <a:srgbClr val="94A3B8"/>
                </a:solidFill>
                <a:effectLst/>
                <a:uFillTx/>
                <a:latin typeface="Cantarell"/>
                <a:ea typeface="Consolas"/>
              </a:rPr>
              <a:t># Quetta</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print(df.describe())</a:t>
            </a:r>
            <a:endParaRPr lang="en-US" sz="12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0B0F17"/>
        </a:solidFill>
        <a:effectLst/>
      </p:bgPr>
    </p:bg>
    <p:spTree>
      <p:nvGrpSpPr>
        <p:cNvPr id="1" name=""/>
        <p:cNvGrpSpPr/>
        <p:nvPr/>
      </p:nvGrpSpPr>
      <p:grpSpPr>
        <a:xfrm>
          <a:off x="0" y="0"/>
          <a:ext cx="0" cy="0"/>
          <a:chOff x="0" y="0"/>
          <a:chExt cx="0" cy="0"/>
        </a:xfrm>
      </p:grpSpPr>
      <p:sp>
        <p:nvSpPr>
          <p:cNvPr id="1323" name="Shape 0"/>
          <p:cNvSpPr/>
          <p:nvPr/>
        </p:nvSpPr>
        <p:spPr>
          <a:xfrm>
            <a:off x="9692640" y="-1463040"/>
            <a:ext cx="3840120" cy="3840120"/>
          </a:xfrm>
          <a:prstGeom prst="ellipse">
            <a:avLst/>
          </a:prstGeom>
          <a:solidFill>
            <a:srgbClr val="262758">
              <a:alpha val="55000"/>
            </a:srgbClr>
          </a:solidFill>
          <a:ln w="12700">
            <a:solidFill>
              <a:srgbClr val="262758">
                <a:alpha val="5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24" name="Shape 1"/>
          <p:cNvSpPr/>
          <p:nvPr/>
        </p:nvSpPr>
        <p:spPr>
          <a:xfrm>
            <a:off x="-1645920" y="4754880"/>
            <a:ext cx="3474360" cy="3474360"/>
          </a:xfrm>
          <a:prstGeom prst="ellipse">
            <a:avLst/>
          </a:prstGeom>
          <a:solidFill>
            <a:srgbClr val="11362E">
              <a:alpha val="45000"/>
            </a:srgbClr>
          </a:solidFill>
          <a:ln w="12700">
            <a:solidFill>
              <a:srgbClr val="11362E">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25" name="Text 2"/>
          <p:cNvSpPr/>
          <p:nvPr/>
        </p:nvSpPr>
        <p:spPr>
          <a:xfrm>
            <a:off x="640080" y="2194560"/>
            <a:ext cx="91436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spc="201">
                <a:solidFill>
                  <a:srgbClr val="2DD4BF"/>
                </a:solidFill>
                <a:effectLst/>
                <a:uFillTx/>
                <a:latin typeface="Plus Jakarta Sans"/>
                <a:ea typeface="Plus Jakarta Sans"/>
              </a:rPr>
              <a:t>RECAP</a:t>
            </a:r>
            <a:endParaRPr lang="en-US" sz="1400" b="0" u="none" strike="noStrike">
              <a:solidFill>
                <a:srgbClr val="FFFFFF"/>
              </a:solidFill>
              <a:effectLst/>
              <a:uFillTx/>
              <a:latin typeface="Arial"/>
            </a:endParaRPr>
          </a:p>
        </p:txBody>
      </p:sp>
      <p:sp>
        <p:nvSpPr>
          <p:cNvPr id="1326" name="Text 3"/>
          <p:cNvSpPr/>
          <p:nvPr/>
        </p:nvSpPr>
        <p:spPr>
          <a:xfrm>
            <a:off x="640080" y="2697480"/>
            <a:ext cx="1033236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4000" b="1" u="none" strike="noStrike">
                <a:solidFill>
                  <a:srgbClr val="F1F5F9"/>
                </a:solidFill>
                <a:effectLst/>
                <a:uFillTx/>
                <a:latin typeface="Bricolage Grotesque"/>
                <a:ea typeface="Bricolage Grotesque"/>
              </a:rPr>
              <a:t>Know Your Data First</a:t>
            </a:r>
            <a:endParaRPr lang="en-US" sz="4000" b="0" u="none" strike="noStrike">
              <a:solidFill>
                <a:srgbClr val="FFFFFF"/>
              </a:solidFill>
              <a:effectLst/>
              <a:uFillTx/>
              <a:latin typeface="Arial"/>
            </a:endParaRPr>
          </a:p>
        </p:txBody>
      </p:sp>
      <p:sp>
        <p:nvSpPr>
          <p:cNvPr id="1327" name="Text 4"/>
          <p:cNvSpPr/>
          <p:nvPr/>
        </p:nvSpPr>
        <p:spPr>
          <a:xfrm>
            <a:off x="640080" y="4023360"/>
            <a:ext cx="969228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500" b="0" u="none" strike="noStrike">
                <a:solidFill>
                  <a:srgbClr val="94A3B8"/>
                </a:solidFill>
                <a:effectLst/>
                <a:uFillTx/>
                <a:latin typeface="Hanken Grotesk"/>
                <a:ea typeface="Hanken Grotesk"/>
              </a:rPr>
              <a:t>Before any statistic means anything, you need to know your data’s type, where it could have gone wrong, and the right picture to show it with.  Next up: Descriptive Statistics II — spread, shape, z-scores and correlation.</a:t>
            </a:r>
            <a:endParaRPr lang="en-US" sz="1500" b="0" u="none" strike="noStrike">
              <a:solidFill>
                <a:srgbClr val="FFFFFF"/>
              </a:solidFill>
              <a:effectLst/>
              <a:uFillTx/>
              <a:latin typeface="Arial"/>
            </a:endParaRPr>
          </a:p>
        </p:txBody>
      </p:sp>
      <p:sp>
        <p:nvSpPr>
          <p:cNvPr id="1328" name="Text 5"/>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94A3B8"/>
                </a:solidFill>
                <a:effectLst/>
                <a:uFillTx/>
                <a:latin typeface="Plus Jakarta Sans"/>
                <a:ea typeface="Plus Jakarta Sans"/>
              </a:rPr>
              <a:t>88</a:t>
            </a:r>
            <a:endParaRPr lang="en-US" sz="900" b="0" u="none" strike="noStrike">
              <a:solidFill>
                <a:srgbClr val="FFFFFF"/>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TotalTime>
  <Words>0</Words>
  <Application>Microsoft Office PowerPoint</Application>
  <PresentationFormat>Widescreen</PresentationFormat>
  <Paragraphs>0</Paragraphs>
  <Slides>88</Slides>
  <Notes>83</Notes>
  <HiddenSlides>0</HiddenSlides>
  <ScaleCrop>false</ScaleCrop>
  <HeadingPairs>
    <vt:vector size="4" baseType="variant">
      <vt:variant>
        <vt:lpstr>Theme</vt:lpstr>
      </vt:variant>
      <vt:variant>
        <vt:i4>1</vt:i4>
      </vt:variant>
      <vt:variant>
        <vt:lpstr>Slide Titles</vt:lpstr>
      </vt:variant>
      <vt:variant>
        <vt:i4>88</vt:i4>
      </vt:variant>
    </vt:vector>
  </HeadingPairs>
  <TitlesOfParts>
    <vt:vector size="8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Descriptive Statistics I — CodeByPaxto</dc:title>
  <dc:subject>PptxGenJS Presentation</dc:subject>
  <dc:creator>Hafiz Waseem Ahmed (Paxto)</dc:creator>
  <dc:description/>
  <cp:lastModifiedBy/>
  <cp:revision>90</cp:revision>
  <dcterms:created xsi:type="dcterms:W3CDTF">2026-10-01T23:27:36Z</dcterms:created>
  <dcterms:modified xsi:type="dcterms:W3CDTF">2026-10-03T15:45:00Z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85</vt:i4>
  </property>
  <property fmtid="{D5CDD505-2E9C-101B-9397-08002B2CF9AE}" pid="3" name="PresentationFormat">
    <vt:lpwstr>On-screen Show (16:9)</vt:lpwstr>
  </property>
  <property fmtid="{D5CDD505-2E9C-101B-9397-08002B2CF9AE}" pid="4" name="Slides">
    <vt:i4>85</vt:i4>
  </property>
</Properties>
</file>