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3B36C2-4ED9-4B15-BBCB-9C3CF27BDF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7DE38D-E0AC-418E-AFD0-F5167D367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E497F7-687C-4228-9D28-BD53401872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554866-D905-4CC9-AD75-5A7A9019BC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EE2DCC-7A8D-4DED-BB50-CA28D739E6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4F2D49-C63C-4AAD-ACCF-DDE82510BA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106A464-2DF1-4AB8-8312-0803C5EFB9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7F070B-0A62-4761-A384-0831ADB863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D3DAC5-7FBB-48DE-8BB3-5A96E180BA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E637C03-ACA9-4421-B5A3-369D85FB42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7B0E94-BFFD-49CE-B17B-2ABEC9ABA3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D450C5-E3A9-4904-B21D-77679A5203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D695B9-E1E8-47D2-A46C-463283D3A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13714-2594-4C26-B255-514147A6FD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7CA113-C08A-4604-8FF4-C8047531AE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55E731-0D27-4D42-905E-DA8A78A224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5CDF1B-CA7C-48EA-9956-FD7625BC03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277382-6585-48D3-AF7B-DC762F6A8A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2655AE-88E8-4684-ABD1-119DCA545F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64E1DF-1E87-4B49-8952-A3A3C9A794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B69653-947D-4114-8489-B385A8EC75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BBC694-237D-41C3-9A36-3227362A83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F49134-0C84-484E-B862-E6B4C02BD4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0A7942-6152-429F-A240-521A33FC61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7ACABB-D307-4384-A644-C0697B4D70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3772CC-18F4-40B1-B7A7-F5CAFC3A3C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C10652-B7A1-484B-94F6-9DED7BAB8B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9D3571-5FF1-43AD-8F10-848CC2979A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5607A4-C232-4194-9694-FEFEADE681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6FDBBA-CFE8-42C8-AC70-99949D457D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7757A0-DFC0-4B8D-B397-01A2788538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54E5B0-8E4F-4EC0-9E46-1524AFE7D7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F78D27-D695-43CB-90C4-4DDC82FE27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3D54EF-E46C-42B4-ADCA-BA93EE8AC9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B1F7BE0-9C2E-4459-91F6-7E8C889298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0079AF-8E06-470E-89D0-BA76DC4DB1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8E6859-C9C3-42E0-9ABC-4B2F3C7048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E33F33-F642-4AE8-8EB9-F699802304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7E020A-90D5-4823-BD29-2361174EE7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E22394-9F27-4498-9DE3-BF3066F79A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B244B10-5080-4920-948A-CE33F622AB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88438A-1B14-4404-B930-67FD552FC0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C238AB-9D29-4B8B-9836-766FE70D58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90B4F5-F63E-4F12-88AF-CF60AAC120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FEF87E-0D8A-45F5-A04B-4A77E0DE22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0B6501-0FB4-4A6E-8253-444008A2BB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A61D1A-9433-4290-90B2-83ACAC9C84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55F0D1-402B-45D9-811A-DCA08541D4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A151FE-B756-4092-9ECA-2D6B61DC69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7684D1E-66E1-4EA9-A315-5F8EFCC2EC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401C06-910B-4D1B-933C-65E3BFD6F1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8B5E7F-C179-40B9-B8BE-2868AB75BD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937C64-027B-44F6-A8B1-B201E73C03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744760-8CF6-48FC-9E06-090F832054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DAE69F-F14A-4352-A1E6-E55840CE35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4CB834-9BCD-4946-B624-D68DFC8FEB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78D5B2-3FB7-43D0-8A9F-64930FB9D2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B57DDDB-A5C8-4BB4-B163-ACAB8183C6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1F3DF4-711F-4475-A817-806259D980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FC0999-B2A9-4433-B36A-04C24E9EBE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B19BBB-4040-477E-8648-8E26F14F45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48FEC4-D6D4-4415-9510-E6AFD0ECDA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2741FF-1621-4DA0-8BA0-188515F4CD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C1DE7DD-557F-43A3-A5B7-502CB62BBC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FF1D09-79EF-4078-BE65-DA681818F5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51F442-3413-410B-B61A-0F4EAD43DC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2BA9A6-34F2-4A1C-B30E-95CA907456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8B5F9D-4C0E-417B-A21A-C4CF67A13D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F0375D-3082-4967-BA45-21E05B1B1B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5852C4-CDDA-4515-A3A4-36E7CDF69E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249B3F-2D72-4ACB-9590-1FFE4FE7C3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5680" cy="548568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320" cy="146232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/home/claude/assets/logo_card.png"/>
          <p:cNvPicPr/>
          <p:nvPr/>
        </p:nvPicPr>
        <p:blipFill>
          <a:blip r:embed="rId1"/>
          <a:stretch/>
        </p:blipFill>
        <p:spPr>
          <a:xfrm>
            <a:off x="731520" y="502920"/>
            <a:ext cx="2559600" cy="83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Shape 4"/>
          <p:cNvSpPr/>
          <p:nvPr/>
        </p:nvSpPr>
        <p:spPr>
          <a:xfrm>
            <a:off x="713160" y="2331720"/>
            <a:ext cx="3931200" cy="291960"/>
          </a:xfrm>
          <a:prstGeom prst="roundRect">
            <a:avLst>
              <a:gd name="adj" fmla="val 15625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13160" y="2331720"/>
            <a:ext cx="39312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SESSION 18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8440" y="2788920"/>
            <a:ext cx="10514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Descriptive Statistics 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3703320"/>
            <a:ext cx="9600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at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Sta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tist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ics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Is,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Da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ta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Ty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s,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as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ure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Sc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ale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s,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Err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ors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Ev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ery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Ch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art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ed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&amp;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ntr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Te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nd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en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cy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wit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Pyt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ho</a:t>
            </a: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46634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500184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48140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4814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statistics actually is, and the two types: descriptive vs. inferential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199332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10312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10312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199332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Population vs. sample, and dependent vs. independent variables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61504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72484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7248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61504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Collecting &amp; measuring data — sources, sampling techniques, and reliability vs. validity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23712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34656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3465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23712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Types of data and the four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measurement scales —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where each is used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385884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396864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396864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385884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Errors and bias in data — what’s random, what’s systematic, and how to reduce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48056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459036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459036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48056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complete chart &amp; graph catalog — when to use each, and when not 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10228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21208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21208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10228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Measures of central tendency — mean, median, and mode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1"/>
          <p:cNvSpPr/>
          <p:nvPr/>
        </p:nvSpPr>
        <p:spPr>
          <a:xfrm>
            <a:off x="548640" y="5724000"/>
            <a:ext cx="11109240" cy="52956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2"/>
          <p:cNvSpPr/>
          <p:nvPr/>
        </p:nvSpPr>
        <p:spPr>
          <a:xfrm>
            <a:off x="731520" y="5833800"/>
            <a:ext cx="310320" cy="310320"/>
          </a:xfrm>
          <a:prstGeom prst="roundRect">
            <a:avLst>
              <a:gd name="adj" fmla="val 29412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731520" y="5833800"/>
            <a:ext cx="3103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1234440" y="5724000"/>
            <a:ext cx="101491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Today's tasks and a mini project — profiling a real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Your First Python Cell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do NOT need to know these libraries yet — copy, run, and read the comments.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math and statistics ship with Python. numpy, pandas and scipy are one pip install away.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code slide today uses small, made-up data so you can run it anywhere.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Built into Python: nothing to install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One-time install: pip install numpy pandas scipy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scores = [72, 85, 90, 66, 85]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print(statistics.mean(scores))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79.6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print(np.mean(scores))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79.6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print(math.sqrt(16))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Is Statistics?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any formula, a clear picture of what this field actually does, and the two very different jobs it does it for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Statistics, Really?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Making sense of data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 is the field of collecting, organizing, summarizing, and drawing conclusions from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 its core, it answers two very different kinds of questions: "what does this data show?" and "what can this data tell me about something bigger than itself?"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dataset is meaningless until statistics gives you a way to describe it, compare it, or trust (or doubt) a conclusion drawn from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genuinely one of the most widely used branches of math in the world — not just in AI, but in every field that collects data of any kind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Statistics Is Actually Used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4864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160488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160488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73152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73152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Medicine &amp; Research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77724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Clinical trials, drug effectiveness, and public health decisions all rest on statistical evidence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338328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44395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1"/>
          <p:cNvSpPr/>
          <p:nvPr/>
        </p:nvSpPr>
        <p:spPr>
          <a:xfrm>
            <a:off x="44395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356616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356616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Business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361188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Sales forecasting, customer segmentation, and A/B testing a new feature or price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621792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727416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727416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8"/>
          <p:cNvSpPr/>
          <p:nvPr/>
        </p:nvSpPr>
        <p:spPr>
          <a:xfrm>
            <a:off x="640080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640080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Sports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644652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Player performance metrics, game strategy, and predicting match outcomes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905256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101088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101088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923544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923544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Government &amp; Policy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928116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Census data, unemployment rates, and evidence behind public policy decisions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AI 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Descriptive vs. Inferential Statistics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Desc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riptiv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Stati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and summarizes the exact data you already have — nothing more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Answers "what happened in THIS data?" — the average, the spread, the shape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entire session, and the next, live 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Inferential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Uses a smaller sample to draw conclusions about a larger population you didn’t fully measure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Answers "what can I confidently CONCLUDE, beyond just this data?" — confidence, significance, hypothesis tests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where the course goes in Sessions 21 and 22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Population vs. Sample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whole group, vs. a slice of 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population is every single member of the group you actually care about — every voter, every customer, every product ever made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sample is a smaller, manageable subset of that population, actually measured — usually because measuring the entire population is impossible or impractical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Almost everything in real data science is a sample — you rarely have data on literally everyone or everything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single distinction is the entire reason inferential statistics needs to exist at all — keep it in mind, it comes back constantly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Sample vs. Population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 invent a population of 10,000 scores, then measure only 100 of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sample mean lands close to the population mean — but almost never exactly on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That small gap is exactly why inferential statistics exists.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np.random.default_rng(42)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population = rng.normal(70, 10, size=10_000)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sample = rng.choice(population, size=100,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 replace=False)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print(round(population.mean(), 2))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69.9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print(round(sample.mean(), 2))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71.11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print(len(population), len(sample))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10000 100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Dependent vs. Independent Variables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Cause, and the effect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independent variable is the one you change, control, or use to explain something — it stands on its own, unaffected by the other variables in the study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dependent variable is the one you measure as an outcome — its value "depends on" the independent variable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"does study time affect exam score," study time is independent, exam score is dependent — the score depends on the hours studied, not the other way around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distinction quietly decides which axis a variable belongs on in a scatter plot, and which side of a formula it belongs on in a regression — both coming up soon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Independent &amp; Dependent Variables in a Table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 stores data as a table: each column is one variable.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Put the independent variable in x and the dependent variable in y — you will reuse this habit in every ML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df["hours"] simply pulls out one column.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"hours": [1, 2, 3, 4, 5],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independent (x)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"score": [52, 60, 58, 71, 75],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dependent (y)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})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x = df["hours"]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what we change or explain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y = df["score"]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what we measure as outcome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print(x.mean(), y.mean())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3.0 63.2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print(df.shape)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(5, 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What Is Statistics?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real decision (personal, business, or public) that was likely made using statistics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survey of 200 university students about study habits, identify the population and the sample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your own words the difference between descriptive and inferential statistics, using your own example for each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548640" y="47638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731520" y="500184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731520" y="5001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1234440" y="47638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"does fertilizer amount affect plant height," identify the independent and dependent variable, and explain your reasoning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Collecting &amp; Measuring Data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Where your data actually comes from, how it was sampled, and whether the way it was measured can even be trusted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ML Playground  ·  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Primary vs. Secondary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Who collected it first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rv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ey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ff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igi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u’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ov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y’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lle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ct.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ctl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tu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-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ix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ot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u’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uc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ul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Sampling Types &amp; Techniques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#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How you pick the slice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How a sample is chosen directly determines whether it can honestly represent the population it came from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Probability sampling gives every member of the population a known chance of being selected — this is what makes inferential statistics (Sessions 21–22) mathematically valid at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Non-probability sampling doesn’t guarantee that — it’s often faster and cheaper, but carries a real risk of a biased, unrepresentative sample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next slide walks through the specific techniques inside each category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Common Sampling Techniques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54864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160488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160488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73152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73152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Simple Random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77724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member has an exactly equal chance of selection — like drawing names from a hat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338328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44395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1"/>
          <p:cNvSpPr/>
          <p:nvPr/>
        </p:nvSpPr>
        <p:spPr>
          <a:xfrm>
            <a:off x="44395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356616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356616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Stratified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4"/>
          <p:cNvSpPr/>
          <p:nvPr/>
        </p:nvSpPr>
        <p:spPr>
          <a:xfrm>
            <a:off x="361188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population is split into meaningful subgroups first, then randomly sampled within each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5"/>
          <p:cNvSpPr/>
          <p:nvPr/>
        </p:nvSpPr>
        <p:spPr>
          <a:xfrm>
            <a:off x="621792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727416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727416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8"/>
          <p:cNvSpPr/>
          <p:nvPr/>
        </p:nvSpPr>
        <p:spPr>
          <a:xfrm>
            <a:off x="640080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9"/>
          <p:cNvSpPr/>
          <p:nvPr/>
        </p:nvSpPr>
        <p:spPr>
          <a:xfrm>
            <a:off x="640080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Cluster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0"/>
          <p:cNvSpPr/>
          <p:nvPr/>
        </p:nvSpPr>
        <p:spPr>
          <a:xfrm>
            <a:off x="644652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population is split into naturally occurring groups (e.g. schools), and whole groups are randomly selected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1"/>
          <p:cNvSpPr/>
          <p:nvPr/>
        </p:nvSpPr>
        <p:spPr>
          <a:xfrm>
            <a:off x="905256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2"/>
          <p:cNvSpPr/>
          <p:nvPr/>
        </p:nvSpPr>
        <p:spPr>
          <a:xfrm>
            <a:off x="101088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3"/>
          <p:cNvSpPr/>
          <p:nvPr/>
        </p:nvSpPr>
        <p:spPr>
          <a:xfrm>
            <a:off x="101088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4"/>
          <p:cNvSpPr/>
          <p:nvPr/>
        </p:nvSpPr>
        <p:spPr>
          <a:xfrm>
            <a:off x="923544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5"/>
          <p:cNvSpPr/>
          <p:nvPr/>
        </p:nvSpPr>
        <p:spPr>
          <a:xfrm>
            <a:off x="923544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Convenience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6"/>
          <p:cNvSpPr/>
          <p:nvPr/>
        </p:nvSpPr>
        <p:spPr>
          <a:xfrm>
            <a:off x="928116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Whoever is easiest to reach is sampled — fast, but carries the highest risk of an unrepresentative sample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q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54864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20772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20772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73152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73152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Systematic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77724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Select every k-th member from a list (e.g. every 10th name) after a random starting point — probability-based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432828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0"/>
          <p:cNvSpPr/>
          <p:nvPr/>
        </p:nvSpPr>
        <p:spPr>
          <a:xfrm>
            <a:off x="585684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585684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2"/>
          <p:cNvSpPr/>
          <p:nvPr/>
        </p:nvSpPr>
        <p:spPr>
          <a:xfrm>
            <a:off x="451116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451116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Snowball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455688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Existing participants refer other participants — useful for hard-to-reach populations, but non-random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5"/>
          <p:cNvSpPr/>
          <p:nvPr/>
        </p:nvSpPr>
        <p:spPr>
          <a:xfrm>
            <a:off x="810756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6"/>
          <p:cNvSpPr/>
          <p:nvPr/>
        </p:nvSpPr>
        <p:spPr>
          <a:xfrm>
            <a:off x="96361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7"/>
          <p:cNvSpPr/>
          <p:nvPr/>
        </p:nvSpPr>
        <p:spPr>
          <a:xfrm>
            <a:off x="96361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8"/>
          <p:cNvSpPr/>
          <p:nvPr/>
        </p:nvSpPr>
        <p:spPr>
          <a:xfrm>
            <a:off x="829044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9"/>
          <p:cNvSpPr/>
          <p:nvPr/>
        </p:nvSpPr>
        <p:spPr>
          <a:xfrm>
            <a:off x="829044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Quota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0"/>
          <p:cNvSpPr/>
          <p:nvPr/>
        </p:nvSpPr>
        <p:spPr>
          <a:xfrm>
            <a:off x="833616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fixed number is sampled from each subgroup, like stratified — but selection within each group isn’t random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Hybrid Sampling in Practice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Mixing methods, honestly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Real research often combines techniques rather than picking just one — for example, stratifying a national population by region, then using convenience sampling at accessible locations within each region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completely legitimate — it balances practicality against representativeness far better than pure convenience sampling alone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key obligation is transparency: a hybrid approach should be reported exactly as it was done, so readers can judge for themselves how representative the sample really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Hiding a convenience step inside what looks like a fully random design is exactly how a study quietly inherits selection bias without anyone noticing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Three Sampling Techniques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Simple random: every row has an equal chance.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Systematic: take every k-th row. Stratified: sample inside each group.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Convenience and snowball sampling cannot be coded — they depend on how you reach people in the real world.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"student": range(1, 101),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"year": ["1st"] * 40 + ["2nd"] * 35 + ["3rd"] * 25,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})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simple = df.sample(n=10, random_state=1)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systematic = df.iloc[::10]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every 10th row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strat = df.groupby("year").sample(frac=0.1,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                          random_state=1)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print(len(simple), len(systematic), len(strat))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10 10 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print(strat["year"].value_counts().to_dict())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→ {'1st': 4, '2nd': 4, '3rd': 2}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Probability vs. Non-Probability Sampling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Probability Sampling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Simple random, stratified, cluster, and systematic sampling all belong 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member has a known, nonzero chance of selection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what lets you legitimately generalize a sample’s result back to the full population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Non-Probability Sampling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Convenience, snowball, and quota sampling all belong here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Selection isn’t random — some members may have no chance of being included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hybrid approach (mixing both) is common in practice — useful, but should be reported honestly, not hidden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Operationalization &amp; Proxy Measurements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Turning an idea into a number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Operationalization is the process of turning a vague, abstract idea — "happiness," "customer loyalty," "intelligence" — into something concrete enough to actually measure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A proxy measurement is a stand-in variable used because the real thing can’t be measured directly — using "number of repeat purchases" to represent "customer loyalty"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Every operationalization involves a judgment call, and a different one can lead to a genuinely different result — this is worth stating openly in any real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This is precisely the step where "reliability" and "validity," on the next slide, actually get put to the test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Reliability vs. Validity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Reliability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Asks: if I measure this again, under the same conditions, do I get a consistent result?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bathroom scale that reads 3kg heavier every time is reliable — wrong, but consistently wrong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Without reliability, you can’t trust any single measurement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Validity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Asks: am I actually measuring the concept I claim to be measuring?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survey meant to measure "job satisfaction" that actually measures "salary satisfaction" is NOT valid, even if it’s perfectly reliable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measurement can be reliable without being valid — but it can’t be genuinely valid without also being reliable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Reliability vs. Validity, Visualized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548640" y="1463040"/>
            <a:ext cx="5485680" cy="1873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850320" y="1654920"/>
            <a:ext cx="1499040" cy="1499040"/>
          </a:xfrm>
          <a:prstGeom prst="ellipse">
            <a:avLst/>
          </a:prstGeom>
          <a:solidFill>
            <a:srgbClr val="EDEBFF"/>
          </a:solidFill>
          <a:ln w="12700">
            <a:solidFill>
              <a:srgbClr val="EDE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1097280" y="1901880"/>
            <a:ext cx="1005120" cy="1005120"/>
          </a:xfrm>
          <a:prstGeom prst="ellipse">
            <a:avLst/>
          </a:prstGeom>
          <a:solidFill>
            <a:srgbClr val="D2D0FA"/>
          </a:solidFill>
          <a:ln w="12700">
            <a:solidFill>
              <a:srgbClr val="D2D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1344240" y="2148840"/>
            <a:ext cx="511200" cy="51120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1554480" y="235908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8"/>
          <p:cNvSpPr/>
          <p:nvPr/>
        </p:nvSpPr>
        <p:spPr>
          <a:xfrm>
            <a:off x="1642320" y="243216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9"/>
          <p:cNvSpPr/>
          <p:nvPr/>
        </p:nvSpPr>
        <p:spPr>
          <a:xfrm>
            <a:off x="1481400" y="241776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1591200" y="22712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1495800" y="231516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2606040" y="18745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Reliable AND Valid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3"/>
          <p:cNvSpPr/>
          <p:nvPr/>
        </p:nvSpPr>
        <p:spPr>
          <a:xfrm>
            <a:off x="2606040" y="237744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Tightly clustered, right on target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4"/>
          <p:cNvSpPr/>
          <p:nvPr/>
        </p:nvSpPr>
        <p:spPr>
          <a:xfrm>
            <a:off x="6172200" y="1463040"/>
            <a:ext cx="5485680" cy="1873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5"/>
          <p:cNvSpPr/>
          <p:nvPr/>
        </p:nvSpPr>
        <p:spPr>
          <a:xfrm>
            <a:off x="6473880" y="1654920"/>
            <a:ext cx="1499040" cy="1499040"/>
          </a:xfrm>
          <a:prstGeom prst="ellipse">
            <a:avLst/>
          </a:prstGeom>
          <a:solidFill>
            <a:srgbClr val="EDEBFF"/>
          </a:solidFill>
          <a:ln w="12700">
            <a:solidFill>
              <a:srgbClr val="EDE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6"/>
          <p:cNvSpPr/>
          <p:nvPr/>
        </p:nvSpPr>
        <p:spPr>
          <a:xfrm>
            <a:off x="6720840" y="1901880"/>
            <a:ext cx="1005120" cy="1005120"/>
          </a:xfrm>
          <a:prstGeom prst="ellipse">
            <a:avLst/>
          </a:prstGeom>
          <a:solidFill>
            <a:srgbClr val="D2D0FA"/>
          </a:solidFill>
          <a:ln w="12700">
            <a:solidFill>
              <a:srgbClr val="D2D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7"/>
          <p:cNvSpPr/>
          <p:nvPr/>
        </p:nvSpPr>
        <p:spPr>
          <a:xfrm>
            <a:off x="6967800" y="2148840"/>
            <a:ext cx="511200" cy="51120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8"/>
          <p:cNvSpPr/>
          <p:nvPr/>
        </p:nvSpPr>
        <p:spPr>
          <a:xfrm>
            <a:off x="7580520" y="199332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7631640" y="20520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0"/>
          <p:cNvSpPr/>
          <p:nvPr/>
        </p:nvSpPr>
        <p:spPr>
          <a:xfrm>
            <a:off x="7543800" y="20664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1"/>
          <p:cNvSpPr/>
          <p:nvPr/>
        </p:nvSpPr>
        <p:spPr>
          <a:xfrm>
            <a:off x="7616880" y="195696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2"/>
          <p:cNvSpPr/>
          <p:nvPr/>
        </p:nvSpPr>
        <p:spPr>
          <a:xfrm>
            <a:off x="7558560" y="197892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3"/>
          <p:cNvSpPr/>
          <p:nvPr/>
        </p:nvSpPr>
        <p:spPr>
          <a:xfrm>
            <a:off x="8229600" y="187452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Reliable, but NOT Valid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8229600" y="237744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Tightly clustered — consistently off-target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5"/>
          <p:cNvSpPr/>
          <p:nvPr/>
        </p:nvSpPr>
        <p:spPr>
          <a:xfrm>
            <a:off x="548640" y="3474720"/>
            <a:ext cx="5485680" cy="1873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6"/>
          <p:cNvSpPr/>
          <p:nvPr/>
        </p:nvSpPr>
        <p:spPr>
          <a:xfrm>
            <a:off x="850320" y="3666600"/>
            <a:ext cx="1499040" cy="1499040"/>
          </a:xfrm>
          <a:prstGeom prst="ellipse">
            <a:avLst/>
          </a:prstGeom>
          <a:solidFill>
            <a:srgbClr val="EDEBFF"/>
          </a:solidFill>
          <a:ln w="12700">
            <a:solidFill>
              <a:srgbClr val="EDE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7"/>
          <p:cNvSpPr/>
          <p:nvPr/>
        </p:nvSpPr>
        <p:spPr>
          <a:xfrm>
            <a:off x="1097280" y="3913560"/>
            <a:ext cx="1005120" cy="1005120"/>
          </a:xfrm>
          <a:prstGeom prst="ellipse">
            <a:avLst/>
          </a:prstGeom>
          <a:solidFill>
            <a:srgbClr val="D2D0FA"/>
          </a:solidFill>
          <a:ln w="12700">
            <a:solidFill>
              <a:srgbClr val="D2D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8"/>
          <p:cNvSpPr/>
          <p:nvPr/>
        </p:nvSpPr>
        <p:spPr>
          <a:xfrm>
            <a:off x="1344240" y="4160520"/>
            <a:ext cx="511200" cy="51120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9"/>
          <p:cNvSpPr/>
          <p:nvPr/>
        </p:nvSpPr>
        <p:spPr>
          <a:xfrm>
            <a:off x="1920240" y="44438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0"/>
          <p:cNvSpPr/>
          <p:nvPr/>
        </p:nvSpPr>
        <p:spPr>
          <a:xfrm>
            <a:off x="1152000" y="42246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1"/>
          <p:cNvSpPr/>
          <p:nvPr/>
        </p:nvSpPr>
        <p:spPr>
          <a:xfrm>
            <a:off x="1627560" y="48096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2"/>
          <p:cNvSpPr/>
          <p:nvPr/>
        </p:nvSpPr>
        <p:spPr>
          <a:xfrm>
            <a:off x="1334880" y="39686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3"/>
          <p:cNvSpPr/>
          <p:nvPr/>
        </p:nvSpPr>
        <p:spPr>
          <a:xfrm>
            <a:off x="1481400" y="43344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4"/>
          <p:cNvSpPr/>
          <p:nvPr/>
        </p:nvSpPr>
        <p:spPr>
          <a:xfrm>
            <a:off x="2606040" y="388620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NOT Reliable, but Valid "on average"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5"/>
          <p:cNvSpPr/>
          <p:nvPr/>
        </p:nvSpPr>
        <p:spPr>
          <a:xfrm>
            <a:off x="2606040" y="43891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Scattered widely, but centered on target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6"/>
          <p:cNvSpPr/>
          <p:nvPr/>
        </p:nvSpPr>
        <p:spPr>
          <a:xfrm>
            <a:off x="6172200" y="3474720"/>
            <a:ext cx="5485680" cy="18738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7"/>
          <p:cNvSpPr/>
          <p:nvPr/>
        </p:nvSpPr>
        <p:spPr>
          <a:xfrm>
            <a:off x="6473880" y="3666600"/>
            <a:ext cx="1499040" cy="1499040"/>
          </a:xfrm>
          <a:prstGeom prst="ellipse">
            <a:avLst/>
          </a:prstGeom>
          <a:solidFill>
            <a:srgbClr val="EDEBFF"/>
          </a:solidFill>
          <a:ln w="12700">
            <a:solidFill>
              <a:srgbClr val="EDE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8"/>
          <p:cNvSpPr/>
          <p:nvPr/>
        </p:nvSpPr>
        <p:spPr>
          <a:xfrm>
            <a:off x="6720840" y="3913560"/>
            <a:ext cx="1005120" cy="1005120"/>
          </a:xfrm>
          <a:prstGeom prst="ellipse">
            <a:avLst/>
          </a:prstGeom>
          <a:solidFill>
            <a:srgbClr val="D2D0FA"/>
          </a:solidFill>
          <a:ln w="12700">
            <a:solidFill>
              <a:srgbClr val="D2D0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9"/>
          <p:cNvSpPr/>
          <p:nvPr/>
        </p:nvSpPr>
        <p:spPr>
          <a:xfrm>
            <a:off x="6967800" y="4160520"/>
            <a:ext cx="511200" cy="511200"/>
          </a:xfrm>
          <a:prstGeom prst="ellipse">
            <a:avLst/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0"/>
          <p:cNvSpPr/>
          <p:nvPr/>
        </p:nvSpPr>
        <p:spPr>
          <a:xfrm>
            <a:off x="7689960" y="480960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1"/>
          <p:cNvSpPr/>
          <p:nvPr/>
        </p:nvSpPr>
        <p:spPr>
          <a:xfrm>
            <a:off x="6702480" y="46634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2"/>
          <p:cNvSpPr/>
          <p:nvPr/>
        </p:nvSpPr>
        <p:spPr>
          <a:xfrm>
            <a:off x="7434000" y="38588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43"/>
          <p:cNvSpPr/>
          <p:nvPr/>
        </p:nvSpPr>
        <p:spPr>
          <a:xfrm>
            <a:off x="7726680" y="429768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4"/>
          <p:cNvSpPr/>
          <p:nvPr/>
        </p:nvSpPr>
        <p:spPr>
          <a:xfrm>
            <a:off x="6958440" y="4883040"/>
            <a:ext cx="90720" cy="90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360" tIns="19440" rIns="45360" bIns="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5"/>
          <p:cNvSpPr/>
          <p:nvPr/>
        </p:nvSpPr>
        <p:spPr>
          <a:xfrm>
            <a:off x="8229600" y="388620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NOT Reliable, NOT Valid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46"/>
          <p:cNvSpPr/>
          <p:nvPr/>
        </p:nvSpPr>
        <p:spPr>
          <a:xfrm>
            <a:off x="8229600" y="43891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Scattered randomly, nowhere near the target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47"/>
          <p:cNvSpPr/>
          <p:nvPr/>
        </p:nvSpPr>
        <p:spPr>
          <a:xfrm>
            <a:off x="548640" y="5577840"/>
            <a:ext cx="11109240" cy="657720"/>
          </a:xfrm>
          <a:prstGeom prst="roundRect">
            <a:avLst>
              <a:gd name="adj" fmla="val 1388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8"/>
          <p:cNvSpPr/>
          <p:nvPr/>
        </p:nvSpPr>
        <p:spPr>
          <a:xfrm>
            <a:off x="777240" y="5577840"/>
            <a:ext cx="106520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Reliability asks: if I measure this again, do I get a consistent result? Validity asks: am I actually measuring the right thing? A measurement needs both to be trustworthy.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Rel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iab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ilit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vs.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idit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y: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as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ure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Reliability = how small the spread is (standard deviation).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Validity = how close the average is to the true value (bias).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tuple below is (bias, spread) for 1,000 readings of a true value of 50.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true_value = 50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check(m):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bias = m.mean() - true_value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validity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spread = m.std()  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reliability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round(float(bias), 1) + 0, round(float(spread),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good  = rng.normal(50, 1, 1000)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reliable + valid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off   = rng.normal(56, 1, 1000)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reliable, NOT valid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noisy = rng.normal(50, 8, 1000)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NOT reliable, valid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print(check(good))   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(0.0, 1.0)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print(check(off))    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(6.0, 1.0)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print(check(noisy))  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(-0.4, 7.9)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Collecting &amp; Measuring Data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these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yoursel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 first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pencil,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paper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or a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quick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Python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548640" y="1965960"/>
            <a:ext cx="11063520" cy="752760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8"/>
          <p:cNvSpPr/>
          <p:nvPr/>
        </p:nvSpPr>
        <p:spPr>
          <a:xfrm>
            <a:off x="731520" y="216900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9"/>
          <p:cNvSpPr/>
          <p:nvPr/>
        </p:nvSpPr>
        <p:spPr>
          <a:xfrm>
            <a:off x="731520" y="21690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0"/>
          <p:cNvSpPr/>
          <p:nvPr/>
        </p:nvSpPr>
        <p:spPr>
          <a:xfrm>
            <a:off x="1234440" y="1965960"/>
            <a:ext cx="10149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your own final project idea, decide whether your data would be primary or secondary, and explain why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1"/>
          <p:cNvSpPr/>
          <p:nvPr/>
        </p:nvSpPr>
        <p:spPr>
          <a:xfrm>
            <a:off x="548640" y="2829240"/>
            <a:ext cx="11063520" cy="752760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2"/>
          <p:cNvSpPr/>
          <p:nvPr/>
        </p:nvSpPr>
        <p:spPr>
          <a:xfrm>
            <a:off x="731520" y="30322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3"/>
          <p:cNvSpPr/>
          <p:nvPr/>
        </p:nvSpPr>
        <p:spPr>
          <a:xfrm>
            <a:off x="731520" y="30322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4"/>
          <p:cNvSpPr/>
          <p:nvPr/>
        </p:nvSpPr>
        <p:spPr>
          <a:xfrm>
            <a:off x="1234440" y="2829240"/>
            <a:ext cx="10149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researcher samples only students who walk past the library at noon. Name this sampling technique, and explain its main risk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5"/>
          <p:cNvSpPr/>
          <p:nvPr/>
        </p:nvSpPr>
        <p:spPr>
          <a:xfrm>
            <a:off x="548640" y="3692520"/>
            <a:ext cx="11063520" cy="752760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6"/>
          <p:cNvSpPr/>
          <p:nvPr/>
        </p:nvSpPr>
        <p:spPr>
          <a:xfrm>
            <a:off x="731520" y="389520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731520" y="389520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8"/>
          <p:cNvSpPr/>
          <p:nvPr/>
        </p:nvSpPr>
        <p:spPr>
          <a:xfrm>
            <a:off x="1234440" y="3692520"/>
            <a:ext cx="10149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study on a rare medical condition asks each participant to refer other people with the same condition. Name this technique, and explain when it’s genuinely the right choice despite being non-random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9"/>
          <p:cNvSpPr/>
          <p:nvPr/>
        </p:nvSpPr>
        <p:spPr>
          <a:xfrm>
            <a:off x="548640" y="4555440"/>
            <a:ext cx="11063520" cy="752760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0"/>
          <p:cNvSpPr/>
          <p:nvPr/>
        </p:nvSpPr>
        <p:spPr>
          <a:xfrm>
            <a:off x="731520" y="47584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1"/>
          <p:cNvSpPr/>
          <p:nvPr/>
        </p:nvSpPr>
        <p:spPr>
          <a:xfrm>
            <a:off x="731520" y="47584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2"/>
          <p:cNvSpPr/>
          <p:nvPr/>
        </p:nvSpPr>
        <p:spPr>
          <a:xfrm>
            <a:off x="1234440" y="4555440"/>
            <a:ext cx="10149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one reasonable way to operationalize "student engagement" using a measurable proxy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3"/>
          <p:cNvSpPr/>
          <p:nvPr/>
        </p:nvSpPr>
        <p:spPr>
          <a:xfrm>
            <a:off x="548640" y="5418720"/>
            <a:ext cx="11063520" cy="752760"/>
          </a:xfrm>
          <a:prstGeom prst="roundRect">
            <a:avLst>
              <a:gd name="adj" fmla="val 1213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4"/>
          <p:cNvSpPr/>
          <p:nvPr/>
        </p:nvSpPr>
        <p:spPr>
          <a:xfrm>
            <a:off x="731520" y="56217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5"/>
          <p:cNvSpPr/>
          <p:nvPr/>
        </p:nvSpPr>
        <p:spPr>
          <a:xfrm>
            <a:off x="731520" y="56217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6"/>
          <p:cNvSpPr/>
          <p:nvPr/>
        </p:nvSpPr>
        <p:spPr>
          <a:xfrm>
            <a:off x="1234440" y="5418720"/>
            <a:ext cx="101491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wei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ght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din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ry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tim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it,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sec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art,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hin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els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ngi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ng.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reli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abil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ity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dit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m?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Types of Data &amp; Measurement Scales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Not all data can be treated the same way — this determines which statistics and which charts are even valid to use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Categorical vs. Numerical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Categorical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a quality or category — groups, labels, names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Nominal: no natural order (blood type, country, color)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Ordinal: a natural order exists, but distances aren’t meaningful (satisfaction rating, education level)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Numerical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Describes a measurable quantity — counts or measurements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Discrete: countable, whole values only (number of children, number of orders)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Continuous: can take any value in a range (height, temperature, time)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 Types in pandas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pandas tells you each column's type with .dtypes.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Ordinal data needs an explicit order — otherwise Python treats labels as plain text.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ordered Categorical lets you ask for max or min of a rating.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 = pd.DataFrame({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"blood": ["A", "O", "B"],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nominal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"rating": ["low", "high", "mid"],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ordinal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"kids": [0, 2, 1],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discrete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"height": [160.5, 172.0, 181.2],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continuous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})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df["rating"] = pd.Categorical(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df["rating"], categories=["low", "mid", "high"],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ordered=True)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print(df.dtypes)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print(df["rating"].max())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high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Four Measurement Scales, at a Glance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3"/>
          <p:cNvSpPr/>
          <p:nvPr/>
        </p:nvSpPr>
        <p:spPr>
          <a:xfrm>
            <a:off x="54864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4"/>
          <p:cNvSpPr/>
          <p:nvPr/>
        </p:nvSpPr>
        <p:spPr>
          <a:xfrm>
            <a:off x="160488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5"/>
          <p:cNvSpPr/>
          <p:nvPr/>
        </p:nvSpPr>
        <p:spPr>
          <a:xfrm>
            <a:off x="160488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6"/>
          <p:cNvSpPr/>
          <p:nvPr/>
        </p:nvSpPr>
        <p:spPr>
          <a:xfrm>
            <a:off x="73152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7"/>
          <p:cNvSpPr/>
          <p:nvPr/>
        </p:nvSpPr>
        <p:spPr>
          <a:xfrm>
            <a:off x="73152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Nomi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8"/>
          <p:cNvSpPr/>
          <p:nvPr/>
        </p:nvSpPr>
        <p:spPr>
          <a:xfrm>
            <a:off x="77724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Labels only — no order, no distance. Example: eye color, country of birth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9"/>
          <p:cNvSpPr/>
          <p:nvPr/>
        </p:nvSpPr>
        <p:spPr>
          <a:xfrm>
            <a:off x="338328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0"/>
          <p:cNvSpPr/>
          <p:nvPr/>
        </p:nvSpPr>
        <p:spPr>
          <a:xfrm>
            <a:off x="44395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1"/>
          <p:cNvSpPr/>
          <p:nvPr/>
        </p:nvSpPr>
        <p:spPr>
          <a:xfrm>
            <a:off x="44395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2"/>
          <p:cNvSpPr/>
          <p:nvPr/>
        </p:nvSpPr>
        <p:spPr>
          <a:xfrm>
            <a:off x="356616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3"/>
          <p:cNvSpPr/>
          <p:nvPr/>
        </p:nvSpPr>
        <p:spPr>
          <a:xfrm>
            <a:off x="356616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Ordinal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4"/>
          <p:cNvSpPr/>
          <p:nvPr/>
        </p:nvSpPr>
        <p:spPr>
          <a:xfrm>
            <a:off x="361188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Has order, but the gaps between values aren’t equal. Example: movie star ratings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5"/>
          <p:cNvSpPr/>
          <p:nvPr/>
        </p:nvSpPr>
        <p:spPr>
          <a:xfrm>
            <a:off x="621792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6"/>
          <p:cNvSpPr/>
          <p:nvPr/>
        </p:nvSpPr>
        <p:spPr>
          <a:xfrm>
            <a:off x="727416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7"/>
          <p:cNvSpPr/>
          <p:nvPr/>
        </p:nvSpPr>
        <p:spPr>
          <a:xfrm>
            <a:off x="727416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8"/>
          <p:cNvSpPr/>
          <p:nvPr/>
        </p:nvSpPr>
        <p:spPr>
          <a:xfrm>
            <a:off x="640080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9"/>
          <p:cNvSpPr/>
          <p:nvPr/>
        </p:nvSpPr>
        <p:spPr>
          <a:xfrm>
            <a:off x="640080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Interval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0"/>
          <p:cNvSpPr/>
          <p:nvPr/>
        </p:nvSpPr>
        <p:spPr>
          <a:xfrm>
            <a:off x="644652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Equal gaps between values, but no true zero. Example: temperature in °C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1"/>
          <p:cNvSpPr/>
          <p:nvPr/>
        </p:nvSpPr>
        <p:spPr>
          <a:xfrm>
            <a:off x="905256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2"/>
          <p:cNvSpPr/>
          <p:nvPr/>
        </p:nvSpPr>
        <p:spPr>
          <a:xfrm>
            <a:off x="101088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3"/>
          <p:cNvSpPr/>
          <p:nvPr/>
        </p:nvSpPr>
        <p:spPr>
          <a:xfrm>
            <a:off x="101088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4"/>
          <p:cNvSpPr/>
          <p:nvPr/>
        </p:nvSpPr>
        <p:spPr>
          <a:xfrm>
            <a:off x="923544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5"/>
          <p:cNvSpPr/>
          <p:nvPr/>
        </p:nvSpPr>
        <p:spPr>
          <a:xfrm>
            <a:off x="923544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Ratio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6"/>
          <p:cNvSpPr/>
          <p:nvPr/>
        </p:nvSpPr>
        <p:spPr>
          <a:xfrm>
            <a:off x="928116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Equal gaps AND a true zero, meaning "none at all." Example: weight, income, 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Measurement Scales Ladder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"/>
          <p:cNvSpPr/>
          <p:nvPr/>
        </p:nvSpPr>
        <p:spPr>
          <a:xfrm>
            <a:off x="548640" y="3429000"/>
            <a:ext cx="2651040" cy="2102400"/>
          </a:xfrm>
          <a:prstGeom prst="roundRect">
            <a:avLst>
              <a:gd name="adj" fmla="val 4348"/>
            </a:avLst>
          </a:prstGeom>
          <a:solidFill>
            <a:srgbClr val="DCDBF7"/>
          </a:solidFill>
          <a:ln w="12700">
            <a:solidFill>
              <a:srgbClr val="DCDB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4"/>
          <p:cNvSpPr/>
          <p:nvPr/>
        </p:nvSpPr>
        <p:spPr>
          <a:xfrm>
            <a:off x="731520" y="3611880"/>
            <a:ext cx="383400" cy="38340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5"/>
          <p:cNvSpPr/>
          <p:nvPr/>
        </p:nvSpPr>
        <p:spPr>
          <a:xfrm>
            <a:off x="731520" y="361188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6"/>
          <p:cNvSpPr/>
          <p:nvPr/>
        </p:nvSpPr>
        <p:spPr>
          <a:xfrm>
            <a:off x="731520" y="416052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Nominal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7"/>
          <p:cNvSpPr/>
          <p:nvPr/>
        </p:nvSpPr>
        <p:spPr>
          <a:xfrm>
            <a:off x="731520" y="457200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e.g. blood type, country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"/>
          <p:cNvSpPr/>
          <p:nvPr/>
        </p:nvSpPr>
        <p:spPr>
          <a:xfrm>
            <a:off x="731520" y="507492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Can only check equal / not equal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9"/>
          <p:cNvSpPr/>
          <p:nvPr/>
        </p:nvSpPr>
        <p:spPr>
          <a:xfrm>
            <a:off x="3383280" y="2788920"/>
            <a:ext cx="2651040" cy="2742480"/>
          </a:xfrm>
          <a:prstGeom prst="roundRect">
            <a:avLst>
              <a:gd name="adj" fmla="val 3448"/>
            </a:avLst>
          </a:prstGeom>
          <a:solidFill>
            <a:srgbClr val="C0BFF1"/>
          </a:solidFill>
          <a:ln w="12700">
            <a:solidFill>
              <a:srgbClr val="C0BF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0"/>
          <p:cNvSpPr/>
          <p:nvPr/>
        </p:nvSpPr>
        <p:spPr>
          <a:xfrm>
            <a:off x="3566160" y="2971800"/>
            <a:ext cx="383400" cy="38340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1"/>
          <p:cNvSpPr/>
          <p:nvPr/>
        </p:nvSpPr>
        <p:spPr>
          <a:xfrm>
            <a:off x="3566160" y="297180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2"/>
          <p:cNvSpPr/>
          <p:nvPr/>
        </p:nvSpPr>
        <p:spPr>
          <a:xfrm>
            <a:off x="3566160" y="352044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Ordinal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3"/>
          <p:cNvSpPr/>
          <p:nvPr/>
        </p:nvSpPr>
        <p:spPr>
          <a:xfrm>
            <a:off x="3566160" y="393192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e.g. satisfaction rating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4"/>
          <p:cNvSpPr/>
          <p:nvPr/>
        </p:nvSpPr>
        <p:spPr>
          <a:xfrm>
            <a:off x="3566160" y="4434840"/>
            <a:ext cx="22852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Can also rank: greater / less than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5"/>
          <p:cNvSpPr/>
          <p:nvPr/>
        </p:nvSpPr>
        <p:spPr>
          <a:xfrm>
            <a:off x="6217920" y="2148840"/>
            <a:ext cx="2651040" cy="3382560"/>
          </a:xfrm>
          <a:prstGeom prst="roundRect">
            <a:avLst>
              <a:gd name="adj" fmla="val 3448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6"/>
          <p:cNvSpPr/>
          <p:nvPr/>
        </p:nvSpPr>
        <p:spPr>
          <a:xfrm>
            <a:off x="6400800" y="2331720"/>
            <a:ext cx="383400" cy="38340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7"/>
          <p:cNvSpPr/>
          <p:nvPr/>
        </p:nvSpPr>
        <p:spPr>
          <a:xfrm>
            <a:off x="6400800" y="233172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8"/>
          <p:cNvSpPr/>
          <p:nvPr/>
        </p:nvSpPr>
        <p:spPr>
          <a:xfrm>
            <a:off x="6400800" y="288036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Interval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9"/>
          <p:cNvSpPr/>
          <p:nvPr/>
        </p:nvSpPr>
        <p:spPr>
          <a:xfrm>
            <a:off x="6400800" y="32918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e.g. temperature in °C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0"/>
          <p:cNvSpPr/>
          <p:nvPr/>
        </p:nvSpPr>
        <p:spPr>
          <a:xfrm>
            <a:off x="6400800" y="3794760"/>
            <a:ext cx="2285280" cy="15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Can also add / subtract meaningfully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1"/>
          <p:cNvSpPr/>
          <p:nvPr/>
        </p:nvSpPr>
        <p:spPr>
          <a:xfrm>
            <a:off x="9052560" y="1508760"/>
            <a:ext cx="2651040" cy="4022640"/>
          </a:xfrm>
          <a:prstGeom prst="roundRect">
            <a:avLst>
              <a:gd name="adj" fmla="val 3448"/>
            </a:avLst>
          </a:prstGeom>
          <a:solidFill>
            <a:srgbClr val="5755A7"/>
          </a:solidFill>
          <a:ln w="127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2"/>
          <p:cNvSpPr/>
          <p:nvPr/>
        </p:nvSpPr>
        <p:spPr>
          <a:xfrm>
            <a:off x="9235440" y="1691640"/>
            <a:ext cx="383400" cy="383400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3"/>
          <p:cNvSpPr/>
          <p:nvPr/>
        </p:nvSpPr>
        <p:spPr>
          <a:xfrm>
            <a:off x="9235440" y="1691640"/>
            <a:ext cx="383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4"/>
          <p:cNvSpPr/>
          <p:nvPr/>
        </p:nvSpPr>
        <p:spPr>
          <a:xfrm>
            <a:off x="9235440" y="224028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Ratio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5"/>
          <p:cNvSpPr/>
          <p:nvPr/>
        </p:nvSpPr>
        <p:spPr>
          <a:xfrm>
            <a:off x="9235440" y="265176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e.g. height, weight, income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6"/>
          <p:cNvSpPr/>
          <p:nvPr/>
        </p:nvSpPr>
        <p:spPr>
          <a:xfrm>
            <a:off x="9235440" y="3154680"/>
            <a:ext cx="2285280" cy="22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Hanken Grotesk"/>
                <a:ea typeface="Hanken Grotesk"/>
              </a:rPr>
              <a:t>Can also multiply / divide — has a true zero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7"/>
          <p:cNvSpPr/>
          <p:nvPr/>
        </p:nvSpPr>
        <p:spPr>
          <a:xfrm>
            <a:off x="548640" y="5760720"/>
            <a:ext cx="11063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Each step up the ladder keeps everything the step below could do, and adds one new ability on top of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Nominal Scale — Labels Only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Just names, no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Nominal data sorts things into named categories, with no meaningful order between them — "red" isn’t more or less than "blue"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gender, blood type, country of residence, a customer’s preferred payment method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only valid comparison is equality — you can say two things are the same category or different categories, and nothing more mathematically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can count how often each category appears, and find the mode — but calculating a "mean country" makes no sense at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Ordinal Scale — Order, But No Real Distance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Ranked, but not measured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Ordinal data has a genuine, meaningful order — but the gap between adjacent values isn’t guaranteed to be equal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a 5-star rating, a t-shirt size (S/M/L/XL), an education level (high school/bachelor’s/master’s)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jump from 1 star to 2 stars might not represent the same "amount" of change as 4 stars to 5 stars — you only know the direction, not the exact size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can find the median and mode reliably — but averaging star ratings, while extremely common in practice, is technically stretching what the scale actually guarantees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Interval Scale </a:t>
            </a: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Equal </a:t>
            </a: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Distance, No </a:t>
            </a: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True Zero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✓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Zero doesn’t mean "none"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Interval data has consistent, equal gaps between values — the difference between 10°C and 20°C is the same "amount" as between 20°C and 30°C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But zero doesn’t mean "nothing" — 0°C isn’t "no temperature at all," it’s just the freezing point of water, an arbitrary reference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Because of this, ratios are meaningless here: 20°C is NOT "twice as hot" as 10°C — that claim doesn’t survive converting to Fahrenheit: </a:t>
            </a:r>
            <a:r>
              <a:rPr lang="en-US" sz="18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10°C = 50°F </a:t>
            </a: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8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20°C = 68°F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Classic examples: temperature in Celsius or Fahrenheit, and calendar year (year 0 doesn’t mean "no time has passed")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Ratios Break on Interval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20°C to 40°C looks like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“twice as hot” — it is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Convert the same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temperatures to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Fahrenheit and the ratio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changes.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true zero is what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makes a ratio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meaningful.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celsius = [20, 40]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fahrenheit = [c * 9 / 5 + 32 for c in celsius]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print("20°C and 40°C become:", fahrenheit)print()print("40°C / 20°C =", celsius[1] / celsius[0])print("So, in Celsius, 40°C looks like 2 times 20°C")print()ratio_f = fahrenheit[1] / fahrenheit[0]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print("104°F / 68°F =", round(ratio_f, 2))print("But in Fahrenheit, 104°F is NOT 2 times 68°F")print()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Ratio data (money) survives unit changes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usd = [20, 40]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624"/>
              </a:spcBef>
              <a:spcAft>
                <a:spcPts val="425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print("$40 / $20 =", usd[1] / usd[0])print("So, $40 is genuinely 2 times $20")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3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Ratio Scale — Equal Distance AND a True Zero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!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most flexible scale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Ratio data has everything interval data has, PLUS a true, meaningful zero — zero really does mean "none at all"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Because of that true zero, ratios genuinely make sense: $20 really is twice as much money as $10; 40kg really is twice as heavy as 20kg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height, weight, age, income, distance, time elapsed — most of the "hard numbers" you’ll work with in data science live here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mathematical operation is valid on this scale — which is exactly why it sits at the top of the ladder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Which Operations Are Valid on Which Scale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54864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160488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160488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6"/>
          <p:cNvSpPr/>
          <p:nvPr/>
        </p:nvSpPr>
        <p:spPr>
          <a:xfrm>
            <a:off x="73152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73152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Nominal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8"/>
          <p:cNvSpPr/>
          <p:nvPr/>
        </p:nvSpPr>
        <p:spPr>
          <a:xfrm>
            <a:off x="77724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Valid: mode,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frequency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counts. NOT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valid: mean,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median, or any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9"/>
          <p:cNvSpPr/>
          <p:nvPr/>
        </p:nvSpPr>
        <p:spPr>
          <a:xfrm>
            <a:off x="338328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0"/>
          <p:cNvSpPr/>
          <p:nvPr/>
        </p:nvSpPr>
        <p:spPr>
          <a:xfrm>
            <a:off x="44395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1"/>
          <p:cNvSpPr/>
          <p:nvPr/>
        </p:nvSpPr>
        <p:spPr>
          <a:xfrm>
            <a:off x="44395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2"/>
          <p:cNvSpPr/>
          <p:nvPr/>
        </p:nvSpPr>
        <p:spPr>
          <a:xfrm>
            <a:off x="356616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356616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Ordinal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4"/>
          <p:cNvSpPr/>
          <p:nvPr/>
        </p:nvSpPr>
        <p:spPr>
          <a:xfrm>
            <a:off x="361188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Valid: mode, median, ranking. Debatable: mean (common in practice, technically imprecise)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5"/>
          <p:cNvSpPr/>
          <p:nvPr/>
        </p:nvSpPr>
        <p:spPr>
          <a:xfrm>
            <a:off x="621792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6"/>
          <p:cNvSpPr/>
          <p:nvPr/>
        </p:nvSpPr>
        <p:spPr>
          <a:xfrm>
            <a:off x="727416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7"/>
          <p:cNvSpPr/>
          <p:nvPr/>
        </p:nvSpPr>
        <p:spPr>
          <a:xfrm>
            <a:off x="727416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8"/>
          <p:cNvSpPr/>
          <p:nvPr/>
        </p:nvSpPr>
        <p:spPr>
          <a:xfrm>
            <a:off x="640080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9"/>
          <p:cNvSpPr/>
          <p:nvPr/>
        </p:nvSpPr>
        <p:spPr>
          <a:xfrm>
            <a:off x="640080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Interval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20"/>
          <p:cNvSpPr/>
          <p:nvPr/>
        </p:nvSpPr>
        <p:spPr>
          <a:xfrm>
            <a:off x="644652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Valid: mean, median, mode, addition/subtraction. NOT valid: meaningful ratios ("twice as much")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1"/>
          <p:cNvSpPr/>
          <p:nvPr/>
        </p:nvSpPr>
        <p:spPr>
          <a:xfrm>
            <a:off x="905256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2"/>
          <p:cNvSpPr/>
          <p:nvPr/>
        </p:nvSpPr>
        <p:spPr>
          <a:xfrm>
            <a:off x="101088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3"/>
          <p:cNvSpPr/>
          <p:nvPr/>
        </p:nvSpPr>
        <p:spPr>
          <a:xfrm>
            <a:off x="101088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4"/>
          <p:cNvSpPr/>
          <p:nvPr/>
        </p:nvSpPr>
        <p:spPr>
          <a:xfrm>
            <a:off x="923544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5"/>
          <p:cNvSpPr/>
          <p:nvPr/>
        </p:nvSpPr>
        <p:spPr>
          <a:xfrm>
            <a:off x="923544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Ratio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6"/>
          <p:cNvSpPr/>
          <p:nvPr/>
        </p:nvSpPr>
        <p:spPr>
          <a:xfrm>
            <a:off x="928116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Valid: absolutely everything — mean, median, mode, ratios, and every arithmetic operation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Valid Statistics for Each Scale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Match the statistic to the scale before you compute anything.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statistics.mode works on labels; median needs an order; mean needs real distances.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Computing a “mean colour” is possible in code — but meaningless.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statistics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colors = ["red", "blue", "red", "green"]  # Nominal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sizes = [1, 2, 2, 3, 4]                   # Ordinal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temps = [20, 25, 30]                      # Interval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income = [20, 40]                         # Ratio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print("Nominal → Most common color:", statistics.mode(colors))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print("Ordinal → Middle value of sizes:", statistics.median(sizes))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print("Interval → Average temperature:", statistics.mean(temps))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print("Ratio → $40 is", income[1] / income[0], "times $20")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1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Types of Data &amp; Measurement Scales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Classify each as nominal, ordinal, interval, or ratio: shoe size, exam grade (A/B/C), income, year of birth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"average zip code" is a meaningless calculation, using what you learned about nominal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saying "40°C is twice as hot as 20°C" is incorrect, using the interval scale’s lack of a true zero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19"/>
          <p:cNvSpPr/>
          <p:nvPr/>
        </p:nvSpPr>
        <p:spPr>
          <a:xfrm>
            <a:off x="548640" y="47638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20"/>
          <p:cNvSpPr/>
          <p:nvPr/>
        </p:nvSpPr>
        <p:spPr>
          <a:xfrm>
            <a:off x="731520" y="500184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1"/>
          <p:cNvSpPr/>
          <p:nvPr/>
        </p:nvSpPr>
        <p:spPr>
          <a:xfrm>
            <a:off x="731520" y="5001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2"/>
          <p:cNvSpPr/>
          <p:nvPr/>
        </p:nvSpPr>
        <p:spPr>
          <a:xfrm>
            <a:off x="1234440" y="47638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customer satisfaction survey using a 1–5 star rating, identify the scale and explain what operations are safely valid on 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Erro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rs &amp;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Bias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in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Data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&amp; 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Mea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sure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men</a:t>
            </a: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trusting any statistic, it’s worth asking where the data could have gone wrong on the way to you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0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Why Errors Matter Before You Even Start Analyzing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Garbage in, </a:t>
            </a: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garbage out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No formula can fix data that was collected badly — statistics can describe your data perfectly and still describe the wrong thing entirely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Understanding where error creeps in is exactly what separates a careful analysis from a misleading one, especially in research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Error, here, doesn’t mean "a mistake someone made" — it means any gap between what you measured and the real truth, even an entirely honest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broad categories cover almost every real-world case: sampling error, and non-sampling error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Sampling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sample wasn’t the population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Sampling error is the natural, unavoidable difference between a sample’s result and the true population value — simply because you didn’t measure everyone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exists even with a perfectly random, perfectly executed sample — it’s a mathematical consequence of sampling itself, not a mistake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Generally, larger samples have smaller sampling error — this is exactly why survey sample sizes matter so much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concept is the direct seed of "margin of error" and confidence intervals, which get fully covered in Session 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Sampling Error Shrinks with Bigger Samples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each sample size we draw 200 samples and average how far off they land.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Bigger samples sit closer to the true mean.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numpy's rng.choice draws the random samples.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np.random.default_rng(1)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population = rng.normal(70, 10, 10_000)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true_mean = population.mean()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def avg_error(n):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errs = []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for _ in range(200):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s = rng.choice(population, 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    errs.append(abs(s.mean() - true_mean))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return round(float(np.mean(errs)), 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print(avg_error(10)) 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2.78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print(avg_error(100)) 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print(avg_error(1000))            </a:t>
            </a: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0.23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Non-Sampling Error — Everything Else That Can Go Wrong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Avoidable, if you’re careful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Unlike sampling error, no</a:t>
            </a: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n-sampling error is NOT unavoidable — it comes from how the data was collected, entered, or reported, and better process can reduce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Measurement error: a faulty scale, a poorly worded survey question, or an inconsistent way of recording something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Non-response error: the people who didn’t answer your survey may differ systematically from those who did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Hanken Grotesk"/>
              </a:rPr>
              <a:t>Data entry error: simple typos, duplicate records, or a unit mismatch (recording kg as lbs) during data collection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7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Common Sources of Non-Sampling Error, at a Glance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3"/>
          <p:cNvSpPr/>
          <p:nvPr/>
        </p:nvSpPr>
        <p:spPr>
          <a:xfrm>
            <a:off x="54864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4"/>
          <p:cNvSpPr/>
          <p:nvPr/>
        </p:nvSpPr>
        <p:spPr>
          <a:xfrm>
            <a:off x="20772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5"/>
          <p:cNvSpPr/>
          <p:nvPr/>
        </p:nvSpPr>
        <p:spPr>
          <a:xfrm>
            <a:off x="20772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6"/>
          <p:cNvSpPr/>
          <p:nvPr/>
        </p:nvSpPr>
        <p:spPr>
          <a:xfrm>
            <a:off x="73152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7"/>
          <p:cNvSpPr/>
          <p:nvPr/>
        </p:nvSpPr>
        <p:spPr>
          <a:xfrm>
            <a:off x="73152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Measurement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8"/>
          <p:cNvSpPr/>
          <p:nvPr/>
        </p:nvSpPr>
        <p:spPr>
          <a:xfrm>
            <a:off x="77724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tool, question, or process used to record the data was flawed or inconsistent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9"/>
          <p:cNvSpPr/>
          <p:nvPr/>
        </p:nvSpPr>
        <p:spPr>
          <a:xfrm>
            <a:off x="432828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0"/>
          <p:cNvSpPr/>
          <p:nvPr/>
        </p:nvSpPr>
        <p:spPr>
          <a:xfrm>
            <a:off x="585684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11"/>
          <p:cNvSpPr/>
          <p:nvPr/>
        </p:nvSpPr>
        <p:spPr>
          <a:xfrm>
            <a:off x="585684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2"/>
          <p:cNvSpPr/>
          <p:nvPr/>
        </p:nvSpPr>
        <p:spPr>
          <a:xfrm>
            <a:off x="451116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3"/>
          <p:cNvSpPr/>
          <p:nvPr/>
        </p:nvSpPr>
        <p:spPr>
          <a:xfrm>
            <a:off x="451116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Non-Response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14"/>
          <p:cNvSpPr/>
          <p:nvPr/>
        </p:nvSpPr>
        <p:spPr>
          <a:xfrm>
            <a:off x="455688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people who didn’t respond likely differ from those who did, skewing results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5"/>
          <p:cNvSpPr/>
          <p:nvPr/>
        </p:nvSpPr>
        <p:spPr>
          <a:xfrm>
            <a:off x="8107560" y="1737360"/>
            <a:ext cx="3550320" cy="4022640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6"/>
          <p:cNvSpPr/>
          <p:nvPr/>
        </p:nvSpPr>
        <p:spPr>
          <a:xfrm>
            <a:off x="96361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7"/>
          <p:cNvSpPr/>
          <p:nvPr/>
        </p:nvSpPr>
        <p:spPr>
          <a:xfrm>
            <a:off x="96361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18"/>
          <p:cNvSpPr/>
          <p:nvPr/>
        </p:nvSpPr>
        <p:spPr>
          <a:xfrm>
            <a:off x="8290440" y="2606040"/>
            <a:ext cx="3184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9"/>
          <p:cNvSpPr/>
          <p:nvPr/>
        </p:nvSpPr>
        <p:spPr>
          <a:xfrm>
            <a:off x="8290440" y="2606040"/>
            <a:ext cx="3184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Data Entry Error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20"/>
          <p:cNvSpPr/>
          <p:nvPr/>
        </p:nvSpPr>
        <p:spPr>
          <a:xfrm>
            <a:off x="8336160" y="3291840"/>
            <a:ext cx="3093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Typos, duplicates, and unit mismatches introduced while recording or storing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Catching Data Entry Errors with pandas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ic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lu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ry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rs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.d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ic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d(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)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s;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os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1.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8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lik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lu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df = pd.DataFrame({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"name":   ["Ali", "Sara", "Sara", "Omar", "Zoya"],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"height": [170,    165,    165,    1.82,   999],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cm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print(df.duplicated().sum())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bad = df[(df["height"] &lt; 100) | (df["height"] &gt; 250)]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print(bad["name"].tolist())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['Omar', 'Zoya']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clean = df.drop_duplicates()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print(len(clean))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Bi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—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No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as 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Err</a:t>
            </a: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Systematic, not random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Random error scatters your data around the true value — sometimes too high, sometimes too low, roughly canceling out on average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Bias pushes your data consistently in ONE direction — it doesn’t cancel out no matter how much data you collect, because the flaw is systematic, not random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why sampling error shrinks with a bigger sample, but bias does not — a biased sampling method just gives you a more precisely wrong answer with more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Recognizing bias means looking critically at HOW data was collected, not just how much of it there is: (How did we get this data?)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8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9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Common Types of Bias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3"/>
          <p:cNvSpPr/>
          <p:nvPr/>
        </p:nvSpPr>
        <p:spPr>
          <a:xfrm>
            <a:off x="54864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4"/>
          <p:cNvSpPr/>
          <p:nvPr/>
        </p:nvSpPr>
        <p:spPr>
          <a:xfrm>
            <a:off x="160488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"/>
          <p:cNvSpPr/>
          <p:nvPr/>
        </p:nvSpPr>
        <p:spPr>
          <a:xfrm>
            <a:off x="160488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6"/>
          <p:cNvSpPr/>
          <p:nvPr/>
        </p:nvSpPr>
        <p:spPr>
          <a:xfrm>
            <a:off x="73152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7"/>
          <p:cNvSpPr/>
          <p:nvPr/>
        </p:nvSpPr>
        <p:spPr>
          <a:xfrm>
            <a:off x="73152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Selection Bias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8"/>
          <p:cNvSpPr/>
          <p:nvPr/>
        </p:nvSpPr>
        <p:spPr>
          <a:xfrm>
            <a:off x="77724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sample systematically favors certain members of the population over others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9"/>
          <p:cNvSpPr/>
          <p:nvPr/>
        </p:nvSpPr>
        <p:spPr>
          <a:xfrm>
            <a:off x="338328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"/>
          <p:cNvSpPr/>
          <p:nvPr/>
        </p:nvSpPr>
        <p:spPr>
          <a:xfrm>
            <a:off x="443952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1"/>
          <p:cNvSpPr/>
          <p:nvPr/>
        </p:nvSpPr>
        <p:spPr>
          <a:xfrm>
            <a:off x="443952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2"/>
          <p:cNvSpPr/>
          <p:nvPr/>
        </p:nvSpPr>
        <p:spPr>
          <a:xfrm>
            <a:off x="356616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13"/>
          <p:cNvSpPr/>
          <p:nvPr/>
        </p:nvSpPr>
        <p:spPr>
          <a:xfrm>
            <a:off x="356616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Confirmation Bias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4"/>
          <p:cNvSpPr/>
          <p:nvPr/>
        </p:nvSpPr>
        <p:spPr>
          <a:xfrm>
            <a:off x="361188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Collecting or interpreting data in a way that favors what you already expected to find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5"/>
          <p:cNvSpPr/>
          <p:nvPr/>
        </p:nvSpPr>
        <p:spPr>
          <a:xfrm>
            <a:off x="621792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6"/>
          <p:cNvSpPr/>
          <p:nvPr/>
        </p:nvSpPr>
        <p:spPr>
          <a:xfrm>
            <a:off x="727416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7"/>
          <p:cNvSpPr/>
          <p:nvPr/>
        </p:nvSpPr>
        <p:spPr>
          <a:xfrm>
            <a:off x="727416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C112D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8"/>
          <p:cNvSpPr/>
          <p:nvPr/>
        </p:nvSpPr>
        <p:spPr>
          <a:xfrm>
            <a:off x="640080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9"/>
          <p:cNvSpPr/>
          <p:nvPr/>
        </p:nvSpPr>
        <p:spPr>
          <a:xfrm>
            <a:off x="640080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C112D"/>
                </a:solidFill>
                <a:effectLst/>
                <a:uFillTx/>
                <a:latin typeface="Plus Jakarta Sans"/>
                <a:ea typeface="Plus Jakarta Sans"/>
              </a:rPr>
              <a:t>Response Bias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0"/>
          <p:cNvSpPr/>
          <p:nvPr/>
        </p:nvSpPr>
        <p:spPr>
          <a:xfrm>
            <a:off x="644652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People answer inaccurately, often to appear more socially acceptable than their true answer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21"/>
          <p:cNvSpPr/>
          <p:nvPr/>
        </p:nvSpPr>
        <p:spPr>
          <a:xfrm>
            <a:off x="9052560" y="1737360"/>
            <a:ext cx="2605320" cy="4022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22"/>
          <p:cNvSpPr/>
          <p:nvPr/>
        </p:nvSpPr>
        <p:spPr>
          <a:xfrm>
            <a:off x="10108800" y="1920240"/>
            <a:ext cx="493200" cy="493200"/>
          </a:xfrm>
          <a:prstGeom prst="roundRect">
            <a:avLst>
              <a:gd name="adj" fmla="val 18519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3"/>
          <p:cNvSpPr/>
          <p:nvPr/>
        </p:nvSpPr>
        <p:spPr>
          <a:xfrm>
            <a:off x="10108800" y="1920240"/>
            <a:ext cx="49320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24"/>
          <p:cNvSpPr/>
          <p:nvPr/>
        </p:nvSpPr>
        <p:spPr>
          <a:xfrm>
            <a:off x="9235440" y="2606040"/>
            <a:ext cx="2239560" cy="4564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25"/>
          <p:cNvSpPr/>
          <p:nvPr/>
        </p:nvSpPr>
        <p:spPr>
          <a:xfrm>
            <a:off x="9235440" y="260604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Survivorship Bias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26"/>
          <p:cNvSpPr/>
          <p:nvPr/>
        </p:nvSpPr>
        <p:spPr>
          <a:xfrm>
            <a:off x="9281160" y="3291840"/>
            <a:ext cx="214812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Only the "survivors" of a process get measured, hiding the failures that dropped 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7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Bias Does Not Shrink with More Data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random sample of 200 lands near the true mean.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biased sample — only top performers — misses it by a lot, and collecting more would not help.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Fixing bias means fixing the sampling design, not the sample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numpy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 =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np.ran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dom.d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efault_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rng(1)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 =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rng.no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rmal(7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0, 10,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10_00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rando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m_sa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mple =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rng.ch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oice(p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op,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200)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biased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_sampl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 =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pop[po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 &gt; 75]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[:200]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True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popula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tion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mean:"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round(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pop.m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ean(),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1))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of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rando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sample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:",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round(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rando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m_sa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mple.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mean()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, 1))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print("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Mean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of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biased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sample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:", 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round(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biased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_sampl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e.mea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n(), 1))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How to Actually Reduce Bias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Design it out, before collecting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Randomization: using genuine probability sampling gives every member a fair, known chance of selection, directly countering selection bias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Standardized instruments: using the exact same questions, wording, and measurement process for everyone reduces measurement and response bias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Blinding: keeping data collectors unaware of the hypothesis being tested reduces the chance their expectations influence the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Pilot testing: trying your data collection process on a small group first surfaces confusing questions or flawed measurements before they contaminate the real dataset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Errors &amp; Bias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survey about phone usage was only sent by email — explain what kind of error or bias this risks, and why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Explain, in your own words, why bias doesn’t shrink with a larger sample size, while sampling error does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fitness study only reports results from participants who completed the full 12-week program. Name this type of bias, and explain what’s being hidden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9"/>
          <p:cNvSpPr/>
          <p:nvPr/>
        </p:nvSpPr>
        <p:spPr>
          <a:xfrm>
            <a:off x="548640" y="47638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20"/>
          <p:cNvSpPr/>
          <p:nvPr/>
        </p:nvSpPr>
        <p:spPr>
          <a:xfrm>
            <a:off x="731520" y="500184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21"/>
          <p:cNvSpPr/>
          <p:nvPr/>
        </p:nvSpPr>
        <p:spPr>
          <a:xfrm>
            <a:off x="731520" y="5001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22"/>
          <p:cNvSpPr/>
          <p:nvPr/>
        </p:nvSpPr>
        <p:spPr>
          <a:xfrm>
            <a:off x="1234440" y="47638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Suggest one practical way to reduce response bias in a survey about employee satisfaction with their manager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Measures of Central Tendency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single number that tries to represent an entire dataset — and the three different ways to pick 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6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Central Tendency?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μ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One number, </a:t>
            </a: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standing in for all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Central tendency is the general idea of finding a single, typical value that represents an entire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There isn’t one universally "correct" way to do this — mean, median, and mode each answer a slightly different question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Choosing the right one isn’t a technicality — the wrong choice can genuinely misrepresent what your data actually looks like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choice depends directly on the measurement scale and shape of your data — exactly what the last two parts of this session set 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Mean, Median &amp; Mode from Scratch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Pure Python — no libraries — so you see exactly what each one does.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Mean: sum divided by count. Median: middle of the sorted list. Mode: most frequent value.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an even-length list the median is the average of the two middle values.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data = [4, 8, 6, 5, 3, 8, 9]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mean = sum(data) / len(data)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 = sorted(data)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mid = len(s) //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median = (s[mid] if len(s) %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      else (s[mid-1] + s[mid]) / 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mode = max(set(data), key=data.count)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print(round(mean, 2))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6.14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print(median)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print(mode)           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Mean — The Arithmetic Average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"/>
          <p:cNvSpPr/>
          <p:nvPr/>
        </p:nvSpPr>
        <p:spPr>
          <a:xfrm>
            <a:off x="548640" y="178308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mean adds up every value and divides by how many values there are — the formula from last session’s notation lesson, in action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uses every single value in the calculation, which makes it sensitive — one extreme value can shift it substantially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Only meaningful on interval or ratio data — calculating a "mean" of nominal categories makes no sense at 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4"/>
          <p:cNvSpPr/>
          <p:nvPr/>
        </p:nvSpPr>
        <p:spPr>
          <a:xfrm>
            <a:off x="5852160" y="1737360"/>
            <a:ext cx="580572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5"/>
          <p:cNvSpPr/>
          <p:nvPr/>
        </p:nvSpPr>
        <p:spPr>
          <a:xfrm>
            <a:off x="601668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6"/>
          <p:cNvSpPr/>
          <p:nvPr/>
        </p:nvSpPr>
        <p:spPr>
          <a:xfrm>
            <a:off x="621792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7"/>
          <p:cNvSpPr/>
          <p:nvPr/>
        </p:nvSpPr>
        <p:spPr>
          <a:xfrm>
            <a:off x="641916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8"/>
          <p:cNvSpPr/>
          <p:nvPr/>
        </p:nvSpPr>
        <p:spPr>
          <a:xfrm>
            <a:off x="6035040" y="2148840"/>
            <a:ext cx="54856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x̄ = (1/n) · Σ xᵢ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Example: [4, 8, 6, 10, 2]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mean = (4 + 8 + 6 + 10 + 2) /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 = 30 /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axto  · 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nd  · 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Hafiz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Waseem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Ahmed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Median — The True Middle Value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3"/>
          <p:cNvSpPr/>
          <p:nvPr/>
        </p:nvSpPr>
        <p:spPr>
          <a:xfrm>
            <a:off x="548640" y="178308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median is the exact middle value once all your data is sorted — half the values fall below it, half above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an even number of values, it’s the average of the two middle numbers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ignores how extreme the highest and lowest values are — this is exactly why it resists outliers so much better than the mean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4"/>
          <p:cNvSpPr/>
          <p:nvPr/>
        </p:nvSpPr>
        <p:spPr>
          <a:xfrm>
            <a:off x="5852160" y="1737360"/>
            <a:ext cx="580572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5"/>
          <p:cNvSpPr/>
          <p:nvPr/>
        </p:nvSpPr>
        <p:spPr>
          <a:xfrm>
            <a:off x="601668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6"/>
          <p:cNvSpPr/>
          <p:nvPr/>
        </p:nvSpPr>
        <p:spPr>
          <a:xfrm>
            <a:off x="621792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7"/>
          <p:cNvSpPr/>
          <p:nvPr/>
        </p:nvSpPr>
        <p:spPr>
          <a:xfrm>
            <a:off x="641916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8"/>
          <p:cNvSpPr/>
          <p:nvPr/>
        </p:nvSpPr>
        <p:spPr>
          <a:xfrm>
            <a:off x="6035040" y="2148840"/>
            <a:ext cx="54856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Odd count: sort, take the exact middle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[2, 4, 6, 8, 10]  →  median = 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Even count: average the two middle values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[2, 4, 6, 8]      →  median = (4 + 6) / 2 = 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Works even on ordinal data (e.g. star ratings)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Mode — The Most Frequent Value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3"/>
          <p:cNvSpPr/>
          <p:nvPr/>
        </p:nvSpPr>
        <p:spPr>
          <a:xfrm>
            <a:off x="548640" y="1783080"/>
            <a:ext cx="502848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mode is simply whichever value appears most often in the dataset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It’s the only measure of central tendency that works on nominal (category) data — mean and median don’t apply there at 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dataset can have one mode, several (multimodal), or none at all if every value appears equally often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4"/>
          <p:cNvSpPr/>
          <p:nvPr/>
        </p:nvSpPr>
        <p:spPr>
          <a:xfrm>
            <a:off x="5852160" y="1737360"/>
            <a:ext cx="580572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5"/>
          <p:cNvSpPr/>
          <p:nvPr/>
        </p:nvSpPr>
        <p:spPr>
          <a:xfrm>
            <a:off x="601668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6"/>
          <p:cNvSpPr/>
          <p:nvPr/>
        </p:nvSpPr>
        <p:spPr>
          <a:xfrm>
            <a:off x="621792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7"/>
          <p:cNvSpPr/>
          <p:nvPr/>
        </p:nvSpPr>
        <p:spPr>
          <a:xfrm>
            <a:off x="641916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8"/>
          <p:cNvSpPr/>
          <p:nvPr/>
        </p:nvSpPr>
        <p:spPr>
          <a:xfrm>
            <a:off x="6035040" y="2148840"/>
            <a:ext cx="54856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[2, 4, 4, 6, 8]  →  mode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appears twice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['red', 'blue', 'red', 'red']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             →  mode = 'red'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[1, 2, 3, 4]  →  no mode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every value appears once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Same Three, with Libraries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library gives the same answer — pick whichever is already in your code.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 is simplest, numpy and pandas are fastest on big data.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1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scipy.stats.mode returns the mode too, with its count.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statistics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pandas as pd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data = pd.Seires(</a:t>
            </a: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[4, 8, 6, 5, 3, 8, 9])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print(statistics.mean(data))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6.142857142857143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print(np.median(data))  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6.0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print(pd.Series(data).mode()[0])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print(stats.mode(data).mode)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print(statistics.multimode([1, 1, 2, 2, 3]))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[1, 2]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4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5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When the Mean Lies to You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3"/>
          <p:cNvSpPr/>
          <p:nvPr/>
        </p:nvSpPr>
        <p:spPr>
          <a:xfrm>
            <a:off x="54864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4"/>
          <p:cNvSpPr/>
          <p:nvPr/>
        </p:nvSpPr>
        <p:spPr>
          <a:xfrm>
            <a:off x="77724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5"/>
          <p:cNvSpPr/>
          <p:nvPr/>
        </p:nvSpPr>
        <p:spPr>
          <a:xfrm>
            <a:off x="77724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The Classic Example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6"/>
          <p:cNvSpPr/>
          <p:nvPr/>
        </p:nvSpPr>
        <p:spPr>
          <a:xfrm>
            <a:off x="82296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Salaries at a small company: $40k, $42k, $45k, $48k, $500k (the owner)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Mean = $135k — technically correct, but describes almost NOBODY’S actual salary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Median = $45k — this is what a "typical" employee genuinely earns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7"/>
          <p:cNvSpPr/>
          <p:nvPr/>
        </p:nvSpPr>
        <p:spPr>
          <a:xfrm>
            <a:off x="6172200" y="1737360"/>
            <a:ext cx="5485680" cy="40226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8"/>
          <p:cNvSpPr/>
          <p:nvPr/>
        </p:nvSpPr>
        <p:spPr>
          <a:xfrm>
            <a:off x="6400800" y="1965960"/>
            <a:ext cx="5028480" cy="456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9"/>
          <p:cNvSpPr/>
          <p:nvPr/>
        </p:nvSpPr>
        <p:spPr>
          <a:xfrm>
            <a:off x="6400800" y="196596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The Rule of Thumb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0"/>
          <p:cNvSpPr/>
          <p:nvPr/>
        </p:nvSpPr>
        <p:spPr>
          <a:xfrm>
            <a:off x="6446520" y="2697480"/>
            <a:ext cx="49370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data is skewed or has extreme outliers, prefer the median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data is roughly symmetric with no extreme values, the mean is fine, and uses more information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exactly why income, house prices, and similar data are almost always reported as medians in the news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When the Mean Lies — in Code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$500k salary drags the mean to $135k; the median stays at $45k.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trimmed mean drops a slice from each end before averaging.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weighted mean counts some values more than others.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from scipy import stats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salaries = [40, 42, 45, 48, 500]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in $k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print(np.mean(salaries))  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135.0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print(np.median(salaries))      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45.0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print(stats.trim_mean(salaries, 0.2))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45.0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Weighted mean: exam worth 3x the quiz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print(np.average([80, 90], weights=[1, 3]))  </a:t>
            </a: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onsolas"/>
              </a:rPr>
              <a:t># 87.5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Central Tendency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mean, median, and mode of [5, 7, 7, 9, 100] by hand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which measure best represents that dataset’s "typical" value, and why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dataset of shoe sizes sold in a store, explain which measure of central tendency is most useful for restocking decisions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9"/>
          <p:cNvSpPr/>
          <p:nvPr/>
        </p:nvSpPr>
        <p:spPr>
          <a:xfrm>
            <a:off x="548640" y="47638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20"/>
          <p:cNvSpPr/>
          <p:nvPr/>
        </p:nvSpPr>
        <p:spPr>
          <a:xfrm>
            <a:off x="731520" y="500184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21"/>
          <p:cNvSpPr/>
          <p:nvPr/>
        </p:nvSpPr>
        <p:spPr>
          <a:xfrm>
            <a:off x="731520" y="500184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22"/>
          <p:cNvSpPr/>
          <p:nvPr/>
        </p:nvSpPr>
        <p:spPr>
          <a:xfrm>
            <a:off x="1234440" y="47638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one real, published statistic that uses the median instead of the mean, and explain why that was likely the right choice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INDUSTRY-STYLE 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Build the Judgment Every Real Analysis Depends 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Not abstract classification drills — choosing the right scale, chart, and average is what separates a clear analysis from a misleading 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76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A: Statistics Basics &amp; Variables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two-sentence explanation, for a non-technical friend, of the difference between descriptive and inferential statistics, using your own example for each.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study on "does sleep duration affect reaction time," identify the population, a reasonable sample, and the independent and dependent variables.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why almost all real-world data science analysis works with a sample rather than a full population, using a concrete example.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B: Data Collection &amp; Measurement Quality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your own final project idea, decide whether you’d use primary or secondary data, and design a probability-based sampling plan to collect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Propose an operationalization with a measurable proxy for an abstract concept of your choice (e.g. "brand trust," "team morale").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 a realistic measurement tool or process, and evaluate it separately for reliability and for validity, explaining your reasoning for each.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C: Data Types &amp; Measurement Scales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ll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task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 —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do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 in 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orde</a:t>
            </a: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any real dataset (or a provided one) and classify every single column by its measurement scale — nominal, ordinal, interval, or ratio.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each ordinal column found, explain specifically why averaging it directly would be mathematically imprecise.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one-paragraph explanation, for a non-technical reader, of why a "true zero" matters so much for ratio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D: Errors, Bias &amp; Chart Selection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 a realistic data collection scenario for your own final project idea, and identify one likely source of random error and one of systematic bias.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Given a dataset with 3 numerical columns, choose and justify one appropriate chart for each column individually, and one for showing their relationships together.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one real published chart (news article or report) that violates a "when NOT to use" rule from today, and explain specifically what’s misleading about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6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7" name="Shape 2"/>
          <p:cNvSpPr/>
          <p:nvPr/>
        </p:nvSpPr>
        <p:spPr>
          <a:xfrm>
            <a:off x="548640" y="502920"/>
            <a:ext cx="566280" cy="566280"/>
          </a:xfrm>
          <a:prstGeom prst="roundRect">
            <a:avLst>
              <a:gd name="adj" fmla="val 19355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3"/>
          <p:cNvSpPr/>
          <p:nvPr/>
        </p:nvSpPr>
        <p:spPr>
          <a:xfrm>
            <a:off x="548640" y="5029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4"/>
          <p:cNvSpPr/>
          <p:nvPr/>
        </p:nvSpPr>
        <p:spPr>
          <a:xfrm>
            <a:off x="1261800" y="5029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5"/>
          <p:cNvSpPr/>
          <p:nvPr/>
        </p:nvSpPr>
        <p:spPr>
          <a:xfrm>
            <a:off x="1261800" y="777240"/>
            <a:ext cx="96004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 E: Central Tendency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6"/>
          <p:cNvSpPr/>
          <p:nvPr/>
        </p:nvSpPr>
        <p:spPr>
          <a:xfrm>
            <a:off x="548640" y="1417320"/>
            <a:ext cx="10514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Small tasks — do them in order.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7"/>
          <p:cNvSpPr/>
          <p:nvPr/>
        </p:nvSpPr>
        <p:spPr>
          <a:xfrm>
            <a:off x="548640" y="196596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8"/>
          <p:cNvSpPr/>
          <p:nvPr/>
        </p:nvSpPr>
        <p:spPr>
          <a:xfrm>
            <a:off x="731520" y="220356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9"/>
          <p:cNvSpPr/>
          <p:nvPr/>
        </p:nvSpPr>
        <p:spPr>
          <a:xfrm>
            <a:off x="731520" y="220356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10"/>
          <p:cNvSpPr/>
          <p:nvPr/>
        </p:nvSpPr>
        <p:spPr>
          <a:xfrm>
            <a:off x="1234440" y="196596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Calculate the mean, median, and mode of a real numerical column from a dataset of your choice, by hand or with simple code.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11"/>
          <p:cNvSpPr/>
          <p:nvPr/>
        </p:nvSpPr>
        <p:spPr>
          <a:xfrm>
            <a:off x="548640" y="289872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12"/>
          <p:cNvSpPr/>
          <p:nvPr/>
        </p:nvSpPr>
        <p:spPr>
          <a:xfrm>
            <a:off x="731520" y="313632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13"/>
          <p:cNvSpPr/>
          <p:nvPr/>
        </p:nvSpPr>
        <p:spPr>
          <a:xfrm>
            <a:off x="731520" y="313632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Text 14"/>
          <p:cNvSpPr/>
          <p:nvPr/>
        </p:nvSpPr>
        <p:spPr>
          <a:xfrm>
            <a:off x="1234440" y="289872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whether that column is skewed by extreme values, and explain which measure most honestly represents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15"/>
          <p:cNvSpPr/>
          <p:nvPr/>
        </p:nvSpPr>
        <p:spPr>
          <a:xfrm>
            <a:off x="548640" y="3831480"/>
            <a:ext cx="11063520" cy="82224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16"/>
          <p:cNvSpPr/>
          <p:nvPr/>
        </p:nvSpPr>
        <p:spPr>
          <a:xfrm>
            <a:off x="731520" y="4069080"/>
            <a:ext cx="346680" cy="346680"/>
          </a:xfrm>
          <a:prstGeom prst="roundRect">
            <a:avLst>
              <a:gd name="adj" fmla="val 26316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17"/>
          <p:cNvSpPr/>
          <p:nvPr/>
        </p:nvSpPr>
        <p:spPr>
          <a:xfrm>
            <a:off x="731520" y="4069080"/>
            <a:ext cx="346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18"/>
          <p:cNvSpPr/>
          <p:nvPr/>
        </p:nvSpPr>
        <p:spPr>
          <a:xfrm>
            <a:off x="1234440" y="3831480"/>
            <a:ext cx="101491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two-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sente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nce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sum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mary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that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colu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mn’s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"typic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value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,"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suita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some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who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has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never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seen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raw </a:t>
            </a: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MINI PROJECT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Profile a real dataset from the ground up, using every skill from this session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82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2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3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Profile a Real Dataset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3"/>
          <p:cNvSpPr/>
          <p:nvPr/>
        </p:nvSpPr>
        <p:spPr>
          <a:xfrm>
            <a:off x="548640" y="1737360"/>
            <a:ext cx="2925360" cy="402264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4"/>
          <p:cNvSpPr/>
          <p:nvPr/>
        </p:nvSpPr>
        <p:spPr>
          <a:xfrm>
            <a:off x="1600200" y="2103120"/>
            <a:ext cx="822240" cy="822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5"/>
          <p:cNvSpPr/>
          <p:nvPr/>
        </p:nvSpPr>
        <p:spPr>
          <a:xfrm>
            <a:off x="1600200" y="210312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±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6"/>
          <p:cNvSpPr/>
          <p:nvPr/>
        </p:nvSpPr>
        <p:spPr>
          <a:xfrm>
            <a:off x="731520" y="3154680"/>
            <a:ext cx="255960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Every skill from today, combined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7"/>
          <p:cNvSpPr/>
          <p:nvPr/>
        </p:nvSpPr>
        <p:spPr>
          <a:xfrm>
            <a:off x="3749040" y="1783080"/>
            <a:ext cx="790884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sm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all,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(or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ovi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e),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ssif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um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typ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sca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is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ntif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a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ble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urc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bot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sys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tic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bia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diff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ere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um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ns,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jus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tify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ap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op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art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eg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var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iab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cul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key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ric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um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ort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ry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of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at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"ty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pic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al"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loo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ks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lik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dat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as</a:t>
            </a:r>
            <a:r>
              <a:rPr lang="en-US" sz="18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Text 0"/>
          <p:cNvSpPr/>
          <p:nvPr/>
        </p:nvSpPr>
        <p:spPr>
          <a:xfrm>
            <a:off x="457200" y="6473880"/>
            <a:ext cx="640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84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1" name="Image 0" descr="/home/claude/assets/logo_crop.png"/>
          <p:cNvPicPr/>
          <p:nvPr/>
        </p:nvPicPr>
        <p:blipFill>
          <a:blip r:embed="rId1"/>
          <a:stretch/>
        </p:blipFill>
        <p:spPr>
          <a:xfrm>
            <a:off x="11201400" y="384120"/>
            <a:ext cx="456480" cy="51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2" name="Text 2"/>
          <p:cNvSpPr/>
          <p:nvPr/>
        </p:nvSpPr>
        <p:spPr>
          <a:xfrm>
            <a:off x="548640" y="457200"/>
            <a:ext cx="10240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Starter: Profile a Dataset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3"/>
          <p:cNvSpPr/>
          <p:nvPr/>
        </p:nvSpPr>
        <p:spPr>
          <a:xfrm>
            <a:off x="548640" y="1783080"/>
            <a:ext cx="5211360" cy="39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Start from this tiny table, then swap in your own dataset.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 the shape, the types, and the missing values before any statistic.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14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describe() gives a first summary of every numeric column.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4"/>
          <p:cNvSpPr/>
          <p:nvPr/>
        </p:nvSpPr>
        <p:spPr>
          <a:xfrm>
            <a:off x="5989320" y="1737360"/>
            <a:ext cx="5668560" cy="4022640"/>
          </a:xfrm>
          <a:prstGeom prst="roundRect">
            <a:avLst>
              <a:gd name="adj" fmla="val 3182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5"/>
          <p:cNvSpPr/>
          <p:nvPr/>
        </p:nvSpPr>
        <p:spPr>
          <a:xfrm>
            <a:off x="6153840" y="1883520"/>
            <a:ext cx="99720" cy="997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6"/>
          <p:cNvSpPr/>
          <p:nvPr/>
        </p:nvSpPr>
        <p:spPr>
          <a:xfrm>
            <a:off x="6355080" y="1883520"/>
            <a:ext cx="99720" cy="9972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7"/>
          <p:cNvSpPr/>
          <p:nvPr/>
        </p:nvSpPr>
        <p:spPr>
          <a:xfrm>
            <a:off x="6556320" y="1883520"/>
            <a:ext cx="99720" cy="997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8"/>
          <p:cNvSpPr/>
          <p:nvPr/>
        </p:nvSpPr>
        <p:spPr>
          <a:xfrm>
            <a:off x="6172200" y="2148840"/>
            <a:ext cx="53485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import pandas as pd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df = pd.DataFrame({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"city": ["Quetta", "Lahore", "Quetta", "Karachi"],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"rating": ["low", "high", "mid", "high"],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"age": [21, 25, 22, None],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"income": [30, 52, 41, 38],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print(df.shape)           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(4, 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print(df["age"].isna().sum())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print(df["income"].mean()) 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40.25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print(df["city"].mode()[0])       </a:t>
            </a:r>
            <a:r>
              <a:rPr lang="en-US" sz="1300" b="0" i="1" u="none" strike="noStrike">
                <a:solidFill>
                  <a:srgbClr val="94A3B8"/>
                </a:solidFill>
                <a:effectLst/>
                <a:uFillTx/>
                <a:latin typeface="Consolas"/>
                <a:ea typeface="Consolas"/>
              </a:rPr>
              <a:t># Quetta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print(df.describe())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Shape 0"/>
          <p:cNvSpPr/>
          <p:nvPr/>
        </p:nvSpPr>
        <p:spPr>
          <a:xfrm>
            <a:off x="9692640" y="-1463040"/>
            <a:ext cx="3839760" cy="383976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1"/>
          <p:cNvSpPr/>
          <p:nvPr/>
        </p:nvSpPr>
        <p:spPr>
          <a:xfrm>
            <a:off x="-1645920" y="4754880"/>
            <a:ext cx="3474000" cy="347400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 2"/>
          <p:cNvSpPr/>
          <p:nvPr/>
        </p:nvSpPr>
        <p:spPr>
          <a:xfrm>
            <a:off x="640080" y="2194560"/>
            <a:ext cx="9143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RECAP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3"/>
          <p:cNvSpPr/>
          <p:nvPr/>
        </p:nvSpPr>
        <p:spPr>
          <a:xfrm>
            <a:off x="640080" y="2697480"/>
            <a:ext cx="103320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Know Your Data First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4"/>
          <p:cNvSpPr/>
          <p:nvPr/>
        </p:nvSpPr>
        <p:spPr>
          <a:xfrm>
            <a:off x="640080" y="4023360"/>
            <a:ext cx="9691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Before any statistic means anything, you need to know your data’s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type, where it could have gone wrong, and the right picture to show it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with.  Next up: Descriptive Statistics II — spread, shape, z-scores and </a:t>
            </a: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correlation.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5"/>
          <p:cNvSpPr/>
          <p:nvPr/>
        </p:nvSpPr>
        <p:spPr>
          <a:xfrm>
            <a:off x="11503080" y="6473880"/>
            <a:ext cx="502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85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2026-10-01T23:27:36Z</dcterms:created>
  <dc:creator>Hafiz Waseem Ahmed (Paxto)</dc:creator>
  <dc:description/>
  <dc:language>en-US</dc:language>
  <cp:lastModifiedBy/>
  <dcterms:modified xsi:type="dcterms:W3CDTF">2026-10-02T22:43:22Z</dcterms:modified>
  <cp:revision>18</cp:revision>
  <dc:subject>PptxGenJS Presentation</dc:subject>
  <dc:title>Descriptive Statistics I — CodeByPaxto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85</vt:i4>
  </property>
  <property fmtid="{D5CDD505-2E9C-101B-9397-08002B2CF9AE}" pid="3" name="PresentationFormat">
    <vt:lpwstr>On-screen Show (16:9)</vt:lpwstr>
  </property>
  <property fmtid="{D5CDD505-2E9C-101B-9397-08002B2CF9AE}" pid="4" name="Slides">
    <vt:i4>85</vt:i4>
  </property>
</Properties>
</file>