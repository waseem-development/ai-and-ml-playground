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olors1.xml" ContentType="application/vnd.ms-office.chartcolorstyle+xml"/>
  <Override PartName="/ppt/charts/style2.xml" ContentType="application/vnd.ms-office.chartstyle+xml"/>
  <Override PartName="/ppt/charts/colors4.xml" ContentType="application/vnd.ms-office.chartcolorstyle+xml"/>
  <Override PartName="/ppt/charts/chart3.xml" ContentType="application/vnd.openxmlformats-officedocument.drawingml.chart+xml"/>
  <Override PartName="/ppt/charts/chart2.xml" ContentType="application/vnd.openxmlformats-officedocument.drawingml.chart+xml"/>
  <Override PartName="/ppt/charts/colors2.xml" ContentType="application/vnd.ms-office.chartcolorstyle+xml"/>
  <Override PartName="/ppt/charts/style3.xml" ContentType="application/vnd.ms-office.chartstyle+xml"/>
  <Override PartName="/ppt/charts/chart4.xml" ContentType="application/vnd.openxmlformats-officedocument.drawingml.chart+xml"/>
  <Override PartName="/ppt/charts/style1.xml" ContentType="application/vnd.ms-office.chartstyle+xml"/>
  <Override PartName="/ppt/charts/colors3.xml" ContentType="application/vnd.ms-office.chartcolorstyle+xml"/>
  <Override PartName="/ppt/charts/chart1.xml" ContentType="application/vnd.openxmlformats-officedocument.drawingml.chart+xml"/>
  <Override PartName="/ppt/charts/style4.xml" ContentType="application/vnd.ms-office.chartstyl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40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27.xml" ContentType="application/vnd.openxmlformats-officedocument.presentationml.slide+xml"/>
  <Override PartName="/ppt/slides/slide43.xml" ContentType="application/vnd.openxmlformats-officedocument.presentationml.slide+xml"/>
  <Override PartName="/ppt/slides/slide48.xml" ContentType="application/vnd.openxmlformats-officedocument.presentationml.slide+xml"/>
  <Override PartName="/ppt/slides/slide62.xml" ContentType="application/vnd.openxmlformats-officedocument.presentationml.slide+xml"/>
  <Override PartName="/ppt/slides/slide31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1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65.xml" ContentType="application/vnd.openxmlformats-officedocument.presentationml.slide+xml"/>
  <Override PartName="/ppt/slides/slide58.xml" ContentType="application/vnd.openxmlformats-officedocument.presentationml.slide+xml"/>
  <Override PartName="/ppt/slides/slide15.xml" ContentType="application/vnd.openxmlformats-officedocument.presentationml.slide+xml"/>
  <Override PartName="/ppt/slides/slide63.xml" ContentType="application/vnd.openxmlformats-officedocument.presentationml.slide+xml"/>
  <Override PartName="/ppt/slides/slide61.xml" ContentType="application/vnd.openxmlformats-officedocument.presentationml.slide+xml"/>
  <Override PartName="/ppt/slides/slide60.xml" ContentType="application/vnd.openxmlformats-officedocument.presentationml.slide+xml"/>
  <Override PartName="/ppt/slides/slide57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42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51.xml" ContentType="application/vnd.openxmlformats-officedocument.presentationml.slide+xml"/>
  <Override PartName="/ppt/slides/slide18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9.xml" ContentType="application/vnd.openxmlformats-officedocument.presentationml.slide+xml"/>
  <Override PartName="/ppt/slides/slide34.xml" ContentType="application/vnd.openxmlformats-officedocument.presentationml.slide+xml"/>
  <Override PartName="/ppt/slides/slide6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slides/slide44.xml" ContentType="application/vnd.openxmlformats-officedocument.presentationml.slide+xml"/>
  <Override PartName="/ppt/slides/slide56.xml" ContentType="application/vnd.openxmlformats-officedocument.presentationml.slide+xml"/>
  <Override PartName="/ppt/slides/slide24.xml" ContentType="application/vnd.openxmlformats-officedocument.presentationml.slide+xml"/>
  <Override PartName="/ppt/slides/slide50.xml" ContentType="application/vnd.openxmlformats-officedocument.presentationml.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4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_rels/chart4.xml.rels><?xml version="1.0" encoding="UTF-8"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8C8AE0"/>
            </a:solidFill>
            <a:ln w="12600">
              <a:noFill/>
            </a:ln>
          </c:spPr>
          <c:marker>
            <c:symbol val="circle"/>
            <c:size val="6"/>
            <c:spPr>
              <a:solidFill>
                <a:srgbClr val="8C8AE0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12600">
                  <a:noFill/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40"/>
                <c:pt idx="0">
                  <c:v>-1.14</c:v>
                </c:pt>
                <c:pt idx="1">
                  <c:v>-0.55</c:v>
                </c:pt>
                <c:pt idx="2">
                  <c:v>-0.95</c:v>
                </c:pt>
                <c:pt idx="3">
                  <c:v>-0.63</c:v>
                </c:pt>
                <c:pt idx="4">
                  <c:v>-0.3</c:v>
                </c:pt>
                <c:pt idx="5">
                  <c:v>0.72</c:v>
                </c:pt>
                <c:pt idx="6">
                  <c:v>0.74</c:v>
                </c:pt>
                <c:pt idx="7">
                  <c:v>-1.08</c:v>
                </c:pt>
                <c:pt idx="8">
                  <c:v>0.77</c:v>
                </c:pt>
                <c:pt idx="9">
                  <c:v>-0.44</c:v>
                </c:pt>
                <c:pt idx="10">
                  <c:v>0.36</c:v>
                </c:pt>
                <c:pt idx="11">
                  <c:v>1.36</c:v>
                </c:pt>
                <c:pt idx="12">
                  <c:v>-1.17</c:v>
                </c:pt>
                <c:pt idx="13">
                  <c:v>0.67</c:v>
                </c:pt>
                <c:pt idx="14">
                  <c:v>-0.84</c:v>
                </c:pt>
                <c:pt idx="15">
                  <c:v>-0.74</c:v>
                </c:pt>
                <c:pt idx="16">
                  <c:v>0.08</c:v>
                </c:pt>
                <c:pt idx="17">
                  <c:v>0.8</c:v>
                </c:pt>
                <c:pt idx="18">
                  <c:v>-0.69</c:v>
                </c:pt>
                <c:pt idx="19">
                  <c:v>1.29</c:v>
                </c:pt>
                <c:pt idx="20">
                  <c:v>1.16</c:v>
                </c:pt>
                <c:pt idx="21">
                  <c:v>-1.53</c:v>
                </c:pt>
                <c:pt idx="22">
                  <c:v>-1.3</c:v>
                </c:pt>
                <c:pt idx="23">
                  <c:v>-0.74</c:v>
                </c:pt>
                <c:pt idx="24">
                  <c:v>-0.78</c:v>
                </c:pt>
                <c:pt idx="25">
                  <c:v>-0.81</c:v>
                </c:pt>
                <c:pt idx="26">
                  <c:v>-1.26</c:v>
                </c:pt>
                <c:pt idx="27">
                  <c:v>0.55</c:v>
                </c:pt>
                <c:pt idx="28">
                  <c:v>-0.13</c:v>
                </c:pt>
                <c:pt idx="29">
                  <c:v>-0.42</c:v>
                </c:pt>
                <c:pt idx="30">
                  <c:v>-0.9</c:v>
                </c:pt>
                <c:pt idx="31">
                  <c:v>-0.32</c:v>
                </c:pt>
                <c:pt idx="32">
                  <c:v>0.58</c:v>
                </c:pt>
                <c:pt idx="33">
                  <c:v>0.76</c:v>
                </c:pt>
                <c:pt idx="34">
                  <c:v>-0.33</c:v>
                </c:pt>
                <c:pt idx="35">
                  <c:v>-1.18</c:v>
                </c:pt>
                <c:pt idx="36">
                  <c:v>2.02</c:v>
                </c:pt>
                <c:pt idx="37">
                  <c:v>0.43</c:v>
                </c:pt>
                <c:pt idx="38">
                  <c:v>1.2</c:v>
                </c:pt>
                <c:pt idx="39">
                  <c:v>-1.29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40"/>
                <c:pt idx="0">
                  <c:v>-1.34</c:v>
                </c:pt>
                <c:pt idx="1">
                  <c:v>-1.21</c:v>
                </c:pt>
                <c:pt idx="2">
                  <c:v>-0.69</c:v>
                </c:pt>
                <c:pt idx="3">
                  <c:v>-0.46</c:v>
                </c:pt>
                <c:pt idx="4">
                  <c:v>-0.59</c:v>
                </c:pt>
                <c:pt idx="5">
                  <c:v>0.41</c:v>
                </c:pt>
                <c:pt idx="6">
                  <c:v>0.72</c:v>
                </c:pt>
                <c:pt idx="7">
                  <c:v>-0.54</c:v>
                </c:pt>
                <c:pt idx="8">
                  <c:v>1.02</c:v>
                </c:pt>
                <c:pt idx="9">
                  <c:v>-0.72</c:v>
                </c:pt>
                <c:pt idx="10">
                  <c:v>0.42</c:v>
                </c:pt>
                <c:pt idx="11">
                  <c:v>1.68</c:v>
                </c:pt>
                <c:pt idx="12">
                  <c:v>-1.61</c:v>
                </c:pt>
                <c:pt idx="13">
                  <c:v>0.91</c:v>
                </c:pt>
                <c:pt idx="14">
                  <c:v>-0.85</c:v>
                </c:pt>
                <c:pt idx="15">
                  <c:v>-0.79</c:v>
                </c:pt>
                <c:pt idx="16">
                  <c:v>-0.38</c:v>
                </c:pt>
                <c:pt idx="17">
                  <c:v>1.2</c:v>
                </c:pt>
                <c:pt idx="18">
                  <c:v>-1.08</c:v>
                </c:pt>
                <c:pt idx="19">
                  <c:v>1.1</c:v>
                </c:pt>
                <c:pt idx="20">
                  <c:v>0.81</c:v>
                </c:pt>
                <c:pt idx="21">
                  <c:v>-0.75</c:v>
                </c:pt>
                <c:pt idx="22">
                  <c:v>-0.67</c:v>
                </c:pt>
                <c:pt idx="23">
                  <c:v>-0.41</c:v>
                </c:pt>
                <c:pt idx="24">
                  <c:v>-0.59</c:v>
                </c:pt>
                <c:pt idx="25">
                  <c:v>-1.09</c:v>
                </c:pt>
                <c:pt idx="26">
                  <c:v>-0.91</c:v>
                </c:pt>
                <c:pt idx="27">
                  <c:v>0.14</c:v>
                </c:pt>
                <c:pt idx="28">
                  <c:v>-0.21</c:v>
                </c:pt>
                <c:pt idx="29">
                  <c:v>-0.56</c:v>
                </c:pt>
                <c:pt idx="30">
                  <c:v>-0.81</c:v>
                </c:pt>
                <c:pt idx="31">
                  <c:v>-0.95</c:v>
                </c:pt>
                <c:pt idx="32">
                  <c:v>0.74</c:v>
                </c:pt>
                <c:pt idx="33">
                  <c:v>0.96</c:v>
                </c:pt>
                <c:pt idx="34">
                  <c:v>-0.01</c:v>
                </c:pt>
                <c:pt idx="35">
                  <c:v>-0.91</c:v>
                </c:pt>
                <c:pt idx="36">
                  <c:v>1.9</c:v>
                </c:pt>
                <c:pt idx="37">
                  <c:v>0.53</c:v>
                </c:pt>
                <c:pt idx="38">
                  <c:v>0.89</c:v>
                </c:pt>
                <c:pt idx="39">
                  <c:v>-0.52</c:v>
                </c:pt>
              </c:numCache>
            </c:numRef>
          </c:yVal>
          <c:smooth val="0"/>
        </c:ser>
        <c:axId val="23354232"/>
        <c:axId val="88647626"/>
      </c:scatterChart>
      <c:valAx>
        <c:axId val="233542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88647626"/>
        <c:crossBetween val="midCat"/>
      </c:valAx>
      <c:valAx>
        <c:axId val="8864762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23354232"/>
        <c:crossBetween val="midCat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2DD4BF"/>
            </a:solidFill>
            <a:ln w="12600">
              <a:noFill/>
            </a:ln>
          </c:spPr>
          <c:marker>
            <c:symbol val="circle"/>
            <c:size val="6"/>
            <c:spPr>
              <a:solidFill>
                <a:srgbClr val="2DD4BF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12600">
                  <a:noFill/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40"/>
                <c:pt idx="0">
                  <c:v>1.4</c:v>
                </c:pt>
                <c:pt idx="1">
                  <c:v>1.93</c:v>
                </c:pt>
                <c:pt idx="2">
                  <c:v>-0.09</c:v>
                </c:pt>
                <c:pt idx="3">
                  <c:v>-1.49</c:v>
                </c:pt>
                <c:pt idx="4">
                  <c:v>0.33</c:v>
                </c:pt>
                <c:pt idx="5">
                  <c:v>1.2</c:v>
                </c:pt>
                <c:pt idx="6">
                  <c:v>1.15</c:v>
                </c:pt>
                <c:pt idx="7">
                  <c:v>-0.47</c:v>
                </c:pt>
                <c:pt idx="8">
                  <c:v>-0.73</c:v>
                </c:pt>
                <c:pt idx="9">
                  <c:v>0.04</c:v>
                </c:pt>
                <c:pt idx="10">
                  <c:v>1.87</c:v>
                </c:pt>
                <c:pt idx="11">
                  <c:v>1.57</c:v>
                </c:pt>
                <c:pt idx="12">
                  <c:v>-1.41</c:v>
                </c:pt>
                <c:pt idx="13">
                  <c:v>-0.13</c:v>
                </c:pt>
                <c:pt idx="14">
                  <c:v>1.23</c:v>
                </c:pt>
                <c:pt idx="15">
                  <c:v>-2.19</c:v>
                </c:pt>
                <c:pt idx="16">
                  <c:v>0.51</c:v>
                </c:pt>
                <c:pt idx="17">
                  <c:v>1.02</c:v>
                </c:pt>
                <c:pt idx="18">
                  <c:v>0.25</c:v>
                </c:pt>
                <c:pt idx="19">
                  <c:v>1.27</c:v>
                </c:pt>
                <c:pt idx="20">
                  <c:v>-0.06</c:v>
                </c:pt>
                <c:pt idx="21">
                  <c:v>-0.39</c:v>
                </c:pt>
                <c:pt idx="22">
                  <c:v>0.55</c:v>
                </c:pt>
                <c:pt idx="23">
                  <c:v>0.45</c:v>
                </c:pt>
                <c:pt idx="24">
                  <c:v>0.29</c:v>
                </c:pt>
                <c:pt idx="25">
                  <c:v>-1.56</c:v>
                </c:pt>
                <c:pt idx="26">
                  <c:v>0.23</c:v>
                </c:pt>
                <c:pt idx="27">
                  <c:v>0.49</c:v>
                </c:pt>
                <c:pt idx="28">
                  <c:v>-0.46</c:v>
                </c:pt>
                <c:pt idx="29">
                  <c:v>-0.84</c:v>
                </c:pt>
                <c:pt idx="30">
                  <c:v>-1.71</c:v>
                </c:pt>
                <c:pt idx="31">
                  <c:v>0.79</c:v>
                </c:pt>
                <c:pt idx="32">
                  <c:v>0.48</c:v>
                </c:pt>
                <c:pt idx="33">
                  <c:v>0.92</c:v>
                </c:pt>
                <c:pt idx="34">
                  <c:v>1.85</c:v>
                </c:pt>
                <c:pt idx="35">
                  <c:v>-0.38</c:v>
                </c:pt>
                <c:pt idx="36">
                  <c:v>2.3</c:v>
                </c:pt>
                <c:pt idx="37">
                  <c:v>0.05</c:v>
                </c:pt>
                <c:pt idx="38">
                  <c:v>-1.2</c:v>
                </c:pt>
                <c:pt idx="39">
                  <c:v>-2.06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40"/>
                <c:pt idx="0">
                  <c:v>1.4</c:v>
                </c:pt>
                <c:pt idx="1">
                  <c:v>0.17</c:v>
                </c:pt>
                <c:pt idx="2">
                  <c:v>2.19</c:v>
                </c:pt>
                <c:pt idx="3">
                  <c:v>-0.93</c:v>
                </c:pt>
                <c:pt idx="4">
                  <c:v>0.12</c:v>
                </c:pt>
                <c:pt idx="5">
                  <c:v>-0.74</c:v>
                </c:pt>
                <c:pt idx="6">
                  <c:v>1.6</c:v>
                </c:pt>
                <c:pt idx="7">
                  <c:v>0.51</c:v>
                </c:pt>
                <c:pt idx="8">
                  <c:v>-1.72</c:v>
                </c:pt>
                <c:pt idx="9">
                  <c:v>0.04</c:v>
                </c:pt>
                <c:pt idx="10">
                  <c:v>-0.33</c:v>
                </c:pt>
                <c:pt idx="11">
                  <c:v>0</c:v>
                </c:pt>
                <c:pt idx="12">
                  <c:v>0.26</c:v>
                </c:pt>
                <c:pt idx="13">
                  <c:v>0.16</c:v>
                </c:pt>
                <c:pt idx="14">
                  <c:v>1.13</c:v>
                </c:pt>
                <c:pt idx="15">
                  <c:v>-1.79</c:v>
                </c:pt>
                <c:pt idx="16">
                  <c:v>-2.11</c:v>
                </c:pt>
                <c:pt idx="17">
                  <c:v>0.34</c:v>
                </c:pt>
                <c:pt idx="18">
                  <c:v>1.5</c:v>
                </c:pt>
                <c:pt idx="19">
                  <c:v>1.85</c:v>
                </c:pt>
                <c:pt idx="20">
                  <c:v>0</c:v>
                </c:pt>
                <c:pt idx="21">
                  <c:v>-0.98</c:v>
                </c:pt>
                <c:pt idx="22">
                  <c:v>-0.1</c:v>
                </c:pt>
                <c:pt idx="23">
                  <c:v>-1.79</c:v>
                </c:pt>
                <c:pt idx="24">
                  <c:v>0.07</c:v>
                </c:pt>
                <c:pt idx="25">
                  <c:v>-0.08</c:v>
                </c:pt>
                <c:pt idx="26">
                  <c:v>1.59</c:v>
                </c:pt>
                <c:pt idx="27">
                  <c:v>-0.6</c:v>
                </c:pt>
                <c:pt idx="28">
                  <c:v>-0.96</c:v>
                </c:pt>
                <c:pt idx="29">
                  <c:v>-0.74</c:v>
                </c:pt>
                <c:pt idx="30">
                  <c:v>-2.54</c:v>
                </c:pt>
                <c:pt idx="31">
                  <c:v>1.43</c:v>
                </c:pt>
                <c:pt idx="32">
                  <c:v>0.82</c:v>
                </c:pt>
                <c:pt idx="33">
                  <c:v>1.83</c:v>
                </c:pt>
                <c:pt idx="34">
                  <c:v>1.35</c:v>
                </c:pt>
                <c:pt idx="35">
                  <c:v>-0.82</c:v>
                </c:pt>
                <c:pt idx="36">
                  <c:v>0.17</c:v>
                </c:pt>
                <c:pt idx="37">
                  <c:v>1.53</c:v>
                </c:pt>
                <c:pt idx="38">
                  <c:v>0.37</c:v>
                </c:pt>
                <c:pt idx="39">
                  <c:v>-1.35</c:v>
                </c:pt>
              </c:numCache>
            </c:numRef>
          </c:yVal>
          <c:smooth val="0"/>
        </c:ser>
        <c:axId val="3340528"/>
        <c:axId val="44275756"/>
      </c:scatterChart>
      <c:valAx>
        <c:axId val="33405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44275756"/>
        <c:crossBetween val="midCat"/>
      </c:valAx>
      <c:valAx>
        <c:axId val="442757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3340528"/>
        <c:crossBetween val="midCat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4C112D"/>
            </a:solidFill>
            <a:ln w="12600">
              <a:noFill/>
            </a:ln>
          </c:spPr>
          <c:marker>
            <c:symbol val="circle"/>
            <c:size val="6"/>
            <c:spPr>
              <a:solidFill>
                <a:srgbClr val="4C112D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12600">
                  <a:noFill/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40"/>
                <c:pt idx="0">
                  <c:v>-0.68</c:v>
                </c:pt>
                <c:pt idx="1">
                  <c:v>2.57</c:v>
                </c:pt>
                <c:pt idx="2">
                  <c:v>0.74</c:v>
                </c:pt>
                <c:pt idx="3">
                  <c:v>0.79</c:v>
                </c:pt>
                <c:pt idx="4">
                  <c:v>-0.78</c:v>
                </c:pt>
                <c:pt idx="5">
                  <c:v>-0.72</c:v>
                </c:pt>
                <c:pt idx="6">
                  <c:v>-0.63</c:v>
                </c:pt>
                <c:pt idx="7">
                  <c:v>2.35</c:v>
                </c:pt>
                <c:pt idx="8">
                  <c:v>-0.22</c:v>
                </c:pt>
                <c:pt idx="9">
                  <c:v>-0.47</c:v>
                </c:pt>
                <c:pt idx="10">
                  <c:v>0.82</c:v>
                </c:pt>
                <c:pt idx="11">
                  <c:v>-0.14</c:v>
                </c:pt>
                <c:pt idx="12">
                  <c:v>0.11</c:v>
                </c:pt>
                <c:pt idx="13">
                  <c:v>1.32</c:v>
                </c:pt>
                <c:pt idx="14">
                  <c:v>-1.45</c:v>
                </c:pt>
                <c:pt idx="15">
                  <c:v>0.08</c:v>
                </c:pt>
                <c:pt idx="16">
                  <c:v>0.59</c:v>
                </c:pt>
                <c:pt idx="17">
                  <c:v>0.7</c:v>
                </c:pt>
                <c:pt idx="18">
                  <c:v>0.72</c:v>
                </c:pt>
                <c:pt idx="19">
                  <c:v>0.64</c:v>
                </c:pt>
                <c:pt idx="20">
                  <c:v>-0.64</c:v>
                </c:pt>
                <c:pt idx="21">
                  <c:v>1.88</c:v>
                </c:pt>
                <c:pt idx="22">
                  <c:v>0.09</c:v>
                </c:pt>
                <c:pt idx="23">
                  <c:v>0.27</c:v>
                </c:pt>
                <c:pt idx="24">
                  <c:v>-0.59</c:v>
                </c:pt>
                <c:pt idx="25">
                  <c:v>0.04</c:v>
                </c:pt>
                <c:pt idx="26">
                  <c:v>-0.26</c:v>
                </c:pt>
                <c:pt idx="27">
                  <c:v>0.34</c:v>
                </c:pt>
                <c:pt idx="28">
                  <c:v>0.01</c:v>
                </c:pt>
                <c:pt idx="29">
                  <c:v>1.85</c:v>
                </c:pt>
                <c:pt idx="30">
                  <c:v>2.04</c:v>
                </c:pt>
                <c:pt idx="31">
                  <c:v>0.87</c:v>
                </c:pt>
                <c:pt idx="32">
                  <c:v>1.16</c:v>
                </c:pt>
                <c:pt idx="33">
                  <c:v>0.49</c:v>
                </c:pt>
                <c:pt idx="34">
                  <c:v>0.17</c:v>
                </c:pt>
                <c:pt idx="35">
                  <c:v>0.06</c:v>
                </c:pt>
                <c:pt idx="36">
                  <c:v>-0.67</c:v>
                </c:pt>
                <c:pt idx="37">
                  <c:v>-0.99</c:v>
                </c:pt>
                <c:pt idx="38">
                  <c:v>-0.35</c:v>
                </c:pt>
                <c:pt idx="39">
                  <c:v>0.75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40"/>
                <c:pt idx="0">
                  <c:v>2.2</c:v>
                </c:pt>
                <c:pt idx="1">
                  <c:v>-1.33</c:v>
                </c:pt>
                <c:pt idx="2">
                  <c:v>0.05</c:v>
                </c:pt>
                <c:pt idx="3">
                  <c:v>-0.71</c:v>
                </c:pt>
                <c:pt idx="4">
                  <c:v>-1.24</c:v>
                </c:pt>
                <c:pt idx="5">
                  <c:v>1.17</c:v>
                </c:pt>
                <c:pt idx="6">
                  <c:v>-0.87</c:v>
                </c:pt>
                <c:pt idx="7">
                  <c:v>1.35</c:v>
                </c:pt>
                <c:pt idx="8">
                  <c:v>-1.15</c:v>
                </c:pt>
                <c:pt idx="9">
                  <c:v>-2.77</c:v>
                </c:pt>
                <c:pt idx="10">
                  <c:v>0.98</c:v>
                </c:pt>
                <c:pt idx="11">
                  <c:v>0.3</c:v>
                </c:pt>
                <c:pt idx="12">
                  <c:v>1.5</c:v>
                </c:pt>
                <c:pt idx="13">
                  <c:v>0.01</c:v>
                </c:pt>
                <c:pt idx="14">
                  <c:v>0.44</c:v>
                </c:pt>
                <c:pt idx="15">
                  <c:v>-0.66</c:v>
                </c:pt>
                <c:pt idx="16">
                  <c:v>-1.16</c:v>
                </c:pt>
                <c:pt idx="17">
                  <c:v>-0.28</c:v>
                </c:pt>
                <c:pt idx="18">
                  <c:v>0.18</c:v>
                </c:pt>
                <c:pt idx="19">
                  <c:v>-0.98</c:v>
                </c:pt>
                <c:pt idx="20">
                  <c:v>-0.8</c:v>
                </c:pt>
                <c:pt idx="21">
                  <c:v>0.53</c:v>
                </c:pt>
                <c:pt idx="22">
                  <c:v>1.21</c:v>
                </c:pt>
                <c:pt idx="23">
                  <c:v>0.96</c:v>
                </c:pt>
                <c:pt idx="24">
                  <c:v>0.64</c:v>
                </c:pt>
                <c:pt idx="25">
                  <c:v>0.83</c:v>
                </c:pt>
                <c:pt idx="26">
                  <c:v>2.12</c:v>
                </c:pt>
                <c:pt idx="27">
                  <c:v>-0.51</c:v>
                </c:pt>
                <c:pt idx="28">
                  <c:v>0.37</c:v>
                </c:pt>
                <c:pt idx="29">
                  <c:v>0.7</c:v>
                </c:pt>
                <c:pt idx="30">
                  <c:v>0.38</c:v>
                </c:pt>
                <c:pt idx="31">
                  <c:v>1.16</c:v>
                </c:pt>
                <c:pt idx="32">
                  <c:v>0.21</c:v>
                </c:pt>
                <c:pt idx="33">
                  <c:v>0.47</c:v>
                </c:pt>
                <c:pt idx="34">
                  <c:v>-2</c:v>
                </c:pt>
                <c:pt idx="35">
                  <c:v>0.82</c:v>
                </c:pt>
                <c:pt idx="36">
                  <c:v>-0.16</c:v>
                </c:pt>
                <c:pt idx="37">
                  <c:v>-0.23</c:v>
                </c:pt>
                <c:pt idx="38">
                  <c:v>-0.26</c:v>
                </c:pt>
                <c:pt idx="39">
                  <c:v>0.12</c:v>
                </c:pt>
              </c:numCache>
            </c:numRef>
          </c:yVal>
          <c:smooth val="0"/>
        </c:ser>
        <c:axId val="96065029"/>
        <c:axId val="83499311"/>
      </c:scatterChart>
      <c:valAx>
        <c:axId val="9606502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83499311"/>
        <c:crossBetween val="midCat"/>
      </c:valAx>
      <c:valAx>
        <c:axId val="8349931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96065029"/>
        <c:crossBetween val="midCat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F43F5E"/>
            </a:solidFill>
            <a:ln w="12600">
              <a:noFill/>
            </a:ln>
          </c:spPr>
          <c:marker>
            <c:symbol val="circle"/>
            <c:size val="6"/>
            <c:spPr>
              <a:solidFill>
                <a:srgbClr val="F43F5E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12600">
                  <a:noFill/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40"/>
                <c:pt idx="0">
                  <c:v>-1.13</c:v>
                </c:pt>
                <c:pt idx="1">
                  <c:v>-1.62</c:v>
                </c:pt>
                <c:pt idx="2">
                  <c:v>0.26</c:v>
                </c:pt>
                <c:pt idx="3">
                  <c:v>0.74</c:v>
                </c:pt>
                <c:pt idx="4">
                  <c:v>1.19</c:v>
                </c:pt>
                <c:pt idx="5">
                  <c:v>0.23</c:v>
                </c:pt>
                <c:pt idx="6">
                  <c:v>0.79</c:v>
                </c:pt>
                <c:pt idx="7">
                  <c:v>-1.46</c:v>
                </c:pt>
                <c:pt idx="8">
                  <c:v>-0.26</c:v>
                </c:pt>
                <c:pt idx="9">
                  <c:v>0.19</c:v>
                </c:pt>
                <c:pt idx="10">
                  <c:v>-1.54</c:v>
                </c:pt>
                <c:pt idx="11">
                  <c:v>-0.1</c:v>
                </c:pt>
                <c:pt idx="12">
                  <c:v>1.12</c:v>
                </c:pt>
                <c:pt idx="13">
                  <c:v>-1.36</c:v>
                </c:pt>
                <c:pt idx="14">
                  <c:v>-0.7</c:v>
                </c:pt>
                <c:pt idx="15">
                  <c:v>-1.31</c:v>
                </c:pt>
                <c:pt idx="16">
                  <c:v>-0.09</c:v>
                </c:pt>
                <c:pt idx="17">
                  <c:v>0.72</c:v>
                </c:pt>
                <c:pt idx="18">
                  <c:v>-1.7</c:v>
                </c:pt>
                <c:pt idx="19">
                  <c:v>1.11</c:v>
                </c:pt>
                <c:pt idx="20">
                  <c:v>1.17</c:v>
                </c:pt>
                <c:pt idx="21">
                  <c:v>0.29</c:v>
                </c:pt>
                <c:pt idx="22">
                  <c:v>-1.49</c:v>
                </c:pt>
                <c:pt idx="23">
                  <c:v>-1.25</c:v>
                </c:pt>
                <c:pt idx="24">
                  <c:v>-1.5</c:v>
                </c:pt>
                <c:pt idx="25">
                  <c:v>2.18</c:v>
                </c:pt>
                <c:pt idx="26">
                  <c:v>-0.37</c:v>
                </c:pt>
                <c:pt idx="27">
                  <c:v>0.76</c:v>
                </c:pt>
                <c:pt idx="28">
                  <c:v>-0.56</c:v>
                </c:pt>
                <c:pt idx="29">
                  <c:v>1.03</c:v>
                </c:pt>
                <c:pt idx="30">
                  <c:v>-0.66</c:v>
                </c:pt>
                <c:pt idx="31">
                  <c:v>-1.19</c:v>
                </c:pt>
                <c:pt idx="32">
                  <c:v>-0.34</c:v>
                </c:pt>
                <c:pt idx="33">
                  <c:v>0.17</c:v>
                </c:pt>
                <c:pt idx="34">
                  <c:v>0.57</c:v>
                </c:pt>
                <c:pt idx="35">
                  <c:v>0.22</c:v>
                </c:pt>
                <c:pt idx="36">
                  <c:v>0.44</c:v>
                </c:pt>
                <c:pt idx="37">
                  <c:v>-0.2</c:v>
                </c:pt>
                <c:pt idx="38">
                  <c:v>0.64</c:v>
                </c:pt>
                <c:pt idx="39">
                  <c:v>0.59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40"/>
                <c:pt idx="0">
                  <c:v>0.77</c:v>
                </c:pt>
                <c:pt idx="1">
                  <c:v>1.83</c:v>
                </c:pt>
                <c:pt idx="2">
                  <c:v>0.28</c:v>
                </c:pt>
                <c:pt idx="3">
                  <c:v>-1.07</c:v>
                </c:pt>
                <c:pt idx="4">
                  <c:v>-1.65</c:v>
                </c:pt>
                <c:pt idx="5">
                  <c:v>0.3</c:v>
                </c:pt>
                <c:pt idx="6">
                  <c:v>-0.61</c:v>
                </c:pt>
                <c:pt idx="7">
                  <c:v>1.72</c:v>
                </c:pt>
                <c:pt idx="8">
                  <c:v>1.15</c:v>
                </c:pt>
                <c:pt idx="9">
                  <c:v>-0.32</c:v>
                </c:pt>
                <c:pt idx="10">
                  <c:v>1.82</c:v>
                </c:pt>
                <c:pt idx="11">
                  <c:v>0.14</c:v>
                </c:pt>
                <c:pt idx="12">
                  <c:v>-0.64</c:v>
                </c:pt>
                <c:pt idx="13">
                  <c:v>0.66</c:v>
                </c:pt>
                <c:pt idx="14">
                  <c:v>0.85</c:v>
                </c:pt>
                <c:pt idx="15">
                  <c:v>0.82</c:v>
                </c:pt>
                <c:pt idx="16">
                  <c:v>0.06</c:v>
                </c:pt>
                <c:pt idx="17">
                  <c:v>-0.28</c:v>
                </c:pt>
                <c:pt idx="18">
                  <c:v>1.94</c:v>
                </c:pt>
                <c:pt idx="19">
                  <c:v>-1.15</c:v>
                </c:pt>
                <c:pt idx="20">
                  <c:v>-1.68</c:v>
                </c:pt>
                <c:pt idx="21">
                  <c:v>-0.12</c:v>
                </c:pt>
                <c:pt idx="22">
                  <c:v>1.25</c:v>
                </c:pt>
                <c:pt idx="23">
                  <c:v>1.73</c:v>
                </c:pt>
                <c:pt idx="24">
                  <c:v>1.38</c:v>
                </c:pt>
                <c:pt idx="25">
                  <c:v>-1.74</c:v>
                </c:pt>
                <c:pt idx="26">
                  <c:v>0.29</c:v>
                </c:pt>
                <c:pt idx="27">
                  <c:v>-0.65</c:v>
                </c:pt>
                <c:pt idx="28">
                  <c:v>0.5</c:v>
                </c:pt>
                <c:pt idx="29">
                  <c:v>-0.75</c:v>
                </c:pt>
                <c:pt idx="30">
                  <c:v>-0.45</c:v>
                </c:pt>
                <c:pt idx="31">
                  <c:v>2.39</c:v>
                </c:pt>
                <c:pt idx="32">
                  <c:v>0.51</c:v>
                </c:pt>
                <c:pt idx="33">
                  <c:v>-0.56</c:v>
                </c:pt>
                <c:pt idx="34">
                  <c:v>-0.61</c:v>
                </c:pt>
                <c:pt idx="35">
                  <c:v>0.06</c:v>
                </c:pt>
                <c:pt idx="36">
                  <c:v>-0.13</c:v>
                </c:pt>
                <c:pt idx="37">
                  <c:v>-0.25</c:v>
                </c:pt>
                <c:pt idx="38">
                  <c:v>-0.83</c:v>
                </c:pt>
                <c:pt idx="39">
                  <c:v>-0.95</c:v>
                </c:pt>
              </c:numCache>
            </c:numRef>
          </c:yVal>
          <c:smooth val="0"/>
        </c:ser>
        <c:axId val="92530395"/>
        <c:axId val="38239820"/>
      </c:scatterChart>
      <c:valAx>
        <c:axId val="9253039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38239820"/>
        <c:crossBetween val="midCat"/>
      </c:valAx>
      <c:valAx>
        <c:axId val="382398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92530395"/>
        <c:crossBetween val="midCat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4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9F083BD-390D-4BE0-B549-8D93BD0FE72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A8B497-7A8D-4255-91DA-91FA6A4CB5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93975C-2FB8-4757-9E44-5750922097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1B308A-EBC5-4738-A3F7-20FF88BB1C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3CDDF6-5E71-47AC-8C67-F7B736738E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65EC09-FD2F-4616-AA45-2D27F450A0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82A2C7-59A3-45CB-9E48-F607543A22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243628-E0E2-42FB-9B0A-06C1F4FA0C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931552-5BA4-4580-A8D8-5B13D8149B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764FFA-B82B-4909-B37C-D27DD1E7F3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BD481D-D684-4CDA-8C32-BA1C13FA7D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028CF3-8ABF-4C38-9DCF-CEB360A608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A47714-46EE-4294-8C98-772433A73D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F08C70-6DF0-4143-8444-FAD5AB5D68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85A566-0653-4802-B957-89669C542F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E59B9C-39CC-473E-A539-356FE81AFE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A70159-3082-4277-A2BC-2CC43DC8AB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9952D4-83CF-430B-AC99-2B6071C48B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998554-54BB-44DA-B72A-2CA8F3BDE7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0CA8F9-6011-4E7B-920B-E7BDB4D297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C3EBA5-B881-4C21-947D-DFD7CD38C5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FA2E23-7F71-44BB-9AD4-901A10BA91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0E77EE-A9E5-4D9D-B18A-4C0139EF75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1E2B05-EB21-4733-B173-205E62026D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391646-D482-4A2E-99F6-10EB6422AD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1A6C49-62C2-45F2-91C7-DC6558C084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722BE4-2269-488B-BF01-43DF990FD5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27F171-EBC9-4C87-9570-EBD3A3E226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5D492D-450E-42F1-9885-54C72ADF6D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3613FF-5F11-41CE-9D3F-3C922FC376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3DBA79-C7D7-476D-BA6B-F6EE43B944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00371D-5D0F-4FE7-9B28-4DB8578BF7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59F39B-6B49-4F4A-B3BB-E76C032A15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2FF369-5E26-488B-96F7-32A12AD2D4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183F06-4555-4088-B450-D5E1DE9165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DDDA3F-D8C0-4E19-89B0-66807A6FA6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F5D28C-FF0F-40CB-8577-3932920B3F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E73D64-9607-40B1-BA01-8B00486D8A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719804-A73E-4FFE-B4C4-C7A86EF95F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7C0EFB-4980-4706-B909-27E640B97A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1AF995-F4E6-4987-91DB-77FABE1EB1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3EFFAD-3E18-46A4-9128-632F7B33FC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0BF84F-9273-4370-88E0-1F05D0F246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D34DE0-03E4-4864-A336-EE06CEEE87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07B816-2366-401A-9550-8C191FA104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5ED444-FA74-476C-833D-2636423B08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AF3569-992F-49C6-8282-D72B3F2941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7D4BB2-4384-4223-A212-842E29FA48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BED74E-DBF5-400C-8DAF-940779E5C1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668C0E-DD8A-481C-8651-F5A93DF4A8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F7ECC9-8CCE-4C71-8C9A-37BB3873AA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55E499-9927-4304-867E-B3065B95C9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B0A720-D875-4A13-AB69-E4DFBD2C79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36C311-5507-4A01-AE8E-10842B3C5B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F4C78B-395B-4A23-B5EE-A45C9914D3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AAE94E-70DB-46C6-89A3-E4416A3BAE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C48428-1958-44D7-B6AF-73C2F320F8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D53BDA-9588-4061-8692-B33F82BCF3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55E086-2CF6-4119-88F6-8011C26C84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D883E8-467C-4A88-A574-BB34716BC7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4DB060-F771-4369-803E-DEF139584F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BB6611-30C1-4550-A595-04617DD838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875141-8325-4DE7-83FE-8738E97AF9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9D9608-88AA-466E-ACE1-BB2FEF3415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E47D62-1DEA-4AB3-B22F-354B012252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031637-5E16-4EB1-BBD0-555E4D4642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-2194560"/>
            <a:ext cx="5486040" cy="548604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943600" y="5212080"/>
            <a:ext cx="1462680" cy="1462680"/>
          </a:xfrm>
          <a:prstGeom prst="ellipse">
            <a:avLst/>
          </a:prstGeom>
          <a:solidFill>
            <a:srgbClr val="4C112D">
              <a:alpha val="45000"/>
            </a:srgbClr>
          </a:solidFill>
          <a:ln w="12700">
            <a:solidFill>
              <a:srgbClr val="4C112D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/home/claude/assets/logo_card.png"/>
          <p:cNvPicPr/>
          <p:nvPr/>
        </p:nvPicPr>
        <p:blipFill>
          <a:blip r:embed="rId1"/>
          <a:stretch/>
        </p:blipFill>
        <p:spPr>
          <a:xfrm>
            <a:off x="731520" y="502920"/>
            <a:ext cx="2559960" cy="83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Shape 4"/>
          <p:cNvSpPr/>
          <p:nvPr/>
        </p:nvSpPr>
        <p:spPr>
          <a:xfrm>
            <a:off x="713160" y="2331720"/>
            <a:ext cx="3931560" cy="292320"/>
          </a:xfrm>
          <a:prstGeom prst="roundRect">
            <a:avLst>
              <a:gd name="adj" fmla="val 156250"/>
            </a:avLst>
          </a:prstGeom>
          <a:solidFill>
            <a:srgbClr val="262758"/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713160" y="233172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SESSION 19  ·  AI &amp; ML PLAYGROUND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58440" y="278892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Descriptive Statistics II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13160" y="3703320"/>
            <a:ext cx="9600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Spread, Shape, Z-Scores &amp; Correlation — with Python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713160" y="4572000"/>
            <a:ext cx="2926080" cy="360"/>
          </a:xfrm>
          <a:prstGeom prst="line">
            <a:avLst/>
          </a:prstGeom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713160" y="46634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CodeByPaxto: The AI &amp; ML Playground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713160" y="50018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Hafiz Waseem Ahmed (Paxto)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We're Covering Today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548640" y="1371600"/>
            <a:ext cx="11109600" cy="6030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731520" y="1517760"/>
            <a:ext cx="310680" cy="310680"/>
          </a:xfrm>
          <a:prstGeom prst="roundRect">
            <a:avLst>
              <a:gd name="adj" fmla="val 29412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731520" y="1517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1234440" y="137160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Measures of spread — range, variance, standard deviation, and IQR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548640" y="2084760"/>
            <a:ext cx="11109600" cy="6030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8"/>
          <p:cNvSpPr/>
          <p:nvPr/>
        </p:nvSpPr>
        <p:spPr>
          <a:xfrm>
            <a:off x="731520" y="2231280"/>
            <a:ext cx="310680" cy="310680"/>
          </a:xfrm>
          <a:prstGeom prst="roundRect">
            <a:avLst>
              <a:gd name="adj" fmla="val 29412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731520" y="2231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1234440" y="208476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Standard deviation vs. standard error — two very different questions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1"/>
          <p:cNvSpPr/>
          <p:nvPr/>
        </p:nvSpPr>
        <p:spPr>
          <a:xfrm>
            <a:off x="548640" y="2797920"/>
            <a:ext cx="11109600" cy="6030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731520" y="2944440"/>
            <a:ext cx="310680" cy="310680"/>
          </a:xfrm>
          <a:prstGeom prst="roundRect">
            <a:avLst>
              <a:gd name="adj" fmla="val 29412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731520" y="2944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1234440" y="279792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Z-scores — measuring exactly how unusual a value really 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548640" y="3511440"/>
            <a:ext cx="11109600" cy="6030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731520" y="3657600"/>
            <a:ext cx="310680" cy="310680"/>
          </a:xfrm>
          <a:prstGeom prst="roundRect">
            <a:avLst>
              <a:gd name="adj" fmla="val 29412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731520" y="36576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1234440" y="351144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shape of a distribution — skewness, kurtosis, and outliers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9"/>
          <p:cNvSpPr/>
          <p:nvPr/>
        </p:nvSpPr>
        <p:spPr>
          <a:xfrm>
            <a:off x="548640" y="4224600"/>
            <a:ext cx="11109600" cy="6030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0"/>
          <p:cNvSpPr/>
          <p:nvPr/>
        </p:nvSpPr>
        <p:spPr>
          <a:xfrm>
            <a:off x="731520" y="4370760"/>
            <a:ext cx="310680" cy="310680"/>
          </a:xfrm>
          <a:prstGeom prst="roundRect">
            <a:avLst>
              <a:gd name="adj" fmla="val 29412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731520" y="4370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2"/>
          <p:cNvSpPr/>
          <p:nvPr/>
        </p:nvSpPr>
        <p:spPr>
          <a:xfrm>
            <a:off x="1234440" y="422460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Correlation — the actual coefficient behind last session’s heatmap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3"/>
          <p:cNvSpPr/>
          <p:nvPr/>
        </p:nvSpPr>
        <p:spPr>
          <a:xfrm>
            <a:off x="548640" y="4937760"/>
            <a:ext cx="11109600" cy="6030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4"/>
          <p:cNvSpPr/>
          <p:nvPr/>
        </p:nvSpPr>
        <p:spPr>
          <a:xfrm>
            <a:off x="731520" y="5083920"/>
            <a:ext cx="310680" cy="310680"/>
          </a:xfrm>
          <a:prstGeom prst="roundRect">
            <a:avLst>
              <a:gd name="adj" fmla="val 29412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5"/>
          <p:cNvSpPr/>
          <p:nvPr/>
        </p:nvSpPr>
        <p:spPr>
          <a:xfrm>
            <a:off x="731520" y="5083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1234440" y="493776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Today's tasks and a mini project — a full descriptive profile of real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640080" y="21945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640080" y="2697480"/>
            <a:ext cx="10332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Measures of Spread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640080" y="4023360"/>
            <a:ext cx="9692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Two datasets can share the exact same mean and still look nothing alike — spread is what central tendency alone can’t tell you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Spread, and Why Does It Matter?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σ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Same center, different shape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Spread describes how tightly or loosely your data clusters around its center — exactly what a measure of central tendency can never tell you on its own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[18, 20, 22] and [2, 20, 38] both have a mean of 20 — but describing them with just "the average is 20" hides a completely different reality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Spread is what tells you whether a value is genuinely typical, or actually unusual — a foundation this entire session builds 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measure on the next few slides answers the same underlying question in a different way: "how far, on average, do values stray from the center?"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Same Mean, Different Spread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Both lists average exactly 50 — the mean cannot tell them apart.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standard deviation can: A is tight, B is spread out.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np.std() is the one call; Part 1 builds it by hand first.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a = [48, 49, 50, 51, 52]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b = [10, 30, 50, 70, 90]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print(np.mean(a), np.mean(b))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50.0 50.0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print(round(np.std(a), 2))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1.41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print(round(np.std(b), 2))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28.28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Range — The Simplest Measure of Spread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"/>
          <p:cNvSpPr/>
          <p:nvPr/>
        </p:nvSpPr>
        <p:spPr>
          <a:xfrm>
            <a:off x="548640" y="1783080"/>
            <a:ext cx="502884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Range is simply the distance between the largest and smallest value in a dataset — the fastest possible way to measure spread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only looks at two values, and completely ignores everything in between — a single extreme outlier can inflate it dramatically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Useful as a quick first glance, but rarely the measure you’d actually report or rely on for a real analysis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4"/>
          <p:cNvSpPr/>
          <p:nvPr/>
        </p:nvSpPr>
        <p:spPr>
          <a:xfrm>
            <a:off x="5852160" y="1737360"/>
            <a:ext cx="580608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5"/>
          <p:cNvSpPr/>
          <p:nvPr/>
        </p:nvSpPr>
        <p:spPr>
          <a:xfrm>
            <a:off x="601668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6"/>
          <p:cNvSpPr/>
          <p:nvPr/>
        </p:nvSpPr>
        <p:spPr>
          <a:xfrm>
            <a:off x="621792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7"/>
          <p:cNvSpPr/>
          <p:nvPr/>
        </p:nvSpPr>
        <p:spPr>
          <a:xfrm>
            <a:off x="641916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8"/>
          <p:cNvSpPr/>
          <p:nvPr/>
        </p:nvSpPr>
        <p:spPr>
          <a:xfrm>
            <a:off x="6035040" y="2148840"/>
            <a:ext cx="54860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range = max(x) − min(x)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Example: [12, 15, 18, 20, 55]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range = 55 - 12 = 43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One extreme value (55) dominates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the entire result — range tells you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nothing about the other four values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Range in Code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max() and min() are built into Python — no library needed.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np.ptp (“peak to peak”) is numpy's one-call version.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Watch one outlier swallow the result.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90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data = [12, 15, 18, 20, 55]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print(max(data) - min(data))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43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print(np.ptp(data))   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43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clean = [12, 15, 18, 20]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print(max(clean) - min(clean))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Variance — The Average Squared Distance From the Mean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"/>
          <p:cNvSpPr/>
          <p:nvPr/>
        </p:nvSpPr>
        <p:spPr>
          <a:xfrm>
            <a:off x="548640" y="1783080"/>
            <a:ext cx="502884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Variance measures spread by finding how far every single value is from the mean, squaring each distance, then averaging those squared distances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Squaring serves two purposes: it makes every distance positive (so they don’t cancel out), and it punishes bigger deviations disproportionately more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cost is that variance’s units are squared too — "dollars squared" or "years squared" don’t mean anything intuitive on their own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4"/>
          <p:cNvSpPr/>
          <p:nvPr/>
        </p:nvSpPr>
        <p:spPr>
          <a:xfrm>
            <a:off x="5852160" y="1737360"/>
            <a:ext cx="580608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5"/>
          <p:cNvSpPr/>
          <p:nvPr/>
        </p:nvSpPr>
        <p:spPr>
          <a:xfrm>
            <a:off x="601668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6"/>
          <p:cNvSpPr/>
          <p:nvPr/>
        </p:nvSpPr>
        <p:spPr>
          <a:xfrm>
            <a:off x="621792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7"/>
          <p:cNvSpPr/>
          <p:nvPr/>
        </p:nvSpPr>
        <p:spPr>
          <a:xfrm>
            <a:off x="641916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8"/>
          <p:cNvSpPr/>
          <p:nvPr/>
        </p:nvSpPr>
        <p:spPr>
          <a:xfrm>
            <a:off x="6035040" y="2148840"/>
            <a:ext cx="54860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variance = (1/n) · Σ (xᵢ − mean)²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Example: [2, 4, 6], mean =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deviations: -2, 0,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  -&gt; squared: 4, 0,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variance = (4 + 0 + 4) / 3 = 2.67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Variance from Scratch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Follow the slide exactly: deviations, then squares, then the average.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Pure Python — every step is visible.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statistics.pvariance gives the same answer as a check.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10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data = [2, 4, 6]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mean = sum(data) / len(data)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deviations = [x - mean for x in data]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squared = [d ** 2 for d in deviations]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variance = sum(squared) / len(data)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print(deviations)     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[-2.0, 0.0, 2.0]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print(squared)        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[4.0, 0.0, 4.0]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print(round(variance, 2))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2.67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statistics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print(round(statistics.pvariance(data), 2))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2.67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Standard Deviation — Undoing the Squaring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548640" y="1783080"/>
            <a:ext cx="502884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Standard deviation is simply the square root of variance — it exists specifically to undo variance’s squared units, bringing spread back into the original, meaningful scale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"The standard deviation of exam scores is 8 points" is something you can actually reason about; "the variance is 64 points squared" isn’t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the single most commonly reported measure of spread in real statistics — you’ll see it constantly from this point forward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4"/>
          <p:cNvSpPr/>
          <p:nvPr/>
        </p:nvSpPr>
        <p:spPr>
          <a:xfrm>
            <a:off x="5852160" y="1737360"/>
            <a:ext cx="580608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5"/>
          <p:cNvSpPr/>
          <p:nvPr/>
        </p:nvSpPr>
        <p:spPr>
          <a:xfrm>
            <a:off x="601668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6"/>
          <p:cNvSpPr/>
          <p:nvPr/>
        </p:nvSpPr>
        <p:spPr>
          <a:xfrm>
            <a:off x="621792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7"/>
          <p:cNvSpPr/>
          <p:nvPr/>
        </p:nvSpPr>
        <p:spPr>
          <a:xfrm>
            <a:off x="641916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8"/>
          <p:cNvSpPr/>
          <p:nvPr/>
        </p:nvSpPr>
        <p:spPr>
          <a:xfrm>
            <a:off x="6035040" y="2148840"/>
            <a:ext cx="54860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standard deviation = √variance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Continuing the example: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variance = 2.67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std_dev = √2.67 ≈ 1.63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Back in the original units —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values typically sit about 1.63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away from the mean of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Standard Deviation in Code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Standard deviation is just math.sqrt of the variance.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numpy, statistics and pandas all offer it directly.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Careful: they do not all divide the same way — next slide.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math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statistics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data = [2, 4, 6]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variance = statistics.pvariance(data)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print(round(math.sqrt(variance), 2))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1.63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print(round(statistics.pstdev(data), 2))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1.63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print(round(np.std(data), 2))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1.63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Population vs. Sample: The ddof Gotcha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slides divide by n — that is the population formula.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a sample, statistics divides by n − 1 (Bessel's correction) to avoid underestimating spread.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numpy defaults to n, pandas defaults to n − 1. Always check which one you got.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pandas as pd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statistics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data = [2, 4, 6]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print(round(np.std(data), 2))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1.63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print(round(np.std(data, ddof=1), 2))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2.0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print(round(pd.Series(data).std(), 2))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2.0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print(round(statistics.stdev(data), 2))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2.0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IQ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ca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—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dd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le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50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%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Q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Spread, without the outliers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From the box plot in Session 18: IQR is Q3 minus Q1 — the width of exactly the middle 50% of your sorted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Unlike range, IQR completely ignores the most extreme values on both ends — which makes it far more resistant to outliers than range, and even more resistant than standard deviation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exactly why IQR is the standard choice for detecting outliers in the first place — you’ll use it again shortly in this session’s look at outliers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Rule of thumb: skewed data or data with real outliers → report IQR alongside the median. Roughly symmetric, clean data → standard deviation alongside the mean is perfectly fine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IQR in Code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np.percentile finds Q1 and Q3; the IQR is the difference.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scipy.stats.iqr does it in one call.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outlier barely moves the IQR but wrecks the standard deviation.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data = [10, 12, 14, 15, 16, 18, 20, 95]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q1, q3 = np.percentile(data, [25, 75])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print(q3 - q1)        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5.0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print(stats.iqr(data))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5.0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print(round(np.std(data), 1))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26.6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print(round(np.std(data[:-1]), 1))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3.2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Measures of Spread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Calculate the range, variance, and standard deviation of [5, 7, 7, 9, 12] by hand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1"/>
          <p:cNvSpPr/>
          <p:nvPr/>
        </p:nvSpPr>
        <p:spPr>
          <a:xfrm>
            <a:off x="548640" y="289872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2"/>
          <p:cNvSpPr/>
          <p:nvPr/>
        </p:nvSpPr>
        <p:spPr>
          <a:xfrm>
            <a:off x="731520" y="313632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3"/>
          <p:cNvSpPr/>
          <p:nvPr/>
        </p:nvSpPr>
        <p:spPr>
          <a:xfrm>
            <a:off x="731520" y="3136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4"/>
          <p:cNvSpPr/>
          <p:nvPr/>
        </p:nvSpPr>
        <p:spPr>
          <a:xfrm>
            <a:off x="1234440" y="28987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why variance is rarely reported directly, using what you know about its units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5"/>
          <p:cNvSpPr/>
          <p:nvPr/>
        </p:nvSpPr>
        <p:spPr>
          <a:xfrm>
            <a:off x="548640" y="38314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6"/>
          <p:cNvSpPr/>
          <p:nvPr/>
        </p:nvSpPr>
        <p:spPr>
          <a:xfrm>
            <a:off x="731520" y="406908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7"/>
          <p:cNvSpPr/>
          <p:nvPr/>
        </p:nvSpPr>
        <p:spPr>
          <a:xfrm>
            <a:off x="731520" y="4069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8"/>
          <p:cNvSpPr/>
          <p:nvPr/>
        </p:nvSpPr>
        <p:spPr>
          <a:xfrm>
            <a:off x="1234440" y="38314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a dataset with one extreme outlier, explain which measure of spread would be least affected, and why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9"/>
          <p:cNvSpPr/>
          <p:nvPr/>
        </p:nvSpPr>
        <p:spPr>
          <a:xfrm>
            <a:off x="548640" y="47638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0"/>
          <p:cNvSpPr/>
          <p:nvPr/>
        </p:nvSpPr>
        <p:spPr>
          <a:xfrm>
            <a:off x="731520" y="500184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1"/>
          <p:cNvSpPr/>
          <p:nvPr/>
        </p:nvSpPr>
        <p:spPr>
          <a:xfrm>
            <a:off x="731520" y="5001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2"/>
          <p:cNvSpPr/>
          <p:nvPr/>
        </p:nvSpPr>
        <p:spPr>
          <a:xfrm>
            <a:off x="1234440" y="47638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Two classes have the same average test score, but Class A has a standard deviation of 3 and Class B has 15. Explain what this tells you about each class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"/>
          <p:cNvSpPr/>
          <p:nvPr/>
        </p:nvSpPr>
        <p:spPr>
          <a:xfrm>
            <a:off x="640080" y="21945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"/>
          <p:cNvSpPr/>
          <p:nvPr/>
        </p:nvSpPr>
        <p:spPr>
          <a:xfrm>
            <a:off x="640080" y="2697480"/>
            <a:ext cx="10332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Standard Deviation vs. Standard Error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4"/>
          <p:cNvSpPr/>
          <p:nvPr/>
        </p:nvSpPr>
        <p:spPr>
          <a:xfrm>
            <a:off x="640080" y="4023360"/>
            <a:ext cx="9692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Two measures that sound alike, get confused constantly, and answer genuinely different questions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Standard Error?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±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Uncertainty in the estimate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Standard error measures how much a sample statistic (like a sample mean) would likely bounce around if you repeated the sampling process over and over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answers a question standard deviation was never built to answer: "if I took a different sample from the same population, how different might my mean turn out?"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Standard error shrinks as your sample size grows — more data gives you a more stable, trustworthy estimate of the true population mean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concept is the direct seed of confidence intervals, which get fully covered in Session 21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Standard Deviation vs. Standard Error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"/>
          <p:cNvSpPr/>
          <p:nvPr/>
        </p:nvSpPr>
        <p:spPr>
          <a:xfrm>
            <a:off x="548640" y="1737360"/>
            <a:ext cx="5486040" cy="40230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4"/>
          <p:cNvSpPr/>
          <p:nvPr/>
        </p:nvSpPr>
        <p:spPr>
          <a:xfrm>
            <a:off x="77724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5"/>
          <p:cNvSpPr/>
          <p:nvPr/>
        </p:nvSpPr>
        <p:spPr>
          <a:xfrm>
            <a:off x="77724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Standard Deviation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6"/>
          <p:cNvSpPr/>
          <p:nvPr/>
        </p:nvSpPr>
        <p:spPr>
          <a:xfrm>
            <a:off x="82296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Describes spread WITHIN your actual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"How far, typically, does one data point sit from the mean?"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Does NOT shrink just because you collect more data — it reflects real variability in the population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8"/>
          <p:cNvSpPr/>
          <p:nvPr/>
        </p:nvSpPr>
        <p:spPr>
          <a:xfrm>
            <a:off x="640080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9"/>
          <p:cNvSpPr/>
          <p:nvPr/>
        </p:nvSpPr>
        <p:spPr>
          <a:xfrm>
            <a:off x="640080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Standard Error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0"/>
          <p:cNvSpPr/>
          <p:nvPr/>
        </p:nvSpPr>
        <p:spPr>
          <a:xfrm>
            <a:off x="644652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Describes uncertainty in an ESTIMATE (like a sample mean)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"How much would my sample mean likely shift if I resampled?"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DOES shrink as sample size grows — more data means a more precise estimate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7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Calculating Standard Error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3"/>
          <p:cNvSpPr/>
          <p:nvPr/>
        </p:nvSpPr>
        <p:spPr>
          <a:xfrm>
            <a:off x="548640" y="1783080"/>
            <a:ext cx="502884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Standard error is calculated directly from your standard deviation and your sample size — no new data collection needed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Dividing by the square root of n means standard error shrinks slowly — quadrupling your sample size only halves your standard error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relationship is exactly why "collect more data" has real, predictable, diminishing returns on precision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4"/>
          <p:cNvSpPr/>
          <p:nvPr/>
        </p:nvSpPr>
        <p:spPr>
          <a:xfrm>
            <a:off x="5852160" y="1737360"/>
            <a:ext cx="580608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5"/>
          <p:cNvSpPr/>
          <p:nvPr/>
        </p:nvSpPr>
        <p:spPr>
          <a:xfrm>
            <a:off x="601668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6"/>
          <p:cNvSpPr/>
          <p:nvPr/>
        </p:nvSpPr>
        <p:spPr>
          <a:xfrm>
            <a:off x="621792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7"/>
          <p:cNvSpPr/>
          <p:nvPr/>
        </p:nvSpPr>
        <p:spPr>
          <a:xfrm>
            <a:off x="641916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8"/>
          <p:cNvSpPr/>
          <p:nvPr/>
        </p:nvSpPr>
        <p:spPr>
          <a:xfrm>
            <a:off x="6035040" y="2148840"/>
            <a:ext cx="54860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standard error = standard deviation / √n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Example: std_dev = 10, n = 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SE = 10 / √25 = 10 / 5 =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Quadruple the sample to n = 100: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SE = 10 / √100 = 10 / 10 = 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only halved, not quartered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7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Standard Error in Code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SE = standard deviation / √n — straight from the slide.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scipy.stats.sem does it for you, using the sample (n − 1) SD.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Quadruple n and the SE only halves.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30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math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std_dev = 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print(std_dev / math.sqrt(25))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print(std_dev / math.sqrt(100))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1.0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sample = [52, 48, 55, 50, 47, 53]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print(round(stats.sem(sample), 2))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1.25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print(round(np.std(sample, ddof=1) / math.sqrt(6), 2))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→ 1.25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SD Stays, SE Shrinks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Same population, growing samples.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The sample SD hovers near 10 forever — it describes real variability.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The SE keeps falling — our estimate of the mean gets more precise.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40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rng = np.random.default_rng(7)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population = rng.normal(100, 10, 100_000)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def sd_se(n):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s = rng.choice(population, 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return (round(float(s.std(ddof=1)), 1),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        round(float(stats.sem(s)), 2))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print(sd_se(25)) 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(8.8, 1.77)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print(sd_se(100))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(10.2, 1.02)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print(sd_se(400))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(9.2, 0.46)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SD vs. SE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Explain, in your own words, why standard error shrinks with a larger sample but standard deviation does not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1"/>
          <p:cNvSpPr/>
          <p:nvPr/>
        </p:nvSpPr>
        <p:spPr>
          <a:xfrm>
            <a:off x="548640" y="289872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2"/>
          <p:cNvSpPr/>
          <p:nvPr/>
        </p:nvSpPr>
        <p:spPr>
          <a:xfrm>
            <a:off x="731520" y="313632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3"/>
          <p:cNvSpPr/>
          <p:nvPr/>
        </p:nvSpPr>
        <p:spPr>
          <a:xfrm>
            <a:off x="731520" y="3136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4"/>
          <p:cNvSpPr/>
          <p:nvPr/>
        </p:nvSpPr>
        <p:spPr>
          <a:xfrm>
            <a:off x="1234440" y="28987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Calculate the standard error for a sample of 64 values with a standard deviation of 16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5"/>
          <p:cNvSpPr/>
          <p:nvPr/>
        </p:nvSpPr>
        <p:spPr>
          <a:xfrm>
            <a:off x="548640" y="38314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6"/>
          <p:cNvSpPr/>
          <p:nvPr/>
        </p:nvSpPr>
        <p:spPr>
          <a:xfrm>
            <a:off x="731520" y="406908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7"/>
          <p:cNvSpPr/>
          <p:nvPr/>
        </p:nvSpPr>
        <p:spPr>
          <a:xfrm>
            <a:off x="731520" y="4069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8"/>
          <p:cNvSpPr/>
          <p:nvPr/>
        </p:nvSpPr>
        <p:spPr>
          <a:xfrm>
            <a:off x="1234440" y="38314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news report says "average height: 170cm" without mentioning sample size. Explain why you can’t evaluate how precise that estimate is without more information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9"/>
          <p:cNvSpPr/>
          <p:nvPr/>
        </p:nvSpPr>
        <p:spPr>
          <a:xfrm>
            <a:off x="548640" y="47638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0"/>
          <p:cNvSpPr/>
          <p:nvPr/>
        </p:nvSpPr>
        <p:spPr>
          <a:xfrm>
            <a:off x="731520" y="500184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1"/>
          <p:cNvSpPr/>
          <p:nvPr/>
        </p:nvSpPr>
        <p:spPr>
          <a:xfrm>
            <a:off x="731520" y="5001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2"/>
          <p:cNvSpPr/>
          <p:nvPr/>
        </p:nvSpPr>
        <p:spPr>
          <a:xfrm>
            <a:off x="1234440" y="47638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why a researcher reporting results from an entire population (not a sample) would never need to calculate a standard error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"/>
          <p:cNvSpPr/>
          <p:nvPr/>
        </p:nvSpPr>
        <p:spPr>
          <a:xfrm>
            <a:off x="640080" y="21945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3"/>
          <p:cNvSpPr/>
          <p:nvPr/>
        </p:nvSpPr>
        <p:spPr>
          <a:xfrm>
            <a:off x="640080" y="2697480"/>
            <a:ext cx="10332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Z-Score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4"/>
          <p:cNvSpPr/>
          <p:nvPr/>
        </p:nvSpPr>
        <p:spPr>
          <a:xfrm>
            <a:off x="640080" y="4023360"/>
            <a:ext cx="9692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One number that answers "how unusual is this, really?" — on any scale, for any variable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5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23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7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a Z-Score?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Distance, measured in std devs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z-score tells you exactly how many standard deviations a value sits above or below the mean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z-score of 0 means "exactly average." Positive means above average, negative means below — and the size tells you how far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process is called standardizing — it converts any value, from any scale or unit, into this one universal "how unusual is this" number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z-score beyond ±2 is generally considered noticeably unusual; beyond ±3 is genuinely rare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6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Calculating a Z-Score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"/>
          <p:cNvSpPr/>
          <p:nvPr/>
        </p:nvSpPr>
        <p:spPr>
          <a:xfrm>
            <a:off x="548640" y="1783080"/>
            <a:ext cx="502884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Subtract the mean from your value, then divide by the standard deviation — that’s the entire calculation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subtraction centers the value around 0; the division rescales it in units of "how many standard deviations"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negative result simply means the value sits below the mean — not an error, just direction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4"/>
          <p:cNvSpPr/>
          <p:nvPr/>
        </p:nvSpPr>
        <p:spPr>
          <a:xfrm>
            <a:off x="5852160" y="1737360"/>
            <a:ext cx="580608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5"/>
          <p:cNvSpPr/>
          <p:nvPr/>
        </p:nvSpPr>
        <p:spPr>
          <a:xfrm>
            <a:off x="601668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6"/>
          <p:cNvSpPr/>
          <p:nvPr/>
        </p:nvSpPr>
        <p:spPr>
          <a:xfrm>
            <a:off x="621792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7"/>
          <p:cNvSpPr/>
          <p:nvPr/>
        </p:nvSpPr>
        <p:spPr>
          <a:xfrm>
            <a:off x="641916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8"/>
          <p:cNvSpPr/>
          <p:nvPr/>
        </p:nvSpPr>
        <p:spPr>
          <a:xfrm>
            <a:off x="6035040" y="2148840"/>
            <a:ext cx="54860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z = (x − mean) / standard deviation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Example: exam mean = 70, std_dev = 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Your score: 86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z = (86 - 70) / 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= 16 / 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= 2.0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2 standard deviations above average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6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7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Z-Scores in Code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One line by hand: (x − mean) / std_dev.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scipy.stats.zscore converts a whole list at once.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mean's own z-score is always 0.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from scipy import stats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z = (86 - 70) /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print(z)         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2.0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scores = [60, 65, 70, 75, 80]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print(stats.zscore(scores).round(2))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→ [-1.41 -0.71  0.    0.71  1.41]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print(round(np.mean(stats.zscore(scores)), 2))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0.0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6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 Z-Score, Visualized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3"/>
          <p:cNvSpPr/>
          <p:nvPr/>
        </p:nvSpPr>
        <p:spPr>
          <a:xfrm>
            <a:off x="548640" y="1417320"/>
            <a:ext cx="11109600" cy="461736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4"/>
          <p:cNvSpPr/>
          <p:nvPr/>
        </p:nvSpPr>
        <p:spPr>
          <a:xfrm>
            <a:off x="1097280" y="1737360"/>
            <a:ext cx="9966600" cy="2742840"/>
          </a:xfrm>
          <a:custGeom>
            <a:avLst/>
            <a:gdLst>
              <a:gd name="textAreaLeft" fmla="*/ 0 w 9966600"/>
              <a:gd name="textAreaRight" fmla="*/ 9966960 w 9966600"/>
              <a:gd name="textAreaTop" fmla="*/ 0 h 2742840"/>
              <a:gd name="textAreaBottom" fmla="*/ 2743200 h 2742840"/>
            </a:gdLst>
            <a:ahLst/>
            <a:cxnLst/>
            <a:rect l="textAreaLeft" t="textAreaTop" r="textAreaRight" b="textAreaBottom"/>
            <a:pathLst>
              <a:path w="9966960" h="2743200">
                <a:moveTo>
                  <a:pt x="0" y="2743200"/>
                </a:moveTo>
                <a:lnTo>
                  <a:pt x="0" y="2738992"/>
                </a:lnTo>
                <a:lnTo>
                  <a:pt x="166116" y="2736765"/>
                </a:lnTo>
                <a:lnTo>
                  <a:pt x="332232" y="2733500"/>
                </a:lnTo>
                <a:lnTo>
                  <a:pt x="498348" y="2728788"/>
                </a:lnTo>
                <a:lnTo>
                  <a:pt x="664464" y="2722091"/>
                </a:lnTo>
                <a:lnTo>
                  <a:pt x="830580" y="2712726"/>
                </a:lnTo>
                <a:lnTo>
                  <a:pt x="996696" y="2699834"/>
                </a:lnTo>
                <a:lnTo>
                  <a:pt x="1162812" y="2682370"/>
                </a:lnTo>
                <a:lnTo>
                  <a:pt x="1328928" y="2659094"/>
                </a:lnTo>
                <a:lnTo>
                  <a:pt x="1495044" y="2628573"/>
                </a:lnTo>
                <a:lnTo>
                  <a:pt x="1661160" y="2589211"/>
                </a:lnTo>
                <a:lnTo>
                  <a:pt x="1827276" y="2539290"/>
                </a:lnTo>
                <a:lnTo>
                  <a:pt x="1993392" y="2477045"/>
                </a:lnTo>
                <a:lnTo>
                  <a:pt x="2159508" y="2400765"/>
                </a:lnTo>
                <a:lnTo>
                  <a:pt x="2325624" y="2308924"/>
                </a:lnTo>
                <a:lnTo>
                  <a:pt x="2491740" y="2200324"/>
                </a:lnTo>
                <a:lnTo>
                  <a:pt x="2657856" y="2074269"/>
                </a:lnTo>
                <a:lnTo>
                  <a:pt x="2823972" y="1930729"/>
                </a:lnTo>
                <a:lnTo>
                  <a:pt x="2990088" y="1770495"/>
                </a:lnTo>
                <a:lnTo>
                  <a:pt x="3156204" y="1595310"/>
                </a:lnTo>
                <a:lnTo>
                  <a:pt x="3322320" y="1407941"/>
                </a:lnTo>
                <a:lnTo>
                  <a:pt x="3488436" y="1212194"/>
                </a:lnTo>
                <a:lnTo>
                  <a:pt x="3654552" y="1012848"/>
                </a:lnTo>
                <a:lnTo>
                  <a:pt x="3820668" y="815505"/>
                </a:lnTo>
                <a:lnTo>
                  <a:pt x="3986784" y="626358"/>
                </a:lnTo>
                <a:lnTo>
                  <a:pt x="4152900" y="451887"/>
                </a:lnTo>
                <a:lnTo>
                  <a:pt x="4319016" y="298493"/>
                </a:lnTo>
                <a:lnTo>
                  <a:pt x="4485132" y="172122"/>
                </a:lnTo>
                <a:lnTo>
                  <a:pt x="4651248" y="77877"/>
                </a:lnTo>
                <a:lnTo>
                  <a:pt x="4817364" y="19680"/>
                </a:lnTo>
                <a:lnTo>
                  <a:pt x="4983480" y="0"/>
                </a:lnTo>
                <a:lnTo>
                  <a:pt x="5149596" y="19680"/>
                </a:lnTo>
                <a:lnTo>
                  <a:pt x="5315712" y="77877"/>
                </a:lnTo>
                <a:lnTo>
                  <a:pt x="5481828" y="172122"/>
                </a:lnTo>
                <a:lnTo>
                  <a:pt x="5647944" y="298493"/>
                </a:lnTo>
                <a:lnTo>
                  <a:pt x="5814060" y="451887"/>
                </a:lnTo>
                <a:lnTo>
                  <a:pt x="5980176" y="626358"/>
                </a:lnTo>
                <a:lnTo>
                  <a:pt x="6146292" y="815505"/>
                </a:lnTo>
                <a:lnTo>
                  <a:pt x="6312408" y="1012848"/>
                </a:lnTo>
                <a:lnTo>
                  <a:pt x="6478524" y="1212194"/>
                </a:lnTo>
                <a:lnTo>
                  <a:pt x="6644640" y="1407941"/>
                </a:lnTo>
                <a:lnTo>
                  <a:pt x="6810756" y="1595310"/>
                </a:lnTo>
                <a:lnTo>
                  <a:pt x="6976872" y="1770495"/>
                </a:lnTo>
                <a:lnTo>
                  <a:pt x="7142988" y="1930729"/>
                </a:lnTo>
                <a:lnTo>
                  <a:pt x="7309104" y="2074269"/>
                </a:lnTo>
                <a:lnTo>
                  <a:pt x="7475220" y="2200324"/>
                </a:lnTo>
                <a:lnTo>
                  <a:pt x="7641336" y="2308924"/>
                </a:lnTo>
                <a:lnTo>
                  <a:pt x="7807452" y="2400765"/>
                </a:lnTo>
                <a:lnTo>
                  <a:pt x="7973568" y="2477045"/>
                </a:lnTo>
                <a:lnTo>
                  <a:pt x="8139684" y="2539290"/>
                </a:lnTo>
                <a:lnTo>
                  <a:pt x="8305800" y="2589211"/>
                </a:lnTo>
                <a:lnTo>
                  <a:pt x="8471916" y="2628573"/>
                </a:lnTo>
                <a:lnTo>
                  <a:pt x="8638032" y="2659094"/>
                </a:lnTo>
                <a:lnTo>
                  <a:pt x="8804148" y="2682370"/>
                </a:lnTo>
                <a:lnTo>
                  <a:pt x="8970264" y="2699834"/>
                </a:lnTo>
                <a:lnTo>
                  <a:pt x="9136380" y="2712726"/>
                </a:lnTo>
                <a:lnTo>
                  <a:pt x="9302496" y="2722091"/>
                </a:lnTo>
                <a:lnTo>
                  <a:pt x="9468612" y="2728788"/>
                </a:lnTo>
                <a:lnTo>
                  <a:pt x="9634728" y="2733500"/>
                </a:lnTo>
                <a:lnTo>
                  <a:pt x="9800844" y="2736765"/>
                </a:lnTo>
                <a:lnTo>
                  <a:pt x="9966960" y="2738992"/>
                </a:lnTo>
                <a:lnTo>
                  <a:pt x="9966960" y="2743200"/>
                </a:lnTo>
                <a:close/>
              </a:path>
            </a:pathLst>
          </a:custGeom>
          <a:solidFill>
            <a:srgbClr val="E6E5FB"/>
          </a:solidFill>
          <a:ln w="12700">
            <a:solidFill>
              <a:srgbClr val="E6E5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5"/>
          <p:cNvSpPr/>
          <p:nvPr/>
        </p:nvSpPr>
        <p:spPr>
          <a:xfrm>
            <a:off x="1097280" y="1737360"/>
            <a:ext cx="9966600" cy="2742840"/>
          </a:xfrm>
          <a:custGeom>
            <a:avLst/>
            <a:gdLst>
              <a:gd name="textAreaLeft" fmla="*/ 0 w 9966600"/>
              <a:gd name="textAreaRight" fmla="*/ 9966960 w 9966600"/>
              <a:gd name="textAreaTop" fmla="*/ 0 h 2742840"/>
              <a:gd name="textAreaBottom" fmla="*/ 2743200 h 2742840"/>
            </a:gdLst>
            <a:ahLst/>
            <a:cxnLst/>
            <a:rect l="textAreaLeft" t="textAreaTop" r="textAreaRight" b="textAreaBottom"/>
            <a:pathLst>
              <a:path w="9966960" h="2743200">
                <a:moveTo>
                  <a:pt x="4983480" y="2743200"/>
                </a:moveTo>
                <a:lnTo>
                  <a:pt x="4983480" y="0"/>
                </a:lnTo>
                <a:lnTo>
                  <a:pt x="5018088" y="857"/>
                </a:lnTo>
                <a:lnTo>
                  <a:pt x="5052695" y="3427"/>
                </a:lnTo>
                <a:lnTo>
                  <a:pt x="5087303" y="7704"/>
                </a:lnTo>
                <a:lnTo>
                  <a:pt x="5121910" y="13682"/>
                </a:lnTo>
                <a:lnTo>
                  <a:pt x="5156518" y="21348"/>
                </a:lnTo>
                <a:lnTo>
                  <a:pt x="5191125" y="30688"/>
                </a:lnTo>
                <a:lnTo>
                  <a:pt x="5225733" y="41685"/>
                </a:lnTo>
                <a:lnTo>
                  <a:pt x="5260340" y="54319"/>
                </a:lnTo>
                <a:lnTo>
                  <a:pt x="5294948" y="68566"/>
                </a:lnTo>
                <a:lnTo>
                  <a:pt x="5329555" y="84399"/>
                </a:lnTo>
                <a:lnTo>
                  <a:pt x="5364163" y="101791"/>
                </a:lnTo>
                <a:lnTo>
                  <a:pt x="5398770" y="120708"/>
                </a:lnTo>
                <a:lnTo>
                  <a:pt x="5433378" y="141116"/>
                </a:lnTo>
                <a:lnTo>
                  <a:pt x="5467985" y="162979"/>
                </a:lnTo>
                <a:lnTo>
                  <a:pt x="5502593" y="186256"/>
                </a:lnTo>
                <a:lnTo>
                  <a:pt x="5537200" y="210907"/>
                </a:lnTo>
                <a:lnTo>
                  <a:pt x="5571808" y="236887"/>
                </a:lnTo>
                <a:lnTo>
                  <a:pt x="5606415" y="264151"/>
                </a:lnTo>
                <a:lnTo>
                  <a:pt x="5641023" y="292650"/>
                </a:lnTo>
                <a:lnTo>
                  <a:pt x="5675630" y="322334"/>
                </a:lnTo>
                <a:lnTo>
                  <a:pt x="5710237" y="353154"/>
                </a:lnTo>
                <a:lnTo>
                  <a:pt x="5744845" y="385055"/>
                </a:lnTo>
                <a:lnTo>
                  <a:pt x="5779452" y="417985"/>
                </a:lnTo>
                <a:lnTo>
                  <a:pt x="5814060" y="451887"/>
                </a:lnTo>
                <a:lnTo>
                  <a:pt x="5848667" y="486705"/>
                </a:lnTo>
                <a:lnTo>
                  <a:pt x="5883275" y="522383"/>
                </a:lnTo>
                <a:lnTo>
                  <a:pt x="5917883" y="558862"/>
                </a:lnTo>
                <a:lnTo>
                  <a:pt x="5952490" y="596085"/>
                </a:lnTo>
                <a:lnTo>
                  <a:pt x="5987098" y="633992"/>
                </a:lnTo>
                <a:lnTo>
                  <a:pt x="6021705" y="672524"/>
                </a:lnTo>
                <a:lnTo>
                  <a:pt x="6056313" y="711622"/>
                </a:lnTo>
                <a:lnTo>
                  <a:pt x="6090920" y="751228"/>
                </a:lnTo>
                <a:lnTo>
                  <a:pt x="6125527" y="791282"/>
                </a:lnTo>
                <a:lnTo>
                  <a:pt x="6160135" y="831725"/>
                </a:lnTo>
                <a:lnTo>
                  <a:pt x="6194742" y="872500"/>
                </a:lnTo>
                <a:lnTo>
                  <a:pt x="6229350" y="913549"/>
                </a:lnTo>
                <a:lnTo>
                  <a:pt x="6263958" y="954816"/>
                </a:lnTo>
                <a:lnTo>
                  <a:pt x="6298565" y="996244"/>
                </a:lnTo>
                <a:lnTo>
                  <a:pt x="6333173" y="1037778"/>
                </a:lnTo>
                <a:lnTo>
                  <a:pt x="6367780" y="1079365"/>
                </a:lnTo>
                <a:lnTo>
                  <a:pt x="6402388" y="1120952"/>
                </a:lnTo>
                <a:lnTo>
                  <a:pt x="6436995" y="1162488"/>
                </a:lnTo>
                <a:lnTo>
                  <a:pt x="6471602" y="1203923"/>
                </a:lnTo>
                <a:lnTo>
                  <a:pt x="6506210" y="1245209"/>
                </a:lnTo>
                <a:lnTo>
                  <a:pt x="6540817" y="1286297"/>
                </a:lnTo>
                <a:lnTo>
                  <a:pt x="6575425" y="1327145"/>
                </a:lnTo>
                <a:lnTo>
                  <a:pt x="6610033" y="1367706"/>
                </a:lnTo>
                <a:lnTo>
                  <a:pt x="6644640" y="1407941"/>
                </a:lnTo>
                <a:lnTo>
                  <a:pt x="6679248" y="1447809"/>
                </a:lnTo>
                <a:lnTo>
                  <a:pt x="6713855" y="1487272"/>
                </a:lnTo>
                <a:lnTo>
                  <a:pt x="6748463" y="1526293"/>
                </a:lnTo>
                <a:lnTo>
                  <a:pt x="6783070" y="1564838"/>
                </a:lnTo>
                <a:lnTo>
                  <a:pt x="6817678" y="1602876"/>
                </a:lnTo>
                <a:lnTo>
                  <a:pt x="6852285" y="1640375"/>
                </a:lnTo>
                <a:lnTo>
                  <a:pt x="6886893" y="1677307"/>
                </a:lnTo>
                <a:lnTo>
                  <a:pt x="6921500" y="1713647"/>
                </a:lnTo>
                <a:lnTo>
                  <a:pt x="6956108" y="1749368"/>
                </a:lnTo>
                <a:lnTo>
                  <a:pt x="6990715" y="1784450"/>
                </a:lnTo>
                <a:lnTo>
                  <a:pt x="7025323" y="1818871"/>
                </a:lnTo>
                <a:lnTo>
                  <a:pt x="7059930" y="1852613"/>
                </a:lnTo>
                <a:lnTo>
                  <a:pt x="7059930" y="2743200"/>
                </a:lnTo>
                <a:close/>
              </a:path>
            </a:pathLst>
          </a:custGeom>
          <a:solidFill>
            <a:srgbClr val="8C8AE0">
              <a:alpha val="90000"/>
            </a:srgbClr>
          </a:solidFill>
          <a:ln w="12700">
            <a:solidFill>
              <a:srgbClr val="8C8AE0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6"/>
          <p:cNvSpPr/>
          <p:nvPr/>
        </p:nvSpPr>
        <p:spPr>
          <a:xfrm>
            <a:off x="1097280" y="4480560"/>
            <a:ext cx="9966960" cy="360"/>
          </a:xfrm>
          <a:prstGeom prst="line">
            <a:avLst/>
          </a:prstGeom>
          <a:ln w="15875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7"/>
          <p:cNvSpPr/>
          <p:nvPr/>
        </p:nvSpPr>
        <p:spPr>
          <a:xfrm>
            <a:off x="8156880" y="3498480"/>
            <a:ext cx="360" cy="982080"/>
          </a:xfrm>
          <a:prstGeom prst="line">
            <a:avLst/>
          </a:prstGeom>
          <a:ln w="317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8"/>
          <p:cNvSpPr/>
          <p:nvPr/>
        </p:nvSpPr>
        <p:spPr>
          <a:xfrm>
            <a:off x="8074800" y="3507840"/>
            <a:ext cx="164160" cy="16416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9"/>
          <p:cNvSpPr/>
          <p:nvPr/>
        </p:nvSpPr>
        <p:spPr>
          <a:xfrm>
            <a:off x="8294400" y="3087000"/>
            <a:ext cx="914040" cy="36540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0"/>
          <p:cNvSpPr/>
          <p:nvPr/>
        </p:nvSpPr>
        <p:spPr>
          <a:xfrm>
            <a:off x="8294400" y="30870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z = 1.5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1"/>
          <p:cNvSpPr/>
          <p:nvPr/>
        </p:nvSpPr>
        <p:spPr>
          <a:xfrm>
            <a:off x="1927800" y="4480560"/>
            <a:ext cx="360" cy="91440"/>
          </a:xfrm>
          <a:prstGeom prst="line">
            <a:avLst/>
          </a:prstGeom>
          <a:ln w="1270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2"/>
          <p:cNvSpPr/>
          <p:nvPr/>
        </p:nvSpPr>
        <p:spPr>
          <a:xfrm>
            <a:off x="1562040" y="46087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-3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3"/>
          <p:cNvSpPr/>
          <p:nvPr/>
        </p:nvSpPr>
        <p:spPr>
          <a:xfrm>
            <a:off x="3312000" y="4480560"/>
            <a:ext cx="360" cy="91440"/>
          </a:xfrm>
          <a:prstGeom prst="line">
            <a:avLst/>
          </a:prstGeom>
          <a:ln w="1270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4"/>
          <p:cNvSpPr/>
          <p:nvPr/>
        </p:nvSpPr>
        <p:spPr>
          <a:xfrm>
            <a:off x="2946240" y="46087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-2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5"/>
          <p:cNvSpPr/>
          <p:nvPr/>
        </p:nvSpPr>
        <p:spPr>
          <a:xfrm>
            <a:off x="4696200" y="4480560"/>
            <a:ext cx="360" cy="91440"/>
          </a:xfrm>
          <a:prstGeom prst="line">
            <a:avLst/>
          </a:prstGeom>
          <a:ln w="1270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6"/>
          <p:cNvSpPr/>
          <p:nvPr/>
        </p:nvSpPr>
        <p:spPr>
          <a:xfrm>
            <a:off x="4330800" y="46087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-1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7"/>
          <p:cNvSpPr/>
          <p:nvPr/>
        </p:nvSpPr>
        <p:spPr>
          <a:xfrm>
            <a:off x="6080760" y="4480560"/>
            <a:ext cx="360" cy="91440"/>
          </a:xfrm>
          <a:prstGeom prst="line">
            <a:avLst/>
          </a:prstGeom>
          <a:ln w="1270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8"/>
          <p:cNvSpPr/>
          <p:nvPr/>
        </p:nvSpPr>
        <p:spPr>
          <a:xfrm>
            <a:off x="5715000" y="46087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19"/>
          <p:cNvSpPr/>
          <p:nvPr/>
        </p:nvSpPr>
        <p:spPr>
          <a:xfrm>
            <a:off x="7464960" y="4480560"/>
            <a:ext cx="360" cy="91440"/>
          </a:xfrm>
          <a:prstGeom prst="line">
            <a:avLst/>
          </a:prstGeom>
          <a:ln w="1270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0"/>
          <p:cNvSpPr/>
          <p:nvPr/>
        </p:nvSpPr>
        <p:spPr>
          <a:xfrm>
            <a:off x="7099200" y="46087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+1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21"/>
          <p:cNvSpPr/>
          <p:nvPr/>
        </p:nvSpPr>
        <p:spPr>
          <a:xfrm>
            <a:off x="8849160" y="4480560"/>
            <a:ext cx="360" cy="91440"/>
          </a:xfrm>
          <a:prstGeom prst="line">
            <a:avLst/>
          </a:prstGeom>
          <a:ln w="1270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2"/>
          <p:cNvSpPr/>
          <p:nvPr/>
        </p:nvSpPr>
        <p:spPr>
          <a:xfrm>
            <a:off x="8483760" y="46087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+2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23"/>
          <p:cNvSpPr/>
          <p:nvPr/>
        </p:nvSpPr>
        <p:spPr>
          <a:xfrm>
            <a:off x="10233360" y="4480560"/>
            <a:ext cx="360" cy="91440"/>
          </a:xfrm>
          <a:prstGeom prst="line">
            <a:avLst/>
          </a:prstGeom>
          <a:ln w="1270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4"/>
          <p:cNvSpPr/>
          <p:nvPr/>
        </p:nvSpPr>
        <p:spPr>
          <a:xfrm>
            <a:off x="9867960" y="46087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+3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5"/>
          <p:cNvSpPr/>
          <p:nvPr/>
        </p:nvSpPr>
        <p:spPr>
          <a:xfrm>
            <a:off x="1097280" y="4937760"/>
            <a:ext cx="9966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z-score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26"/>
          <p:cNvSpPr/>
          <p:nvPr/>
        </p:nvSpPr>
        <p:spPr>
          <a:xfrm>
            <a:off x="777240" y="5257800"/>
            <a:ext cx="10652400" cy="594000"/>
          </a:xfrm>
          <a:prstGeom prst="roundRect">
            <a:avLst>
              <a:gd name="adj" fmla="val 15385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7"/>
          <p:cNvSpPr/>
          <p:nvPr/>
        </p:nvSpPr>
        <p:spPr>
          <a:xfrm>
            <a:off x="1005840" y="5257800"/>
            <a:ext cx="10195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This data point sits 1.5 standard deviations above the mean — noticeably above average, but not extreme.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5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Real-World Use: Comparing Apples to Oranges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"/>
          <p:cNvSpPr/>
          <p:nvPr/>
        </p:nvSpPr>
        <p:spPr>
          <a:xfrm>
            <a:off x="548640" y="1783080"/>
            <a:ext cx="502884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Z-scores let you fairly compare two values that come from completely different scales — exactly the kind of comparison raw numbers can’t make honestly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student who scored 86 on a test averaging 70 (std dev 8), and 650 on a different test averaging 500 (std dev 100) — which result was actually stronger?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Converting both to z-scores answers this immediately and fairly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4"/>
          <p:cNvSpPr/>
          <p:nvPr/>
        </p:nvSpPr>
        <p:spPr>
          <a:xfrm>
            <a:off x="5852160" y="1737360"/>
            <a:ext cx="580608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5"/>
          <p:cNvSpPr/>
          <p:nvPr/>
        </p:nvSpPr>
        <p:spPr>
          <a:xfrm>
            <a:off x="601668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6"/>
          <p:cNvSpPr/>
          <p:nvPr/>
        </p:nvSpPr>
        <p:spPr>
          <a:xfrm>
            <a:off x="621792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7"/>
          <p:cNvSpPr/>
          <p:nvPr/>
        </p:nvSpPr>
        <p:spPr>
          <a:xfrm>
            <a:off x="641916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8"/>
          <p:cNvSpPr/>
          <p:nvPr/>
        </p:nvSpPr>
        <p:spPr>
          <a:xfrm>
            <a:off x="6035040" y="2148840"/>
            <a:ext cx="54860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Test A: mean 70, std_dev 8, score 86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z_A = (86 - 70) / 8 = 2.0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Test B: mean 500, std_dev 100, score 650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z_B = (650 - 500) / 100 = 1.5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Test A was the stronger relative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performance — 2.0 standard deviations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above average beats 1.5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5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Comparing Apples to Oranges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Two different tests, two different scales — raw scores cannot be compared.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small function turns each into a z-score.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Test A wins even though 650 is a bigger number than 86.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def z_score(x, mean, sd):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return (x - mean) / sd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z_a = z_score(86, 70, 8)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z_b = z_score(650, 500, 100)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print(z_a)            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2.0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print(z_b)            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1.5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print("A" if z_a &gt; z_b else "B")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5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6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Empirical Rule — 68 / 95 / 99.7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What a z-score actually covers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roughly normal (bell-shaped) data, z-scores translate directly into percentages of your data — this is exactly why z-scores are so useful for judging "how unusual"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About 68.2% of values fall within 1 standard deviation of the mean (z between -1 and +1)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About 95.4% fall within 2 standard deviations, and about 99.7% fall within 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means a z-score beyond ±2 already puts you outside roughly 95% of your data — and beyond ±3 is genuinely rare, under half a percent of values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Empirical Rule — 68 / 95 / 99.7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3"/>
          <p:cNvSpPr/>
          <p:nvPr/>
        </p:nvSpPr>
        <p:spPr>
          <a:xfrm>
            <a:off x="548640" y="1417320"/>
            <a:ext cx="7314840" cy="37486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4"/>
          <p:cNvSpPr/>
          <p:nvPr/>
        </p:nvSpPr>
        <p:spPr>
          <a:xfrm>
            <a:off x="822960" y="1600200"/>
            <a:ext cx="6766200" cy="2834280"/>
          </a:xfrm>
          <a:custGeom>
            <a:avLst/>
            <a:gdLst>
              <a:gd name="textAreaLeft" fmla="*/ 0 w 6766200"/>
              <a:gd name="textAreaRight" fmla="*/ 6766560 w 6766200"/>
              <a:gd name="textAreaTop" fmla="*/ 0 h 2834280"/>
              <a:gd name="textAreaBottom" fmla="*/ 2834640 h 2834280"/>
            </a:gdLst>
            <a:ahLst/>
            <a:cxnLst/>
            <a:rect l="textAreaLeft" t="textAreaTop" r="textAreaRight" b="textAreaBottom"/>
            <a:pathLst>
              <a:path w="6766560" h="2834640">
                <a:moveTo>
                  <a:pt x="563880" y="2834640"/>
                </a:moveTo>
                <a:lnTo>
                  <a:pt x="563880" y="2803150"/>
                </a:lnTo>
                <a:lnTo>
                  <a:pt x="657860" y="2792345"/>
                </a:lnTo>
                <a:lnTo>
                  <a:pt x="751840" y="2778398"/>
                </a:lnTo>
                <a:lnTo>
                  <a:pt x="845820" y="2760595"/>
                </a:lnTo>
                <a:lnTo>
                  <a:pt x="939800" y="2738128"/>
                </a:lnTo>
                <a:lnTo>
                  <a:pt x="1033780" y="2710095"/>
                </a:lnTo>
                <a:lnTo>
                  <a:pt x="1127760" y="2675518"/>
                </a:lnTo>
                <a:lnTo>
                  <a:pt x="1221740" y="2633365"/>
                </a:lnTo>
                <a:lnTo>
                  <a:pt x="1315720" y="2582579"/>
                </a:lnTo>
                <a:lnTo>
                  <a:pt x="1409700" y="2522119"/>
                </a:lnTo>
                <a:lnTo>
                  <a:pt x="1503680" y="2451013"/>
                </a:lnTo>
                <a:lnTo>
                  <a:pt x="1597660" y="2368414"/>
                </a:lnTo>
                <a:lnTo>
                  <a:pt x="1691640" y="2273668"/>
                </a:lnTo>
                <a:lnTo>
                  <a:pt x="1785620" y="2166385"/>
                </a:lnTo>
                <a:lnTo>
                  <a:pt x="1879600" y="2046504"/>
                </a:lnTo>
                <a:lnTo>
                  <a:pt x="1973580" y="1914367"/>
                </a:lnTo>
                <a:lnTo>
                  <a:pt x="2067560" y="1770768"/>
                </a:lnTo>
                <a:lnTo>
                  <a:pt x="2161540" y="1617000"/>
                </a:lnTo>
                <a:lnTo>
                  <a:pt x="2255520" y="1454873"/>
                </a:lnTo>
                <a:lnTo>
                  <a:pt x="2349500" y="1286716"/>
                </a:lnTo>
                <a:lnTo>
                  <a:pt x="2443480" y="1115344"/>
                </a:lnTo>
                <a:lnTo>
                  <a:pt x="2537460" y="944001"/>
                </a:lnTo>
                <a:lnTo>
                  <a:pt x="2631440" y="776269"/>
                </a:lnTo>
                <a:lnTo>
                  <a:pt x="2725420" y="615954"/>
                </a:lnTo>
                <a:lnTo>
                  <a:pt x="2819400" y="466950"/>
                </a:lnTo>
                <a:lnTo>
                  <a:pt x="2913380" y="333079"/>
                </a:lnTo>
                <a:lnTo>
                  <a:pt x="3007360" y="217937"/>
                </a:lnTo>
                <a:lnTo>
                  <a:pt x="3101340" y="124731"/>
                </a:lnTo>
                <a:lnTo>
                  <a:pt x="3195320" y="56130"/>
                </a:lnTo>
                <a:lnTo>
                  <a:pt x="3289300" y="14138"/>
                </a:lnTo>
                <a:lnTo>
                  <a:pt x="3383280" y="0"/>
                </a:lnTo>
                <a:lnTo>
                  <a:pt x="3477260" y="14138"/>
                </a:lnTo>
                <a:lnTo>
                  <a:pt x="3571240" y="56130"/>
                </a:lnTo>
                <a:lnTo>
                  <a:pt x="3665220" y="124731"/>
                </a:lnTo>
                <a:lnTo>
                  <a:pt x="3759200" y="217937"/>
                </a:lnTo>
                <a:lnTo>
                  <a:pt x="3853180" y="333079"/>
                </a:lnTo>
                <a:lnTo>
                  <a:pt x="3947160" y="466950"/>
                </a:lnTo>
                <a:lnTo>
                  <a:pt x="4041140" y="615954"/>
                </a:lnTo>
                <a:lnTo>
                  <a:pt x="4135120" y="776269"/>
                </a:lnTo>
                <a:lnTo>
                  <a:pt x="4229100" y="944001"/>
                </a:lnTo>
                <a:lnTo>
                  <a:pt x="4323080" y="1115344"/>
                </a:lnTo>
                <a:lnTo>
                  <a:pt x="4417060" y="1286716"/>
                </a:lnTo>
                <a:lnTo>
                  <a:pt x="4511040" y="1454873"/>
                </a:lnTo>
                <a:lnTo>
                  <a:pt x="4605020" y="1617000"/>
                </a:lnTo>
                <a:lnTo>
                  <a:pt x="4699000" y="1770768"/>
                </a:lnTo>
                <a:lnTo>
                  <a:pt x="4792980" y="1914367"/>
                </a:lnTo>
                <a:lnTo>
                  <a:pt x="4886960" y="2046504"/>
                </a:lnTo>
                <a:lnTo>
                  <a:pt x="4980940" y="2166385"/>
                </a:lnTo>
                <a:lnTo>
                  <a:pt x="5074920" y="2273668"/>
                </a:lnTo>
                <a:lnTo>
                  <a:pt x="5168900" y="2368414"/>
                </a:lnTo>
                <a:lnTo>
                  <a:pt x="5262880" y="2451013"/>
                </a:lnTo>
                <a:lnTo>
                  <a:pt x="5356860" y="2522119"/>
                </a:lnTo>
                <a:lnTo>
                  <a:pt x="5450840" y="2582579"/>
                </a:lnTo>
                <a:lnTo>
                  <a:pt x="5544820" y="2633365"/>
                </a:lnTo>
                <a:lnTo>
                  <a:pt x="5638800" y="2675518"/>
                </a:lnTo>
                <a:lnTo>
                  <a:pt x="5732780" y="2710095"/>
                </a:lnTo>
                <a:lnTo>
                  <a:pt x="5826760" y="2738128"/>
                </a:lnTo>
                <a:lnTo>
                  <a:pt x="5920740" y="2760595"/>
                </a:lnTo>
                <a:lnTo>
                  <a:pt x="6014720" y="2778398"/>
                </a:lnTo>
                <a:lnTo>
                  <a:pt x="6108700" y="2792345"/>
                </a:lnTo>
                <a:lnTo>
                  <a:pt x="6202680" y="2803150"/>
                </a:lnTo>
                <a:lnTo>
                  <a:pt x="6202680" y="2834640"/>
                </a:lnTo>
                <a:close/>
              </a:path>
            </a:pathLst>
          </a:custGeom>
          <a:solidFill>
            <a:srgbClr val="E6E5FB"/>
          </a:solidFill>
          <a:ln w="12700">
            <a:solidFill>
              <a:srgbClr val="E6E5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5"/>
          <p:cNvSpPr/>
          <p:nvPr/>
        </p:nvSpPr>
        <p:spPr>
          <a:xfrm>
            <a:off x="822960" y="1600200"/>
            <a:ext cx="6766200" cy="2834280"/>
          </a:xfrm>
          <a:custGeom>
            <a:avLst/>
            <a:gdLst>
              <a:gd name="textAreaLeft" fmla="*/ 0 w 6766200"/>
              <a:gd name="textAreaRight" fmla="*/ 6766560 w 6766200"/>
              <a:gd name="textAreaTop" fmla="*/ 0 h 2834280"/>
              <a:gd name="textAreaBottom" fmla="*/ 2834640 h 2834280"/>
            </a:gdLst>
            <a:ahLst/>
            <a:cxnLst/>
            <a:rect l="textAreaLeft" t="textAreaTop" r="textAreaRight" b="textAreaBottom"/>
            <a:pathLst>
              <a:path w="6766560" h="2834640">
                <a:moveTo>
                  <a:pt x="1503680" y="2834640"/>
                </a:moveTo>
                <a:lnTo>
                  <a:pt x="1503680" y="2451013"/>
                </a:lnTo>
                <a:lnTo>
                  <a:pt x="1566333" y="2397269"/>
                </a:lnTo>
                <a:lnTo>
                  <a:pt x="1628987" y="2338207"/>
                </a:lnTo>
                <a:lnTo>
                  <a:pt x="1691640" y="2273668"/>
                </a:lnTo>
                <a:lnTo>
                  <a:pt x="1754293" y="2203550"/>
                </a:lnTo>
                <a:lnTo>
                  <a:pt x="1816947" y="2127816"/>
                </a:lnTo>
                <a:lnTo>
                  <a:pt x="1879600" y="2046504"/>
                </a:lnTo>
                <a:lnTo>
                  <a:pt x="1942253" y="1959736"/>
                </a:lnTo>
                <a:lnTo>
                  <a:pt x="2004907" y="1867721"/>
                </a:lnTo>
                <a:lnTo>
                  <a:pt x="2067560" y="1770768"/>
                </a:lnTo>
                <a:lnTo>
                  <a:pt x="2130213" y="1669285"/>
                </a:lnTo>
                <a:lnTo>
                  <a:pt x="2192867" y="1563781"/>
                </a:lnTo>
                <a:lnTo>
                  <a:pt x="2255520" y="1454873"/>
                </a:lnTo>
                <a:lnTo>
                  <a:pt x="2318173" y="1343274"/>
                </a:lnTo>
                <a:lnTo>
                  <a:pt x="2380827" y="1229797"/>
                </a:lnTo>
                <a:lnTo>
                  <a:pt x="2443480" y="1115344"/>
                </a:lnTo>
                <a:lnTo>
                  <a:pt x="2506133" y="1000897"/>
                </a:lnTo>
                <a:lnTo>
                  <a:pt x="2568787" y="887504"/>
                </a:lnTo>
                <a:lnTo>
                  <a:pt x="2631440" y="776269"/>
                </a:lnTo>
                <a:lnTo>
                  <a:pt x="2694093" y="668328"/>
                </a:lnTo>
                <a:lnTo>
                  <a:pt x="2756747" y="564838"/>
                </a:lnTo>
                <a:lnTo>
                  <a:pt x="2819400" y="466950"/>
                </a:lnTo>
                <a:lnTo>
                  <a:pt x="2882053" y="375793"/>
                </a:lnTo>
                <a:lnTo>
                  <a:pt x="2944707" y="292450"/>
                </a:lnTo>
                <a:lnTo>
                  <a:pt x="3007360" y="217937"/>
                </a:lnTo>
                <a:lnTo>
                  <a:pt x="3070013" y="153185"/>
                </a:lnTo>
                <a:lnTo>
                  <a:pt x="3132667" y="99016"/>
                </a:lnTo>
                <a:lnTo>
                  <a:pt x="3195320" y="56130"/>
                </a:lnTo>
                <a:lnTo>
                  <a:pt x="3257973" y="25085"/>
                </a:lnTo>
                <a:lnTo>
                  <a:pt x="3320627" y="6292"/>
                </a:lnTo>
                <a:lnTo>
                  <a:pt x="3383280" y="0"/>
                </a:lnTo>
                <a:lnTo>
                  <a:pt x="3445933" y="6292"/>
                </a:lnTo>
                <a:lnTo>
                  <a:pt x="3508587" y="25085"/>
                </a:lnTo>
                <a:lnTo>
                  <a:pt x="3571240" y="56130"/>
                </a:lnTo>
                <a:lnTo>
                  <a:pt x="3633893" y="99016"/>
                </a:lnTo>
                <a:lnTo>
                  <a:pt x="3696547" y="153185"/>
                </a:lnTo>
                <a:lnTo>
                  <a:pt x="3759200" y="217937"/>
                </a:lnTo>
                <a:lnTo>
                  <a:pt x="3821853" y="292450"/>
                </a:lnTo>
                <a:lnTo>
                  <a:pt x="3884507" y="375793"/>
                </a:lnTo>
                <a:lnTo>
                  <a:pt x="3947160" y="466950"/>
                </a:lnTo>
                <a:lnTo>
                  <a:pt x="4009813" y="564838"/>
                </a:lnTo>
                <a:lnTo>
                  <a:pt x="4072467" y="668328"/>
                </a:lnTo>
                <a:lnTo>
                  <a:pt x="4135120" y="776269"/>
                </a:lnTo>
                <a:lnTo>
                  <a:pt x="4197773" y="887504"/>
                </a:lnTo>
                <a:lnTo>
                  <a:pt x="4260427" y="1000897"/>
                </a:lnTo>
                <a:lnTo>
                  <a:pt x="4323080" y="1115344"/>
                </a:lnTo>
                <a:lnTo>
                  <a:pt x="4385733" y="1229797"/>
                </a:lnTo>
                <a:lnTo>
                  <a:pt x="4448387" y="1343274"/>
                </a:lnTo>
                <a:lnTo>
                  <a:pt x="4511040" y="1454873"/>
                </a:lnTo>
                <a:lnTo>
                  <a:pt x="4573693" y="1563781"/>
                </a:lnTo>
                <a:lnTo>
                  <a:pt x="4636347" y="1669285"/>
                </a:lnTo>
                <a:lnTo>
                  <a:pt x="4699000" y="1770768"/>
                </a:lnTo>
                <a:lnTo>
                  <a:pt x="4761653" y="1867721"/>
                </a:lnTo>
                <a:lnTo>
                  <a:pt x="4824307" y="1959736"/>
                </a:lnTo>
                <a:lnTo>
                  <a:pt x="4886960" y="2046504"/>
                </a:lnTo>
                <a:lnTo>
                  <a:pt x="4949613" y="2127816"/>
                </a:lnTo>
                <a:lnTo>
                  <a:pt x="5012267" y="2203550"/>
                </a:lnTo>
                <a:lnTo>
                  <a:pt x="5074920" y="2273668"/>
                </a:lnTo>
                <a:lnTo>
                  <a:pt x="5137573" y="2338207"/>
                </a:lnTo>
                <a:lnTo>
                  <a:pt x="5200227" y="2397269"/>
                </a:lnTo>
                <a:lnTo>
                  <a:pt x="5262880" y="2451013"/>
                </a:lnTo>
                <a:lnTo>
                  <a:pt x="5262880" y="2834640"/>
                </a:lnTo>
                <a:close/>
              </a:path>
            </a:pathLst>
          </a:custGeom>
          <a:solidFill>
            <a:srgbClr val="C0BFF1"/>
          </a:solidFill>
          <a:ln w="12700">
            <a:solidFill>
              <a:srgbClr val="C0BF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6"/>
          <p:cNvSpPr/>
          <p:nvPr/>
        </p:nvSpPr>
        <p:spPr>
          <a:xfrm>
            <a:off x="822960" y="1600200"/>
            <a:ext cx="6766200" cy="2834280"/>
          </a:xfrm>
          <a:custGeom>
            <a:avLst/>
            <a:gdLst>
              <a:gd name="textAreaLeft" fmla="*/ 0 w 6766200"/>
              <a:gd name="textAreaRight" fmla="*/ 6766560 w 6766200"/>
              <a:gd name="textAreaTop" fmla="*/ 0 h 2834280"/>
              <a:gd name="textAreaBottom" fmla="*/ 2834640 h 2834280"/>
            </a:gdLst>
            <a:ahLst/>
            <a:cxnLst/>
            <a:rect l="textAreaLeft" t="textAreaTop" r="textAreaRight" b="textAreaBottom"/>
            <a:pathLst>
              <a:path w="6766560" h="2834640">
                <a:moveTo>
                  <a:pt x="2443480" y="2834640"/>
                </a:moveTo>
                <a:lnTo>
                  <a:pt x="2443480" y="1115344"/>
                </a:lnTo>
                <a:lnTo>
                  <a:pt x="2474807" y="1058055"/>
                </a:lnTo>
                <a:lnTo>
                  <a:pt x="2506133" y="1000897"/>
                </a:lnTo>
                <a:lnTo>
                  <a:pt x="2537460" y="944001"/>
                </a:lnTo>
                <a:lnTo>
                  <a:pt x="2568787" y="887504"/>
                </a:lnTo>
                <a:lnTo>
                  <a:pt x="2600113" y="831547"/>
                </a:lnTo>
                <a:lnTo>
                  <a:pt x="2631440" y="776269"/>
                </a:lnTo>
                <a:lnTo>
                  <a:pt x="2662767" y="721815"/>
                </a:lnTo>
                <a:lnTo>
                  <a:pt x="2694093" y="668328"/>
                </a:lnTo>
                <a:lnTo>
                  <a:pt x="2725420" y="615954"/>
                </a:lnTo>
                <a:lnTo>
                  <a:pt x="2756747" y="564838"/>
                </a:lnTo>
                <a:lnTo>
                  <a:pt x="2788073" y="515122"/>
                </a:lnTo>
                <a:lnTo>
                  <a:pt x="2819400" y="466950"/>
                </a:lnTo>
                <a:lnTo>
                  <a:pt x="2850727" y="420461"/>
                </a:lnTo>
                <a:lnTo>
                  <a:pt x="2882053" y="375793"/>
                </a:lnTo>
                <a:lnTo>
                  <a:pt x="2913380" y="333079"/>
                </a:lnTo>
                <a:lnTo>
                  <a:pt x="2944707" y="292450"/>
                </a:lnTo>
                <a:lnTo>
                  <a:pt x="2976033" y="254029"/>
                </a:lnTo>
                <a:lnTo>
                  <a:pt x="3007360" y="217937"/>
                </a:lnTo>
                <a:lnTo>
                  <a:pt x="3038687" y="184287"/>
                </a:lnTo>
                <a:lnTo>
                  <a:pt x="3070013" y="153185"/>
                </a:lnTo>
                <a:lnTo>
                  <a:pt x="3101340" y="124731"/>
                </a:lnTo>
                <a:lnTo>
                  <a:pt x="3132667" y="99016"/>
                </a:lnTo>
                <a:lnTo>
                  <a:pt x="3163993" y="76124"/>
                </a:lnTo>
                <a:lnTo>
                  <a:pt x="3195320" y="56130"/>
                </a:lnTo>
                <a:lnTo>
                  <a:pt x="3226647" y="39098"/>
                </a:lnTo>
                <a:lnTo>
                  <a:pt x="3257973" y="25085"/>
                </a:lnTo>
                <a:lnTo>
                  <a:pt x="3289300" y="14138"/>
                </a:lnTo>
                <a:lnTo>
                  <a:pt x="3320627" y="6292"/>
                </a:lnTo>
                <a:lnTo>
                  <a:pt x="3351953" y="1574"/>
                </a:lnTo>
                <a:lnTo>
                  <a:pt x="3383280" y="0"/>
                </a:lnTo>
                <a:lnTo>
                  <a:pt x="3414607" y="1574"/>
                </a:lnTo>
                <a:lnTo>
                  <a:pt x="3445933" y="6292"/>
                </a:lnTo>
                <a:lnTo>
                  <a:pt x="3477260" y="14138"/>
                </a:lnTo>
                <a:lnTo>
                  <a:pt x="3508587" y="25085"/>
                </a:lnTo>
                <a:lnTo>
                  <a:pt x="3539913" y="39098"/>
                </a:lnTo>
                <a:lnTo>
                  <a:pt x="3571240" y="56130"/>
                </a:lnTo>
                <a:lnTo>
                  <a:pt x="3602567" y="76124"/>
                </a:lnTo>
                <a:lnTo>
                  <a:pt x="3633893" y="99016"/>
                </a:lnTo>
                <a:lnTo>
                  <a:pt x="3665220" y="124731"/>
                </a:lnTo>
                <a:lnTo>
                  <a:pt x="3696547" y="153185"/>
                </a:lnTo>
                <a:lnTo>
                  <a:pt x="3727873" y="184287"/>
                </a:lnTo>
                <a:lnTo>
                  <a:pt x="3759200" y="217937"/>
                </a:lnTo>
                <a:lnTo>
                  <a:pt x="3790527" y="254029"/>
                </a:lnTo>
                <a:lnTo>
                  <a:pt x="3821853" y="292450"/>
                </a:lnTo>
                <a:lnTo>
                  <a:pt x="3853180" y="333079"/>
                </a:lnTo>
                <a:lnTo>
                  <a:pt x="3884507" y="375793"/>
                </a:lnTo>
                <a:lnTo>
                  <a:pt x="3915833" y="420461"/>
                </a:lnTo>
                <a:lnTo>
                  <a:pt x="3947160" y="466950"/>
                </a:lnTo>
                <a:lnTo>
                  <a:pt x="3978487" y="515122"/>
                </a:lnTo>
                <a:lnTo>
                  <a:pt x="4009813" y="564838"/>
                </a:lnTo>
                <a:lnTo>
                  <a:pt x="4041140" y="615954"/>
                </a:lnTo>
                <a:lnTo>
                  <a:pt x="4072467" y="668328"/>
                </a:lnTo>
                <a:lnTo>
                  <a:pt x="4103793" y="721815"/>
                </a:lnTo>
                <a:lnTo>
                  <a:pt x="4135120" y="776269"/>
                </a:lnTo>
                <a:lnTo>
                  <a:pt x="4166447" y="831547"/>
                </a:lnTo>
                <a:lnTo>
                  <a:pt x="4197773" y="887504"/>
                </a:lnTo>
                <a:lnTo>
                  <a:pt x="4229100" y="944001"/>
                </a:lnTo>
                <a:lnTo>
                  <a:pt x="4260427" y="1000897"/>
                </a:lnTo>
                <a:lnTo>
                  <a:pt x="4291753" y="1058055"/>
                </a:lnTo>
                <a:lnTo>
                  <a:pt x="4323080" y="1115344"/>
                </a:lnTo>
                <a:lnTo>
                  <a:pt x="4323080" y="2834640"/>
                </a:lnTo>
                <a:close/>
              </a:path>
            </a:pathLst>
          </a:cu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7"/>
          <p:cNvSpPr/>
          <p:nvPr/>
        </p:nvSpPr>
        <p:spPr>
          <a:xfrm>
            <a:off x="822960" y="4434840"/>
            <a:ext cx="6766560" cy="360"/>
          </a:xfrm>
          <a:prstGeom prst="line">
            <a:avLst/>
          </a:prstGeom>
          <a:ln w="15875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8"/>
          <p:cNvSpPr/>
          <p:nvPr/>
        </p:nvSpPr>
        <p:spPr>
          <a:xfrm>
            <a:off x="1020960" y="45262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−3σ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9"/>
          <p:cNvSpPr/>
          <p:nvPr/>
        </p:nvSpPr>
        <p:spPr>
          <a:xfrm>
            <a:off x="1960920" y="45262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−2σ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0"/>
          <p:cNvSpPr/>
          <p:nvPr/>
        </p:nvSpPr>
        <p:spPr>
          <a:xfrm>
            <a:off x="2900520" y="45262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−1σ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1"/>
          <p:cNvSpPr/>
          <p:nvPr/>
        </p:nvSpPr>
        <p:spPr>
          <a:xfrm>
            <a:off x="3840480" y="45262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2"/>
          <p:cNvSpPr/>
          <p:nvPr/>
        </p:nvSpPr>
        <p:spPr>
          <a:xfrm>
            <a:off x="4780440" y="45262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+1σ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3"/>
          <p:cNvSpPr/>
          <p:nvPr/>
        </p:nvSpPr>
        <p:spPr>
          <a:xfrm>
            <a:off x="5720040" y="45262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+2σ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4"/>
          <p:cNvSpPr/>
          <p:nvPr/>
        </p:nvSpPr>
        <p:spPr>
          <a:xfrm>
            <a:off x="6660000" y="45262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+3σ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15"/>
          <p:cNvSpPr/>
          <p:nvPr/>
        </p:nvSpPr>
        <p:spPr>
          <a:xfrm>
            <a:off x="8092440" y="1600200"/>
            <a:ext cx="356580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6"/>
          <p:cNvSpPr/>
          <p:nvPr/>
        </p:nvSpPr>
        <p:spPr>
          <a:xfrm>
            <a:off x="8275320" y="1874520"/>
            <a:ext cx="456840" cy="456840"/>
          </a:xfrm>
          <a:prstGeom prst="roundRect">
            <a:avLst>
              <a:gd name="adj" fmla="val 24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7"/>
          <p:cNvSpPr/>
          <p:nvPr/>
        </p:nvSpPr>
        <p:spPr>
          <a:xfrm>
            <a:off x="8869680" y="169164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68.2%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8"/>
          <p:cNvSpPr/>
          <p:nvPr/>
        </p:nvSpPr>
        <p:spPr>
          <a:xfrm>
            <a:off x="8869680" y="214884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within ±1σ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19"/>
          <p:cNvSpPr/>
          <p:nvPr/>
        </p:nvSpPr>
        <p:spPr>
          <a:xfrm>
            <a:off x="8092440" y="2770560"/>
            <a:ext cx="356580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20"/>
          <p:cNvSpPr/>
          <p:nvPr/>
        </p:nvSpPr>
        <p:spPr>
          <a:xfrm>
            <a:off x="8275320" y="3044880"/>
            <a:ext cx="456840" cy="456840"/>
          </a:xfrm>
          <a:prstGeom prst="roundRect">
            <a:avLst>
              <a:gd name="adj" fmla="val 24000"/>
            </a:avLst>
          </a:prstGeom>
          <a:solidFill>
            <a:srgbClr val="C0BFF1"/>
          </a:solidFill>
          <a:ln w="12700">
            <a:solidFill>
              <a:srgbClr val="C0BF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1"/>
          <p:cNvSpPr/>
          <p:nvPr/>
        </p:nvSpPr>
        <p:spPr>
          <a:xfrm>
            <a:off x="8869680" y="286200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95.4%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2"/>
          <p:cNvSpPr/>
          <p:nvPr/>
        </p:nvSpPr>
        <p:spPr>
          <a:xfrm>
            <a:off x="8869680" y="331920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within ±2σ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3"/>
          <p:cNvSpPr/>
          <p:nvPr/>
        </p:nvSpPr>
        <p:spPr>
          <a:xfrm>
            <a:off x="8092440" y="3940920"/>
            <a:ext cx="356580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24"/>
          <p:cNvSpPr/>
          <p:nvPr/>
        </p:nvSpPr>
        <p:spPr>
          <a:xfrm>
            <a:off x="8275320" y="4215240"/>
            <a:ext cx="456840" cy="456840"/>
          </a:xfrm>
          <a:prstGeom prst="roundRect">
            <a:avLst>
              <a:gd name="adj" fmla="val 24000"/>
            </a:avLst>
          </a:prstGeom>
          <a:solidFill>
            <a:srgbClr val="E6E5FB"/>
          </a:solidFill>
          <a:ln w="12700">
            <a:solidFill>
              <a:srgbClr val="E6E5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25"/>
          <p:cNvSpPr/>
          <p:nvPr/>
        </p:nvSpPr>
        <p:spPr>
          <a:xfrm>
            <a:off x="8869680" y="403236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99.7%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6"/>
          <p:cNvSpPr/>
          <p:nvPr/>
        </p:nvSpPr>
        <p:spPr>
          <a:xfrm>
            <a:off x="8869680" y="448956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within ±3σ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27"/>
          <p:cNvSpPr/>
          <p:nvPr/>
        </p:nvSpPr>
        <p:spPr>
          <a:xfrm>
            <a:off x="548640" y="5394960"/>
            <a:ext cx="11109600" cy="731160"/>
          </a:xfrm>
          <a:prstGeom prst="roundRect">
            <a:avLst>
              <a:gd name="adj" fmla="val 125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8"/>
          <p:cNvSpPr/>
          <p:nvPr/>
        </p:nvSpPr>
        <p:spPr>
          <a:xfrm>
            <a:off x="777240" y="5394960"/>
            <a:ext cx="10652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This only holds when your data is roughly normally distributed — Session 20 covers exactly why the normal distribution has this property.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Checking the Empirical Rule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Simulate 100,000 normal values, then count how many fall within ±1, 2, 3 SDs.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stats.norm.cdf gives the exact theory numbers.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two agree — this is the 68 / 95 / 99.7 rule.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rng = np.random.default_rng(1)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x = rng.normal(0, 1, 100_000)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def within(k):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return round(float(np.mean(np.abs(x) &lt; k)), 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print(within(1)) 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0.684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print(within(2)) 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0.955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print(within(3)) 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0.997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print(round(stats.norm.cdf(2) - stats.norm.cdf(-2), 3))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→ 0.954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5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Z-Scores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Calculate the z-score for a value of 45, from a dataset with mean 60 and standard deviation 10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11"/>
          <p:cNvSpPr/>
          <p:nvPr/>
        </p:nvSpPr>
        <p:spPr>
          <a:xfrm>
            <a:off x="548640" y="289872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12"/>
          <p:cNvSpPr/>
          <p:nvPr/>
        </p:nvSpPr>
        <p:spPr>
          <a:xfrm>
            <a:off x="731520" y="313632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3"/>
          <p:cNvSpPr/>
          <p:nvPr/>
        </p:nvSpPr>
        <p:spPr>
          <a:xfrm>
            <a:off x="731520" y="3136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4"/>
          <p:cNvSpPr/>
          <p:nvPr/>
        </p:nvSpPr>
        <p:spPr>
          <a:xfrm>
            <a:off x="1234440" y="28987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in your own words what a z-score of -2.5 means, without using the word "standard deviation" in your explanation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5"/>
          <p:cNvSpPr/>
          <p:nvPr/>
        </p:nvSpPr>
        <p:spPr>
          <a:xfrm>
            <a:off x="548640" y="38314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16"/>
          <p:cNvSpPr/>
          <p:nvPr/>
        </p:nvSpPr>
        <p:spPr>
          <a:xfrm>
            <a:off x="731520" y="406908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7"/>
          <p:cNvSpPr/>
          <p:nvPr/>
        </p:nvSpPr>
        <p:spPr>
          <a:xfrm>
            <a:off x="731520" y="4069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8"/>
          <p:cNvSpPr/>
          <p:nvPr/>
        </p:nvSpPr>
        <p:spPr>
          <a:xfrm>
            <a:off x="1234440" y="38314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Using the empirical rule, estimate roughly what percentage of values fall ABOVE a z-score of +2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19"/>
          <p:cNvSpPr/>
          <p:nvPr/>
        </p:nvSpPr>
        <p:spPr>
          <a:xfrm>
            <a:off x="548640" y="47638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20"/>
          <p:cNvSpPr/>
          <p:nvPr/>
        </p:nvSpPr>
        <p:spPr>
          <a:xfrm>
            <a:off x="731520" y="500184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21"/>
          <p:cNvSpPr/>
          <p:nvPr/>
        </p:nvSpPr>
        <p:spPr>
          <a:xfrm>
            <a:off x="731520" y="5001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22"/>
          <p:cNvSpPr/>
          <p:nvPr/>
        </p:nvSpPr>
        <p:spPr>
          <a:xfrm>
            <a:off x="1234440" y="47638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Two employees are rated on completely different scoring systems at their two companies. Explain how z-scores would let you compare them fairly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2"/>
          <p:cNvSpPr/>
          <p:nvPr/>
        </p:nvSpPr>
        <p:spPr>
          <a:xfrm>
            <a:off x="640080" y="21945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3"/>
          <p:cNvSpPr/>
          <p:nvPr/>
        </p:nvSpPr>
        <p:spPr>
          <a:xfrm>
            <a:off x="640080" y="2697480"/>
            <a:ext cx="10332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Shape of a Distribution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4"/>
          <p:cNvSpPr/>
          <p:nvPr/>
        </p:nvSpPr>
        <p:spPr>
          <a:xfrm>
            <a:off x="640080" y="4023360"/>
            <a:ext cx="9692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Two datasets can share a mean AND a standard deviation, and still look completely different once you see their shape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5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34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5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Frequency Distributions &amp; Histograms, Revisited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#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Counting how often, not just what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frequency distribution shows how often each value, or range of values, occurs in your dataset — the histogram from Session 18 is simply this idea, drawn as bars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overall shape traced by those bars is exactly what this part of the session is about — not just what the chart looks like, but what that shape tells you statistically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same mean and standard deviation can hide wildly different shapes — shape is genuinely its own, separate piece of information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shape directly determines which statistical tests are even valid to use later, in Sessions 21 and 22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3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4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Symmetric vs. Skewed Distributions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↔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Balanced, or leaning one way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symmetric distribution looks roughly the same on both sides of its center — mean and median sit close together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skewed distribution has a longer tail stretching out on one side — pulling the mean toward that tail, while the median resists and stays closer to the bulk of the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Right-skewed (positive skew): a long tail toward higher values — classic example: income, where a few very high earners stretch the tail right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Left-skewed (negative skew): a long tail toward lower values — classic example: age at retirement, where a few very early retirements stretch the tail left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2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3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Symmetric vs. Skewed Distributions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3"/>
          <p:cNvSpPr/>
          <p:nvPr/>
        </p:nvSpPr>
        <p:spPr>
          <a:xfrm>
            <a:off x="548640" y="1417320"/>
            <a:ext cx="3611520" cy="3611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4"/>
          <p:cNvSpPr/>
          <p:nvPr/>
        </p:nvSpPr>
        <p:spPr>
          <a:xfrm>
            <a:off x="731520" y="1554480"/>
            <a:ext cx="3245760" cy="411120"/>
          </a:xfrm>
          <a:prstGeom prst="roundRect">
            <a:avLst>
              <a:gd name="adj" fmla="val 55556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5"/>
          <p:cNvSpPr/>
          <p:nvPr/>
        </p:nvSpPr>
        <p:spPr>
          <a:xfrm>
            <a:off x="731520" y="155448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Left-Skewed (Negative)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6"/>
          <p:cNvSpPr/>
          <p:nvPr/>
        </p:nvSpPr>
        <p:spPr>
          <a:xfrm>
            <a:off x="822960" y="2194560"/>
            <a:ext cx="3062880" cy="1828440"/>
          </a:xfrm>
          <a:custGeom>
            <a:avLst/>
            <a:gdLst>
              <a:gd name="textAreaLeft" fmla="*/ 0 w 3062880"/>
              <a:gd name="textAreaRight" fmla="*/ 3063240 w 3062880"/>
              <a:gd name="textAreaTop" fmla="*/ 0 h 1828440"/>
              <a:gd name="textAreaBottom" fmla="*/ 1828800 h 1828440"/>
            </a:gdLst>
            <a:ahLst/>
            <a:cxnLst/>
            <a:rect l="textAreaLeft" t="textAreaTop" r="textAreaRight" b="textAreaBottom"/>
            <a:pathLst>
              <a:path w="3063240" h="1828800">
                <a:moveTo>
                  <a:pt x="0" y="1828800"/>
                </a:moveTo>
                <a:lnTo>
                  <a:pt x="0" y="1343245"/>
                </a:lnTo>
                <a:lnTo>
                  <a:pt x="38291" y="1325098"/>
                </a:lnTo>
                <a:lnTo>
                  <a:pt x="76581" y="1306407"/>
                </a:lnTo>
                <a:lnTo>
                  <a:pt x="114871" y="1287165"/>
                </a:lnTo>
                <a:lnTo>
                  <a:pt x="153162" y="1267365"/>
                </a:lnTo>
                <a:lnTo>
                  <a:pt x="191453" y="1247003"/>
                </a:lnTo>
                <a:lnTo>
                  <a:pt x="229743" y="1226074"/>
                </a:lnTo>
                <a:lnTo>
                  <a:pt x="268034" y="1204574"/>
                </a:lnTo>
                <a:lnTo>
                  <a:pt x="306324" y="1182502"/>
                </a:lnTo>
                <a:lnTo>
                  <a:pt x="344615" y="1159856"/>
                </a:lnTo>
                <a:lnTo>
                  <a:pt x="382905" y="1136636"/>
                </a:lnTo>
                <a:lnTo>
                  <a:pt x="421196" y="1112843"/>
                </a:lnTo>
                <a:lnTo>
                  <a:pt x="459486" y="1088482"/>
                </a:lnTo>
                <a:lnTo>
                  <a:pt x="497777" y="1063557"/>
                </a:lnTo>
                <a:lnTo>
                  <a:pt x="536067" y="1038074"/>
                </a:lnTo>
                <a:lnTo>
                  <a:pt x="574358" y="1012043"/>
                </a:lnTo>
                <a:lnTo>
                  <a:pt x="612648" y="985474"/>
                </a:lnTo>
                <a:lnTo>
                  <a:pt x="650939" y="958382"/>
                </a:lnTo>
                <a:lnTo>
                  <a:pt x="689229" y="930781"/>
                </a:lnTo>
                <a:lnTo>
                  <a:pt x="727520" y="902690"/>
                </a:lnTo>
                <a:lnTo>
                  <a:pt x="765810" y="874131"/>
                </a:lnTo>
                <a:lnTo>
                  <a:pt x="804101" y="845129"/>
                </a:lnTo>
                <a:lnTo>
                  <a:pt x="842391" y="815712"/>
                </a:lnTo>
                <a:lnTo>
                  <a:pt x="880681" y="785912"/>
                </a:lnTo>
                <a:lnTo>
                  <a:pt x="918972" y="755763"/>
                </a:lnTo>
                <a:lnTo>
                  <a:pt x="957263" y="725306"/>
                </a:lnTo>
                <a:lnTo>
                  <a:pt x="995553" y="694584"/>
                </a:lnTo>
                <a:lnTo>
                  <a:pt x="1033844" y="663647"/>
                </a:lnTo>
                <a:lnTo>
                  <a:pt x="1072134" y="632548"/>
                </a:lnTo>
                <a:lnTo>
                  <a:pt x="1110425" y="601346"/>
                </a:lnTo>
                <a:lnTo>
                  <a:pt x="1148715" y="570104"/>
                </a:lnTo>
                <a:lnTo>
                  <a:pt x="1187006" y="538893"/>
                </a:lnTo>
                <a:lnTo>
                  <a:pt x="1225296" y="507789"/>
                </a:lnTo>
                <a:lnTo>
                  <a:pt x="1263587" y="476874"/>
                </a:lnTo>
                <a:lnTo>
                  <a:pt x="1301877" y="446238"/>
                </a:lnTo>
                <a:lnTo>
                  <a:pt x="1340168" y="415976"/>
                </a:lnTo>
                <a:lnTo>
                  <a:pt x="1378458" y="386193"/>
                </a:lnTo>
                <a:lnTo>
                  <a:pt x="1416749" y="356999"/>
                </a:lnTo>
                <a:lnTo>
                  <a:pt x="1455039" y="328513"/>
                </a:lnTo>
                <a:lnTo>
                  <a:pt x="1493330" y="300863"/>
                </a:lnTo>
                <a:lnTo>
                  <a:pt x="1531620" y="274184"/>
                </a:lnTo>
                <a:lnTo>
                  <a:pt x="1569911" y="248621"/>
                </a:lnTo>
                <a:lnTo>
                  <a:pt x="1608201" y="224327"/>
                </a:lnTo>
                <a:lnTo>
                  <a:pt x="1646492" y="201464"/>
                </a:lnTo>
                <a:lnTo>
                  <a:pt x="1684782" y="180203"/>
                </a:lnTo>
                <a:lnTo>
                  <a:pt x="1723073" y="160727"/>
                </a:lnTo>
                <a:lnTo>
                  <a:pt x="1761363" y="143224"/>
                </a:lnTo>
                <a:lnTo>
                  <a:pt x="1799654" y="127895"/>
                </a:lnTo>
                <a:lnTo>
                  <a:pt x="1837944" y="114947"/>
                </a:lnTo>
                <a:lnTo>
                  <a:pt x="1876235" y="104598"/>
                </a:lnTo>
                <a:lnTo>
                  <a:pt x="1914525" y="97073"/>
                </a:lnTo>
                <a:lnTo>
                  <a:pt x="1952816" y="92607"/>
                </a:lnTo>
                <a:lnTo>
                  <a:pt x="1991106" y="91440"/>
                </a:lnTo>
                <a:lnTo>
                  <a:pt x="2029397" y="93819"/>
                </a:lnTo>
                <a:lnTo>
                  <a:pt x="2067687" y="99995"/>
                </a:lnTo>
                <a:lnTo>
                  <a:pt x="2105978" y="110225"/>
                </a:lnTo>
                <a:lnTo>
                  <a:pt x="2144268" y="124766"/>
                </a:lnTo>
                <a:lnTo>
                  <a:pt x="2182559" y="143875"/>
                </a:lnTo>
                <a:lnTo>
                  <a:pt x="2220849" y="167805"/>
                </a:lnTo>
                <a:lnTo>
                  <a:pt x="2259140" y="196806"/>
                </a:lnTo>
                <a:lnTo>
                  <a:pt x="2297430" y="231114"/>
                </a:lnTo>
                <a:lnTo>
                  <a:pt x="2335721" y="270952"/>
                </a:lnTo>
                <a:lnTo>
                  <a:pt x="2374011" y="316523"/>
                </a:lnTo>
                <a:lnTo>
                  <a:pt x="2412302" y="368005"/>
                </a:lnTo>
                <a:lnTo>
                  <a:pt x="2450592" y="425538"/>
                </a:lnTo>
                <a:lnTo>
                  <a:pt x="2488883" y="489220"/>
                </a:lnTo>
                <a:lnTo>
                  <a:pt x="2527173" y="559093"/>
                </a:lnTo>
                <a:lnTo>
                  <a:pt x="2565464" y="635132"/>
                </a:lnTo>
                <a:lnTo>
                  <a:pt x="2603754" y="717222"/>
                </a:lnTo>
                <a:lnTo>
                  <a:pt x="2642045" y="805143"/>
                </a:lnTo>
                <a:lnTo>
                  <a:pt x="2680335" y="898546"/>
                </a:lnTo>
                <a:lnTo>
                  <a:pt x="2718626" y="996911"/>
                </a:lnTo>
                <a:lnTo>
                  <a:pt x="2756916" y="1099515"/>
                </a:lnTo>
                <a:lnTo>
                  <a:pt x="2795207" y="1205372"/>
                </a:lnTo>
                <a:lnTo>
                  <a:pt x="2833497" y="1313159"/>
                </a:lnTo>
                <a:lnTo>
                  <a:pt x="2871788" y="1421107"/>
                </a:lnTo>
                <a:lnTo>
                  <a:pt x="2910078" y="1526838"/>
                </a:lnTo>
                <a:lnTo>
                  <a:pt x="2948369" y="1627090"/>
                </a:lnTo>
                <a:lnTo>
                  <a:pt x="2986659" y="1717202"/>
                </a:lnTo>
                <a:lnTo>
                  <a:pt x="3024950" y="1789834"/>
                </a:lnTo>
                <a:lnTo>
                  <a:pt x="3063240" y="1828800"/>
                </a:lnTo>
                <a:lnTo>
                  <a:pt x="3063240" y="1828800"/>
                </a:lnTo>
                <a:close/>
              </a:path>
            </a:pathLst>
          </a:custGeom>
          <a:solidFill>
            <a:srgbClr val="D2D0FA"/>
          </a:solidFill>
          <a:ln w="127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7"/>
          <p:cNvSpPr/>
          <p:nvPr/>
        </p:nvSpPr>
        <p:spPr>
          <a:xfrm>
            <a:off x="822960" y="4023360"/>
            <a:ext cx="3063240" cy="360"/>
          </a:xfrm>
          <a:prstGeom prst="line">
            <a:avLst/>
          </a:prstGeom>
          <a:ln w="1270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8"/>
          <p:cNvSpPr/>
          <p:nvPr/>
        </p:nvSpPr>
        <p:spPr>
          <a:xfrm>
            <a:off x="2419920" y="2148840"/>
            <a:ext cx="360" cy="1874520"/>
          </a:xfrm>
          <a:prstGeom prst="line">
            <a:avLst/>
          </a:prstGeom>
          <a:ln w="28575">
            <a:solidFill>
              <a:srgbClr val="F43F5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9"/>
          <p:cNvSpPr/>
          <p:nvPr/>
        </p:nvSpPr>
        <p:spPr>
          <a:xfrm>
            <a:off x="2507400" y="2148840"/>
            <a:ext cx="360" cy="1874520"/>
          </a:xfrm>
          <a:prstGeom prst="line">
            <a:avLst/>
          </a:prstGeom>
          <a:ln w="2857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10"/>
          <p:cNvSpPr/>
          <p:nvPr/>
        </p:nvSpPr>
        <p:spPr>
          <a:xfrm>
            <a:off x="1005840" y="4343400"/>
            <a:ext cx="127800" cy="1278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1"/>
          <p:cNvSpPr/>
          <p:nvPr/>
        </p:nvSpPr>
        <p:spPr>
          <a:xfrm>
            <a:off x="1207080" y="42703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12"/>
          <p:cNvSpPr/>
          <p:nvPr/>
        </p:nvSpPr>
        <p:spPr>
          <a:xfrm>
            <a:off x="2377440" y="4343400"/>
            <a:ext cx="127800" cy="1278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3"/>
          <p:cNvSpPr/>
          <p:nvPr/>
        </p:nvSpPr>
        <p:spPr>
          <a:xfrm>
            <a:off x="2578680" y="42703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Median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14"/>
          <p:cNvSpPr/>
          <p:nvPr/>
        </p:nvSpPr>
        <p:spPr>
          <a:xfrm>
            <a:off x="4297680" y="1417320"/>
            <a:ext cx="3611520" cy="3611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15"/>
          <p:cNvSpPr/>
          <p:nvPr/>
        </p:nvSpPr>
        <p:spPr>
          <a:xfrm>
            <a:off x="4480560" y="1554480"/>
            <a:ext cx="3245760" cy="411120"/>
          </a:xfrm>
          <a:prstGeom prst="roundRect">
            <a:avLst>
              <a:gd name="adj" fmla="val 55556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6"/>
          <p:cNvSpPr/>
          <p:nvPr/>
        </p:nvSpPr>
        <p:spPr>
          <a:xfrm>
            <a:off x="4480560" y="155448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Symmetric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17"/>
          <p:cNvSpPr/>
          <p:nvPr/>
        </p:nvSpPr>
        <p:spPr>
          <a:xfrm>
            <a:off x="4572000" y="2194560"/>
            <a:ext cx="3062880" cy="1828440"/>
          </a:xfrm>
          <a:custGeom>
            <a:avLst/>
            <a:gdLst>
              <a:gd name="textAreaLeft" fmla="*/ 0 w 3062880"/>
              <a:gd name="textAreaRight" fmla="*/ 3063240 w 3062880"/>
              <a:gd name="textAreaTop" fmla="*/ 0 h 1828440"/>
              <a:gd name="textAreaBottom" fmla="*/ 1828800 h 1828440"/>
            </a:gdLst>
            <a:ahLst/>
            <a:cxnLst/>
            <a:rect l="textAreaLeft" t="textAreaTop" r="textAreaRight" b="textAreaBottom"/>
            <a:pathLst>
              <a:path w="3063240" h="1828800">
                <a:moveTo>
                  <a:pt x="0" y="1828800"/>
                </a:moveTo>
                <a:lnTo>
                  <a:pt x="0" y="1815638"/>
                </a:lnTo>
                <a:lnTo>
                  <a:pt x="38291" y="1812050"/>
                </a:lnTo>
                <a:lnTo>
                  <a:pt x="76581" y="1807613"/>
                </a:lnTo>
                <a:lnTo>
                  <a:pt x="114871" y="1802164"/>
                </a:lnTo>
                <a:lnTo>
                  <a:pt x="153162" y="1795517"/>
                </a:lnTo>
                <a:lnTo>
                  <a:pt x="191453" y="1787465"/>
                </a:lnTo>
                <a:lnTo>
                  <a:pt x="229743" y="1777776"/>
                </a:lnTo>
                <a:lnTo>
                  <a:pt x="268034" y="1766200"/>
                </a:lnTo>
                <a:lnTo>
                  <a:pt x="306324" y="1752466"/>
                </a:lnTo>
                <a:lnTo>
                  <a:pt x="344615" y="1736284"/>
                </a:lnTo>
                <a:lnTo>
                  <a:pt x="382905" y="1717354"/>
                </a:lnTo>
                <a:lnTo>
                  <a:pt x="421196" y="1695368"/>
                </a:lnTo>
                <a:lnTo>
                  <a:pt x="459486" y="1670016"/>
                </a:lnTo>
                <a:lnTo>
                  <a:pt x="497777" y="1640998"/>
                </a:lnTo>
                <a:lnTo>
                  <a:pt x="536067" y="1608027"/>
                </a:lnTo>
                <a:lnTo>
                  <a:pt x="574358" y="1570848"/>
                </a:lnTo>
                <a:lnTo>
                  <a:pt x="612648" y="1529242"/>
                </a:lnTo>
                <a:lnTo>
                  <a:pt x="650939" y="1483041"/>
                </a:lnTo>
                <a:lnTo>
                  <a:pt x="689229" y="1432143"/>
                </a:lnTo>
                <a:lnTo>
                  <a:pt x="727520" y="1376522"/>
                </a:lnTo>
                <a:lnTo>
                  <a:pt x="765810" y="1316239"/>
                </a:lnTo>
                <a:lnTo>
                  <a:pt x="804101" y="1251456"/>
                </a:lnTo>
                <a:lnTo>
                  <a:pt x="842391" y="1182443"/>
                </a:lnTo>
                <a:lnTo>
                  <a:pt x="880681" y="1109582"/>
                </a:lnTo>
                <a:lnTo>
                  <a:pt x="918972" y="1033379"/>
                </a:lnTo>
                <a:lnTo>
                  <a:pt x="957263" y="954454"/>
                </a:lnTo>
                <a:lnTo>
                  <a:pt x="995553" y="873546"/>
                </a:lnTo>
                <a:lnTo>
                  <a:pt x="1033844" y="791502"/>
                </a:lnTo>
                <a:lnTo>
                  <a:pt x="1072134" y="709265"/>
                </a:lnTo>
                <a:lnTo>
                  <a:pt x="1110425" y="627861"/>
                </a:lnTo>
                <a:lnTo>
                  <a:pt x="1148715" y="548376"/>
                </a:lnTo>
                <a:lnTo>
                  <a:pt x="1187006" y="471938"/>
                </a:lnTo>
                <a:lnTo>
                  <a:pt x="1225296" y="399687"/>
                </a:lnTo>
                <a:lnTo>
                  <a:pt x="1263587" y="332747"/>
                </a:lnTo>
                <a:lnTo>
                  <a:pt x="1301877" y="272201"/>
                </a:lnTo>
                <a:lnTo>
                  <a:pt x="1340168" y="219060"/>
                </a:lnTo>
                <a:lnTo>
                  <a:pt x="1378458" y="174234"/>
                </a:lnTo>
                <a:lnTo>
                  <a:pt x="1416749" y="138509"/>
                </a:lnTo>
                <a:lnTo>
                  <a:pt x="1455039" y="112519"/>
                </a:lnTo>
                <a:lnTo>
                  <a:pt x="1493330" y="96734"/>
                </a:lnTo>
                <a:lnTo>
                  <a:pt x="1531620" y="91440"/>
                </a:lnTo>
                <a:lnTo>
                  <a:pt x="1569911" y="96734"/>
                </a:lnTo>
                <a:lnTo>
                  <a:pt x="1608201" y="112519"/>
                </a:lnTo>
                <a:lnTo>
                  <a:pt x="1646492" y="138509"/>
                </a:lnTo>
                <a:lnTo>
                  <a:pt x="1684782" y="174234"/>
                </a:lnTo>
                <a:lnTo>
                  <a:pt x="1723073" y="219060"/>
                </a:lnTo>
                <a:lnTo>
                  <a:pt x="1761363" y="272201"/>
                </a:lnTo>
                <a:lnTo>
                  <a:pt x="1799654" y="332747"/>
                </a:lnTo>
                <a:lnTo>
                  <a:pt x="1837944" y="399687"/>
                </a:lnTo>
                <a:lnTo>
                  <a:pt x="1876235" y="471938"/>
                </a:lnTo>
                <a:lnTo>
                  <a:pt x="1914525" y="548376"/>
                </a:lnTo>
                <a:lnTo>
                  <a:pt x="1952816" y="627861"/>
                </a:lnTo>
                <a:lnTo>
                  <a:pt x="1991106" y="709265"/>
                </a:lnTo>
                <a:lnTo>
                  <a:pt x="2029397" y="791502"/>
                </a:lnTo>
                <a:lnTo>
                  <a:pt x="2067687" y="873546"/>
                </a:lnTo>
                <a:lnTo>
                  <a:pt x="2105978" y="954454"/>
                </a:lnTo>
                <a:lnTo>
                  <a:pt x="2144268" y="1033379"/>
                </a:lnTo>
                <a:lnTo>
                  <a:pt x="2182559" y="1109582"/>
                </a:lnTo>
                <a:lnTo>
                  <a:pt x="2220849" y="1182443"/>
                </a:lnTo>
                <a:lnTo>
                  <a:pt x="2259140" y="1251456"/>
                </a:lnTo>
                <a:lnTo>
                  <a:pt x="2297430" y="1316239"/>
                </a:lnTo>
                <a:lnTo>
                  <a:pt x="2335721" y="1376522"/>
                </a:lnTo>
                <a:lnTo>
                  <a:pt x="2374011" y="1432143"/>
                </a:lnTo>
                <a:lnTo>
                  <a:pt x="2412302" y="1483041"/>
                </a:lnTo>
                <a:lnTo>
                  <a:pt x="2450592" y="1529242"/>
                </a:lnTo>
                <a:lnTo>
                  <a:pt x="2488883" y="1570848"/>
                </a:lnTo>
                <a:lnTo>
                  <a:pt x="2527173" y="1608027"/>
                </a:lnTo>
                <a:lnTo>
                  <a:pt x="2565464" y="1640998"/>
                </a:lnTo>
                <a:lnTo>
                  <a:pt x="2603754" y="1670016"/>
                </a:lnTo>
                <a:lnTo>
                  <a:pt x="2642045" y="1695368"/>
                </a:lnTo>
                <a:lnTo>
                  <a:pt x="2680335" y="1717354"/>
                </a:lnTo>
                <a:lnTo>
                  <a:pt x="2718626" y="1736284"/>
                </a:lnTo>
                <a:lnTo>
                  <a:pt x="2756916" y="1752466"/>
                </a:lnTo>
                <a:lnTo>
                  <a:pt x="2795207" y="1766200"/>
                </a:lnTo>
                <a:lnTo>
                  <a:pt x="2833497" y="1777776"/>
                </a:lnTo>
                <a:lnTo>
                  <a:pt x="2871788" y="1787465"/>
                </a:lnTo>
                <a:lnTo>
                  <a:pt x="2910078" y="1795517"/>
                </a:lnTo>
                <a:lnTo>
                  <a:pt x="2948369" y="1802164"/>
                </a:lnTo>
                <a:lnTo>
                  <a:pt x="2986659" y="1807613"/>
                </a:lnTo>
                <a:lnTo>
                  <a:pt x="3024950" y="1812050"/>
                </a:lnTo>
                <a:lnTo>
                  <a:pt x="3063240" y="1815638"/>
                </a:lnTo>
                <a:lnTo>
                  <a:pt x="3063240" y="1828800"/>
                </a:lnTo>
                <a:close/>
              </a:path>
            </a:pathLst>
          </a:custGeom>
          <a:solidFill>
            <a:srgbClr val="D2D0FA"/>
          </a:solidFill>
          <a:ln w="127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18"/>
          <p:cNvSpPr/>
          <p:nvPr/>
        </p:nvSpPr>
        <p:spPr>
          <a:xfrm>
            <a:off x="4572000" y="4023360"/>
            <a:ext cx="3063240" cy="360"/>
          </a:xfrm>
          <a:prstGeom prst="line">
            <a:avLst/>
          </a:prstGeom>
          <a:ln w="1270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19"/>
          <p:cNvSpPr/>
          <p:nvPr/>
        </p:nvSpPr>
        <p:spPr>
          <a:xfrm>
            <a:off x="6103440" y="2148840"/>
            <a:ext cx="360" cy="1874520"/>
          </a:xfrm>
          <a:prstGeom prst="line">
            <a:avLst/>
          </a:prstGeom>
          <a:ln w="28575">
            <a:solidFill>
              <a:srgbClr val="F43F5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20"/>
          <p:cNvSpPr/>
          <p:nvPr/>
        </p:nvSpPr>
        <p:spPr>
          <a:xfrm>
            <a:off x="6103440" y="2148840"/>
            <a:ext cx="360" cy="1874520"/>
          </a:xfrm>
          <a:prstGeom prst="line">
            <a:avLst/>
          </a:prstGeom>
          <a:ln w="2857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21"/>
          <p:cNvSpPr/>
          <p:nvPr/>
        </p:nvSpPr>
        <p:spPr>
          <a:xfrm>
            <a:off x="4754880" y="4343400"/>
            <a:ext cx="127800" cy="1278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22"/>
          <p:cNvSpPr/>
          <p:nvPr/>
        </p:nvSpPr>
        <p:spPr>
          <a:xfrm>
            <a:off x="4956120" y="42703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23"/>
          <p:cNvSpPr/>
          <p:nvPr/>
        </p:nvSpPr>
        <p:spPr>
          <a:xfrm>
            <a:off x="6126480" y="4343400"/>
            <a:ext cx="127800" cy="1278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24"/>
          <p:cNvSpPr/>
          <p:nvPr/>
        </p:nvSpPr>
        <p:spPr>
          <a:xfrm>
            <a:off x="6327720" y="42703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Median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25"/>
          <p:cNvSpPr/>
          <p:nvPr/>
        </p:nvSpPr>
        <p:spPr>
          <a:xfrm>
            <a:off x="8046720" y="1417320"/>
            <a:ext cx="3611520" cy="3611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26"/>
          <p:cNvSpPr/>
          <p:nvPr/>
        </p:nvSpPr>
        <p:spPr>
          <a:xfrm>
            <a:off x="8229600" y="1554480"/>
            <a:ext cx="3245760" cy="411120"/>
          </a:xfrm>
          <a:prstGeom prst="roundRect">
            <a:avLst>
              <a:gd name="adj" fmla="val 55556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27"/>
          <p:cNvSpPr/>
          <p:nvPr/>
        </p:nvSpPr>
        <p:spPr>
          <a:xfrm>
            <a:off x="8229600" y="155448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Right-Skewed (Positive)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28"/>
          <p:cNvSpPr/>
          <p:nvPr/>
        </p:nvSpPr>
        <p:spPr>
          <a:xfrm>
            <a:off x="8321040" y="2194560"/>
            <a:ext cx="3062880" cy="1828440"/>
          </a:xfrm>
          <a:custGeom>
            <a:avLst/>
            <a:gdLst>
              <a:gd name="textAreaLeft" fmla="*/ 0 w 3062880"/>
              <a:gd name="textAreaRight" fmla="*/ 3063240 w 3062880"/>
              <a:gd name="textAreaTop" fmla="*/ 0 h 1828440"/>
              <a:gd name="textAreaBottom" fmla="*/ 1828800 h 1828440"/>
            </a:gdLst>
            <a:ahLst/>
            <a:cxnLst/>
            <a:rect l="textAreaLeft" t="textAreaTop" r="textAreaRight" b="textAreaBottom"/>
            <a:pathLst>
              <a:path w="3063240" h="1828800">
                <a:moveTo>
                  <a:pt x="0" y="1828800"/>
                </a:moveTo>
                <a:lnTo>
                  <a:pt x="0" y="1828800"/>
                </a:lnTo>
                <a:lnTo>
                  <a:pt x="38291" y="1789834"/>
                </a:lnTo>
                <a:lnTo>
                  <a:pt x="76581" y="1717202"/>
                </a:lnTo>
                <a:lnTo>
                  <a:pt x="114871" y="1627090"/>
                </a:lnTo>
                <a:lnTo>
                  <a:pt x="153162" y="1526838"/>
                </a:lnTo>
                <a:lnTo>
                  <a:pt x="191453" y="1421107"/>
                </a:lnTo>
                <a:lnTo>
                  <a:pt x="229743" y="1313159"/>
                </a:lnTo>
                <a:lnTo>
                  <a:pt x="268034" y="1205372"/>
                </a:lnTo>
                <a:lnTo>
                  <a:pt x="306324" y="1099515"/>
                </a:lnTo>
                <a:lnTo>
                  <a:pt x="344615" y="996911"/>
                </a:lnTo>
                <a:lnTo>
                  <a:pt x="382905" y="898546"/>
                </a:lnTo>
                <a:lnTo>
                  <a:pt x="421196" y="805143"/>
                </a:lnTo>
                <a:lnTo>
                  <a:pt x="459486" y="717222"/>
                </a:lnTo>
                <a:lnTo>
                  <a:pt x="497777" y="635132"/>
                </a:lnTo>
                <a:lnTo>
                  <a:pt x="536067" y="559093"/>
                </a:lnTo>
                <a:lnTo>
                  <a:pt x="574358" y="489220"/>
                </a:lnTo>
                <a:lnTo>
                  <a:pt x="612648" y="425538"/>
                </a:lnTo>
                <a:lnTo>
                  <a:pt x="650939" y="368005"/>
                </a:lnTo>
                <a:lnTo>
                  <a:pt x="689229" y="316523"/>
                </a:lnTo>
                <a:lnTo>
                  <a:pt x="727520" y="270952"/>
                </a:lnTo>
                <a:lnTo>
                  <a:pt x="765810" y="231114"/>
                </a:lnTo>
                <a:lnTo>
                  <a:pt x="804101" y="196806"/>
                </a:lnTo>
                <a:lnTo>
                  <a:pt x="842391" y="167805"/>
                </a:lnTo>
                <a:lnTo>
                  <a:pt x="880681" y="143875"/>
                </a:lnTo>
                <a:lnTo>
                  <a:pt x="918972" y="124766"/>
                </a:lnTo>
                <a:lnTo>
                  <a:pt x="957263" y="110225"/>
                </a:lnTo>
                <a:lnTo>
                  <a:pt x="995553" y="99995"/>
                </a:lnTo>
                <a:lnTo>
                  <a:pt x="1033844" y="93819"/>
                </a:lnTo>
                <a:lnTo>
                  <a:pt x="1072134" y="91440"/>
                </a:lnTo>
                <a:lnTo>
                  <a:pt x="1110425" y="92607"/>
                </a:lnTo>
                <a:lnTo>
                  <a:pt x="1148715" y="97073"/>
                </a:lnTo>
                <a:lnTo>
                  <a:pt x="1187006" y="104598"/>
                </a:lnTo>
                <a:lnTo>
                  <a:pt x="1225296" y="114947"/>
                </a:lnTo>
                <a:lnTo>
                  <a:pt x="1263587" y="127895"/>
                </a:lnTo>
                <a:lnTo>
                  <a:pt x="1301877" y="143224"/>
                </a:lnTo>
                <a:lnTo>
                  <a:pt x="1340168" y="160727"/>
                </a:lnTo>
                <a:lnTo>
                  <a:pt x="1378458" y="180203"/>
                </a:lnTo>
                <a:lnTo>
                  <a:pt x="1416749" y="201464"/>
                </a:lnTo>
                <a:lnTo>
                  <a:pt x="1455039" y="224327"/>
                </a:lnTo>
                <a:lnTo>
                  <a:pt x="1493330" y="248621"/>
                </a:lnTo>
                <a:lnTo>
                  <a:pt x="1531620" y="274184"/>
                </a:lnTo>
                <a:lnTo>
                  <a:pt x="1569911" y="300863"/>
                </a:lnTo>
                <a:lnTo>
                  <a:pt x="1608201" y="328513"/>
                </a:lnTo>
                <a:lnTo>
                  <a:pt x="1646492" y="356999"/>
                </a:lnTo>
                <a:lnTo>
                  <a:pt x="1684782" y="386193"/>
                </a:lnTo>
                <a:lnTo>
                  <a:pt x="1723073" y="415976"/>
                </a:lnTo>
                <a:lnTo>
                  <a:pt x="1761363" y="446238"/>
                </a:lnTo>
                <a:lnTo>
                  <a:pt x="1799654" y="476874"/>
                </a:lnTo>
                <a:lnTo>
                  <a:pt x="1837944" y="507789"/>
                </a:lnTo>
                <a:lnTo>
                  <a:pt x="1876235" y="538893"/>
                </a:lnTo>
                <a:lnTo>
                  <a:pt x="1914525" y="570104"/>
                </a:lnTo>
                <a:lnTo>
                  <a:pt x="1952816" y="601346"/>
                </a:lnTo>
                <a:lnTo>
                  <a:pt x="1991106" y="632548"/>
                </a:lnTo>
                <a:lnTo>
                  <a:pt x="2029397" y="663647"/>
                </a:lnTo>
                <a:lnTo>
                  <a:pt x="2067687" y="694584"/>
                </a:lnTo>
                <a:lnTo>
                  <a:pt x="2105978" y="725306"/>
                </a:lnTo>
                <a:lnTo>
                  <a:pt x="2144268" y="755763"/>
                </a:lnTo>
                <a:lnTo>
                  <a:pt x="2182559" y="785912"/>
                </a:lnTo>
                <a:lnTo>
                  <a:pt x="2220849" y="815712"/>
                </a:lnTo>
                <a:lnTo>
                  <a:pt x="2259140" y="845129"/>
                </a:lnTo>
                <a:lnTo>
                  <a:pt x="2297430" y="874131"/>
                </a:lnTo>
                <a:lnTo>
                  <a:pt x="2335721" y="902690"/>
                </a:lnTo>
                <a:lnTo>
                  <a:pt x="2374011" y="930781"/>
                </a:lnTo>
                <a:lnTo>
                  <a:pt x="2412302" y="958382"/>
                </a:lnTo>
                <a:lnTo>
                  <a:pt x="2450592" y="985474"/>
                </a:lnTo>
                <a:lnTo>
                  <a:pt x="2488883" y="1012043"/>
                </a:lnTo>
                <a:lnTo>
                  <a:pt x="2527173" y="1038074"/>
                </a:lnTo>
                <a:lnTo>
                  <a:pt x="2565464" y="1063557"/>
                </a:lnTo>
                <a:lnTo>
                  <a:pt x="2603754" y="1088482"/>
                </a:lnTo>
                <a:lnTo>
                  <a:pt x="2642045" y="1112843"/>
                </a:lnTo>
                <a:lnTo>
                  <a:pt x="2680335" y="1136636"/>
                </a:lnTo>
                <a:lnTo>
                  <a:pt x="2718626" y="1159856"/>
                </a:lnTo>
                <a:lnTo>
                  <a:pt x="2756916" y="1182502"/>
                </a:lnTo>
                <a:lnTo>
                  <a:pt x="2795207" y="1204574"/>
                </a:lnTo>
                <a:lnTo>
                  <a:pt x="2833497" y="1226074"/>
                </a:lnTo>
                <a:lnTo>
                  <a:pt x="2871788" y="1247003"/>
                </a:lnTo>
                <a:lnTo>
                  <a:pt x="2910078" y="1267365"/>
                </a:lnTo>
                <a:lnTo>
                  <a:pt x="2948369" y="1287165"/>
                </a:lnTo>
                <a:lnTo>
                  <a:pt x="2986659" y="1306407"/>
                </a:lnTo>
                <a:lnTo>
                  <a:pt x="3024950" y="1325098"/>
                </a:lnTo>
                <a:lnTo>
                  <a:pt x="3063240" y="1343245"/>
                </a:lnTo>
                <a:lnTo>
                  <a:pt x="3063240" y="1828800"/>
                </a:lnTo>
                <a:close/>
              </a:path>
            </a:pathLst>
          </a:custGeom>
          <a:solidFill>
            <a:srgbClr val="D2D0FA"/>
          </a:solidFill>
          <a:ln w="127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29"/>
          <p:cNvSpPr/>
          <p:nvPr/>
        </p:nvSpPr>
        <p:spPr>
          <a:xfrm>
            <a:off x="8321040" y="4023360"/>
            <a:ext cx="3063240" cy="360"/>
          </a:xfrm>
          <a:prstGeom prst="line">
            <a:avLst/>
          </a:prstGeom>
          <a:ln w="1270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30"/>
          <p:cNvSpPr/>
          <p:nvPr/>
        </p:nvSpPr>
        <p:spPr>
          <a:xfrm>
            <a:off x="9786960" y="2148840"/>
            <a:ext cx="360" cy="1874520"/>
          </a:xfrm>
          <a:prstGeom prst="line">
            <a:avLst/>
          </a:prstGeom>
          <a:ln w="28575">
            <a:solidFill>
              <a:srgbClr val="F43F5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31"/>
          <p:cNvSpPr/>
          <p:nvPr/>
        </p:nvSpPr>
        <p:spPr>
          <a:xfrm>
            <a:off x="9699480" y="2148840"/>
            <a:ext cx="360" cy="1874520"/>
          </a:xfrm>
          <a:prstGeom prst="line">
            <a:avLst/>
          </a:prstGeom>
          <a:ln w="2857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32"/>
          <p:cNvSpPr/>
          <p:nvPr/>
        </p:nvSpPr>
        <p:spPr>
          <a:xfrm>
            <a:off x="8503920" y="4343400"/>
            <a:ext cx="127800" cy="1278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33"/>
          <p:cNvSpPr/>
          <p:nvPr/>
        </p:nvSpPr>
        <p:spPr>
          <a:xfrm>
            <a:off x="8705160" y="42703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34"/>
          <p:cNvSpPr/>
          <p:nvPr/>
        </p:nvSpPr>
        <p:spPr>
          <a:xfrm>
            <a:off x="9875520" y="4343400"/>
            <a:ext cx="127800" cy="1278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35"/>
          <p:cNvSpPr/>
          <p:nvPr/>
        </p:nvSpPr>
        <p:spPr>
          <a:xfrm>
            <a:off x="10076760" y="42703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Median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36"/>
          <p:cNvSpPr/>
          <p:nvPr/>
        </p:nvSpPr>
        <p:spPr>
          <a:xfrm>
            <a:off x="548640" y="5257800"/>
            <a:ext cx="11109600" cy="822600"/>
          </a:xfrm>
          <a:prstGeom prst="roundRect">
            <a:avLst>
              <a:gd name="adj" fmla="val 11111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37"/>
          <p:cNvSpPr/>
          <p:nvPr/>
        </p:nvSpPr>
        <p:spPr>
          <a:xfrm>
            <a:off x="777240" y="5257800"/>
            <a:ext cx="10652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The tail pulls the mean toward it, while the median resists — this is exactly why a skewed distribution makes the mean and median disagree, and why the median is the safer choice when skew is present.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1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2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Skew Pulls the Mean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Incomes are the classic right-skewed data: a few huge values form the tail.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mean gets dragged toward the tail; the median resists.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Mean above median is the quick signature of right skew.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rng = np.random.default_rng(2)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income = rng.lognormal(mean=10.5, sigma=0.8, size=5000)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print(round(income.mean()))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49981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print(round(np.median(income)))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36640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print(income.mean() &gt; np.median(income))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True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1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2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Skewness vs. Kurtosis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3"/>
          <p:cNvSpPr/>
          <p:nvPr/>
        </p:nvSpPr>
        <p:spPr>
          <a:xfrm>
            <a:off x="548640" y="1783080"/>
            <a:ext cx="502884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Skewness measures asymmetry — exactly the left-vs-right lean covered on the last slide, now given a number: 0 is symmetric, positive leans right, negative leans left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Kurtosis measures tail weight — how much of your data lives in extreme values far from the mean, compared to a normal distribution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High kurtosis means heavier tails and more extreme outliers than you’d expect; low kurtosis means a flatter distribution with fewer extremes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Neither needs to be calculated by hand in practice — the goal here is recognizing what these words mean when a tool reports them to you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4"/>
          <p:cNvSpPr/>
          <p:nvPr/>
        </p:nvSpPr>
        <p:spPr>
          <a:xfrm>
            <a:off x="5852160" y="1737360"/>
            <a:ext cx="580608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5"/>
          <p:cNvSpPr/>
          <p:nvPr/>
        </p:nvSpPr>
        <p:spPr>
          <a:xfrm>
            <a:off x="601668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6"/>
          <p:cNvSpPr/>
          <p:nvPr/>
        </p:nvSpPr>
        <p:spPr>
          <a:xfrm>
            <a:off x="621792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7"/>
          <p:cNvSpPr/>
          <p:nvPr/>
        </p:nvSpPr>
        <p:spPr>
          <a:xfrm>
            <a:off x="641916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8"/>
          <p:cNvSpPr/>
          <p:nvPr/>
        </p:nvSpPr>
        <p:spPr>
          <a:xfrm>
            <a:off x="6035040" y="2148840"/>
            <a:ext cx="54860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Skewness: rough intuition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skew &gt; 0  -&gt;  tail stretches right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skew &lt; 0  -&gt;  tail stretches left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skew ≈ 0  -&gt;  roughly symmetric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Kurtosis: rough intuition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kurtosis high  -&gt;  heavy tails,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              more extreme outliers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kurtosis low   -&gt;  light tails, flatter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1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2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Skewness &amp; Kurtosis in Code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scipy.stats.skew and kurtosis return the numbers the slide describes.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Normal data is near 0 for both (scipy reports excess kurtosis).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Right-skewed, heavy-tailed data scores clearly positive.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rng = np.random.default_rng(3)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normal = rng.normal(0, 1, 10_000)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skewed = rng.exponential(1, 10_000)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print(abs(stats.skew(normal)) &lt; 0.1)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print(round(stats.skew(skewed), 2))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2.02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print(round(stats.kurtosis(normal), 2))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-0.06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print(round(stats.kurtosis(skewed), 2))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6.43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1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2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Outliers via the IQR Rule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!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A precise, repeatable fence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Session 18 introduced outliers conceptually through the box plot — this is the actual rule that decides exactly where the whiskers end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rule builds a "fence" 1.5 times the IQR beyond Q1 and Q3 — anything outside that fence is flagged as an outlier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gives you a precise, repeatable, and consistent way to flag outliers, instead of relying on a subjective "that number looks big" judgment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Not every outlier is an error — some are perfectly real, important extreme values. Flagging is the first step; deciding what to do about it always requires judgment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0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1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1.5×IQR Fence Rule in Action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3"/>
          <p:cNvSpPr/>
          <p:nvPr/>
        </p:nvSpPr>
        <p:spPr>
          <a:xfrm>
            <a:off x="548640" y="1783080"/>
            <a:ext cx="502884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Calculate IQR, then build a lower fence and an upper fence exactly 1.5×IQR beyond Q1 and Q3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Anything below the lower fence, or above the upper fence, gets flagged as an outlier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exactly the rule box plot whiskers use to decide where to stop — anything beyond them is typically plotted as an individual point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4"/>
          <p:cNvSpPr/>
          <p:nvPr/>
        </p:nvSpPr>
        <p:spPr>
          <a:xfrm>
            <a:off x="5852160" y="1737360"/>
            <a:ext cx="580608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5"/>
          <p:cNvSpPr/>
          <p:nvPr/>
        </p:nvSpPr>
        <p:spPr>
          <a:xfrm>
            <a:off x="601668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6"/>
          <p:cNvSpPr/>
          <p:nvPr/>
        </p:nvSpPr>
        <p:spPr>
          <a:xfrm>
            <a:off x="621792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7"/>
          <p:cNvSpPr/>
          <p:nvPr/>
        </p:nvSpPr>
        <p:spPr>
          <a:xfrm>
            <a:off x="641916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8"/>
          <p:cNvSpPr/>
          <p:nvPr/>
        </p:nvSpPr>
        <p:spPr>
          <a:xfrm>
            <a:off x="6035040" y="2148840"/>
            <a:ext cx="54860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IQR = Q3 − Q1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lower_fence = Q1 − 1.5 × IQR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upper_fence = Q3 + 1.5 × IQR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Example: Q1 = 20, Q3 = 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IQR = 30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lower = 20 - 45 = -25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upper = 50 + 45 = 95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Anything outside is an outlier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0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1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1.5×IQR Fence in Code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Wrap the rule in a small function you can reuse on any list.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Q1 and Q3 come from np.percentile; the fences sit 1.5 × IQR beyond them.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Anything outside the fences is flagged as an outlier.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def iqr_outliers(data):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q1, q3 = np.percentile(data, [25, 75])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iqr = q3 - q1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lo, hi = q1 - 1.5 * iqr, q3 + 1.5 * iqr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return lo, hi, [x for x in data if x &lt; lo or x &gt; hi]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data = [18, 20, 22, 30, 38, 50, 52, 120]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lo, hi, out = iqr_outliers(data)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print(lo, hi)    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-22.0 94.0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print(out)       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[120]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0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1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Shape of a Distribution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a dataset of household incomes, predict whether it’s more likely left-skewed or right-skewed, and explain your reasoning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11"/>
          <p:cNvSpPr/>
          <p:nvPr/>
        </p:nvSpPr>
        <p:spPr>
          <a:xfrm>
            <a:off x="548640" y="289872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12"/>
          <p:cNvSpPr/>
          <p:nvPr/>
        </p:nvSpPr>
        <p:spPr>
          <a:xfrm>
            <a:off x="731520" y="313632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13"/>
          <p:cNvSpPr/>
          <p:nvPr/>
        </p:nvSpPr>
        <p:spPr>
          <a:xfrm>
            <a:off x="731520" y="3136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14"/>
          <p:cNvSpPr/>
          <p:nvPr/>
        </p:nvSpPr>
        <p:spPr>
          <a:xfrm>
            <a:off x="1234440" y="28987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in your own words why a skewed distribution makes the mean less trustworthy as a "typical value"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15"/>
          <p:cNvSpPr/>
          <p:nvPr/>
        </p:nvSpPr>
        <p:spPr>
          <a:xfrm>
            <a:off x="548640" y="38314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16"/>
          <p:cNvSpPr/>
          <p:nvPr/>
        </p:nvSpPr>
        <p:spPr>
          <a:xfrm>
            <a:off x="731520" y="406908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17"/>
          <p:cNvSpPr/>
          <p:nvPr/>
        </p:nvSpPr>
        <p:spPr>
          <a:xfrm>
            <a:off x="731520" y="4069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18"/>
          <p:cNvSpPr/>
          <p:nvPr/>
        </p:nvSpPr>
        <p:spPr>
          <a:xfrm>
            <a:off x="1234440" y="38314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Given Q1 = 10 and Q3 = 40, calculate the lower and upper fences using the 1.5×IQR rule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19"/>
          <p:cNvSpPr/>
          <p:nvPr/>
        </p:nvSpPr>
        <p:spPr>
          <a:xfrm>
            <a:off x="548640" y="47638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20"/>
          <p:cNvSpPr/>
          <p:nvPr/>
        </p:nvSpPr>
        <p:spPr>
          <a:xfrm>
            <a:off x="731520" y="500184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21"/>
          <p:cNvSpPr/>
          <p:nvPr/>
        </p:nvSpPr>
        <p:spPr>
          <a:xfrm>
            <a:off x="731520" y="5001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22"/>
          <p:cNvSpPr/>
          <p:nvPr/>
        </p:nvSpPr>
        <p:spPr>
          <a:xfrm>
            <a:off x="1234440" y="47638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a real histogram (news article, report, or dataset) and describe its shape — symmetric, left-skewed, or right-skewed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2"/>
          <p:cNvSpPr/>
          <p:nvPr/>
        </p:nvSpPr>
        <p:spPr>
          <a:xfrm>
            <a:off x="640080" y="21945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3"/>
          <p:cNvSpPr/>
          <p:nvPr/>
        </p:nvSpPr>
        <p:spPr>
          <a:xfrm>
            <a:off x="640080" y="2697480"/>
            <a:ext cx="10332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Correlation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4"/>
          <p:cNvSpPr/>
          <p:nvPr/>
        </p:nvSpPr>
        <p:spPr>
          <a:xfrm>
            <a:off x="640080" y="4023360"/>
            <a:ext cx="9692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The heatmap from Session 18 was the picture — this is the actual number behind it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5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45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0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1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Does Correlation Actually Measure?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↗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Do they move together?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Correlation measures the strength and direction of a straight-line relationship between two numerical variables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Positive correlation: as one variable increases, the other tends to increase too. Negative correlation: as one increases, the other tends to decrease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Correlation says absolutely nothing about WHY two things move together — only THAT they do, and how consistently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precisely the statistic behind every cell of the correlation heatmap from Session 18 — now you’ll see exactly how each number is actually calculated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9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0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Pearson Correlation Coefficient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3"/>
          <p:cNvSpPr/>
          <p:nvPr/>
        </p:nvSpPr>
        <p:spPr>
          <a:xfrm>
            <a:off x="548640" y="1783080"/>
            <a:ext cx="502884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Pearson correlation coefficient, r, is the standard measure of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straight-line correlation — the exact number that fills every cell of a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correlation heatmap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 always falls between −1 and +1 — the sign gives direction, the size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gives strength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 = 0 doesn’t necessarily mean "no relationship at all" — it means no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LINEAR relationship. A strong curved relationship can still produce an r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near 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4"/>
          <p:cNvSpPr/>
          <p:nvPr/>
        </p:nvSpPr>
        <p:spPr>
          <a:xfrm>
            <a:off x="5852160" y="1737360"/>
            <a:ext cx="580608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5"/>
          <p:cNvSpPr/>
          <p:nvPr/>
        </p:nvSpPr>
        <p:spPr>
          <a:xfrm>
            <a:off x="601668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6"/>
          <p:cNvSpPr/>
          <p:nvPr/>
        </p:nvSpPr>
        <p:spPr>
          <a:xfrm>
            <a:off x="621792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7"/>
          <p:cNvSpPr/>
          <p:nvPr/>
        </p:nvSpPr>
        <p:spPr>
          <a:xfrm>
            <a:off x="641916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8"/>
          <p:cNvSpPr/>
          <p:nvPr/>
        </p:nvSpPr>
        <p:spPr>
          <a:xfrm>
            <a:off x="6035040" y="2148840"/>
            <a:ext cx="54860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r compares how x and y vary together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against how much each varies alone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 = +1.0   perfect positive 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 = +0.7   strong positive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 =  0.0   no linear relationship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 = -0.7   strong negative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 = -1.0   perfect negative 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9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0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Pearson r in Code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np.corrcoef returns a 2×2 matrix; the off-diagonal cell is 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scipy.stats.pearsonr gives r and a p-value (p-values arrive in Inferential Statistics).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perfect curve like y = x² still gives r near 0 — r only sees straight lines.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hours = [1, 2, 3, 4, 5, 6]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score = [52, 55, 61, 64, 70, 74]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print(round(np.corrcoef(hours, score)[0, 1], 3))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→ 0.996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r, p = stats.pearsonr(hours, score)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print(round(r, 3))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0.996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x = [-3, -2, -1, 0, 1, 2, 3]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y = [v ** 2 for v in x]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perfect curve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print(round(np.corrcoef(x, y)[0, 1], 2))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9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0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Correlation Strength, at a Glance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3"/>
          <p:cNvSpPr/>
          <p:nvPr/>
        </p:nvSpPr>
        <p:spPr>
          <a:xfrm>
            <a:off x="548640" y="1417320"/>
            <a:ext cx="2697120" cy="34286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12" name="Chart 0"/>
          <p:cNvGraphicFramePr/>
          <p:nvPr/>
        </p:nvGraphicFramePr>
        <p:xfrm>
          <a:off x="640080" y="1554480"/>
          <a:ext cx="2514240" cy="2148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13" name="Text 4"/>
          <p:cNvSpPr/>
          <p:nvPr/>
        </p:nvSpPr>
        <p:spPr>
          <a:xfrm>
            <a:off x="685800" y="379476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Strong Positive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5"/>
          <p:cNvSpPr/>
          <p:nvPr/>
        </p:nvSpPr>
        <p:spPr>
          <a:xfrm>
            <a:off x="1051560" y="4279320"/>
            <a:ext cx="1691280" cy="365400"/>
          </a:xfrm>
          <a:prstGeom prst="roundRect">
            <a:avLst>
              <a:gd name="adj" fmla="val 625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6"/>
          <p:cNvSpPr/>
          <p:nvPr/>
        </p:nvSpPr>
        <p:spPr>
          <a:xfrm>
            <a:off x="1051560" y="427932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r ≈ +0.95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7"/>
          <p:cNvSpPr/>
          <p:nvPr/>
        </p:nvSpPr>
        <p:spPr>
          <a:xfrm>
            <a:off x="3383280" y="1417320"/>
            <a:ext cx="2697120" cy="34286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17" name="Chart 1"/>
          <p:cNvGraphicFramePr/>
          <p:nvPr/>
        </p:nvGraphicFramePr>
        <p:xfrm>
          <a:off x="3474720" y="1554480"/>
          <a:ext cx="2514240" cy="2148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18" name="Text 8"/>
          <p:cNvSpPr/>
          <p:nvPr/>
        </p:nvSpPr>
        <p:spPr>
          <a:xfrm>
            <a:off x="3520440" y="379476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Weak Positive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9"/>
          <p:cNvSpPr/>
          <p:nvPr/>
        </p:nvSpPr>
        <p:spPr>
          <a:xfrm>
            <a:off x="3886200" y="4279320"/>
            <a:ext cx="1691280" cy="365400"/>
          </a:xfrm>
          <a:prstGeom prst="roundRect">
            <a:avLst>
              <a:gd name="adj" fmla="val 625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10"/>
          <p:cNvSpPr/>
          <p:nvPr/>
        </p:nvSpPr>
        <p:spPr>
          <a:xfrm>
            <a:off x="3886200" y="427932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r ≈ +0.35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11"/>
          <p:cNvSpPr/>
          <p:nvPr/>
        </p:nvSpPr>
        <p:spPr>
          <a:xfrm>
            <a:off x="6217920" y="1417320"/>
            <a:ext cx="2697120" cy="34286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22" name="Chart 2"/>
          <p:cNvGraphicFramePr/>
          <p:nvPr/>
        </p:nvGraphicFramePr>
        <p:xfrm>
          <a:off x="6309360" y="1554480"/>
          <a:ext cx="2514240" cy="2148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23" name="Text 12"/>
          <p:cNvSpPr/>
          <p:nvPr/>
        </p:nvSpPr>
        <p:spPr>
          <a:xfrm>
            <a:off x="6355080" y="379476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No Correlation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13"/>
          <p:cNvSpPr/>
          <p:nvPr/>
        </p:nvSpPr>
        <p:spPr>
          <a:xfrm>
            <a:off x="6720840" y="4279320"/>
            <a:ext cx="1691280" cy="365400"/>
          </a:xfrm>
          <a:prstGeom prst="roundRect">
            <a:avLst>
              <a:gd name="adj" fmla="val 62500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14"/>
          <p:cNvSpPr/>
          <p:nvPr/>
        </p:nvSpPr>
        <p:spPr>
          <a:xfrm>
            <a:off x="6720840" y="427932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r ≈ 0.00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15"/>
          <p:cNvSpPr/>
          <p:nvPr/>
        </p:nvSpPr>
        <p:spPr>
          <a:xfrm>
            <a:off x="9052560" y="1417320"/>
            <a:ext cx="2697120" cy="34286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27" name="Chart 3"/>
          <p:cNvGraphicFramePr/>
          <p:nvPr/>
        </p:nvGraphicFramePr>
        <p:xfrm>
          <a:off x="9144000" y="1554480"/>
          <a:ext cx="2514240" cy="2148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28" name="Text 16"/>
          <p:cNvSpPr/>
          <p:nvPr/>
        </p:nvSpPr>
        <p:spPr>
          <a:xfrm>
            <a:off x="9189720" y="379476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Strong Negative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17"/>
          <p:cNvSpPr/>
          <p:nvPr/>
        </p:nvSpPr>
        <p:spPr>
          <a:xfrm>
            <a:off x="9555480" y="4279320"/>
            <a:ext cx="1691280" cy="365400"/>
          </a:xfrm>
          <a:prstGeom prst="roundRect">
            <a:avLst>
              <a:gd name="adj" fmla="val 625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18"/>
          <p:cNvSpPr/>
          <p:nvPr/>
        </p:nvSpPr>
        <p:spPr>
          <a:xfrm>
            <a:off x="9555480" y="427932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r ≈ −0.92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19"/>
          <p:cNvSpPr/>
          <p:nvPr/>
        </p:nvSpPr>
        <p:spPr>
          <a:xfrm>
            <a:off x="548640" y="5074920"/>
            <a:ext cx="11109600" cy="1051200"/>
          </a:xfrm>
          <a:prstGeom prst="roundRect">
            <a:avLst>
              <a:gd name="adj" fmla="val 869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20"/>
          <p:cNvSpPr/>
          <p:nvPr/>
        </p:nvSpPr>
        <p:spPr>
          <a:xfrm>
            <a:off x="777240" y="5074920"/>
            <a:ext cx="106524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r ranges from −1 to +1. The sign tells you the direction (do they rise together, or does one fall as the other rises?). The magnitude — how close to ±1 — tells you how tightly the points hug a straight line. Near 0 means no meaningful straight-line relationship, not necessarily "no relationship at all."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5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6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Correlation ≠ Causation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≠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Moving together, not causing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Two variables can correlate strongly without either one causing the other at all — this is one of the most important cautions in all of statistics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Classic example: ice cream sales and drowning incidents both rise together in summer — neither causes the other. A third factor, hot weather, drives both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strong correlation is a genuinely useful signal to investigate further — it’s just never, on its own, proof of a cause-and-effect relationship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Proving causation requires a controlled experiment, or careful methods specifically designed to rule out other explanations — far beyond what a correlation coefficient alone can tell you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5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Correlation ≠ Causation: A Hidden Third Factor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Heat drives BOTH ice cream sales and swimming accidents.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Sales and accidents never affect each other, yet they correlate strongly.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Only the hidden factor — temperature — explains both.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rng = np.random.default_rng(5)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temp = rng.normal(25, 6, 300)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ice_cream = 3 * temp + rng.normal(0, 8, 300)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accidents = 0.5 * temp + rng.normal(0, 3, 300)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 = np.corrcoef(ice_cream, accidents)[0, 1]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print(round(r, 2))    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r_t = np.corrcoef(temp, ice_cream)[0, 1]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print(round(r_t, 2))  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0.91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5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Correlation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dataset shows r = 0.85 between hours studied and exam score. Describe the direction and strength of this relationship in plain English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Shape 11"/>
          <p:cNvSpPr/>
          <p:nvPr/>
        </p:nvSpPr>
        <p:spPr>
          <a:xfrm>
            <a:off x="548640" y="289872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12"/>
          <p:cNvSpPr/>
          <p:nvPr/>
        </p:nvSpPr>
        <p:spPr>
          <a:xfrm>
            <a:off x="731520" y="313632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13"/>
          <p:cNvSpPr/>
          <p:nvPr/>
        </p:nvSpPr>
        <p:spPr>
          <a:xfrm>
            <a:off x="731520" y="3136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14"/>
          <p:cNvSpPr/>
          <p:nvPr/>
        </p:nvSpPr>
        <p:spPr>
          <a:xfrm>
            <a:off x="1234440" y="28987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a real headline claiming one thing "causes" another, and explain whether the evidence described is actually causal or just correlational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15"/>
          <p:cNvSpPr/>
          <p:nvPr/>
        </p:nvSpPr>
        <p:spPr>
          <a:xfrm>
            <a:off x="548640" y="38314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16"/>
          <p:cNvSpPr/>
          <p:nvPr/>
        </p:nvSpPr>
        <p:spPr>
          <a:xfrm>
            <a:off x="731520" y="406908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17"/>
          <p:cNvSpPr/>
          <p:nvPr/>
        </p:nvSpPr>
        <p:spPr>
          <a:xfrm>
            <a:off x="731520" y="4069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18"/>
          <p:cNvSpPr/>
          <p:nvPr/>
        </p:nvSpPr>
        <p:spPr>
          <a:xfrm>
            <a:off x="1234440" y="38314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why r = 0.05 between two variables doesn’t necessarily mean they’re unrelated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19"/>
          <p:cNvSpPr/>
          <p:nvPr/>
        </p:nvSpPr>
        <p:spPr>
          <a:xfrm>
            <a:off x="548640" y="47638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Shape 20"/>
          <p:cNvSpPr/>
          <p:nvPr/>
        </p:nvSpPr>
        <p:spPr>
          <a:xfrm>
            <a:off x="731520" y="500184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21"/>
          <p:cNvSpPr/>
          <p:nvPr/>
        </p:nvSpPr>
        <p:spPr>
          <a:xfrm>
            <a:off x="731520" y="5001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22"/>
          <p:cNvSpPr/>
          <p:nvPr/>
        </p:nvSpPr>
        <p:spPr>
          <a:xfrm>
            <a:off x="1234440" y="47638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Propose a plausible hidden third factor for a correlation between "number of firefighters at a fire" and "amount of damage caused"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8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9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Value Ranges at a Glance — Spread Measures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3"/>
          <p:cNvSpPr/>
          <p:nvPr/>
        </p:nvSpPr>
        <p:spPr>
          <a:xfrm>
            <a:off x="548640" y="1737360"/>
            <a:ext cx="2605680" cy="4023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4"/>
          <p:cNvSpPr/>
          <p:nvPr/>
        </p:nvSpPr>
        <p:spPr>
          <a:xfrm>
            <a:off x="1604880" y="1920240"/>
            <a:ext cx="493560" cy="493560"/>
          </a:xfrm>
          <a:prstGeom prst="roundRect">
            <a:avLst>
              <a:gd name="adj" fmla="val 18519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5"/>
          <p:cNvSpPr/>
          <p:nvPr/>
        </p:nvSpPr>
        <p:spPr>
          <a:xfrm>
            <a:off x="1604880" y="192024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6"/>
          <p:cNvSpPr/>
          <p:nvPr/>
        </p:nvSpPr>
        <p:spPr>
          <a:xfrm>
            <a:off x="731520" y="2606040"/>
            <a:ext cx="223992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7"/>
          <p:cNvSpPr/>
          <p:nvPr/>
        </p:nvSpPr>
        <p:spPr>
          <a:xfrm>
            <a:off x="73152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Range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8"/>
          <p:cNvSpPr/>
          <p:nvPr/>
        </p:nvSpPr>
        <p:spPr>
          <a:xfrm>
            <a:off x="777240" y="3291840"/>
            <a:ext cx="214848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0 to +∞. Always non-negative — the distance between two values can’t be negative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9"/>
          <p:cNvSpPr/>
          <p:nvPr/>
        </p:nvSpPr>
        <p:spPr>
          <a:xfrm>
            <a:off x="3383280" y="1737360"/>
            <a:ext cx="2605680" cy="4023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10"/>
          <p:cNvSpPr/>
          <p:nvPr/>
        </p:nvSpPr>
        <p:spPr>
          <a:xfrm>
            <a:off x="4439520" y="1920240"/>
            <a:ext cx="493560" cy="493560"/>
          </a:xfrm>
          <a:prstGeom prst="roundRect">
            <a:avLst>
              <a:gd name="adj" fmla="val 18519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11"/>
          <p:cNvSpPr/>
          <p:nvPr/>
        </p:nvSpPr>
        <p:spPr>
          <a:xfrm>
            <a:off x="4439520" y="192024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Shape 12"/>
          <p:cNvSpPr/>
          <p:nvPr/>
        </p:nvSpPr>
        <p:spPr>
          <a:xfrm>
            <a:off x="3566160" y="2606040"/>
            <a:ext cx="223992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13"/>
          <p:cNvSpPr/>
          <p:nvPr/>
        </p:nvSpPr>
        <p:spPr>
          <a:xfrm>
            <a:off x="356616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Variance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14"/>
          <p:cNvSpPr/>
          <p:nvPr/>
        </p:nvSpPr>
        <p:spPr>
          <a:xfrm>
            <a:off x="3611880" y="3291840"/>
            <a:ext cx="214848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0 to +∞. Always non-negative — every deviation is squared before averaging, so it can never go below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15"/>
          <p:cNvSpPr/>
          <p:nvPr/>
        </p:nvSpPr>
        <p:spPr>
          <a:xfrm>
            <a:off x="6217920" y="1737360"/>
            <a:ext cx="2605680" cy="4023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16"/>
          <p:cNvSpPr/>
          <p:nvPr/>
        </p:nvSpPr>
        <p:spPr>
          <a:xfrm>
            <a:off x="7274160" y="1920240"/>
            <a:ext cx="493560" cy="493560"/>
          </a:xfrm>
          <a:prstGeom prst="roundRect">
            <a:avLst>
              <a:gd name="adj" fmla="val 18519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17"/>
          <p:cNvSpPr/>
          <p:nvPr/>
        </p:nvSpPr>
        <p:spPr>
          <a:xfrm>
            <a:off x="7274160" y="192024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C112D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18"/>
          <p:cNvSpPr/>
          <p:nvPr/>
        </p:nvSpPr>
        <p:spPr>
          <a:xfrm>
            <a:off x="6400800" y="2606040"/>
            <a:ext cx="2239920" cy="456840"/>
          </a:xfrm>
          <a:prstGeom prst="roundRect">
            <a:avLst>
              <a:gd name="adj" fmla="val 50000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19"/>
          <p:cNvSpPr/>
          <p:nvPr/>
        </p:nvSpPr>
        <p:spPr>
          <a:xfrm>
            <a:off x="640080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Standard Deviation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20"/>
          <p:cNvSpPr/>
          <p:nvPr/>
        </p:nvSpPr>
        <p:spPr>
          <a:xfrm>
            <a:off x="6446520" y="3291840"/>
            <a:ext cx="214848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0 to +∞. Always non-negative — the square root of variance is never negative. Exactly 0 means every value is identical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Shape 21"/>
          <p:cNvSpPr/>
          <p:nvPr/>
        </p:nvSpPr>
        <p:spPr>
          <a:xfrm>
            <a:off x="9052560" y="1737360"/>
            <a:ext cx="2605680" cy="4023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22"/>
          <p:cNvSpPr/>
          <p:nvPr/>
        </p:nvSpPr>
        <p:spPr>
          <a:xfrm>
            <a:off x="10108800" y="1920240"/>
            <a:ext cx="493560" cy="493560"/>
          </a:xfrm>
          <a:prstGeom prst="roundRect">
            <a:avLst>
              <a:gd name="adj" fmla="val 18519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23"/>
          <p:cNvSpPr/>
          <p:nvPr/>
        </p:nvSpPr>
        <p:spPr>
          <a:xfrm>
            <a:off x="10108800" y="192024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24"/>
          <p:cNvSpPr/>
          <p:nvPr/>
        </p:nvSpPr>
        <p:spPr>
          <a:xfrm>
            <a:off x="9235440" y="2606040"/>
            <a:ext cx="223992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25"/>
          <p:cNvSpPr/>
          <p:nvPr/>
        </p:nvSpPr>
        <p:spPr>
          <a:xfrm>
            <a:off x="923544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Standard Error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26"/>
          <p:cNvSpPr/>
          <p:nvPr/>
        </p:nvSpPr>
        <p:spPr>
          <a:xfrm>
            <a:off x="9281160" y="3291840"/>
            <a:ext cx="214848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0 to +∞. Always non-negative — shrinks toward 0 as sample size grows, but never becomes negative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6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7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Value Ranges at a Glance — Position &amp; Relationship Measures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3"/>
          <p:cNvSpPr/>
          <p:nvPr/>
        </p:nvSpPr>
        <p:spPr>
          <a:xfrm>
            <a:off x="548640" y="1737360"/>
            <a:ext cx="2605680" cy="4023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Shape 4"/>
          <p:cNvSpPr/>
          <p:nvPr/>
        </p:nvSpPr>
        <p:spPr>
          <a:xfrm>
            <a:off x="1604880" y="1920240"/>
            <a:ext cx="493560" cy="493560"/>
          </a:xfrm>
          <a:prstGeom prst="roundRect">
            <a:avLst>
              <a:gd name="adj" fmla="val 18519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5"/>
          <p:cNvSpPr/>
          <p:nvPr/>
        </p:nvSpPr>
        <p:spPr>
          <a:xfrm>
            <a:off x="1604880" y="192024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6"/>
          <p:cNvSpPr/>
          <p:nvPr/>
        </p:nvSpPr>
        <p:spPr>
          <a:xfrm>
            <a:off x="731520" y="2606040"/>
            <a:ext cx="223992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7"/>
          <p:cNvSpPr/>
          <p:nvPr/>
        </p:nvSpPr>
        <p:spPr>
          <a:xfrm>
            <a:off x="73152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Z-Score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 8"/>
          <p:cNvSpPr/>
          <p:nvPr/>
        </p:nvSpPr>
        <p:spPr>
          <a:xfrm>
            <a:off x="777240" y="3291840"/>
            <a:ext cx="214848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−∞ to +∞. In practice, almost always falls between −3 and +3 for real data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9"/>
          <p:cNvSpPr/>
          <p:nvPr/>
        </p:nvSpPr>
        <p:spPr>
          <a:xfrm>
            <a:off x="3383280" y="1737360"/>
            <a:ext cx="2605680" cy="4023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10"/>
          <p:cNvSpPr/>
          <p:nvPr/>
        </p:nvSpPr>
        <p:spPr>
          <a:xfrm>
            <a:off x="4439520" y="1920240"/>
            <a:ext cx="493560" cy="493560"/>
          </a:xfrm>
          <a:prstGeom prst="roundRect">
            <a:avLst>
              <a:gd name="adj" fmla="val 18519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11"/>
          <p:cNvSpPr/>
          <p:nvPr/>
        </p:nvSpPr>
        <p:spPr>
          <a:xfrm>
            <a:off x="4439520" y="192024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Shape 12"/>
          <p:cNvSpPr/>
          <p:nvPr/>
        </p:nvSpPr>
        <p:spPr>
          <a:xfrm>
            <a:off x="3566160" y="2606040"/>
            <a:ext cx="223992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13"/>
          <p:cNvSpPr/>
          <p:nvPr/>
        </p:nvSpPr>
        <p:spPr>
          <a:xfrm>
            <a:off x="356616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Correlation (r)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14"/>
          <p:cNvSpPr/>
          <p:nvPr/>
        </p:nvSpPr>
        <p:spPr>
          <a:xfrm>
            <a:off x="3611880" y="3291840"/>
            <a:ext cx="214848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−1 to +1 exactly. −1 and +1 are perfect relationships; 0 means no linear relationship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15"/>
          <p:cNvSpPr/>
          <p:nvPr/>
        </p:nvSpPr>
        <p:spPr>
          <a:xfrm>
            <a:off x="6217920" y="1737360"/>
            <a:ext cx="2605680" cy="4023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16"/>
          <p:cNvSpPr/>
          <p:nvPr/>
        </p:nvSpPr>
        <p:spPr>
          <a:xfrm>
            <a:off x="7274160" y="1920240"/>
            <a:ext cx="493560" cy="493560"/>
          </a:xfrm>
          <a:prstGeom prst="roundRect">
            <a:avLst>
              <a:gd name="adj" fmla="val 18519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 17"/>
          <p:cNvSpPr/>
          <p:nvPr/>
        </p:nvSpPr>
        <p:spPr>
          <a:xfrm>
            <a:off x="7274160" y="192024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C112D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18"/>
          <p:cNvSpPr/>
          <p:nvPr/>
        </p:nvSpPr>
        <p:spPr>
          <a:xfrm>
            <a:off x="6400800" y="2606040"/>
            <a:ext cx="2239920" cy="456840"/>
          </a:xfrm>
          <a:prstGeom prst="roundRect">
            <a:avLst>
              <a:gd name="adj" fmla="val 50000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19"/>
          <p:cNvSpPr/>
          <p:nvPr/>
        </p:nvSpPr>
        <p:spPr>
          <a:xfrm>
            <a:off x="640080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Skewness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20"/>
          <p:cNvSpPr/>
          <p:nvPr/>
        </p:nvSpPr>
        <p:spPr>
          <a:xfrm>
            <a:off x="6446520" y="3291840"/>
            <a:ext cx="214848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Unbounded in theory, but real data usually falls roughly between −3 and +3. 0 means symmetric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21"/>
          <p:cNvSpPr/>
          <p:nvPr/>
        </p:nvSpPr>
        <p:spPr>
          <a:xfrm>
            <a:off x="9052560" y="1737360"/>
            <a:ext cx="2605680" cy="4023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22"/>
          <p:cNvSpPr/>
          <p:nvPr/>
        </p:nvSpPr>
        <p:spPr>
          <a:xfrm>
            <a:off x="10108800" y="1920240"/>
            <a:ext cx="493560" cy="493560"/>
          </a:xfrm>
          <a:prstGeom prst="roundRect">
            <a:avLst>
              <a:gd name="adj" fmla="val 18519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23"/>
          <p:cNvSpPr/>
          <p:nvPr/>
        </p:nvSpPr>
        <p:spPr>
          <a:xfrm>
            <a:off x="10108800" y="192024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Shape 24"/>
          <p:cNvSpPr/>
          <p:nvPr/>
        </p:nvSpPr>
        <p:spPr>
          <a:xfrm>
            <a:off x="9235440" y="2606040"/>
            <a:ext cx="223992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25"/>
          <p:cNvSpPr/>
          <p:nvPr/>
        </p:nvSpPr>
        <p:spPr>
          <a:xfrm>
            <a:off x="923544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Kurtosis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26"/>
          <p:cNvSpPr/>
          <p:nvPr/>
        </p:nvSpPr>
        <p:spPr>
          <a:xfrm>
            <a:off x="9281160" y="3291840"/>
            <a:ext cx="214848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Unbounded in theory. "Excess kurtosis" is centered at 0 for a perfectly normal distribution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5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 Full Profile in a Few Lines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pandas describe() gives count, mean, std and the quartiles at once.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Add skew and the IQR to complete the picture.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This is the pattern for today's mini project.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737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pandas as pd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df = pd.DataFrame({"salary": [40, 42, 45, 48, 50, 52, 55, 60, 150]})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col = df["salary"]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print(col.describe().round(1)) 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count, mean, std, quartiles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print(round(stats.skew(col), 2))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2.32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print(stats.iqr(col))           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10.0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5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Where This Is Headed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Description becomes a real test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tool in this session — mean, standard deviation, z-score — was used to describe data you already fully have in front of you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Very soon, these exact same tools get reused for a very different job: deciding whether a difference you’ve observed in a SAMPLE is likely real in the full population, or just random noise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t-test, which you’ll meet properly in Session 22, is built almost entirely from a mean, a standard deviation, and a standard error — nothing you haven’t just learned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Session 20 fills in exactly one missing piece first: probability — the language needed to say precisely what "likely real" and "just random noise" actually mean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2"/>
          <p:cNvSpPr/>
          <p:nvPr/>
        </p:nvSpPr>
        <p:spPr>
          <a:xfrm>
            <a:off x="640080" y="21945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INDUSTRY-STYLE TASKS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3"/>
          <p:cNvSpPr/>
          <p:nvPr/>
        </p:nvSpPr>
        <p:spPr>
          <a:xfrm>
            <a:off x="640080" y="2697480"/>
            <a:ext cx="10332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Build the Toolkit Every Real Analysis Depends On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 4"/>
          <p:cNvSpPr/>
          <p:nvPr/>
        </p:nvSpPr>
        <p:spPr>
          <a:xfrm>
            <a:off x="640080" y="4023360"/>
            <a:ext cx="9692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Not abstract formula drills — spread, shape, and correlation are what turn a raw dataset into an honest, defensible description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5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57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9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0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Part A: Spread &amp; SD vs. SE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Small tasks — do them in order.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Calculate the range, variance, and standard deviation of a real numerical column from a dataset of your choice.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Shape 11"/>
          <p:cNvSpPr/>
          <p:nvPr/>
        </p:nvSpPr>
        <p:spPr>
          <a:xfrm>
            <a:off x="548640" y="289872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Shape 12"/>
          <p:cNvSpPr/>
          <p:nvPr/>
        </p:nvSpPr>
        <p:spPr>
          <a:xfrm>
            <a:off x="731520" y="313632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 13"/>
          <p:cNvSpPr/>
          <p:nvPr/>
        </p:nvSpPr>
        <p:spPr>
          <a:xfrm>
            <a:off x="731520" y="3136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14"/>
          <p:cNvSpPr/>
          <p:nvPr/>
        </p:nvSpPr>
        <p:spPr>
          <a:xfrm>
            <a:off x="1234440" y="28987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that same column, calculate the standard error assuming your data is a sample, and explain what it tells you that standard deviation doesn’t.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15"/>
          <p:cNvSpPr/>
          <p:nvPr/>
        </p:nvSpPr>
        <p:spPr>
          <a:xfrm>
            <a:off x="548640" y="38314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Shape 16"/>
          <p:cNvSpPr/>
          <p:nvPr/>
        </p:nvSpPr>
        <p:spPr>
          <a:xfrm>
            <a:off x="731520" y="406908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17"/>
          <p:cNvSpPr/>
          <p:nvPr/>
        </p:nvSpPr>
        <p:spPr>
          <a:xfrm>
            <a:off x="731520" y="4069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18"/>
          <p:cNvSpPr/>
          <p:nvPr/>
        </p:nvSpPr>
        <p:spPr>
          <a:xfrm>
            <a:off x="1234440" y="38314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Explain, using your own numbers, why quadrupling your sample size only halves your standard error rather than quartering 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9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0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Part B: Z-Scores &amp; Distribution Shape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Small tasks — do them in order.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Calculate z-scores for the five highest and five lowest values in a real numerical column, and identify any that exceed ±2.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Shape 11"/>
          <p:cNvSpPr/>
          <p:nvPr/>
        </p:nvSpPr>
        <p:spPr>
          <a:xfrm>
            <a:off x="548640" y="289872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Shape 12"/>
          <p:cNvSpPr/>
          <p:nvPr/>
        </p:nvSpPr>
        <p:spPr>
          <a:xfrm>
            <a:off x="731520" y="313632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 13"/>
          <p:cNvSpPr/>
          <p:nvPr/>
        </p:nvSpPr>
        <p:spPr>
          <a:xfrm>
            <a:off x="731520" y="3136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14"/>
          <p:cNvSpPr/>
          <p:nvPr/>
        </p:nvSpPr>
        <p:spPr>
          <a:xfrm>
            <a:off x="1234440" y="28987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Plot a histogram of a real numerical column and describe its shape — symmetric, left-skewed, or right-skewed — and explain your reasoning.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15"/>
          <p:cNvSpPr/>
          <p:nvPr/>
        </p:nvSpPr>
        <p:spPr>
          <a:xfrm>
            <a:off x="548640" y="38314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Shape 16"/>
          <p:cNvSpPr/>
          <p:nvPr/>
        </p:nvSpPr>
        <p:spPr>
          <a:xfrm>
            <a:off x="731520" y="406908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 17"/>
          <p:cNvSpPr/>
          <p:nvPr/>
        </p:nvSpPr>
        <p:spPr>
          <a:xfrm>
            <a:off x="731520" y="4069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 18"/>
          <p:cNvSpPr/>
          <p:nvPr/>
        </p:nvSpPr>
        <p:spPr>
          <a:xfrm>
            <a:off x="1234440" y="38314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Apply the 1.5×IQR rule to that same column and list any values it flags as outliers.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9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0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Part C: Correlation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Small tasks — do them in order.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Choose two numerical columns from a real dataset and calculate their Pearson correlation coefficient.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Shape 11"/>
          <p:cNvSpPr/>
          <p:nvPr/>
        </p:nvSpPr>
        <p:spPr>
          <a:xfrm>
            <a:off x="548640" y="289872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Shape 12"/>
          <p:cNvSpPr/>
          <p:nvPr/>
        </p:nvSpPr>
        <p:spPr>
          <a:xfrm>
            <a:off x="731520" y="313632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 13"/>
          <p:cNvSpPr/>
          <p:nvPr/>
        </p:nvSpPr>
        <p:spPr>
          <a:xfrm>
            <a:off x="731520" y="3136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14"/>
          <p:cNvSpPr/>
          <p:nvPr/>
        </p:nvSpPr>
        <p:spPr>
          <a:xfrm>
            <a:off x="1234440" y="28987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Create a scatter plot of those two variables, and describe whether the visual matches what the coefficient suggested.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Shape 15"/>
          <p:cNvSpPr/>
          <p:nvPr/>
        </p:nvSpPr>
        <p:spPr>
          <a:xfrm>
            <a:off x="548640" y="38314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Shape 16"/>
          <p:cNvSpPr/>
          <p:nvPr/>
        </p:nvSpPr>
        <p:spPr>
          <a:xfrm>
            <a:off x="731520" y="406908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Text 17"/>
          <p:cNvSpPr/>
          <p:nvPr/>
        </p:nvSpPr>
        <p:spPr>
          <a:xfrm>
            <a:off x="731520" y="4069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Text 18"/>
          <p:cNvSpPr/>
          <p:nvPr/>
        </p:nvSpPr>
        <p:spPr>
          <a:xfrm>
            <a:off x="1234440" y="38314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Propose one plausible reason two variables might correlate without one causing the other, using your own chosen columns as the example.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9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0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Part D: Applying Everything to Real Data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Small tasks — do them in order.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Take a full numerical column and report its mean, median, standard deviation, and shape (skew direction) in one short paragraph.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Shape 11"/>
          <p:cNvSpPr/>
          <p:nvPr/>
        </p:nvSpPr>
        <p:spPr>
          <a:xfrm>
            <a:off x="548640" y="289872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Shape 12"/>
          <p:cNvSpPr/>
          <p:nvPr/>
        </p:nvSpPr>
        <p:spPr>
          <a:xfrm>
            <a:off x="731520" y="313632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Text 13"/>
          <p:cNvSpPr/>
          <p:nvPr/>
        </p:nvSpPr>
        <p:spPr>
          <a:xfrm>
            <a:off x="731520" y="3136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Text 14"/>
          <p:cNvSpPr/>
          <p:nvPr/>
        </p:nvSpPr>
        <p:spPr>
          <a:xfrm>
            <a:off x="1234440" y="28987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Identify one pair of columns worth checking for correlation, and explain why you suspect a relationship before calculating 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Shape 15"/>
          <p:cNvSpPr/>
          <p:nvPr/>
        </p:nvSpPr>
        <p:spPr>
          <a:xfrm>
            <a:off x="548640" y="38314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Shape 16"/>
          <p:cNvSpPr/>
          <p:nvPr/>
        </p:nvSpPr>
        <p:spPr>
          <a:xfrm>
            <a:off x="731520" y="406908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17"/>
          <p:cNvSpPr/>
          <p:nvPr/>
        </p:nvSpPr>
        <p:spPr>
          <a:xfrm>
            <a:off x="731520" y="4069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 18"/>
          <p:cNvSpPr/>
          <p:nvPr/>
        </p:nvSpPr>
        <p:spPr>
          <a:xfrm>
            <a:off x="1234440" y="38314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a two-sentence "descriptive summary" of your dataset suitable for someone who has never seen it, using only what you learned in Sessions 18 and 19.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8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9" name="Text 2"/>
          <p:cNvSpPr/>
          <p:nvPr/>
        </p:nvSpPr>
        <p:spPr>
          <a:xfrm>
            <a:off x="640080" y="21945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MINI PROJECT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0" name="Text 3"/>
          <p:cNvSpPr/>
          <p:nvPr/>
        </p:nvSpPr>
        <p:spPr>
          <a:xfrm>
            <a:off x="640080" y="2697480"/>
            <a:ext cx="10332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Put It All Together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1" name="Text 4"/>
          <p:cNvSpPr/>
          <p:nvPr/>
        </p:nvSpPr>
        <p:spPr>
          <a:xfrm>
            <a:off x="640080" y="4023360"/>
            <a:ext cx="9692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 complete descriptive profile of a real dataset, spread and shape included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 5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5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6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Project: Full Descriptive Profile of a Real Dataset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8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Σ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Every skill from today, combined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Choose any real, numerical-heavy dataset, and for its key column calculate: range, variance, standard deviation, and standard error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Identify the column’s shape (symmetric or skewed), and flag any outliers using the 1.5×IQR rule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Calculate z-scores for at least three specific values, and explain in plain English how unusual each one really is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Choose two numerical columns, calculate their correlation, and write a short, honest note on whether a real causal relationship seems plausible or unlikely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5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 Starter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Swap in your own dataset and column — everything else stays the same.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Range, variance, SD, SE, skew and outliers in one reusable block.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Finish with a correlation between two columns.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8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pandas as pd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df = pd.DataFrame({"hours": [1, 2, 3, 4, 5, 6, 7, 8],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               "score": [50, 55, 52, 63, 68, 72, 75, 98]})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x = df["score"]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print(x.max() - x.min(), round(x.std(), 1))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48 15.7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print(round(stats.sem(x), 2))   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5.55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print(round(stats.skew(x), 2))  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0.88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print(round(df["hours"].corr(x), 2))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0.93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3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4" name="Text 2"/>
          <p:cNvSpPr/>
          <p:nvPr/>
        </p:nvSpPr>
        <p:spPr>
          <a:xfrm>
            <a:off x="640080" y="21945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RECAP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 3"/>
          <p:cNvSpPr/>
          <p:nvPr/>
        </p:nvSpPr>
        <p:spPr>
          <a:xfrm>
            <a:off x="640080" y="2697480"/>
            <a:ext cx="10332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Know Your Data First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6" name="Text 4"/>
          <p:cNvSpPr/>
          <p:nvPr/>
        </p:nvSpPr>
        <p:spPr>
          <a:xfrm>
            <a:off x="640080" y="4023360"/>
            <a:ext cx="9692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 mean alone is a rumor. Spread, shape, and correlation are what turn it into an honest description of your data.  Next up: Descriptive Statistics II — spread, shape, z-scores and correlation.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7" name="Text 5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65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2026-10-01T23:31:53Z</dcterms:created>
  <dc:creator>Hafiz Waseem Ahmed (Paxto)</dc:creator>
  <dc:description/>
  <dc:language>en-US</dc:language>
  <cp:lastModifiedBy/>
  <dcterms:modified xsi:type="dcterms:W3CDTF">2026-10-02T20:57:58Z</dcterms:modified>
  <cp:revision>6</cp:revision>
  <dc:subject>PptxGenJS Presentation</dc:subject>
  <dc:title>Descriptive Statistics II — CodeByPaxto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65</vt:i4>
  </property>
  <property fmtid="{D5CDD505-2E9C-101B-9397-08002B2CF9AE}" pid="3" name="PresentationFormat">
    <vt:lpwstr>On-screen Show (16:9)</vt:lpwstr>
  </property>
  <property fmtid="{D5CDD505-2E9C-101B-9397-08002B2CF9AE}" pid="4" name="Slides">
    <vt:i4>65</vt:i4>
  </property>
</Properties>
</file>