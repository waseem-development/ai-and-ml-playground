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0.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43.xml" ContentType="application/vnd.openxmlformats-officedocument.presentationml.slide+xml"/>
  <Override PartName="/ppt/slides/slide48.xml" ContentType="application/vnd.openxmlformats-officedocument.presentationml.slide+xml"/>
  <Override PartName="/ppt/slides/slide62.xml" ContentType="application/vnd.openxmlformats-officedocument.presentationml.slide+xml"/>
  <Override PartName="/ppt/slides/slide31.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65.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61.xml" ContentType="application/vnd.openxmlformats-officedocument.presentationml.slide+xml"/>
  <Override PartName="/ppt/slides/slide29.xml" ContentType="application/vnd.openxmlformats-officedocument.presentationml.slide+xml"/>
  <Override PartName="/ppt/slides/slide10.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s/slide14.xml" ContentType="application/vnd.openxmlformats-officedocument.presentationml.slide+xml"/>
  <Override PartName="/ppt/slides/slide57.xml" ContentType="application/vnd.openxmlformats-officedocument.presentationml.slide+xml"/>
  <Override PartName="/ppt/slides/slide23.xml" ContentType="application/vnd.openxmlformats-officedocument.presentationml.slide+xml"/>
  <Override PartName="/ppt/slides/slide41.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6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44.xml" ContentType="application/vnd.openxmlformats-officedocument.presentationml.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46.xml" ContentType="application/vnd.openxmlformats-officedocument.presentationml.notesSlide+xml"/>
  <Override PartName="/ppt/notesSlides/notesSlide17.xml" ContentType="application/vnd.openxmlformats-officedocument.presentationml.notesSlide+xml"/>
  <Override PartName="/ppt/notesSlides/notesSlide57.xml" ContentType="application/vnd.openxmlformats-officedocument.presentationml.notesSlide+xml"/>
  <Override PartName="/ppt/notesSlides/notesSlide38.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7.xml" ContentType="application/vnd.openxmlformats-officedocument.presentationml.notesSlide+xml"/>
  <Override PartName="/ppt/notesSlides/notesSlide60.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5.xml" ContentType="application/vnd.openxmlformats-officedocument.presentationml.notesSlide+xml"/>
  <Override PartName="/ppt/notesSlides/notesSlide41.xml" ContentType="application/vnd.openxmlformats-officedocument.presentationml.notesSlide+xml"/>
  <Override PartName="/ppt/notesSlides/notesSlide66.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45.xml" ContentType="application/vnd.openxmlformats-officedocument.presentationml.notesSlide+xml"/>
  <Override PartName="/ppt/notesSlides/notesSlide65.xml" ContentType="application/vnd.openxmlformats-officedocument.presentationml.notesSlide+xml"/>
  <Override PartName="/ppt/notesSlides/notesSlide50.xml" ContentType="application/vnd.openxmlformats-officedocument.presentationml.notesSlide+xml"/>
  <Override PartName="/ppt/notesSlides/notesSlide62.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56.xml" ContentType="application/vnd.openxmlformats-officedocument.presentationml.notesSlide+xml"/>
  <Override PartName="/ppt/notesSlides/notesSlide59.xml" ContentType="application/vnd.openxmlformats-officedocument.presentationml.notesSlide+xml"/>
  <Override PartName="/ppt/notesSlides/notesSlide61.xml" ContentType="application/vnd.openxmlformats-officedocument.presentationml.notesSlide+xml"/>
  <Override PartName="/ppt/notesSlides/notesSlide32.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52.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2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78C7C2C-9C0A-4DA2-A1D9-40B0CE5BE2CD}"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685800" y="1143000"/>
            <a:ext cx="5485680" cy="3085560"/>
          </a:xfrm>
          <a:prstGeom prst="rect">
            <a:avLst/>
          </a:prstGeom>
          <a:ln w="0">
            <a:noFill/>
          </a:ln>
        </p:spPr>
      </p:sp>
      <p:sp>
        <p:nvSpPr>
          <p:cNvPr id="11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4"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4275E3-B2C3-40A2-B3A2-1ED0C0EFC4A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685800" y="1143000"/>
            <a:ext cx="5485680" cy="3085560"/>
          </a:xfrm>
          <a:prstGeom prst="rect">
            <a:avLst/>
          </a:prstGeom>
          <a:ln w="0">
            <a:noFill/>
          </a:ln>
        </p:spPr>
      </p:sp>
      <p:sp>
        <p:nvSpPr>
          <p:cNvPr id="11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7"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70F25B-3812-4328-835C-D4031C2B00D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685800" y="1143000"/>
            <a:ext cx="5485680" cy="3085560"/>
          </a:xfrm>
          <a:prstGeom prst="rect">
            <a:avLst/>
          </a:prstGeom>
          <a:ln w="0">
            <a:noFill/>
          </a:ln>
        </p:spPr>
      </p:sp>
      <p:sp>
        <p:nvSpPr>
          <p:cNvPr id="11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0"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78114F2-B0CB-4F04-A695-1639A58894E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685800" y="1143000"/>
            <a:ext cx="5485680" cy="3085560"/>
          </a:xfrm>
          <a:prstGeom prst="rect">
            <a:avLst/>
          </a:prstGeom>
          <a:ln w="0">
            <a:noFill/>
          </a:ln>
        </p:spPr>
      </p:sp>
      <p:sp>
        <p:nvSpPr>
          <p:cNvPr id="11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3"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7B58616-129D-495B-A596-1CF6D2A541E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685800" y="1143000"/>
            <a:ext cx="5485680" cy="3085560"/>
          </a:xfrm>
          <a:prstGeom prst="rect">
            <a:avLst/>
          </a:prstGeom>
          <a:ln w="0">
            <a:noFill/>
          </a:ln>
        </p:spPr>
      </p:sp>
      <p:sp>
        <p:nvSpPr>
          <p:cNvPr id="11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6"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3358A37-B64A-4297-9FD9-203877B5FAF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685800" y="1143000"/>
            <a:ext cx="5485680" cy="3085560"/>
          </a:xfrm>
          <a:prstGeom prst="rect">
            <a:avLst/>
          </a:prstGeom>
          <a:ln w="0">
            <a:noFill/>
          </a:ln>
        </p:spPr>
      </p:sp>
      <p:sp>
        <p:nvSpPr>
          <p:cNvPr id="11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9"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643EEFB-6DEF-422F-80D4-F0BE88A7B52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Img"/>
          </p:nvPr>
        </p:nvSpPr>
        <p:spPr>
          <a:xfrm>
            <a:off x="685800" y="1143000"/>
            <a:ext cx="5485680" cy="3085560"/>
          </a:xfrm>
          <a:prstGeom prst="rect">
            <a:avLst/>
          </a:prstGeom>
          <a:ln w="0">
            <a:noFill/>
          </a:ln>
        </p:spPr>
      </p:sp>
      <p:sp>
        <p:nvSpPr>
          <p:cNvPr id="11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2"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1D90044-1C4F-4C37-8281-463845A7B5E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Img"/>
          </p:nvPr>
        </p:nvSpPr>
        <p:spPr>
          <a:xfrm>
            <a:off x="685800" y="1143000"/>
            <a:ext cx="5485680" cy="3085560"/>
          </a:xfrm>
          <a:prstGeom prst="rect">
            <a:avLst/>
          </a:prstGeom>
          <a:ln w="0">
            <a:noFill/>
          </a:ln>
        </p:spPr>
      </p:sp>
      <p:sp>
        <p:nvSpPr>
          <p:cNvPr id="11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5"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BDE949A-8C8D-45B1-8E52-3E84CF0F155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Img"/>
          </p:nvPr>
        </p:nvSpPr>
        <p:spPr>
          <a:xfrm>
            <a:off x="685800" y="1143000"/>
            <a:ext cx="5485680" cy="3085560"/>
          </a:xfrm>
          <a:prstGeom prst="rect">
            <a:avLst/>
          </a:prstGeom>
          <a:ln w="0">
            <a:noFill/>
          </a:ln>
        </p:spPr>
      </p:sp>
      <p:sp>
        <p:nvSpPr>
          <p:cNvPr id="11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8"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513F33D-8E4A-4842-A24D-0E5BF475093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Img"/>
          </p:nvPr>
        </p:nvSpPr>
        <p:spPr>
          <a:xfrm>
            <a:off x="685800" y="1143000"/>
            <a:ext cx="5485680" cy="3085560"/>
          </a:xfrm>
          <a:prstGeom prst="rect">
            <a:avLst/>
          </a:prstGeom>
          <a:ln w="0">
            <a:noFill/>
          </a:ln>
        </p:spPr>
      </p:sp>
      <p:sp>
        <p:nvSpPr>
          <p:cNvPr id="12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01"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130A136-C287-4A42-9BAF-632510F471D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2" name="PlaceHolder 1"/>
          <p:cNvSpPr>
            <a:spLocks noGrp="1"/>
          </p:cNvSpPr>
          <p:nvPr>
            <p:ph type="sldImg"/>
          </p:nvPr>
        </p:nvSpPr>
        <p:spPr>
          <a:xfrm>
            <a:off x="685800" y="1143000"/>
            <a:ext cx="5485680" cy="3085560"/>
          </a:xfrm>
          <a:prstGeom prst="rect">
            <a:avLst/>
          </a:prstGeom>
          <a:ln w="0">
            <a:noFill/>
          </a:ln>
        </p:spPr>
      </p:sp>
      <p:sp>
        <p:nvSpPr>
          <p:cNvPr id="12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04"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9134915-7572-4065-B27F-403115C2229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sldImg"/>
          </p:nvPr>
        </p:nvSpPr>
        <p:spPr>
          <a:xfrm>
            <a:off x="685800" y="1143000"/>
            <a:ext cx="5485680" cy="3085560"/>
          </a:xfrm>
          <a:prstGeom prst="rect">
            <a:avLst/>
          </a:prstGeom>
          <a:ln w="0">
            <a:noFill/>
          </a:ln>
        </p:spPr>
      </p:sp>
      <p:sp>
        <p:nvSpPr>
          <p:cNvPr id="12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07"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9D49FCE-2974-4645-842D-5E1B394E3F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8" name="PlaceHolder 1"/>
          <p:cNvSpPr>
            <a:spLocks noGrp="1"/>
          </p:cNvSpPr>
          <p:nvPr>
            <p:ph type="sldImg"/>
          </p:nvPr>
        </p:nvSpPr>
        <p:spPr>
          <a:xfrm>
            <a:off x="685800" y="1143000"/>
            <a:ext cx="5485680" cy="3085560"/>
          </a:xfrm>
          <a:prstGeom prst="rect">
            <a:avLst/>
          </a:prstGeom>
          <a:ln w="0">
            <a:noFill/>
          </a:ln>
        </p:spPr>
      </p:sp>
      <p:sp>
        <p:nvSpPr>
          <p:cNvPr id="12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10"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5B3D704-3E86-4D6A-A999-735033E947E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1" name="PlaceHolder 1"/>
          <p:cNvSpPr>
            <a:spLocks noGrp="1"/>
          </p:cNvSpPr>
          <p:nvPr>
            <p:ph type="sldImg"/>
          </p:nvPr>
        </p:nvSpPr>
        <p:spPr>
          <a:xfrm>
            <a:off x="685800" y="1143000"/>
            <a:ext cx="5485680" cy="3085560"/>
          </a:xfrm>
          <a:prstGeom prst="rect">
            <a:avLst/>
          </a:prstGeom>
          <a:ln w="0">
            <a:noFill/>
          </a:ln>
        </p:spPr>
      </p:sp>
      <p:sp>
        <p:nvSpPr>
          <p:cNvPr id="12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13"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AC7362F-7C6F-445B-B119-02FF4B0AF48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PlaceHolder 1"/>
          <p:cNvSpPr>
            <a:spLocks noGrp="1"/>
          </p:cNvSpPr>
          <p:nvPr>
            <p:ph type="sldImg"/>
          </p:nvPr>
        </p:nvSpPr>
        <p:spPr>
          <a:xfrm>
            <a:off x="685800" y="1143000"/>
            <a:ext cx="5485680" cy="3085560"/>
          </a:xfrm>
          <a:prstGeom prst="rect">
            <a:avLst/>
          </a:prstGeom>
          <a:ln w="0">
            <a:noFill/>
          </a:ln>
        </p:spPr>
      </p:sp>
      <p:sp>
        <p:nvSpPr>
          <p:cNvPr id="12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16"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7C2EFC6-A8F2-43C0-9DC7-B7371ACED9E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7" name="PlaceHolder 1"/>
          <p:cNvSpPr>
            <a:spLocks noGrp="1"/>
          </p:cNvSpPr>
          <p:nvPr>
            <p:ph type="sldImg"/>
          </p:nvPr>
        </p:nvSpPr>
        <p:spPr>
          <a:xfrm>
            <a:off x="685800" y="1143000"/>
            <a:ext cx="5485680" cy="3085560"/>
          </a:xfrm>
          <a:prstGeom prst="rect">
            <a:avLst/>
          </a:prstGeom>
          <a:ln w="0">
            <a:noFill/>
          </a:ln>
        </p:spPr>
      </p:sp>
      <p:sp>
        <p:nvSpPr>
          <p:cNvPr id="12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19"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5010B8A-1A06-41DD-A42C-E28C4FFC047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0" name="PlaceHolder 1"/>
          <p:cNvSpPr>
            <a:spLocks noGrp="1"/>
          </p:cNvSpPr>
          <p:nvPr>
            <p:ph type="sldImg"/>
          </p:nvPr>
        </p:nvSpPr>
        <p:spPr>
          <a:xfrm>
            <a:off x="685800" y="1143000"/>
            <a:ext cx="5485680" cy="3085560"/>
          </a:xfrm>
          <a:prstGeom prst="rect">
            <a:avLst/>
          </a:prstGeom>
          <a:ln w="0">
            <a:noFill/>
          </a:ln>
        </p:spPr>
      </p:sp>
      <p:sp>
        <p:nvSpPr>
          <p:cNvPr id="12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2"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82F1593-051E-4208-9120-2E547437DB5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3" name="PlaceHolder 1"/>
          <p:cNvSpPr>
            <a:spLocks noGrp="1"/>
          </p:cNvSpPr>
          <p:nvPr>
            <p:ph type="sldImg"/>
          </p:nvPr>
        </p:nvSpPr>
        <p:spPr>
          <a:xfrm>
            <a:off x="685800" y="1143000"/>
            <a:ext cx="5485680" cy="3085560"/>
          </a:xfrm>
          <a:prstGeom prst="rect">
            <a:avLst/>
          </a:prstGeom>
          <a:ln w="0">
            <a:noFill/>
          </a:ln>
        </p:spPr>
      </p:sp>
      <p:sp>
        <p:nvSpPr>
          <p:cNvPr id="12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5"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549966-5AA0-4D09-9C7C-B2D777FAD74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6" name="PlaceHolder 1"/>
          <p:cNvSpPr>
            <a:spLocks noGrp="1"/>
          </p:cNvSpPr>
          <p:nvPr>
            <p:ph type="sldImg"/>
          </p:nvPr>
        </p:nvSpPr>
        <p:spPr>
          <a:xfrm>
            <a:off x="685800" y="1143000"/>
            <a:ext cx="5485680" cy="3085560"/>
          </a:xfrm>
          <a:prstGeom prst="rect">
            <a:avLst/>
          </a:prstGeom>
          <a:ln w="0">
            <a:noFill/>
          </a:ln>
        </p:spPr>
      </p:sp>
      <p:sp>
        <p:nvSpPr>
          <p:cNvPr id="12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28"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07AFBA4-2FE1-448F-A954-45DE1723386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PlaceHolder 1"/>
          <p:cNvSpPr>
            <a:spLocks noGrp="1"/>
          </p:cNvSpPr>
          <p:nvPr>
            <p:ph type="sldImg"/>
          </p:nvPr>
        </p:nvSpPr>
        <p:spPr>
          <a:xfrm>
            <a:off x="685800" y="1143000"/>
            <a:ext cx="5485680" cy="3085560"/>
          </a:xfrm>
          <a:prstGeom prst="rect">
            <a:avLst/>
          </a:prstGeom>
          <a:ln w="0">
            <a:noFill/>
          </a:ln>
        </p:spPr>
      </p:sp>
      <p:sp>
        <p:nvSpPr>
          <p:cNvPr id="12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1"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D6C1D88-BE63-43A6-BE32-08D3511C68D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2" name="PlaceHolder 1"/>
          <p:cNvSpPr>
            <a:spLocks noGrp="1"/>
          </p:cNvSpPr>
          <p:nvPr>
            <p:ph type="sldImg"/>
          </p:nvPr>
        </p:nvSpPr>
        <p:spPr>
          <a:xfrm>
            <a:off x="685800" y="1143000"/>
            <a:ext cx="5485680" cy="3085560"/>
          </a:xfrm>
          <a:prstGeom prst="rect">
            <a:avLst/>
          </a:prstGeom>
          <a:ln w="0">
            <a:noFill/>
          </a:ln>
        </p:spPr>
      </p:sp>
      <p:sp>
        <p:nvSpPr>
          <p:cNvPr id="12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4"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6A11EC4-BBDE-4B74-9536-079FF5DE839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5" name="PlaceHolder 1"/>
          <p:cNvSpPr>
            <a:spLocks noGrp="1"/>
          </p:cNvSpPr>
          <p:nvPr>
            <p:ph type="sldImg"/>
          </p:nvPr>
        </p:nvSpPr>
        <p:spPr>
          <a:xfrm>
            <a:off x="685800" y="1143000"/>
            <a:ext cx="5485680" cy="3085560"/>
          </a:xfrm>
          <a:prstGeom prst="rect">
            <a:avLst/>
          </a:prstGeom>
          <a:ln w="0">
            <a:noFill/>
          </a:ln>
        </p:spPr>
      </p:sp>
      <p:sp>
        <p:nvSpPr>
          <p:cNvPr id="12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37"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E547E3F-A2A1-4A59-ADEB-1BEB34367FE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PlaceHolder 1"/>
          <p:cNvSpPr>
            <a:spLocks noGrp="1"/>
          </p:cNvSpPr>
          <p:nvPr>
            <p:ph type="sldImg"/>
          </p:nvPr>
        </p:nvSpPr>
        <p:spPr>
          <a:xfrm>
            <a:off x="685800" y="1143000"/>
            <a:ext cx="5485680" cy="3085560"/>
          </a:xfrm>
          <a:prstGeom prst="rect">
            <a:avLst/>
          </a:prstGeom>
          <a:ln w="0">
            <a:noFill/>
          </a:ln>
        </p:spPr>
      </p:sp>
      <p:sp>
        <p:nvSpPr>
          <p:cNvPr id="12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0"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5F15905-F809-4C78-B128-78D6DAC46B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PlaceHolder 1"/>
          <p:cNvSpPr>
            <a:spLocks noGrp="1"/>
          </p:cNvSpPr>
          <p:nvPr>
            <p:ph type="sldImg"/>
          </p:nvPr>
        </p:nvSpPr>
        <p:spPr>
          <a:xfrm>
            <a:off x="685800" y="1143000"/>
            <a:ext cx="5485680" cy="3085560"/>
          </a:xfrm>
          <a:prstGeom prst="rect">
            <a:avLst/>
          </a:prstGeom>
          <a:ln w="0">
            <a:noFill/>
          </a:ln>
        </p:spPr>
      </p:sp>
      <p:sp>
        <p:nvSpPr>
          <p:cNvPr id="12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3"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E1CC7CA-AB0F-4875-A217-A29ACD3A539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4" name="PlaceHolder 1"/>
          <p:cNvSpPr>
            <a:spLocks noGrp="1"/>
          </p:cNvSpPr>
          <p:nvPr>
            <p:ph type="sldImg"/>
          </p:nvPr>
        </p:nvSpPr>
        <p:spPr>
          <a:xfrm>
            <a:off x="685800" y="1143000"/>
            <a:ext cx="5485680" cy="3085560"/>
          </a:xfrm>
          <a:prstGeom prst="rect">
            <a:avLst/>
          </a:prstGeom>
          <a:ln w="0">
            <a:noFill/>
          </a:ln>
        </p:spPr>
      </p:sp>
      <p:sp>
        <p:nvSpPr>
          <p:cNvPr id="12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6"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6B4F53A-53E2-417D-A4F9-F56005979A9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Img"/>
          </p:nvPr>
        </p:nvSpPr>
        <p:spPr>
          <a:xfrm>
            <a:off x="685800" y="1143000"/>
            <a:ext cx="5485680" cy="3085560"/>
          </a:xfrm>
          <a:prstGeom prst="rect">
            <a:avLst/>
          </a:prstGeom>
          <a:ln w="0">
            <a:noFill/>
          </a:ln>
        </p:spPr>
      </p:sp>
      <p:sp>
        <p:nvSpPr>
          <p:cNvPr id="12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49"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963B2F9-8D26-4BDE-9B33-6785F1C7CA8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0" name="PlaceHolder 1"/>
          <p:cNvSpPr>
            <a:spLocks noGrp="1"/>
          </p:cNvSpPr>
          <p:nvPr>
            <p:ph type="sldImg"/>
          </p:nvPr>
        </p:nvSpPr>
        <p:spPr>
          <a:xfrm>
            <a:off x="685800" y="1143000"/>
            <a:ext cx="5485680" cy="3085560"/>
          </a:xfrm>
          <a:prstGeom prst="rect">
            <a:avLst/>
          </a:prstGeom>
          <a:ln w="0">
            <a:noFill/>
          </a:ln>
        </p:spPr>
      </p:sp>
      <p:sp>
        <p:nvSpPr>
          <p:cNvPr id="12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2"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F7EF6F9-8EC8-4752-871C-16525A54B6B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type="sldImg"/>
          </p:nvPr>
        </p:nvSpPr>
        <p:spPr>
          <a:xfrm>
            <a:off x="685800" y="1143000"/>
            <a:ext cx="5485680" cy="3085560"/>
          </a:xfrm>
          <a:prstGeom prst="rect">
            <a:avLst/>
          </a:prstGeom>
          <a:ln w="0">
            <a:noFill/>
          </a:ln>
        </p:spPr>
      </p:sp>
      <p:sp>
        <p:nvSpPr>
          <p:cNvPr id="12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5"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9CE938-0375-461E-BC1B-3E578A21BC7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6" name="PlaceHolder 1"/>
          <p:cNvSpPr>
            <a:spLocks noGrp="1"/>
          </p:cNvSpPr>
          <p:nvPr>
            <p:ph type="sldImg"/>
          </p:nvPr>
        </p:nvSpPr>
        <p:spPr>
          <a:xfrm>
            <a:off x="685800" y="1143000"/>
            <a:ext cx="5485680" cy="3085560"/>
          </a:xfrm>
          <a:prstGeom prst="rect">
            <a:avLst/>
          </a:prstGeom>
          <a:ln w="0">
            <a:noFill/>
          </a:ln>
        </p:spPr>
      </p:sp>
      <p:sp>
        <p:nvSpPr>
          <p:cNvPr id="12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58"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4CB41A-A277-4077-AFAC-69FC8CD48C7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type="sldImg"/>
          </p:nvPr>
        </p:nvSpPr>
        <p:spPr>
          <a:xfrm>
            <a:off x="685800" y="1143000"/>
            <a:ext cx="5485680" cy="3085560"/>
          </a:xfrm>
          <a:prstGeom prst="rect">
            <a:avLst/>
          </a:prstGeom>
          <a:ln w="0">
            <a:noFill/>
          </a:ln>
        </p:spPr>
      </p:sp>
      <p:sp>
        <p:nvSpPr>
          <p:cNvPr id="12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1"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A26C9DE-F2A5-4AC9-B8A9-BAB351E2549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2" name="PlaceHolder 1"/>
          <p:cNvSpPr>
            <a:spLocks noGrp="1"/>
          </p:cNvSpPr>
          <p:nvPr>
            <p:ph type="sldImg"/>
          </p:nvPr>
        </p:nvSpPr>
        <p:spPr>
          <a:xfrm>
            <a:off x="685800" y="1143000"/>
            <a:ext cx="5485680" cy="3085560"/>
          </a:xfrm>
          <a:prstGeom prst="rect">
            <a:avLst/>
          </a:prstGeom>
          <a:ln w="0">
            <a:noFill/>
          </a:ln>
        </p:spPr>
      </p:sp>
      <p:sp>
        <p:nvSpPr>
          <p:cNvPr id="12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4"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6B2240E-DA8E-4855-B878-359F2283C90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Img"/>
          </p:nvPr>
        </p:nvSpPr>
        <p:spPr>
          <a:xfrm>
            <a:off x="685800" y="1143000"/>
            <a:ext cx="5485680" cy="3085560"/>
          </a:xfrm>
          <a:prstGeom prst="rect">
            <a:avLst/>
          </a:prstGeom>
          <a:ln w="0">
            <a:noFill/>
          </a:ln>
        </p:spPr>
      </p:sp>
      <p:sp>
        <p:nvSpPr>
          <p:cNvPr id="12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67"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0CFD72F-10E8-4DE2-8679-038B4D9A777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Img"/>
          </p:nvPr>
        </p:nvSpPr>
        <p:spPr>
          <a:xfrm>
            <a:off x="685800" y="1143000"/>
            <a:ext cx="5485680" cy="3085560"/>
          </a:xfrm>
          <a:prstGeom prst="rect">
            <a:avLst/>
          </a:prstGeom>
          <a:ln w="0">
            <a:noFill/>
          </a:ln>
        </p:spPr>
      </p:sp>
      <p:sp>
        <p:nvSpPr>
          <p:cNvPr id="12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0"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37ABA6A-05CC-4064-9CCE-BDB5F5B06C8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Img"/>
          </p:nvPr>
        </p:nvSpPr>
        <p:spPr>
          <a:xfrm>
            <a:off x="685800" y="1143000"/>
            <a:ext cx="5485680" cy="3085560"/>
          </a:xfrm>
          <a:prstGeom prst="rect">
            <a:avLst/>
          </a:prstGeom>
          <a:ln w="0">
            <a:noFill/>
          </a:ln>
        </p:spPr>
      </p:sp>
      <p:sp>
        <p:nvSpPr>
          <p:cNvPr id="12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3"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98C2B69-C243-4673-9FF1-258B84DDAB8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PlaceHolder 1"/>
          <p:cNvSpPr>
            <a:spLocks noGrp="1"/>
          </p:cNvSpPr>
          <p:nvPr>
            <p:ph type="sldImg"/>
          </p:nvPr>
        </p:nvSpPr>
        <p:spPr>
          <a:xfrm>
            <a:off x="685800" y="1143000"/>
            <a:ext cx="5485680" cy="3085560"/>
          </a:xfrm>
          <a:prstGeom prst="rect">
            <a:avLst/>
          </a:prstGeom>
          <a:ln w="0">
            <a:noFill/>
          </a:ln>
        </p:spPr>
      </p:sp>
      <p:sp>
        <p:nvSpPr>
          <p:cNvPr id="12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6"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15E933A-76A1-4426-9C3C-003C4505AF1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PlaceHolder 1"/>
          <p:cNvSpPr>
            <a:spLocks noGrp="1"/>
          </p:cNvSpPr>
          <p:nvPr>
            <p:ph type="sldImg"/>
          </p:nvPr>
        </p:nvSpPr>
        <p:spPr>
          <a:xfrm>
            <a:off x="685800" y="1143000"/>
            <a:ext cx="5485680" cy="3085560"/>
          </a:xfrm>
          <a:prstGeom prst="rect">
            <a:avLst/>
          </a:prstGeom>
          <a:ln w="0">
            <a:noFill/>
          </a:ln>
        </p:spPr>
      </p:sp>
      <p:sp>
        <p:nvSpPr>
          <p:cNvPr id="12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79" name="PlaceHolder 3"/>
          <p:cNvSpPr>
            <a:spLocks noGrp="1"/>
          </p:cNvSpPr>
          <p:nvPr>
            <p:ph type="sldNum" idx="3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AFB3CDA-6A15-4917-B0BB-1C28F9C8604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PlaceHolder 1"/>
          <p:cNvSpPr>
            <a:spLocks noGrp="1"/>
          </p:cNvSpPr>
          <p:nvPr>
            <p:ph type="sldImg"/>
          </p:nvPr>
        </p:nvSpPr>
        <p:spPr>
          <a:xfrm>
            <a:off x="685800" y="1143000"/>
            <a:ext cx="5485680" cy="3085560"/>
          </a:xfrm>
          <a:prstGeom prst="rect">
            <a:avLst/>
          </a:prstGeom>
          <a:ln w="0">
            <a:noFill/>
          </a:ln>
        </p:spPr>
      </p:sp>
      <p:sp>
        <p:nvSpPr>
          <p:cNvPr id="12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2"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7FA49D1-7E91-4229-A57A-7743A7AB67F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3" name="PlaceHolder 1"/>
          <p:cNvSpPr>
            <a:spLocks noGrp="1"/>
          </p:cNvSpPr>
          <p:nvPr>
            <p:ph type="sldImg"/>
          </p:nvPr>
        </p:nvSpPr>
        <p:spPr>
          <a:xfrm>
            <a:off x="685800" y="1143000"/>
            <a:ext cx="5485680" cy="3085560"/>
          </a:xfrm>
          <a:prstGeom prst="rect">
            <a:avLst/>
          </a:prstGeom>
          <a:ln w="0">
            <a:noFill/>
          </a:ln>
        </p:spPr>
      </p:sp>
      <p:sp>
        <p:nvSpPr>
          <p:cNvPr id="12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5"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B862575-74B6-45E5-BE0F-413BD82AD17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6" name="PlaceHolder 1"/>
          <p:cNvSpPr>
            <a:spLocks noGrp="1"/>
          </p:cNvSpPr>
          <p:nvPr>
            <p:ph type="sldImg"/>
          </p:nvPr>
        </p:nvSpPr>
        <p:spPr>
          <a:xfrm>
            <a:off x="685800" y="1143000"/>
            <a:ext cx="5485680" cy="3085560"/>
          </a:xfrm>
          <a:prstGeom prst="rect">
            <a:avLst/>
          </a:prstGeom>
          <a:ln w="0">
            <a:noFill/>
          </a:ln>
        </p:spPr>
      </p:sp>
      <p:sp>
        <p:nvSpPr>
          <p:cNvPr id="12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88"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5C14C57-E834-43FC-BB16-9326059F104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9" name="PlaceHolder 1"/>
          <p:cNvSpPr>
            <a:spLocks noGrp="1"/>
          </p:cNvSpPr>
          <p:nvPr>
            <p:ph type="sldImg"/>
          </p:nvPr>
        </p:nvSpPr>
        <p:spPr>
          <a:xfrm>
            <a:off x="685800" y="1143000"/>
            <a:ext cx="5485680" cy="3085560"/>
          </a:xfrm>
          <a:prstGeom prst="rect">
            <a:avLst/>
          </a:prstGeom>
          <a:ln w="0">
            <a:noFill/>
          </a:ln>
        </p:spPr>
      </p:sp>
      <p:sp>
        <p:nvSpPr>
          <p:cNvPr id="12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1"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C91612-A693-454F-89D1-8718FA4DFFB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2" name="PlaceHolder 1"/>
          <p:cNvSpPr>
            <a:spLocks noGrp="1"/>
          </p:cNvSpPr>
          <p:nvPr>
            <p:ph type="sldImg"/>
          </p:nvPr>
        </p:nvSpPr>
        <p:spPr>
          <a:xfrm>
            <a:off x="685800" y="1143000"/>
            <a:ext cx="5485680" cy="3085560"/>
          </a:xfrm>
          <a:prstGeom prst="rect">
            <a:avLst/>
          </a:prstGeom>
          <a:ln w="0">
            <a:noFill/>
          </a:ln>
        </p:spPr>
      </p:sp>
      <p:sp>
        <p:nvSpPr>
          <p:cNvPr id="12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4"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D40680D-424F-4F49-B9CA-7524BB37401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5" name="PlaceHolder 1"/>
          <p:cNvSpPr>
            <a:spLocks noGrp="1"/>
          </p:cNvSpPr>
          <p:nvPr>
            <p:ph type="sldImg"/>
          </p:nvPr>
        </p:nvSpPr>
        <p:spPr>
          <a:xfrm>
            <a:off x="685800" y="1143000"/>
            <a:ext cx="5485680" cy="3085560"/>
          </a:xfrm>
          <a:prstGeom prst="rect">
            <a:avLst/>
          </a:prstGeom>
          <a:ln w="0">
            <a:noFill/>
          </a:ln>
        </p:spPr>
      </p:sp>
      <p:sp>
        <p:nvSpPr>
          <p:cNvPr id="12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97" name="PlaceHolder 3"/>
          <p:cNvSpPr>
            <a:spLocks noGrp="1"/>
          </p:cNvSpPr>
          <p:nvPr>
            <p:ph type="sldNum" idx="4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FAAE9C7-5FE3-42CA-8F72-B38E73E7F09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8" name="PlaceHolder 1"/>
          <p:cNvSpPr>
            <a:spLocks noGrp="1"/>
          </p:cNvSpPr>
          <p:nvPr>
            <p:ph type="sldImg"/>
          </p:nvPr>
        </p:nvSpPr>
        <p:spPr>
          <a:xfrm>
            <a:off x="685800" y="1143000"/>
            <a:ext cx="5485680" cy="3085560"/>
          </a:xfrm>
          <a:prstGeom prst="rect">
            <a:avLst/>
          </a:prstGeom>
          <a:ln w="0">
            <a:noFill/>
          </a:ln>
        </p:spPr>
      </p:sp>
      <p:sp>
        <p:nvSpPr>
          <p:cNvPr id="12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0"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C16529E-C66F-4954-BEB4-461F834E023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1" name="PlaceHolder 1"/>
          <p:cNvSpPr>
            <a:spLocks noGrp="1"/>
          </p:cNvSpPr>
          <p:nvPr>
            <p:ph type="sldImg"/>
          </p:nvPr>
        </p:nvSpPr>
        <p:spPr>
          <a:xfrm>
            <a:off x="685800" y="1143000"/>
            <a:ext cx="5485680" cy="3085560"/>
          </a:xfrm>
          <a:prstGeom prst="rect">
            <a:avLst/>
          </a:prstGeom>
          <a:ln w="0">
            <a:noFill/>
          </a:ln>
        </p:spPr>
      </p:sp>
      <p:sp>
        <p:nvSpPr>
          <p:cNvPr id="13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3" name="PlaceHolder 3"/>
          <p:cNvSpPr>
            <a:spLocks noGrp="1"/>
          </p:cNvSpPr>
          <p:nvPr>
            <p:ph type="sldNum" idx="4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C4BEDE2-6DCD-4788-A68F-2892E993F49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4" name="PlaceHolder 1"/>
          <p:cNvSpPr>
            <a:spLocks noGrp="1"/>
          </p:cNvSpPr>
          <p:nvPr>
            <p:ph type="sldImg"/>
          </p:nvPr>
        </p:nvSpPr>
        <p:spPr>
          <a:xfrm>
            <a:off x="685800" y="1143000"/>
            <a:ext cx="5485680" cy="3085560"/>
          </a:xfrm>
          <a:prstGeom prst="rect">
            <a:avLst/>
          </a:prstGeom>
          <a:ln w="0">
            <a:noFill/>
          </a:ln>
        </p:spPr>
      </p:sp>
      <p:sp>
        <p:nvSpPr>
          <p:cNvPr id="13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6" name="PlaceHolder 3"/>
          <p:cNvSpPr>
            <a:spLocks noGrp="1"/>
          </p:cNvSpPr>
          <p:nvPr>
            <p:ph type="sldNum" idx="4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0A32EB7-E580-496A-B608-F4AF4C9C62D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Img"/>
          </p:nvPr>
        </p:nvSpPr>
        <p:spPr>
          <a:xfrm>
            <a:off x="685800" y="1143000"/>
            <a:ext cx="5485680" cy="3085560"/>
          </a:xfrm>
          <a:prstGeom prst="rect">
            <a:avLst/>
          </a:prstGeom>
          <a:ln w="0">
            <a:noFill/>
          </a:ln>
        </p:spPr>
      </p:sp>
      <p:sp>
        <p:nvSpPr>
          <p:cNvPr id="13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09"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382F200-52F2-41CB-8474-8C2E1F39E9D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Img"/>
          </p:nvPr>
        </p:nvSpPr>
        <p:spPr>
          <a:xfrm>
            <a:off x="685800" y="1143000"/>
            <a:ext cx="5485680" cy="3085560"/>
          </a:xfrm>
          <a:prstGeom prst="rect">
            <a:avLst/>
          </a:prstGeom>
          <a:ln w="0">
            <a:noFill/>
          </a:ln>
        </p:spPr>
      </p:sp>
      <p:sp>
        <p:nvSpPr>
          <p:cNvPr id="13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2"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03D1B0-5466-4A8F-9430-00E3F73BE72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Img"/>
          </p:nvPr>
        </p:nvSpPr>
        <p:spPr>
          <a:xfrm>
            <a:off x="685800" y="1143000"/>
            <a:ext cx="5485680" cy="3085560"/>
          </a:xfrm>
          <a:prstGeom prst="rect">
            <a:avLst/>
          </a:prstGeom>
          <a:ln w="0">
            <a:noFill/>
          </a:ln>
        </p:spPr>
      </p:sp>
      <p:sp>
        <p:nvSpPr>
          <p:cNvPr id="13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5"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0DBC468-30CE-4E46-9ED4-43C97DD7735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Img"/>
          </p:nvPr>
        </p:nvSpPr>
        <p:spPr>
          <a:xfrm>
            <a:off x="685800" y="1143000"/>
            <a:ext cx="5485680" cy="3085560"/>
          </a:xfrm>
          <a:prstGeom prst="rect">
            <a:avLst/>
          </a:prstGeom>
          <a:ln w="0">
            <a:noFill/>
          </a:ln>
        </p:spPr>
      </p:sp>
      <p:sp>
        <p:nvSpPr>
          <p:cNvPr id="13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18"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288460-7F4D-4486-8652-CBF775AFA27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Img"/>
          </p:nvPr>
        </p:nvSpPr>
        <p:spPr>
          <a:xfrm>
            <a:off x="685800" y="1143000"/>
            <a:ext cx="5485680" cy="3085560"/>
          </a:xfrm>
          <a:prstGeom prst="rect">
            <a:avLst/>
          </a:prstGeom>
          <a:ln w="0">
            <a:noFill/>
          </a:ln>
        </p:spPr>
      </p:sp>
      <p:sp>
        <p:nvSpPr>
          <p:cNvPr id="13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1"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2D5AAE0-AC75-42BD-A402-4AAEC84F713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Img"/>
          </p:nvPr>
        </p:nvSpPr>
        <p:spPr>
          <a:xfrm>
            <a:off x="685800" y="1143000"/>
            <a:ext cx="5485680" cy="3085560"/>
          </a:xfrm>
          <a:prstGeom prst="rect">
            <a:avLst/>
          </a:prstGeom>
          <a:ln w="0">
            <a:noFill/>
          </a:ln>
        </p:spPr>
      </p:sp>
      <p:sp>
        <p:nvSpPr>
          <p:cNvPr id="13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4"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F03D333-E5FD-45A9-91D9-93C0FD82D39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Img"/>
          </p:nvPr>
        </p:nvSpPr>
        <p:spPr>
          <a:xfrm>
            <a:off x="685800" y="1143000"/>
            <a:ext cx="5485680" cy="3085560"/>
          </a:xfrm>
          <a:prstGeom prst="rect">
            <a:avLst/>
          </a:prstGeom>
          <a:ln w="0">
            <a:noFill/>
          </a:ln>
        </p:spPr>
      </p:sp>
      <p:sp>
        <p:nvSpPr>
          <p:cNvPr id="13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27" name="PlaceHolder 3"/>
          <p:cNvSpPr>
            <a:spLocks noGrp="1"/>
          </p:cNvSpPr>
          <p:nvPr>
            <p:ph type="sldNum" idx="5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966ADE8-A17E-4FB7-B202-76EDAC91D31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Img"/>
          </p:nvPr>
        </p:nvSpPr>
        <p:spPr>
          <a:xfrm>
            <a:off x="685800" y="1143000"/>
            <a:ext cx="5485680" cy="3085560"/>
          </a:xfrm>
          <a:prstGeom prst="rect">
            <a:avLst/>
          </a:prstGeom>
          <a:ln w="0">
            <a:noFill/>
          </a:ln>
        </p:spPr>
      </p:sp>
      <p:sp>
        <p:nvSpPr>
          <p:cNvPr id="13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0" name="PlaceHolder 3"/>
          <p:cNvSpPr>
            <a:spLocks noGrp="1"/>
          </p:cNvSpPr>
          <p:nvPr>
            <p:ph type="sldNum" idx="5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96EF613-1FF6-40D3-8320-5802478F8E6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Img"/>
          </p:nvPr>
        </p:nvSpPr>
        <p:spPr>
          <a:xfrm>
            <a:off x="685800" y="1143000"/>
            <a:ext cx="5485680" cy="3085560"/>
          </a:xfrm>
          <a:prstGeom prst="rect">
            <a:avLst/>
          </a:prstGeom>
          <a:ln w="0">
            <a:noFill/>
          </a:ln>
        </p:spPr>
      </p:sp>
      <p:sp>
        <p:nvSpPr>
          <p:cNvPr id="13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3" name="PlaceHolder 3"/>
          <p:cNvSpPr>
            <a:spLocks noGrp="1"/>
          </p:cNvSpPr>
          <p:nvPr>
            <p:ph type="sldNum" idx="5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5039269-0E94-4C4F-ABFE-1275D983A71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Img"/>
          </p:nvPr>
        </p:nvSpPr>
        <p:spPr>
          <a:xfrm>
            <a:off x="685800" y="1143000"/>
            <a:ext cx="5485680" cy="3085560"/>
          </a:xfrm>
          <a:prstGeom prst="rect">
            <a:avLst/>
          </a:prstGeom>
          <a:ln w="0">
            <a:noFill/>
          </a:ln>
        </p:spPr>
      </p:sp>
      <p:sp>
        <p:nvSpPr>
          <p:cNvPr id="13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6" name="PlaceHolder 3"/>
          <p:cNvSpPr>
            <a:spLocks noGrp="1"/>
          </p:cNvSpPr>
          <p:nvPr>
            <p:ph type="sldNum" idx="5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2CC841F-9213-4958-A86A-7AF2E3E50DC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sldImg"/>
          </p:nvPr>
        </p:nvSpPr>
        <p:spPr>
          <a:xfrm>
            <a:off x="685800" y="1143000"/>
            <a:ext cx="5485680" cy="3085560"/>
          </a:xfrm>
          <a:prstGeom prst="rect">
            <a:avLst/>
          </a:prstGeom>
          <a:ln w="0">
            <a:noFill/>
          </a:ln>
        </p:spPr>
      </p:sp>
      <p:sp>
        <p:nvSpPr>
          <p:cNvPr id="13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39" name="PlaceHolder 3"/>
          <p:cNvSpPr>
            <a:spLocks noGrp="1"/>
          </p:cNvSpPr>
          <p:nvPr>
            <p:ph type="sldNum" idx="5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041586A-2CEF-416F-8493-D4EC1B50ECD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0" name="PlaceHolder 1"/>
          <p:cNvSpPr>
            <a:spLocks noGrp="1"/>
          </p:cNvSpPr>
          <p:nvPr>
            <p:ph type="sldImg"/>
          </p:nvPr>
        </p:nvSpPr>
        <p:spPr>
          <a:xfrm>
            <a:off x="685800" y="1143000"/>
            <a:ext cx="5485680" cy="3085560"/>
          </a:xfrm>
          <a:prstGeom prst="rect">
            <a:avLst/>
          </a:prstGeom>
          <a:ln w="0">
            <a:noFill/>
          </a:ln>
        </p:spPr>
      </p:sp>
      <p:sp>
        <p:nvSpPr>
          <p:cNvPr id="13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2" name="PlaceHolder 3"/>
          <p:cNvSpPr>
            <a:spLocks noGrp="1"/>
          </p:cNvSpPr>
          <p:nvPr>
            <p:ph type="sldNum" idx="6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74A4150-830C-469C-99B1-AC297B241C3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3" name="PlaceHolder 1"/>
          <p:cNvSpPr>
            <a:spLocks noGrp="1"/>
          </p:cNvSpPr>
          <p:nvPr>
            <p:ph type="sldImg"/>
          </p:nvPr>
        </p:nvSpPr>
        <p:spPr>
          <a:xfrm>
            <a:off x="685800" y="1143000"/>
            <a:ext cx="5485680" cy="3085560"/>
          </a:xfrm>
          <a:prstGeom prst="rect">
            <a:avLst/>
          </a:prstGeom>
          <a:ln w="0">
            <a:noFill/>
          </a:ln>
        </p:spPr>
      </p:sp>
      <p:sp>
        <p:nvSpPr>
          <p:cNvPr id="13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5" name="PlaceHolder 3"/>
          <p:cNvSpPr>
            <a:spLocks noGrp="1"/>
          </p:cNvSpPr>
          <p:nvPr>
            <p:ph type="sldNum" idx="6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5D1092-A1B0-4E6C-8C0F-F76A2E4611D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sldImg"/>
          </p:nvPr>
        </p:nvSpPr>
        <p:spPr>
          <a:xfrm>
            <a:off x="685800" y="1143000"/>
            <a:ext cx="5485680" cy="3085560"/>
          </a:xfrm>
          <a:prstGeom prst="rect">
            <a:avLst/>
          </a:prstGeom>
          <a:ln w="0">
            <a:noFill/>
          </a:ln>
        </p:spPr>
      </p:sp>
      <p:sp>
        <p:nvSpPr>
          <p:cNvPr id="13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48" name="PlaceHolder 3"/>
          <p:cNvSpPr>
            <a:spLocks noGrp="1"/>
          </p:cNvSpPr>
          <p:nvPr>
            <p:ph type="sldNum" idx="6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8DD3004-0BA2-47DD-8E83-96FF6EA8A11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9" name="PlaceHolder 1"/>
          <p:cNvSpPr>
            <a:spLocks noGrp="1"/>
          </p:cNvSpPr>
          <p:nvPr>
            <p:ph type="sldImg"/>
          </p:nvPr>
        </p:nvSpPr>
        <p:spPr>
          <a:xfrm>
            <a:off x="685800" y="1143000"/>
            <a:ext cx="5485680" cy="3085560"/>
          </a:xfrm>
          <a:prstGeom prst="rect">
            <a:avLst/>
          </a:prstGeom>
          <a:ln w="0">
            <a:noFill/>
          </a:ln>
        </p:spPr>
      </p:sp>
      <p:sp>
        <p:nvSpPr>
          <p:cNvPr id="13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1" name="PlaceHolder 3"/>
          <p:cNvSpPr>
            <a:spLocks noGrp="1"/>
          </p:cNvSpPr>
          <p:nvPr>
            <p:ph type="sldNum" idx="6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81EAFD5-8876-4DF4-96F3-A9399DCB6C5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PlaceHolder 1"/>
          <p:cNvSpPr>
            <a:spLocks noGrp="1"/>
          </p:cNvSpPr>
          <p:nvPr>
            <p:ph type="sldImg"/>
          </p:nvPr>
        </p:nvSpPr>
        <p:spPr>
          <a:xfrm>
            <a:off x="685800" y="1143000"/>
            <a:ext cx="5485680" cy="3085560"/>
          </a:xfrm>
          <a:prstGeom prst="rect">
            <a:avLst/>
          </a:prstGeom>
          <a:ln w="0">
            <a:noFill/>
          </a:ln>
        </p:spPr>
      </p:sp>
      <p:sp>
        <p:nvSpPr>
          <p:cNvPr id="13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4" name="PlaceHolder 3"/>
          <p:cNvSpPr>
            <a:spLocks noGrp="1"/>
          </p:cNvSpPr>
          <p:nvPr>
            <p:ph type="sldNum" idx="6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980944E-625F-4842-B5C4-B48EEEB3555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5" name="PlaceHolder 1"/>
          <p:cNvSpPr>
            <a:spLocks noGrp="1"/>
          </p:cNvSpPr>
          <p:nvPr>
            <p:ph type="sldImg"/>
          </p:nvPr>
        </p:nvSpPr>
        <p:spPr>
          <a:xfrm>
            <a:off x="685800" y="1143000"/>
            <a:ext cx="5485680" cy="3085560"/>
          </a:xfrm>
          <a:prstGeom prst="rect">
            <a:avLst/>
          </a:prstGeom>
          <a:ln w="0">
            <a:noFill/>
          </a:ln>
        </p:spPr>
      </p:sp>
      <p:sp>
        <p:nvSpPr>
          <p:cNvPr id="13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57" name="PlaceHolder 3"/>
          <p:cNvSpPr>
            <a:spLocks noGrp="1"/>
          </p:cNvSpPr>
          <p:nvPr>
            <p:ph type="sldNum" idx="6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1BED5A8-9ED4-43F5-BCF5-348C7F891C3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Img"/>
          </p:nvPr>
        </p:nvSpPr>
        <p:spPr>
          <a:xfrm>
            <a:off x="685800" y="1143000"/>
            <a:ext cx="5485680" cy="3085560"/>
          </a:xfrm>
          <a:prstGeom prst="rect">
            <a:avLst/>
          </a:prstGeom>
          <a:ln w="0">
            <a:noFill/>
          </a:ln>
        </p:spPr>
      </p:sp>
      <p:sp>
        <p:nvSpPr>
          <p:cNvPr id="13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0" name="PlaceHolder 3"/>
          <p:cNvSpPr>
            <a:spLocks noGrp="1"/>
          </p:cNvSpPr>
          <p:nvPr>
            <p:ph type="sldNum" idx="6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C9F7374-10DE-471B-9AFA-3D38B6700EA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1" name="PlaceHolder 1"/>
          <p:cNvSpPr>
            <a:spLocks noGrp="1"/>
          </p:cNvSpPr>
          <p:nvPr>
            <p:ph type="sldImg"/>
          </p:nvPr>
        </p:nvSpPr>
        <p:spPr>
          <a:xfrm>
            <a:off x="685800" y="1143000"/>
            <a:ext cx="5485680" cy="3085560"/>
          </a:xfrm>
          <a:prstGeom prst="rect">
            <a:avLst/>
          </a:prstGeom>
          <a:ln w="0">
            <a:noFill/>
          </a:ln>
        </p:spPr>
      </p:sp>
      <p:sp>
        <p:nvSpPr>
          <p:cNvPr id="13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3" name="PlaceHolder 3"/>
          <p:cNvSpPr>
            <a:spLocks noGrp="1"/>
          </p:cNvSpPr>
          <p:nvPr>
            <p:ph type="sldNum" idx="6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1D59B8-64C6-4DF2-837F-99EF92AB086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4" name="PlaceHolder 1"/>
          <p:cNvSpPr>
            <a:spLocks noGrp="1"/>
          </p:cNvSpPr>
          <p:nvPr>
            <p:ph type="sldImg"/>
          </p:nvPr>
        </p:nvSpPr>
        <p:spPr>
          <a:xfrm>
            <a:off x="685800" y="1143000"/>
            <a:ext cx="5485680" cy="3085560"/>
          </a:xfrm>
          <a:prstGeom prst="rect">
            <a:avLst/>
          </a:prstGeom>
          <a:ln w="0">
            <a:noFill/>
          </a:ln>
        </p:spPr>
      </p:sp>
      <p:sp>
        <p:nvSpPr>
          <p:cNvPr id="13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6" name="PlaceHolder 3"/>
          <p:cNvSpPr>
            <a:spLocks noGrp="1"/>
          </p:cNvSpPr>
          <p:nvPr>
            <p:ph type="sldNum" idx="6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AF9AA3B-1483-433B-B59F-7C642A3747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7" name="PlaceHolder 1"/>
          <p:cNvSpPr>
            <a:spLocks noGrp="1"/>
          </p:cNvSpPr>
          <p:nvPr>
            <p:ph type="sldImg"/>
          </p:nvPr>
        </p:nvSpPr>
        <p:spPr>
          <a:xfrm>
            <a:off x="685800" y="1143000"/>
            <a:ext cx="5485680" cy="3085560"/>
          </a:xfrm>
          <a:prstGeom prst="rect">
            <a:avLst/>
          </a:prstGeom>
          <a:ln w="0">
            <a:noFill/>
          </a:ln>
        </p:spPr>
      </p:sp>
      <p:sp>
        <p:nvSpPr>
          <p:cNvPr id="13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9" name="PlaceHolder 3"/>
          <p:cNvSpPr>
            <a:spLocks noGrp="1"/>
          </p:cNvSpPr>
          <p:nvPr>
            <p:ph type="sldNum" idx="6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8D26599-2873-4A2F-84D6-2E170A4F9A6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0" name="PlaceHolder 1"/>
          <p:cNvSpPr>
            <a:spLocks noGrp="1"/>
          </p:cNvSpPr>
          <p:nvPr>
            <p:ph type="sldImg"/>
          </p:nvPr>
        </p:nvSpPr>
        <p:spPr>
          <a:xfrm>
            <a:off x="685800" y="1143000"/>
            <a:ext cx="5485680" cy="3085560"/>
          </a:xfrm>
          <a:prstGeom prst="rect">
            <a:avLst/>
          </a:prstGeom>
          <a:ln w="0">
            <a:noFill/>
          </a:ln>
        </p:spPr>
      </p:sp>
      <p:sp>
        <p:nvSpPr>
          <p:cNvPr id="13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72" name="PlaceHolder 3"/>
          <p:cNvSpPr>
            <a:spLocks noGrp="1"/>
          </p:cNvSpPr>
          <p:nvPr>
            <p:ph type="sldNum" idx="7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2FA8922-42C7-4D3B-A48D-648A4DF344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slideLayout" Target="../slideLayouts/slideLayout1.xml"/><Relationship Id="rId11"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8.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0.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9.png"/><Relationship Id="rId3"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5.png"/><Relationship Id="rId3" Type="http://schemas.openxmlformats.org/officeDocument/2006/relationships/slideLayout" Target="../slideLayouts/slideLayout1.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slideLayout" Target="../slideLayouts/slideLayout1.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image" Target="../media/image28.png"/><Relationship Id="rId4" Type="http://schemas.openxmlformats.org/officeDocument/2006/relationships/slideLayout" Target="../slideLayouts/slideLayout1.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1.xml"/><Relationship Id="rId7"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29.png"/><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0.png"/><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slideLayout" Target="../slideLayouts/slideLayout1.xml"/><Relationship Id="rId7"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slideLayout" Target="../slideLayouts/slideLayout1.xml"/><Relationship Id="rId4"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5.png"/><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7.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5.png"/><Relationship Id="rId3" Type="http://schemas.openxmlformats.org/officeDocument/2006/relationships/slideLayout" Target="../slideLayouts/slideLayout1.xml"/><Relationship Id="rId4"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20.png"/><Relationship Id="rId5" Type="http://schemas.openxmlformats.org/officeDocument/2006/relationships/slideLayout" Target="../slideLayouts/slideLayout1.xml"/><Relationship Id="rId6"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slideLayout" Target="../slideLayouts/slideLayout1.xml"/><Relationship Id="rId6"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8.png"/><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slideLayout" Target="../slideLayouts/slideLayout1.xml"/><Relationship Id="rId6"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0.png"/><Relationship Id="rId3" Type="http://schemas.openxmlformats.org/officeDocument/2006/relationships/slideLayout" Target="../slideLayouts/slideLayout1.xml"/><Relationship Id="rId4"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6.png"/><Relationship Id="rId3" Type="http://schemas.openxmlformats.org/officeDocument/2006/relationships/slideLayout" Target="../slideLayouts/slideLayout1.xml"/><Relationship Id="rId4"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34.png"/><Relationship Id="rId4" Type="http://schemas.openxmlformats.org/officeDocument/2006/relationships/slideLayout" Target="../slideLayouts/slideLayout1.xml"/><Relationship Id="rId5"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3.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43.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43.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43.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43.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1.xml"/><Relationship Id="rId3"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1.xml"/><Relationship Id="rId3" Type="http://schemas.openxmlformats.org/officeDocument/2006/relationships/notesSlide" Target="../notesSlides/notesSlide6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11"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12"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13"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14" name="Shape 4"/>
          <p:cNvSpPr/>
          <p:nvPr/>
        </p:nvSpPr>
        <p:spPr>
          <a:xfrm rot="21480000">
            <a:off x="1234440" y="1690920"/>
            <a:ext cx="9719280" cy="3519720"/>
          </a:xfrm>
          <a:prstGeom prst="roundRect">
            <a:avLst>
              <a:gd name="adj" fmla="val 5195"/>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 name="Shape 5"/>
          <p:cNvSpPr/>
          <p:nvPr/>
        </p:nvSpPr>
        <p:spPr>
          <a:xfrm>
            <a:off x="1051560" y="1508760"/>
            <a:ext cx="9719280" cy="3519720"/>
          </a:xfrm>
          <a:prstGeom prst="roundRect">
            <a:avLst>
              <a:gd name="adj" fmla="val 5195"/>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 name="Shape 6"/>
          <p:cNvSpPr/>
          <p:nvPr/>
        </p:nvSpPr>
        <p:spPr>
          <a:xfrm>
            <a:off x="5367600" y="1874520"/>
            <a:ext cx="1096560" cy="109656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7" name="Image 0" descr="preencoded.png"/>
          <p:cNvPicPr/>
          <p:nvPr/>
        </p:nvPicPr>
        <p:blipFill>
          <a:blip r:embed="rId1"/>
          <a:stretch/>
        </p:blipFill>
        <p:spPr>
          <a:xfrm>
            <a:off x="5541120" y="2048400"/>
            <a:ext cx="749160" cy="749160"/>
          </a:xfrm>
          <a:prstGeom prst="rect">
            <a:avLst/>
          </a:prstGeom>
          <a:noFill/>
          <a:ln w="0">
            <a:noFill/>
          </a:ln>
        </p:spPr>
      </p:pic>
      <p:sp>
        <p:nvSpPr>
          <p:cNvPr id="18" name="Text 7"/>
          <p:cNvSpPr/>
          <p:nvPr/>
        </p:nvSpPr>
        <p:spPr>
          <a:xfrm>
            <a:off x="1508760" y="2880360"/>
            <a:ext cx="8804880" cy="1005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3200" b="1" u="none" strike="noStrike">
                <a:solidFill>
                  <a:srgbClr val="FFFFFF"/>
                </a:solidFill>
                <a:effectLst/>
                <a:uFillTx/>
                <a:latin typeface="Century Gothic"/>
                <a:ea typeface="Century Gothic"/>
              </a:rPr>
              <a:t>Statistics Foundations</a:t>
            </a:r>
            <a:endParaRPr lang="en-US" sz="3200" b="0" u="none" strike="noStrike">
              <a:solidFill>
                <a:srgbClr val="000000"/>
              </a:solidFill>
              <a:effectLst/>
              <a:uFillTx/>
              <a:latin typeface="Arial"/>
            </a:endParaRPr>
          </a:p>
        </p:txBody>
      </p:sp>
      <p:sp>
        <p:nvSpPr>
          <p:cNvPr id="19" name="Text 8"/>
          <p:cNvSpPr/>
          <p:nvPr/>
        </p:nvSpPr>
        <p:spPr>
          <a:xfrm>
            <a:off x="1508760" y="3794760"/>
            <a:ext cx="8804880" cy="547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50" b="1" u="none" strike="noStrike">
                <a:solidFill>
                  <a:srgbClr val="FFF6DC"/>
                </a:solidFill>
                <a:effectLst/>
                <a:uFillTx/>
                <a:latin typeface="Calibri"/>
                <a:ea typeface="Calibri"/>
              </a:rPr>
              <a:t>What Statistics Is, Data Types, Measurement Scales, Errors, Every Chart You Need &amp; Central Tendency</a:t>
            </a:r>
            <a:endParaRPr lang="en-US" sz="1550" b="0" u="none" strike="noStrike">
              <a:solidFill>
                <a:srgbClr val="000000"/>
              </a:solidFill>
              <a:effectLst/>
              <a:uFillTx/>
              <a:latin typeface="Arial"/>
            </a:endParaRPr>
          </a:p>
        </p:txBody>
      </p:sp>
      <p:sp>
        <p:nvSpPr>
          <p:cNvPr id="20" name="Text 9"/>
          <p:cNvSpPr/>
          <p:nvPr/>
        </p:nvSpPr>
        <p:spPr>
          <a:xfrm>
            <a:off x="1508760" y="5394960"/>
            <a:ext cx="880488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2D2A4A"/>
                </a:solidFill>
                <a:effectLst/>
                <a:uFillTx/>
                <a:latin typeface="Calibri"/>
                <a:ea typeface="Calibri"/>
              </a:rPr>
              <a:t>Session 18</a:t>
            </a:r>
            <a:endParaRPr lang="en-US" sz="1300" b="0" u="none" strike="noStrike">
              <a:solidFill>
                <a:srgbClr val="000000"/>
              </a:solidFill>
              <a:effectLst/>
              <a:uFillTx/>
              <a:latin typeface="Arial"/>
            </a:endParaRPr>
          </a:p>
        </p:txBody>
      </p:sp>
      <p:sp>
        <p:nvSpPr>
          <p:cNvPr id="21" name="Text 10"/>
          <p:cNvSpPr/>
          <p:nvPr/>
        </p:nvSpPr>
        <p:spPr>
          <a:xfrm>
            <a:off x="914400" y="5989320"/>
            <a:ext cx="1035936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2D2A4A"/>
                </a:solidFill>
                <a:effectLst/>
                <a:uFillTx/>
                <a:latin typeface="Calibri"/>
                <a:ea typeface="Calibri"/>
              </a:rPr>
              <a:t>CodeByPaxto: The AI &amp; ML Playground</a:t>
            </a:r>
            <a:endParaRPr lang="en-US" sz="1250" b="0" u="none" strike="noStrike">
              <a:solidFill>
                <a:srgbClr val="000000"/>
              </a:solidFill>
              <a:effectLst/>
              <a:uFillTx/>
              <a:latin typeface="Arial"/>
            </a:endParaRPr>
          </a:p>
        </p:txBody>
      </p:sp>
      <p:sp>
        <p:nvSpPr>
          <p:cNvPr id="22" name="Text 11"/>
          <p:cNvSpPr/>
          <p:nvPr/>
        </p:nvSpPr>
        <p:spPr>
          <a:xfrm>
            <a:off x="914400" y="6291000"/>
            <a:ext cx="10359360" cy="291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0" u="none" strike="noStrike">
                <a:solidFill>
                  <a:srgbClr val="685F8F"/>
                </a:solidFill>
                <a:effectLst/>
                <a:uFillTx/>
                <a:latin typeface="Calibri"/>
                <a:ea typeface="Calibri"/>
              </a:rPr>
              <a:t>Hafiz Waseem Ahmed (Paxto)</a:t>
            </a:r>
            <a:endParaRPr lang="en-US" sz="1100" b="0" u="none" strike="noStrike">
              <a:solidFill>
                <a:srgbClr val="000000"/>
              </a:solidFill>
              <a:effectLst/>
              <a:uFillTx/>
              <a:latin typeface="Arial"/>
            </a:endParaRPr>
          </a:p>
        </p:txBody>
      </p:sp>
      <p:sp>
        <p:nvSpPr>
          <p:cNvPr id="23"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4"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5" name="Image 0" descr="preencoded.png"/>
          <p:cNvPicPr/>
          <p:nvPr/>
        </p:nvPicPr>
        <p:blipFill>
          <a:blip r:embed="rId1"/>
          <a:stretch/>
        </p:blipFill>
        <p:spPr>
          <a:xfrm>
            <a:off x="548640" y="548640"/>
            <a:ext cx="447480" cy="447480"/>
          </a:xfrm>
          <a:prstGeom prst="rect">
            <a:avLst/>
          </a:prstGeom>
          <a:noFill/>
          <a:ln w="0">
            <a:noFill/>
          </a:ln>
        </p:spPr>
      </p:pic>
      <p:sp>
        <p:nvSpPr>
          <p:cNvPr id="26"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What We're Covering Today</a:t>
            </a:r>
            <a:endParaRPr lang="en-US" sz="2400" b="0" u="none" strike="noStrike">
              <a:solidFill>
                <a:srgbClr val="000000"/>
              </a:solidFill>
              <a:effectLst/>
              <a:uFillTx/>
              <a:latin typeface="Arial"/>
            </a:endParaRPr>
          </a:p>
        </p:txBody>
      </p:sp>
      <p:sp>
        <p:nvSpPr>
          <p:cNvPr id="27"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8" name="Shape 3"/>
          <p:cNvSpPr/>
          <p:nvPr/>
        </p:nvSpPr>
        <p:spPr>
          <a:xfrm>
            <a:off x="457200" y="1600200"/>
            <a:ext cx="11273760" cy="479520"/>
          </a:xfrm>
          <a:prstGeom prst="roundRect">
            <a:avLst>
              <a:gd name="adj" fmla="val 22857"/>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 name="Shape 4"/>
          <p:cNvSpPr/>
          <p:nvPr/>
        </p:nvSpPr>
        <p:spPr>
          <a:xfrm>
            <a:off x="685800" y="1666440"/>
            <a:ext cx="346680" cy="3466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 name="Image 1" descr="preencoded.png"/>
          <p:cNvPicPr/>
          <p:nvPr/>
        </p:nvPicPr>
        <p:blipFill>
          <a:blip r:embed="rId2"/>
          <a:stretch/>
        </p:blipFill>
        <p:spPr>
          <a:xfrm>
            <a:off x="758880" y="1739520"/>
            <a:ext cx="200520" cy="200520"/>
          </a:xfrm>
          <a:prstGeom prst="rect">
            <a:avLst/>
          </a:prstGeom>
          <a:noFill/>
          <a:ln w="0">
            <a:noFill/>
          </a:ln>
        </p:spPr>
      </p:pic>
      <p:sp>
        <p:nvSpPr>
          <p:cNvPr id="31" name="Text 5"/>
          <p:cNvSpPr/>
          <p:nvPr/>
        </p:nvSpPr>
        <p:spPr>
          <a:xfrm>
            <a:off x="1234440" y="160020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What statistics actually is, and the two types: descriptive vs. inferential</a:t>
            </a:r>
            <a:endParaRPr lang="en-US" sz="1350" b="0" u="none" strike="noStrike">
              <a:solidFill>
                <a:srgbClr val="000000"/>
              </a:solidFill>
              <a:effectLst/>
              <a:uFillTx/>
              <a:latin typeface="Arial"/>
            </a:endParaRPr>
          </a:p>
        </p:txBody>
      </p:sp>
      <p:sp>
        <p:nvSpPr>
          <p:cNvPr id="32" name="Shape 6"/>
          <p:cNvSpPr/>
          <p:nvPr/>
        </p:nvSpPr>
        <p:spPr>
          <a:xfrm>
            <a:off x="457200" y="2171880"/>
            <a:ext cx="11273760" cy="479520"/>
          </a:xfrm>
          <a:prstGeom prst="roundRect">
            <a:avLst>
              <a:gd name="adj" fmla="val 22857"/>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 name="Shape 7"/>
          <p:cNvSpPr/>
          <p:nvPr/>
        </p:nvSpPr>
        <p:spPr>
          <a:xfrm>
            <a:off x="685800" y="2238120"/>
            <a:ext cx="346680" cy="34668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4" name="Image 2" descr="preencoded.png"/>
          <p:cNvPicPr/>
          <p:nvPr/>
        </p:nvPicPr>
        <p:blipFill>
          <a:blip r:embed="rId3"/>
          <a:stretch/>
        </p:blipFill>
        <p:spPr>
          <a:xfrm>
            <a:off x="758880" y="2311200"/>
            <a:ext cx="200520" cy="200520"/>
          </a:xfrm>
          <a:prstGeom prst="rect">
            <a:avLst/>
          </a:prstGeom>
          <a:noFill/>
          <a:ln w="0">
            <a:noFill/>
          </a:ln>
        </p:spPr>
      </p:pic>
      <p:sp>
        <p:nvSpPr>
          <p:cNvPr id="35" name="Text 8"/>
          <p:cNvSpPr/>
          <p:nvPr/>
        </p:nvSpPr>
        <p:spPr>
          <a:xfrm>
            <a:off x="1234440" y="217188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Population vs. sample, and dependent vs. independent variables</a:t>
            </a:r>
            <a:endParaRPr lang="en-US" sz="1350" b="0" u="none" strike="noStrike">
              <a:solidFill>
                <a:srgbClr val="000000"/>
              </a:solidFill>
              <a:effectLst/>
              <a:uFillTx/>
              <a:latin typeface="Arial"/>
            </a:endParaRPr>
          </a:p>
        </p:txBody>
      </p:sp>
      <p:sp>
        <p:nvSpPr>
          <p:cNvPr id="36" name="Shape 9"/>
          <p:cNvSpPr/>
          <p:nvPr/>
        </p:nvSpPr>
        <p:spPr>
          <a:xfrm>
            <a:off x="457200" y="2743200"/>
            <a:ext cx="11273760" cy="479520"/>
          </a:xfrm>
          <a:prstGeom prst="roundRect">
            <a:avLst>
              <a:gd name="adj" fmla="val 22857"/>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 name="Shape 10"/>
          <p:cNvSpPr/>
          <p:nvPr/>
        </p:nvSpPr>
        <p:spPr>
          <a:xfrm>
            <a:off x="685800" y="2809440"/>
            <a:ext cx="346680" cy="3466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8" name="Image 3" descr="preencoded.png"/>
          <p:cNvPicPr/>
          <p:nvPr/>
        </p:nvPicPr>
        <p:blipFill>
          <a:blip r:embed="rId4"/>
          <a:stretch/>
        </p:blipFill>
        <p:spPr>
          <a:xfrm>
            <a:off x="758880" y="2882520"/>
            <a:ext cx="200520" cy="200520"/>
          </a:xfrm>
          <a:prstGeom prst="rect">
            <a:avLst/>
          </a:prstGeom>
          <a:noFill/>
          <a:ln w="0">
            <a:noFill/>
          </a:ln>
        </p:spPr>
      </p:pic>
      <p:sp>
        <p:nvSpPr>
          <p:cNvPr id="39" name="Text 11"/>
          <p:cNvSpPr/>
          <p:nvPr/>
        </p:nvSpPr>
        <p:spPr>
          <a:xfrm>
            <a:off x="1234440" y="274320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Collecting &amp; measuring data — sources, sampling techniques, and reliability vs. validity</a:t>
            </a:r>
            <a:endParaRPr lang="en-US" sz="1350" b="0" u="none" strike="noStrike">
              <a:solidFill>
                <a:srgbClr val="000000"/>
              </a:solidFill>
              <a:effectLst/>
              <a:uFillTx/>
              <a:latin typeface="Arial"/>
            </a:endParaRPr>
          </a:p>
        </p:txBody>
      </p:sp>
      <p:sp>
        <p:nvSpPr>
          <p:cNvPr id="40" name="Shape 12"/>
          <p:cNvSpPr/>
          <p:nvPr/>
        </p:nvSpPr>
        <p:spPr>
          <a:xfrm>
            <a:off x="457200" y="3314880"/>
            <a:ext cx="11273760" cy="479520"/>
          </a:xfrm>
          <a:prstGeom prst="roundRect">
            <a:avLst>
              <a:gd name="adj" fmla="val 22857"/>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 name="Shape 13"/>
          <p:cNvSpPr/>
          <p:nvPr/>
        </p:nvSpPr>
        <p:spPr>
          <a:xfrm>
            <a:off x="685800" y="3381120"/>
            <a:ext cx="346680" cy="34668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2" name="Image 4" descr="preencoded.png"/>
          <p:cNvPicPr/>
          <p:nvPr/>
        </p:nvPicPr>
        <p:blipFill>
          <a:blip r:embed="rId5"/>
          <a:stretch/>
        </p:blipFill>
        <p:spPr>
          <a:xfrm>
            <a:off x="758880" y="3454200"/>
            <a:ext cx="200520" cy="200520"/>
          </a:xfrm>
          <a:prstGeom prst="rect">
            <a:avLst/>
          </a:prstGeom>
          <a:noFill/>
          <a:ln w="0">
            <a:noFill/>
          </a:ln>
        </p:spPr>
      </p:pic>
      <p:sp>
        <p:nvSpPr>
          <p:cNvPr id="43" name="Text 14"/>
          <p:cNvSpPr/>
          <p:nvPr/>
        </p:nvSpPr>
        <p:spPr>
          <a:xfrm>
            <a:off x="1234440" y="331488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Types of data and the four measurement scales — and where each is used</a:t>
            </a:r>
            <a:endParaRPr lang="en-US" sz="1350" b="0" u="none" strike="noStrike">
              <a:solidFill>
                <a:srgbClr val="000000"/>
              </a:solidFill>
              <a:effectLst/>
              <a:uFillTx/>
              <a:latin typeface="Arial"/>
            </a:endParaRPr>
          </a:p>
        </p:txBody>
      </p:sp>
      <p:sp>
        <p:nvSpPr>
          <p:cNvPr id="44" name="Shape 15"/>
          <p:cNvSpPr/>
          <p:nvPr/>
        </p:nvSpPr>
        <p:spPr>
          <a:xfrm>
            <a:off x="457200" y="3886200"/>
            <a:ext cx="11273760" cy="479520"/>
          </a:xfrm>
          <a:prstGeom prst="roundRect">
            <a:avLst>
              <a:gd name="adj" fmla="val 22857"/>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 name="Shape 16"/>
          <p:cNvSpPr/>
          <p:nvPr/>
        </p:nvSpPr>
        <p:spPr>
          <a:xfrm>
            <a:off x="685800" y="3952440"/>
            <a:ext cx="346680" cy="3466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 name="Image 5" descr="preencoded.png"/>
          <p:cNvPicPr/>
          <p:nvPr/>
        </p:nvPicPr>
        <p:blipFill>
          <a:blip r:embed="rId6"/>
          <a:stretch/>
        </p:blipFill>
        <p:spPr>
          <a:xfrm>
            <a:off x="758880" y="4025520"/>
            <a:ext cx="200520" cy="200520"/>
          </a:xfrm>
          <a:prstGeom prst="rect">
            <a:avLst/>
          </a:prstGeom>
          <a:noFill/>
          <a:ln w="0">
            <a:noFill/>
          </a:ln>
        </p:spPr>
      </p:pic>
      <p:sp>
        <p:nvSpPr>
          <p:cNvPr id="47" name="Text 17"/>
          <p:cNvSpPr/>
          <p:nvPr/>
        </p:nvSpPr>
        <p:spPr>
          <a:xfrm>
            <a:off x="1234440" y="388620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Errors and bias in data — what’s random, what’s systematic, and how to reduce it</a:t>
            </a:r>
            <a:endParaRPr lang="en-US" sz="1350" b="0" u="none" strike="noStrike">
              <a:solidFill>
                <a:srgbClr val="000000"/>
              </a:solidFill>
              <a:effectLst/>
              <a:uFillTx/>
              <a:latin typeface="Arial"/>
            </a:endParaRPr>
          </a:p>
        </p:txBody>
      </p:sp>
      <p:sp>
        <p:nvSpPr>
          <p:cNvPr id="48" name="Shape 18"/>
          <p:cNvSpPr/>
          <p:nvPr/>
        </p:nvSpPr>
        <p:spPr>
          <a:xfrm>
            <a:off x="457200" y="4457880"/>
            <a:ext cx="11273760" cy="479520"/>
          </a:xfrm>
          <a:prstGeom prst="roundRect">
            <a:avLst>
              <a:gd name="adj" fmla="val 22857"/>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Shape 19"/>
          <p:cNvSpPr/>
          <p:nvPr/>
        </p:nvSpPr>
        <p:spPr>
          <a:xfrm>
            <a:off x="685800" y="4524120"/>
            <a:ext cx="346680" cy="34668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0" name="Image 6" descr="preencoded.png"/>
          <p:cNvPicPr/>
          <p:nvPr/>
        </p:nvPicPr>
        <p:blipFill>
          <a:blip r:embed="rId7"/>
          <a:stretch/>
        </p:blipFill>
        <p:spPr>
          <a:xfrm>
            <a:off x="758880" y="4597200"/>
            <a:ext cx="200520" cy="200520"/>
          </a:xfrm>
          <a:prstGeom prst="rect">
            <a:avLst/>
          </a:prstGeom>
          <a:noFill/>
          <a:ln w="0">
            <a:noFill/>
          </a:ln>
        </p:spPr>
      </p:pic>
      <p:sp>
        <p:nvSpPr>
          <p:cNvPr id="51" name="Text 20"/>
          <p:cNvSpPr/>
          <p:nvPr/>
        </p:nvSpPr>
        <p:spPr>
          <a:xfrm>
            <a:off x="1234440" y="445788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The complete chart &amp; graph catalog — when to use each, and when not to</a:t>
            </a:r>
            <a:endParaRPr lang="en-US" sz="1350" b="0" u="none" strike="noStrike">
              <a:solidFill>
                <a:srgbClr val="000000"/>
              </a:solidFill>
              <a:effectLst/>
              <a:uFillTx/>
              <a:latin typeface="Arial"/>
            </a:endParaRPr>
          </a:p>
        </p:txBody>
      </p:sp>
      <p:sp>
        <p:nvSpPr>
          <p:cNvPr id="52" name="Shape 21"/>
          <p:cNvSpPr/>
          <p:nvPr/>
        </p:nvSpPr>
        <p:spPr>
          <a:xfrm>
            <a:off x="457200" y="5029200"/>
            <a:ext cx="11273760" cy="479520"/>
          </a:xfrm>
          <a:prstGeom prst="roundRect">
            <a:avLst>
              <a:gd name="adj" fmla="val 22857"/>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 name="Shape 22"/>
          <p:cNvSpPr/>
          <p:nvPr/>
        </p:nvSpPr>
        <p:spPr>
          <a:xfrm>
            <a:off x="685800" y="5095440"/>
            <a:ext cx="346680" cy="3466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4" name="Image 7" descr="preencoded.png"/>
          <p:cNvPicPr/>
          <p:nvPr/>
        </p:nvPicPr>
        <p:blipFill>
          <a:blip r:embed="rId8"/>
          <a:stretch/>
        </p:blipFill>
        <p:spPr>
          <a:xfrm>
            <a:off x="758880" y="5168520"/>
            <a:ext cx="200520" cy="200520"/>
          </a:xfrm>
          <a:prstGeom prst="rect">
            <a:avLst/>
          </a:prstGeom>
          <a:noFill/>
          <a:ln w="0">
            <a:noFill/>
          </a:ln>
        </p:spPr>
      </p:pic>
      <p:sp>
        <p:nvSpPr>
          <p:cNvPr id="55" name="Text 23"/>
          <p:cNvSpPr/>
          <p:nvPr/>
        </p:nvSpPr>
        <p:spPr>
          <a:xfrm>
            <a:off x="1234440" y="502920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Measures of central tendency — mean, median, and mode</a:t>
            </a:r>
            <a:endParaRPr lang="en-US" sz="1350" b="0" u="none" strike="noStrike">
              <a:solidFill>
                <a:srgbClr val="000000"/>
              </a:solidFill>
              <a:effectLst/>
              <a:uFillTx/>
              <a:latin typeface="Arial"/>
            </a:endParaRPr>
          </a:p>
        </p:txBody>
      </p:sp>
      <p:sp>
        <p:nvSpPr>
          <p:cNvPr id="56" name="Shape 24"/>
          <p:cNvSpPr/>
          <p:nvPr/>
        </p:nvSpPr>
        <p:spPr>
          <a:xfrm>
            <a:off x="457200" y="5600880"/>
            <a:ext cx="11273760" cy="479520"/>
          </a:xfrm>
          <a:prstGeom prst="roundRect">
            <a:avLst>
              <a:gd name="adj" fmla="val 22857"/>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Shape 25"/>
          <p:cNvSpPr/>
          <p:nvPr/>
        </p:nvSpPr>
        <p:spPr>
          <a:xfrm>
            <a:off x="685800" y="5667120"/>
            <a:ext cx="346680" cy="34668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8" name="Image 8" descr="preencoded.png"/>
          <p:cNvPicPr/>
          <p:nvPr/>
        </p:nvPicPr>
        <p:blipFill>
          <a:blip r:embed="rId9"/>
          <a:stretch/>
        </p:blipFill>
        <p:spPr>
          <a:xfrm>
            <a:off x="758880" y="5740200"/>
            <a:ext cx="200520" cy="200520"/>
          </a:xfrm>
          <a:prstGeom prst="rect">
            <a:avLst/>
          </a:prstGeom>
          <a:noFill/>
          <a:ln w="0">
            <a:noFill/>
          </a:ln>
        </p:spPr>
      </p:pic>
      <p:sp>
        <p:nvSpPr>
          <p:cNvPr id="59" name="Text 26"/>
          <p:cNvSpPr/>
          <p:nvPr/>
        </p:nvSpPr>
        <p:spPr>
          <a:xfrm>
            <a:off x="1234440" y="5600880"/>
            <a:ext cx="10240560" cy="479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D2A4A"/>
                </a:solidFill>
                <a:effectLst/>
                <a:uFillTx/>
                <a:latin typeface="Calibri"/>
                <a:ea typeface="Calibri"/>
              </a:rPr>
              <a:t>Today's tasks and a mini project — profiling a real dataset</a:t>
            </a:r>
            <a:endParaRPr lang="en-US" sz="1350" b="0" u="none" strike="noStrike">
              <a:solidFill>
                <a:srgbClr val="000000"/>
              </a:solidFill>
              <a:effectLst/>
              <a:uFillTx/>
              <a:latin typeface="Arial"/>
            </a:endParaRPr>
          </a:p>
        </p:txBody>
      </p:sp>
      <p:sp>
        <p:nvSpPr>
          <p:cNvPr id="60" name="Text 2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1" name="Text 2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2"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63"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64"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65"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66"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8" name="Image 0" descr="preencoded.png"/>
          <p:cNvPicPr/>
          <p:nvPr/>
        </p:nvPicPr>
        <p:blipFill>
          <a:blip r:embed="rId1"/>
          <a:stretch/>
        </p:blipFill>
        <p:spPr>
          <a:xfrm>
            <a:off x="5870520" y="1348920"/>
            <a:ext cx="456480" cy="456480"/>
          </a:xfrm>
          <a:prstGeom prst="rect">
            <a:avLst/>
          </a:prstGeom>
          <a:noFill/>
          <a:ln w="0">
            <a:noFill/>
          </a:ln>
        </p:spPr>
      </p:pic>
      <p:sp>
        <p:nvSpPr>
          <p:cNvPr id="69"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1</a:t>
            </a:r>
            <a:endParaRPr lang="en-US" sz="1200" b="0" u="none" strike="noStrike">
              <a:solidFill>
                <a:srgbClr val="000000"/>
              </a:solidFill>
              <a:effectLst/>
              <a:uFillTx/>
              <a:latin typeface="Arial"/>
            </a:endParaRPr>
          </a:p>
        </p:txBody>
      </p:sp>
      <p:sp>
        <p:nvSpPr>
          <p:cNvPr id="70"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What Is Statistics?</a:t>
            </a:r>
            <a:endParaRPr lang="en-US" sz="2900" b="0" u="none" strike="noStrike">
              <a:solidFill>
                <a:srgbClr val="000000"/>
              </a:solidFill>
              <a:effectLst/>
              <a:uFillTx/>
              <a:latin typeface="Arial"/>
            </a:endParaRPr>
          </a:p>
        </p:txBody>
      </p:sp>
      <p:sp>
        <p:nvSpPr>
          <p:cNvPr id="71"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Before any formula, a clear picture of what this field actually does, and the two very different jobs it does it for</a:t>
            </a:r>
            <a:endParaRPr lang="en-US" sz="1500" b="0" u="none" strike="noStrike">
              <a:solidFill>
                <a:srgbClr val="000000"/>
              </a:solidFill>
              <a:effectLst/>
              <a:uFillTx/>
              <a:latin typeface="Arial"/>
            </a:endParaRPr>
          </a:p>
        </p:txBody>
      </p:sp>
      <p:sp>
        <p:nvSpPr>
          <p:cNvPr id="72"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4" name="Image 0" descr="preencoded.png"/>
          <p:cNvPicPr/>
          <p:nvPr/>
        </p:nvPicPr>
        <p:blipFill>
          <a:blip r:embed="rId1"/>
          <a:stretch/>
        </p:blipFill>
        <p:spPr>
          <a:xfrm>
            <a:off x="548640" y="548640"/>
            <a:ext cx="447480" cy="447480"/>
          </a:xfrm>
          <a:prstGeom prst="rect">
            <a:avLst/>
          </a:prstGeom>
          <a:noFill/>
          <a:ln w="0">
            <a:noFill/>
          </a:ln>
        </p:spPr>
      </p:pic>
      <p:sp>
        <p:nvSpPr>
          <p:cNvPr id="7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What Is Statistics, Really?</a:t>
            </a:r>
            <a:endParaRPr lang="en-US" sz="2400" b="0" u="none" strike="noStrike">
              <a:solidFill>
                <a:srgbClr val="000000"/>
              </a:solidFill>
              <a:effectLst/>
              <a:uFillTx/>
              <a:latin typeface="Arial"/>
            </a:endParaRPr>
          </a:p>
        </p:txBody>
      </p:sp>
      <p:sp>
        <p:nvSpPr>
          <p:cNvPr id="7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7"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9" name="Image 1" descr="preencoded.png"/>
          <p:cNvPicPr/>
          <p:nvPr/>
        </p:nvPicPr>
        <p:blipFill>
          <a:blip r:embed="rId2"/>
          <a:stretch/>
        </p:blipFill>
        <p:spPr>
          <a:xfrm>
            <a:off x="1746360" y="2423160"/>
            <a:ext cx="1087560" cy="1087560"/>
          </a:xfrm>
          <a:prstGeom prst="rect">
            <a:avLst/>
          </a:prstGeom>
          <a:noFill/>
          <a:ln w="0">
            <a:noFill/>
          </a:ln>
        </p:spPr>
      </p:pic>
      <p:sp>
        <p:nvSpPr>
          <p:cNvPr id="80"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Making</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sense of</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data</a:t>
            </a:r>
            <a:endParaRPr lang="en-US" sz="1600" b="0" u="none" strike="noStrike">
              <a:solidFill>
                <a:srgbClr val="000000"/>
              </a:solidFill>
              <a:effectLst/>
              <a:uFillTx/>
              <a:latin typeface="Arial"/>
            </a:endParaRPr>
          </a:p>
        </p:txBody>
      </p:sp>
      <p:sp>
        <p:nvSpPr>
          <p:cNvPr id="81"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900" b="0" u="none" strike="noStrike">
                <a:solidFill>
                  <a:srgbClr val="2D2A4A"/>
                </a:solidFill>
                <a:effectLst/>
                <a:uFillTx/>
                <a:latin typeface="Calibri"/>
                <a:ea typeface="Calibri"/>
              </a:rPr>
              <a:t>Statistics is the field of collecting, organizing, summarizing, and drawing conclusions from data</a:t>
            </a:r>
            <a:endParaRPr lang="en-US" sz="19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900" b="0" u="none" strike="noStrike">
                <a:solidFill>
                  <a:srgbClr val="2D2A4A"/>
                </a:solidFill>
                <a:effectLst/>
                <a:uFillTx/>
                <a:latin typeface="Calibri"/>
                <a:ea typeface="Calibri"/>
              </a:rPr>
              <a:t>At its core, it answers two very different kinds of questions: "what does this data show?" and "what can </a:t>
            </a:r>
            <a:r>
              <a:rPr lang="en-US" sz="1900" b="0" u="none" strike="noStrike">
                <a:solidFill>
                  <a:srgbClr val="2D2A4A"/>
                </a:solidFill>
                <a:effectLst/>
                <a:uFillTx/>
                <a:latin typeface="Calibri"/>
                <a:ea typeface="Calibri"/>
              </a:rPr>
              <a:t>this data tell me about something bigger than itself?"</a:t>
            </a:r>
            <a:endParaRPr lang="en-US" sz="19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900" b="0" u="none" strike="noStrike">
                <a:solidFill>
                  <a:srgbClr val="2D2A4A"/>
                </a:solidFill>
                <a:effectLst/>
                <a:uFillTx/>
                <a:latin typeface="Calibri"/>
                <a:ea typeface="Calibri"/>
              </a:rPr>
              <a:t>Every dataset is meaningless until statistics gives you a way to describe it, compare it, or trust (or doubt) a </a:t>
            </a:r>
            <a:r>
              <a:rPr lang="en-US" sz="1900" b="0" u="none" strike="noStrike">
                <a:solidFill>
                  <a:srgbClr val="2D2A4A"/>
                </a:solidFill>
                <a:effectLst/>
                <a:uFillTx/>
                <a:latin typeface="Calibri"/>
                <a:ea typeface="Calibri"/>
              </a:rPr>
              <a:t>conclusion drawn from it</a:t>
            </a:r>
            <a:endParaRPr lang="en-US" sz="19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900" b="0" u="none" strike="noStrike">
                <a:solidFill>
                  <a:srgbClr val="2D2A4A"/>
                </a:solidFill>
                <a:effectLst/>
                <a:uFillTx/>
                <a:latin typeface="Calibri"/>
                <a:ea typeface="Calibri"/>
              </a:rPr>
              <a:t>This is genuinely one of the most widely used branches of math in the world — not just in AI, but in every </a:t>
            </a:r>
            <a:r>
              <a:rPr lang="en-US" sz="1900" b="0" u="none" strike="noStrike">
                <a:solidFill>
                  <a:srgbClr val="2D2A4A"/>
                </a:solidFill>
                <a:effectLst/>
                <a:uFillTx/>
                <a:latin typeface="Calibri"/>
                <a:ea typeface="Calibri"/>
              </a:rPr>
              <a:t>field that collects data of any kind</a:t>
            </a:r>
            <a:endParaRPr lang="en-US" sz="1900" b="0" u="none" strike="noStrike">
              <a:solidFill>
                <a:srgbClr val="000000"/>
              </a:solidFill>
              <a:effectLst/>
              <a:uFillTx/>
              <a:latin typeface="Arial"/>
            </a:endParaRPr>
          </a:p>
        </p:txBody>
      </p:sp>
      <p:sp>
        <p:nvSpPr>
          <p:cNvPr id="82"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83"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84"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5" name="Image 0" descr="preencoded.png"/>
          <p:cNvPicPr/>
          <p:nvPr/>
        </p:nvPicPr>
        <p:blipFill>
          <a:blip r:embed="rId1"/>
          <a:stretch/>
        </p:blipFill>
        <p:spPr>
          <a:xfrm>
            <a:off x="548640" y="548640"/>
            <a:ext cx="447480" cy="447480"/>
          </a:xfrm>
          <a:prstGeom prst="rect">
            <a:avLst/>
          </a:prstGeom>
          <a:noFill/>
          <a:ln w="0">
            <a:noFill/>
          </a:ln>
        </p:spPr>
      </p:pic>
      <p:sp>
        <p:nvSpPr>
          <p:cNvPr id="86"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Where Statistics Is Actually Used</a:t>
            </a:r>
            <a:endParaRPr lang="en-US" sz="2400" b="0" u="none" strike="noStrike">
              <a:solidFill>
                <a:srgbClr val="000000"/>
              </a:solidFill>
              <a:effectLst/>
              <a:uFillTx/>
              <a:latin typeface="Arial"/>
            </a:endParaRPr>
          </a:p>
        </p:txBody>
      </p:sp>
      <p:sp>
        <p:nvSpPr>
          <p:cNvPr id="87"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8" name="Shape 3"/>
          <p:cNvSpPr/>
          <p:nvPr/>
        </p:nvSpPr>
        <p:spPr>
          <a:xfrm>
            <a:off x="45720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 name="Shape 4"/>
          <p:cNvSpPr/>
          <p:nvPr/>
        </p:nvSpPr>
        <p:spPr>
          <a:xfrm>
            <a:off x="150984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0" name="Image 1" descr="preencoded.png"/>
          <p:cNvPicPr/>
          <p:nvPr/>
        </p:nvPicPr>
        <p:blipFill>
          <a:blip r:embed="rId2"/>
          <a:stretch/>
        </p:blipFill>
        <p:spPr>
          <a:xfrm>
            <a:off x="1592280" y="2176200"/>
            <a:ext cx="383400" cy="383400"/>
          </a:xfrm>
          <a:prstGeom prst="rect">
            <a:avLst/>
          </a:prstGeom>
          <a:noFill/>
          <a:ln w="0">
            <a:noFill/>
          </a:ln>
        </p:spPr>
      </p:pic>
      <p:sp>
        <p:nvSpPr>
          <p:cNvPr id="91" name="Text 5"/>
          <p:cNvSpPr/>
          <p:nvPr/>
        </p:nvSpPr>
        <p:spPr>
          <a:xfrm>
            <a:off x="54864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Medicine &amp; Research</a:t>
            </a:r>
            <a:endParaRPr lang="en-US" sz="1300" b="0" u="none" strike="noStrike">
              <a:solidFill>
                <a:srgbClr val="000000"/>
              </a:solidFill>
              <a:effectLst/>
              <a:uFillTx/>
              <a:latin typeface="Arial"/>
            </a:endParaRPr>
          </a:p>
        </p:txBody>
      </p:sp>
      <p:sp>
        <p:nvSpPr>
          <p:cNvPr id="92" name="Text 6"/>
          <p:cNvSpPr/>
          <p:nvPr/>
        </p:nvSpPr>
        <p:spPr>
          <a:xfrm>
            <a:off x="60336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Clinical trials, drug effectiveness, and public health decisions all rest on statistical evidence</a:t>
            </a:r>
            <a:endParaRPr lang="en-US" sz="1100" b="0" u="none" strike="noStrike">
              <a:solidFill>
                <a:srgbClr val="000000"/>
              </a:solidFill>
              <a:effectLst/>
              <a:uFillTx/>
              <a:latin typeface="Arial"/>
            </a:endParaRPr>
          </a:p>
        </p:txBody>
      </p:sp>
      <p:sp>
        <p:nvSpPr>
          <p:cNvPr id="93" name="Shape 7"/>
          <p:cNvSpPr/>
          <p:nvPr/>
        </p:nvSpPr>
        <p:spPr>
          <a:xfrm>
            <a:off x="3330720" y="1508760"/>
            <a:ext cx="2653200" cy="4891320"/>
          </a:xfrm>
          <a:prstGeom prst="roundRect">
            <a:avLst>
              <a:gd name="adj" fmla="val 5512"/>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 name="Shape 8"/>
          <p:cNvSpPr/>
          <p:nvPr/>
        </p:nvSpPr>
        <p:spPr>
          <a:xfrm>
            <a:off x="438336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5" name="Image 2" descr="preencoded.png"/>
          <p:cNvPicPr/>
          <p:nvPr/>
        </p:nvPicPr>
        <p:blipFill>
          <a:blip r:embed="rId3"/>
          <a:stretch/>
        </p:blipFill>
        <p:spPr>
          <a:xfrm>
            <a:off x="4465800" y="2176200"/>
            <a:ext cx="383400" cy="383400"/>
          </a:xfrm>
          <a:prstGeom prst="rect">
            <a:avLst/>
          </a:prstGeom>
          <a:noFill/>
          <a:ln w="0">
            <a:noFill/>
          </a:ln>
        </p:spPr>
      </p:pic>
      <p:sp>
        <p:nvSpPr>
          <p:cNvPr id="96" name="Text 9"/>
          <p:cNvSpPr/>
          <p:nvPr/>
        </p:nvSpPr>
        <p:spPr>
          <a:xfrm>
            <a:off x="342216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Business</a:t>
            </a:r>
            <a:endParaRPr lang="en-US" sz="1300" b="0" u="none" strike="noStrike">
              <a:solidFill>
                <a:srgbClr val="000000"/>
              </a:solidFill>
              <a:effectLst/>
              <a:uFillTx/>
              <a:latin typeface="Arial"/>
            </a:endParaRPr>
          </a:p>
        </p:txBody>
      </p:sp>
      <p:sp>
        <p:nvSpPr>
          <p:cNvPr id="97" name="Text 10"/>
          <p:cNvSpPr/>
          <p:nvPr/>
        </p:nvSpPr>
        <p:spPr>
          <a:xfrm>
            <a:off x="347688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Sales forecasting, customer segmentation, and A/B testing a new feature or price</a:t>
            </a:r>
            <a:endParaRPr lang="en-US" sz="1100" b="0" u="none" strike="noStrike">
              <a:solidFill>
                <a:srgbClr val="000000"/>
              </a:solidFill>
              <a:effectLst/>
              <a:uFillTx/>
              <a:latin typeface="Arial"/>
            </a:endParaRPr>
          </a:p>
        </p:txBody>
      </p:sp>
      <p:sp>
        <p:nvSpPr>
          <p:cNvPr id="98" name="Shape 11"/>
          <p:cNvSpPr/>
          <p:nvPr/>
        </p:nvSpPr>
        <p:spPr>
          <a:xfrm>
            <a:off x="6204240" y="1508760"/>
            <a:ext cx="2653200" cy="4891320"/>
          </a:xfrm>
          <a:prstGeom prst="roundRect">
            <a:avLst>
              <a:gd name="adj" fmla="val 5512"/>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 name="Shape 12"/>
          <p:cNvSpPr/>
          <p:nvPr/>
        </p:nvSpPr>
        <p:spPr>
          <a:xfrm>
            <a:off x="725688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0" name="Image 3" descr="preencoded.png"/>
          <p:cNvPicPr/>
          <p:nvPr/>
        </p:nvPicPr>
        <p:blipFill>
          <a:blip r:embed="rId4"/>
          <a:stretch/>
        </p:blipFill>
        <p:spPr>
          <a:xfrm>
            <a:off x="7339320" y="2176200"/>
            <a:ext cx="383400" cy="383400"/>
          </a:xfrm>
          <a:prstGeom prst="rect">
            <a:avLst/>
          </a:prstGeom>
          <a:noFill/>
          <a:ln w="0">
            <a:noFill/>
          </a:ln>
        </p:spPr>
      </p:pic>
      <p:sp>
        <p:nvSpPr>
          <p:cNvPr id="101" name="Text 13"/>
          <p:cNvSpPr/>
          <p:nvPr/>
        </p:nvSpPr>
        <p:spPr>
          <a:xfrm>
            <a:off x="629568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Sports</a:t>
            </a:r>
            <a:endParaRPr lang="en-US" sz="1300" b="0" u="none" strike="noStrike">
              <a:solidFill>
                <a:srgbClr val="000000"/>
              </a:solidFill>
              <a:effectLst/>
              <a:uFillTx/>
              <a:latin typeface="Arial"/>
            </a:endParaRPr>
          </a:p>
        </p:txBody>
      </p:sp>
      <p:sp>
        <p:nvSpPr>
          <p:cNvPr id="102" name="Text 14"/>
          <p:cNvSpPr/>
          <p:nvPr/>
        </p:nvSpPr>
        <p:spPr>
          <a:xfrm>
            <a:off x="635040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Player performance metrics, game strategy, and predicting match outcomes</a:t>
            </a:r>
            <a:endParaRPr lang="en-US" sz="1100" b="0" u="none" strike="noStrike">
              <a:solidFill>
                <a:srgbClr val="000000"/>
              </a:solidFill>
              <a:effectLst/>
              <a:uFillTx/>
              <a:latin typeface="Arial"/>
            </a:endParaRPr>
          </a:p>
        </p:txBody>
      </p:sp>
      <p:sp>
        <p:nvSpPr>
          <p:cNvPr id="103" name="Shape 15"/>
          <p:cNvSpPr/>
          <p:nvPr/>
        </p:nvSpPr>
        <p:spPr>
          <a:xfrm>
            <a:off x="907776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Shape 16"/>
          <p:cNvSpPr/>
          <p:nvPr/>
        </p:nvSpPr>
        <p:spPr>
          <a:xfrm>
            <a:off x="10130400" y="2094120"/>
            <a:ext cx="547920" cy="54792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05" name="Image 4" descr="preencoded.png"/>
          <p:cNvPicPr/>
          <p:nvPr/>
        </p:nvPicPr>
        <p:blipFill>
          <a:blip r:embed="rId5"/>
          <a:stretch/>
        </p:blipFill>
        <p:spPr>
          <a:xfrm>
            <a:off x="10212840" y="2176200"/>
            <a:ext cx="383400" cy="383400"/>
          </a:xfrm>
          <a:prstGeom prst="rect">
            <a:avLst/>
          </a:prstGeom>
          <a:noFill/>
          <a:ln w="0">
            <a:noFill/>
          </a:ln>
        </p:spPr>
      </p:pic>
      <p:sp>
        <p:nvSpPr>
          <p:cNvPr id="106" name="Text 17"/>
          <p:cNvSpPr/>
          <p:nvPr/>
        </p:nvSpPr>
        <p:spPr>
          <a:xfrm>
            <a:off x="916920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Government &amp; Policy</a:t>
            </a:r>
            <a:endParaRPr lang="en-US" sz="1300" b="0" u="none" strike="noStrike">
              <a:solidFill>
                <a:srgbClr val="000000"/>
              </a:solidFill>
              <a:effectLst/>
              <a:uFillTx/>
              <a:latin typeface="Arial"/>
            </a:endParaRPr>
          </a:p>
        </p:txBody>
      </p:sp>
      <p:sp>
        <p:nvSpPr>
          <p:cNvPr id="107" name="Text 18"/>
          <p:cNvSpPr/>
          <p:nvPr/>
        </p:nvSpPr>
        <p:spPr>
          <a:xfrm>
            <a:off x="922392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Census data, unemployment rates, and evidence behind public policy decisions</a:t>
            </a:r>
            <a:endParaRPr lang="en-US" sz="1100" b="0" u="none" strike="noStrike">
              <a:solidFill>
                <a:srgbClr val="000000"/>
              </a:solidFill>
              <a:effectLst/>
              <a:uFillTx/>
              <a:latin typeface="Arial"/>
            </a:endParaRPr>
          </a:p>
        </p:txBody>
      </p:sp>
      <p:sp>
        <p:nvSpPr>
          <p:cNvPr id="108" name="Text 1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09" name="Text 2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1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1" name="Image 0" descr="preencoded.png"/>
          <p:cNvPicPr/>
          <p:nvPr/>
        </p:nvPicPr>
        <p:blipFill>
          <a:blip r:embed="rId1"/>
          <a:stretch/>
        </p:blipFill>
        <p:spPr>
          <a:xfrm>
            <a:off x="548640" y="548640"/>
            <a:ext cx="447480" cy="447480"/>
          </a:xfrm>
          <a:prstGeom prst="rect">
            <a:avLst/>
          </a:prstGeom>
          <a:noFill/>
          <a:ln w="0">
            <a:noFill/>
          </a:ln>
        </p:spPr>
      </p:pic>
      <p:sp>
        <p:nvSpPr>
          <p:cNvPr id="11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Descriptive vs. Inferential Statistics</a:t>
            </a:r>
            <a:endParaRPr lang="en-US" sz="2400" b="0" u="none" strike="noStrike">
              <a:solidFill>
                <a:srgbClr val="000000"/>
              </a:solidFill>
              <a:effectLst/>
              <a:uFillTx/>
              <a:latin typeface="Arial"/>
            </a:endParaRPr>
          </a:p>
        </p:txBody>
      </p:sp>
      <p:sp>
        <p:nvSpPr>
          <p:cNvPr id="11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14"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6" name="Image 1" descr="preencoded.png"/>
          <p:cNvPicPr/>
          <p:nvPr/>
        </p:nvPicPr>
        <p:blipFill>
          <a:blip r:embed="rId2"/>
          <a:stretch/>
        </p:blipFill>
        <p:spPr>
          <a:xfrm>
            <a:off x="804600" y="1938600"/>
            <a:ext cx="319320" cy="319320"/>
          </a:xfrm>
          <a:prstGeom prst="rect">
            <a:avLst/>
          </a:prstGeom>
          <a:noFill/>
          <a:ln w="0">
            <a:noFill/>
          </a:ln>
        </p:spPr>
      </p:pic>
      <p:sp>
        <p:nvSpPr>
          <p:cNvPr id="117"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Descriptive Statistics</a:t>
            </a:r>
            <a:endParaRPr lang="en-US" sz="1700" b="0" u="none" strike="noStrike">
              <a:solidFill>
                <a:srgbClr val="000000"/>
              </a:solidFill>
              <a:effectLst/>
              <a:uFillTx/>
              <a:latin typeface="Arial"/>
            </a:endParaRPr>
          </a:p>
        </p:txBody>
      </p:sp>
      <p:sp>
        <p:nvSpPr>
          <p:cNvPr id="118"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Describes and summarizes the exact data you already have — nothing more</a:t>
            </a:r>
            <a:endParaRPr lang="en-US" sz="200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Answers "what happened in THIS data?" — the average, the spread, the shape</a:t>
            </a:r>
            <a:endParaRPr lang="en-US" sz="200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This entire session, and the next, live here</a:t>
            </a:r>
            <a:endParaRPr lang="en-US" sz="2000" b="0" u="none" strike="noStrike">
              <a:solidFill>
                <a:srgbClr val="000000"/>
              </a:solidFill>
              <a:effectLst/>
              <a:uFillTx/>
              <a:latin typeface="Arial"/>
            </a:endParaRPr>
          </a:p>
        </p:txBody>
      </p:sp>
      <p:sp>
        <p:nvSpPr>
          <p:cNvPr id="119"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21" name="Image 2" descr="preencoded.png"/>
          <p:cNvPicPr/>
          <p:nvPr/>
        </p:nvPicPr>
        <p:blipFill>
          <a:blip r:embed="rId3"/>
          <a:stretch/>
        </p:blipFill>
        <p:spPr>
          <a:xfrm>
            <a:off x="6519600" y="1938600"/>
            <a:ext cx="319320" cy="319320"/>
          </a:xfrm>
          <a:prstGeom prst="rect">
            <a:avLst/>
          </a:prstGeom>
          <a:noFill/>
          <a:ln w="0">
            <a:noFill/>
          </a:ln>
        </p:spPr>
      </p:pic>
      <p:sp>
        <p:nvSpPr>
          <p:cNvPr id="122"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Inferential Statistics</a:t>
            </a:r>
            <a:endParaRPr lang="en-US" sz="1700" b="0" u="none" strike="noStrike">
              <a:solidFill>
                <a:srgbClr val="000000"/>
              </a:solidFill>
              <a:effectLst/>
              <a:uFillTx/>
              <a:latin typeface="Arial"/>
            </a:endParaRPr>
          </a:p>
        </p:txBody>
      </p:sp>
      <p:sp>
        <p:nvSpPr>
          <p:cNvPr id="123"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Uses a smaller sample to draw conclusions about a larger population you didn’t fully measure</a:t>
            </a:r>
            <a:endParaRPr lang="en-US" sz="200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Answers "what can I confidently CONCLUDE, beyond just this data?" — confidence, significance, hypothesis tests</a:t>
            </a:r>
            <a:endParaRPr lang="en-US" sz="200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2000" b="0" u="none" strike="noStrike">
                <a:solidFill>
                  <a:srgbClr val="2D2A4A"/>
                </a:solidFill>
                <a:effectLst/>
                <a:uFillTx/>
                <a:latin typeface="Calibri"/>
                <a:ea typeface="Calibri"/>
              </a:rPr>
              <a:t>This is where the course goes in Sessions 20 and 21</a:t>
            </a:r>
            <a:endParaRPr lang="en-US" sz="2000" b="0" u="none" strike="noStrike">
              <a:solidFill>
                <a:srgbClr val="000000"/>
              </a:solidFill>
              <a:effectLst/>
              <a:uFillTx/>
              <a:latin typeface="Arial"/>
            </a:endParaRPr>
          </a:p>
        </p:txBody>
      </p:sp>
      <p:sp>
        <p:nvSpPr>
          <p:cNvPr id="124"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25"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26"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27" name="Image 0" descr="preencoded.png"/>
          <p:cNvPicPr/>
          <p:nvPr/>
        </p:nvPicPr>
        <p:blipFill>
          <a:blip r:embed="rId1"/>
          <a:stretch/>
        </p:blipFill>
        <p:spPr>
          <a:xfrm>
            <a:off x="548640" y="548640"/>
            <a:ext cx="447480" cy="447480"/>
          </a:xfrm>
          <a:prstGeom prst="rect">
            <a:avLst/>
          </a:prstGeom>
          <a:noFill/>
          <a:ln w="0">
            <a:noFill/>
          </a:ln>
        </p:spPr>
      </p:pic>
      <p:sp>
        <p:nvSpPr>
          <p:cNvPr id="128"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Population vs. Sample</a:t>
            </a:r>
            <a:endParaRPr lang="en-US" sz="2400" b="0" u="none" strike="noStrike">
              <a:solidFill>
                <a:srgbClr val="000000"/>
              </a:solidFill>
              <a:effectLst/>
              <a:uFillTx/>
              <a:latin typeface="Arial"/>
            </a:endParaRPr>
          </a:p>
        </p:txBody>
      </p:sp>
      <p:sp>
        <p:nvSpPr>
          <p:cNvPr id="129"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30"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1"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2" name="Image 1" descr="preencoded.png"/>
          <p:cNvPicPr/>
          <p:nvPr/>
        </p:nvPicPr>
        <p:blipFill>
          <a:blip r:embed="rId2"/>
          <a:stretch/>
        </p:blipFill>
        <p:spPr>
          <a:xfrm>
            <a:off x="1746360" y="2423160"/>
            <a:ext cx="1087560" cy="1087560"/>
          </a:xfrm>
          <a:prstGeom prst="rect">
            <a:avLst/>
          </a:prstGeom>
          <a:noFill/>
          <a:ln w="0">
            <a:noFill/>
          </a:ln>
        </p:spPr>
      </p:pic>
      <p:sp>
        <p:nvSpPr>
          <p:cNvPr id="133"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The whole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group, vs.</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a slice of it</a:t>
            </a:r>
            <a:endParaRPr lang="en-US" sz="1600" b="0" u="none" strike="noStrike">
              <a:solidFill>
                <a:srgbClr val="000000"/>
              </a:solidFill>
              <a:effectLst/>
              <a:uFillTx/>
              <a:latin typeface="Arial"/>
            </a:endParaRPr>
          </a:p>
        </p:txBody>
      </p:sp>
      <p:sp>
        <p:nvSpPr>
          <p:cNvPr id="134"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population is every single member of the group you actually care about — every voter, every customer, every product ever made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sample is a smaller, manageable subset of that population, actually measured — usually because measuring the entire population is impossible or impractical</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Almost everything in real data science is a sample — you rarely have data on literally everyone or everything</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single distinction is the entire reason inferential statistics needs to exist at all — keep it in mind, it comes back constantly</a:t>
            </a:r>
            <a:endParaRPr lang="en-US" sz="1600" b="0" u="none" strike="noStrike">
              <a:solidFill>
                <a:srgbClr val="000000"/>
              </a:solidFill>
              <a:effectLst/>
              <a:uFillTx/>
              <a:latin typeface="Arial"/>
            </a:endParaRPr>
          </a:p>
        </p:txBody>
      </p:sp>
      <p:sp>
        <p:nvSpPr>
          <p:cNvPr id="135"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36"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37"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8" name="Image 0" descr="preencoded.png"/>
          <p:cNvPicPr/>
          <p:nvPr/>
        </p:nvPicPr>
        <p:blipFill>
          <a:blip r:embed="rId1"/>
          <a:stretch/>
        </p:blipFill>
        <p:spPr>
          <a:xfrm>
            <a:off x="548640" y="548640"/>
            <a:ext cx="447480" cy="447480"/>
          </a:xfrm>
          <a:prstGeom prst="rect">
            <a:avLst/>
          </a:prstGeom>
          <a:noFill/>
          <a:ln w="0">
            <a:noFill/>
          </a:ln>
        </p:spPr>
      </p:pic>
      <p:sp>
        <p:nvSpPr>
          <p:cNvPr id="139"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Dependent vs. Independent Variables</a:t>
            </a:r>
            <a:endParaRPr lang="en-US" sz="2400" b="0" u="none" strike="noStrike">
              <a:solidFill>
                <a:srgbClr val="000000"/>
              </a:solidFill>
              <a:effectLst/>
              <a:uFillTx/>
              <a:latin typeface="Arial"/>
            </a:endParaRPr>
          </a:p>
        </p:txBody>
      </p:sp>
      <p:sp>
        <p:nvSpPr>
          <p:cNvPr id="140"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41"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3" name="Image 1" descr="preencoded.png"/>
          <p:cNvPicPr/>
          <p:nvPr/>
        </p:nvPicPr>
        <p:blipFill>
          <a:blip r:embed="rId2"/>
          <a:stretch/>
        </p:blipFill>
        <p:spPr>
          <a:xfrm>
            <a:off x="1746360" y="2423160"/>
            <a:ext cx="1087560" cy="1087560"/>
          </a:xfrm>
          <a:prstGeom prst="rect">
            <a:avLst/>
          </a:prstGeom>
          <a:noFill/>
          <a:ln w="0">
            <a:noFill/>
          </a:ln>
        </p:spPr>
      </p:pic>
      <p:sp>
        <p:nvSpPr>
          <p:cNvPr id="144"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Cause,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and the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effect</a:t>
            </a:r>
            <a:endParaRPr lang="en-US" sz="1600" b="0" u="none" strike="noStrike">
              <a:solidFill>
                <a:srgbClr val="000000"/>
              </a:solidFill>
              <a:effectLst/>
              <a:uFillTx/>
              <a:latin typeface="Arial"/>
            </a:endParaRPr>
          </a:p>
        </p:txBody>
      </p:sp>
      <p:sp>
        <p:nvSpPr>
          <p:cNvPr id="145"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An independent variable is the one you change, control, or use to explain something — it stands on its own, unaffected by the other variables in the study</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dependent variable is the one you measure as an outcome — its value "depends on" the independent variable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In "does study time affect exam score," study time is independent, exam score is dependent — the score depends on the hours studied, not the other way around</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distinction quietly decides which axis a variable belongs on in a scatter plot, and which side of a formula it belongs on in a regression — both coming up soon</a:t>
            </a:r>
            <a:endParaRPr lang="en-US" sz="1600" b="0" u="none" strike="noStrike">
              <a:solidFill>
                <a:srgbClr val="000000"/>
              </a:solidFill>
              <a:effectLst/>
              <a:uFillTx/>
              <a:latin typeface="Arial"/>
            </a:endParaRPr>
          </a:p>
        </p:txBody>
      </p:sp>
      <p:sp>
        <p:nvSpPr>
          <p:cNvPr id="146"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47"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48"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49" name="Image 0" descr="preencoded.png"/>
          <p:cNvPicPr/>
          <p:nvPr/>
        </p:nvPicPr>
        <p:blipFill>
          <a:blip r:embed="rId1"/>
          <a:stretch/>
        </p:blipFill>
        <p:spPr>
          <a:xfrm>
            <a:off x="548640" y="548640"/>
            <a:ext cx="447480" cy="447480"/>
          </a:xfrm>
          <a:prstGeom prst="rect">
            <a:avLst/>
          </a:prstGeom>
          <a:noFill/>
          <a:ln w="0">
            <a:noFill/>
          </a:ln>
        </p:spPr>
      </p:pic>
      <p:sp>
        <p:nvSpPr>
          <p:cNvPr id="150"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What Is Statistics?</a:t>
            </a:r>
            <a:endParaRPr lang="en-US" sz="2400" b="0" u="none" strike="noStrike">
              <a:solidFill>
                <a:srgbClr val="000000"/>
              </a:solidFill>
              <a:effectLst/>
              <a:uFillTx/>
              <a:latin typeface="Arial"/>
            </a:endParaRPr>
          </a:p>
        </p:txBody>
      </p:sp>
      <p:sp>
        <p:nvSpPr>
          <p:cNvPr id="151"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52"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154"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5"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56"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Name one real decision (personal, business, or public) that was likely made using statistics</a:t>
            </a:r>
            <a:endParaRPr lang="en-US" sz="1250" b="0" u="none" strike="noStrike">
              <a:solidFill>
                <a:srgbClr val="000000"/>
              </a:solidFill>
              <a:effectLst/>
              <a:uFillTx/>
              <a:latin typeface="Arial"/>
            </a:endParaRPr>
          </a:p>
        </p:txBody>
      </p:sp>
      <p:sp>
        <p:nvSpPr>
          <p:cNvPr id="157" name="Shape 8"/>
          <p:cNvSpPr/>
          <p:nvPr/>
        </p:nvSpPr>
        <p:spPr>
          <a:xfrm>
            <a:off x="822960" y="33008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 name="Text 9"/>
          <p:cNvSpPr/>
          <p:nvPr/>
        </p:nvSpPr>
        <p:spPr>
          <a:xfrm>
            <a:off x="822960" y="33008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159" name="Text 10"/>
          <p:cNvSpPr/>
          <p:nvPr/>
        </p:nvSpPr>
        <p:spPr>
          <a:xfrm>
            <a:off x="1435680" y="33008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a survey of 200 university students about study habits, identify the population and the sample</a:t>
            </a:r>
            <a:endParaRPr lang="en-US" sz="1250" b="0" u="none" strike="noStrike">
              <a:solidFill>
                <a:srgbClr val="000000"/>
              </a:solidFill>
              <a:effectLst/>
              <a:uFillTx/>
              <a:latin typeface="Arial"/>
            </a:endParaRPr>
          </a:p>
        </p:txBody>
      </p:sp>
      <p:sp>
        <p:nvSpPr>
          <p:cNvPr id="160" name="Shape 11"/>
          <p:cNvSpPr/>
          <p:nvPr/>
        </p:nvSpPr>
        <p:spPr>
          <a:xfrm>
            <a:off x="822960" y="41788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1" name="Text 12"/>
          <p:cNvSpPr/>
          <p:nvPr/>
        </p:nvSpPr>
        <p:spPr>
          <a:xfrm>
            <a:off x="822960" y="41788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162" name="Text 13"/>
          <p:cNvSpPr/>
          <p:nvPr/>
        </p:nvSpPr>
        <p:spPr>
          <a:xfrm>
            <a:off x="1435680" y="41788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in your own words the difference between descriptive and inferential statistics, using your own example for each</a:t>
            </a:r>
            <a:endParaRPr lang="en-US" sz="1250" b="0" u="none" strike="noStrike">
              <a:solidFill>
                <a:srgbClr val="000000"/>
              </a:solidFill>
              <a:effectLst/>
              <a:uFillTx/>
              <a:latin typeface="Arial"/>
            </a:endParaRPr>
          </a:p>
        </p:txBody>
      </p:sp>
      <p:sp>
        <p:nvSpPr>
          <p:cNvPr id="163" name="Shape 14"/>
          <p:cNvSpPr/>
          <p:nvPr/>
        </p:nvSpPr>
        <p:spPr>
          <a:xfrm>
            <a:off x="822960" y="50565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15"/>
          <p:cNvSpPr/>
          <p:nvPr/>
        </p:nvSpPr>
        <p:spPr>
          <a:xfrm>
            <a:off x="822960" y="5056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165" name="Text 16"/>
          <p:cNvSpPr/>
          <p:nvPr/>
        </p:nvSpPr>
        <p:spPr>
          <a:xfrm>
            <a:off x="1435680" y="50565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"does fertilizer amount affect plant height," identify the independent and dependent variable, and explain your reasoning</a:t>
            </a:r>
            <a:endParaRPr lang="en-US" sz="1250" b="0" u="none" strike="noStrike">
              <a:solidFill>
                <a:srgbClr val="000000"/>
              </a:solidFill>
              <a:effectLst/>
              <a:uFillTx/>
              <a:latin typeface="Arial"/>
            </a:endParaRPr>
          </a:p>
        </p:txBody>
      </p:sp>
      <p:sp>
        <p:nvSpPr>
          <p:cNvPr id="166"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67"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68"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169"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170"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171"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172"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74" name="Image 0" descr="preencoded.png"/>
          <p:cNvPicPr/>
          <p:nvPr/>
        </p:nvPicPr>
        <p:blipFill>
          <a:blip r:embed="rId1"/>
          <a:stretch/>
        </p:blipFill>
        <p:spPr>
          <a:xfrm>
            <a:off x="5870520" y="1348920"/>
            <a:ext cx="456480" cy="456480"/>
          </a:xfrm>
          <a:prstGeom prst="rect">
            <a:avLst/>
          </a:prstGeom>
          <a:noFill/>
          <a:ln w="0">
            <a:noFill/>
          </a:ln>
        </p:spPr>
      </p:pic>
      <p:sp>
        <p:nvSpPr>
          <p:cNvPr id="175"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2</a:t>
            </a:r>
            <a:endParaRPr lang="en-US" sz="1200" b="0" u="none" strike="noStrike">
              <a:solidFill>
                <a:srgbClr val="000000"/>
              </a:solidFill>
              <a:effectLst/>
              <a:uFillTx/>
              <a:latin typeface="Arial"/>
            </a:endParaRPr>
          </a:p>
        </p:txBody>
      </p:sp>
      <p:sp>
        <p:nvSpPr>
          <p:cNvPr id="176"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Collecting &amp; Measuring Data</a:t>
            </a:r>
            <a:endParaRPr lang="en-US" sz="2900" b="0" u="none" strike="noStrike">
              <a:solidFill>
                <a:srgbClr val="000000"/>
              </a:solidFill>
              <a:effectLst/>
              <a:uFillTx/>
              <a:latin typeface="Arial"/>
            </a:endParaRPr>
          </a:p>
        </p:txBody>
      </p:sp>
      <p:sp>
        <p:nvSpPr>
          <p:cNvPr id="177"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Where your data actually comes from, how it was sampled, and whether the way it was measured can even be trusted</a:t>
            </a:r>
            <a:endParaRPr lang="en-US" sz="1500" b="0" u="none" strike="noStrike">
              <a:solidFill>
                <a:srgbClr val="000000"/>
              </a:solidFill>
              <a:effectLst/>
              <a:uFillTx/>
              <a:latin typeface="Arial"/>
            </a:endParaRPr>
          </a:p>
        </p:txBody>
      </p:sp>
      <p:sp>
        <p:nvSpPr>
          <p:cNvPr id="178"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7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80" name="Image 0" descr="preencoded.png"/>
          <p:cNvPicPr/>
          <p:nvPr/>
        </p:nvPicPr>
        <p:blipFill>
          <a:blip r:embed="rId1"/>
          <a:stretch/>
        </p:blipFill>
        <p:spPr>
          <a:xfrm>
            <a:off x="548640" y="548640"/>
            <a:ext cx="447480" cy="447480"/>
          </a:xfrm>
          <a:prstGeom prst="rect">
            <a:avLst/>
          </a:prstGeom>
          <a:noFill/>
          <a:ln w="0">
            <a:noFill/>
          </a:ln>
        </p:spPr>
      </p:pic>
      <p:sp>
        <p:nvSpPr>
          <p:cNvPr id="18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Primary vs. Secondary Data</a:t>
            </a:r>
            <a:endParaRPr lang="en-US" sz="2400" b="0" u="none" strike="noStrike">
              <a:solidFill>
                <a:srgbClr val="000000"/>
              </a:solidFill>
              <a:effectLst/>
              <a:uFillTx/>
              <a:latin typeface="Arial"/>
            </a:endParaRPr>
          </a:p>
        </p:txBody>
      </p:sp>
      <p:sp>
        <p:nvSpPr>
          <p:cNvPr id="18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83"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4"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85" name="Image 1" descr="preencoded.png"/>
          <p:cNvPicPr/>
          <p:nvPr/>
        </p:nvPicPr>
        <p:blipFill>
          <a:blip r:embed="rId2"/>
          <a:stretch/>
        </p:blipFill>
        <p:spPr>
          <a:xfrm>
            <a:off x="1746360" y="2423160"/>
            <a:ext cx="1087560" cy="1087560"/>
          </a:xfrm>
          <a:prstGeom prst="rect">
            <a:avLst/>
          </a:prstGeom>
          <a:noFill/>
          <a:ln w="0">
            <a:noFill/>
          </a:ln>
        </p:spPr>
      </p:pic>
      <p:sp>
        <p:nvSpPr>
          <p:cNvPr id="186"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Who</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collected</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it first</a:t>
            </a:r>
            <a:endParaRPr lang="en-US" sz="1600" b="0" u="none" strike="noStrike">
              <a:solidFill>
                <a:srgbClr val="000000"/>
              </a:solidFill>
              <a:effectLst/>
              <a:uFillTx/>
              <a:latin typeface="Arial"/>
            </a:endParaRPr>
          </a:p>
        </p:txBody>
      </p:sp>
      <p:sp>
        <p:nvSpPr>
          <p:cNvPr id="187"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Primary data is collected firsthand, specifically for your own purpose — your own survey, your own experiment, your own sensor readings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Secondary data was collected by someone else, for a different original purpose, and you’re reusing it — government census data, a public dataset, a previous study’s results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Primary data fits your exact question perfectly, but costs real time and money to collect. Secondary data is fast and often free, but may not perfectly match what you actually need</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Most real-world data science work is a mix of both — recognizing which kind you’re holding shapes how much you should trust and reshape it</a:t>
            </a:r>
            <a:endParaRPr lang="en-US" sz="1600" b="0" u="none" strike="noStrike">
              <a:solidFill>
                <a:srgbClr val="000000"/>
              </a:solidFill>
              <a:effectLst/>
              <a:uFillTx/>
              <a:latin typeface="Arial"/>
            </a:endParaRPr>
          </a:p>
        </p:txBody>
      </p:sp>
      <p:sp>
        <p:nvSpPr>
          <p:cNvPr id="188"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89"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9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91" name="Image 0" descr="preencoded.png"/>
          <p:cNvPicPr/>
          <p:nvPr/>
        </p:nvPicPr>
        <p:blipFill>
          <a:blip r:embed="rId1"/>
          <a:stretch/>
        </p:blipFill>
        <p:spPr>
          <a:xfrm>
            <a:off x="548640" y="548640"/>
            <a:ext cx="447480" cy="447480"/>
          </a:xfrm>
          <a:prstGeom prst="rect">
            <a:avLst/>
          </a:prstGeom>
          <a:noFill/>
          <a:ln w="0">
            <a:noFill/>
          </a:ln>
        </p:spPr>
      </p:pic>
      <p:sp>
        <p:nvSpPr>
          <p:cNvPr id="19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Sampling Types &amp; Techniques</a:t>
            </a:r>
            <a:endParaRPr lang="en-US" sz="2400" b="0" u="none" strike="noStrike">
              <a:solidFill>
                <a:srgbClr val="000000"/>
              </a:solidFill>
              <a:effectLst/>
              <a:uFillTx/>
              <a:latin typeface="Arial"/>
            </a:endParaRPr>
          </a:p>
        </p:txBody>
      </p:sp>
      <p:sp>
        <p:nvSpPr>
          <p:cNvPr id="19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94"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5"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96" name="Image 1" descr="preencoded.png"/>
          <p:cNvPicPr/>
          <p:nvPr/>
        </p:nvPicPr>
        <p:blipFill>
          <a:blip r:embed="rId2"/>
          <a:stretch/>
        </p:blipFill>
        <p:spPr>
          <a:xfrm>
            <a:off x="1746360" y="2423160"/>
            <a:ext cx="1087560" cy="1087560"/>
          </a:xfrm>
          <a:prstGeom prst="rect">
            <a:avLst/>
          </a:prstGeom>
          <a:noFill/>
          <a:ln w="0">
            <a:noFill/>
          </a:ln>
        </p:spPr>
      </p:pic>
      <p:sp>
        <p:nvSpPr>
          <p:cNvPr id="197"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How you</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pick the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slice</a:t>
            </a:r>
            <a:endParaRPr lang="en-US" sz="1600" b="0" u="none" strike="noStrike">
              <a:solidFill>
                <a:srgbClr val="000000"/>
              </a:solidFill>
              <a:effectLst/>
              <a:uFillTx/>
              <a:latin typeface="Arial"/>
            </a:endParaRPr>
          </a:p>
        </p:txBody>
      </p:sp>
      <p:sp>
        <p:nvSpPr>
          <p:cNvPr id="198"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How a sample is chosen directly determines whether it can honestly represent the population it came from</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Probability sampling gives every member of the population a known chance of being selected — this is what makes inferential statistics (Sessions 20–22) mathematically valid at all</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Non-probability sampling doesn’t guarantee that — it’s often faster and cheaper, but carries a real risk of a biased, unrepresentative sample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 next slide walks through the specific techniques inside each category</a:t>
            </a:r>
            <a:endParaRPr lang="en-US" sz="1600" b="0" u="none" strike="noStrike">
              <a:solidFill>
                <a:srgbClr val="000000"/>
              </a:solidFill>
              <a:effectLst/>
              <a:uFillTx/>
              <a:latin typeface="Arial"/>
            </a:endParaRPr>
          </a:p>
        </p:txBody>
      </p:sp>
      <p:sp>
        <p:nvSpPr>
          <p:cNvPr id="199"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00"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01"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02" name="Image 0" descr="preencoded.png"/>
          <p:cNvPicPr/>
          <p:nvPr/>
        </p:nvPicPr>
        <p:blipFill>
          <a:blip r:embed="rId1"/>
          <a:stretch/>
        </p:blipFill>
        <p:spPr>
          <a:xfrm>
            <a:off x="548640" y="548640"/>
            <a:ext cx="447480" cy="447480"/>
          </a:xfrm>
          <a:prstGeom prst="rect">
            <a:avLst/>
          </a:prstGeom>
          <a:noFill/>
          <a:ln w="0">
            <a:noFill/>
          </a:ln>
        </p:spPr>
      </p:pic>
      <p:sp>
        <p:nvSpPr>
          <p:cNvPr id="203"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Common Sampling Techniques</a:t>
            </a:r>
            <a:endParaRPr lang="en-US" sz="2400" b="0" u="none" strike="noStrike">
              <a:solidFill>
                <a:srgbClr val="000000"/>
              </a:solidFill>
              <a:effectLst/>
              <a:uFillTx/>
              <a:latin typeface="Arial"/>
            </a:endParaRPr>
          </a:p>
        </p:txBody>
      </p:sp>
      <p:sp>
        <p:nvSpPr>
          <p:cNvPr id="204"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05" name="Shape 3"/>
          <p:cNvSpPr/>
          <p:nvPr/>
        </p:nvSpPr>
        <p:spPr>
          <a:xfrm>
            <a:off x="45720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6" name="Shape 4"/>
          <p:cNvSpPr/>
          <p:nvPr/>
        </p:nvSpPr>
        <p:spPr>
          <a:xfrm>
            <a:off x="150984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07" name="Image 1" descr="preencoded.png"/>
          <p:cNvPicPr/>
          <p:nvPr/>
        </p:nvPicPr>
        <p:blipFill>
          <a:blip r:embed="rId2"/>
          <a:stretch/>
        </p:blipFill>
        <p:spPr>
          <a:xfrm>
            <a:off x="1592280" y="2176200"/>
            <a:ext cx="383400" cy="383400"/>
          </a:xfrm>
          <a:prstGeom prst="rect">
            <a:avLst/>
          </a:prstGeom>
          <a:noFill/>
          <a:ln w="0">
            <a:noFill/>
          </a:ln>
        </p:spPr>
      </p:pic>
      <p:sp>
        <p:nvSpPr>
          <p:cNvPr id="208" name="Text 5"/>
          <p:cNvSpPr/>
          <p:nvPr/>
        </p:nvSpPr>
        <p:spPr>
          <a:xfrm>
            <a:off x="54864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Simple Random</a:t>
            </a:r>
            <a:endParaRPr lang="en-US" sz="1300" b="0" u="none" strike="noStrike">
              <a:solidFill>
                <a:srgbClr val="000000"/>
              </a:solidFill>
              <a:effectLst/>
              <a:uFillTx/>
              <a:latin typeface="Arial"/>
            </a:endParaRPr>
          </a:p>
        </p:txBody>
      </p:sp>
      <p:sp>
        <p:nvSpPr>
          <p:cNvPr id="209" name="Text 6"/>
          <p:cNvSpPr/>
          <p:nvPr/>
        </p:nvSpPr>
        <p:spPr>
          <a:xfrm>
            <a:off x="60336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Every member has an exactly equal chance of selection — like drawing names from a hat</a:t>
            </a:r>
            <a:endParaRPr lang="en-US" sz="1100" b="0" u="none" strike="noStrike">
              <a:solidFill>
                <a:srgbClr val="000000"/>
              </a:solidFill>
              <a:effectLst/>
              <a:uFillTx/>
              <a:latin typeface="Arial"/>
            </a:endParaRPr>
          </a:p>
        </p:txBody>
      </p:sp>
      <p:sp>
        <p:nvSpPr>
          <p:cNvPr id="210" name="Shape 7"/>
          <p:cNvSpPr/>
          <p:nvPr/>
        </p:nvSpPr>
        <p:spPr>
          <a:xfrm>
            <a:off x="3330720" y="1508760"/>
            <a:ext cx="2653200" cy="4891320"/>
          </a:xfrm>
          <a:prstGeom prst="roundRect">
            <a:avLst>
              <a:gd name="adj" fmla="val 5512"/>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1" name="Shape 8"/>
          <p:cNvSpPr/>
          <p:nvPr/>
        </p:nvSpPr>
        <p:spPr>
          <a:xfrm>
            <a:off x="438336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12" name="Image 2" descr="preencoded.png"/>
          <p:cNvPicPr/>
          <p:nvPr/>
        </p:nvPicPr>
        <p:blipFill>
          <a:blip r:embed="rId3"/>
          <a:stretch/>
        </p:blipFill>
        <p:spPr>
          <a:xfrm>
            <a:off x="4465800" y="2176200"/>
            <a:ext cx="383400" cy="383400"/>
          </a:xfrm>
          <a:prstGeom prst="rect">
            <a:avLst/>
          </a:prstGeom>
          <a:noFill/>
          <a:ln w="0">
            <a:noFill/>
          </a:ln>
        </p:spPr>
      </p:pic>
      <p:sp>
        <p:nvSpPr>
          <p:cNvPr id="213" name="Text 9"/>
          <p:cNvSpPr/>
          <p:nvPr/>
        </p:nvSpPr>
        <p:spPr>
          <a:xfrm>
            <a:off x="342216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Stratified</a:t>
            </a:r>
            <a:endParaRPr lang="en-US" sz="1300" b="0" u="none" strike="noStrike">
              <a:solidFill>
                <a:srgbClr val="000000"/>
              </a:solidFill>
              <a:effectLst/>
              <a:uFillTx/>
              <a:latin typeface="Arial"/>
            </a:endParaRPr>
          </a:p>
        </p:txBody>
      </p:sp>
      <p:sp>
        <p:nvSpPr>
          <p:cNvPr id="214" name="Text 10"/>
          <p:cNvSpPr/>
          <p:nvPr/>
        </p:nvSpPr>
        <p:spPr>
          <a:xfrm>
            <a:off x="347688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The population is split into meaningful subgroups first, then randomly sampled within each</a:t>
            </a:r>
            <a:endParaRPr lang="en-US" sz="1100" b="0" u="none" strike="noStrike">
              <a:solidFill>
                <a:srgbClr val="000000"/>
              </a:solidFill>
              <a:effectLst/>
              <a:uFillTx/>
              <a:latin typeface="Arial"/>
            </a:endParaRPr>
          </a:p>
        </p:txBody>
      </p:sp>
      <p:sp>
        <p:nvSpPr>
          <p:cNvPr id="215" name="Shape 11"/>
          <p:cNvSpPr/>
          <p:nvPr/>
        </p:nvSpPr>
        <p:spPr>
          <a:xfrm>
            <a:off x="6204240" y="1508760"/>
            <a:ext cx="2653200" cy="4891320"/>
          </a:xfrm>
          <a:prstGeom prst="roundRect">
            <a:avLst>
              <a:gd name="adj" fmla="val 5512"/>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6" name="Shape 12"/>
          <p:cNvSpPr/>
          <p:nvPr/>
        </p:nvSpPr>
        <p:spPr>
          <a:xfrm>
            <a:off x="725688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17" name="Image 3" descr="preencoded.png"/>
          <p:cNvPicPr/>
          <p:nvPr/>
        </p:nvPicPr>
        <p:blipFill>
          <a:blip r:embed="rId4"/>
          <a:stretch/>
        </p:blipFill>
        <p:spPr>
          <a:xfrm>
            <a:off x="7339320" y="2176200"/>
            <a:ext cx="383400" cy="383400"/>
          </a:xfrm>
          <a:prstGeom prst="rect">
            <a:avLst/>
          </a:prstGeom>
          <a:noFill/>
          <a:ln w="0">
            <a:noFill/>
          </a:ln>
        </p:spPr>
      </p:pic>
      <p:sp>
        <p:nvSpPr>
          <p:cNvPr id="218" name="Text 13"/>
          <p:cNvSpPr/>
          <p:nvPr/>
        </p:nvSpPr>
        <p:spPr>
          <a:xfrm>
            <a:off x="629568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Cluster</a:t>
            </a:r>
            <a:endParaRPr lang="en-US" sz="1300" b="0" u="none" strike="noStrike">
              <a:solidFill>
                <a:srgbClr val="000000"/>
              </a:solidFill>
              <a:effectLst/>
              <a:uFillTx/>
              <a:latin typeface="Arial"/>
            </a:endParaRPr>
          </a:p>
        </p:txBody>
      </p:sp>
      <p:sp>
        <p:nvSpPr>
          <p:cNvPr id="219" name="Text 14"/>
          <p:cNvSpPr/>
          <p:nvPr/>
        </p:nvSpPr>
        <p:spPr>
          <a:xfrm>
            <a:off x="635040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The population is split into naturally occurring groups (e.g. schools), and whole groups are randomly selected</a:t>
            </a:r>
            <a:endParaRPr lang="en-US" sz="1100" b="0" u="none" strike="noStrike">
              <a:solidFill>
                <a:srgbClr val="000000"/>
              </a:solidFill>
              <a:effectLst/>
              <a:uFillTx/>
              <a:latin typeface="Arial"/>
            </a:endParaRPr>
          </a:p>
        </p:txBody>
      </p:sp>
      <p:sp>
        <p:nvSpPr>
          <p:cNvPr id="220" name="Shape 15"/>
          <p:cNvSpPr/>
          <p:nvPr/>
        </p:nvSpPr>
        <p:spPr>
          <a:xfrm>
            <a:off x="907776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1" name="Shape 16"/>
          <p:cNvSpPr/>
          <p:nvPr/>
        </p:nvSpPr>
        <p:spPr>
          <a:xfrm>
            <a:off x="10130400" y="2094120"/>
            <a:ext cx="547920" cy="54792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22" name="Image 4" descr="preencoded.png"/>
          <p:cNvPicPr/>
          <p:nvPr/>
        </p:nvPicPr>
        <p:blipFill>
          <a:blip r:embed="rId5"/>
          <a:stretch/>
        </p:blipFill>
        <p:spPr>
          <a:xfrm>
            <a:off x="10212840" y="2176200"/>
            <a:ext cx="383400" cy="383400"/>
          </a:xfrm>
          <a:prstGeom prst="rect">
            <a:avLst/>
          </a:prstGeom>
          <a:noFill/>
          <a:ln w="0">
            <a:noFill/>
          </a:ln>
        </p:spPr>
      </p:pic>
      <p:sp>
        <p:nvSpPr>
          <p:cNvPr id="223" name="Text 17"/>
          <p:cNvSpPr/>
          <p:nvPr/>
        </p:nvSpPr>
        <p:spPr>
          <a:xfrm>
            <a:off x="916920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Convenience</a:t>
            </a:r>
            <a:endParaRPr lang="en-US" sz="1300" b="0" u="none" strike="noStrike">
              <a:solidFill>
                <a:srgbClr val="000000"/>
              </a:solidFill>
              <a:effectLst/>
              <a:uFillTx/>
              <a:latin typeface="Arial"/>
            </a:endParaRPr>
          </a:p>
        </p:txBody>
      </p:sp>
      <p:sp>
        <p:nvSpPr>
          <p:cNvPr id="224" name="Text 18"/>
          <p:cNvSpPr/>
          <p:nvPr/>
        </p:nvSpPr>
        <p:spPr>
          <a:xfrm>
            <a:off x="922392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Whoever is easiest to reach is sampled — fast, but carries the highest risk of an unrepresentative sample</a:t>
            </a:r>
            <a:endParaRPr lang="en-US" sz="1100" b="0" u="none" strike="noStrike">
              <a:solidFill>
                <a:srgbClr val="000000"/>
              </a:solidFill>
              <a:effectLst/>
              <a:uFillTx/>
              <a:latin typeface="Arial"/>
            </a:endParaRPr>
          </a:p>
        </p:txBody>
      </p:sp>
      <p:sp>
        <p:nvSpPr>
          <p:cNvPr id="225" name="Text 1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26" name="Text 2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27"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28" name="Image 0" descr="preencoded.png"/>
          <p:cNvPicPr/>
          <p:nvPr/>
        </p:nvPicPr>
        <p:blipFill>
          <a:blip r:embed="rId1"/>
          <a:stretch/>
        </p:blipFill>
        <p:spPr>
          <a:xfrm>
            <a:off x="548640" y="548640"/>
            <a:ext cx="447480" cy="447480"/>
          </a:xfrm>
          <a:prstGeom prst="rect">
            <a:avLst/>
          </a:prstGeom>
          <a:noFill/>
          <a:ln w="0">
            <a:noFill/>
          </a:ln>
        </p:spPr>
      </p:pic>
      <p:sp>
        <p:nvSpPr>
          <p:cNvPr id="229"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More Sampling Techniques</a:t>
            </a:r>
            <a:endParaRPr lang="en-US" sz="2400" b="0" u="none" strike="noStrike">
              <a:solidFill>
                <a:srgbClr val="000000"/>
              </a:solidFill>
              <a:effectLst/>
              <a:uFillTx/>
              <a:latin typeface="Arial"/>
            </a:endParaRPr>
          </a:p>
        </p:txBody>
      </p:sp>
      <p:sp>
        <p:nvSpPr>
          <p:cNvPr id="230"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31" name="Shape 3"/>
          <p:cNvSpPr/>
          <p:nvPr/>
        </p:nvSpPr>
        <p:spPr>
          <a:xfrm>
            <a:off x="457200" y="1508760"/>
            <a:ext cx="3611160" cy="4891320"/>
          </a:xfrm>
          <a:prstGeom prst="roundRect">
            <a:avLst>
              <a:gd name="adj" fmla="val 405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2" name="Shape 4"/>
          <p:cNvSpPr/>
          <p:nvPr/>
        </p:nvSpPr>
        <p:spPr>
          <a:xfrm>
            <a:off x="19890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33" name="Image 1" descr="preencoded.png"/>
          <p:cNvPicPr/>
          <p:nvPr/>
        </p:nvPicPr>
        <p:blipFill>
          <a:blip r:embed="rId2"/>
          <a:stretch/>
        </p:blipFill>
        <p:spPr>
          <a:xfrm>
            <a:off x="2071080" y="2176200"/>
            <a:ext cx="383400" cy="383400"/>
          </a:xfrm>
          <a:prstGeom prst="rect">
            <a:avLst/>
          </a:prstGeom>
          <a:noFill/>
          <a:ln w="0">
            <a:noFill/>
          </a:ln>
        </p:spPr>
      </p:pic>
      <p:sp>
        <p:nvSpPr>
          <p:cNvPr id="234" name="Text 5"/>
          <p:cNvSpPr/>
          <p:nvPr/>
        </p:nvSpPr>
        <p:spPr>
          <a:xfrm>
            <a:off x="5486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Systematic</a:t>
            </a:r>
            <a:endParaRPr lang="en-US" sz="1300" b="0" u="none" strike="noStrike">
              <a:solidFill>
                <a:srgbClr val="000000"/>
              </a:solidFill>
              <a:effectLst/>
              <a:uFillTx/>
              <a:latin typeface="Arial"/>
            </a:endParaRPr>
          </a:p>
        </p:txBody>
      </p:sp>
      <p:sp>
        <p:nvSpPr>
          <p:cNvPr id="235" name="Text 6"/>
          <p:cNvSpPr/>
          <p:nvPr/>
        </p:nvSpPr>
        <p:spPr>
          <a:xfrm>
            <a:off x="60336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Select every k-th member from a list (e.g. every 10th name) after a random starting point — probability-based</a:t>
            </a:r>
            <a:endParaRPr lang="en-US" sz="1100" b="0" u="none" strike="noStrike">
              <a:solidFill>
                <a:srgbClr val="000000"/>
              </a:solidFill>
              <a:effectLst/>
              <a:uFillTx/>
              <a:latin typeface="Arial"/>
            </a:endParaRPr>
          </a:p>
        </p:txBody>
      </p:sp>
      <p:sp>
        <p:nvSpPr>
          <p:cNvPr id="236" name="Shape 7"/>
          <p:cNvSpPr/>
          <p:nvPr/>
        </p:nvSpPr>
        <p:spPr>
          <a:xfrm>
            <a:off x="4288680" y="1508760"/>
            <a:ext cx="3611160" cy="4891320"/>
          </a:xfrm>
          <a:prstGeom prst="roundRect">
            <a:avLst>
              <a:gd name="adj" fmla="val 405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7" name="Shape 8"/>
          <p:cNvSpPr/>
          <p:nvPr/>
        </p:nvSpPr>
        <p:spPr>
          <a:xfrm>
            <a:off x="582012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38" name="Image 2" descr="preencoded.png"/>
          <p:cNvPicPr/>
          <p:nvPr/>
        </p:nvPicPr>
        <p:blipFill>
          <a:blip r:embed="rId3"/>
          <a:stretch/>
        </p:blipFill>
        <p:spPr>
          <a:xfrm>
            <a:off x="5902560" y="2176200"/>
            <a:ext cx="383400" cy="383400"/>
          </a:xfrm>
          <a:prstGeom prst="rect">
            <a:avLst/>
          </a:prstGeom>
          <a:noFill/>
          <a:ln w="0">
            <a:noFill/>
          </a:ln>
        </p:spPr>
      </p:pic>
      <p:sp>
        <p:nvSpPr>
          <p:cNvPr id="239" name="Text 9"/>
          <p:cNvSpPr/>
          <p:nvPr/>
        </p:nvSpPr>
        <p:spPr>
          <a:xfrm>
            <a:off x="438012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Snowball</a:t>
            </a:r>
            <a:endParaRPr lang="en-US" sz="1300" b="0" u="none" strike="noStrike">
              <a:solidFill>
                <a:srgbClr val="000000"/>
              </a:solidFill>
              <a:effectLst/>
              <a:uFillTx/>
              <a:latin typeface="Arial"/>
            </a:endParaRPr>
          </a:p>
        </p:txBody>
      </p:sp>
      <p:sp>
        <p:nvSpPr>
          <p:cNvPr id="240" name="Text 10"/>
          <p:cNvSpPr/>
          <p:nvPr/>
        </p:nvSpPr>
        <p:spPr>
          <a:xfrm>
            <a:off x="443484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Existing participants refer other participants — useful for hard-to-reach populations, but non-random</a:t>
            </a:r>
            <a:endParaRPr lang="en-US" sz="1100" b="0" u="none" strike="noStrike">
              <a:solidFill>
                <a:srgbClr val="000000"/>
              </a:solidFill>
              <a:effectLst/>
              <a:uFillTx/>
              <a:latin typeface="Arial"/>
            </a:endParaRPr>
          </a:p>
        </p:txBody>
      </p:sp>
      <p:sp>
        <p:nvSpPr>
          <p:cNvPr id="241" name="Shape 11"/>
          <p:cNvSpPr/>
          <p:nvPr/>
        </p:nvSpPr>
        <p:spPr>
          <a:xfrm>
            <a:off x="8119800" y="1508760"/>
            <a:ext cx="3611160" cy="4891320"/>
          </a:xfrm>
          <a:prstGeom prst="roundRect">
            <a:avLst>
              <a:gd name="adj" fmla="val 4051"/>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2" name="Shape 12"/>
          <p:cNvSpPr/>
          <p:nvPr/>
        </p:nvSpPr>
        <p:spPr>
          <a:xfrm>
            <a:off x="965160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43" name="Image 3" descr="preencoded.png"/>
          <p:cNvPicPr/>
          <p:nvPr/>
        </p:nvPicPr>
        <p:blipFill>
          <a:blip r:embed="rId4"/>
          <a:stretch/>
        </p:blipFill>
        <p:spPr>
          <a:xfrm>
            <a:off x="9733680" y="2176200"/>
            <a:ext cx="383400" cy="383400"/>
          </a:xfrm>
          <a:prstGeom prst="rect">
            <a:avLst/>
          </a:prstGeom>
          <a:noFill/>
          <a:ln w="0">
            <a:noFill/>
          </a:ln>
        </p:spPr>
      </p:pic>
      <p:sp>
        <p:nvSpPr>
          <p:cNvPr id="244" name="Text 13"/>
          <p:cNvSpPr/>
          <p:nvPr/>
        </p:nvSpPr>
        <p:spPr>
          <a:xfrm>
            <a:off x="82112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Quota</a:t>
            </a:r>
            <a:endParaRPr lang="en-US" sz="1300" b="0" u="none" strike="noStrike">
              <a:solidFill>
                <a:srgbClr val="000000"/>
              </a:solidFill>
              <a:effectLst/>
              <a:uFillTx/>
              <a:latin typeface="Arial"/>
            </a:endParaRPr>
          </a:p>
        </p:txBody>
      </p:sp>
      <p:sp>
        <p:nvSpPr>
          <p:cNvPr id="245" name="Text 14"/>
          <p:cNvSpPr/>
          <p:nvPr/>
        </p:nvSpPr>
        <p:spPr>
          <a:xfrm>
            <a:off x="826632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A fixed number is sampled from each subgroup, like stratified — but selection within each group isn’t random</a:t>
            </a:r>
            <a:endParaRPr lang="en-US" sz="1100" b="0" u="none" strike="noStrike">
              <a:solidFill>
                <a:srgbClr val="000000"/>
              </a:solidFill>
              <a:effectLst/>
              <a:uFillTx/>
              <a:latin typeface="Arial"/>
            </a:endParaRPr>
          </a:p>
        </p:txBody>
      </p:sp>
      <p:sp>
        <p:nvSpPr>
          <p:cNvPr id="246" name="Text 15"/>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47" name="Text 16"/>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48"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49" name="Image 0" descr="preencoded.png"/>
          <p:cNvPicPr/>
          <p:nvPr/>
        </p:nvPicPr>
        <p:blipFill>
          <a:blip r:embed="rId1"/>
          <a:stretch/>
        </p:blipFill>
        <p:spPr>
          <a:xfrm>
            <a:off x="548640" y="548640"/>
            <a:ext cx="447480" cy="447480"/>
          </a:xfrm>
          <a:prstGeom prst="rect">
            <a:avLst/>
          </a:prstGeom>
          <a:noFill/>
          <a:ln w="0">
            <a:noFill/>
          </a:ln>
        </p:spPr>
      </p:pic>
      <p:sp>
        <p:nvSpPr>
          <p:cNvPr id="250"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Hybrid Sampling in Practice</a:t>
            </a:r>
            <a:endParaRPr lang="en-US" sz="2400" b="0" u="none" strike="noStrike">
              <a:solidFill>
                <a:srgbClr val="000000"/>
              </a:solidFill>
              <a:effectLst/>
              <a:uFillTx/>
              <a:latin typeface="Arial"/>
            </a:endParaRPr>
          </a:p>
        </p:txBody>
      </p:sp>
      <p:sp>
        <p:nvSpPr>
          <p:cNvPr id="251"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52"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3"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54" name="Image 1" descr="preencoded.png"/>
          <p:cNvPicPr/>
          <p:nvPr/>
        </p:nvPicPr>
        <p:blipFill>
          <a:blip r:embed="rId2"/>
          <a:stretch/>
        </p:blipFill>
        <p:spPr>
          <a:xfrm>
            <a:off x="1746360" y="2423160"/>
            <a:ext cx="1087560" cy="1087560"/>
          </a:xfrm>
          <a:prstGeom prst="rect">
            <a:avLst/>
          </a:prstGeom>
          <a:noFill/>
          <a:ln w="0">
            <a:noFill/>
          </a:ln>
        </p:spPr>
      </p:pic>
      <p:sp>
        <p:nvSpPr>
          <p:cNvPr id="255"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Mixing</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methods,</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honestly</a:t>
            </a:r>
            <a:endParaRPr lang="en-US" sz="1600" b="0" u="none" strike="noStrike">
              <a:solidFill>
                <a:srgbClr val="000000"/>
              </a:solidFill>
              <a:effectLst/>
              <a:uFillTx/>
              <a:latin typeface="Arial"/>
            </a:endParaRPr>
          </a:p>
        </p:txBody>
      </p:sp>
      <p:sp>
        <p:nvSpPr>
          <p:cNvPr id="256"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Real research often combines techniques rather than picking just one — for example, stratifying a national population by region, then using convenience sampling at accessible locations within each region</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is completely legitimate — it balances practicality against representativeness far better than pure convenience sampling alone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 key obligation is transparency: a hybrid approach should be reported exactly as it was done, so readers can judge for themselves how representative the sample really is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Hiding a convenience step inside what looks like a fully random design is exactly how a study quietly inherits selection bias without anyone noticing</a:t>
            </a:r>
            <a:endParaRPr lang="en-US" sz="1600" b="0" u="none" strike="noStrike">
              <a:solidFill>
                <a:srgbClr val="000000"/>
              </a:solidFill>
              <a:effectLst/>
              <a:uFillTx/>
              <a:latin typeface="Arial"/>
            </a:endParaRPr>
          </a:p>
        </p:txBody>
      </p:sp>
      <p:sp>
        <p:nvSpPr>
          <p:cNvPr id="257"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58"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5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60" name="Image 0" descr="preencoded.png"/>
          <p:cNvPicPr/>
          <p:nvPr/>
        </p:nvPicPr>
        <p:blipFill>
          <a:blip r:embed="rId1"/>
          <a:stretch/>
        </p:blipFill>
        <p:spPr>
          <a:xfrm>
            <a:off x="548640" y="548640"/>
            <a:ext cx="447480" cy="447480"/>
          </a:xfrm>
          <a:prstGeom prst="rect">
            <a:avLst/>
          </a:prstGeom>
          <a:noFill/>
          <a:ln w="0">
            <a:noFill/>
          </a:ln>
        </p:spPr>
      </p:pic>
      <p:sp>
        <p:nvSpPr>
          <p:cNvPr id="26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Probability vs. Non-Probability Sampling</a:t>
            </a:r>
            <a:endParaRPr lang="en-US" sz="2400" b="0" u="none" strike="noStrike">
              <a:solidFill>
                <a:srgbClr val="000000"/>
              </a:solidFill>
              <a:effectLst/>
              <a:uFillTx/>
              <a:latin typeface="Arial"/>
            </a:endParaRPr>
          </a:p>
        </p:txBody>
      </p:sp>
      <p:sp>
        <p:nvSpPr>
          <p:cNvPr id="26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63"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65" name="Image 1" descr="preencoded.png"/>
          <p:cNvPicPr/>
          <p:nvPr/>
        </p:nvPicPr>
        <p:blipFill>
          <a:blip r:embed="rId2"/>
          <a:stretch/>
        </p:blipFill>
        <p:spPr>
          <a:xfrm>
            <a:off x="804600" y="1938600"/>
            <a:ext cx="319320" cy="319320"/>
          </a:xfrm>
          <a:prstGeom prst="rect">
            <a:avLst/>
          </a:prstGeom>
          <a:noFill/>
          <a:ln w="0">
            <a:noFill/>
          </a:ln>
        </p:spPr>
      </p:pic>
      <p:sp>
        <p:nvSpPr>
          <p:cNvPr id="266"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Probability Sampling</a:t>
            </a:r>
            <a:endParaRPr lang="en-US" sz="1700" b="0" u="none" strike="noStrike">
              <a:solidFill>
                <a:srgbClr val="000000"/>
              </a:solidFill>
              <a:effectLst/>
              <a:uFillTx/>
              <a:latin typeface="Arial"/>
            </a:endParaRPr>
          </a:p>
        </p:txBody>
      </p:sp>
      <p:sp>
        <p:nvSpPr>
          <p:cNvPr id="267"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Simple random, stratified, cluster, and systematic sampling all belong here</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Every member has a known, nonzero chance of selection</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This is what lets you legitimately generalize a sample’s result back to the full population</a:t>
            </a:r>
            <a:endParaRPr lang="en-US" sz="1350" b="0" u="none" strike="noStrike">
              <a:solidFill>
                <a:srgbClr val="000000"/>
              </a:solidFill>
              <a:effectLst/>
              <a:uFillTx/>
              <a:latin typeface="Arial"/>
            </a:endParaRPr>
          </a:p>
        </p:txBody>
      </p:sp>
      <p:sp>
        <p:nvSpPr>
          <p:cNvPr id="268"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9"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70" name="Image 2" descr="preencoded.png"/>
          <p:cNvPicPr/>
          <p:nvPr/>
        </p:nvPicPr>
        <p:blipFill>
          <a:blip r:embed="rId3"/>
          <a:stretch/>
        </p:blipFill>
        <p:spPr>
          <a:xfrm>
            <a:off x="6519600" y="1938600"/>
            <a:ext cx="319320" cy="319320"/>
          </a:xfrm>
          <a:prstGeom prst="rect">
            <a:avLst/>
          </a:prstGeom>
          <a:noFill/>
          <a:ln w="0">
            <a:noFill/>
          </a:ln>
        </p:spPr>
      </p:pic>
      <p:sp>
        <p:nvSpPr>
          <p:cNvPr id="271"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Non-Probability Sampling</a:t>
            </a:r>
            <a:endParaRPr lang="en-US" sz="1700" b="0" u="none" strike="noStrike">
              <a:solidFill>
                <a:srgbClr val="000000"/>
              </a:solidFill>
              <a:effectLst/>
              <a:uFillTx/>
              <a:latin typeface="Arial"/>
            </a:endParaRPr>
          </a:p>
        </p:txBody>
      </p:sp>
      <p:sp>
        <p:nvSpPr>
          <p:cNvPr id="272"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Convenience, snowball, and quota sampling all belong here</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Selection isn’t random — some members may have no chance of being included at all</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hybrid approach (mixing both) is common in practice — useful, but should be reported honestly, not hidden</a:t>
            </a:r>
            <a:endParaRPr lang="en-US" sz="1350" b="0" u="none" strike="noStrike">
              <a:solidFill>
                <a:srgbClr val="000000"/>
              </a:solidFill>
              <a:effectLst/>
              <a:uFillTx/>
              <a:latin typeface="Arial"/>
            </a:endParaRPr>
          </a:p>
        </p:txBody>
      </p:sp>
      <p:sp>
        <p:nvSpPr>
          <p:cNvPr id="273"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74"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75"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76" name="Image 0" descr="preencoded.png"/>
          <p:cNvPicPr/>
          <p:nvPr/>
        </p:nvPicPr>
        <p:blipFill>
          <a:blip r:embed="rId1"/>
          <a:stretch/>
        </p:blipFill>
        <p:spPr>
          <a:xfrm>
            <a:off x="548640" y="548640"/>
            <a:ext cx="447480" cy="447480"/>
          </a:xfrm>
          <a:prstGeom prst="rect">
            <a:avLst/>
          </a:prstGeom>
          <a:noFill/>
          <a:ln w="0">
            <a:noFill/>
          </a:ln>
        </p:spPr>
      </p:pic>
      <p:sp>
        <p:nvSpPr>
          <p:cNvPr id="277"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Operationalization &amp; Proxy Measurements</a:t>
            </a:r>
            <a:endParaRPr lang="en-US" sz="2400" b="0" u="none" strike="noStrike">
              <a:solidFill>
                <a:srgbClr val="000000"/>
              </a:solidFill>
              <a:effectLst/>
              <a:uFillTx/>
              <a:latin typeface="Arial"/>
            </a:endParaRPr>
          </a:p>
        </p:txBody>
      </p:sp>
      <p:sp>
        <p:nvSpPr>
          <p:cNvPr id="278"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79"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81" name="Image 1" descr="preencoded.png"/>
          <p:cNvPicPr/>
          <p:nvPr/>
        </p:nvPicPr>
        <p:blipFill>
          <a:blip r:embed="rId2"/>
          <a:stretch/>
        </p:blipFill>
        <p:spPr>
          <a:xfrm>
            <a:off x="1746360" y="2423160"/>
            <a:ext cx="1087560" cy="1087560"/>
          </a:xfrm>
          <a:prstGeom prst="rect">
            <a:avLst/>
          </a:prstGeom>
          <a:noFill/>
          <a:ln w="0">
            <a:noFill/>
          </a:ln>
        </p:spPr>
      </p:pic>
      <p:sp>
        <p:nvSpPr>
          <p:cNvPr id="282"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Turning an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idea into</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a number</a:t>
            </a:r>
            <a:endParaRPr lang="en-US" sz="1600" b="0" u="none" strike="noStrike">
              <a:solidFill>
                <a:srgbClr val="000000"/>
              </a:solidFill>
              <a:effectLst/>
              <a:uFillTx/>
              <a:latin typeface="Arial"/>
            </a:endParaRPr>
          </a:p>
        </p:txBody>
      </p:sp>
      <p:sp>
        <p:nvSpPr>
          <p:cNvPr id="283"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Operationalization is the process of turning a vague, abstract idea — "happiness," "customer loyalty," "intelligence" — into something concrete enough to actually measure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proxy measurement is a stand-in variable used because the real thing can’t be measured directly — using "number of repeat purchases" to represent "customer loyalty"</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Every operationalization involves a judgment call, and a different one can lead to a genuinely different result — this is worth stating openly in any real analysis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is precisely the step where "reliability" and "validity," on the next slide, actually get put to the test</a:t>
            </a:r>
            <a:endParaRPr lang="en-US" sz="1600" b="0" u="none" strike="noStrike">
              <a:solidFill>
                <a:srgbClr val="000000"/>
              </a:solidFill>
              <a:effectLst/>
              <a:uFillTx/>
              <a:latin typeface="Arial"/>
            </a:endParaRPr>
          </a:p>
        </p:txBody>
      </p:sp>
      <p:sp>
        <p:nvSpPr>
          <p:cNvPr id="284"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285"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286"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87" name="Image 0" descr="preencoded.png"/>
          <p:cNvPicPr/>
          <p:nvPr/>
        </p:nvPicPr>
        <p:blipFill>
          <a:blip r:embed="rId1"/>
          <a:stretch/>
        </p:blipFill>
        <p:spPr>
          <a:xfrm>
            <a:off x="548640" y="548640"/>
            <a:ext cx="447480" cy="447480"/>
          </a:xfrm>
          <a:prstGeom prst="rect">
            <a:avLst/>
          </a:prstGeom>
          <a:noFill/>
          <a:ln w="0">
            <a:noFill/>
          </a:ln>
        </p:spPr>
      </p:pic>
      <p:sp>
        <p:nvSpPr>
          <p:cNvPr id="288"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Reliability vs. Validity</a:t>
            </a:r>
            <a:endParaRPr lang="en-US" sz="2400" b="0" u="none" strike="noStrike">
              <a:solidFill>
                <a:srgbClr val="000000"/>
              </a:solidFill>
              <a:effectLst/>
              <a:uFillTx/>
              <a:latin typeface="Arial"/>
            </a:endParaRPr>
          </a:p>
        </p:txBody>
      </p:sp>
      <p:sp>
        <p:nvSpPr>
          <p:cNvPr id="289"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290"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1"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292" name="Image 1" descr="preencoded.png"/>
          <p:cNvPicPr/>
          <p:nvPr/>
        </p:nvPicPr>
        <p:blipFill>
          <a:blip r:embed="rId2"/>
          <a:stretch/>
        </p:blipFill>
        <p:spPr>
          <a:xfrm>
            <a:off x="804600" y="1938600"/>
            <a:ext cx="319320" cy="319320"/>
          </a:xfrm>
          <a:prstGeom prst="rect">
            <a:avLst/>
          </a:prstGeom>
          <a:noFill/>
          <a:ln w="0">
            <a:noFill/>
          </a:ln>
        </p:spPr>
      </p:pic>
      <p:sp>
        <p:nvSpPr>
          <p:cNvPr id="293"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Reliability</a:t>
            </a:r>
            <a:endParaRPr lang="en-US" sz="1700" b="0" u="none" strike="noStrike">
              <a:solidFill>
                <a:srgbClr val="000000"/>
              </a:solidFill>
              <a:effectLst/>
              <a:uFillTx/>
              <a:latin typeface="Arial"/>
            </a:endParaRPr>
          </a:p>
        </p:txBody>
      </p:sp>
      <p:sp>
        <p:nvSpPr>
          <p:cNvPr id="294"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Asks: if I measure this again, under the same conditions, do I get a consistent result?</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bathroom scale that reads 3kg heavier every time is reliable — wrong, but consistently wrong</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Without reliability, you can’t trust any single measurement at all</a:t>
            </a:r>
            <a:endParaRPr lang="en-US" sz="1350" b="0" u="none" strike="noStrike">
              <a:solidFill>
                <a:srgbClr val="000000"/>
              </a:solidFill>
              <a:effectLst/>
              <a:uFillTx/>
              <a:latin typeface="Arial"/>
            </a:endParaRPr>
          </a:p>
        </p:txBody>
      </p:sp>
      <p:sp>
        <p:nvSpPr>
          <p:cNvPr id="295"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297" name="Image 2" descr="preencoded.png"/>
          <p:cNvPicPr/>
          <p:nvPr/>
        </p:nvPicPr>
        <p:blipFill>
          <a:blip r:embed="rId3"/>
          <a:stretch/>
        </p:blipFill>
        <p:spPr>
          <a:xfrm>
            <a:off x="6519600" y="1938600"/>
            <a:ext cx="319320" cy="319320"/>
          </a:xfrm>
          <a:prstGeom prst="rect">
            <a:avLst/>
          </a:prstGeom>
          <a:noFill/>
          <a:ln w="0">
            <a:noFill/>
          </a:ln>
        </p:spPr>
      </p:pic>
      <p:sp>
        <p:nvSpPr>
          <p:cNvPr id="298"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Validity</a:t>
            </a:r>
            <a:endParaRPr lang="en-US" sz="1700" b="0" u="none" strike="noStrike">
              <a:solidFill>
                <a:srgbClr val="000000"/>
              </a:solidFill>
              <a:effectLst/>
              <a:uFillTx/>
              <a:latin typeface="Arial"/>
            </a:endParaRPr>
          </a:p>
        </p:txBody>
      </p:sp>
      <p:sp>
        <p:nvSpPr>
          <p:cNvPr id="299"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Asks: am I actually measuring the concept I claim to be measuring?</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survey meant to measure "job satisfaction" that actually measures "salary satisfaction" is NOT valid, even if it’s perfectly reliable</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measurement can be reliable without being valid — but it can’t be genuinely valid without also being reliable</a:t>
            </a:r>
            <a:endParaRPr lang="en-US" sz="1350" b="0" u="none" strike="noStrike">
              <a:solidFill>
                <a:srgbClr val="000000"/>
              </a:solidFill>
              <a:effectLst/>
              <a:uFillTx/>
              <a:latin typeface="Arial"/>
            </a:endParaRPr>
          </a:p>
        </p:txBody>
      </p:sp>
      <p:sp>
        <p:nvSpPr>
          <p:cNvPr id="300"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301"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302"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03" name="Image 0" descr="preencoded.png"/>
          <p:cNvPicPr/>
          <p:nvPr/>
        </p:nvPicPr>
        <p:blipFill>
          <a:blip r:embed="rId1"/>
          <a:stretch/>
        </p:blipFill>
        <p:spPr>
          <a:xfrm>
            <a:off x="548640" y="548640"/>
            <a:ext cx="447480" cy="447480"/>
          </a:xfrm>
          <a:prstGeom prst="rect">
            <a:avLst/>
          </a:prstGeom>
          <a:noFill/>
          <a:ln w="0">
            <a:noFill/>
          </a:ln>
        </p:spPr>
      </p:pic>
      <p:sp>
        <p:nvSpPr>
          <p:cNvPr id="304"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Reliability vs. Validity, Visualized</a:t>
            </a:r>
            <a:endParaRPr lang="en-US" sz="2400" b="0" u="none" strike="noStrike">
              <a:solidFill>
                <a:srgbClr val="000000"/>
              </a:solidFill>
              <a:effectLst/>
              <a:uFillTx/>
              <a:latin typeface="Arial"/>
            </a:endParaRPr>
          </a:p>
        </p:txBody>
      </p:sp>
      <p:sp>
        <p:nvSpPr>
          <p:cNvPr id="305"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06" name="Shape 3"/>
          <p:cNvSpPr/>
          <p:nvPr/>
        </p:nvSpPr>
        <p:spPr>
          <a:xfrm>
            <a:off x="2057400" y="1371600"/>
            <a:ext cx="1553760" cy="1553760"/>
          </a:xfrm>
          <a:prstGeom prst="ellipse">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7" name="Shape 4"/>
          <p:cNvSpPr/>
          <p:nvPr/>
        </p:nvSpPr>
        <p:spPr>
          <a:xfrm>
            <a:off x="2275200" y="1589400"/>
            <a:ext cx="1118520" cy="1118520"/>
          </a:xfrm>
          <a:prstGeom prst="ellipse">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8" name="Shape 5"/>
          <p:cNvSpPr/>
          <p:nvPr/>
        </p:nvSpPr>
        <p:spPr>
          <a:xfrm>
            <a:off x="2492640" y="1806840"/>
            <a:ext cx="683280" cy="683280"/>
          </a:xfrm>
          <a:prstGeom prst="ellipse">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Shape 6"/>
          <p:cNvSpPr/>
          <p:nvPr/>
        </p:nvSpPr>
        <p:spPr>
          <a:xfrm>
            <a:off x="2694600" y="2008800"/>
            <a:ext cx="279000" cy="279000"/>
          </a:xfrm>
          <a:prstGeom prst="ellipse">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0" name="Shape 7"/>
          <p:cNvSpPr/>
          <p:nvPr/>
        </p:nvSpPr>
        <p:spPr>
          <a:xfrm>
            <a:off x="2775240" y="2089440"/>
            <a:ext cx="118080" cy="118080"/>
          </a:xfrm>
          <a:prstGeom prst="ellipse">
            <a:avLst/>
          </a:prstGeom>
          <a:solidFill>
            <a:srgbClr val="5FD6B0"/>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11" name="Shape 8"/>
          <p:cNvSpPr/>
          <p:nvPr/>
        </p:nvSpPr>
        <p:spPr>
          <a:xfrm>
            <a:off x="2820960" y="2144160"/>
            <a:ext cx="118080" cy="118080"/>
          </a:xfrm>
          <a:prstGeom prst="ellipse">
            <a:avLst/>
          </a:prstGeom>
          <a:solidFill>
            <a:srgbClr val="5FD6B0"/>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12" name="Shape 9"/>
          <p:cNvSpPr/>
          <p:nvPr/>
        </p:nvSpPr>
        <p:spPr>
          <a:xfrm>
            <a:off x="2738520" y="2116800"/>
            <a:ext cx="118080" cy="118080"/>
          </a:xfrm>
          <a:prstGeom prst="ellipse">
            <a:avLst/>
          </a:prstGeom>
          <a:solidFill>
            <a:srgbClr val="5FD6B0"/>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13" name="Shape 10"/>
          <p:cNvSpPr/>
          <p:nvPr/>
        </p:nvSpPr>
        <p:spPr>
          <a:xfrm>
            <a:off x="2793600" y="2043720"/>
            <a:ext cx="118080" cy="118080"/>
          </a:xfrm>
          <a:prstGeom prst="ellipse">
            <a:avLst/>
          </a:prstGeom>
          <a:solidFill>
            <a:srgbClr val="5FD6B0"/>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14" name="Shape 11"/>
          <p:cNvSpPr/>
          <p:nvPr/>
        </p:nvSpPr>
        <p:spPr>
          <a:xfrm>
            <a:off x="2720520" y="2071080"/>
            <a:ext cx="118080" cy="118080"/>
          </a:xfrm>
          <a:prstGeom prst="ellipse">
            <a:avLst/>
          </a:prstGeom>
          <a:solidFill>
            <a:srgbClr val="5FD6B0"/>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15" name="Text 12"/>
          <p:cNvSpPr/>
          <p:nvPr/>
        </p:nvSpPr>
        <p:spPr>
          <a:xfrm>
            <a:off x="1188720" y="3063240"/>
            <a:ext cx="3291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2D2A4A"/>
                </a:solidFill>
                <a:effectLst/>
                <a:uFillTx/>
                <a:latin typeface="Century Gothic"/>
                <a:ea typeface="Century Gothic"/>
              </a:rPr>
              <a:t>Reliable AND Valid</a:t>
            </a:r>
            <a:endParaRPr lang="en-US" sz="1250" b="0" u="none" strike="noStrike">
              <a:solidFill>
                <a:srgbClr val="000000"/>
              </a:solidFill>
              <a:effectLst/>
              <a:uFillTx/>
              <a:latin typeface="Arial"/>
            </a:endParaRPr>
          </a:p>
        </p:txBody>
      </p:sp>
      <p:sp>
        <p:nvSpPr>
          <p:cNvPr id="316" name="Text 13"/>
          <p:cNvSpPr/>
          <p:nvPr/>
        </p:nvSpPr>
        <p:spPr>
          <a:xfrm>
            <a:off x="1188720" y="3383280"/>
            <a:ext cx="3291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685F8F"/>
                </a:solidFill>
                <a:effectLst/>
                <a:uFillTx/>
                <a:latin typeface="Calibri"/>
                <a:ea typeface="Calibri"/>
              </a:rPr>
              <a:t>Tightly clustered, right on target</a:t>
            </a:r>
            <a:endParaRPr lang="en-US" sz="1000" b="0" u="none" strike="noStrike">
              <a:solidFill>
                <a:srgbClr val="000000"/>
              </a:solidFill>
              <a:effectLst/>
              <a:uFillTx/>
              <a:latin typeface="Arial"/>
            </a:endParaRPr>
          </a:p>
        </p:txBody>
      </p:sp>
      <p:sp>
        <p:nvSpPr>
          <p:cNvPr id="317" name="Shape 14"/>
          <p:cNvSpPr/>
          <p:nvPr/>
        </p:nvSpPr>
        <p:spPr>
          <a:xfrm>
            <a:off x="7360920" y="1371600"/>
            <a:ext cx="1553760" cy="1553760"/>
          </a:xfrm>
          <a:prstGeom prst="ellipse">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8" name="Shape 15"/>
          <p:cNvSpPr/>
          <p:nvPr/>
        </p:nvSpPr>
        <p:spPr>
          <a:xfrm>
            <a:off x="7578720" y="1589400"/>
            <a:ext cx="1118520" cy="1118520"/>
          </a:xfrm>
          <a:prstGeom prst="ellipse">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9" name="Shape 16"/>
          <p:cNvSpPr/>
          <p:nvPr/>
        </p:nvSpPr>
        <p:spPr>
          <a:xfrm>
            <a:off x="7796160" y="1806840"/>
            <a:ext cx="683280" cy="683280"/>
          </a:xfrm>
          <a:prstGeom prst="ellipse">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0" name="Shape 17"/>
          <p:cNvSpPr/>
          <p:nvPr/>
        </p:nvSpPr>
        <p:spPr>
          <a:xfrm>
            <a:off x="7998120" y="2008800"/>
            <a:ext cx="279000" cy="279000"/>
          </a:xfrm>
          <a:prstGeom prst="ellipse">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1" name="Shape 18"/>
          <p:cNvSpPr/>
          <p:nvPr/>
        </p:nvSpPr>
        <p:spPr>
          <a:xfrm>
            <a:off x="8581680" y="2546640"/>
            <a:ext cx="118080" cy="118080"/>
          </a:xfrm>
          <a:prstGeom prst="ellipse">
            <a:avLst/>
          </a:prstGeom>
          <a:solidFill>
            <a:srgbClr val="FFC94A"/>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22" name="Shape 19"/>
          <p:cNvSpPr/>
          <p:nvPr/>
        </p:nvSpPr>
        <p:spPr>
          <a:xfrm>
            <a:off x="8627400" y="2601360"/>
            <a:ext cx="118080" cy="118080"/>
          </a:xfrm>
          <a:prstGeom prst="ellipse">
            <a:avLst/>
          </a:prstGeom>
          <a:solidFill>
            <a:srgbClr val="FFC94A"/>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23" name="Shape 20"/>
          <p:cNvSpPr/>
          <p:nvPr/>
        </p:nvSpPr>
        <p:spPr>
          <a:xfrm>
            <a:off x="8544960" y="2574000"/>
            <a:ext cx="118080" cy="118080"/>
          </a:xfrm>
          <a:prstGeom prst="ellipse">
            <a:avLst/>
          </a:prstGeom>
          <a:solidFill>
            <a:srgbClr val="FFC94A"/>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24" name="Shape 21"/>
          <p:cNvSpPr/>
          <p:nvPr/>
        </p:nvSpPr>
        <p:spPr>
          <a:xfrm>
            <a:off x="8609040" y="2491920"/>
            <a:ext cx="118080" cy="118080"/>
          </a:xfrm>
          <a:prstGeom prst="ellipse">
            <a:avLst/>
          </a:prstGeom>
          <a:solidFill>
            <a:srgbClr val="FFC94A"/>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25" name="Shape 22"/>
          <p:cNvSpPr/>
          <p:nvPr/>
        </p:nvSpPr>
        <p:spPr>
          <a:xfrm>
            <a:off x="8554320" y="2638080"/>
            <a:ext cx="118080" cy="118080"/>
          </a:xfrm>
          <a:prstGeom prst="ellipse">
            <a:avLst/>
          </a:prstGeom>
          <a:solidFill>
            <a:srgbClr val="FFC94A"/>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26" name="Text 23"/>
          <p:cNvSpPr/>
          <p:nvPr/>
        </p:nvSpPr>
        <p:spPr>
          <a:xfrm>
            <a:off x="6492240" y="3063240"/>
            <a:ext cx="3291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2D2A4A"/>
                </a:solidFill>
                <a:effectLst/>
                <a:uFillTx/>
                <a:latin typeface="Century Gothic"/>
                <a:ea typeface="Century Gothic"/>
              </a:rPr>
              <a:t>Reliable, but NOT Valid</a:t>
            </a:r>
            <a:endParaRPr lang="en-US" sz="1250" b="0" u="none" strike="noStrike">
              <a:solidFill>
                <a:srgbClr val="000000"/>
              </a:solidFill>
              <a:effectLst/>
              <a:uFillTx/>
              <a:latin typeface="Arial"/>
            </a:endParaRPr>
          </a:p>
        </p:txBody>
      </p:sp>
      <p:sp>
        <p:nvSpPr>
          <p:cNvPr id="327" name="Text 24"/>
          <p:cNvSpPr/>
          <p:nvPr/>
        </p:nvSpPr>
        <p:spPr>
          <a:xfrm>
            <a:off x="6492240" y="3383280"/>
            <a:ext cx="3291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685F8F"/>
                </a:solidFill>
                <a:effectLst/>
                <a:uFillTx/>
                <a:latin typeface="Calibri"/>
                <a:ea typeface="Calibri"/>
              </a:rPr>
              <a:t>Tightly clustered — consistently off-target</a:t>
            </a:r>
            <a:endParaRPr lang="en-US" sz="1000" b="0" u="none" strike="noStrike">
              <a:solidFill>
                <a:srgbClr val="000000"/>
              </a:solidFill>
              <a:effectLst/>
              <a:uFillTx/>
              <a:latin typeface="Arial"/>
            </a:endParaRPr>
          </a:p>
        </p:txBody>
      </p:sp>
      <p:sp>
        <p:nvSpPr>
          <p:cNvPr id="328" name="Shape 25"/>
          <p:cNvSpPr/>
          <p:nvPr/>
        </p:nvSpPr>
        <p:spPr>
          <a:xfrm>
            <a:off x="2057400" y="3794760"/>
            <a:ext cx="1553760" cy="1553760"/>
          </a:xfrm>
          <a:prstGeom prst="ellipse">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9" name="Shape 26"/>
          <p:cNvSpPr/>
          <p:nvPr/>
        </p:nvSpPr>
        <p:spPr>
          <a:xfrm>
            <a:off x="2275200" y="4012560"/>
            <a:ext cx="1118520" cy="1118520"/>
          </a:xfrm>
          <a:prstGeom prst="ellipse">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0" name="Shape 27"/>
          <p:cNvSpPr/>
          <p:nvPr/>
        </p:nvSpPr>
        <p:spPr>
          <a:xfrm>
            <a:off x="2492640" y="4230000"/>
            <a:ext cx="683280" cy="683280"/>
          </a:xfrm>
          <a:prstGeom prst="ellipse">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1" name="Shape 28"/>
          <p:cNvSpPr/>
          <p:nvPr/>
        </p:nvSpPr>
        <p:spPr>
          <a:xfrm>
            <a:off x="2694600" y="4431960"/>
            <a:ext cx="279000" cy="279000"/>
          </a:xfrm>
          <a:prstGeom prst="ellipse">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2" name="Shape 29"/>
          <p:cNvSpPr/>
          <p:nvPr/>
        </p:nvSpPr>
        <p:spPr>
          <a:xfrm>
            <a:off x="3232440" y="4649760"/>
            <a:ext cx="118080" cy="118080"/>
          </a:xfrm>
          <a:prstGeom prst="ellipse">
            <a:avLst/>
          </a:prstGeom>
          <a:solidFill>
            <a:srgbClr val="FF8FB3"/>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33" name="Shape 30"/>
          <p:cNvSpPr/>
          <p:nvPr/>
        </p:nvSpPr>
        <p:spPr>
          <a:xfrm>
            <a:off x="2363760" y="4786920"/>
            <a:ext cx="118080" cy="118080"/>
          </a:xfrm>
          <a:prstGeom prst="ellipse">
            <a:avLst/>
          </a:prstGeom>
          <a:solidFill>
            <a:srgbClr val="FF8FB3"/>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34" name="Shape 31"/>
          <p:cNvSpPr/>
          <p:nvPr/>
        </p:nvSpPr>
        <p:spPr>
          <a:xfrm>
            <a:off x="2866680" y="4009680"/>
            <a:ext cx="118080" cy="118080"/>
          </a:xfrm>
          <a:prstGeom prst="ellipse">
            <a:avLst/>
          </a:prstGeom>
          <a:solidFill>
            <a:srgbClr val="FF8FB3"/>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35" name="Shape 32"/>
          <p:cNvSpPr/>
          <p:nvPr/>
        </p:nvSpPr>
        <p:spPr>
          <a:xfrm>
            <a:off x="2500920" y="4146840"/>
            <a:ext cx="118080" cy="118080"/>
          </a:xfrm>
          <a:prstGeom prst="ellipse">
            <a:avLst/>
          </a:prstGeom>
          <a:solidFill>
            <a:srgbClr val="FF8FB3"/>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36" name="Shape 33"/>
          <p:cNvSpPr/>
          <p:nvPr/>
        </p:nvSpPr>
        <p:spPr>
          <a:xfrm>
            <a:off x="3141000" y="4329720"/>
            <a:ext cx="118080" cy="118080"/>
          </a:xfrm>
          <a:prstGeom prst="ellipse">
            <a:avLst/>
          </a:prstGeom>
          <a:solidFill>
            <a:srgbClr val="FF8FB3"/>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000000"/>
              </a:solidFill>
              <a:effectLst/>
              <a:uFillTx/>
              <a:latin typeface="Arial"/>
            </a:endParaRPr>
          </a:p>
        </p:txBody>
      </p:sp>
      <p:sp>
        <p:nvSpPr>
          <p:cNvPr id="337" name="Text 34"/>
          <p:cNvSpPr/>
          <p:nvPr/>
        </p:nvSpPr>
        <p:spPr>
          <a:xfrm>
            <a:off x="1188720" y="5486400"/>
            <a:ext cx="3291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2D2A4A"/>
                </a:solidFill>
                <a:effectLst/>
                <a:uFillTx/>
                <a:latin typeface="Century Gothic"/>
                <a:ea typeface="Century Gothic"/>
              </a:rPr>
              <a:t>NOT Reliable, but Valid "on average"</a:t>
            </a:r>
            <a:endParaRPr lang="en-US" sz="1250" b="0" u="none" strike="noStrike">
              <a:solidFill>
                <a:srgbClr val="000000"/>
              </a:solidFill>
              <a:effectLst/>
              <a:uFillTx/>
              <a:latin typeface="Arial"/>
            </a:endParaRPr>
          </a:p>
        </p:txBody>
      </p:sp>
      <p:sp>
        <p:nvSpPr>
          <p:cNvPr id="338" name="Text 35"/>
          <p:cNvSpPr/>
          <p:nvPr/>
        </p:nvSpPr>
        <p:spPr>
          <a:xfrm>
            <a:off x="1188720" y="5806440"/>
            <a:ext cx="3291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685F8F"/>
                </a:solidFill>
                <a:effectLst/>
                <a:uFillTx/>
                <a:latin typeface="Calibri"/>
                <a:ea typeface="Calibri"/>
              </a:rPr>
              <a:t>Scattered widely, but centered on target</a:t>
            </a:r>
            <a:endParaRPr lang="en-US" sz="1000" b="0" u="none" strike="noStrike">
              <a:solidFill>
                <a:srgbClr val="000000"/>
              </a:solidFill>
              <a:effectLst/>
              <a:uFillTx/>
              <a:latin typeface="Arial"/>
            </a:endParaRPr>
          </a:p>
        </p:txBody>
      </p:sp>
      <p:sp>
        <p:nvSpPr>
          <p:cNvPr id="339" name="Shape 36"/>
          <p:cNvSpPr/>
          <p:nvPr/>
        </p:nvSpPr>
        <p:spPr>
          <a:xfrm>
            <a:off x="7360920" y="3794760"/>
            <a:ext cx="1553760" cy="1553760"/>
          </a:xfrm>
          <a:prstGeom prst="ellipse">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0" name="Shape 37"/>
          <p:cNvSpPr/>
          <p:nvPr/>
        </p:nvSpPr>
        <p:spPr>
          <a:xfrm>
            <a:off x="7578720" y="4012560"/>
            <a:ext cx="1118520" cy="1118520"/>
          </a:xfrm>
          <a:prstGeom prst="ellipse">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1" name="Shape 38"/>
          <p:cNvSpPr/>
          <p:nvPr/>
        </p:nvSpPr>
        <p:spPr>
          <a:xfrm>
            <a:off x="7796160" y="4230000"/>
            <a:ext cx="683280" cy="683280"/>
          </a:xfrm>
          <a:prstGeom prst="ellipse">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2" name="Shape 39"/>
          <p:cNvSpPr/>
          <p:nvPr/>
        </p:nvSpPr>
        <p:spPr>
          <a:xfrm>
            <a:off x="7998120" y="4431960"/>
            <a:ext cx="279000" cy="279000"/>
          </a:xfrm>
          <a:prstGeom prst="ellipse">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3" name="Shape 40"/>
          <p:cNvSpPr/>
          <p:nvPr/>
        </p:nvSpPr>
        <p:spPr>
          <a:xfrm>
            <a:off x="8627400" y="4969800"/>
            <a:ext cx="118080" cy="118080"/>
          </a:xfrm>
          <a:prstGeom prst="ellipse">
            <a:avLst/>
          </a:prstGeom>
          <a:solidFill>
            <a:srgbClr val="6B5FD1"/>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FFFFFF"/>
              </a:solidFill>
              <a:effectLst/>
              <a:uFillTx/>
              <a:latin typeface="Arial"/>
            </a:endParaRPr>
          </a:p>
        </p:txBody>
      </p:sp>
      <p:sp>
        <p:nvSpPr>
          <p:cNvPr id="344" name="Shape 41"/>
          <p:cNvSpPr/>
          <p:nvPr/>
        </p:nvSpPr>
        <p:spPr>
          <a:xfrm>
            <a:off x="7575840" y="5061240"/>
            <a:ext cx="118080" cy="118080"/>
          </a:xfrm>
          <a:prstGeom prst="ellipse">
            <a:avLst/>
          </a:prstGeom>
          <a:solidFill>
            <a:srgbClr val="6B5FD1"/>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FFFFFF"/>
              </a:solidFill>
              <a:effectLst/>
              <a:uFillTx/>
              <a:latin typeface="Arial"/>
            </a:endParaRPr>
          </a:p>
        </p:txBody>
      </p:sp>
      <p:sp>
        <p:nvSpPr>
          <p:cNvPr id="345" name="Shape 42"/>
          <p:cNvSpPr/>
          <p:nvPr/>
        </p:nvSpPr>
        <p:spPr>
          <a:xfrm>
            <a:off x="8353080" y="3963960"/>
            <a:ext cx="118080" cy="118080"/>
          </a:xfrm>
          <a:prstGeom prst="ellipse">
            <a:avLst/>
          </a:prstGeom>
          <a:solidFill>
            <a:srgbClr val="6B5FD1"/>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FFFFFF"/>
              </a:solidFill>
              <a:effectLst/>
              <a:uFillTx/>
              <a:latin typeface="Arial"/>
            </a:endParaRPr>
          </a:p>
        </p:txBody>
      </p:sp>
      <p:sp>
        <p:nvSpPr>
          <p:cNvPr id="346" name="Shape 43"/>
          <p:cNvSpPr/>
          <p:nvPr/>
        </p:nvSpPr>
        <p:spPr>
          <a:xfrm>
            <a:off x="7530120" y="4238280"/>
            <a:ext cx="118080" cy="118080"/>
          </a:xfrm>
          <a:prstGeom prst="ellipse">
            <a:avLst/>
          </a:prstGeom>
          <a:solidFill>
            <a:srgbClr val="6B5FD1"/>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FFFFFF"/>
              </a:solidFill>
              <a:effectLst/>
              <a:uFillTx/>
              <a:latin typeface="Arial"/>
            </a:endParaRPr>
          </a:p>
        </p:txBody>
      </p:sp>
      <p:sp>
        <p:nvSpPr>
          <p:cNvPr id="347" name="Shape 44"/>
          <p:cNvSpPr/>
          <p:nvPr/>
        </p:nvSpPr>
        <p:spPr>
          <a:xfrm>
            <a:off x="8215920" y="5106960"/>
            <a:ext cx="118080" cy="118080"/>
          </a:xfrm>
          <a:prstGeom prst="ellipse">
            <a:avLst/>
          </a:prstGeom>
          <a:solidFill>
            <a:srgbClr val="6B5FD1"/>
          </a:solidFill>
          <a:ln w="9525">
            <a:solidFill>
              <a:srgbClr val="FFFFFF"/>
            </a:solidFill>
            <a:round/>
          </a:ln>
        </p:spPr>
        <p:style>
          <a:lnRef idx="0"/>
          <a:fillRef idx="0"/>
          <a:effectRef idx="0"/>
          <a:fontRef idx="minor"/>
        </p:style>
        <p:txBody>
          <a:bodyPr lIns="59040" tIns="38880" rIns="59040" bIns="38880" anchor="t">
            <a:noAutofit/>
          </a:bodyPr>
          <a:p>
            <a:endParaRPr lang="en-US" sz="1800" b="0" u="none" strike="noStrike">
              <a:solidFill>
                <a:srgbClr val="FFFFFF"/>
              </a:solidFill>
              <a:effectLst/>
              <a:uFillTx/>
              <a:latin typeface="Arial"/>
            </a:endParaRPr>
          </a:p>
        </p:txBody>
      </p:sp>
      <p:sp>
        <p:nvSpPr>
          <p:cNvPr id="348" name="Text 45"/>
          <p:cNvSpPr/>
          <p:nvPr/>
        </p:nvSpPr>
        <p:spPr>
          <a:xfrm>
            <a:off x="6492240" y="5486400"/>
            <a:ext cx="32911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1" u="none" strike="noStrike">
                <a:solidFill>
                  <a:srgbClr val="2D2A4A"/>
                </a:solidFill>
                <a:effectLst/>
                <a:uFillTx/>
                <a:latin typeface="Century Gothic"/>
                <a:ea typeface="Century Gothic"/>
              </a:rPr>
              <a:t>NOT Reliable, NOT Valid</a:t>
            </a:r>
            <a:endParaRPr lang="en-US" sz="1250" b="0" u="none" strike="noStrike">
              <a:solidFill>
                <a:srgbClr val="000000"/>
              </a:solidFill>
              <a:effectLst/>
              <a:uFillTx/>
              <a:latin typeface="Arial"/>
            </a:endParaRPr>
          </a:p>
        </p:txBody>
      </p:sp>
      <p:sp>
        <p:nvSpPr>
          <p:cNvPr id="349" name="Text 46"/>
          <p:cNvSpPr/>
          <p:nvPr/>
        </p:nvSpPr>
        <p:spPr>
          <a:xfrm>
            <a:off x="6492240" y="5806440"/>
            <a:ext cx="329112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i="1" u="none" strike="noStrike">
                <a:solidFill>
                  <a:srgbClr val="685F8F"/>
                </a:solidFill>
                <a:effectLst/>
                <a:uFillTx/>
                <a:latin typeface="Calibri"/>
                <a:ea typeface="Calibri"/>
              </a:rPr>
              <a:t>Scattered randomly, nowhere near the target</a:t>
            </a:r>
            <a:endParaRPr lang="en-US" sz="1000" b="0" u="none" strike="noStrike">
              <a:solidFill>
                <a:srgbClr val="000000"/>
              </a:solidFill>
              <a:effectLst/>
              <a:uFillTx/>
              <a:latin typeface="Arial"/>
            </a:endParaRPr>
          </a:p>
        </p:txBody>
      </p:sp>
      <p:sp>
        <p:nvSpPr>
          <p:cNvPr id="350" name="Text 47"/>
          <p:cNvSpPr/>
          <p:nvPr/>
        </p:nvSpPr>
        <p:spPr>
          <a:xfrm>
            <a:off x="731520" y="6108120"/>
            <a:ext cx="10725120" cy="319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100" b="1" u="none" strike="noStrike">
                <a:solidFill>
                  <a:srgbClr val="6B5FD1"/>
                </a:solidFill>
                <a:effectLst/>
                <a:uFillTx/>
                <a:latin typeface="Calibri"/>
                <a:ea typeface="Calibri"/>
              </a:rPr>
              <a:t>Reliability</a:t>
            </a:r>
            <a:r>
              <a:rPr lang="en-US" sz="1100" b="0" u="none" strike="noStrike">
                <a:solidFill>
                  <a:srgbClr val="2D2A4A"/>
                </a:solidFill>
                <a:effectLst/>
                <a:uFillTx/>
                <a:latin typeface="Calibri"/>
                <a:ea typeface="Calibri"/>
              </a:rPr>
              <a:t> asks: if I measure this again, do I get a consistent result? </a:t>
            </a:r>
            <a:r>
              <a:rPr lang="en-US" sz="1100" b="1" u="none" strike="noStrike">
                <a:solidFill>
                  <a:srgbClr val="6B5FD1"/>
                </a:solidFill>
                <a:effectLst/>
                <a:uFillTx/>
                <a:latin typeface="Calibri"/>
                <a:ea typeface="Calibri"/>
              </a:rPr>
              <a:t>Validity</a:t>
            </a:r>
            <a:r>
              <a:rPr lang="en-US" sz="1100" b="0" u="none" strike="noStrike">
                <a:solidFill>
                  <a:srgbClr val="2D2A4A"/>
                </a:solidFill>
                <a:effectLst/>
                <a:uFillTx/>
                <a:latin typeface="Calibri"/>
                <a:ea typeface="Calibri"/>
              </a:rPr>
              <a:t> asks: am I actually measuring the right thing? A measurement needs both to be trustworthy.</a:t>
            </a:r>
            <a:endParaRPr lang="en-US" sz="1100" b="0" u="none" strike="noStrike">
              <a:solidFill>
                <a:srgbClr val="000000"/>
              </a:solidFill>
              <a:effectLst/>
              <a:uFillTx/>
              <a:latin typeface="Arial"/>
            </a:endParaRPr>
          </a:p>
        </p:txBody>
      </p:sp>
      <p:sp>
        <p:nvSpPr>
          <p:cNvPr id="351" name="Text 48"/>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352" name="Text 4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19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35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54" name="Image 0" descr="preencoded.png"/>
          <p:cNvPicPr/>
          <p:nvPr/>
        </p:nvPicPr>
        <p:blipFill>
          <a:blip r:embed="rId1"/>
          <a:stretch/>
        </p:blipFill>
        <p:spPr>
          <a:xfrm>
            <a:off x="548640" y="548640"/>
            <a:ext cx="447480" cy="447480"/>
          </a:xfrm>
          <a:prstGeom prst="rect">
            <a:avLst/>
          </a:prstGeom>
          <a:noFill/>
          <a:ln w="0">
            <a:noFill/>
          </a:ln>
        </p:spPr>
      </p:pic>
      <p:sp>
        <p:nvSpPr>
          <p:cNvPr id="35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Collecting &amp; Measuring Data</a:t>
            </a:r>
            <a:endParaRPr lang="en-US" sz="2400" b="0" u="none" strike="noStrike">
              <a:solidFill>
                <a:srgbClr val="000000"/>
              </a:solidFill>
              <a:effectLst/>
              <a:uFillTx/>
              <a:latin typeface="Arial"/>
            </a:endParaRPr>
          </a:p>
        </p:txBody>
      </p:sp>
      <p:sp>
        <p:nvSpPr>
          <p:cNvPr id="35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57"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8"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359"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0"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361"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your own final project idea, decide whether your data would be primary or secondary, and explain why</a:t>
            </a:r>
            <a:endParaRPr lang="en-US" sz="1250" b="0" u="none" strike="noStrike">
              <a:solidFill>
                <a:srgbClr val="000000"/>
              </a:solidFill>
              <a:effectLst/>
              <a:uFillTx/>
              <a:latin typeface="Arial"/>
            </a:endParaRPr>
          </a:p>
        </p:txBody>
      </p:sp>
      <p:sp>
        <p:nvSpPr>
          <p:cNvPr id="362" name="Shape 8"/>
          <p:cNvSpPr/>
          <p:nvPr/>
        </p:nvSpPr>
        <p:spPr>
          <a:xfrm>
            <a:off x="822960" y="312732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3" name="Text 9"/>
          <p:cNvSpPr/>
          <p:nvPr/>
        </p:nvSpPr>
        <p:spPr>
          <a:xfrm>
            <a:off x="822960" y="312732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364" name="Text 10"/>
          <p:cNvSpPr/>
          <p:nvPr/>
        </p:nvSpPr>
        <p:spPr>
          <a:xfrm>
            <a:off x="1435680" y="312732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A researcher samples only students who walk past the library at noon. Name this sampling technique, and explain its main risk</a:t>
            </a:r>
            <a:endParaRPr lang="en-US" sz="1250" b="0" u="none" strike="noStrike">
              <a:solidFill>
                <a:srgbClr val="000000"/>
              </a:solidFill>
              <a:effectLst/>
              <a:uFillTx/>
              <a:latin typeface="Arial"/>
            </a:endParaRPr>
          </a:p>
        </p:txBody>
      </p:sp>
      <p:sp>
        <p:nvSpPr>
          <p:cNvPr id="365" name="Shape 11"/>
          <p:cNvSpPr/>
          <p:nvPr/>
        </p:nvSpPr>
        <p:spPr>
          <a:xfrm>
            <a:off x="822960" y="38314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6" name="Text 12"/>
          <p:cNvSpPr/>
          <p:nvPr/>
        </p:nvSpPr>
        <p:spPr>
          <a:xfrm>
            <a:off x="822960" y="38314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367" name="Text 13"/>
          <p:cNvSpPr/>
          <p:nvPr/>
        </p:nvSpPr>
        <p:spPr>
          <a:xfrm>
            <a:off x="1435680" y="38314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A study on a rare medical condition asks each participant to refer other people with the same condition. Name this technique, and explain when it’s genuinely the right choice despite being non-random</a:t>
            </a:r>
            <a:endParaRPr lang="en-US" sz="1250" b="0" u="none" strike="noStrike">
              <a:solidFill>
                <a:srgbClr val="000000"/>
              </a:solidFill>
              <a:effectLst/>
              <a:uFillTx/>
              <a:latin typeface="Arial"/>
            </a:endParaRPr>
          </a:p>
        </p:txBody>
      </p:sp>
      <p:sp>
        <p:nvSpPr>
          <p:cNvPr id="368" name="Shape 14"/>
          <p:cNvSpPr/>
          <p:nvPr/>
        </p:nvSpPr>
        <p:spPr>
          <a:xfrm>
            <a:off x="822960" y="45352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9" name="Text 15"/>
          <p:cNvSpPr/>
          <p:nvPr/>
        </p:nvSpPr>
        <p:spPr>
          <a:xfrm>
            <a:off x="822960" y="45352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370" name="Text 16"/>
          <p:cNvSpPr/>
          <p:nvPr/>
        </p:nvSpPr>
        <p:spPr>
          <a:xfrm>
            <a:off x="1435680" y="45352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Propose one reasonable way to operationalize "student engagement" using a measurable proxy</a:t>
            </a:r>
            <a:endParaRPr lang="en-US" sz="1250" b="0" u="none" strike="noStrike">
              <a:solidFill>
                <a:srgbClr val="000000"/>
              </a:solidFill>
              <a:effectLst/>
              <a:uFillTx/>
              <a:latin typeface="Arial"/>
            </a:endParaRPr>
          </a:p>
        </p:txBody>
      </p:sp>
      <p:sp>
        <p:nvSpPr>
          <p:cNvPr id="371" name="Shape 17"/>
          <p:cNvSpPr/>
          <p:nvPr/>
        </p:nvSpPr>
        <p:spPr>
          <a:xfrm>
            <a:off x="822960" y="52394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2" name="Text 18"/>
          <p:cNvSpPr/>
          <p:nvPr/>
        </p:nvSpPr>
        <p:spPr>
          <a:xfrm>
            <a:off x="822960" y="52394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5</a:t>
            </a:r>
            <a:endParaRPr lang="en-US" sz="1300" b="0" u="none" strike="noStrike">
              <a:solidFill>
                <a:srgbClr val="000000"/>
              </a:solidFill>
              <a:effectLst/>
              <a:uFillTx/>
              <a:latin typeface="Arial"/>
            </a:endParaRPr>
          </a:p>
        </p:txBody>
      </p:sp>
      <p:sp>
        <p:nvSpPr>
          <p:cNvPr id="373" name="Text 19"/>
          <p:cNvSpPr/>
          <p:nvPr/>
        </p:nvSpPr>
        <p:spPr>
          <a:xfrm>
            <a:off x="1435680" y="52394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A weight scale gives a different reading every time you step on it, seconds apart, with nothing else changing. Is this a reliability problem or a validity problem? Explain</a:t>
            </a:r>
            <a:endParaRPr lang="en-US" sz="1250" b="0" u="none" strike="noStrike">
              <a:solidFill>
                <a:srgbClr val="000000"/>
              </a:solidFill>
              <a:effectLst/>
              <a:uFillTx/>
              <a:latin typeface="Arial"/>
            </a:endParaRPr>
          </a:p>
        </p:txBody>
      </p:sp>
      <p:sp>
        <p:nvSpPr>
          <p:cNvPr id="374" name="Text 20"/>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375" name="Text 21"/>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376"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377"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378"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379"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380"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81"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2" name="Image 0" descr="preencoded.png"/>
          <p:cNvPicPr/>
          <p:nvPr/>
        </p:nvPicPr>
        <p:blipFill>
          <a:blip r:embed="rId1"/>
          <a:stretch/>
        </p:blipFill>
        <p:spPr>
          <a:xfrm>
            <a:off x="5870520" y="1348920"/>
            <a:ext cx="456480" cy="456480"/>
          </a:xfrm>
          <a:prstGeom prst="rect">
            <a:avLst/>
          </a:prstGeom>
          <a:noFill/>
          <a:ln w="0">
            <a:noFill/>
          </a:ln>
        </p:spPr>
      </p:pic>
      <p:sp>
        <p:nvSpPr>
          <p:cNvPr id="383"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3</a:t>
            </a:r>
            <a:endParaRPr lang="en-US" sz="1200" b="0" u="none" strike="noStrike">
              <a:solidFill>
                <a:srgbClr val="000000"/>
              </a:solidFill>
              <a:effectLst/>
              <a:uFillTx/>
              <a:latin typeface="Arial"/>
            </a:endParaRPr>
          </a:p>
        </p:txBody>
      </p:sp>
      <p:sp>
        <p:nvSpPr>
          <p:cNvPr id="384"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Types of Data &amp; Measurement Scales</a:t>
            </a:r>
            <a:endParaRPr lang="en-US" sz="2900" b="0" u="none" strike="noStrike">
              <a:solidFill>
                <a:srgbClr val="000000"/>
              </a:solidFill>
              <a:effectLst/>
              <a:uFillTx/>
              <a:latin typeface="Arial"/>
            </a:endParaRPr>
          </a:p>
        </p:txBody>
      </p:sp>
      <p:sp>
        <p:nvSpPr>
          <p:cNvPr id="385"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Not all data can be treated the same way — this determines which statistics and which charts are even valid to use</a:t>
            </a:r>
            <a:endParaRPr lang="en-US" sz="1500" b="0" u="none" strike="noStrike">
              <a:solidFill>
                <a:srgbClr val="000000"/>
              </a:solidFill>
              <a:effectLst/>
              <a:uFillTx/>
              <a:latin typeface="Arial"/>
            </a:endParaRPr>
          </a:p>
        </p:txBody>
      </p:sp>
      <p:sp>
        <p:nvSpPr>
          <p:cNvPr id="386"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387"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8" name="Image 0" descr="preencoded.png"/>
          <p:cNvPicPr/>
          <p:nvPr/>
        </p:nvPicPr>
        <p:blipFill>
          <a:blip r:embed="rId1"/>
          <a:stretch/>
        </p:blipFill>
        <p:spPr>
          <a:xfrm>
            <a:off x="548640" y="548640"/>
            <a:ext cx="447480" cy="447480"/>
          </a:xfrm>
          <a:prstGeom prst="rect">
            <a:avLst/>
          </a:prstGeom>
          <a:noFill/>
          <a:ln w="0">
            <a:noFill/>
          </a:ln>
        </p:spPr>
      </p:pic>
      <p:sp>
        <p:nvSpPr>
          <p:cNvPr id="389"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Categorical vs. Numerical Data</a:t>
            </a:r>
            <a:endParaRPr lang="en-US" sz="2400" b="0" u="none" strike="noStrike">
              <a:solidFill>
                <a:srgbClr val="000000"/>
              </a:solidFill>
              <a:effectLst/>
              <a:uFillTx/>
              <a:latin typeface="Arial"/>
            </a:endParaRPr>
          </a:p>
        </p:txBody>
      </p:sp>
      <p:sp>
        <p:nvSpPr>
          <p:cNvPr id="390"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91"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2"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93" name="Image 1" descr="preencoded.png"/>
          <p:cNvPicPr/>
          <p:nvPr/>
        </p:nvPicPr>
        <p:blipFill>
          <a:blip r:embed="rId2"/>
          <a:stretch/>
        </p:blipFill>
        <p:spPr>
          <a:xfrm>
            <a:off x="804600" y="1938600"/>
            <a:ext cx="319320" cy="319320"/>
          </a:xfrm>
          <a:prstGeom prst="rect">
            <a:avLst/>
          </a:prstGeom>
          <a:noFill/>
          <a:ln w="0">
            <a:noFill/>
          </a:ln>
        </p:spPr>
      </p:pic>
      <p:sp>
        <p:nvSpPr>
          <p:cNvPr id="394"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Categorical Data</a:t>
            </a:r>
            <a:endParaRPr lang="en-US" sz="1700" b="0" u="none" strike="noStrike">
              <a:solidFill>
                <a:srgbClr val="000000"/>
              </a:solidFill>
              <a:effectLst/>
              <a:uFillTx/>
              <a:latin typeface="Arial"/>
            </a:endParaRPr>
          </a:p>
        </p:txBody>
      </p:sp>
      <p:sp>
        <p:nvSpPr>
          <p:cNvPr id="395"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Describes a quality or category — groups, labels, names</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Nominal: no natural order (blood type, country, color)</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Ordinal: a natural order exists, but distances aren’t meaningful (satisfaction rating, education level)</a:t>
            </a:r>
            <a:endParaRPr lang="en-US" sz="1350" b="0" u="none" strike="noStrike">
              <a:solidFill>
                <a:srgbClr val="000000"/>
              </a:solidFill>
              <a:effectLst/>
              <a:uFillTx/>
              <a:latin typeface="Arial"/>
            </a:endParaRPr>
          </a:p>
        </p:txBody>
      </p:sp>
      <p:sp>
        <p:nvSpPr>
          <p:cNvPr id="396"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97"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398" name="Image 2" descr="preencoded.png"/>
          <p:cNvPicPr/>
          <p:nvPr/>
        </p:nvPicPr>
        <p:blipFill>
          <a:blip r:embed="rId3"/>
          <a:stretch/>
        </p:blipFill>
        <p:spPr>
          <a:xfrm>
            <a:off x="6519600" y="1938600"/>
            <a:ext cx="319320" cy="319320"/>
          </a:xfrm>
          <a:prstGeom prst="rect">
            <a:avLst/>
          </a:prstGeom>
          <a:noFill/>
          <a:ln w="0">
            <a:noFill/>
          </a:ln>
        </p:spPr>
      </p:pic>
      <p:sp>
        <p:nvSpPr>
          <p:cNvPr id="399"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Numerical Data</a:t>
            </a:r>
            <a:endParaRPr lang="en-US" sz="1700" b="0" u="none" strike="noStrike">
              <a:solidFill>
                <a:srgbClr val="000000"/>
              </a:solidFill>
              <a:effectLst/>
              <a:uFillTx/>
              <a:latin typeface="Arial"/>
            </a:endParaRPr>
          </a:p>
        </p:txBody>
      </p:sp>
      <p:sp>
        <p:nvSpPr>
          <p:cNvPr id="400"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Describes a measurable quantity — counts or measurements</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Discrete: countable, whole values only (number of children, number of orders)</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Continuous: can take any value in a range (height, temperature, time)</a:t>
            </a:r>
            <a:endParaRPr lang="en-US" sz="1350" b="0" u="none" strike="noStrike">
              <a:solidFill>
                <a:srgbClr val="000000"/>
              </a:solidFill>
              <a:effectLst/>
              <a:uFillTx/>
              <a:latin typeface="Arial"/>
            </a:endParaRPr>
          </a:p>
        </p:txBody>
      </p:sp>
      <p:sp>
        <p:nvSpPr>
          <p:cNvPr id="401"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02"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0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04" name="Image 0" descr="preencoded.png"/>
          <p:cNvPicPr/>
          <p:nvPr/>
        </p:nvPicPr>
        <p:blipFill>
          <a:blip r:embed="rId1"/>
          <a:stretch/>
        </p:blipFill>
        <p:spPr>
          <a:xfrm>
            <a:off x="548640" y="548640"/>
            <a:ext cx="447480" cy="447480"/>
          </a:xfrm>
          <a:prstGeom prst="rect">
            <a:avLst/>
          </a:prstGeom>
          <a:noFill/>
          <a:ln w="0">
            <a:noFill/>
          </a:ln>
        </p:spPr>
      </p:pic>
      <p:sp>
        <p:nvSpPr>
          <p:cNvPr id="40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The Four Measurement Scales, at a Glance</a:t>
            </a:r>
            <a:endParaRPr lang="en-US" sz="2400" b="0" u="none" strike="noStrike">
              <a:solidFill>
                <a:srgbClr val="000000"/>
              </a:solidFill>
              <a:effectLst/>
              <a:uFillTx/>
              <a:latin typeface="Arial"/>
            </a:endParaRPr>
          </a:p>
        </p:txBody>
      </p:sp>
      <p:sp>
        <p:nvSpPr>
          <p:cNvPr id="40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07" name="Shape 3"/>
          <p:cNvSpPr/>
          <p:nvPr/>
        </p:nvSpPr>
        <p:spPr>
          <a:xfrm>
            <a:off x="45720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8" name="Shape 4"/>
          <p:cNvSpPr/>
          <p:nvPr/>
        </p:nvSpPr>
        <p:spPr>
          <a:xfrm>
            <a:off x="150984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09" name="Image 1" descr="preencoded.png"/>
          <p:cNvPicPr/>
          <p:nvPr/>
        </p:nvPicPr>
        <p:blipFill>
          <a:blip r:embed="rId2"/>
          <a:stretch/>
        </p:blipFill>
        <p:spPr>
          <a:xfrm>
            <a:off x="1592280" y="2176200"/>
            <a:ext cx="383400" cy="383400"/>
          </a:xfrm>
          <a:prstGeom prst="rect">
            <a:avLst/>
          </a:prstGeom>
          <a:noFill/>
          <a:ln w="0">
            <a:noFill/>
          </a:ln>
        </p:spPr>
      </p:pic>
      <p:sp>
        <p:nvSpPr>
          <p:cNvPr id="410" name="Text 5"/>
          <p:cNvSpPr/>
          <p:nvPr/>
        </p:nvSpPr>
        <p:spPr>
          <a:xfrm>
            <a:off x="54864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Nominal</a:t>
            </a:r>
            <a:endParaRPr lang="en-US" sz="1300" b="0" u="none" strike="noStrike">
              <a:solidFill>
                <a:srgbClr val="000000"/>
              </a:solidFill>
              <a:effectLst/>
              <a:uFillTx/>
              <a:latin typeface="Arial"/>
            </a:endParaRPr>
          </a:p>
        </p:txBody>
      </p:sp>
      <p:sp>
        <p:nvSpPr>
          <p:cNvPr id="411" name="Text 6"/>
          <p:cNvSpPr/>
          <p:nvPr/>
        </p:nvSpPr>
        <p:spPr>
          <a:xfrm>
            <a:off x="60336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Labels only — no order, no distance. Example: eye color, country of birth</a:t>
            </a:r>
            <a:endParaRPr lang="en-US" sz="1100" b="0" u="none" strike="noStrike">
              <a:solidFill>
                <a:srgbClr val="000000"/>
              </a:solidFill>
              <a:effectLst/>
              <a:uFillTx/>
              <a:latin typeface="Arial"/>
            </a:endParaRPr>
          </a:p>
        </p:txBody>
      </p:sp>
      <p:sp>
        <p:nvSpPr>
          <p:cNvPr id="412" name="Shape 7"/>
          <p:cNvSpPr/>
          <p:nvPr/>
        </p:nvSpPr>
        <p:spPr>
          <a:xfrm>
            <a:off x="3330720" y="1508760"/>
            <a:ext cx="2653200" cy="4891320"/>
          </a:xfrm>
          <a:prstGeom prst="roundRect">
            <a:avLst>
              <a:gd name="adj" fmla="val 5512"/>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3" name="Shape 8"/>
          <p:cNvSpPr/>
          <p:nvPr/>
        </p:nvSpPr>
        <p:spPr>
          <a:xfrm>
            <a:off x="438336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14" name="Image 2" descr="preencoded.png"/>
          <p:cNvPicPr/>
          <p:nvPr/>
        </p:nvPicPr>
        <p:blipFill>
          <a:blip r:embed="rId3"/>
          <a:stretch/>
        </p:blipFill>
        <p:spPr>
          <a:xfrm>
            <a:off x="4465800" y="2176200"/>
            <a:ext cx="383400" cy="383400"/>
          </a:xfrm>
          <a:prstGeom prst="rect">
            <a:avLst/>
          </a:prstGeom>
          <a:noFill/>
          <a:ln w="0">
            <a:noFill/>
          </a:ln>
        </p:spPr>
      </p:pic>
      <p:sp>
        <p:nvSpPr>
          <p:cNvPr id="415" name="Text 9"/>
          <p:cNvSpPr/>
          <p:nvPr/>
        </p:nvSpPr>
        <p:spPr>
          <a:xfrm>
            <a:off x="342216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Ordinal</a:t>
            </a:r>
            <a:endParaRPr lang="en-US" sz="1300" b="0" u="none" strike="noStrike">
              <a:solidFill>
                <a:srgbClr val="000000"/>
              </a:solidFill>
              <a:effectLst/>
              <a:uFillTx/>
              <a:latin typeface="Arial"/>
            </a:endParaRPr>
          </a:p>
        </p:txBody>
      </p:sp>
      <p:sp>
        <p:nvSpPr>
          <p:cNvPr id="416" name="Text 10"/>
          <p:cNvSpPr/>
          <p:nvPr/>
        </p:nvSpPr>
        <p:spPr>
          <a:xfrm>
            <a:off x="347688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Has order, but the gaps between values aren’t equal. Example: movie star ratings</a:t>
            </a:r>
            <a:endParaRPr lang="en-US" sz="1100" b="0" u="none" strike="noStrike">
              <a:solidFill>
                <a:srgbClr val="000000"/>
              </a:solidFill>
              <a:effectLst/>
              <a:uFillTx/>
              <a:latin typeface="Arial"/>
            </a:endParaRPr>
          </a:p>
        </p:txBody>
      </p:sp>
      <p:sp>
        <p:nvSpPr>
          <p:cNvPr id="417" name="Shape 11"/>
          <p:cNvSpPr/>
          <p:nvPr/>
        </p:nvSpPr>
        <p:spPr>
          <a:xfrm>
            <a:off x="6204240" y="1508760"/>
            <a:ext cx="2653200" cy="4891320"/>
          </a:xfrm>
          <a:prstGeom prst="roundRect">
            <a:avLst>
              <a:gd name="adj" fmla="val 5512"/>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18" name="Shape 12"/>
          <p:cNvSpPr/>
          <p:nvPr/>
        </p:nvSpPr>
        <p:spPr>
          <a:xfrm>
            <a:off x="725688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19" name="Image 3" descr="preencoded.png"/>
          <p:cNvPicPr/>
          <p:nvPr/>
        </p:nvPicPr>
        <p:blipFill>
          <a:blip r:embed="rId4"/>
          <a:stretch/>
        </p:blipFill>
        <p:spPr>
          <a:xfrm>
            <a:off x="7339320" y="2176200"/>
            <a:ext cx="383400" cy="383400"/>
          </a:xfrm>
          <a:prstGeom prst="rect">
            <a:avLst/>
          </a:prstGeom>
          <a:noFill/>
          <a:ln w="0">
            <a:noFill/>
          </a:ln>
        </p:spPr>
      </p:pic>
      <p:sp>
        <p:nvSpPr>
          <p:cNvPr id="420" name="Text 13"/>
          <p:cNvSpPr/>
          <p:nvPr/>
        </p:nvSpPr>
        <p:spPr>
          <a:xfrm>
            <a:off x="629568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Interval</a:t>
            </a:r>
            <a:endParaRPr lang="en-US" sz="1300" b="0" u="none" strike="noStrike">
              <a:solidFill>
                <a:srgbClr val="000000"/>
              </a:solidFill>
              <a:effectLst/>
              <a:uFillTx/>
              <a:latin typeface="Arial"/>
            </a:endParaRPr>
          </a:p>
        </p:txBody>
      </p:sp>
      <p:sp>
        <p:nvSpPr>
          <p:cNvPr id="421" name="Text 14"/>
          <p:cNvSpPr/>
          <p:nvPr/>
        </p:nvSpPr>
        <p:spPr>
          <a:xfrm>
            <a:off x="635040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Equal gaps between values, but no true zero. Example: temperature in °C</a:t>
            </a:r>
            <a:endParaRPr lang="en-US" sz="1100" b="0" u="none" strike="noStrike">
              <a:solidFill>
                <a:srgbClr val="000000"/>
              </a:solidFill>
              <a:effectLst/>
              <a:uFillTx/>
              <a:latin typeface="Arial"/>
            </a:endParaRPr>
          </a:p>
        </p:txBody>
      </p:sp>
      <p:sp>
        <p:nvSpPr>
          <p:cNvPr id="422" name="Shape 15"/>
          <p:cNvSpPr/>
          <p:nvPr/>
        </p:nvSpPr>
        <p:spPr>
          <a:xfrm>
            <a:off x="907776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23" name="Shape 16"/>
          <p:cNvSpPr/>
          <p:nvPr/>
        </p:nvSpPr>
        <p:spPr>
          <a:xfrm>
            <a:off x="10130400" y="2094120"/>
            <a:ext cx="547920" cy="54792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24" name="Image 4" descr="preencoded.png"/>
          <p:cNvPicPr/>
          <p:nvPr/>
        </p:nvPicPr>
        <p:blipFill>
          <a:blip r:embed="rId5"/>
          <a:stretch/>
        </p:blipFill>
        <p:spPr>
          <a:xfrm>
            <a:off x="10212840" y="2176200"/>
            <a:ext cx="383400" cy="383400"/>
          </a:xfrm>
          <a:prstGeom prst="rect">
            <a:avLst/>
          </a:prstGeom>
          <a:noFill/>
          <a:ln w="0">
            <a:noFill/>
          </a:ln>
        </p:spPr>
      </p:pic>
      <p:sp>
        <p:nvSpPr>
          <p:cNvPr id="425" name="Text 17"/>
          <p:cNvSpPr/>
          <p:nvPr/>
        </p:nvSpPr>
        <p:spPr>
          <a:xfrm>
            <a:off x="916920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Ratio</a:t>
            </a:r>
            <a:endParaRPr lang="en-US" sz="1300" b="0" u="none" strike="noStrike">
              <a:solidFill>
                <a:srgbClr val="000000"/>
              </a:solidFill>
              <a:effectLst/>
              <a:uFillTx/>
              <a:latin typeface="Arial"/>
            </a:endParaRPr>
          </a:p>
        </p:txBody>
      </p:sp>
      <p:sp>
        <p:nvSpPr>
          <p:cNvPr id="426" name="Text 18"/>
          <p:cNvSpPr/>
          <p:nvPr/>
        </p:nvSpPr>
        <p:spPr>
          <a:xfrm>
            <a:off x="922392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Equal gaps AND a true zero, meaning "none at all." Example: weight, income, age</a:t>
            </a:r>
            <a:endParaRPr lang="en-US" sz="1100" b="0" u="none" strike="noStrike">
              <a:solidFill>
                <a:srgbClr val="000000"/>
              </a:solidFill>
              <a:effectLst/>
              <a:uFillTx/>
              <a:latin typeface="Arial"/>
            </a:endParaRPr>
          </a:p>
        </p:txBody>
      </p:sp>
      <p:sp>
        <p:nvSpPr>
          <p:cNvPr id="427" name="Text 1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28" name="Text 2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2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30" name="Image 0" descr="preencoded.png"/>
          <p:cNvPicPr/>
          <p:nvPr/>
        </p:nvPicPr>
        <p:blipFill>
          <a:blip r:embed="rId1"/>
          <a:stretch/>
        </p:blipFill>
        <p:spPr>
          <a:xfrm>
            <a:off x="548640" y="548640"/>
            <a:ext cx="447480" cy="447480"/>
          </a:xfrm>
          <a:prstGeom prst="rect">
            <a:avLst/>
          </a:prstGeom>
          <a:noFill/>
          <a:ln w="0">
            <a:noFill/>
          </a:ln>
        </p:spPr>
      </p:pic>
      <p:sp>
        <p:nvSpPr>
          <p:cNvPr id="43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The Measurement Scales Ladder</a:t>
            </a:r>
            <a:endParaRPr lang="en-US" sz="2400" b="0" u="none" strike="noStrike">
              <a:solidFill>
                <a:srgbClr val="000000"/>
              </a:solidFill>
              <a:effectLst/>
              <a:uFillTx/>
              <a:latin typeface="Arial"/>
            </a:endParaRPr>
          </a:p>
        </p:txBody>
      </p:sp>
      <p:sp>
        <p:nvSpPr>
          <p:cNvPr id="43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33" name="Shape 3"/>
          <p:cNvSpPr/>
          <p:nvPr/>
        </p:nvSpPr>
        <p:spPr>
          <a:xfrm>
            <a:off x="860760" y="4983480"/>
            <a:ext cx="2513880" cy="959400"/>
          </a:xfrm>
          <a:prstGeom prst="roundRect">
            <a:avLst>
              <a:gd name="adj" fmla="val 9524"/>
            </a:avLst>
          </a:prstGeom>
          <a:solidFill>
            <a:srgbClr val="EDE9FE"/>
          </a:solidFill>
          <a:ln w="25400">
            <a:solidFill>
              <a:srgbClr val="8B7F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4" name="Shape 4"/>
          <p:cNvSpPr/>
          <p:nvPr/>
        </p:nvSpPr>
        <p:spPr>
          <a:xfrm>
            <a:off x="1862280" y="5111640"/>
            <a:ext cx="511200" cy="5112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5" name="Text 5"/>
          <p:cNvSpPr/>
          <p:nvPr/>
        </p:nvSpPr>
        <p:spPr>
          <a:xfrm>
            <a:off x="1862280" y="5111640"/>
            <a:ext cx="5112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entury Gothic"/>
                <a:ea typeface="Century Gothic"/>
              </a:rPr>
              <a:t>1</a:t>
            </a:r>
            <a:endParaRPr lang="en-US" sz="1600" b="0" u="none" strike="noStrike">
              <a:solidFill>
                <a:srgbClr val="000000"/>
              </a:solidFill>
              <a:effectLst/>
              <a:uFillTx/>
              <a:latin typeface="Arial"/>
            </a:endParaRPr>
          </a:p>
        </p:txBody>
      </p:sp>
      <p:sp>
        <p:nvSpPr>
          <p:cNvPr id="436" name="Text 6"/>
          <p:cNvSpPr/>
          <p:nvPr/>
        </p:nvSpPr>
        <p:spPr>
          <a:xfrm>
            <a:off x="952200" y="5660280"/>
            <a:ext cx="2331000" cy="319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50" b="1" u="none" strike="noStrike">
                <a:solidFill>
                  <a:srgbClr val="2D2A4A"/>
                </a:solidFill>
                <a:effectLst/>
                <a:uFillTx/>
                <a:latin typeface="Century Gothic"/>
                <a:ea typeface="Century Gothic"/>
              </a:rPr>
              <a:t>Nominal</a:t>
            </a:r>
            <a:endParaRPr lang="en-US" sz="1350" b="0" u="none" strike="noStrike">
              <a:solidFill>
                <a:srgbClr val="000000"/>
              </a:solidFill>
              <a:effectLst/>
              <a:uFillTx/>
              <a:latin typeface="Arial"/>
            </a:endParaRPr>
          </a:p>
        </p:txBody>
      </p:sp>
      <p:sp>
        <p:nvSpPr>
          <p:cNvPr id="437" name="Shape 7"/>
          <p:cNvSpPr/>
          <p:nvPr/>
        </p:nvSpPr>
        <p:spPr>
          <a:xfrm>
            <a:off x="3512520" y="4599360"/>
            <a:ext cx="2513880" cy="1343520"/>
          </a:xfrm>
          <a:prstGeom prst="roundRect">
            <a:avLst>
              <a:gd name="adj" fmla="val 6803"/>
            </a:avLst>
          </a:prstGeom>
          <a:solidFill>
            <a:srgbClr val="E3FBF3"/>
          </a:solidFill>
          <a:ln w="25400">
            <a:solidFill>
              <a:srgbClr val="5FD6B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8" name="Shape 8"/>
          <p:cNvSpPr/>
          <p:nvPr/>
        </p:nvSpPr>
        <p:spPr>
          <a:xfrm>
            <a:off x="4514040" y="4727520"/>
            <a:ext cx="511200" cy="51120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9" name="Text 9"/>
          <p:cNvSpPr/>
          <p:nvPr/>
        </p:nvSpPr>
        <p:spPr>
          <a:xfrm>
            <a:off x="4514040" y="4727520"/>
            <a:ext cx="5112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entury Gothic"/>
                <a:ea typeface="Century Gothic"/>
              </a:rPr>
              <a:t>2</a:t>
            </a:r>
            <a:endParaRPr lang="en-US" sz="1600" b="0" u="none" strike="noStrike">
              <a:solidFill>
                <a:srgbClr val="000000"/>
              </a:solidFill>
              <a:effectLst/>
              <a:uFillTx/>
              <a:latin typeface="Arial"/>
            </a:endParaRPr>
          </a:p>
        </p:txBody>
      </p:sp>
      <p:sp>
        <p:nvSpPr>
          <p:cNvPr id="440" name="Text 10"/>
          <p:cNvSpPr/>
          <p:nvPr/>
        </p:nvSpPr>
        <p:spPr>
          <a:xfrm>
            <a:off x="3603960" y="5276160"/>
            <a:ext cx="2331000" cy="319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50" b="1" u="none" strike="noStrike">
                <a:solidFill>
                  <a:srgbClr val="2D2A4A"/>
                </a:solidFill>
                <a:effectLst/>
                <a:uFillTx/>
                <a:latin typeface="Century Gothic"/>
                <a:ea typeface="Century Gothic"/>
              </a:rPr>
              <a:t>Ordinal</a:t>
            </a:r>
            <a:endParaRPr lang="en-US" sz="1350" b="0" u="none" strike="noStrike">
              <a:solidFill>
                <a:srgbClr val="000000"/>
              </a:solidFill>
              <a:effectLst/>
              <a:uFillTx/>
              <a:latin typeface="Arial"/>
            </a:endParaRPr>
          </a:p>
        </p:txBody>
      </p:sp>
      <p:sp>
        <p:nvSpPr>
          <p:cNvPr id="441" name="Text 11"/>
          <p:cNvSpPr/>
          <p:nvPr/>
        </p:nvSpPr>
        <p:spPr>
          <a:xfrm>
            <a:off x="3603960" y="5586840"/>
            <a:ext cx="2331000" cy="273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950" b="0" i="1" u="none" strike="noStrike">
                <a:solidFill>
                  <a:srgbClr val="685F8F"/>
                </a:solidFill>
                <a:effectLst/>
                <a:uFillTx/>
                <a:latin typeface="Calibri"/>
                <a:ea typeface="Calibri"/>
              </a:rPr>
              <a:t>e.g. satisfaction rating</a:t>
            </a:r>
            <a:endParaRPr lang="en-US" sz="950" b="0" u="none" strike="noStrike">
              <a:solidFill>
                <a:srgbClr val="000000"/>
              </a:solidFill>
              <a:effectLst/>
              <a:uFillTx/>
              <a:latin typeface="Arial"/>
            </a:endParaRPr>
          </a:p>
        </p:txBody>
      </p:sp>
      <p:sp>
        <p:nvSpPr>
          <p:cNvPr id="442" name="Shape 12"/>
          <p:cNvSpPr/>
          <p:nvPr/>
        </p:nvSpPr>
        <p:spPr>
          <a:xfrm>
            <a:off x="6164280" y="4215240"/>
            <a:ext cx="2513880" cy="1727640"/>
          </a:xfrm>
          <a:prstGeom prst="roundRect">
            <a:avLst>
              <a:gd name="adj" fmla="val 5291"/>
            </a:avLst>
          </a:prstGeom>
          <a:solidFill>
            <a:srgbClr val="FFF6DC"/>
          </a:solidFill>
          <a:ln w="25400">
            <a:solidFill>
              <a:srgbClr val="FFC94A"/>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3" name="Shape 13"/>
          <p:cNvSpPr/>
          <p:nvPr/>
        </p:nvSpPr>
        <p:spPr>
          <a:xfrm>
            <a:off x="7165800" y="4343400"/>
            <a:ext cx="511200" cy="51120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Text 14"/>
          <p:cNvSpPr/>
          <p:nvPr/>
        </p:nvSpPr>
        <p:spPr>
          <a:xfrm>
            <a:off x="7165800" y="4343400"/>
            <a:ext cx="5112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entury Gothic"/>
                <a:ea typeface="Century Gothic"/>
              </a:rPr>
              <a:t>3</a:t>
            </a:r>
            <a:endParaRPr lang="en-US" sz="1600" b="0" u="none" strike="noStrike">
              <a:solidFill>
                <a:srgbClr val="000000"/>
              </a:solidFill>
              <a:effectLst/>
              <a:uFillTx/>
              <a:latin typeface="Arial"/>
            </a:endParaRPr>
          </a:p>
        </p:txBody>
      </p:sp>
      <p:sp>
        <p:nvSpPr>
          <p:cNvPr id="445" name="Text 15"/>
          <p:cNvSpPr/>
          <p:nvPr/>
        </p:nvSpPr>
        <p:spPr>
          <a:xfrm>
            <a:off x="6255720" y="4892040"/>
            <a:ext cx="2331000" cy="319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50" b="1" u="none" strike="noStrike">
                <a:solidFill>
                  <a:srgbClr val="2D2A4A"/>
                </a:solidFill>
                <a:effectLst/>
                <a:uFillTx/>
                <a:latin typeface="Century Gothic"/>
                <a:ea typeface="Century Gothic"/>
              </a:rPr>
              <a:t>Interval</a:t>
            </a:r>
            <a:endParaRPr lang="en-US" sz="1350" b="0" u="none" strike="noStrike">
              <a:solidFill>
                <a:srgbClr val="000000"/>
              </a:solidFill>
              <a:effectLst/>
              <a:uFillTx/>
              <a:latin typeface="Arial"/>
            </a:endParaRPr>
          </a:p>
        </p:txBody>
      </p:sp>
      <p:sp>
        <p:nvSpPr>
          <p:cNvPr id="446" name="Text 16"/>
          <p:cNvSpPr/>
          <p:nvPr/>
        </p:nvSpPr>
        <p:spPr>
          <a:xfrm>
            <a:off x="6255720" y="5203080"/>
            <a:ext cx="2331000" cy="273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950" b="0" i="1" u="none" strike="noStrike">
                <a:solidFill>
                  <a:srgbClr val="685F8F"/>
                </a:solidFill>
                <a:effectLst/>
                <a:uFillTx/>
                <a:latin typeface="Calibri"/>
                <a:ea typeface="Calibri"/>
              </a:rPr>
              <a:t>e.g. temperature in °C</a:t>
            </a:r>
            <a:endParaRPr lang="en-US" sz="950" b="0" u="none" strike="noStrike">
              <a:solidFill>
                <a:srgbClr val="000000"/>
              </a:solidFill>
              <a:effectLst/>
              <a:uFillTx/>
              <a:latin typeface="Arial"/>
            </a:endParaRPr>
          </a:p>
        </p:txBody>
      </p:sp>
      <p:sp>
        <p:nvSpPr>
          <p:cNvPr id="447" name="Shape 17"/>
          <p:cNvSpPr/>
          <p:nvPr/>
        </p:nvSpPr>
        <p:spPr>
          <a:xfrm>
            <a:off x="8816040" y="3831480"/>
            <a:ext cx="2513880" cy="2111400"/>
          </a:xfrm>
          <a:prstGeom prst="roundRect">
            <a:avLst>
              <a:gd name="adj" fmla="val 4329"/>
            </a:avLst>
          </a:prstGeom>
          <a:solidFill>
            <a:srgbClr val="FFFFFF"/>
          </a:solidFill>
          <a:ln w="25400">
            <a:solidFill>
              <a:srgbClr val="FF8FB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8" name="Shape 18"/>
          <p:cNvSpPr/>
          <p:nvPr/>
        </p:nvSpPr>
        <p:spPr>
          <a:xfrm>
            <a:off x="9817560" y="3959280"/>
            <a:ext cx="511200" cy="51120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9" name="Text 19"/>
          <p:cNvSpPr/>
          <p:nvPr/>
        </p:nvSpPr>
        <p:spPr>
          <a:xfrm>
            <a:off x="9817560" y="3959280"/>
            <a:ext cx="511200" cy="51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entury Gothic"/>
                <a:ea typeface="Century Gothic"/>
              </a:rPr>
              <a:t>4</a:t>
            </a:r>
            <a:endParaRPr lang="en-US" sz="1600" b="0" u="none" strike="noStrike">
              <a:solidFill>
                <a:srgbClr val="000000"/>
              </a:solidFill>
              <a:effectLst/>
              <a:uFillTx/>
              <a:latin typeface="Arial"/>
            </a:endParaRPr>
          </a:p>
        </p:txBody>
      </p:sp>
      <p:sp>
        <p:nvSpPr>
          <p:cNvPr id="450" name="Text 20"/>
          <p:cNvSpPr/>
          <p:nvPr/>
        </p:nvSpPr>
        <p:spPr>
          <a:xfrm>
            <a:off x="8907480" y="4507920"/>
            <a:ext cx="2331000" cy="3193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50" b="1" u="none" strike="noStrike">
                <a:solidFill>
                  <a:srgbClr val="2D2A4A"/>
                </a:solidFill>
                <a:effectLst/>
                <a:uFillTx/>
                <a:latin typeface="Century Gothic"/>
                <a:ea typeface="Century Gothic"/>
              </a:rPr>
              <a:t>Ratio</a:t>
            </a:r>
            <a:endParaRPr lang="en-US" sz="1350" b="0" u="none" strike="noStrike">
              <a:solidFill>
                <a:srgbClr val="000000"/>
              </a:solidFill>
              <a:effectLst/>
              <a:uFillTx/>
              <a:latin typeface="Arial"/>
            </a:endParaRPr>
          </a:p>
        </p:txBody>
      </p:sp>
      <p:sp>
        <p:nvSpPr>
          <p:cNvPr id="451" name="Text 21"/>
          <p:cNvSpPr/>
          <p:nvPr/>
        </p:nvSpPr>
        <p:spPr>
          <a:xfrm>
            <a:off x="8907480" y="4818960"/>
            <a:ext cx="2331000" cy="27360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950" b="0" i="1" u="none" strike="noStrike">
                <a:solidFill>
                  <a:srgbClr val="685F8F"/>
                </a:solidFill>
                <a:effectLst/>
                <a:uFillTx/>
                <a:latin typeface="Calibri"/>
                <a:ea typeface="Calibri"/>
              </a:rPr>
              <a:t>e.g. height, weight, income</a:t>
            </a:r>
            <a:endParaRPr lang="en-US" sz="950" b="0" u="none" strike="noStrike">
              <a:solidFill>
                <a:srgbClr val="000000"/>
              </a:solidFill>
              <a:effectLst/>
              <a:uFillTx/>
              <a:latin typeface="Arial"/>
            </a:endParaRPr>
          </a:p>
        </p:txBody>
      </p:sp>
      <p:sp>
        <p:nvSpPr>
          <p:cNvPr id="452" name="Text 22"/>
          <p:cNvSpPr/>
          <p:nvPr/>
        </p:nvSpPr>
        <p:spPr>
          <a:xfrm>
            <a:off x="906480" y="6080760"/>
            <a:ext cx="2422440" cy="59364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000" b="0" u="none" strike="noStrike">
                <a:solidFill>
                  <a:srgbClr val="685F8F"/>
                </a:solidFill>
                <a:effectLst/>
                <a:uFillTx/>
                <a:latin typeface="Calibri"/>
                <a:ea typeface="Calibri"/>
              </a:rPr>
              <a:t>Can only check equal / not equal</a:t>
            </a:r>
            <a:endParaRPr lang="en-US" sz="1000" b="0" u="none" strike="noStrike">
              <a:solidFill>
                <a:srgbClr val="000000"/>
              </a:solidFill>
              <a:effectLst/>
              <a:uFillTx/>
              <a:latin typeface="Arial"/>
            </a:endParaRPr>
          </a:p>
        </p:txBody>
      </p:sp>
      <p:sp>
        <p:nvSpPr>
          <p:cNvPr id="453" name="Text 23"/>
          <p:cNvSpPr/>
          <p:nvPr/>
        </p:nvSpPr>
        <p:spPr>
          <a:xfrm>
            <a:off x="3558240" y="6080760"/>
            <a:ext cx="2422440" cy="59364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000" b="0" u="none" strike="noStrike">
                <a:solidFill>
                  <a:srgbClr val="685F8F"/>
                </a:solidFill>
                <a:effectLst/>
                <a:uFillTx/>
                <a:latin typeface="Calibri"/>
                <a:ea typeface="Calibri"/>
              </a:rPr>
              <a:t>Can also rank: greater / less than</a:t>
            </a:r>
            <a:endParaRPr lang="en-US" sz="1000" b="0" u="none" strike="noStrike">
              <a:solidFill>
                <a:srgbClr val="000000"/>
              </a:solidFill>
              <a:effectLst/>
              <a:uFillTx/>
              <a:latin typeface="Arial"/>
            </a:endParaRPr>
          </a:p>
        </p:txBody>
      </p:sp>
      <p:sp>
        <p:nvSpPr>
          <p:cNvPr id="454" name="Text 24"/>
          <p:cNvSpPr/>
          <p:nvPr/>
        </p:nvSpPr>
        <p:spPr>
          <a:xfrm>
            <a:off x="6210000" y="6080760"/>
            <a:ext cx="2422440" cy="59364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000" b="0" u="none" strike="noStrike">
                <a:solidFill>
                  <a:srgbClr val="685F8F"/>
                </a:solidFill>
                <a:effectLst/>
                <a:uFillTx/>
                <a:latin typeface="Calibri"/>
                <a:ea typeface="Calibri"/>
              </a:rPr>
              <a:t>Can also add / subtract meaningfully</a:t>
            </a:r>
            <a:endParaRPr lang="en-US" sz="1000" b="0" u="none" strike="noStrike">
              <a:solidFill>
                <a:srgbClr val="000000"/>
              </a:solidFill>
              <a:effectLst/>
              <a:uFillTx/>
              <a:latin typeface="Arial"/>
            </a:endParaRPr>
          </a:p>
        </p:txBody>
      </p:sp>
      <p:sp>
        <p:nvSpPr>
          <p:cNvPr id="455" name="Text 25"/>
          <p:cNvSpPr/>
          <p:nvPr/>
        </p:nvSpPr>
        <p:spPr>
          <a:xfrm>
            <a:off x="8861760" y="6080760"/>
            <a:ext cx="2422440" cy="59364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000" b="0" u="none" strike="noStrike">
                <a:solidFill>
                  <a:srgbClr val="685F8F"/>
                </a:solidFill>
                <a:effectLst/>
                <a:uFillTx/>
                <a:latin typeface="Calibri"/>
                <a:ea typeface="Calibri"/>
              </a:rPr>
              <a:t>Can also multiply / divide — has a true zero</a:t>
            </a:r>
            <a:endParaRPr lang="en-US" sz="1000" b="0" u="none" strike="noStrike">
              <a:solidFill>
                <a:srgbClr val="000000"/>
              </a:solidFill>
              <a:effectLst/>
              <a:uFillTx/>
              <a:latin typeface="Arial"/>
            </a:endParaRPr>
          </a:p>
        </p:txBody>
      </p:sp>
      <p:sp>
        <p:nvSpPr>
          <p:cNvPr id="456" name="Text 26"/>
          <p:cNvSpPr/>
          <p:nvPr/>
        </p:nvSpPr>
        <p:spPr>
          <a:xfrm>
            <a:off x="731520" y="6858000"/>
            <a:ext cx="1072512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i="1" u="none" strike="noStrike">
                <a:solidFill>
                  <a:srgbClr val="685F8F"/>
                </a:solidFill>
                <a:effectLst/>
                <a:uFillTx/>
                <a:latin typeface="Calibri"/>
                <a:ea typeface="Calibri"/>
              </a:rPr>
              <a:t>Each step up the ladder keeps everything the step below could do, and adds one new ability on top of it.</a:t>
            </a:r>
            <a:endParaRPr lang="en-US" sz="1200" b="0" u="none" strike="noStrike">
              <a:solidFill>
                <a:srgbClr val="000000"/>
              </a:solidFill>
              <a:effectLst/>
              <a:uFillTx/>
              <a:latin typeface="Arial"/>
            </a:endParaRPr>
          </a:p>
        </p:txBody>
      </p:sp>
      <p:sp>
        <p:nvSpPr>
          <p:cNvPr id="457" name="Text 2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58" name="Text 2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5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0" name="Image 0" descr="preencoded.png"/>
          <p:cNvPicPr/>
          <p:nvPr/>
        </p:nvPicPr>
        <p:blipFill>
          <a:blip r:embed="rId1"/>
          <a:stretch/>
        </p:blipFill>
        <p:spPr>
          <a:xfrm>
            <a:off x="548640" y="548640"/>
            <a:ext cx="447480" cy="447480"/>
          </a:xfrm>
          <a:prstGeom prst="rect">
            <a:avLst/>
          </a:prstGeom>
          <a:noFill/>
          <a:ln w="0">
            <a:noFill/>
          </a:ln>
        </p:spPr>
      </p:pic>
      <p:sp>
        <p:nvSpPr>
          <p:cNvPr id="46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Nominal Scale — Labels Only</a:t>
            </a:r>
            <a:endParaRPr lang="en-US" sz="2400" b="0" u="none" strike="noStrike">
              <a:solidFill>
                <a:srgbClr val="000000"/>
              </a:solidFill>
              <a:effectLst/>
              <a:uFillTx/>
              <a:latin typeface="Arial"/>
            </a:endParaRPr>
          </a:p>
        </p:txBody>
      </p:sp>
      <p:sp>
        <p:nvSpPr>
          <p:cNvPr id="46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63"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4"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65" name="Image 1" descr="preencoded.png"/>
          <p:cNvPicPr/>
          <p:nvPr/>
        </p:nvPicPr>
        <p:blipFill>
          <a:blip r:embed="rId2"/>
          <a:stretch/>
        </p:blipFill>
        <p:spPr>
          <a:xfrm>
            <a:off x="1746360" y="2423160"/>
            <a:ext cx="1087560" cy="1087560"/>
          </a:xfrm>
          <a:prstGeom prst="rect">
            <a:avLst/>
          </a:prstGeom>
          <a:noFill/>
          <a:ln w="0">
            <a:noFill/>
          </a:ln>
        </p:spPr>
      </p:pic>
      <p:sp>
        <p:nvSpPr>
          <p:cNvPr id="466"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Just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names,</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no order</a:t>
            </a:r>
            <a:endParaRPr lang="en-US" sz="1600" b="0" u="none" strike="noStrike">
              <a:solidFill>
                <a:srgbClr val="000000"/>
              </a:solidFill>
              <a:effectLst/>
              <a:uFillTx/>
              <a:latin typeface="Arial"/>
            </a:endParaRPr>
          </a:p>
        </p:txBody>
      </p:sp>
      <p:sp>
        <p:nvSpPr>
          <p:cNvPr id="467"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Nominal data sorts things into named categories, with no meaningful order between them — "red" isn’t more or less than "blue"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Examples: gender, blood type, country of residence, a customer’s preferred payment method</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 only valid comparison is equality — you can say two things are the same category or different categories, and nothing more mathematically</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You can count how often each category appears, and find the mode — but calculating a "mean country" makes no sense at all</a:t>
            </a:r>
            <a:endParaRPr lang="en-US" sz="1600" b="0" u="none" strike="noStrike">
              <a:solidFill>
                <a:srgbClr val="000000"/>
              </a:solidFill>
              <a:effectLst/>
              <a:uFillTx/>
              <a:latin typeface="Arial"/>
            </a:endParaRPr>
          </a:p>
        </p:txBody>
      </p:sp>
      <p:sp>
        <p:nvSpPr>
          <p:cNvPr id="468"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69"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7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71" name="Image 0" descr="preencoded.png"/>
          <p:cNvPicPr/>
          <p:nvPr/>
        </p:nvPicPr>
        <p:blipFill>
          <a:blip r:embed="rId1"/>
          <a:stretch/>
        </p:blipFill>
        <p:spPr>
          <a:xfrm>
            <a:off x="548640" y="548640"/>
            <a:ext cx="447480" cy="447480"/>
          </a:xfrm>
          <a:prstGeom prst="rect">
            <a:avLst/>
          </a:prstGeom>
          <a:noFill/>
          <a:ln w="0">
            <a:noFill/>
          </a:ln>
        </p:spPr>
      </p:pic>
      <p:sp>
        <p:nvSpPr>
          <p:cNvPr id="47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Ordinal Scale — Order, But No Real Distance</a:t>
            </a:r>
            <a:endParaRPr lang="en-US" sz="2400" b="0" u="none" strike="noStrike">
              <a:solidFill>
                <a:srgbClr val="000000"/>
              </a:solidFill>
              <a:effectLst/>
              <a:uFillTx/>
              <a:latin typeface="Arial"/>
            </a:endParaRPr>
          </a:p>
        </p:txBody>
      </p:sp>
      <p:sp>
        <p:nvSpPr>
          <p:cNvPr id="47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74"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75"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76" name="Image 1" descr="preencoded.png"/>
          <p:cNvPicPr/>
          <p:nvPr/>
        </p:nvPicPr>
        <p:blipFill>
          <a:blip r:embed="rId2"/>
          <a:stretch/>
        </p:blipFill>
        <p:spPr>
          <a:xfrm>
            <a:off x="1746360" y="2423160"/>
            <a:ext cx="1087560" cy="1087560"/>
          </a:xfrm>
          <a:prstGeom prst="rect">
            <a:avLst/>
          </a:prstGeom>
          <a:noFill/>
          <a:ln w="0">
            <a:noFill/>
          </a:ln>
        </p:spPr>
      </p:pic>
      <p:sp>
        <p:nvSpPr>
          <p:cNvPr id="477"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Ranked,</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but not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measured</a:t>
            </a:r>
            <a:endParaRPr lang="en-US" sz="1600" b="0" u="none" strike="noStrike">
              <a:solidFill>
                <a:srgbClr val="000000"/>
              </a:solidFill>
              <a:effectLst/>
              <a:uFillTx/>
              <a:latin typeface="Arial"/>
            </a:endParaRPr>
          </a:p>
        </p:txBody>
      </p:sp>
      <p:sp>
        <p:nvSpPr>
          <p:cNvPr id="478"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Ordinal data has a genuine, meaningful order — but the gap between adjacent values isn’t guaranteed to be equal</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Examples: a 5-star rating, a t-shirt size (S/M/L/XL), an education level (high school/bachelor’s/master’s)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 jump from 1 star to 2 stars might not represent the same "amount" of change as 4 stars to 5 stars — you only know the direction, not the exact size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You can find the median and mode reliably — but averaging star ratings, while extremely common in practice, is technically stretching what the scale actually guarantees</a:t>
            </a:r>
            <a:endParaRPr lang="en-US" sz="1600" b="0" u="none" strike="noStrike">
              <a:solidFill>
                <a:srgbClr val="000000"/>
              </a:solidFill>
              <a:effectLst/>
              <a:uFillTx/>
              <a:latin typeface="Arial"/>
            </a:endParaRPr>
          </a:p>
        </p:txBody>
      </p:sp>
      <p:sp>
        <p:nvSpPr>
          <p:cNvPr id="479"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80"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81"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82" name="Image 0" descr="preencoded.png"/>
          <p:cNvPicPr/>
          <p:nvPr/>
        </p:nvPicPr>
        <p:blipFill>
          <a:blip r:embed="rId1"/>
          <a:stretch/>
        </p:blipFill>
        <p:spPr>
          <a:xfrm>
            <a:off x="548640" y="548640"/>
            <a:ext cx="447480" cy="447480"/>
          </a:xfrm>
          <a:prstGeom prst="rect">
            <a:avLst/>
          </a:prstGeom>
          <a:noFill/>
          <a:ln w="0">
            <a:noFill/>
          </a:ln>
        </p:spPr>
      </p:pic>
      <p:sp>
        <p:nvSpPr>
          <p:cNvPr id="483"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Interval Scale — Equal Distance, No True Zero</a:t>
            </a:r>
            <a:endParaRPr lang="en-US" sz="2400" b="0" u="none" strike="noStrike">
              <a:solidFill>
                <a:srgbClr val="000000"/>
              </a:solidFill>
              <a:effectLst/>
              <a:uFillTx/>
              <a:latin typeface="Arial"/>
            </a:endParaRPr>
          </a:p>
        </p:txBody>
      </p:sp>
      <p:sp>
        <p:nvSpPr>
          <p:cNvPr id="484"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85"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86"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87" name="Image 1" descr="preencoded.png"/>
          <p:cNvPicPr/>
          <p:nvPr/>
        </p:nvPicPr>
        <p:blipFill>
          <a:blip r:embed="rId2"/>
          <a:stretch/>
        </p:blipFill>
        <p:spPr>
          <a:xfrm>
            <a:off x="1746360" y="2423160"/>
            <a:ext cx="1087560" cy="1087560"/>
          </a:xfrm>
          <a:prstGeom prst="rect">
            <a:avLst/>
          </a:prstGeom>
          <a:noFill/>
          <a:ln w="0">
            <a:noFill/>
          </a:ln>
        </p:spPr>
      </p:pic>
      <p:sp>
        <p:nvSpPr>
          <p:cNvPr id="488"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Zero</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doesn’t mean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"none"</a:t>
            </a:r>
            <a:endParaRPr lang="en-US" sz="1600" b="0" u="none" strike="noStrike">
              <a:solidFill>
                <a:srgbClr val="000000"/>
              </a:solidFill>
              <a:effectLst/>
              <a:uFillTx/>
              <a:latin typeface="Arial"/>
            </a:endParaRPr>
          </a:p>
        </p:txBody>
      </p:sp>
      <p:sp>
        <p:nvSpPr>
          <p:cNvPr id="489"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Interval data has consistent, equal gaps between values — the difference between 10°C and 20°C is the same "amount" as between 20°C and 30°C</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But zero doesn’t mean "nothing" — 0°C isn’t "no temperature at all," it’s just the freezing point of water, an arbitrary reference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Because of this, ratios are meaningless here: 20°C is NOT "twice as hot" as 10°C — that claim doesn’t survive converting to Fahrenheit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Classic examples: temperature in Celsius or Fahrenheit, and calendar year (year 0 doesn’t mean "no time has passed")</a:t>
            </a:r>
            <a:endParaRPr lang="en-US" sz="1600" b="0" u="none" strike="noStrike">
              <a:solidFill>
                <a:srgbClr val="000000"/>
              </a:solidFill>
              <a:effectLst/>
              <a:uFillTx/>
              <a:latin typeface="Arial"/>
            </a:endParaRPr>
          </a:p>
        </p:txBody>
      </p:sp>
      <p:sp>
        <p:nvSpPr>
          <p:cNvPr id="490"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491"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492"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3" name="Image 0" descr="preencoded.png"/>
          <p:cNvPicPr/>
          <p:nvPr/>
        </p:nvPicPr>
        <p:blipFill>
          <a:blip r:embed="rId1"/>
          <a:stretch/>
        </p:blipFill>
        <p:spPr>
          <a:xfrm>
            <a:off x="548640" y="548640"/>
            <a:ext cx="447480" cy="447480"/>
          </a:xfrm>
          <a:prstGeom prst="rect">
            <a:avLst/>
          </a:prstGeom>
          <a:noFill/>
          <a:ln w="0">
            <a:noFill/>
          </a:ln>
        </p:spPr>
      </p:pic>
      <p:sp>
        <p:nvSpPr>
          <p:cNvPr id="494"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Ratio Scale — Equal Distance AND a True Zero</a:t>
            </a:r>
            <a:endParaRPr lang="en-US" sz="2400" b="0" u="none" strike="noStrike">
              <a:solidFill>
                <a:srgbClr val="000000"/>
              </a:solidFill>
              <a:effectLst/>
              <a:uFillTx/>
              <a:latin typeface="Arial"/>
            </a:endParaRPr>
          </a:p>
        </p:txBody>
      </p:sp>
      <p:sp>
        <p:nvSpPr>
          <p:cNvPr id="495"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496"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7"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98" name="Image 1" descr="preencoded.png"/>
          <p:cNvPicPr/>
          <p:nvPr/>
        </p:nvPicPr>
        <p:blipFill>
          <a:blip r:embed="rId2"/>
          <a:stretch/>
        </p:blipFill>
        <p:spPr>
          <a:xfrm>
            <a:off x="1746360" y="2423160"/>
            <a:ext cx="1087560" cy="1087560"/>
          </a:xfrm>
          <a:prstGeom prst="rect">
            <a:avLst/>
          </a:prstGeom>
          <a:noFill/>
          <a:ln w="0">
            <a:noFill/>
          </a:ln>
        </p:spPr>
      </p:pic>
      <p:sp>
        <p:nvSpPr>
          <p:cNvPr id="499"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The most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flexible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scale</a:t>
            </a:r>
            <a:endParaRPr lang="en-US" sz="1600" b="0" u="none" strike="noStrike">
              <a:solidFill>
                <a:srgbClr val="000000"/>
              </a:solidFill>
              <a:effectLst/>
              <a:uFillTx/>
              <a:latin typeface="Arial"/>
            </a:endParaRPr>
          </a:p>
        </p:txBody>
      </p:sp>
      <p:sp>
        <p:nvSpPr>
          <p:cNvPr id="500"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Ratio data has everything interval data has, PLUS a true, meaningful zero — zero really does mean "none at all"</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Because of that true zero, ratios genuinely make sense: $20 really is twice as much money as $10; 40kg really is twice as heavy as 20kg</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Examples: height, weight, age, income, distance, time elapsed — most of the "hard numbers" you’ll work with in data science live here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Every mathematical operation is valid on this scale — which is exactly why it sits at the top of the ladder</a:t>
            </a:r>
            <a:endParaRPr lang="en-US" sz="1600" b="0" u="none" strike="noStrike">
              <a:solidFill>
                <a:srgbClr val="000000"/>
              </a:solidFill>
              <a:effectLst/>
              <a:uFillTx/>
              <a:latin typeface="Arial"/>
            </a:endParaRPr>
          </a:p>
        </p:txBody>
      </p:sp>
      <p:sp>
        <p:nvSpPr>
          <p:cNvPr id="501"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02"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0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4" name="Image 0" descr="preencoded.png"/>
          <p:cNvPicPr/>
          <p:nvPr/>
        </p:nvPicPr>
        <p:blipFill>
          <a:blip r:embed="rId1"/>
          <a:stretch/>
        </p:blipFill>
        <p:spPr>
          <a:xfrm>
            <a:off x="548640" y="548640"/>
            <a:ext cx="447480" cy="447480"/>
          </a:xfrm>
          <a:prstGeom prst="rect">
            <a:avLst/>
          </a:prstGeom>
          <a:noFill/>
          <a:ln w="0">
            <a:noFill/>
          </a:ln>
        </p:spPr>
      </p:pic>
      <p:sp>
        <p:nvSpPr>
          <p:cNvPr id="50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Which Operations Are Valid on Which Scale</a:t>
            </a:r>
            <a:endParaRPr lang="en-US" sz="2400" b="0" u="none" strike="noStrike">
              <a:solidFill>
                <a:srgbClr val="000000"/>
              </a:solidFill>
              <a:effectLst/>
              <a:uFillTx/>
              <a:latin typeface="Arial"/>
            </a:endParaRPr>
          </a:p>
        </p:txBody>
      </p:sp>
      <p:sp>
        <p:nvSpPr>
          <p:cNvPr id="50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07" name="Shape 3"/>
          <p:cNvSpPr/>
          <p:nvPr/>
        </p:nvSpPr>
        <p:spPr>
          <a:xfrm>
            <a:off x="45720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8" name="Shape 4"/>
          <p:cNvSpPr/>
          <p:nvPr/>
        </p:nvSpPr>
        <p:spPr>
          <a:xfrm>
            <a:off x="150984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09" name="Image 1" descr="preencoded.png"/>
          <p:cNvPicPr/>
          <p:nvPr/>
        </p:nvPicPr>
        <p:blipFill>
          <a:blip r:embed="rId2"/>
          <a:stretch/>
        </p:blipFill>
        <p:spPr>
          <a:xfrm>
            <a:off x="1592280" y="2176200"/>
            <a:ext cx="383400" cy="383400"/>
          </a:xfrm>
          <a:prstGeom prst="rect">
            <a:avLst/>
          </a:prstGeom>
          <a:noFill/>
          <a:ln w="0">
            <a:noFill/>
          </a:ln>
        </p:spPr>
      </p:pic>
      <p:sp>
        <p:nvSpPr>
          <p:cNvPr id="510" name="Text 5"/>
          <p:cNvSpPr/>
          <p:nvPr/>
        </p:nvSpPr>
        <p:spPr>
          <a:xfrm>
            <a:off x="54864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Nominal</a:t>
            </a:r>
            <a:endParaRPr lang="en-US" sz="1300" b="0" u="none" strike="noStrike">
              <a:solidFill>
                <a:srgbClr val="000000"/>
              </a:solidFill>
              <a:effectLst/>
              <a:uFillTx/>
              <a:latin typeface="Arial"/>
            </a:endParaRPr>
          </a:p>
        </p:txBody>
      </p:sp>
      <p:sp>
        <p:nvSpPr>
          <p:cNvPr id="511" name="Text 6"/>
          <p:cNvSpPr/>
          <p:nvPr/>
        </p:nvSpPr>
        <p:spPr>
          <a:xfrm>
            <a:off x="60336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Valid: mode, frequency counts. NOT valid: mean, median, or any ranking</a:t>
            </a:r>
            <a:endParaRPr lang="en-US" sz="1100" b="0" u="none" strike="noStrike">
              <a:solidFill>
                <a:srgbClr val="000000"/>
              </a:solidFill>
              <a:effectLst/>
              <a:uFillTx/>
              <a:latin typeface="Arial"/>
            </a:endParaRPr>
          </a:p>
        </p:txBody>
      </p:sp>
      <p:sp>
        <p:nvSpPr>
          <p:cNvPr id="512" name="Shape 7"/>
          <p:cNvSpPr/>
          <p:nvPr/>
        </p:nvSpPr>
        <p:spPr>
          <a:xfrm>
            <a:off x="3330720" y="1508760"/>
            <a:ext cx="2653200" cy="4891320"/>
          </a:xfrm>
          <a:prstGeom prst="roundRect">
            <a:avLst>
              <a:gd name="adj" fmla="val 5512"/>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3" name="Shape 8"/>
          <p:cNvSpPr/>
          <p:nvPr/>
        </p:nvSpPr>
        <p:spPr>
          <a:xfrm>
            <a:off x="438336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14" name="Image 2" descr="preencoded.png"/>
          <p:cNvPicPr/>
          <p:nvPr/>
        </p:nvPicPr>
        <p:blipFill>
          <a:blip r:embed="rId3"/>
          <a:stretch/>
        </p:blipFill>
        <p:spPr>
          <a:xfrm>
            <a:off x="4465800" y="2176200"/>
            <a:ext cx="383400" cy="383400"/>
          </a:xfrm>
          <a:prstGeom prst="rect">
            <a:avLst/>
          </a:prstGeom>
          <a:noFill/>
          <a:ln w="0">
            <a:noFill/>
          </a:ln>
        </p:spPr>
      </p:pic>
      <p:sp>
        <p:nvSpPr>
          <p:cNvPr id="515" name="Text 9"/>
          <p:cNvSpPr/>
          <p:nvPr/>
        </p:nvSpPr>
        <p:spPr>
          <a:xfrm>
            <a:off x="342216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Ordinal</a:t>
            </a:r>
            <a:endParaRPr lang="en-US" sz="1300" b="0" u="none" strike="noStrike">
              <a:solidFill>
                <a:srgbClr val="000000"/>
              </a:solidFill>
              <a:effectLst/>
              <a:uFillTx/>
              <a:latin typeface="Arial"/>
            </a:endParaRPr>
          </a:p>
        </p:txBody>
      </p:sp>
      <p:sp>
        <p:nvSpPr>
          <p:cNvPr id="516" name="Text 10"/>
          <p:cNvSpPr/>
          <p:nvPr/>
        </p:nvSpPr>
        <p:spPr>
          <a:xfrm>
            <a:off x="347688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Valid: mode, median, ranking. Debatable: mean (common in practice, technically imprecise)</a:t>
            </a:r>
            <a:endParaRPr lang="en-US" sz="1100" b="0" u="none" strike="noStrike">
              <a:solidFill>
                <a:srgbClr val="000000"/>
              </a:solidFill>
              <a:effectLst/>
              <a:uFillTx/>
              <a:latin typeface="Arial"/>
            </a:endParaRPr>
          </a:p>
        </p:txBody>
      </p:sp>
      <p:sp>
        <p:nvSpPr>
          <p:cNvPr id="517" name="Shape 11"/>
          <p:cNvSpPr/>
          <p:nvPr/>
        </p:nvSpPr>
        <p:spPr>
          <a:xfrm>
            <a:off x="6204240" y="1508760"/>
            <a:ext cx="2653200" cy="4891320"/>
          </a:xfrm>
          <a:prstGeom prst="roundRect">
            <a:avLst>
              <a:gd name="adj" fmla="val 5512"/>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18" name="Shape 12"/>
          <p:cNvSpPr/>
          <p:nvPr/>
        </p:nvSpPr>
        <p:spPr>
          <a:xfrm>
            <a:off x="725688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19" name="Image 3" descr="preencoded.png"/>
          <p:cNvPicPr/>
          <p:nvPr/>
        </p:nvPicPr>
        <p:blipFill>
          <a:blip r:embed="rId4"/>
          <a:stretch/>
        </p:blipFill>
        <p:spPr>
          <a:xfrm>
            <a:off x="7339320" y="2176200"/>
            <a:ext cx="383400" cy="383400"/>
          </a:xfrm>
          <a:prstGeom prst="rect">
            <a:avLst/>
          </a:prstGeom>
          <a:noFill/>
          <a:ln w="0">
            <a:noFill/>
          </a:ln>
        </p:spPr>
      </p:pic>
      <p:sp>
        <p:nvSpPr>
          <p:cNvPr id="520" name="Text 13"/>
          <p:cNvSpPr/>
          <p:nvPr/>
        </p:nvSpPr>
        <p:spPr>
          <a:xfrm>
            <a:off x="629568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Interval</a:t>
            </a:r>
            <a:endParaRPr lang="en-US" sz="1300" b="0" u="none" strike="noStrike">
              <a:solidFill>
                <a:srgbClr val="000000"/>
              </a:solidFill>
              <a:effectLst/>
              <a:uFillTx/>
              <a:latin typeface="Arial"/>
            </a:endParaRPr>
          </a:p>
        </p:txBody>
      </p:sp>
      <p:sp>
        <p:nvSpPr>
          <p:cNvPr id="521" name="Text 14"/>
          <p:cNvSpPr/>
          <p:nvPr/>
        </p:nvSpPr>
        <p:spPr>
          <a:xfrm>
            <a:off x="635040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Valid: mean, median, mode, addition/subtraction. NOT valid: meaningful ratios ("twice as much")</a:t>
            </a:r>
            <a:endParaRPr lang="en-US" sz="1100" b="0" u="none" strike="noStrike">
              <a:solidFill>
                <a:srgbClr val="000000"/>
              </a:solidFill>
              <a:effectLst/>
              <a:uFillTx/>
              <a:latin typeface="Arial"/>
            </a:endParaRPr>
          </a:p>
        </p:txBody>
      </p:sp>
      <p:sp>
        <p:nvSpPr>
          <p:cNvPr id="522" name="Shape 15"/>
          <p:cNvSpPr/>
          <p:nvPr/>
        </p:nvSpPr>
        <p:spPr>
          <a:xfrm>
            <a:off x="907776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3" name="Shape 16"/>
          <p:cNvSpPr/>
          <p:nvPr/>
        </p:nvSpPr>
        <p:spPr>
          <a:xfrm>
            <a:off x="10130400" y="2094120"/>
            <a:ext cx="547920" cy="54792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24" name="Image 4" descr="preencoded.png"/>
          <p:cNvPicPr/>
          <p:nvPr/>
        </p:nvPicPr>
        <p:blipFill>
          <a:blip r:embed="rId5"/>
          <a:stretch/>
        </p:blipFill>
        <p:spPr>
          <a:xfrm>
            <a:off x="10212840" y="2176200"/>
            <a:ext cx="383400" cy="383400"/>
          </a:xfrm>
          <a:prstGeom prst="rect">
            <a:avLst/>
          </a:prstGeom>
          <a:noFill/>
          <a:ln w="0">
            <a:noFill/>
          </a:ln>
        </p:spPr>
      </p:pic>
      <p:sp>
        <p:nvSpPr>
          <p:cNvPr id="525" name="Text 17"/>
          <p:cNvSpPr/>
          <p:nvPr/>
        </p:nvSpPr>
        <p:spPr>
          <a:xfrm>
            <a:off x="916920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Ratio</a:t>
            </a:r>
            <a:endParaRPr lang="en-US" sz="1300" b="0" u="none" strike="noStrike">
              <a:solidFill>
                <a:srgbClr val="000000"/>
              </a:solidFill>
              <a:effectLst/>
              <a:uFillTx/>
              <a:latin typeface="Arial"/>
            </a:endParaRPr>
          </a:p>
        </p:txBody>
      </p:sp>
      <p:sp>
        <p:nvSpPr>
          <p:cNvPr id="526" name="Text 18"/>
          <p:cNvSpPr/>
          <p:nvPr/>
        </p:nvSpPr>
        <p:spPr>
          <a:xfrm>
            <a:off x="922392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Valid: absolutely everything — mean, median, mode, ratios, and every arithmetic operation</a:t>
            </a:r>
            <a:endParaRPr lang="en-US" sz="1100" b="0" u="none" strike="noStrike">
              <a:solidFill>
                <a:srgbClr val="000000"/>
              </a:solidFill>
              <a:effectLst/>
              <a:uFillTx/>
              <a:latin typeface="Arial"/>
            </a:endParaRPr>
          </a:p>
        </p:txBody>
      </p:sp>
      <p:sp>
        <p:nvSpPr>
          <p:cNvPr id="527" name="Text 1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28" name="Text 2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29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2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30" name="Image 0" descr="preencoded.png"/>
          <p:cNvPicPr/>
          <p:nvPr/>
        </p:nvPicPr>
        <p:blipFill>
          <a:blip r:embed="rId1"/>
          <a:stretch/>
        </p:blipFill>
        <p:spPr>
          <a:xfrm>
            <a:off x="548640" y="548640"/>
            <a:ext cx="447480" cy="447480"/>
          </a:xfrm>
          <a:prstGeom prst="rect">
            <a:avLst/>
          </a:prstGeom>
          <a:noFill/>
          <a:ln w="0">
            <a:noFill/>
          </a:ln>
        </p:spPr>
      </p:pic>
      <p:sp>
        <p:nvSpPr>
          <p:cNvPr id="53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Types of Data &amp; Measurement Scales</a:t>
            </a:r>
            <a:endParaRPr lang="en-US" sz="2400" b="0" u="none" strike="noStrike">
              <a:solidFill>
                <a:srgbClr val="000000"/>
              </a:solidFill>
              <a:effectLst/>
              <a:uFillTx/>
              <a:latin typeface="Arial"/>
            </a:endParaRPr>
          </a:p>
        </p:txBody>
      </p:sp>
      <p:sp>
        <p:nvSpPr>
          <p:cNvPr id="53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33"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535"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6"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537"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Classify each as nominal, ordinal, interval, or ratio: shoe size, exam grade (A/B/C), income, year of birth</a:t>
            </a:r>
            <a:endParaRPr lang="en-US" sz="1250" b="0" u="none" strike="noStrike">
              <a:solidFill>
                <a:srgbClr val="000000"/>
              </a:solidFill>
              <a:effectLst/>
              <a:uFillTx/>
              <a:latin typeface="Arial"/>
            </a:endParaRPr>
          </a:p>
        </p:txBody>
      </p:sp>
      <p:sp>
        <p:nvSpPr>
          <p:cNvPr id="538" name="Shape 8"/>
          <p:cNvSpPr/>
          <p:nvPr/>
        </p:nvSpPr>
        <p:spPr>
          <a:xfrm>
            <a:off x="822960" y="33008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39" name="Text 9"/>
          <p:cNvSpPr/>
          <p:nvPr/>
        </p:nvSpPr>
        <p:spPr>
          <a:xfrm>
            <a:off x="822960" y="33008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540" name="Text 10"/>
          <p:cNvSpPr/>
          <p:nvPr/>
        </p:nvSpPr>
        <p:spPr>
          <a:xfrm>
            <a:off x="1435680" y="33008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why "average zip code" is a meaningless calculation, using what you learned about nominal data</a:t>
            </a:r>
            <a:endParaRPr lang="en-US" sz="1250" b="0" u="none" strike="noStrike">
              <a:solidFill>
                <a:srgbClr val="000000"/>
              </a:solidFill>
              <a:effectLst/>
              <a:uFillTx/>
              <a:latin typeface="Arial"/>
            </a:endParaRPr>
          </a:p>
        </p:txBody>
      </p:sp>
      <p:sp>
        <p:nvSpPr>
          <p:cNvPr id="541" name="Shape 11"/>
          <p:cNvSpPr/>
          <p:nvPr/>
        </p:nvSpPr>
        <p:spPr>
          <a:xfrm>
            <a:off x="822960" y="41788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2" name="Text 12"/>
          <p:cNvSpPr/>
          <p:nvPr/>
        </p:nvSpPr>
        <p:spPr>
          <a:xfrm>
            <a:off x="822960" y="41788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543" name="Text 13"/>
          <p:cNvSpPr/>
          <p:nvPr/>
        </p:nvSpPr>
        <p:spPr>
          <a:xfrm>
            <a:off x="1435680" y="41788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why saying "40°C is twice as hot as 20°C" is incorrect, using the interval scale’s lack of a true zero</a:t>
            </a:r>
            <a:endParaRPr lang="en-US" sz="1250" b="0" u="none" strike="noStrike">
              <a:solidFill>
                <a:srgbClr val="000000"/>
              </a:solidFill>
              <a:effectLst/>
              <a:uFillTx/>
              <a:latin typeface="Arial"/>
            </a:endParaRPr>
          </a:p>
        </p:txBody>
      </p:sp>
      <p:sp>
        <p:nvSpPr>
          <p:cNvPr id="544" name="Shape 14"/>
          <p:cNvSpPr/>
          <p:nvPr/>
        </p:nvSpPr>
        <p:spPr>
          <a:xfrm>
            <a:off x="822960" y="50565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5" name="Text 15"/>
          <p:cNvSpPr/>
          <p:nvPr/>
        </p:nvSpPr>
        <p:spPr>
          <a:xfrm>
            <a:off x="822960" y="5056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546" name="Text 16"/>
          <p:cNvSpPr/>
          <p:nvPr/>
        </p:nvSpPr>
        <p:spPr>
          <a:xfrm>
            <a:off x="1435680" y="50565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a customer satisfaction survey using a 1–5 star rating, identify the scale and explain what operations are safely valid on it</a:t>
            </a:r>
            <a:endParaRPr lang="en-US" sz="1250" b="0" u="none" strike="noStrike">
              <a:solidFill>
                <a:srgbClr val="000000"/>
              </a:solidFill>
              <a:effectLst/>
              <a:uFillTx/>
              <a:latin typeface="Arial"/>
            </a:endParaRPr>
          </a:p>
        </p:txBody>
      </p:sp>
      <p:sp>
        <p:nvSpPr>
          <p:cNvPr id="547"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48"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49"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550"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551"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552"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553"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54"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55" name="Image 0" descr="preencoded.png"/>
          <p:cNvPicPr/>
          <p:nvPr/>
        </p:nvPicPr>
        <p:blipFill>
          <a:blip r:embed="rId1"/>
          <a:stretch/>
        </p:blipFill>
        <p:spPr>
          <a:xfrm>
            <a:off x="5870520" y="1348920"/>
            <a:ext cx="456480" cy="456480"/>
          </a:xfrm>
          <a:prstGeom prst="rect">
            <a:avLst/>
          </a:prstGeom>
          <a:noFill/>
          <a:ln w="0">
            <a:noFill/>
          </a:ln>
        </p:spPr>
      </p:pic>
      <p:sp>
        <p:nvSpPr>
          <p:cNvPr id="556"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4</a:t>
            </a:r>
            <a:endParaRPr lang="en-US" sz="1200" b="0" u="none" strike="noStrike">
              <a:solidFill>
                <a:srgbClr val="000000"/>
              </a:solidFill>
              <a:effectLst/>
              <a:uFillTx/>
              <a:latin typeface="Arial"/>
            </a:endParaRPr>
          </a:p>
        </p:txBody>
      </p:sp>
      <p:sp>
        <p:nvSpPr>
          <p:cNvPr id="557"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Errors &amp; Bias in Data &amp; Measurement</a:t>
            </a:r>
            <a:endParaRPr lang="en-US" sz="2900" b="0" u="none" strike="noStrike">
              <a:solidFill>
                <a:srgbClr val="000000"/>
              </a:solidFill>
              <a:effectLst/>
              <a:uFillTx/>
              <a:latin typeface="Arial"/>
            </a:endParaRPr>
          </a:p>
        </p:txBody>
      </p:sp>
      <p:sp>
        <p:nvSpPr>
          <p:cNvPr id="558"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Before trusting any statistic, it’s worth asking where the data could have gone wrong on the way to you</a:t>
            </a:r>
            <a:endParaRPr lang="en-US" sz="1500" b="0" u="none" strike="noStrike">
              <a:solidFill>
                <a:srgbClr val="000000"/>
              </a:solidFill>
              <a:effectLst/>
              <a:uFillTx/>
              <a:latin typeface="Arial"/>
            </a:endParaRPr>
          </a:p>
        </p:txBody>
      </p:sp>
      <p:sp>
        <p:nvSpPr>
          <p:cNvPr id="559"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6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1" name="Image 0" descr="preencoded.png"/>
          <p:cNvPicPr/>
          <p:nvPr/>
        </p:nvPicPr>
        <p:blipFill>
          <a:blip r:embed="rId1"/>
          <a:stretch/>
        </p:blipFill>
        <p:spPr>
          <a:xfrm>
            <a:off x="548640" y="548640"/>
            <a:ext cx="447480" cy="447480"/>
          </a:xfrm>
          <a:prstGeom prst="rect">
            <a:avLst/>
          </a:prstGeom>
          <a:noFill/>
          <a:ln w="0">
            <a:noFill/>
          </a:ln>
        </p:spPr>
      </p:pic>
      <p:sp>
        <p:nvSpPr>
          <p:cNvPr id="56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Why Errors Matter Before You Even Start Analyzing</a:t>
            </a:r>
            <a:endParaRPr lang="en-US" sz="2400" b="0" u="none" strike="noStrike">
              <a:solidFill>
                <a:srgbClr val="000000"/>
              </a:solidFill>
              <a:effectLst/>
              <a:uFillTx/>
              <a:latin typeface="Arial"/>
            </a:endParaRPr>
          </a:p>
        </p:txBody>
      </p:sp>
      <p:sp>
        <p:nvSpPr>
          <p:cNvPr id="56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64"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5"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66" name="Image 1" descr="preencoded.png"/>
          <p:cNvPicPr/>
          <p:nvPr/>
        </p:nvPicPr>
        <p:blipFill>
          <a:blip r:embed="rId2"/>
          <a:stretch/>
        </p:blipFill>
        <p:spPr>
          <a:xfrm>
            <a:off x="1746360" y="2423160"/>
            <a:ext cx="1087560" cy="1087560"/>
          </a:xfrm>
          <a:prstGeom prst="rect">
            <a:avLst/>
          </a:prstGeom>
          <a:noFill/>
          <a:ln w="0">
            <a:noFill/>
          </a:ln>
        </p:spPr>
      </p:pic>
      <p:sp>
        <p:nvSpPr>
          <p:cNvPr id="567"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Garbage in,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garbage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out</a:t>
            </a:r>
            <a:endParaRPr lang="en-US" sz="1600" b="0" u="none" strike="noStrike">
              <a:solidFill>
                <a:srgbClr val="000000"/>
              </a:solidFill>
              <a:effectLst/>
              <a:uFillTx/>
              <a:latin typeface="Arial"/>
            </a:endParaRPr>
          </a:p>
        </p:txBody>
      </p:sp>
      <p:sp>
        <p:nvSpPr>
          <p:cNvPr id="568"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No formula can fix data that was collected badly — statistics can describe your data perfectly and still describe the wrong thing entirely</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Understanding where error creeps in is exactly what separates a careful analysis from a misleading one, especially in research</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Error, here, doesn’t mean "a mistake someone made" — it means any gap between what you measured and the real truth, even an entirely honest one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Two broad categories cover almost every real-world case: sampling error, and non-sampling error</a:t>
            </a:r>
            <a:endParaRPr lang="en-US" sz="1600" b="0" u="none" strike="noStrike">
              <a:solidFill>
                <a:srgbClr val="000000"/>
              </a:solidFill>
              <a:effectLst/>
              <a:uFillTx/>
              <a:latin typeface="Arial"/>
            </a:endParaRPr>
          </a:p>
        </p:txBody>
      </p:sp>
      <p:sp>
        <p:nvSpPr>
          <p:cNvPr id="569"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70"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71"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2" name="Image 0" descr="preencoded.png"/>
          <p:cNvPicPr/>
          <p:nvPr/>
        </p:nvPicPr>
        <p:blipFill>
          <a:blip r:embed="rId1"/>
          <a:stretch/>
        </p:blipFill>
        <p:spPr>
          <a:xfrm>
            <a:off x="548640" y="548640"/>
            <a:ext cx="447480" cy="447480"/>
          </a:xfrm>
          <a:prstGeom prst="rect">
            <a:avLst/>
          </a:prstGeom>
          <a:noFill/>
          <a:ln w="0">
            <a:noFill/>
          </a:ln>
        </p:spPr>
      </p:pic>
      <p:sp>
        <p:nvSpPr>
          <p:cNvPr id="573"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Sampling Error</a:t>
            </a:r>
            <a:endParaRPr lang="en-US" sz="2400" b="0" u="none" strike="noStrike">
              <a:solidFill>
                <a:srgbClr val="000000"/>
              </a:solidFill>
              <a:effectLst/>
              <a:uFillTx/>
              <a:latin typeface="Arial"/>
            </a:endParaRPr>
          </a:p>
        </p:txBody>
      </p:sp>
      <p:sp>
        <p:nvSpPr>
          <p:cNvPr id="574"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75"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6"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77" name="Image 1" descr="preencoded.png"/>
          <p:cNvPicPr/>
          <p:nvPr/>
        </p:nvPicPr>
        <p:blipFill>
          <a:blip r:embed="rId2"/>
          <a:stretch/>
        </p:blipFill>
        <p:spPr>
          <a:xfrm>
            <a:off x="1746360" y="2423160"/>
            <a:ext cx="1087560" cy="1087560"/>
          </a:xfrm>
          <a:prstGeom prst="rect">
            <a:avLst/>
          </a:prstGeom>
          <a:noFill/>
          <a:ln w="0">
            <a:noFill/>
          </a:ln>
        </p:spPr>
      </p:pic>
      <p:sp>
        <p:nvSpPr>
          <p:cNvPr id="578"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The sample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wasn’t the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population</a:t>
            </a:r>
            <a:endParaRPr lang="en-US" sz="1600" b="0" u="none" strike="noStrike">
              <a:solidFill>
                <a:srgbClr val="000000"/>
              </a:solidFill>
              <a:effectLst/>
              <a:uFillTx/>
              <a:latin typeface="Arial"/>
            </a:endParaRPr>
          </a:p>
        </p:txBody>
      </p:sp>
      <p:sp>
        <p:nvSpPr>
          <p:cNvPr id="579"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Sampling error is the natural, unavoidable difference between a sample’s result and the true population value — simply because you didn’t measure everyone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exists even with a perfectly random, perfectly executed sample — it’s a mathematical consequence of sampling itself, not a mistake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Generally, larger samples have smaller sampling error — this is exactly why survey sample sizes matter so much</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concept is the direct seed of "margin of error" and confidence intervals, which get fully covered in Session 20</a:t>
            </a:r>
            <a:endParaRPr lang="en-US" sz="1600" b="0" u="none" strike="noStrike">
              <a:solidFill>
                <a:srgbClr val="000000"/>
              </a:solidFill>
              <a:effectLst/>
              <a:uFillTx/>
              <a:latin typeface="Arial"/>
            </a:endParaRPr>
          </a:p>
        </p:txBody>
      </p:sp>
      <p:sp>
        <p:nvSpPr>
          <p:cNvPr id="580"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81"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82"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83" name="Image 0" descr="preencoded.png"/>
          <p:cNvPicPr/>
          <p:nvPr/>
        </p:nvPicPr>
        <p:blipFill>
          <a:blip r:embed="rId1"/>
          <a:stretch/>
        </p:blipFill>
        <p:spPr>
          <a:xfrm>
            <a:off x="548640" y="548640"/>
            <a:ext cx="447480" cy="447480"/>
          </a:xfrm>
          <a:prstGeom prst="rect">
            <a:avLst/>
          </a:prstGeom>
          <a:noFill/>
          <a:ln w="0">
            <a:noFill/>
          </a:ln>
        </p:spPr>
      </p:pic>
      <p:sp>
        <p:nvSpPr>
          <p:cNvPr id="584"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Non-Sampling Error — Everything Else That Can Go Wrong</a:t>
            </a:r>
            <a:endParaRPr lang="en-US" sz="2400" b="0" u="none" strike="noStrike">
              <a:solidFill>
                <a:srgbClr val="000000"/>
              </a:solidFill>
              <a:effectLst/>
              <a:uFillTx/>
              <a:latin typeface="Arial"/>
            </a:endParaRPr>
          </a:p>
        </p:txBody>
      </p:sp>
      <p:sp>
        <p:nvSpPr>
          <p:cNvPr id="585"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86"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7" name="Shape 4"/>
          <p:cNvSpPr/>
          <p:nvPr/>
        </p:nvSpPr>
        <p:spPr>
          <a:xfrm>
            <a:off x="1508760" y="2194560"/>
            <a:ext cx="1553760" cy="155376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88" name="Image 1" descr="preencoded.png"/>
          <p:cNvPicPr/>
          <p:nvPr/>
        </p:nvPicPr>
        <p:blipFill>
          <a:blip r:embed="rId2"/>
          <a:stretch/>
        </p:blipFill>
        <p:spPr>
          <a:xfrm>
            <a:off x="1746360" y="2423160"/>
            <a:ext cx="1087560" cy="1087560"/>
          </a:xfrm>
          <a:prstGeom prst="rect">
            <a:avLst/>
          </a:prstGeom>
          <a:noFill/>
          <a:ln w="0">
            <a:noFill/>
          </a:ln>
        </p:spPr>
      </p:pic>
      <p:sp>
        <p:nvSpPr>
          <p:cNvPr id="589"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Avoidable,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if you’re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careful</a:t>
            </a:r>
            <a:endParaRPr lang="en-US" sz="1600" b="0" u="none" strike="noStrike">
              <a:solidFill>
                <a:srgbClr val="000000"/>
              </a:solidFill>
              <a:effectLst/>
              <a:uFillTx/>
              <a:latin typeface="Arial"/>
            </a:endParaRPr>
          </a:p>
        </p:txBody>
      </p:sp>
      <p:sp>
        <p:nvSpPr>
          <p:cNvPr id="590"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Unlike sampling error, non-sampling error is NOT unavoidable — it comes from how the data was collected, entered, or reported, and better process can reduce it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Measurement error: a faulty scale, a poorly worded survey question, or an inconsistent way of recording something</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Non-response error: the people who didn’t answer your survey may differ systematically from those who did</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Data entry error: simple typos, duplicate records, or a unit mismatch (recording kg as lbs) during data collection</a:t>
            </a:r>
            <a:endParaRPr lang="en-US" sz="1600" b="0" u="none" strike="noStrike">
              <a:solidFill>
                <a:srgbClr val="000000"/>
              </a:solidFill>
              <a:effectLst/>
              <a:uFillTx/>
              <a:latin typeface="Arial"/>
            </a:endParaRPr>
          </a:p>
        </p:txBody>
      </p:sp>
      <p:sp>
        <p:nvSpPr>
          <p:cNvPr id="591"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592"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59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94" name="Image 0" descr="preencoded.png"/>
          <p:cNvPicPr/>
          <p:nvPr/>
        </p:nvPicPr>
        <p:blipFill>
          <a:blip r:embed="rId1"/>
          <a:stretch/>
        </p:blipFill>
        <p:spPr>
          <a:xfrm>
            <a:off x="548640" y="548640"/>
            <a:ext cx="447480" cy="447480"/>
          </a:xfrm>
          <a:prstGeom prst="rect">
            <a:avLst/>
          </a:prstGeom>
          <a:noFill/>
          <a:ln w="0">
            <a:noFill/>
          </a:ln>
        </p:spPr>
      </p:pic>
      <p:sp>
        <p:nvSpPr>
          <p:cNvPr id="59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Common Sources of Non-Sampling Error, at a Glance</a:t>
            </a:r>
            <a:endParaRPr lang="en-US" sz="2400" b="0" u="none" strike="noStrike">
              <a:solidFill>
                <a:srgbClr val="000000"/>
              </a:solidFill>
              <a:effectLst/>
              <a:uFillTx/>
              <a:latin typeface="Arial"/>
            </a:endParaRPr>
          </a:p>
        </p:txBody>
      </p:sp>
      <p:sp>
        <p:nvSpPr>
          <p:cNvPr id="59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597" name="Shape 3"/>
          <p:cNvSpPr/>
          <p:nvPr/>
        </p:nvSpPr>
        <p:spPr>
          <a:xfrm>
            <a:off x="457200" y="1508760"/>
            <a:ext cx="3611160" cy="4891320"/>
          </a:xfrm>
          <a:prstGeom prst="roundRect">
            <a:avLst>
              <a:gd name="adj" fmla="val 405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98" name="Shape 4"/>
          <p:cNvSpPr/>
          <p:nvPr/>
        </p:nvSpPr>
        <p:spPr>
          <a:xfrm>
            <a:off x="19890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99" name="Image 1" descr="preencoded.png"/>
          <p:cNvPicPr/>
          <p:nvPr/>
        </p:nvPicPr>
        <p:blipFill>
          <a:blip r:embed="rId2"/>
          <a:stretch/>
        </p:blipFill>
        <p:spPr>
          <a:xfrm>
            <a:off x="2071080" y="2176200"/>
            <a:ext cx="383400" cy="383400"/>
          </a:xfrm>
          <a:prstGeom prst="rect">
            <a:avLst/>
          </a:prstGeom>
          <a:noFill/>
          <a:ln w="0">
            <a:noFill/>
          </a:ln>
        </p:spPr>
      </p:pic>
      <p:sp>
        <p:nvSpPr>
          <p:cNvPr id="600" name="Text 5"/>
          <p:cNvSpPr/>
          <p:nvPr/>
        </p:nvSpPr>
        <p:spPr>
          <a:xfrm>
            <a:off x="5486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Measurement Error</a:t>
            </a:r>
            <a:endParaRPr lang="en-US" sz="1300" b="0" u="none" strike="noStrike">
              <a:solidFill>
                <a:srgbClr val="000000"/>
              </a:solidFill>
              <a:effectLst/>
              <a:uFillTx/>
              <a:latin typeface="Arial"/>
            </a:endParaRPr>
          </a:p>
        </p:txBody>
      </p:sp>
      <p:sp>
        <p:nvSpPr>
          <p:cNvPr id="601" name="Text 6"/>
          <p:cNvSpPr/>
          <p:nvPr/>
        </p:nvSpPr>
        <p:spPr>
          <a:xfrm>
            <a:off x="60336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The tool, question, or process used to record the data was flawed or inconsistent</a:t>
            </a:r>
            <a:endParaRPr lang="en-US" sz="1100" b="0" u="none" strike="noStrike">
              <a:solidFill>
                <a:srgbClr val="000000"/>
              </a:solidFill>
              <a:effectLst/>
              <a:uFillTx/>
              <a:latin typeface="Arial"/>
            </a:endParaRPr>
          </a:p>
        </p:txBody>
      </p:sp>
      <p:sp>
        <p:nvSpPr>
          <p:cNvPr id="602" name="Shape 7"/>
          <p:cNvSpPr/>
          <p:nvPr/>
        </p:nvSpPr>
        <p:spPr>
          <a:xfrm>
            <a:off x="4288680" y="1508760"/>
            <a:ext cx="3611160" cy="4891320"/>
          </a:xfrm>
          <a:prstGeom prst="roundRect">
            <a:avLst>
              <a:gd name="adj" fmla="val 405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3" name="Shape 8"/>
          <p:cNvSpPr/>
          <p:nvPr/>
        </p:nvSpPr>
        <p:spPr>
          <a:xfrm>
            <a:off x="582012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04" name="Image 2" descr="preencoded.png"/>
          <p:cNvPicPr/>
          <p:nvPr/>
        </p:nvPicPr>
        <p:blipFill>
          <a:blip r:embed="rId3"/>
          <a:stretch/>
        </p:blipFill>
        <p:spPr>
          <a:xfrm>
            <a:off x="5902560" y="2176200"/>
            <a:ext cx="383400" cy="383400"/>
          </a:xfrm>
          <a:prstGeom prst="rect">
            <a:avLst/>
          </a:prstGeom>
          <a:noFill/>
          <a:ln w="0">
            <a:noFill/>
          </a:ln>
        </p:spPr>
      </p:pic>
      <p:sp>
        <p:nvSpPr>
          <p:cNvPr id="605" name="Text 9"/>
          <p:cNvSpPr/>
          <p:nvPr/>
        </p:nvSpPr>
        <p:spPr>
          <a:xfrm>
            <a:off x="438012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Non-Response Error</a:t>
            </a:r>
            <a:endParaRPr lang="en-US" sz="1300" b="0" u="none" strike="noStrike">
              <a:solidFill>
                <a:srgbClr val="000000"/>
              </a:solidFill>
              <a:effectLst/>
              <a:uFillTx/>
              <a:latin typeface="Arial"/>
            </a:endParaRPr>
          </a:p>
        </p:txBody>
      </p:sp>
      <p:sp>
        <p:nvSpPr>
          <p:cNvPr id="606" name="Text 10"/>
          <p:cNvSpPr/>
          <p:nvPr/>
        </p:nvSpPr>
        <p:spPr>
          <a:xfrm>
            <a:off x="443484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The people who didn’t respond likely differ from those who did, skewing results</a:t>
            </a:r>
            <a:endParaRPr lang="en-US" sz="1100" b="0" u="none" strike="noStrike">
              <a:solidFill>
                <a:srgbClr val="000000"/>
              </a:solidFill>
              <a:effectLst/>
              <a:uFillTx/>
              <a:latin typeface="Arial"/>
            </a:endParaRPr>
          </a:p>
        </p:txBody>
      </p:sp>
      <p:sp>
        <p:nvSpPr>
          <p:cNvPr id="607" name="Shape 11"/>
          <p:cNvSpPr/>
          <p:nvPr/>
        </p:nvSpPr>
        <p:spPr>
          <a:xfrm>
            <a:off x="8119800" y="1508760"/>
            <a:ext cx="3611160" cy="4891320"/>
          </a:xfrm>
          <a:prstGeom prst="roundRect">
            <a:avLst>
              <a:gd name="adj" fmla="val 4051"/>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08" name="Shape 12"/>
          <p:cNvSpPr/>
          <p:nvPr/>
        </p:nvSpPr>
        <p:spPr>
          <a:xfrm>
            <a:off x="965160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09" name="Image 3" descr="preencoded.png"/>
          <p:cNvPicPr/>
          <p:nvPr/>
        </p:nvPicPr>
        <p:blipFill>
          <a:blip r:embed="rId4"/>
          <a:stretch/>
        </p:blipFill>
        <p:spPr>
          <a:xfrm>
            <a:off x="9733680" y="2176200"/>
            <a:ext cx="383400" cy="383400"/>
          </a:xfrm>
          <a:prstGeom prst="rect">
            <a:avLst/>
          </a:prstGeom>
          <a:noFill/>
          <a:ln w="0">
            <a:noFill/>
          </a:ln>
        </p:spPr>
      </p:pic>
      <p:sp>
        <p:nvSpPr>
          <p:cNvPr id="610" name="Text 13"/>
          <p:cNvSpPr/>
          <p:nvPr/>
        </p:nvSpPr>
        <p:spPr>
          <a:xfrm>
            <a:off x="82112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Data Entry Error</a:t>
            </a:r>
            <a:endParaRPr lang="en-US" sz="1300" b="0" u="none" strike="noStrike">
              <a:solidFill>
                <a:srgbClr val="000000"/>
              </a:solidFill>
              <a:effectLst/>
              <a:uFillTx/>
              <a:latin typeface="Arial"/>
            </a:endParaRPr>
          </a:p>
        </p:txBody>
      </p:sp>
      <p:sp>
        <p:nvSpPr>
          <p:cNvPr id="611" name="Text 14"/>
          <p:cNvSpPr/>
          <p:nvPr/>
        </p:nvSpPr>
        <p:spPr>
          <a:xfrm>
            <a:off x="826632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Typos, duplicates, and unit mismatches introduced while recording or storing data</a:t>
            </a:r>
            <a:endParaRPr lang="en-US" sz="1100" b="0" u="none" strike="noStrike">
              <a:solidFill>
                <a:srgbClr val="000000"/>
              </a:solidFill>
              <a:effectLst/>
              <a:uFillTx/>
              <a:latin typeface="Arial"/>
            </a:endParaRPr>
          </a:p>
        </p:txBody>
      </p:sp>
      <p:sp>
        <p:nvSpPr>
          <p:cNvPr id="612" name="Text 15"/>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13" name="Text 16"/>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14"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15" name="Image 0" descr="preencoded.png"/>
          <p:cNvPicPr/>
          <p:nvPr/>
        </p:nvPicPr>
        <p:blipFill>
          <a:blip r:embed="rId1"/>
          <a:stretch/>
        </p:blipFill>
        <p:spPr>
          <a:xfrm>
            <a:off x="548640" y="548640"/>
            <a:ext cx="447480" cy="447480"/>
          </a:xfrm>
          <a:prstGeom prst="rect">
            <a:avLst/>
          </a:prstGeom>
          <a:noFill/>
          <a:ln w="0">
            <a:noFill/>
          </a:ln>
        </p:spPr>
      </p:pic>
      <p:sp>
        <p:nvSpPr>
          <p:cNvPr id="616"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Bias — Not the Same Thing as Error</a:t>
            </a:r>
            <a:endParaRPr lang="en-US" sz="2400" b="0" u="none" strike="noStrike">
              <a:solidFill>
                <a:srgbClr val="000000"/>
              </a:solidFill>
              <a:effectLst/>
              <a:uFillTx/>
              <a:latin typeface="Arial"/>
            </a:endParaRPr>
          </a:p>
        </p:txBody>
      </p:sp>
      <p:sp>
        <p:nvSpPr>
          <p:cNvPr id="617"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18"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9" name="Shape 4"/>
          <p:cNvSpPr/>
          <p:nvPr/>
        </p:nvSpPr>
        <p:spPr>
          <a:xfrm>
            <a:off x="1508760" y="2194560"/>
            <a:ext cx="1553760" cy="155376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20" name="Image 1" descr="preencoded.png"/>
          <p:cNvPicPr/>
          <p:nvPr/>
        </p:nvPicPr>
        <p:blipFill>
          <a:blip r:embed="rId2"/>
          <a:stretch/>
        </p:blipFill>
        <p:spPr>
          <a:xfrm>
            <a:off x="1746360" y="2423160"/>
            <a:ext cx="1087560" cy="1087560"/>
          </a:xfrm>
          <a:prstGeom prst="rect">
            <a:avLst/>
          </a:prstGeom>
          <a:noFill/>
          <a:ln w="0">
            <a:noFill/>
          </a:ln>
        </p:spPr>
      </p:pic>
      <p:sp>
        <p:nvSpPr>
          <p:cNvPr id="621"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Systematic,</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not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random</a:t>
            </a:r>
            <a:endParaRPr lang="en-US" sz="1600" b="0" u="none" strike="noStrike">
              <a:solidFill>
                <a:srgbClr val="000000"/>
              </a:solidFill>
              <a:effectLst/>
              <a:uFillTx/>
              <a:latin typeface="Arial"/>
            </a:endParaRPr>
          </a:p>
        </p:txBody>
      </p:sp>
      <p:sp>
        <p:nvSpPr>
          <p:cNvPr id="622"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Random error scatters your data around the true value — sometimes too high, sometimes too low, roughly canceling out on average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Bias pushes your data consistently in ONE direction — it doesn’t cancel out no matter how much data you collect, because the flaw is systematic, not random</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is exactly why sampling error shrinks with a bigger sample, but bias does not — a biased sampling method just gives you a more precisely wrong answer with more data</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Recognizing bias means looking critically at HOW data was collected, not just how much of it there is</a:t>
            </a:r>
            <a:endParaRPr lang="en-US" sz="1600" b="0" u="none" strike="noStrike">
              <a:solidFill>
                <a:srgbClr val="000000"/>
              </a:solidFill>
              <a:effectLst/>
              <a:uFillTx/>
              <a:latin typeface="Arial"/>
            </a:endParaRPr>
          </a:p>
        </p:txBody>
      </p:sp>
      <p:sp>
        <p:nvSpPr>
          <p:cNvPr id="623"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24"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25"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26" name="Image 0" descr="preencoded.png"/>
          <p:cNvPicPr/>
          <p:nvPr/>
        </p:nvPicPr>
        <p:blipFill>
          <a:blip r:embed="rId1"/>
          <a:stretch/>
        </p:blipFill>
        <p:spPr>
          <a:xfrm>
            <a:off x="548640" y="548640"/>
            <a:ext cx="447480" cy="447480"/>
          </a:xfrm>
          <a:prstGeom prst="rect">
            <a:avLst/>
          </a:prstGeom>
          <a:noFill/>
          <a:ln w="0">
            <a:noFill/>
          </a:ln>
        </p:spPr>
      </p:pic>
      <p:sp>
        <p:nvSpPr>
          <p:cNvPr id="627"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Common Types of Bias</a:t>
            </a:r>
            <a:endParaRPr lang="en-US" sz="2400" b="0" u="none" strike="noStrike">
              <a:solidFill>
                <a:srgbClr val="000000"/>
              </a:solidFill>
              <a:effectLst/>
              <a:uFillTx/>
              <a:latin typeface="Arial"/>
            </a:endParaRPr>
          </a:p>
        </p:txBody>
      </p:sp>
      <p:sp>
        <p:nvSpPr>
          <p:cNvPr id="628"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29" name="Shape 3"/>
          <p:cNvSpPr/>
          <p:nvPr/>
        </p:nvSpPr>
        <p:spPr>
          <a:xfrm>
            <a:off x="45720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0" name="Shape 4"/>
          <p:cNvSpPr/>
          <p:nvPr/>
        </p:nvSpPr>
        <p:spPr>
          <a:xfrm>
            <a:off x="150984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31" name="Image 1" descr="preencoded.png"/>
          <p:cNvPicPr/>
          <p:nvPr/>
        </p:nvPicPr>
        <p:blipFill>
          <a:blip r:embed="rId2"/>
          <a:stretch/>
        </p:blipFill>
        <p:spPr>
          <a:xfrm>
            <a:off x="1592280" y="2176200"/>
            <a:ext cx="383400" cy="383400"/>
          </a:xfrm>
          <a:prstGeom prst="rect">
            <a:avLst/>
          </a:prstGeom>
          <a:noFill/>
          <a:ln w="0">
            <a:noFill/>
          </a:ln>
        </p:spPr>
      </p:pic>
      <p:sp>
        <p:nvSpPr>
          <p:cNvPr id="632" name="Text 5"/>
          <p:cNvSpPr/>
          <p:nvPr/>
        </p:nvSpPr>
        <p:spPr>
          <a:xfrm>
            <a:off x="54864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Selection Bias</a:t>
            </a:r>
            <a:endParaRPr lang="en-US" sz="1300" b="0" u="none" strike="noStrike">
              <a:solidFill>
                <a:srgbClr val="000000"/>
              </a:solidFill>
              <a:effectLst/>
              <a:uFillTx/>
              <a:latin typeface="Arial"/>
            </a:endParaRPr>
          </a:p>
        </p:txBody>
      </p:sp>
      <p:sp>
        <p:nvSpPr>
          <p:cNvPr id="633" name="Text 6"/>
          <p:cNvSpPr/>
          <p:nvPr/>
        </p:nvSpPr>
        <p:spPr>
          <a:xfrm>
            <a:off x="60336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The sample systematically favors certain members of the population over others</a:t>
            </a:r>
            <a:endParaRPr lang="en-US" sz="1100" b="0" u="none" strike="noStrike">
              <a:solidFill>
                <a:srgbClr val="000000"/>
              </a:solidFill>
              <a:effectLst/>
              <a:uFillTx/>
              <a:latin typeface="Arial"/>
            </a:endParaRPr>
          </a:p>
        </p:txBody>
      </p:sp>
      <p:sp>
        <p:nvSpPr>
          <p:cNvPr id="634" name="Shape 7"/>
          <p:cNvSpPr/>
          <p:nvPr/>
        </p:nvSpPr>
        <p:spPr>
          <a:xfrm>
            <a:off x="3330720" y="1508760"/>
            <a:ext cx="2653200" cy="4891320"/>
          </a:xfrm>
          <a:prstGeom prst="roundRect">
            <a:avLst>
              <a:gd name="adj" fmla="val 5512"/>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5" name="Shape 8"/>
          <p:cNvSpPr/>
          <p:nvPr/>
        </p:nvSpPr>
        <p:spPr>
          <a:xfrm>
            <a:off x="438336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36" name="Image 2" descr="preencoded.png"/>
          <p:cNvPicPr/>
          <p:nvPr/>
        </p:nvPicPr>
        <p:blipFill>
          <a:blip r:embed="rId3"/>
          <a:stretch/>
        </p:blipFill>
        <p:spPr>
          <a:xfrm>
            <a:off x="4465800" y="2176200"/>
            <a:ext cx="383400" cy="383400"/>
          </a:xfrm>
          <a:prstGeom prst="rect">
            <a:avLst/>
          </a:prstGeom>
          <a:noFill/>
          <a:ln w="0">
            <a:noFill/>
          </a:ln>
        </p:spPr>
      </p:pic>
      <p:sp>
        <p:nvSpPr>
          <p:cNvPr id="637" name="Text 9"/>
          <p:cNvSpPr/>
          <p:nvPr/>
        </p:nvSpPr>
        <p:spPr>
          <a:xfrm>
            <a:off x="342216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Confirmation Bias</a:t>
            </a:r>
            <a:endParaRPr lang="en-US" sz="1300" b="0" u="none" strike="noStrike">
              <a:solidFill>
                <a:srgbClr val="000000"/>
              </a:solidFill>
              <a:effectLst/>
              <a:uFillTx/>
              <a:latin typeface="Arial"/>
            </a:endParaRPr>
          </a:p>
        </p:txBody>
      </p:sp>
      <p:sp>
        <p:nvSpPr>
          <p:cNvPr id="638" name="Text 10"/>
          <p:cNvSpPr/>
          <p:nvPr/>
        </p:nvSpPr>
        <p:spPr>
          <a:xfrm>
            <a:off x="347688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Collecting or interpreting data in a way that favors what you already expected to find</a:t>
            </a:r>
            <a:endParaRPr lang="en-US" sz="1100" b="0" u="none" strike="noStrike">
              <a:solidFill>
                <a:srgbClr val="000000"/>
              </a:solidFill>
              <a:effectLst/>
              <a:uFillTx/>
              <a:latin typeface="Arial"/>
            </a:endParaRPr>
          </a:p>
        </p:txBody>
      </p:sp>
      <p:sp>
        <p:nvSpPr>
          <p:cNvPr id="639" name="Shape 11"/>
          <p:cNvSpPr/>
          <p:nvPr/>
        </p:nvSpPr>
        <p:spPr>
          <a:xfrm>
            <a:off x="6204240" y="1508760"/>
            <a:ext cx="2653200" cy="4891320"/>
          </a:xfrm>
          <a:prstGeom prst="roundRect">
            <a:avLst>
              <a:gd name="adj" fmla="val 5512"/>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0" name="Shape 12"/>
          <p:cNvSpPr/>
          <p:nvPr/>
        </p:nvSpPr>
        <p:spPr>
          <a:xfrm>
            <a:off x="725688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41" name="Image 3" descr="preencoded.png"/>
          <p:cNvPicPr/>
          <p:nvPr/>
        </p:nvPicPr>
        <p:blipFill>
          <a:blip r:embed="rId4"/>
          <a:stretch/>
        </p:blipFill>
        <p:spPr>
          <a:xfrm>
            <a:off x="7339320" y="2176200"/>
            <a:ext cx="383400" cy="383400"/>
          </a:xfrm>
          <a:prstGeom prst="rect">
            <a:avLst/>
          </a:prstGeom>
          <a:noFill/>
          <a:ln w="0">
            <a:noFill/>
          </a:ln>
        </p:spPr>
      </p:pic>
      <p:sp>
        <p:nvSpPr>
          <p:cNvPr id="642" name="Text 13"/>
          <p:cNvSpPr/>
          <p:nvPr/>
        </p:nvSpPr>
        <p:spPr>
          <a:xfrm>
            <a:off x="629568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Response Bias</a:t>
            </a:r>
            <a:endParaRPr lang="en-US" sz="1300" b="0" u="none" strike="noStrike">
              <a:solidFill>
                <a:srgbClr val="000000"/>
              </a:solidFill>
              <a:effectLst/>
              <a:uFillTx/>
              <a:latin typeface="Arial"/>
            </a:endParaRPr>
          </a:p>
        </p:txBody>
      </p:sp>
      <p:sp>
        <p:nvSpPr>
          <p:cNvPr id="643" name="Text 14"/>
          <p:cNvSpPr/>
          <p:nvPr/>
        </p:nvSpPr>
        <p:spPr>
          <a:xfrm>
            <a:off x="635040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People answer inaccurately, often to appear more socially acceptable than their true answer</a:t>
            </a:r>
            <a:endParaRPr lang="en-US" sz="1100" b="0" u="none" strike="noStrike">
              <a:solidFill>
                <a:srgbClr val="000000"/>
              </a:solidFill>
              <a:effectLst/>
              <a:uFillTx/>
              <a:latin typeface="Arial"/>
            </a:endParaRPr>
          </a:p>
        </p:txBody>
      </p:sp>
      <p:sp>
        <p:nvSpPr>
          <p:cNvPr id="644" name="Shape 15"/>
          <p:cNvSpPr/>
          <p:nvPr/>
        </p:nvSpPr>
        <p:spPr>
          <a:xfrm>
            <a:off x="9077760" y="1508760"/>
            <a:ext cx="2653200" cy="4891320"/>
          </a:xfrm>
          <a:prstGeom prst="roundRect">
            <a:avLst>
              <a:gd name="adj" fmla="val 5512"/>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45" name="Shape 16"/>
          <p:cNvSpPr/>
          <p:nvPr/>
        </p:nvSpPr>
        <p:spPr>
          <a:xfrm>
            <a:off x="10130400" y="2094120"/>
            <a:ext cx="547920" cy="547920"/>
          </a:xfrm>
          <a:prstGeom prst="ellipse">
            <a:avLst/>
          </a:prstGeom>
          <a:solidFill>
            <a:srgbClr val="FF8FB3"/>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46" name="Image 4" descr="preencoded.png"/>
          <p:cNvPicPr/>
          <p:nvPr/>
        </p:nvPicPr>
        <p:blipFill>
          <a:blip r:embed="rId5"/>
          <a:stretch/>
        </p:blipFill>
        <p:spPr>
          <a:xfrm>
            <a:off x="10212840" y="2176200"/>
            <a:ext cx="383400" cy="383400"/>
          </a:xfrm>
          <a:prstGeom prst="rect">
            <a:avLst/>
          </a:prstGeom>
          <a:noFill/>
          <a:ln w="0">
            <a:noFill/>
          </a:ln>
        </p:spPr>
      </p:pic>
      <p:sp>
        <p:nvSpPr>
          <p:cNvPr id="647" name="Text 17"/>
          <p:cNvSpPr/>
          <p:nvPr/>
        </p:nvSpPr>
        <p:spPr>
          <a:xfrm>
            <a:off x="9169200" y="2715840"/>
            <a:ext cx="247032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Survivorship Bias</a:t>
            </a:r>
            <a:endParaRPr lang="en-US" sz="1300" b="0" u="none" strike="noStrike">
              <a:solidFill>
                <a:srgbClr val="000000"/>
              </a:solidFill>
              <a:effectLst/>
              <a:uFillTx/>
              <a:latin typeface="Arial"/>
            </a:endParaRPr>
          </a:p>
        </p:txBody>
      </p:sp>
      <p:sp>
        <p:nvSpPr>
          <p:cNvPr id="648" name="Text 18"/>
          <p:cNvSpPr/>
          <p:nvPr/>
        </p:nvSpPr>
        <p:spPr>
          <a:xfrm>
            <a:off x="9223920" y="3099960"/>
            <a:ext cx="23608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Only the "survivors" of a process get measured, hiding the failures that dropped out</a:t>
            </a:r>
            <a:endParaRPr lang="en-US" sz="1100" b="0" u="none" strike="noStrike">
              <a:solidFill>
                <a:srgbClr val="000000"/>
              </a:solidFill>
              <a:effectLst/>
              <a:uFillTx/>
              <a:latin typeface="Arial"/>
            </a:endParaRPr>
          </a:p>
        </p:txBody>
      </p:sp>
      <p:sp>
        <p:nvSpPr>
          <p:cNvPr id="649" name="Text 1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50" name="Text 2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51"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52" name="Image 0" descr="preencoded.png"/>
          <p:cNvPicPr/>
          <p:nvPr/>
        </p:nvPicPr>
        <p:blipFill>
          <a:blip r:embed="rId1"/>
          <a:stretch/>
        </p:blipFill>
        <p:spPr>
          <a:xfrm>
            <a:off x="548640" y="548640"/>
            <a:ext cx="447480" cy="447480"/>
          </a:xfrm>
          <a:prstGeom prst="rect">
            <a:avLst/>
          </a:prstGeom>
          <a:noFill/>
          <a:ln w="0">
            <a:noFill/>
          </a:ln>
        </p:spPr>
      </p:pic>
      <p:sp>
        <p:nvSpPr>
          <p:cNvPr id="653"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How to Actually Reduce Bias</a:t>
            </a:r>
            <a:endParaRPr lang="en-US" sz="2400" b="0" u="none" strike="noStrike">
              <a:solidFill>
                <a:srgbClr val="000000"/>
              </a:solidFill>
              <a:effectLst/>
              <a:uFillTx/>
              <a:latin typeface="Arial"/>
            </a:endParaRPr>
          </a:p>
        </p:txBody>
      </p:sp>
      <p:sp>
        <p:nvSpPr>
          <p:cNvPr id="654"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55"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56"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57" name="Image 1" descr="preencoded.png"/>
          <p:cNvPicPr/>
          <p:nvPr/>
        </p:nvPicPr>
        <p:blipFill>
          <a:blip r:embed="rId2"/>
          <a:stretch/>
        </p:blipFill>
        <p:spPr>
          <a:xfrm>
            <a:off x="1746360" y="2423160"/>
            <a:ext cx="1087560" cy="1087560"/>
          </a:xfrm>
          <a:prstGeom prst="rect">
            <a:avLst/>
          </a:prstGeom>
          <a:noFill/>
          <a:ln w="0">
            <a:noFill/>
          </a:ln>
        </p:spPr>
      </p:pic>
      <p:sp>
        <p:nvSpPr>
          <p:cNvPr id="658"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Design it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out, before</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collecting</a:t>
            </a:r>
            <a:endParaRPr lang="en-US" sz="1600" b="0" u="none" strike="noStrike">
              <a:solidFill>
                <a:srgbClr val="000000"/>
              </a:solidFill>
              <a:effectLst/>
              <a:uFillTx/>
              <a:latin typeface="Arial"/>
            </a:endParaRPr>
          </a:p>
        </p:txBody>
      </p:sp>
      <p:sp>
        <p:nvSpPr>
          <p:cNvPr id="659"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Randomization: using genuine probability sampling gives every member a fair, known chance of selection, directly countering selection bias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Standardized instruments: using the exact same questions, wording, and measurement process for everyone reduces measurement and response bias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Blinding: keeping data collectors unaware of the hypothesis being tested reduces the chance their expectations influence the results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Pilot testing: trying your data collection process on a small group first surfaces confusing questions or flawed measurements before they contaminate the real dataset</a:t>
            </a:r>
            <a:endParaRPr lang="en-US" sz="1600" b="0" u="none" strike="noStrike">
              <a:solidFill>
                <a:srgbClr val="000000"/>
              </a:solidFill>
              <a:effectLst/>
              <a:uFillTx/>
              <a:latin typeface="Arial"/>
            </a:endParaRPr>
          </a:p>
        </p:txBody>
      </p:sp>
      <p:sp>
        <p:nvSpPr>
          <p:cNvPr id="660"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61"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62"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63" name="Image 0" descr="preencoded.png"/>
          <p:cNvPicPr/>
          <p:nvPr/>
        </p:nvPicPr>
        <p:blipFill>
          <a:blip r:embed="rId1"/>
          <a:stretch/>
        </p:blipFill>
        <p:spPr>
          <a:xfrm>
            <a:off x="548640" y="548640"/>
            <a:ext cx="447480" cy="447480"/>
          </a:xfrm>
          <a:prstGeom prst="rect">
            <a:avLst/>
          </a:prstGeom>
          <a:noFill/>
          <a:ln w="0">
            <a:noFill/>
          </a:ln>
        </p:spPr>
      </p:pic>
      <p:sp>
        <p:nvSpPr>
          <p:cNvPr id="664"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Errors &amp; Bias</a:t>
            </a:r>
            <a:endParaRPr lang="en-US" sz="2400" b="0" u="none" strike="noStrike">
              <a:solidFill>
                <a:srgbClr val="000000"/>
              </a:solidFill>
              <a:effectLst/>
              <a:uFillTx/>
              <a:latin typeface="Arial"/>
            </a:endParaRPr>
          </a:p>
        </p:txBody>
      </p:sp>
      <p:sp>
        <p:nvSpPr>
          <p:cNvPr id="665"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66"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67"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668"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9"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670"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A survey about phone usage was only sent by email — explain what kind of error or bias this risks, and why</a:t>
            </a:r>
            <a:endParaRPr lang="en-US" sz="1250" b="0" u="none" strike="noStrike">
              <a:solidFill>
                <a:srgbClr val="000000"/>
              </a:solidFill>
              <a:effectLst/>
              <a:uFillTx/>
              <a:latin typeface="Arial"/>
            </a:endParaRPr>
          </a:p>
        </p:txBody>
      </p:sp>
      <p:sp>
        <p:nvSpPr>
          <p:cNvPr id="671" name="Shape 8"/>
          <p:cNvSpPr/>
          <p:nvPr/>
        </p:nvSpPr>
        <p:spPr>
          <a:xfrm>
            <a:off x="822960" y="33008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2" name="Text 9"/>
          <p:cNvSpPr/>
          <p:nvPr/>
        </p:nvSpPr>
        <p:spPr>
          <a:xfrm>
            <a:off x="822960" y="33008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673" name="Text 10"/>
          <p:cNvSpPr/>
          <p:nvPr/>
        </p:nvSpPr>
        <p:spPr>
          <a:xfrm>
            <a:off x="1435680" y="33008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in your own words, why bias doesn’t shrink with a larger sample size, while sampling error does</a:t>
            </a:r>
            <a:endParaRPr lang="en-US" sz="1250" b="0" u="none" strike="noStrike">
              <a:solidFill>
                <a:srgbClr val="000000"/>
              </a:solidFill>
              <a:effectLst/>
              <a:uFillTx/>
              <a:latin typeface="Arial"/>
            </a:endParaRPr>
          </a:p>
        </p:txBody>
      </p:sp>
      <p:sp>
        <p:nvSpPr>
          <p:cNvPr id="674" name="Shape 11"/>
          <p:cNvSpPr/>
          <p:nvPr/>
        </p:nvSpPr>
        <p:spPr>
          <a:xfrm>
            <a:off x="822960" y="41788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5" name="Text 12"/>
          <p:cNvSpPr/>
          <p:nvPr/>
        </p:nvSpPr>
        <p:spPr>
          <a:xfrm>
            <a:off x="822960" y="41788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676" name="Text 13"/>
          <p:cNvSpPr/>
          <p:nvPr/>
        </p:nvSpPr>
        <p:spPr>
          <a:xfrm>
            <a:off x="1435680" y="41788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A fitness study only reports results from participants who completed the full 12-week program. Name this type of bias, and explain what’s being hidden</a:t>
            </a:r>
            <a:endParaRPr lang="en-US" sz="1250" b="0" u="none" strike="noStrike">
              <a:solidFill>
                <a:srgbClr val="000000"/>
              </a:solidFill>
              <a:effectLst/>
              <a:uFillTx/>
              <a:latin typeface="Arial"/>
            </a:endParaRPr>
          </a:p>
        </p:txBody>
      </p:sp>
      <p:sp>
        <p:nvSpPr>
          <p:cNvPr id="677" name="Shape 14"/>
          <p:cNvSpPr/>
          <p:nvPr/>
        </p:nvSpPr>
        <p:spPr>
          <a:xfrm>
            <a:off x="822960" y="50565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8" name="Text 15"/>
          <p:cNvSpPr/>
          <p:nvPr/>
        </p:nvSpPr>
        <p:spPr>
          <a:xfrm>
            <a:off x="822960" y="5056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679" name="Text 16"/>
          <p:cNvSpPr/>
          <p:nvPr/>
        </p:nvSpPr>
        <p:spPr>
          <a:xfrm>
            <a:off x="1435680" y="50565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Suggest one practical way to reduce response bias in a survey about employee satisfaction with their manager</a:t>
            </a:r>
            <a:endParaRPr lang="en-US" sz="1250" b="0" u="none" strike="noStrike">
              <a:solidFill>
                <a:srgbClr val="000000"/>
              </a:solidFill>
              <a:effectLst/>
              <a:uFillTx/>
              <a:latin typeface="Arial"/>
            </a:endParaRPr>
          </a:p>
        </p:txBody>
      </p:sp>
      <p:sp>
        <p:nvSpPr>
          <p:cNvPr id="680"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681"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39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82"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683"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684"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685"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686"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7"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88" name="Image 0" descr="preencoded.png"/>
          <p:cNvPicPr/>
          <p:nvPr/>
        </p:nvPicPr>
        <p:blipFill>
          <a:blip r:embed="rId1"/>
          <a:stretch/>
        </p:blipFill>
        <p:spPr>
          <a:xfrm>
            <a:off x="5870520" y="1348920"/>
            <a:ext cx="456480" cy="456480"/>
          </a:xfrm>
          <a:prstGeom prst="rect">
            <a:avLst/>
          </a:prstGeom>
          <a:noFill/>
          <a:ln w="0">
            <a:noFill/>
          </a:ln>
        </p:spPr>
      </p:pic>
      <p:sp>
        <p:nvSpPr>
          <p:cNvPr id="689"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5</a:t>
            </a:r>
            <a:endParaRPr lang="en-US" sz="1200" b="0" u="none" strike="noStrike">
              <a:solidFill>
                <a:srgbClr val="000000"/>
              </a:solidFill>
              <a:effectLst/>
              <a:uFillTx/>
              <a:latin typeface="Arial"/>
            </a:endParaRPr>
          </a:p>
        </p:txBody>
      </p:sp>
      <p:sp>
        <p:nvSpPr>
          <p:cNvPr id="690"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The Complete Chart &amp; Graph Catalog</a:t>
            </a:r>
            <a:endParaRPr lang="en-US" sz="2900" b="0" u="none" strike="noStrike">
              <a:solidFill>
                <a:srgbClr val="000000"/>
              </a:solidFill>
              <a:effectLst/>
              <a:uFillTx/>
              <a:latin typeface="Arial"/>
            </a:endParaRPr>
          </a:p>
        </p:txBody>
      </p:sp>
      <p:sp>
        <p:nvSpPr>
          <p:cNvPr id="691"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A picture is only worth a thousand words if it’s the right picture — here’s how to choose one on purpose</a:t>
            </a:r>
            <a:endParaRPr lang="en-US" sz="1500" b="0" u="none" strike="noStrike">
              <a:solidFill>
                <a:srgbClr val="000000"/>
              </a:solidFill>
              <a:effectLst/>
              <a:uFillTx/>
              <a:latin typeface="Arial"/>
            </a:endParaRPr>
          </a:p>
        </p:txBody>
      </p:sp>
      <p:sp>
        <p:nvSpPr>
          <p:cNvPr id="692"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69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94" name="Image 0" descr="preencoded.png"/>
          <p:cNvPicPr/>
          <p:nvPr/>
        </p:nvPicPr>
        <p:blipFill>
          <a:blip r:embed="rId1"/>
          <a:stretch/>
        </p:blipFill>
        <p:spPr>
          <a:xfrm>
            <a:off x="548640" y="548640"/>
            <a:ext cx="447480" cy="447480"/>
          </a:xfrm>
          <a:prstGeom prst="rect">
            <a:avLst/>
          </a:prstGeom>
          <a:noFill/>
          <a:ln w="0">
            <a:noFill/>
          </a:ln>
        </p:spPr>
      </p:pic>
      <p:sp>
        <p:nvSpPr>
          <p:cNvPr id="69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Why Chart Choice Actually Matters</a:t>
            </a:r>
            <a:endParaRPr lang="en-US" sz="2400" b="0" u="none" strike="noStrike">
              <a:solidFill>
                <a:srgbClr val="000000"/>
              </a:solidFill>
              <a:effectLst/>
              <a:uFillTx/>
              <a:latin typeface="Arial"/>
            </a:endParaRPr>
          </a:p>
        </p:txBody>
      </p:sp>
      <p:sp>
        <p:nvSpPr>
          <p:cNvPr id="69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697"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98"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99" name="Image 1" descr="preencoded.png"/>
          <p:cNvPicPr/>
          <p:nvPr/>
        </p:nvPicPr>
        <p:blipFill>
          <a:blip r:embed="rId2"/>
          <a:stretch/>
        </p:blipFill>
        <p:spPr>
          <a:xfrm>
            <a:off x="1746360" y="2423160"/>
            <a:ext cx="1087560" cy="1087560"/>
          </a:xfrm>
          <a:prstGeom prst="rect">
            <a:avLst/>
          </a:prstGeom>
          <a:noFill/>
          <a:ln w="0">
            <a:noFill/>
          </a:ln>
        </p:spPr>
      </p:pic>
      <p:sp>
        <p:nvSpPr>
          <p:cNvPr id="700"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The wrong</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chart</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misleads</a:t>
            </a:r>
            <a:endParaRPr lang="en-US" sz="1600" b="0" u="none" strike="noStrike">
              <a:solidFill>
                <a:srgbClr val="000000"/>
              </a:solidFill>
              <a:effectLst/>
              <a:uFillTx/>
              <a:latin typeface="Arial"/>
            </a:endParaRPr>
          </a:p>
        </p:txBody>
      </p:sp>
      <p:sp>
        <p:nvSpPr>
          <p:cNvPr id="701"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Every chart makes a silent claim about your data’s type and structure — using the wrong one doesn’t just look odd, it can genuinely mislead your reader</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 right question is never "which chart looks nice" — it’s "what is this data’s type, and what relationship am I trying to show?"</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catalog is organized around exactly that question: what your data looks like, first, then which chart fits it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Every chart on the next several slides will be classified by three things: what it shows, when to use it, and when NOT to</a:t>
            </a:r>
            <a:endParaRPr lang="en-US" sz="1600" b="0" u="none" strike="noStrike">
              <a:solidFill>
                <a:srgbClr val="000000"/>
              </a:solidFill>
              <a:effectLst/>
              <a:uFillTx/>
              <a:latin typeface="Arial"/>
            </a:endParaRPr>
          </a:p>
        </p:txBody>
      </p:sp>
      <p:sp>
        <p:nvSpPr>
          <p:cNvPr id="702"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703"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04"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05" name="Image 0" descr="preencoded.png"/>
          <p:cNvPicPr/>
          <p:nvPr/>
        </p:nvPicPr>
        <p:blipFill>
          <a:blip r:embed="rId1"/>
          <a:stretch/>
        </p:blipFill>
        <p:spPr>
          <a:xfrm>
            <a:off x="548640" y="548640"/>
            <a:ext cx="447480" cy="447480"/>
          </a:xfrm>
          <a:prstGeom prst="rect">
            <a:avLst/>
          </a:prstGeom>
          <a:noFill/>
          <a:ln w="0">
            <a:noFill/>
          </a:ln>
        </p:spPr>
      </p:pic>
      <p:sp>
        <p:nvSpPr>
          <p:cNvPr id="706"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Charts for Categorical Data</a:t>
            </a:r>
            <a:endParaRPr lang="en-US" sz="2400" b="0" u="none" strike="noStrike">
              <a:solidFill>
                <a:srgbClr val="000000"/>
              </a:solidFill>
              <a:effectLst/>
              <a:uFillTx/>
              <a:latin typeface="Arial"/>
            </a:endParaRPr>
          </a:p>
        </p:txBody>
      </p:sp>
      <p:sp>
        <p:nvSpPr>
          <p:cNvPr id="707"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08" name="Shape 3"/>
          <p:cNvSpPr/>
          <p:nvPr/>
        </p:nvSpPr>
        <p:spPr>
          <a:xfrm>
            <a:off x="457200" y="1508760"/>
            <a:ext cx="3611160" cy="4891320"/>
          </a:xfrm>
          <a:prstGeom prst="roundRect">
            <a:avLst>
              <a:gd name="adj" fmla="val 405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9" name="Shape 4"/>
          <p:cNvSpPr/>
          <p:nvPr/>
        </p:nvSpPr>
        <p:spPr>
          <a:xfrm>
            <a:off x="19890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10" name="Image 1" descr="preencoded.png"/>
          <p:cNvPicPr/>
          <p:nvPr/>
        </p:nvPicPr>
        <p:blipFill>
          <a:blip r:embed="rId2"/>
          <a:stretch/>
        </p:blipFill>
        <p:spPr>
          <a:xfrm>
            <a:off x="2071080" y="2176200"/>
            <a:ext cx="383400" cy="383400"/>
          </a:xfrm>
          <a:prstGeom prst="rect">
            <a:avLst/>
          </a:prstGeom>
          <a:noFill/>
          <a:ln w="0">
            <a:noFill/>
          </a:ln>
        </p:spPr>
      </p:pic>
      <p:sp>
        <p:nvSpPr>
          <p:cNvPr id="711" name="Text 5"/>
          <p:cNvSpPr/>
          <p:nvPr/>
        </p:nvSpPr>
        <p:spPr>
          <a:xfrm>
            <a:off x="5486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Bar Chart</a:t>
            </a:r>
            <a:endParaRPr lang="en-US" sz="1300" b="0" u="none" strike="noStrike">
              <a:solidFill>
                <a:srgbClr val="000000"/>
              </a:solidFill>
              <a:effectLst/>
              <a:uFillTx/>
              <a:latin typeface="Arial"/>
            </a:endParaRPr>
          </a:p>
        </p:txBody>
      </p:sp>
      <p:sp>
        <p:nvSpPr>
          <p:cNvPr id="712" name="Text 6"/>
          <p:cNvSpPr/>
          <p:nvPr/>
        </p:nvSpPr>
        <p:spPr>
          <a:xfrm>
            <a:off x="60336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Compares counts or values across categories. Use for comparing groups. Avoid for showing change over time</a:t>
            </a:r>
            <a:endParaRPr lang="en-US" sz="1100" b="0" u="none" strike="noStrike">
              <a:solidFill>
                <a:srgbClr val="000000"/>
              </a:solidFill>
              <a:effectLst/>
              <a:uFillTx/>
              <a:latin typeface="Arial"/>
            </a:endParaRPr>
          </a:p>
        </p:txBody>
      </p:sp>
      <p:sp>
        <p:nvSpPr>
          <p:cNvPr id="713" name="Shape 7"/>
          <p:cNvSpPr/>
          <p:nvPr/>
        </p:nvSpPr>
        <p:spPr>
          <a:xfrm>
            <a:off x="4288680" y="1508760"/>
            <a:ext cx="3611160" cy="4891320"/>
          </a:xfrm>
          <a:prstGeom prst="roundRect">
            <a:avLst>
              <a:gd name="adj" fmla="val 405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4" name="Shape 8"/>
          <p:cNvSpPr/>
          <p:nvPr/>
        </p:nvSpPr>
        <p:spPr>
          <a:xfrm>
            <a:off x="582012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15" name="Image 2" descr="preencoded.png"/>
          <p:cNvPicPr/>
          <p:nvPr/>
        </p:nvPicPr>
        <p:blipFill>
          <a:blip r:embed="rId3"/>
          <a:stretch/>
        </p:blipFill>
        <p:spPr>
          <a:xfrm>
            <a:off x="5902560" y="2176200"/>
            <a:ext cx="383400" cy="383400"/>
          </a:xfrm>
          <a:prstGeom prst="rect">
            <a:avLst/>
          </a:prstGeom>
          <a:noFill/>
          <a:ln w="0">
            <a:noFill/>
          </a:ln>
        </p:spPr>
      </p:pic>
      <p:sp>
        <p:nvSpPr>
          <p:cNvPr id="716" name="Text 9"/>
          <p:cNvSpPr/>
          <p:nvPr/>
        </p:nvSpPr>
        <p:spPr>
          <a:xfrm>
            <a:off x="438012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Pie Chart</a:t>
            </a:r>
            <a:endParaRPr lang="en-US" sz="1300" b="0" u="none" strike="noStrike">
              <a:solidFill>
                <a:srgbClr val="000000"/>
              </a:solidFill>
              <a:effectLst/>
              <a:uFillTx/>
              <a:latin typeface="Arial"/>
            </a:endParaRPr>
          </a:p>
        </p:txBody>
      </p:sp>
      <p:sp>
        <p:nvSpPr>
          <p:cNvPr id="717" name="Text 10"/>
          <p:cNvSpPr/>
          <p:nvPr/>
        </p:nvSpPr>
        <p:spPr>
          <a:xfrm>
            <a:off x="443484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parts of a whole, as a percentage. Use for 2–5 categories max. Avoid with many categories — slices become unreadable</a:t>
            </a:r>
            <a:endParaRPr lang="en-US" sz="1100" b="0" u="none" strike="noStrike">
              <a:solidFill>
                <a:srgbClr val="000000"/>
              </a:solidFill>
              <a:effectLst/>
              <a:uFillTx/>
              <a:latin typeface="Arial"/>
            </a:endParaRPr>
          </a:p>
        </p:txBody>
      </p:sp>
      <p:sp>
        <p:nvSpPr>
          <p:cNvPr id="718" name="Shape 11"/>
          <p:cNvSpPr/>
          <p:nvPr/>
        </p:nvSpPr>
        <p:spPr>
          <a:xfrm>
            <a:off x="8119800" y="1508760"/>
            <a:ext cx="3611160" cy="4891320"/>
          </a:xfrm>
          <a:prstGeom prst="roundRect">
            <a:avLst>
              <a:gd name="adj" fmla="val 4051"/>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9" name="Shape 12"/>
          <p:cNvSpPr/>
          <p:nvPr/>
        </p:nvSpPr>
        <p:spPr>
          <a:xfrm>
            <a:off x="965160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20" name="Image 3" descr="preencoded.png"/>
          <p:cNvPicPr/>
          <p:nvPr/>
        </p:nvPicPr>
        <p:blipFill>
          <a:blip r:embed="rId4"/>
          <a:stretch/>
        </p:blipFill>
        <p:spPr>
          <a:xfrm>
            <a:off x="9733680" y="2176200"/>
            <a:ext cx="383400" cy="383400"/>
          </a:xfrm>
          <a:prstGeom prst="rect">
            <a:avLst/>
          </a:prstGeom>
          <a:noFill/>
          <a:ln w="0">
            <a:noFill/>
          </a:ln>
        </p:spPr>
      </p:pic>
      <p:sp>
        <p:nvSpPr>
          <p:cNvPr id="721" name="Text 13"/>
          <p:cNvSpPr/>
          <p:nvPr/>
        </p:nvSpPr>
        <p:spPr>
          <a:xfrm>
            <a:off x="82112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Stacked Bar Chart</a:t>
            </a:r>
            <a:endParaRPr lang="en-US" sz="1300" b="0" u="none" strike="noStrike">
              <a:solidFill>
                <a:srgbClr val="000000"/>
              </a:solidFill>
              <a:effectLst/>
              <a:uFillTx/>
              <a:latin typeface="Arial"/>
            </a:endParaRPr>
          </a:p>
        </p:txBody>
      </p:sp>
      <p:sp>
        <p:nvSpPr>
          <p:cNvPr id="722" name="Text 14"/>
          <p:cNvSpPr/>
          <p:nvPr/>
        </p:nvSpPr>
        <p:spPr>
          <a:xfrm>
            <a:off x="826632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both category totals AND their sub-group breakdown at once. Avoid when more than 3–4 sub-groups per bar</a:t>
            </a:r>
            <a:endParaRPr lang="en-US" sz="1100" b="0" u="none" strike="noStrike">
              <a:solidFill>
                <a:srgbClr val="000000"/>
              </a:solidFill>
              <a:effectLst/>
              <a:uFillTx/>
              <a:latin typeface="Arial"/>
            </a:endParaRPr>
          </a:p>
        </p:txBody>
      </p:sp>
      <p:sp>
        <p:nvSpPr>
          <p:cNvPr id="723" name="Text 15"/>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724" name="Text 16"/>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25"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26" name="Image 0" descr="preencoded.png"/>
          <p:cNvPicPr/>
          <p:nvPr/>
        </p:nvPicPr>
        <p:blipFill>
          <a:blip r:embed="rId1"/>
          <a:stretch/>
        </p:blipFill>
        <p:spPr>
          <a:xfrm>
            <a:off x="548640" y="548640"/>
            <a:ext cx="447480" cy="447480"/>
          </a:xfrm>
          <a:prstGeom prst="rect">
            <a:avLst/>
          </a:prstGeom>
          <a:noFill/>
          <a:ln w="0">
            <a:noFill/>
          </a:ln>
        </p:spPr>
      </p:pic>
      <p:sp>
        <p:nvSpPr>
          <p:cNvPr id="727"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Charts for a Single Numerical Variable</a:t>
            </a:r>
            <a:endParaRPr lang="en-US" sz="2400" b="0" u="none" strike="noStrike">
              <a:solidFill>
                <a:srgbClr val="000000"/>
              </a:solidFill>
              <a:effectLst/>
              <a:uFillTx/>
              <a:latin typeface="Arial"/>
            </a:endParaRPr>
          </a:p>
        </p:txBody>
      </p:sp>
      <p:sp>
        <p:nvSpPr>
          <p:cNvPr id="728"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29" name="Shape 3"/>
          <p:cNvSpPr/>
          <p:nvPr/>
        </p:nvSpPr>
        <p:spPr>
          <a:xfrm>
            <a:off x="457200" y="1508760"/>
            <a:ext cx="3611160" cy="4891320"/>
          </a:xfrm>
          <a:prstGeom prst="roundRect">
            <a:avLst>
              <a:gd name="adj" fmla="val 405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0" name="Shape 4"/>
          <p:cNvSpPr/>
          <p:nvPr/>
        </p:nvSpPr>
        <p:spPr>
          <a:xfrm>
            <a:off x="19890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31" name="Image 1" descr="preencoded.png"/>
          <p:cNvPicPr/>
          <p:nvPr/>
        </p:nvPicPr>
        <p:blipFill>
          <a:blip r:embed="rId2"/>
          <a:stretch/>
        </p:blipFill>
        <p:spPr>
          <a:xfrm>
            <a:off x="2071080" y="2176200"/>
            <a:ext cx="383400" cy="383400"/>
          </a:xfrm>
          <a:prstGeom prst="rect">
            <a:avLst/>
          </a:prstGeom>
          <a:noFill/>
          <a:ln w="0">
            <a:noFill/>
          </a:ln>
        </p:spPr>
      </p:pic>
      <p:sp>
        <p:nvSpPr>
          <p:cNvPr id="732" name="Text 5"/>
          <p:cNvSpPr/>
          <p:nvPr/>
        </p:nvSpPr>
        <p:spPr>
          <a:xfrm>
            <a:off x="5486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Histogram</a:t>
            </a:r>
            <a:endParaRPr lang="en-US" sz="1300" b="0" u="none" strike="noStrike">
              <a:solidFill>
                <a:srgbClr val="000000"/>
              </a:solidFill>
              <a:effectLst/>
              <a:uFillTx/>
              <a:latin typeface="Arial"/>
            </a:endParaRPr>
          </a:p>
        </p:txBody>
      </p:sp>
      <p:sp>
        <p:nvSpPr>
          <p:cNvPr id="733" name="Text 6"/>
          <p:cNvSpPr/>
          <p:nvPr/>
        </p:nvSpPr>
        <p:spPr>
          <a:xfrm>
            <a:off x="60336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the distribution and shape of numerical data by grouping values into bins. Avoid on categorical data</a:t>
            </a:r>
            <a:endParaRPr lang="en-US" sz="1100" b="0" u="none" strike="noStrike">
              <a:solidFill>
                <a:srgbClr val="000000"/>
              </a:solidFill>
              <a:effectLst/>
              <a:uFillTx/>
              <a:latin typeface="Arial"/>
            </a:endParaRPr>
          </a:p>
        </p:txBody>
      </p:sp>
      <p:sp>
        <p:nvSpPr>
          <p:cNvPr id="734" name="Shape 7"/>
          <p:cNvSpPr/>
          <p:nvPr/>
        </p:nvSpPr>
        <p:spPr>
          <a:xfrm>
            <a:off x="4288680" y="1508760"/>
            <a:ext cx="3611160" cy="4891320"/>
          </a:xfrm>
          <a:prstGeom prst="roundRect">
            <a:avLst>
              <a:gd name="adj" fmla="val 405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5" name="Shape 8"/>
          <p:cNvSpPr/>
          <p:nvPr/>
        </p:nvSpPr>
        <p:spPr>
          <a:xfrm>
            <a:off x="582012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36" name="Image 2" descr="preencoded.png"/>
          <p:cNvPicPr/>
          <p:nvPr/>
        </p:nvPicPr>
        <p:blipFill>
          <a:blip r:embed="rId3"/>
          <a:stretch/>
        </p:blipFill>
        <p:spPr>
          <a:xfrm>
            <a:off x="5902560" y="2176200"/>
            <a:ext cx="383400" cy="383400"/>
          </a:xfrm>
          <a:prstGeom prst="rect">
            <a:avLst/>
          </a:prstGeom>
          <a:noFill/>
          <a:ln w="0">
            <a:noFill/>
          </a:ln>
        </p:spPr>
      </p:pic>
      <p:sp>
        <p:nvSpPr>
          <p:cNvPr id="737" name="Text 9"/>
          <p:cNvSpPr/>
          <p:nvPr/>
        </p:nvSpPr>
        <p:spPr>
          <a:xfrm>
            <a:off x="438012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Box Plot</a:t>
            </a:r>
            <a:endParaRPr lang="en-US" sz="1300" b="0" u="none" strike="noStrike">
              <a:solidFill>
                <a:srgbClr val="000000"/>
              </a:solidFill>
              <a:effectLst/>
              <a:uFillTx/>
              <a:latin typeface="Arial"/>
            </a:endParaRPr>
          </a:p>
        </p:txBody>
      </p:sp>
      <p:sp>
        <p:nvSpPr>
          <p:cNvPr id="738" name="Text 10"/>
          <p:cNvSpPr/>
          <p:nvPr/>
        </p:nvSpPr>
        <p:spPr>
          <a:xfrm>
            <a:off x="443484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the five-number summary and flags outliers at a glance. Use to compare spread across groups</a:t>
            </a:r>
            <a:endParaRPr lang="en-US" sz="1100" b="0" u="none" strike="noStrike">
              <a:solidFill>
                <a:srgbClr val="000000"/>
              </a:solidFill>
              <a:effectLst/>
              <a:uFillTx/>
              <a:latin typeface="Arial"/>
            </a:endParaRPr>
          </a:p>
        </p:txBody>
      </p:sp>
      <p:sp>
        <p:nvSpPr>
          <p:cNvPr id="739" name="Shape 11"/>
          <p:cNvSpPr/>
          <p:nvPr/>
        </p:nvSpPr>
        <p:spPr>
          <a:xfrm>
            <a:off x="8119800" y="1508760"/>
            <a:ext cx="3611160" cy="4891320"/>
          </a:xfrm>
          <a:prstGeom prst="roundRect">
            <a:avLst>
              <a:gd name="adj" fmla="val 4051"/>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0" name="Shape 12"/>
          <p:cNvSpPr/>
          <p:nvPr/>
        </p:nvSpPr>
        <p:spPr>
          <a:xfrm>
            <a:off x="965160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41" name="Image 3" descr="preencoded.png"/>
          <p:cNvPicPr/>
          <p:nvPr/>
        </p:nvPicPr>
        <p:blipFill>
          <a:blip r:embed="rId4"/>
          <a:stretch/>
        </p:blipFill>
        <p:spPr>
          <a:xfrm>
            <a:off x="9733680" y="2176200"/>
            <a:ext cx="383400" cy="383400"/>
          </a:xfrm>
          <a:prstGeom prst="rect">
            <a:avLst/>
          </a:prstGeom>
          <a:noFill/>
          <a:ln w="0">
            <a:noFill/>
          </a:ln>
        </p:spPr>
      </p:pic>
      <p:sp>
        <p:nvSpPr>
          <p:cNvPr id="742" name="Text 13"/>
          <p:cNvSpPr/>
          <p:nvPr/>
        </p:nvSpPr>
        <p:spPr>
          <a:xfrm>
            <a:off x="82112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Violin Plot</a:t>
            </a:r>
            <a:endParaRPr lang="en-US" sz="1300" b="0" u="none" strike="noStrike">
              <a:solidFill>
                <a:srgbClr val="000000"/>
              </a:solidFill>
              <a:effectLst/>
              <a:uFillTx/>
              <a:latin typeface="Arial"/>
            </a:endParaRPr>
          </a:p>
        </p:txBody>
      </p:sp>
      <p:sp>
        <p:nvSpPr>
          <p:cNvPr id="743" name="Text 14"/>
          <p:cNvSpPr/>
          <p:nvPr/>
        </p:nvSpPr>
        <p:spPr>
          <a:xfrm>
            <a:off x="826632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Like a box plot, but also shows the full distribution shape. Use when the exact shape matters, not just spread</a:t>
            </a:r>
            <a:endParaRPr lang="en-US" sz="1100" b="0" u="none" strike="noStrike">
              <a:solidFill>
                <a:srgbClr val="000000"/>
              </a:solidFill>
              <a:effectLst/>
              <a:uFillTx/>
              <a:latin typeface="Arial"/>
            </a:endParaRPr>
          </a:p>
        </p:txBody>
      </p:sp>
      <p:sp>
        <p:nvSpPr>
          <p:cNvPr id="744" name="Text 15"/>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745" name="Text 16"/>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46"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47" name="Image 0" descr="preencoded.png"/>
          <p:cNvPicPr/>
          <p:nvPr/>
        </p:nvPicPr>
        <p:blipFill>
          <a:blip r:embed="rId1"/>
          <a:stretch/>
        </p:blipFill>
        <p:spPr>
          <a:xfrm>
            <a:off x="548640" y="548640"/>
            <a:ext cx="447480" cy="447480"/>
          </a:xfrm>
          <a:prstGeom prst="rect">
            <a:avLst/>
          </a:prstGeom>
          <a:noFill/>
          <a:ln w="0">
            <a:noFill/>
          </a:ln>
        </p:spPr>
      </p:pic>
      <p:sp>
        <p:nvSpPr>
          <p:cNvPr id="748"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Anatomy of a Box Plot</a:t>
            </a:r>
            <a:endParaRPr lang="en-US" sz="2400" b="0" u="none" strike="noStrike">
              <a:solidFill>
                <a:srgbClr val="000000"/>
              </a:solidFill>
              <a:effectLst/>
              <a:uFillTx/>
              <a:latin typeface="Arial"/>
            </a:endParaRPr>
          </a:p>
        </p:txBody>
      </p:sp>
      <p:sp>
        <p:nvSpPr>
          <p:cNvPr id="749"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50" name="Shape 3"/>
          <p:cNvSpPr/>
          <p:nvPr/>
        </p:nvSpPr>
        <p:spPr>
          <a:xfrm>
            <a:off x="1371600" y="3520440"/>
            <a:ext cx="2468880" cy="360"/>
          </a:xfrm>
          <a:prstGeom prst="line">
            <a:avLst/>
          </a:prstGeom>
          <a:ln w="25400">
            <a:solidFill>
              <a:srgbClr val="685F8F"/>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51" name="Shape 4"/>
          <p:cNvSpPr/>
          <p:nvPr/>
        </p:nvSpPr>
        <p:spPr>
          <a:xfrm>
            <a:off x="7589520" y="3520440"/>
            <a:ext cx="2743200" cy="360"/>
          </a:xfrm>
          <a:prstGeom prst="line">
            <a:avLst/>
          </a:prstGeom>
          <a:ln w="25400">
            <a:solidFill>
              <a:srgbClr val="685F8F"/>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52" name="Shape 5"/>
          <p:cNvSpPr/>
          <p:nvPr/>
        </p:nvSpPr>
        <p:spPr>
          <a:xfrm>
            <a:off x="1371600" y="3154680"/>
            <a:ext cx="360" cy="731520"/>
          </a:xfrm>
          <a:prstGeom prst="line">
            <a:avLst/>
          </a:prstGeom>
          <a:ln w="25400">
            <a:solidFill>
              <a:srgbClr val="685F8F"/>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53" name="Shape 6"/>
          <p:cNvSpPr/>
          <p:nvPr/>
        </p:nvSpPr>
        <p:spPr>
          <a:xfrm>
            <a:off x="10332720" y="3154680"/>
            <a:ext cx="360" cy="731520"/>
          </a:xfrm>
          <a:prstGeom prst="line">
            <a:avLst/>
          </a:prstGeom>
          <a:ln w="25400">
            <a:solidFill>
              <a:srgbClr val="685F8F"/>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54" name="Shape 7"/>
          <p:cNvSpPr/>
          <p:nvPr/>
        </p:nvSpPr>
        <p:spPr>
          <a:xfrm>
            <a:off x="3840480" y="3017520"/>
            <a:ext cx="3748320" cy="1005120"/>
          </a:xfrm>
          <a:prstGeom prst="roundRect">
            <a:avLst>
              <a:gd name="adj" fmla="val 3636"/>
            </a:avLst>
          </a:prstGeom>
          <a:solidFill>
            <a:srgbClr val="EDE9FE"/>
          </a:solidFill>
          <a:ln w="31750">
            <a:solidFill>
              <a:srgbClr val="8B7FE8"/>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5" name="Shape 8"/>
          <p:cNvSpPr/>
          <p:nvPr/>
        </p:nvSpPr>
        <p:spPr>
          <a:xfrm>
            <a:off x="5486400" y="3017520"/>
            <a:ext cx="360" cy="1005840"/>
          </a:xfrm>
          <a:prstGeom prst="line">
            <a:avLst/>
          </a:prstGeom>
          <a:ln w="38100">
            <a:solidFill>
              <a:srgbClr val="FF8FB3"/>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56" name="Shape 9"/>
          <p:cNvSpPr/>
          <p:nvPr/>
        </p:nvSpPr>
        <p:spPr>
          <a:xfrm>
            <a:off x="1371600" y="4023360"/>
            <a:ext cx="360" cy="320040"/>
          </a:xfrm>
          <a:prstGeom prst="line">
            <a:avLst/>
          </a:prstGeom>
          <a:ln w="15875">
            <a:solidFill>
              <a:srgbClr val="D8D2F5"/>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57" name="Text 10"/>
          <p:cNvSpPr/>
          <p:nvPr/>
        </p:nvSpPr>
        <p:spPr>
          <a:xfrm>
            <a:off x="731520" y="434340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entury Gothic"/>
                <a:ea typeface="Century Gothic"/>
              </a:rPr>
              <a:t>Min</a:t>
            </a:r>
            <a:endParaRPr lang="en-US" sz="1200" b="0" u="none" strike="noStrike">
              <a:solidFill>
                <a:srgbClr val="000000"/>
              </a:solidFill>
              <a:effectLst/>
              <a:uFillTx/>
              <a:latin typeface="Arial"/>
            </a:endParaRPr>
          </a:p>
        </p:txBody>
      </p:sp>
      <p:sp>
        <p:nvSpPr>
          <p:cNvPr id="758" name="Text 11"/>
          <p:cNvSpPr/>
          <p:nvPr/>
        </p:nvSpPr>
        <p:spPr>
          <a:xfrm>
            <a:off x="548640" y="4617720"/>
            <a:ext cx="1645200" cy="502200"/>
          </a:xfrm>
          <a:prstGeom prst="rect">
            <a:avLst/>
          </a:prstGeom>
          <a:noFill/>
          <a:ln w="0">
            <a:noFill/>
          </a:ln>
        </p:spPr>
        <p:style>
          <a:lnRef idx="0"/>
          <a:fillRef idx="0"/>
          <a:effectRef idx="0"/>
          <a:fontRef idx="minor"/>
        </p:style>
        <p:txBody>
          <a:bodyPr lIns="0" tIns="0" rIns="0" bIns="0" anchor="t">
            <a:noAutofit/>
          </a:bodyPr>
          <a:p>
            <a:pPr algn="ctr" defTabSz="914400">
              <a:lnSpc>
                <a:spcPct val="110000"/>
              </a:lnSpc>
              <a:tabLst>
                <a:tab pos="0" algn="l"/>
              </a:tabLst>
            </a:pPr>
            <a:r>
              <a:rPr lang="en-US" sz="900" b="0" u="none" strike="noStrike">
                <a:solidFill>
                  <a:srgbClr val="685F8F"/>
                </a:solidFill>
                <a:effectLst/>
                <a:uFillTx/>
                <a:latin typeface="Calibri"/>
                <a:ea typeface="Calibri"/>
              </a:rPr>
              <a:t>smallest value</a:t>
            </a:r>
            <a:endParaRPr lang="en-US" sz="900" b="0" u="none" strike="noStrike">
              <a:solidFill>
                <a:srgbClr val="000000"/>
              </a:solidFill>
              <a:effectLst/>
              <a:uFillTx/>
              <a:latin typeface="Arial"/>
            </a:endParaRPr>
          </a:p>
          <a:p>
            <a:pPr algn="ctr" defTabSz="914400">
              <a:lnSpc>
                <a:spcPct val="110000"/>
              </a:lnSpc>
              <a:tabLst>
                <a:tab pos="0" algn="l"/>
              </a:tabLst>
            </a:pPr>
            <a:r>
              <a:rPr lang="en-US" sz="900" b="0" u="none" strike="noStrike">
                <a:solidFill>
                  <a:srgbClr val="685F8F"/>
                </a:solidFill>
                <a:effectLst/>
                <a:uFillTx/>
                <a:latin typeface="Calibri"/>
                <a:ea typeface="Calibri"/>
              </a:rPr>
              <a:t>(within 1.5×IQR)</a:t>
            </a:r>
            <a:endParaRPr lang="en-US" sz="900" b="0" u="none" strike="noStrike">
              <a:solidFill>
                <a:srgbClr val="000000"/>
              </a:solidFill>
              <a:effectLst/>
              <a:uFillTx/>
              <a:latin typeface="Arial"/>
            </a:endParaRPr>
          </a:p>
        </p:txBody>
      </p:sp>
      <p:sp>
        <p:nvSpPr>
          <p:cNvPr id="759" name="Shape 12"/>
          <p:cNvSpPr/>
          <p:nvPr/>
        </p:nvSpPr>
        <p:spPr>
          <a:xfrm>
            <a:off x="3840480" y="4023360"/>
            <a:ext cx="360" cy="320040"/>
          </a:xfrm>
          <a:prstGeom prst="line">
            <a:avLst/>
          </a:prstGeom>
          <a:ln w="15875">
            <a:solidFill>
              <a:srgbClr val="D8D2F5"/>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60" name="Text 13"/>
          <p:cNvSpPr/>
          <p:nvPr/>
        </p:nvSpPr>
        <p:spPr>
          <a:xfrm>
            <a:off x="3200400" y="434340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entury Gothic"/>
                <a:ea typeface="Century Gothic"/>
              </a:rPr>
              <a:t>Q1</a:t>
            </a:r>
            <a:endParaRPr lang="en-US" sz="1200" b="0" u="none" strike="noStrike">
              <a:solidFill>
                <a:srgbClr val="000000"/>
              </a:solidFill>
              <a:effectLst/>
              <a:uFillTx/>
              <a:latin typeface="Arial"/>
            </a:endParaRPr>
          </a:p>
        </p:txBody>
      </p:sp>
      <p:sp>
        <p:nvSpPr>
          <p:cNvPr id="761" name="Text 14"/>
          <p:cNvSpPr/>
          <p:nvPr/>
        </p:nvSpPr>
        <p:spPr>
          <a:xfrm>
            <a:off x="3017520" y="4617720"/>
            <a:ext cx="1645200" cy="502200"/>
          </a:xfrm>
          <a:prstGeom prst="rect">
            <a:avLst/>
          </a:prstGeom>
          <a:noFill/>
          <a:ln w="0">
            <a:noFill/>
          </a:ln>
        </p:spPr>
        <p:style>
          <a:lnRef idx="0"/>
          <a:fillRef idx="0"/>
          <a:effectRef idx="0"/>
          <a:fontRef idx="minor"/>
        </p:style>
        <p:txBody>
          <a:bodyPr lIns="0" tIns="0" rIns="0" bIns="0" anchor="t">
            <a:noAutofit/>
          </a:bodyPr>
          <a:p>
            <a:pPr algn="ctr" defTabSz="914400">
              <a:lnSpc>
                <a:spcPct val="110000"/>
              </a:lnSpc>
              <a:tabLst>
                <a:tab pos="0" algn="l"/>
              </a:tabLst>
            </a:pPr>
            <a:r>
              <a:rPr lang="en-US" sz="900" b="0" u="none" strike="noStrike">
                <a:solidFill>
                  <a:srgbClr val="685F8F"/>
                </a:solidFill>
                <a:effectLst/>
                <a:uFillTx/>
                <a:latin typeface="Calibri"/>
                <a:ea typeface="Calibri"/>
              </a:rPr>
              <a:t>25th percentile</a:t>
            </a:r>
            <a:endParaRPr lang="en-US" sz="900" b="0" u="none" strike="noStrike">
              <a:solidFill>
                <a:srgbClr val="000000"/>
              </a:solidFill>
              <a:effectLst/>
              <a:uFillTx/>
              <a:latin typeface="Arial"/>
            </a:endParaRPr>
          </a:p>
        </p:txBody>
      </p:sp>
      <p:sp>
        <p:nvSpPr>
          <p:cNvPr id="762" name="Shape 15"/>
          <p:cNvSpPr/>
          <p:nvPr/>
        </p:nvSpPr>
        <p:spPr>
          <a:xfrm>
            <a:off x="5486400" y="4023360"/>
            <a:ext cx="360" cy="320040"/>
          </a:xfrm>
          <a:prstGeom prst="line">
            <a:avLst/>
          </a:prstGeom>
          <a:ln w="15875">
            <a:solidFill>
              <a:srgbClr val="D8D2F5"/>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63" name="Text 16"/>
          <p:cNvSpPr/>
          <p:nvPr/>
        </p:nvSpPr>
        <p:spPr>
          <a:xfrm>
            <a:off x="4846320" y="434340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entury Gothic"/>
                <a:ea typeface="Century Gothic"/>
              </a:rPr>
              <a:t>Median</a:t>
            </a:r>
            <a:endParaRPr lang="en-US" sz="1200" b="0" u="none" strike="noStrike">
              <a:solidFill>
                <a:srgbClr val="000000"/>
              </a:solidFill>
              <a:effectLst/>
              <a:uFillTx/>
              <a:latin typeface="Arial"/>
            </a:endParaRPr>
          </a:p>
        </p:txBody>
      </p:sp>
      <p:sp>
        <p:nvSpPr>
          <p:cNvPr id="764" name="Text 17"/>
          <p:cNvSpPr/>
          <p:nvPr/>
        </p:nvSpPr>
        <p:spPr>
          <a:xfrm>
            <a:off x="4663440" y="4617720"/>
            <a:ext cx="1645200" cy="502200"/>
          </a:xfrm>
          <a:prstGeom prst="rect">
            <a:avLst/>
          </a:prstGeom>
          <a:noFill/>
          <a:ln w="0">
            <a:noFill/>
          </a:ln>
        </p:spPr>
        <p:style>
          <a:lnRef idx="0"/>
          <a:fillRef idx="0"/>
          <a:effectRef idx="0"/>
          <a:fontRef idx="minor"/>
        </p:style>
        <p:txBody>
          <a:bodyPr lIns="0" tIns="0" rIns="0" bIns="0" anchor="t">
            <a:noAutofit/>
          </a:bodyPr>
          <a:p>
            <a:pPr algn="ctr" defTabSz="914400">
              <a:lnSpc>
                <a:spcPct val="110000"/>
              </a:lnSpc>
              <a:tabLst>
                <a:tab pos="0" algn="l"/>
              </a:tabLst>
            </a:pPr>
            <a:r>
              <a:rPr lang="en-US" sz="900" b="0" u="none" strike="noStrike">
                <a:solidFill>
                  <a:srgbClr val="685F8F"/>
                </a:solidFill>
                <a:effectLst/>
                <a:uFillTx/>
                <a:latin typeface="Calibri"/>
                <a:ea typeface="Calibri"/>
              </a:rPr>
              <a:t>50th percentile</a:t>
            </a:r>
            <a:endParaRPr lang="en-US" sz="900" b="0" u="none" strike="noStrike">
              <a:solidFill>
                <a:srgbClr val="000000"/>
              </a:solidFill>
              <a:effectLst/>
              <a:uFillTx/>
              <a:latin typeface="Arial"/>
            </a:endParaRPr>
          </a:p>
        </p:txBody>
      </p:sp>
      <p:sp>
        <p:nvSpPr>
          <p:cNvPr id="765" name="Shape 18"/>
          <p:cNvSpPr/>
          <p:nvPr/>
        </p:nvSpPr>
        <p:spPr>
          <a:xfrm>
            <a:off x="7589520" y="4023360"/>
            <a:ext cx="360" cy="320040"/>
          </a:xfrm>
          <a:prstGeom prst="line">
            <a:avLst/>
          </a:prstGeom>
          <a:ln w="15875">
            <a:solidFill>
              <a:srgbClr val="D8D2F5"/>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66" name="Text 19"/>
          <p:cNvSpPr/>
          <p:nvPr/>
        </p:nvSpPr>
        <p:spPr>
          <a:xfrm>
            <a:off x="6949440" y="434340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entury Gothic"/>
                <a:ea typeface="Century Gothic"/>
              </a:rPr>
              <a:t>Q3</a:t>
            </a:r>
            <a:endParaRPr lang="en-US" sz="1200" b="0" u="none" strike="noStrike">
              <a:solidFill>
                <a:srgbClr val="000000"/>
              </a:solidFill>
              <a:effectLst/>
              <a:uFillTx/>
              <a:latin typeface="Arial"/>
            </a:endParaRPr>
          </a:p>
        </p:txBody>
      </p:sp>
      <p:sp>
        <p:nvSpPr>
          <p:cNvPr id="767" name="Text 20"/>
          <p:cNvSpPr/>
          <p:nvPr/>
        </p:nvSpPr>
        <p:spPr>
          <a:xfrm>
            <a:off x="6766560" y="4617720"/>
            <a:ext cx="1645200" cy="502200"/>
          </a:xfrm>
          <a:prstGeom prst="rect">
            <a:avLst/>
          </a:prstGeom>
          <a:noFill/>
          <a:ln w="0">
            <a:noFill/>
          </a:ln>
        </p:spPr>
        <p:style>
          <a:lnRef idx="0"/>
          <a:fillRef idx="0"/>
          <a:effectRef idx="0"/>
          <a:fontRef idx="minor"/>
        </p:style>
        <p:txBody>
          <a:bodyPr lIns="0" tIns="0" rIns="0" bIns="0" anchor="t">
            <a:noAutofit/>
          </a:bodyPr>
          <a:p>
            <a:pPr algn="ctr" defTabSz="914400">
              <a:lnSpc>
                <a:spcPct val="110000"/>
              </a:lnSpc>
              <a:tabLst>
                <a:tab pos="0" algn="l"/>
              </a:tabLst>
            </a:pPr>
            <a:r>
              <a:rPr lang="en-US" sz="900" b="0" u="none" strike="noStrike">
                <a:solidFill>
                  <a:srgbClr val="685F8F"/>
                </a:solidFill>
                <a:effectLst/>
                <a:uFillTx/>
                <a:latin typeface="Calibri"/>
                <a:ea typeface="Calibri"/>
              </a:rPr>
              <a:t>75th percentile</a:t>
            </a:r>
            <a:endParaRPr lang="en-US" sz="900" b="0" u="none" strike="noStrike">
              <a:solidFill>
                <a:srgbClr val="000000"/>
              </a:solidFill>
              <a:effectLst/>
              <a:uFillTx/>
              <a:latin typeface="Arial"/>
            </a:endParaRPr>
          </a:p>
        </p:txBody>
      </p:sp>
      <p:sp>
        <p:nvSpPr>
          <p:cNvPr id="768" name="Shape 21"/>
          <p:cNvSpPr/>
          <p:nvPr/>
        </p:nvSpPr>
        <p:spPr>
          <a:xfrm>
            <a:off x="10332720" y="4023360"/>
            <a:ext cx="360" cy="320040"/>
          </a:xfrm>
          <a:prstGeom prst="line">
            <a:avLst/>
          </a:prstGeom>
          <a:ln w="15875">
            <a:solidFill>
              <a:srgbClr val="D8D2F5"/>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69" name="Text 22"/>
          <p:cNvSpPr/>
          <p:nvPr/>
        </p:nvSpPr>
        <p:spPr>
          <a:xfrm>
            <a:off x="9692640" y="4343400"/>
            <a:ext cx="127944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entury Gothic"/>
                <a:ea typeface="Century Gothic"/>
              </a:rPr>
              <a:t>Max</a:t>
            </a:r>
            <a:endParaRPr lang="en-US" sz="1200" b="0" u="none" strike="noStrike">
              <a:solidFill>
                <a:srgbClr val="000000"/>
              </a:solidFill>
              <a:effectLst/>
              <a:uFillTx/>
              <a:latin typeface="Arial"/>
            </a:endParaRPr>
          </a:p>
        </p:txBody>
      </p:sp>
      <p:sp>
        <p:nvSpPr>
          <p:cNvPr id="770" name="Text 23"/>
          <p:cNvSpPr/>
          <p:nvPr/>
        </p:nvSpPr>
        <p:spPr>
          <a:xfrm>
            <a:off x="9509760" y="4617720"/>
            <a:ext cx="1645200" cy="502200"/>
          </a:xfrm>
          <a:prstGeom prst="rect">
            <a:avLst/>
          </a:prstGeom>
          <a:noFill/>
          <a:ln w="0">
            <a:noFill/>
          </a:ln>
        </p:spPr>
        <p:style>
          <a:lnRef idx="0"/>
          <a:fillRef idx="0"/>
          <a:effectRef idx="0"/>
          <a:fontRef idx="minor"/>
        </p:style>
        <p:txBody>
          <a:bodyPr lIns="0" tIns="0" rIns="0" bIns="0" anchor="t">
            <a:noAutofit/>
          </a:bodyPr>
          <a:p>
            <a:pPr algn="ctr" defTabSz="914400">
              <a:lnSpc>
                <a:spcPct val="110000"/>
              </a:lnSpc>
              <a:tabLst>
                <a:tab pos="0" algn="l"/>
              </a:tabLst>
            </a:pPr>
            <a:r>
              <a:rPr lang="en-US" sz="900" b="0" u="none" strike="noStrike">
                <a:solidFill>
                  <a:srgbClr val="685F8F"/>
                </a:solidFill>
                <a:effectLst/>
                <a:uFillTx/>
                <a:latin typeface="Calibri"/>
                <a:ea typeface="Calibri"/>
              </a:rPr>
              <a:t>largest value</a:t>
            </a:r>
            <a:endParaRPr lang="en-US" sz="900" b="0" u="none" strike="noStrike">
              <a:solidFill>
                <a:srgbClr val="000000"/>
              </a:solidFill>
              <a:effectLst/>
              <a:uFillTx/>
              <a:latin typeface="Arial"/>
            </a:endParaRPr>
          </a:p>
          <a:p>
            <a:pPr algn="ctr" defTabSz="914400">
              <a:lnSpc>
                <a:spcPct val="110000"/>
              </a:lnSpc>
              <a:tabLst>
                <a:tab pos="0" algn="l"/>
              </a:tabLst>
            </a:pPr>
            <a:r>
              <a:rPr lang="en-US" sz="900" b="0" u="none" strike="noStrike">
                <a:solidFill>
                  <a:srgbClr val="685F8F"/>
                </a:solidFill>
                <a:effectLst/>
                <a:uFillTx/>
                <a:latin typeface="Calibri"/>
                <a:ea typeface="Calibri"/>
              </a:rPr>
              <a:t>(within 1.5×IQR)</a:t>
            </a:r>
            <a:endParaRPr lang="en-US" sz="900" b="0" u="none" strike="noStrike">
              <a:solidFill>
                <a:srgbClr val="000000"/>
              </a:solidFill>
              <a:effectLst/>
              <a:uFillTx/>
              <a:latin typeface="Arial"/>
            </a:endParaRPr>
          </a:p>
        </p:txBody>
      </p:sp>
      <p:sp>
        <p:nvSpPr>
          <p:cNvPr id="771" name="Shape 24"/>
          <p:cNvSpPr/>
          <p:nvPr/>
        </p:nvSpPr>
        <p:spPr>
          <a:xfrm>
            <a:off x="3840480" y="2560320"/>
            <a:ext cx="3749040" cy="360"/>
          </a:xfrm>
          <a:prstGeom prst="line">
            <a:avLst/>
          </a:prstGeom>
          <a:ln w="31750">
            <a:solidFill>
              <a:srgbClr val="FFC94A"/>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72" name="Shape 25"/>
          <p:cNvSpPr/>
          <p:nvPr/>
        </p:nvSpPr>
        <p:spPr>
          <a:xfrm>
            <a:off x="3840480" y="2560320"/>
            <a:ext cx="360" cy="137160"/>
          </a:xfrm>
          <a:prstGeom prst="line">
            <a:avLst/>
          </a:prstGeom>
          <a:ln w="31750">
            <a:solidFill>
              <a:srgbClr val="FFC94A"/>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73" name="Shape 26"/>
          <p:cNvSpPr/>
          <p:nvPr/>
        </p:nvSpPr>
        <p:spPr>
          <a:xfrm>
            <a:off x="7589520" y="2560320"/>
            <a:ext cx="360" cy="137160"/>
          </a:xfrm>
          <a:prstGeom prst="line">
            <a:avLst/>
          </a:prstGeom>
          <a:ln w="31750">
            <a:solidFill>
              <a:srgbClr val="FFC94A"/>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774" name="Text 27"/>
          <p:cNvSpPr/>
          <p:nvPr/>
        </p:nvSpPr>
        <p:spPr>
          <a:xfrm>
            <a:off x="3840480" y="2194560"/>
            <a:ext cx="3748320" cy="3193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6B5FD1"/>
                </a:solidFill>
                <a:effectLst/>
                <a:uFillTx/>
                <a:latin typeface="Calibri"/>
                <a:ea typeface="Calibri"/>
              </a:rPr>
              <a:t>IQR = Q3 − Q1  (the middle 50% of the data)</a:t>
            </a:r>
            <a:endParaRPr lang="en-US" sz="1100" b="0" u="none" strike="noStrike">
              <a:solidFill>
                <a:srgbClr val="000000"/>
              </a:solidFill>
              <a:effectLst/>
              <a:uFillTx/>
              <a:latin typeface="Arial"/>
            </a:endParaRPr>
          </a:p>
        </p:txBody>
      </p:sp>
      <p:sp>
        <p:nvSpPr>
          <p:cNvPr id="775" name="Text 28"/>
          <p:cNvSpPr/>
          <p:nvPr/>
        </p:nvSpPr>
        <p:spPr>
          <a:xfrm>
            <a:off x="731520" y="5623560"/>
            <a:ext cx="10725120" cy="5479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50" b="0" i="1" u="none" strike="noStrike">
                <a:solidFill>
                  <a:srgbClr val="685F8F"/>
                </a:solidFill>
                <a:effectLst/>
                <a:uFillTx/>
                <a:latin typeface="Calibri"/>
                <a:ea typeface="Calibri"/>
              </a:rPr>
              <a:t>Together, Min, Q1, Median, Q3, and Max make up the "five-number summary" — the box plot is simply a picture of those five numbers.</a:t>
            </a:r>
            <a:endParaRPr lang="en-US" sz="1250" b="0" u="none" strike="noStrike">
              <a:solidFill>
                <a:srgbClr val="000000"/>
              </a:solidFill>
              <a:effectLst/>
              <a:uFillTx/>
              <a:latin typeface="Arial"/>
            </a:endParaRPr>
          </a:p>
        </p:txBody>
      </p:sp>
      <p:sp>
        <p:nvSpPr>
          <p:cNvPr id="776" name="Text 29"/>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777" name="Text 30"/>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78"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79" name="Image 0" descr="preencoded.png"/>
          <p:cNvPicPr/>
          <p:nvPr/>
        </p:nvPicPr>
        <p:blipFill>
          <a:blip r:embed="rId1"/>
          <a:stretch/>
        </p:blipFill>
        <p:spPr>
          <a:xfrm>
            <a:off x="548640" y="548640"/>
            <a:ext cx="447480" cy="447480"/>
          </a:xfrm>
          <a:prstGeom prst="rect">
            <a:avLst/>
          </a:prstGeom>
          <a:noFill/>
          <a:ln w="0">
            <a:noFill/>
          </a:ln>
        </p:spPr>
      </p:pic>
      <p:sp>
        <p:nvSpPr>
          <p:cNvPr id="780"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Charts for Relationships Between Variables</a:t>
            </a:r>
            <a:endParaRPr lang="en-US" sz="2400" b="0" u="none" strike="noStrike">
              <a:solidFill>
                <a:srgbClr val="000000"/>
              </a:solidFill>
              <a:effectLst/>
              <a:uFillTx/>
              <a:latin typeface="Arial"/>
            </a:endParaRPr>
          </a:p>
        </p:txBody>
      </p:sp>
      <p:sp>
        <p:nvSpPr>
          <p:cNvPr id="781"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782" name="Shape 3"/>
          <p:cNvSpPr/>
          <p:nvPr/>
        </p:nvSpPr>
        <p:spPr>
          <a:xfrm>
            <a:off x="457200" y="1508760"/>
            <a:ext cx="3611160" cy="4891320"/>
          </a:xfrm>
          <a:prstGeom prst="roundRect">
            <a:avLst>
              <a:gd name="adj" fmla="val 405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3" name="Shape 4"/>
          <p:cNvSpPr/>
          <p:nvPr/>
        </p:nvSpPr>
        <p:spPr>
          <a:xfrm>
            <a:off x="19890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84" name="Image 1" descr="preencoded.png"/>
          <p:cNvPicPr/>
          <p:nvPr/>
        </p:nvPicPr>
        <p:blipFill>
          <a:blip r:embed="rId2"/>
          <a:stretch/>
        </p:blipFill>
        <p:spPr>
          <a:xfrm>
            <a:off x="2071080" y="2176200"/>
            <a:ext cx="383400" cy="383400"/>
          </a:xfrm>
          <a:prstGeom prst="rect">
            <a:avLst/>
          </a:prstGeom>
          <a:noFill/>
          <a:ln w="0">
            <a:noFill/>
          </a:ln>
        </p:spPr>
      </p:pic>
      <p:sp>
        <p:nvSpPr>
          <p:cNvPr id="785" name="Text 5"/>
          <p:cNvSpPr/>
          <p:nvPr/>
        </p:nvSpPr>
        <p:spPr>
          <a:xfrm>
            <a:off x="5486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Scatter Plot</a:t>
            </a:r>
            <a:endParaRPr lang="en-US" sz="1300" b="0" u="none" strike="noStrike">
              <a:solidFill>
                <a:srgbClr val="000000"/>
              </a:solidFill>
              <a:effectLst/>
              <a:uFillTx/>
              <a:latin typeface="Arial"/>
            </a:endParaRPr>
          </a:p>
        </p:txBody>
      </p:sp>
      <p:sp>
        <p:nvSpPr>
          <p:cNvPr id="786" name="Text 6"/>
          <p:cNvSpPr/>
          <p:nvPr/>
        </p:nvSpPr>
        <p:spPr>
          <a:xfrm>
            <a:off x="60336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the relationship between two numerical variables. The foundation for spotting correlation</a:t>
            </a:r>
            <a:endParaRPr lang="en-US" sz="1100" b="0" u="none" strike="noStrike">
              <a:solidFill>
                <a:srgbClr val="000000"/>
              </a:solidFill>
              <a:effectLst/>
              <a:uFillTx/>
              <a:latin typeface="Arial"/>
            </a:endParaRPr>
          </a:p>
        </p:txBody>
      </p:sp>
      <p:sp>
        <p:nvSpPr>
          <p:cNvPr id="787" name="Shape 7"/>
          <p:cNvSpPr/>
          <p:nvPr/>
        </p:nvSpPr>
        <p:spPr>
          <a:xfrm>
            <a:off x="4288680" y="1508760"/>
            <a:ext cx="3611160" cy="4891320"/>
          </a:xfrm>
          <a:prstGeom prst="roundRect">
            <a:avLst>
              <a:gd name="adj" fmla="val 405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88" name="Shape 8"/>
          <p:cNvSpPr/>
          <p:nvPr/>
        </p:nvSpPr>
        <p:spPr>
          <a:xfrm>
            <a:off x="582012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89" name="Image 2" descr="preencoded.png"/>
          <p:cNvPicPr/>
          <p:nvPr/>
        </p:nvPicPr>
        <p:blipFill>
          <a:blip r:embed="rId3"/>
          <a:stretch/>
        </p:blipFill>
        <p:spPr>
          <a:xfrm>
            <a:off x="5902560" y="2176200"/>
            <a:ext cx="383400" cy="383400"/>
          </a:xfrm>
          <a:prstGeom prst="rect">
            <a:avLst/>
          </a:prstGeom>
          <a:noFill/>
          <a:ln w="0">
            <a:noFill/>
          </a:ln>
        </p:spPr>
      </p:pic>
      <p:sp>
        <p:nvSpPr>
          <p:cNvPr id="790" name="Text 9"/>
          <p:cNvSpPr/>
          <p:nvPr/>
        </p:nvSpPr>
        <p:spPr>
          <a:xfrm>
            <a:off x="438012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Line Plot</a:t>
            </a:r>
            <a:endParaRPr lang="en-US" sz="1300" b="0" u="none" strike="noStrike">
              <a:solidFill>
                <a:srgbClr val="000000"/>
              </a:solidFill>
              <a:effectLst/>
              <a:uFillTx/>
              <a:latin typeface="Arial"/>
            </a:endParaRPr>
          </a:p>
        </p:txBody>
      </p:sp>
      <p:sp>
        <p:nvSpPr>
          <p:cNvPr id="791" name="Text 10"/>
          <p:cNvSpPr/>
          <p:nvPr/>
        </p:nvSpPr>
        <p:spPr>
          <a:xfrm>
            <a:off x="443484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Shows change over a continuous sequence, almost always time. Avoid using it for non-sequential categories</a:t>
            </a:r>
            <a:endParaRPr lang="en-US" sz="1100" b="0" u="none" strike="noStrike">
              <a:solidFill>
                <a:srgbClr val="000000"/>
              </a:solidFill>
              <a:effectLst/>
              <a:uFillTx/>
              <a:latin typeface="Arial"/>
            </a:endParaRPr>
          </a:p>
        </p:txBody>
      </p:sp>
      <p:sp>
        <p:nvSpPr>
          <p:cNvPr id="792" name="Shape 11"/>
          <p:cNvSpPr/>
          <p:nvPr/>
        </p:nvSpPr>
        <p:spPr>
          <a:xfrm>
            <a:off x="8119800" y="1508760"/>
            <a:ext cx="3611160" cy="4891320"/>
          </a:xfrm>
          <a:prstGeom prst="roundRect">
            <a:avLst>
              <a:gd name="adj" fmla="val 4051"/>
            </a:avLst>
          </a:prstGeom>
          <a:solidFill>
            <a:srgbClr val="E3FBF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93" name="Shape 12"/>
          <p:cNvSpPr/>
          <p:nvPr/>
        </p:nvSpPr>
        <p:spPr>
          <a:xfrm>
            <a:off x="9651600" y="2094120"/>
            <a:ext cx="547920" cy="547920"/>
          </a:xfrm>
          <a:prstGeom prst="ellipse">
            <a:avLst/>
          </a:prstGeom>
          <a:solidFill>
            <a:srgbClr val="5FD6B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94" name="Image 3" descr="preencoded.png"/>
          <p:cNvPicPr/>
          <p:nvPr/>
        </p:nvPicPr>
        <p:blipFill>
          <a:blip r:embed="rId4"/>
          <a:stretch/>
        </p:blipFill>
        <p:spPr>
          <a:xfrm>
            <a:off x="9733680" y="2176200"/>
            <a:ext cx="383400" cy="383400"/>
          </a:xfrm>
          <a:prstGeom prst="rect">
            <a:avLst/>
          </a:prstGeom>
          <a:noFill/>
          <a:ln w="0">
            <a:noFill/>
          </a:ln>
        </p:spPr>
      </p:pic>
      <p:sp>
        <p:nvSpPr>
          <p:cNvPr id="795" name="Text 13"/>
          <p:cNvSpPr/>
          <p:nvPr/>
        </p:nvSpPr>
        <p:spPr>
          <a:xfrm>
            <a:off x="8211240" y="2715840"/>
            <a:ext cx="342828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Bubble Chart</a:t>
            </a:r>
            <a:endParaRPr lang="en-US" sz="1300" b="0" u="none" strike="noStrike">
              <a:solidFill>
                <a:srgbClr val="000000"/>
              </a:solidFill>
              <a:effectLst/>
              <a:uFillTx/>
              <a:latin typeface="Arial"/>
            </a:endParaRPr>
          </a:p>
        </p:txBody>
      </p:sp>
      <p:sp>
        <p:nvSpPr>
          <p:cNvPr id="796" name="Text 14"/>
          <p:cNvSpPr/>
          <p:nvPr/>
        </p:nvSpPr>
        <p:spPr>
          <a:xfrm>
            <a:off x="8266320" y="3099960"/>
            <a:ext cx="331848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A scatter plot with a third variable shown as bubble size. Avoid when size differences are hard to judge precisely</a:t>
            </a:r>
            <a:endParaRPr lang="en-US" sz="1100" b="0" u="none" strike="noStrike">
              <a:solidFill>
                <a:srgbClr val="000000"/>
              </a:solidFill>
              <a:effectLst/>
              <a:uFillTx/>
              <a:latin typeface="Arial"/>
            </a:endParaRPr>
          </a:p>
        </p:txBody>
      </p:sp>
      <p:sp>
        <p:nvSpPr>
          <p:cNvPr id="797" name="Text 15"/>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798" name="Text 16"/>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79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00" name="Image 0" descr="preencoded.png"/>
          <p:cNvPicPr/>
          <p:nvPr/>
        </p:nvPicPr>
        <p:blipFill>
          <a:blip r:embed="rId1"/>
          <a:stretch/>
        </p:blipFill>
        <p:spPr>
          <a:xfrm>
            <a:off x="548640" y="548640"/>
            <a:ext cx="447480" cy="447480"/>
          </a:xfrm>
          <a:prstGeom prst="rect">
            <a:avLst/>
          </a:prstGeom>
          <a:noFill/>
          <a:ln w="0">
            <a:noFill/>
          </a:ln>
        </p:spPr>
      </p:pic>
      <p:sp>
        <p:nvSpPr>
          <p:cNvPr id="80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Heatmaps &amp; Correlation Matrices</a:t>
            </a:r>
            <a:endParaRPr lang="en-US" sz="2400" b="0" u="none" strike="noStrike">
              <a:solidFill>
                <a:srgbClr val="000000"/>
              </a:solidFill>
              <a:effectLst/>
              <a:uFillTx/>
              <a:latin typeface="Arial"/>
            </a:endParaRPr>
          </a:p>
        </p:txBody>
      </p:sp>
      <p:sp>
        <p:nvSpPr>
          <p:cNvPr id="80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03"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4"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05" name="Image 1" descr="preencoded.png"/>
          <p:cNvPicPr/>
          <p:nvPr/>
        </p:nvPicPr>
        <p:blipFill>
          <a:blip r:embed="rId2"/>
          <a:stretch/>
        </p:blipFill>
        <p:spPr>
          <a:xfrm>
            <a:off x="1746360" y="2423160"/>
            <a:ext cx="1087560" cy="1087560"/>
          </a:xfrm>
          <a:prstGeom prst="rect">
            <a:avLst/>
          </a:prstGeom>
          <a:noFill/>
          <a:ln w="0">
            <a:noFill/>
          </a:ln>
        </p:spPr>
      </p:pic>
      <p:sp>
        <p:nvSpPr>
          <p:cNvPr id="806"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Color as</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a stand-in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for numbers</a:t>
            </a:r>
            <a:endParaRPr lang="en-US" sz="1600" b="0" u="none" strike="noStrike">
              <a:solidFill>
                <a:srgbClr val="000000"/>
              </a:solidFill>
              <a:effectLst/>
              <a:uFillTx/>
              <a:latin typeface="Arial"/>
            </a:endParaRPr>
          </a:p>
        </p:txBody>
      </p:sp>
      <p:sp>
        <p:nvSpPr>
          <p:cNvPr id="807"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heatmap uses color intensity instead of length or position to represent values — useful whenever you have a full grid of numbers to compare at once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correlation matrix is the most common heatmap you’ll build in data science — it shows how strongly every numerical variable relates to every other one, all at once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Use it to quickly scan for strong relationships across many variables before deciding which pairs deserve a closer look with a scatter plot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Avoid it when you only have two or three variables — at that point, a simple scatter plot communicates the same thing far more precisely</a:t>
            </a:r>
            <a:endParaRPr lang="en-US" sz="1600" b="0" u="none" strike="noStrike">
              <a:solidFill>
                <a:srgbClr val="000000"/>
              </a:solidFill>
              <a:effectLst/>
              <a:uFillTx/>
              <a:latin typeface="Arial"/>
            </a:endParaRPr>
          </a:p>
        </p:txBody>
      </p:sp>
      <p:sp>
        <p:nvSpPr>
          <p:cNvPr id="808"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809"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81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11" name="Image 0" descr="preencoded.png"/>
          <p:cNvPicPr/>
          <p:nvPr/>
        </p:nvPicPr>
        <p:blipFill>
          <a:blip r:embed="rId1"/>
          <a:stretch/>
        </p:blipFill>
        <p:spPr>
          <a:xfrm>
            <a:off x="548640" y="548640"/>
            <a:ext cx="447480" cy="447480"/>
          </a:xfrm>
          <a:prstGeom prst="rect">
            <a:avLst/>
          </a:prstGeom>
          <a:noFill/>
          <a:ln w="0">
            <a:noFill/>
          </a:ln>
        </p:spPr>
      </p:pic>
      <p:sp>
        <p:nvSpPr>
          <p:cNvPr id="81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Reading a Correlation Heatmap</a:t>
            </a:r>
            <a:endParaRPr lang="en-US" sz="2400" b="0" u="none" strike="noStrike">
              <a:solidFill>
                <a:srgbClr val="000000"/>
              </a:solidFill>
              <a:effectLst/>
              <a:uFillTx/>
              <a:latin typeface="Arial"/>
            </a:endParaRPr>
          </a:p>
        </p:txBody>
      </p:sp>
      <p:sp>
        <p:nvSpPr>
          <p:cNvPr id="81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14" name="Text 3"/>
          <p:cNvSpPr/>
          <p:nvPr/>
        </p:nvSpPr>
        <p:spPr>
          <a:xfrm>
            <a:off x="3931920" y="1371600"/>
            <a:ext cx="959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D2A4A"/>
                </a:solidFill>
                <a:effectLst/>
                <a:uFillTx/>
                <a:latin typeface="Calibri"/>
                <a:ea typeface="Calibri"/>
              </a:rPr>
              <a:t>Age</a:t>
            </a:r>
            <a:endParaRPr lang="en-US" sz="1100" b="0" u="none" strike="noStrike">
              <a:solidFill>
                <a:srgbClr val="000000"/>
              </a:solidFill>
              <a:effectLst/>
              <a:uFillTx/>
              <a:latin typeface="Arial"/>
            </a:endParaRPr>
          </a:p>
        </p:txBody>
      </p:sp>
      <p:sp>
        <p:nvSpPr>
          <p:cNvPr id="815" name="Text 4"/>
          <p:cNvSpPr/>
          <p:nvPr/>
        </p:nvSpPr>
        <p:spPr>
          <a:xfrm>
            <a:off x="4892040" y="1371600"/>
            <a:ext cx="959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D2A4A"/>
                </a:solidFill>
                <a:effectLst/>
                <a:uFillTx/>
                <a:latin typeface="Calibri"/>
                <a:ea typeface="Calibri"/>
              </a:rPr>
              <a:t>Income</a:t>
            </a:r>
            <a:endParaRPr lang="en-US" sz="1100" b="0" u="none" strike="noStrike">
              <a:solidFill>
                <a:srgbClr val="000000"/>
              </a:solidFill>
              <a:effectLst/>
              <a:uFillTx/>
              <a:latin typeface="Arial"/>
            </a:endParaRPr>
          </a:p>
        </p:txBody>
      </p:sp>
      <p:sp>
        <p:nvSpPr>
          <p:cNvPr id="816" name="Text 5"/>
          <p:cNvSpPr/>
          <p:nvPr/>
        </p:nvSpPr>
        <p:spPr>
          <a:xfrm>
            <a:off x="5852160" y="1371600"/>
            <a:ext cx="959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D2A4A"/>
                </a:solidFill>
                <a:effectLst/>
                <a:uFillTx/>
                <a:latin typeface="Calibri"/>
                <a:ea typeface="Calibri"/>
              </a:rPr>
              <a:t>Spend</a:t>
            </a:r>
            <a:endParaRPr lang="en-US" sz="1100" b="0" u="none" strike="noStrike">
              <a:solidFill>
                <a:srgbClr val="000000"/>
              </a:solidFill>
              <a:effectLst/>
              <a:uFillTx/>
              <a:latin typeface="Arial"/>
            </a:endParaRPr>
          </a:p>
        </p:txBody>
      </p:sp>
      <p:sp>
        <p:nvSpPr>
          <p:cNvPr id="817" name="Text 6"/>
          <p:cNvSpPr/>
          <p:nvPr/>
        </p:nvSpPr>
        <p:spPr>
          <a:xfrm>
            <a:off x="6812280" y="1371600"/>
            <a:ext cx="95940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D2A4A"/>
                </a:solidFill>
                <a:effectLst/>
                <a:uFillTx/>
                <a:latin typeface="Calibri"/>
                <a:ea typeface="Calibri"/>
              </a:rPr>
              <a:t>Rating</a:t>
            </a:r>
            <a:endParaRPr lang="en-US" sz="1100" b="0" u="none" strike="noStrike">
              <a:solidFill>
                <a:srgbClr val="000000"/>
              </a:solidFill>
              <a:effectLst/>
              <a:uFillTx/>
              <a:latin typeface="Arial"/>
            </a:endParaRPr>
          </a:p>
        </p:txBody>
      </p:sp>
      <p:sp>
        <p:nvSpPr>
          <p:cNvPr id="818" name="Text 7"/>
          <p:cNvSpPr/>
          <p:nvPr/>
        </p:nvSpPr>
        <p:spPr>
          <a:xfrm>
            <a:off x="2560320" y="1828800"/>
            <a:ext cx="1279440" cy="959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D2A4A"/>
                </a:solidFill>
                <a:effectLst/>
                <a:uFillTx/>
                <a:latin typeface="Calibri"/>
                <a:ea typeface="Calibri"/>
              </a:rPr>
              <a:t>Age</a:t>
            </a:r>
            <a:endParaRPr lang="en-US" sz="1100" b="0" u="none" strike="noStrike">
              <a:solidFill>
                <a:srgbClr val="000000"/>
              </a:solidFill>
              <a:effectLst/>
              <a:uFillTx/>
              <a:latin typeface="Arial"/>
            </a:endParaRPr>
          </a:p>
        </p:txBody>
      </p:sp>
      <p:sp>
        <p:nvSpPr>
          <p:cNvPr id="819" name="Shape 8"/>
          <p:cNvSpPr/>
          <p:nvPr/>
        </p:nvSpPr>
        <p:spPr>
          <a:xfrm>
            <a:off x="3931920" y="1828800"/>
            <a:ext cx="959400" cy="959400"/>
          </a:xfrm>
          <a:prstGeom prst="rect">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0" name="Text 9"/>
          <p:cNvSpPr/>
          <p:nvPr/>
        </p:nvSpPr>
        <p:spPr>
          <a:xfrm>
            <a:off x="3931920" y="182880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1.00</a:t>
            </a:r>
            <a:endParaRPr lang="en-US" sz="1200" b="0" u="none" strike="noStrike">
              <a:solidFill>
                <a:srgbClr val="000000"/>
              </a:solidFill>
              <a:effectLst/>
              <a:uFillTx/>
              <a:latin typeface="Arial"/>
            </a:endParaRPr>
          </a:p>
        </p:txBody>
      </p:sp>
      <p:sp>
        <p:nvSpPr>
          <p:cNvPr id="821" name="Shape 10"/>
          <p:cNvSpPr/>
          <p:nvPr/>
        </p:nvSpPr>
        <p:spPr>
          <a:xfrm>
            <a:off x="4892040" y="1828800"/>
            <a:ext cx="959400" cy="959400"/>
          </a:xfrm>
          <a:prstGeom prst="rect">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2" name="Text 11"/>
          <p:cNvSpPr/>
          <p:nvPr/>
        </p:nvSpPr>
        <p:spPr>
          <a:xfrm>
            <a:off x="4892040" y="182880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0.62</a:t>
            </a:r>
            <a:endParaRPr lang="en-US" sz="1200" b="0" u="none" strike="noStrike">
              <a:solidFill>
                <a:srgbClr val="000000"/>
              </a:solidFill>
              <a:effectLst/>
              <a:uFillTx/>
              <a:latin typeface="Arial"/>
            </a:endParaRPr>
          </a:p>
        </p:txBody>
      </p:sp>
      <p:sp>
        <p:nvSpPr>
          <p:cNvPr id="823" name="Shape 12"/>
          <p:cNvSpPr/>
          <p:nvPr/>
        </p:nvSpPr>
        <p:spPr>
          <a:xfrm>
            <a:off x="5852160" y="1828800"/>
            <a:ext cx="959400" cy="959400"/>
          </a:xfrm>
          <a:prstGeom prst="rect">
            <a:avLst/>
          </a:prstGeom>
          <a:solidFill>
            <a:srgbClr val="FF8FB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4" name="Text 13"/>
          <p:cNvSpPr/>
          <p:nvPr/>
        </p:nvSpPr>
        <p:spPr>
          <a:xfrm>
            <a:off x="5852160" y="182880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-0.18</a:t>
            </a:r>
            <a:endParaRPr lang="en-US" sz="1200" b="0" u="none" strike="noStrike">
              <a:solidFill>
                <a:srgbClr val="000000"/>
              </a:solidFill>
              <a:effectLst/>
              <a:uFillTx/>
              <a:latin typeface="Arial"/>
            </a:endParaRPr>
          </a:p>
        </p:txBody>
      </p:sp>
      <p:sp>
        <p:nvSpPr>
          <p:cNvPr id="825" name="Shape 14"/>
          <p:cNvSpPr/>
          <p:nvPr/>
        </p:nvSpPr>
        <p:spPr>
          <a:xfrm>
            <a:off x="6812280" y="1828800"/>
            <a:ext cx="959400" cy="959400"/>
          </a:xfrm>
          <a:prstGeom prst="rect">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6" name="Text 15"/>
          <p:cNvSpPr/>
          <p:nvPr/>
        </p:nvSpPr>
        <p:spPr>
          <a:xfrm>
            <a:off x="6812280" y="182880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0.05</a:t>
            </a:r>
            <a:endParaRPr lang="en-US" sz="1200" b="0" u="none" strike="noStrike">
              <a:solidFill>
                <a:srgbClr val="000000"/>
              </a:solidFill>
              <a:effectLst/>
              <a:uFillTx/>
              <a:latin typeface="Arial"/>
            </a:endParaRPr>
          </a:p>
        </p:txBody>
      </p:sp>
      <p:sp>
        <p:nvSpPr>
          <p:cNvPr id="827" name="Text 16"/>
          <p:cNvSpPr/>
          <p:nvPr/>
        </p:nvSpPr>
        <p:spPr>
          <a:xfrm>
            <a:off x="2560320" y="2788920"/>
            <a:ext cx="1279440" cy="959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D2A4A"/>
                </a:solidFill>
                <a:effectLst/>
                <a:uFillTx/>
                <a:latin typeface="Calibri"/>
                <a:ea typeface="Calibri"/>
              </a:rPr>
              <a:t>Income</a:t>
            </a:r>
            <a:endParaRPr lang="en-US" sz="1100" b="0" u="none" strike="noStrike">
              <a:solidFill>
                <a:srgbClr val="000000"/>
              </a:solidFill>
              <a:effectLst/>
              <a:uFillTx/>
              <a:latin typeface="Arial"/>
            </a:endParaRPr>
          </a:p>
        </p:txBody>
      </p:sp>
      <p:sp>
        <p:nvSpPr>
          <p:cNvPr id="828" name="Shape 17"/>
          <p:cNvSpPr/>
          <p:nvPr/>
        </p:nvSpPr>
        <p:spPr>
          <a:xfrm>
            <a:off x="3931920" y="2788920"/>
            <a:ext cx="959400" cy="959400"/>
          </a:xfrm>
          <a:prstGeom prst="rect">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9" name="Text 18"/>
          <p:cNvSpPr/>
          <p:nvPr/>
        </p:nvSpPr>
        <p:spPr>
          <a:xfrm>
            <a:off x="3931920" y="278892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0.62</a:t>
            </a:r>
            <a:endParaRPr lang="en-US" sz="1200" b="0" u="none" strike="noStrike">
              <a:solidFill>
                <a:srgbClr val="000000"/>
              </a:solidFill>
              <a:effectLst/>
              <a:uFillTx/>
              <a:latin typeface="Arial"/>
            </a:endParaRPr>
          </a:p>
        </p:txBody>
      </p:sp>
      <p:sp>
        <p:nvSpPr>
          <p:cNvPr id="830" name="Shape 19"/>
          <p:cNvSpPr/>
          <p:nvPr/>
        </p:nvSpPr>
        <p:spPr>
          <a:xfrm>
            <a:off x="4892040" y="2788920"/>
            <a:ext cx="959400" cy="959400"/>
          </a:xfrm>
          <a:prstGeom prst="rect">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1" name="Text 20"/>
          <p:cNvSpPr/>
          <p:nvPr/>
        </p:nvSpPr>
        <p:spPr>
          <a:xfrm>
            <a:off x="4892040" y="278892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1.00</a:t>
            </a:r>
            <a:endParaRPr lang="en-US" sz="1200" b="0" u="none" strike="noStrike">
              <a:solidFill>
                <a:srgbClr val="000000"/>
              </a:solidFill>
              <a:effectLst/>
              <a:uFillTx/>
              <a:latin typeface="Arial"/>
            </a:endParaRPr>
          </a:p>
        </p:txBody>
      </p:sp>
      <p:sp>
        <p:nvSpPr>
          <p:cNvPr id="832" name="Shape 21"/>
          <p:cNvSpPr/>
          <p:nvPr/>
        </p:nvSpPr>
        <p:spPr>
          <a:xfrm>
            <a:off x="5852160" y="2788920"/>
            <a:ext cx="959400" cy="959400"/>
          </a:xfrm>
          <a:prstGeom prst="rect">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3" name="Text 22"/>
          <p:cNvSpPr/>
          <p:nvPr/>
        </p:nvSpPr>
        <p:spPr>
          <a:xfrm>
            <a:off x="5852160" y="278892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0.71</a:t>
            </a:r>
            <a:endParaRPr lang="en-US" sz="1200" b="0" u="none" strike="noStrike">
              <a:solidFill>
                <a:srgbClr val="000000"/>
              </a:solidFill>
              <a:effectLst/>
              <a:uFillTx/>
              <a:latin typeface="Arial"/>
            </a:endParaRPr>
          </a:p>
        </p:txBody>
      </p:sp>
      <p:sp>
        <p:nvSpPr>
          <p:cNvPr id="834" name="Shape 23"/>
          <p:cNvSpPr/>
          <p:nvPr/>
        </p:nvSpPr>
        <p:spPr>
          <a:xfrm>
            <a:off x="6812280" y="2788920"/>
            <a:ext cx="959400" cy="959400"/>
          </a:xfrm>
          <a:prstGeom prst="rect">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5" name="Text 24"/>
          <p:cNvSpPr/>
          <p:nvPr/>
        </p:nvSpPr>
        <p:spPr>
          <a:xfrm>
            <a:off x="6812280" y="278892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-0.10</a:t>
            </a:r>
            <a:endParaRPr lang="en-US" sz="1200" b="0" u="none" strike="noStrike">
              <a:solidFill>
                <a:srgbClr val="000000"/>
              </a:solidFill>
              <a:effectLst/>
              <a:uFillTx/>
              <a:latin typeface="Arial"/>
            </a:endParaRPr>
          </a:p>
        </p:txBody>
      </p:sp>
      <p:sp>
        <p:nvSpPr>
          <p:cNvPr id="836" name="Text 25"/>
          <p:cNvSpPr/>
          <p:nvPr/>
        </p:nvSpPr>
        <p:spPr>
          <a:xfrm>
            <a:off x="2560320" y="3749040"/>
            <a:ext cx="1279440" cy="959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D2A4A"/>
                </a:solidFill>
                <a:effectLst/>
                <a:uFillTx/>
                <a:latin typeface="Calibri"/>
                <a:ea typeface="Calibri"/>
              </a:rPr>
              <a:t>Spend</a:t>
            </a:r>
            <a:endParaRPr lang="en-US" sz="1100" b="0" u="none" strike="noStrike">
              <a:solidFill>
                <a:srgbClr val="000000"/>
              </a:solidFill>
              <a:effectLst/>
              <a:uFillTx/>
              <a:latin typeface="Arial"/>
            </a:endParaRPr>
          </a:p>
        </p:txBody>
      </p:sp>
      <p:sp>
        <p:nvSpPr>
          <p:cNvPr id="837" name="Shape 26"/>
          <p:cNvSpPr/>
          <p:nvPr/>
        </p:nvSpPr>
        <p:spPr>
          <a:xfrm>
            <a:off x="3931920" y="3749040"/>
            <a:ext cx="959400" cy="959400"/>
          </a:xfrm>
          <a:prstGeom prst="rect">
            <a:avLst/>
          </a:prstGeom>
          <a:solidFill>
            <a:srgbClr val="FF8FB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8" name="Text 27"/>
          <p:cNvSpPr/>
          <p:nvPr/>
        </p:nvSpPr>
        <p:spPr>
          <a:xfrm>
            <a:off x="3931920" y="374904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-0.18</a:t>
            </a:r>
            <a:endParaRPr lang="en-US" sz="1200" b="0" u="none" strike="noStrike">
              <a:solidFill>
                <a:srgbClr val="000000"/>
              </a:solidFill>
              <a:effectLst/>
              <a:uFillTx/>
              <a:latin typeface="Arial"/>
            </a:endParaRPr>
          </a:p>
        </p:txBody>
      </p:sp>
      <p:sp>
        <p:nvSpPr>
          <p:cNvPr id="839" name="Shape 28"/>
          <p:cNvSpPr/>
          <p:nvPr/>
        </p:nvSpPr>
        <p:spPr>
          <a:xfrm>
            <a:off x="4892040" y="3749040"/>
            <a:ext cx="959400" cy="959400"/>
          </a:xfrm>
          <a:prstGeom prst="rect">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0" name="Text 29"/>
          <p:cNvSpPr/>
          <p:nvPr/>
        </p:nvSpPr>
        <p:spPr>
          <a:xfrm>
            <a:off x="4892040" y="374904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0.71</a:t>
            </a:r>
            <a:endParaRPr lang="en-US" sz="1200" b="0" u="none" strike="noStrike">
              <a:solidFill>
                <a:srgbClr val="000000"/>
              </a:solidFill>
              <a:effectLst/>
              <a:uFillTx/>
              <a:latin typeface="Arial"/>
            </a:endParaRPr>
          </a:p>
        </p:txBody>
      </p:sp>
      <p:sp>
        <p:nvSpPr>
          <p:cNvPr id="841" name="Shape 30"/>
          <p:cNvSpPr/>
          <p:nvPr/>
        </p:nvSpPr>
        <p:spPr>
          <a:xfrm>
            <a:off x="5852160" y="3749040"/>
            <a:ext cx="959400" cy="959400"/>
          </a:xfrm>
          <a:prstGeom prst="rect">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2" name="Text 31"/>
          <p:cNvSpPr/>
          <p:nvPr/>
        </p:nvSpPr>
        <p:spPr>
          <a:xfrm>
            <a:off x="5852160" y="374904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1.00</a:t>
            </a:r>
            <a:endParaRPr lang="en-US" sz="1200" b="0" u="none" strike="noStrike">
              <a:solidFill>
                <a:srgbClr val="000000"/>
              </a:solidFill>
              <a:effectLst/>
              <a:uFillTx/>
              <a:latin typeface="Arial"/>
            </a:endParaRPr>
          </a:p>
        </p:txBody>
      </p:sp>
      <p:sp>
        <p:nvSpPr>
          <p:cNvPr id="843" name="Shape 32"/>
          <p:cNvSpPr/>
          <p:nvPr/>
        </p:nvSpPr>
        <p:spPr>
          <a:xfrm>
            <a:off x="6812280" y="3749040"/>
            <a:ext cx="959400" cy="959400"/>
          </a:xfrm>
          <a:prstGeom prst="rect">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4" name="Text 33"/>
          <p:cNvSpPr/>
          <p:nvPr/>
        </p:nvSpPr>
        <p:spPr>
          <a:xfrm>
            <a:off x="6812280" y="374904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0.34</a:t>
            </a:r>
            <a:endParaRPr lang="en-US" sz="1200" b="0" u="none" strike="noStrike">
              <a:solidFill>
                <a:srgbClr val="000000"/>
              </a:solidFill>
              <a:effectLst/>
              <a:uFillTx/>
              <a:latin typeface="Arial"/>
            </a:endParaRPr>
          </a:p>
        </p:txBody>
      </p:sp>
      <p:sp>
        <p:nvSpPr>
          <p:cNvPr id="845" name="Text 34"/>
          <p:cNvSpPr/>
          <p:nvPr/>
        </p:nvSpPr>
        <p:spPr>
          <a:xfrm>
            <a:off x="2560320" y="4709160"/>
            <a:ext cx="1279440" cy="9594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100" b="1" u="none" strike="noStrike">
                <a:solidFill>
                  <a:srgbClr val="2D2A4A"/>
                </a:solidFill>
                <a:effectLst/>
                <a:uFillTx/>
                <a:latin typeface="Calibri"/>
                <a:ea typeface="Calibri"/>
              </a:rPr>
              <a:t>Rating</a:t>
            </a:r>
            <a:endParaRPr lang="en-US" sz="1100" b="0" u="none" strike="noStrike">
              <a:solidFill>
                <a:srgbClr val="000000"/>
              </a:solidFill>
              <a:effectLst/>
              <a:uFillTx/>
              <a:latin typeface="Arial"/>
            </a:endParaRPr>
          </a:p>
        </p:txBody>
      </p:sp>
      <p:sp>
        <p:nvSpPr>
          <p:cNvPr id="846" name="Shape 35"/>
          <p:cNvSpPr/>
          <p:nvPr/>
        </p:nvSpPr>
        <p:spPr>
          <a:xfrm>
            <a:off x="3931920" y="4709160"/>
            <a:ext cx="959400" cy="959400"/>
          </a:xfrm>
          <a:prstGeom prst="rect">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7" name="Text 36"/>
          <p:cNvSpPr/>
          <p:nvPr/>
        </p:nvSpPr>
        <p:spPr>
          <a:xfrm>
            <a:off x="3931920" y="470916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0.05</a:t>
            </a:r>
            <a:endParaRPr lang="en-US" sz="1200" b="0" u="none" strike="noStrike">
              <a:solidFill>
                <a:srgbClr val="000000"/>
              </a:solidFill>
              <a:effectLst/>
              <a:uFillTx/>
              <a:latin typeface="Arial"/>
            </a:endParaRPr>
          </a:p>
        </p:txBody>
      </p:sp>
      <p:sp>
        <p:nvSpPr>
          <p:cNvPr id="848" name="Shape 37"/>
          <p:cNvSpPr/>
          <p:nvPr/>
        </p:nvSpPr>
        <p:spPr>
          <a:xfrm>
            <a:off x="4892040" y="4709160"/>
            <a:ext cx="959400" cy="959400"/>
          </a:xfrm>
          <a:prstGeom prst="rect">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49" name="Text 38"/>
          <p:cNvSpPr/>
          <p:nvPr/>
        </p:nvSpPr>
        <p:spPr>
          <a:xfrm>
            <a:off x="4892040" y="470916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-0.10</a:t>
            </a:r>
            <a:endParaRPr lang="en-US" sz="1200" b="0" u="none" strike="noStrike">
              <a:solidFill>
                <a:srgbClr val="000000"/>
              </a:solidFill>
              <a:effectLst/>
              <a:uFillTx/>
              <a:latin typeface="Arial"/>
            </a:endParaRPr>
          </a:p>
        </p:txBody>
      </p:sp>
      <p:sp>
        <p:nvSpPr>
          <p:cNvPr id="850" name="Shape 39"/>
          <p:cNvSpPr/>
          <p:nvPr/>
        </p:nvSpPr>
        <p:spPr>
          <a:xfrm>
            <a:off x="5852160" y="4709160"/>
            <a:ext cx="959400" cy="959400"/>
          </a:xfrm>
          <a:prstGeom prst="rect">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1" name="Text 40"/>
          <p:cNvSpPr/>
          <p:nvPr/>
        </p:nvSpPr>
        <p:spPr>
          <a:xfrm>
            <a:off x="5852160" y="470916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2D2A4A"/>
                </a:solidFill>
                <a:effectLst/>
                <a:uFillTx/>
                <a:latin typeface="Consolas"/>
                <a:ea typeface="Consolas"/>
              </a:rPr>
              <a:t>0.34</a:t>
            </a:r>
            <a:endParaRPr lang="en-US" sz="1200" b="0" u="none" strike="noStrike">
              <a:solidFill>
                <a:srgbClr val="000000"/>
              </a:solidFill>
              <a:effectLst/>
              <a:uFillTx/>
              <a:latin typeface="Arial"/>
            </a:endParaRPr>
          </a:p>
        </p:txBody>
      </p:sp>
      <p:sp>
        <p:nvSpPr>
          <p:cNvPr id="852" name="Shape 41"/>
          <p:cNvSpPr/>
          <p:nvPr/>
        </p:nvSpPr>
        <p:spPr>
          <a:xfrm>
            <a:off x="6812280" y="4709160"/>
            <a:ext cx="959400" cy="959400"/>
          </a:xfrm>
          <a:prstGeom prst="rect">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3" name="Text 42"/>
          <p:cNvSpPr/>
          <p:nvPr/>
        </p:nvSpPr>
        <p:spPr>
          <a:xfrm>
            <a:off x="6812280" y="4709160"/>
            <a:ext cx="959400" cy="959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onsolas"/>
                <a:ea typeface="Consolas"/>
              </a:rPr>
              <a:t>1.00</a:t>
            </a:r>
            <a:endParaRPr lang="en-US" sz="1200" b="0" u="none" strike="noStrike">
              <a:solidFill>
                <a:srgbClr val="000000"/>
              </a:solidFill>
              <a:effectLst/>
              <a:uFillTx/>
              <a:latin typeface="Arial"/>
            </a:endParaRPr>
          </a:p>
        </p:txBody>
      </p:sp>
      <p:sp>
        <p:nvSpPr>
          <p:cNvPr id="854" name="Shape 43"/>
          <p:cNvSpPr/>
          <p:nvPr/>
        </p:nvSpPr>
        <p:spPr>
          <a:xfrm>
            <a:off x="914400" y="6126480"/>
            <a:ext cx="319320" cy="319320"/>
          </a:xfrm>
          <a:prstGeom prst="rect">
            <a:avLst/>
          </a:prstGeom>
          <a:solidFill>
            <a:srgbClr val="FF8FB3"/>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5" name="Text 44"/>
          <p:cNvSpPr/>
          <p:nvPr/>
        </p:nvSpPr>
        <p:spPr>
          <a:xfrm>
            <a:off x="1325880" y="612648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Near −1: strong negative</a:t>
            </a:r>
            <a:endParaRPr lang="en-US" sz="950" b="0" u="none" strike="noStrike">
              <a:solidFill>
                <a:srgbClr val="000000"/>
              </a:solidFill>
              <a:effectLst/>
              <a:uFillTx/>
              <a:latin typeface="Arial"/>
            </a:endParaRPr>
          </a:p>
        </p:txBody>
      </p:sp>
      <p:sp>
        <p:nvSpPr>
          <p:cNvPr id="856" name="Shape 45"/>
          <p:cNvSpPr/>
          <p:nvPr/>
        </p:nvSpPr>
        <p:spPr>
          <a:xfrm>
            <a:off x="3566160" y="6126480"/>
            <a:ext cx="319320" cy="319320"/>
          </a:xfrm>
          <a:prstGeom prst="rect">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57" name="Text 46"/>
          <p:cNvSpPr/>
          <p:nvPr/>
        </p:nvSpPr>
        <p:spPr>
          <a:xfrm>
            <a:off x="3977640" y="612648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Near 0: little to no relationship</a:t>
            </a:r>
            <a:endParaRPr lang="en-US" sz="950" b="0" u="none" strike="noStrike">
              <a:solidFill>
                <a:srgbClr val="000000"/>
              </a:solidFill>
              <a:effectLst/>
              <a:uFillTx/>
              <a:latin typeface="Arial"/>
            </a:endParaRPr>
          </a:p>
        </p:txBody>
      </p:sp>
      <p:sp>
        <p:nvSpPr>
          <p:cNvPr id="858" name="Shape 47"/>
          <p:cNvSpPr/>
          <p:nvPr/>
        </p:nvSpPr>
        <p:spPr>
          <a:xfrm>
            <a:off x="6217920" y="6126480"/>
            <a:ext cx="319320" cy="319320"/>
          </a:xfrm>
          <a:prstGeom prst="rect">
            <a:avLst/>
          </a:prstGeom>
          <a:solidFill>
            <a:srgbClr val="8B7FE8"/>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9" name="Text 48"/>
          <p:cNvSpPr/>
          <p:nvPr/>
        </p:nvSpPr>
        <p:spPr>
          <a:xfrm>
            <a:off x="6629400" y="612648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Near +1: strong positive</a:t>
            </a:r>
            <a:endParaRPr lang="en-US" sz="950" b="0" u="none" strike="noStrike">
              <a:solidFill>
                <a:srgbClr val="000000"/>
              </a:solidFill>
              <a:effectLst/>
              <a:uFillTx/>
              <a:latin typeface="Arial"/>
            </a:endParaRPr>
          </a:p>
        </p:txBody>
      </p:sp>
      <p:sp>
        <p:nvSpPr>
          <p:cNvPr id="860" name="Shape 49"/>
          <p:cNvSpPr/>
          <p:nvPr/>
        </p:nvSpPr>
        <p:spPr>
          <a:xfrm>
            <a:off x="8869680" y="6126480"/>
            <a:ext cx="319320" cy="319320"/>
          </a:xfrm>
          <a:prstGeom prst="rect">
            <a:avLst/>
          </a:prstGeom>
          <a:solidFill>
            <a:srgbClr val="6B5FD1"/>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1" name="Text 50"/>
          <p:cNvSpPr/>
          <p:nvPr/>
        </p:nvSpPr>
        <p:spPr>
          <a:xfrm>
            <a:off x="9281160" y="6126480"/>
            <a:ext cx="214812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1.00: a variable with itself</a:t>
            </a:r>
            <a:endParaRPr lang="en-US" sz="950" b="0" u="none" strike="noStrike">
              <a:solidFill>
                <a:srgbClr val="000000"/>
              </a:solidFill>
              <a:effectLst/>
              <a:uFillTx/>
              <a:latin typeface="Arial"/>
            </a:endParaRPr>
          </a:p>
        </p:txBody>
      </p:sp>
      <p:sp>
        <p:nvSpPr>
          <p:cNvPr id="862" name="Text 51"/>
          <p:cNvSpPr/>
          <p:nvPr/>
        </p:nvSpPr>
        <p:spPr>
          <a:xfrm>
            <a:off x="731520" y="6629400"/>
            <a:ext cx="10725120" cy="45648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200" b="0" i="1" u="none" strike="noStrike">
                <a:solidFill>
                  <a:srgbClr val="685F8F"/>
                </a:solidFill>
                <a:effectLst/>
                <a:uFillTx/>
                <a:latin typeface="Calibri"/>
                <a:ea typeface="Calibri"/>
              </a:rPr>
              <a:t>The diagonal is always 1.00 — every variable correlates perfectly with itself. Everything else shows how strongly two variables move together.</a:t>
            </a:r>
            <a:endParaRPr lang="en-US" sz="1200" b="0" u="none" strike="noStrike">
              <a:solidFill>
                <a:srgbClr val="000000"/>
              </a:solidFill>
              <a:effectLst/>
              <a:uFillTx/>
              <a:latin typeface="Arial"/>
            </a:endParaRPr>
          </a:p>
        </p:txBody>
      </p:sp>
      <p:sp>
        <p:nvSpPr>
          <p:cNvPr id="863" name="Text 52"/>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864" name="Text 53"/>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865"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66" name="Image 0" descr="preencoded.png"/>
          <p:cNvPicPr/>
          <p:nvPr/>
        </p:nvPicPr>
        <p:blipFill>
          <a:blip r:embed="rId1"/>
          <a:stretch/>
        </p:blipFill>
        <p:spPr>
          <a:xfrm>
            <a:off x="548640" y="548640"/>
            <a:ext cx="447480" cy="447480"/>
          </a:xfrm>
          <a:prstGeom prst="rect">
            <a:avLst/>
          </a:prstGeom>
          <a:noFill/>
          <a:ln w="0">
            <a:noFill/>
          </a:ln>
        </p:spPr>
      </p:pic>
      <p:sp>
        <p:nvSpPr>
          <p:cNvPr id="867"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Regression Plot — A Scatter Plot Plus a Fitted Line</a:t>
            </a:r>
            <a:endParaRPr lang="en-US" sz="2400" b="0" u="none" strike="noStrike">
              <a:solidFill>
                <a:srgbClr val="000000"/>
              </a:solidFill>
              <a:effectLst/>
              <a:uFillTx/>
              <a:latin typeface="Arial"/>
            </a:endParaRPr>
          </a:p>
        </p:txBody>
      </p:sp>
      <p:sp>
        <p:nvSpPr>
          <p:cNvPr id="868"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69"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70"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71" name="Image 1" descr="preencoded.png"/>
          <p:cNvPicPr/>
          <p:nvPr/>
        </p:nvPicPr>
        <p:blipFill>
          <a:blip r:embed="rId2"/>
          <a:stretch/>
        </p:blipFill>
        <p:spPr>
          <a:xfrm>
            <a:off x="1746360" y="2423160"/>
            <a:ext cx="1087560" cy="1087560"/>
          </a:xfrm>
          <a:prstGeom prst="rect">
            <a:avLst/>
          </a:prstGeom>
          <a:noFill/>
          <a:ln w="0">
            <a:noFill/>
          </a:ln>
        </p:spPr>
      </p:pic>
      <p:sp>
        <p:nvSpPr>
          <p:cNvPr id="872"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The trend,</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drawn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through it</a:t>
            </a:r>
            <a:endParaRPr lang="en-US" sz="1600" b="0" u="none" strike="noStrike">
              <a:solidFill>
                <a:srgbClr val="000000"/>
              </a:solidFill>
              <a:effectLst/>
              <a:uFillTx/>
              <a:latin typeface="Arial"/>
            </a:endParaRPr>
          </a:p>
        </p:txBody>
      </p:sp>
      <p:sp>
        <p:nvSpPr>
          <p:cNvPr id="873"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 regression plot starts as an ordinary scatter plot, then adds a fitted line showing the overall trend running through the data</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That line lets you make an approximate prediction — "based on this trend, what value would we expect at this point?"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Use it once you’ve confirmed a relationship exists (often with a scatter plot or correlation first) and want to describe or predict it more precisely</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Avoid it when the relationship clearly isn’t a straight line — forcing a straight trend line through a curved relationship is actively misleading</a:t>
            </a:r>
            <a:endParaRPr lang="en-US" sz="1600" b="0" u="none" strike="noStrike">
              <a:solidFill>
                <a:srgbClr val="000000"/>
              </a:solidFill>
              <a:effectLst/>
              <a:uFillTx/>
              <a:latin typeface="Arial"/>
            </a:endParaRPr>
          </a:p>
        </p:txBody>
      </p:sp>
      <p:sp>
        <p:nvSpPr>
          <p:cNvPr id="874"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875"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876"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77" name="Image 0" descr="preencoded.png"/>
          <p:cNvPicPr/>
          <p:nvPr/>
        </p:nvPicPr>
        <p:blipFill>
          <a:blip r:embed="rId1"/>
          <a:stretch/>
        </p:blipFill>
        <p:spPr>
          <a:xfrm>
            <a:off x="548640" y="548640"/>
            <a:ext cx="447480" cy="447480"/>
          </a:xfrm>
          <a:prstGeom prst="rect">
            <a:avLst/>
          </a:prstGeom>
          <a:noFill/>
          <a:ln w="0">
            <a:noFill/>
          </a:ln>
        </p:spPr>
      </p:pic>
      <p:sp>
        <p:nvSpPr>
          <p:cNvPr id="878"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A Few More Specialized Charts</a:t>
            </a:r>
            <a:endParaRPr lang="en-US" sz="2400" b="0" u="none" strike="noStrike">
              <a:solidFill>
                <a:srgbClr val="000000"/>
              </a:solidFill>
              <a:effectLst/>
              <a:uFillTx/>
              <a:latin typeface="Arial"/>
            </a:endParaRPr>
          </a:p>
        </p:txBody>
      </p:sp>
      <p:sp>
        <p:nvSpPr>
          <p:cNvPr id="879"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80" name="Shape 3"/>
          <p:cNvSpPr/>
          <p:nvPr/>
        </p:nvSpPr>
        <p:spPr>
          <a:xfrm>
            <a:off x="457200" y="1508760"/>
            <a:ext cx="5526720" cy="4891320"/>
          </a:xfrm>
          <a:prstGeom prst="roundRect">
            <a:avLst>
              <a:gd name="adj" fmla="val 2991"/>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1" name="Shape 4"/>
          <p:cNvSpPr/>
          <p:nvPr/>
        </p:nvSpPr>
        <p:spPr>
          <a:xfrm>
            <a:off x="2946600" y="2094120"/>
            <a:ext cx="547920" cy="54792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82" name="Image 1" descr="preencoded.png"/>
          <p:cNvPicPr/>
          <p:nvPr/>
        </p:nvPicPr>
        <p:blipFill>
          <a:blip r:embed="rId2"/>
          <a:stretch/>
        </p:blipFill>
        <p:spPr>
          <a:xfrm>
            <a:off x="3029040" y="2176200"/>
            <a:ext cx="383400" cy="383400"/>
          </a:xfrm>
          <a:prstGeom prst="rect">
            <a:avLst/>
          </a:prstGeom>
          <a:noFill/>
          <a:ln w="0">
            <a:noFill/>
          </a:ln>
        </p:spPr>
      </p:pic>
      <p:sp>
        <p:nvSpPr>
          <p:cNvPr id="883" name="Text 5"/>
          <p:cNvSpPr/>
          <p:nvPr/>
        </p:nvSpPr>
        <p:spPr>
          <a:xfrm>
            <a:off x="548640" y="2715840"/>
            <a:ext cx="534384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Pair Plot</a:t>
            </a:r>
            <a:endParaRPr lang="en-US" sz="1300" b="0" u="none" strike="noStrike">
              <a:solidFill>
                <a:srgbClr val="000000"/>
              </a:solidFill>
              <a:effectLst/>
              <a:uFillTx/>
              <a:latin typeface="Arial"/>
            </a:endParaRPr>
          </a:p>
        </p:txBody>
      </p:sp>
      <p:sp>
        <p:nvSpPr>
          <p:cNvPr id="884" name="Text 6"/>
          <p:cNvSpPr/>
          <p:nvPr/>
        </p:nvSpPr>
        <p:spPr>
          <a:xfrm>
            <a:off x="603360" y="3099960"/>
            <a:ext cx="523440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A grid of scatter plots for every pair of numerical variables at once — a fast first look across an entire dataset</a:t>
            </a:r>
            <a:endParaRPr lang="en-US" sz="1100" b="0" u="none" strike="noStrike">
              <a:solidFill>
                <a:srgbClr val="000000"/>
              </a:solidFill>
              <a:effectLst/>
              <a:uFillTx/>
              <a:latin typeface="Arial"/>
            </a:endParaRPr>
          </a:p>
        </p:txBody>
      </p:sp>
      <p:sp>
        <p:nvSpPr>
          <p:cNvPr id="885" name="Shape 7"/>
          <p:cNvSpPr/>
          <p:nvPr/>
        </p:nvSpPr>
        <p:spPr>
          <a:xfrm>
            <a:off x="6204240" y="1508760"/>
            <a:ext cx="5526720" cy="4891320"/>
          </a:xfrm>
          <a:prstGeom prst="roundRect">
            <a:avLst>
              <a:gd name="adj" fmla="val 2991"/>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6" name="Shape 8"/>
          <p:cNvSpPr/>
          <p:nvPr/>
        </p:nvSpPr>
        <p:spPr>
          <a:xfrm>
            <a:off x="8693640" y="2094120"/>
            <a:ext cx="547920" cy="54792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87" name="Image 2" descr="preencoded.png"/>
          <p:cNvPicPr/>
          <p:nvPr/>
        </p:nvPicPr>
        <p:blipFill>
          <a:blip r:embed="rId3"/>
          <a:stretch/>
        </p:blipFill>
        <p:spPr>
          <a:xfrm>
            <a:off x="8776080" y="2176200"/>
            <a:ext cx="383400" cy="383400"/>
          </a:xfrm>
          <a:prstGeom prst="rect">
            <a:avLst/>
          </a:prstGeom>
          <a:noFill/>
          <a:ln w="0">
            <a:noFill/>
          </a:ln>
        </p:spPr>
      </p:pic>
      <p:sp>
        <p:nvSpPr>
          <p:cNvPr id="888" name="Text 9"/>
          <p:cNvSpPr/>
          <p:nvPr/>
        </p:nvSpPr>
        <p:spPr>
          <a:xfrm>
            <a:off x="6295680" y="2715840"/>
            <a:ext cx="5343840" cy="3650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300" b="1" u="none" strike="noStrike">
                <a:solidFill>
                  <a:srgbClr val="2D2A4A"/>
                </a:solidFill>
                <a:effectLst/>
                <a:uFillTx/>
                <a:latin typeface="Century Gothic"/>
                <a:ea typeface="Century Gothic"/>
              </a:rPr>
              <a:t>Area Chart</a:t>
            </a:r>
            <a:endParaRPr lang="en-US" sz="1300" b="0" u="none" strike="noStrike">
              <a:solidFill>
                <a:srgbClr val="000000"/>
              </a:solidFill>
              <a:effectLst/>
              <a:uFillTx/>
              <a:latin typeface="Arial"/>
            </a:endParaRPr>
          </a:p>
        </p:txBody>
      </p:sp>
      <p:sp>
        <p:nvSpPr>
          <p:cNvPr id="889" name="Text 10"/>
          <p:cNvSpPr/>
          <p:nvPr/>
        </p:nvSpPr>
        <p:spPr>
          <a:xfrm>
            <a:off x="6350400" y="3099960"/>
            <a:ext cx="5234400" cy="3153960"/>
          </a:xfrm>
          <a:prstGeom prst="rect">
            <a:avLst/>
          </a:prstGeom>
          <a:noFill/>
          <a:ln w="0">
            <a:noFill/>
          </a:ln>
        </p:spPr>
        <p:style>
          <a:lnRef idx="0"/>
          <a:fillRef idx="0"/>
          <a:effectRef idx="0"/>
          <a:fontRef idx="minor"/>
        </p:style>
        <p:txBody>
          <a:bodyPr lIns="0" tIns="0" rIns="0" bIns="0" anchor="t">
            <a:noAutofit/>
          </a:bodyPr>
          <a:p>
            <a:pPr algn="ctr" defTabSz="914400">
              <a:lnSpc>
                <a:spcPct val="115000"/>
              </a:lnSpc>
              <a:tabLst>
                <a:tab pos="0" algn="l"/>
              </a:tabLst>
            </a:pPr>
            <a:r>
              <a:rPr lang="en-US" sz="1100" b="0" u="none" strike="noStrike">
                <a:solidFill>
                  <a:srgbClr val="685F8F"/>
                </a:solidFill>
                <a:effectLst/>
                <a:uFillTx/>
                <a:latin typeface="Calibri"/>
                <a:ea typeface="Calibri"/>
              </a:rPr>
              <a:t>Like a line plot, with the area beneath it filled in — emphasizes cumulative volume alongside the trend</a:t>
            </a:r>
            <a:endParaRPr lang="en-US" sz="1100" b="0" u="none" strike="noStrike">
              <a:solidFill>
                <a:srgbClr val="000000"/>
              </a:solidFill>
              <a:effectLst/>
              <a:uFillTx/>
              <a:latin typeface="Arial"/>
            </a:endParaRPr>
          </a:p>
        </p:txBody>
      </p:sp>
      <p:sp>
        <p:nvSpPr>
          <p:cNvPr id="890"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891"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49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892"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93" name="Image 0" descr="preencoded.png"/>
          <p:cNvPicPr/>
          <p:nvPr/>
        </p:nvPicPr>
        <p:blipFill>
          <a:blip r:embed="rId1"/>
          <a:stretch/>
        </p:blipFill>
        <p:spPr>
          <a:xfrm>
            <a:off x="548640" y="548640"/>
            <a:ext cx="447480" cy="447480"/>
          </a:xfrm>
          <a:prstGeom prst="rect">
            <a:avLst/>
          </a:prstGeom>
          <a:noFill/>
          <a:ln w="0">
            <a:noFill/>
          </a:ln>
        </p:spPr>
      </p:pic>
      <p:sp>
        <p:nvSpPr>
          <p:cNvPr id="894"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Common Chart Mistakes to Avoid</a:t>
            </a:r>
            <a:endParaRPr lang="en-US" sz="2400" b="0" u="none" strike="noStrike">
              <a:solidFill>
                <a:srgbClr val="000000"/>
              </a:solidFill>
              <a:effectLst/>
              <a:uFillTx/>
              <a:latin typeface="Arial"/>
            </a:endParaRPr>
          </a:p>
        </p:txBody>
      </p:sp>
      <p:sp>
        <p:nvSpPr>
          <p:cNvPr id="895"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896"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7"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98" name="Image 1" descr="preencoded.png"/>
          <p:cNvPicPr/>
          <p:nvPr/>
        </p:nvPicPr>
        <p:blipFill>
          <a:blip r:embed="rId2"/>
          <a:stretch/>
        </p:blipFill>
        <p:spPr>
          <a:xfrm>
            <a:off x="804600" y="1938600"/>
            <a:ext cx="319320" cy="319320"/>
          </a:xfrm>
          <a:prstGeom prst="rect">
            <a:avLst/>
          </a:prstGeom>
          <a:noFill/>
          <a:ln w="0">
            <a:noFill/>
          </a:ln>
        </p:spPr>
      </p:pic>
      <p:sp>
        <p:nvSpPr>
          <p:cNvPr id="899"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Misleading by Design</a:t>
            </a:r>
            <a:endParaRPr lang="en-US" sz="1700" b="0" u="none" strike="noStrike">
              <a:solidFill>
                <a:srgbClr val="000000"/>
              </a:solidFill>
              <a:effectLst/>
              <a:uFillTx/>
              <a:latin typeface="Arial"/>
            </a:endParaRPr>
          </a:p>
        </p:txBody>
      </p:sp>
      <p:sp>
        <p:nvSpPr>
          <p:cNvPr id="900"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pie chart with 12+ tiny slices — nobody can compare them accurately</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bar chart whose y-axis doesn’t start at zero — exaggerates small differences dramatically</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3D chart adding visual flair but no real information — actively harder to read accurately</a:t>
            </a:r>
            <a:endParaRPr lang="en-US" sz="1350" b="0" u="none" strike="noStrike">
              <a:solidFill>
                <a:srgbClr val="000000"/>
              </a:solidFill>
              <a:effectLst/>
              <a:uFillTx/>
              <a:latin typeface="Arial"/>
            </a:endParaRPr>
          </a:p>
        </p:txBody>
      </p:sp>
      <p:sp>
        <p:nvSpPr>
          <p:cNvPr id="901"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02"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03" name="Image 2" descr="preencoded.png"/>
          <p:cNvPicPr/>
          <p:nvPr/>
        </p:nvPicPr>
        <p:blipFill>
          <a:blip r:embed="rId3"/>
          <a:stretch/>
        </p:blipFill>
        <p:spPr>
          <a:xfrm>
            <a:off x="6519600" y="1938600"/>
            <a:ext cx="319320" cy="319320"/>
          </a:xfrm>
          <a:prstGeom prst="rect">
            <a:avLst/>
          </a:prstGeom>
          <a:noFill/>
          <a:ln w="0">
            <a:noFill/>
          </a:ln>
        </p:spPr>
      </p:pic>
      <p:sp>
        <p:nvSpPr>
          <p:cNvPr id="904"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Wrong Chart for the Data</a:t>
            </a:r>
            <a:endParaRPr lang="en-US" sz="1700" b="0" u="none" strike="noStrike">
              <a:solidFill>
                <a:srgbClr val="000000"/>
              </a:solidFill>
              <a:effectLst/>
              <a:uFillTx/>
              <a:latin typeface="Arial"/>
            </a:endParaRPr>
          </a:p>
        </p:txBody>
      </p:sp>
      <p:sp>
        <p:nvSpPr>
          <p:cNvPr id="905"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line plot connecting unrelated categories — implies a trend that doesn’t exist</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A regression line forced through an obviously curved relationship</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Choosing a chart because it "looks impressive," rather than because it’s genuinely the clearest way to show this specific data</a:t>
            </a:r>
            <a:endParaRPr lang="en-US" sz="1350" b="0" u="none" strike="noStrike">
              <a:solidFill>
                <a:srgbClr val="000000"/>
              </a:solidFill>
              <a:effectLst/>
              <a:uFillTx/>
              <a:latin typeface="Arial"/>
            </a:endParaRPr>
          </a:p>
        </p:txBody>
      </p:sp>
      <p:sp>
        <p:nvSpPr>
          <p:cNvPr id="906"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07"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08"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09" name="Image 0" descr="preencoded.png"/>
          <p:cNvPicPr/>
          <p:nvPr/>
        </p:nvPicPr>
        <p:blipFill>
          <a:blip r:embed="rId1"/>
          <a:stretch/>
        </p:blipFill>
        <p:spPr>
          <a:xfrm>
            <a:off x="548640" y="548640"/>
            <a:ext cx="447480" cy="447480"/>
          </a:xfrm>
          <a:prstGeom prst="rect">
            <a:avLst/>
          </a:prstGeom>
          <a:noFill/>
          <a:ln w="0">
            <a:noFill/>
          </a:ln>
        </p:spPr>
      </p:pic>
      <p:sp>
        <p:nvSpPr>
          <p:cNvPr id="910"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Choosing the Right Chart</a:t>
            </a:r>
            <a:endParaRPr lang="en-US" sz="2400" b="0" u="none" strike="noStrike">
              <a:solidFill>
                <a:srgbClr val="000000"/>
              </a:solidFill>
              <a:effectLst/>
              <a:uFillTx/>
              <a:latin typeface="Arial"/>
            </a:endParaRPr>
          </a:p>
        </p:txBody>
      </p:sp>
      <p:sp>
        <p:nvSpPr>
          <p:cNvPr id="911"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12"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13"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914"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5"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916"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monthly sales over the last two years, name the best chart and explain why</a:t>
            </a:r>
            <a:endParaRPr lang="en-US" sz="1250" b="0" u="none" strike="noStrike">
              <a:solidFill>
                <a:srgbClr val="000000"/>
              </a:solidFill>
              <a:effectLst/>
              <a:uFillTx/>
              <a:latin typeface="Arial"/>
            </a:endParaRPr>
          </a:p>
        </p:txBody>
      </p:sp>
      <p:sp>
        <p:nvSpPr>
          <p:cNvPr id="917" name="Shape 8"/>
          <p:cNvSpPr/>
          <p:nvPr/>
        </p:nvSpPr>
        <p:spPr>
          <a:xfrm>
            <a:off x="822960" y="33008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8" name="Text 9"/>
          <p:cNvSpPr/>
          <p:nvPr/>
        </p:nvSpPr>
        <p:spPr>
          <a:xfrm>
            <a:off x="822960" y="33008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919" name="Text 10"/>
          <p:cNvSpPr/>
          <p:nvPr/>
        </p:nvSpPr>
        <p:spPr>
          <a:xfrm>
            <a:off x="1435680" y="33008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comparing the market share of 3 competing products, choose between a pie chart and a bar chart, and justify it</a:t>
            </a:r>
            <a:endParaRPr lang="en-US" sz="1250" b="0" u="none" strike="noStrike">
              <a:solidFill>
                <a:srgbClr val="000000"/>
              </a:solidFill>
              <a:effectLst/>
              <a:uFillTx/>
              <a:latin typeface="Arial"/>
            </a:endParaRPr>
          </a:p>
        </p:txBody>
      </p:sp>
      <p:sp>
        <p:nvSpPr>
          <p:cNvPr id="920" name="Shape 11"/>
          <p:cNvSpPr/>
          <p:nvPr/>
        </p:nvSpPr>
        <p:spPr>
          <a:xfrm>
            <a:off x="822960" y="41788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1" name="Text 12"/>
          <p:cNvSpPr/>
          <p:nvPr/>
        </p:nvSpPr>
        <p:spPr>
          <a:xfrm>
            <a:off x="822960" y="41788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922" name="Text 13"/>
          <p:cNvSpPr/>
          <p:nvPr/>
        </p:nvSpPr>
        <p:spPr>
          <a:xfrm>
            <a:off x="1435680" y="41788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checking whether study hours and exam scores are related, name the chart you’d reach for first</a:t>
            </a:r>
            <a:endParaRPr lang="en-US" sz="1250" b="0" u="none" strike="noStrike">
              <a:solidFill>
                <a:srgbClr val="000000"/>
              </a:solidFill>
              <a:effectLst/>
              <a:uFillTx/>
              <a:latin typeface="Arial"/>
            </a:endParaRPr>
          </a:p>
        </p:txBody>
      </p:sp>
      <p:sp>
        <p:nvSpPr>
          <p:cNvPr id="923" name="Shape 14"/>
          <p:cNvSpPr/>
          <p:nvPr/>
        </p:nvSpPr>
        <p:spPr>
          <a:xfrm>
            <a:off x="822960" y="50565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4" name="Text 15"/>
          <p:cNvSpPr/>
          <p:nvPr/>
        </p:nvSpPr>
        <p:spPr>
          <a:xfrm>
            <a:off x="822960" y="5056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925" name="Text 16"/>
          <p:cNvSpPr/>
          <p:nvPr/>
        </p:nvSpPr>
        <p:spPr>
          <a:xfrm>
            <a:off x="1435680" y="50565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what specifically is misleading about a bar chart whose y-axis starts at 80 instead of 0</a:t>
            </a:r>
            <a:endParaRPr lang="en-US" sz="1250" b="0" u="none" strike="noStrike">
              <a:solidFill>
                <a:srgbClr val="000000"/>
              </a:solidFill>
              <a:effectLst/>
              <a:uFillTx/>
              <a:latin typeface="Arial"/>
            </a:endParaRPr>
          </a:p>
        </p:txBody>
      </p:sp>
      <p:sp>
        <p:nvSpPr>
          <p:cNvPr id="926"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27"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28"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929"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930"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931"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932"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33"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34" name="Image 0" descr="preencoded.png"/>
          <p:cNvPicPr/>
          <p:nvPr/>
        </p:nvPicPr>
        <p:blipFill>
          <a:blip r:embed="rId1"/>
          <a:stretch/>
        </p:blipFill>
        <p:spPr>
          <a:xfrm>
            <a:off x="5870520" y="1348920"/>
            <a:ext cx="456480" cy="456480"/>
          </a:xfrm>
          <a:prstGeom prst="rect">
            <a:avLst/>
          </a:prstGeom>
          <a:noFill/>
          <a:ln w="0">
            <a:noFill/>
          </a:ln>
        </p:spPr>
      </p:pic>
      <p:sp>
        <p:nvSpPr>
          <p:cNvPr id="935"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PART 6</a:t>
            </a:r>
            <a:endParaRPr lang="en-US" sz="1200" b="0" u="none" strike="noStrike">
              <a:solidFill>
                <a:srgbClr val="000000"/>
              </a:solidFill>
              <a:effectLst/>
              <a:uFillTx/>
              <a:latin typeface="Arial"/>
            </a:endParaRPr>
          </a:p>
        </p:txBody>
      </p:sp>
      <p:sp>
        <p:nvSpPr>
          <p:cNvPr id="936"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Measures of Central Tendency</a:t>
            </a:r>
            <a:endParaRPr lang="en-US" sz="2900" b="0" u="none" strike="noStrike">
              <a:solidFill>
                <a:srgbClr val="000000"/>
              </a:solidFill>
              <a:effectLst/>
              <a:uFillTx/>
              <a:latin typeface="Arial"/>
            </a:endParaRPr>
          </a:p>
        </p:txBody>
      </p:sp>
      <p:sp>
        <p:nvSpPr>
          <p:cNvPr id="937"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The single number that tries to represent an entire dataset — and the three different ways to pick one</a:t>
            </a:r>
            <a:endParaRPr lang="en-US" sz="1500" b="0" u="none" strike="noStrike">
              <a:solidFill>
                <a:srgbClr val="000000"/>
              </a:solidFill>
              <a:effectLst/>
              <a:uFillTx/>
              <a:latin typeface="Arial"/>
            </a:endParaRPr>
          </a:p>
        </p:txBody>
      </p:sp>
      <p:sp>
        <p:nvSpPr>
          <p:cNvPr id="938"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3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40" name="Image 0" descr="preencoded.png"/>
          <p:cNvPicPr/>
          <p:nvPr/>
        </p:nvPicPr>
        <p:blipFill>
          <a:blip r:embed="rId1"/>
          <a:stretch/>
        </p:blipFill>
        <p:spPr>
          <a:xfrm>
            <a:off x="548640" y="548640"/>
            <a:ext cx="447480" cy="447480"/>
          </a:xfrm>
          <a:prstGeom prst="rect">
            <a:avLst/>
          </a:prstGeom>
          <a:noFill/>
          <a:ln w="0">
            <a:noFill/>
          </a:ln>
        </p:spPr>
      </p:pic>
      <p:sp>
        <p:nvSpPr>
          <p:cNvPr id="94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What Is Central Tendency?</a:t>
            </a:r>
            <a:endParaRPr lang="en-US" sz="2400" b="0" u="none" strike="noStrike">
              <a:solidFill>
                <a:srgbClr val="000000"/>
              </a:solidFill>
              <a:effectLst/>
              <a:uFillTx/>
              <a:latin typeface="Arial"/>
            </a:endParaRPr>
          </a:p>
        </p:txBody>
      </p:sp>
      <p:sp>
        <p:nvSpPr>
          <p:cNvPr id="94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43"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44"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45" name="Image 1" descr="preencoded.png"/>
          <p:cNvPicPr/>
          <p:nvPr/>
        </p:nvPicPr>
        <p:blipFill>
          <a:blip r:embed="rId2"/>
          <a:stretch/>
        </p:blipFill>
        <p:spPr>
          <a:xfrm>
            <a:off x="1746360" y="2423160"/>
            <a:ext cx="1087560" cy="1087560"/>
          </a:xfrm>
          <a:prstGeom prst="rect">
            <a:avLst/>
          </a:prstGeom>
          <a:noFill/>
          <a:ln w="0">
            <a:noFill/>
          </a:ln>
        </p:spPr>
      </p:pic>
      <p:sp>
        <p:nvSpPr>
          <p:cNvPr id="946"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One number,</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standing in</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for all</a:t>
            </a:r>
            <a:endParaRPr lang="en-US" sz="1600" b="0" u="none" strike="noStrike">
              <a:solidFill>
                <a:srgbClr val="000000"/>
              </a:solidFill>
              <a:effectLst/>
              <a:uFillTx/>
              <a:latin typeface="Arial"/>
            </a:endParaRPr>
          </a:p>
        </p:txBody>
      </p:sp>
      <p:sp>
        <p:nvSpPr>
          <p:cNvPr id="947"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Central tendency is the general idea of finding a single, typical value that represents an entire dataset</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There isn’t one universally "correct" way to do this — mean, median, and mode each answer a slightly different question</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Choosing the right one isn’t a technicality — the wrong choice can genuinely misrepresent what your data actually looks like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This choice depends directly on the measurement scale and shape of your data — exactly what the last two parts of this session set up</a:t>
            </a:r>
            <a:endParaRPr lang="en-US" sz="1600" b="0" u="none" strike="noStrike">
              <a:solidFill>
                <a:srgbClr val="000000"/>
              </a:solidFill>
              <a:effectLst/>
              <a:uFillTx/>
              <a:latin typeface="Arial"/>
            </a:endParaRPr>
          </a:p>
        </p:txBody>
      </p:sp>
      <p:sp>
        <p:nvSpPr>
          <p:cNvPr id="948"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49"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5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51" name="Image 0" descr="preencoded.png"/>
          <p:cNvPicPr/>
          <p:nvPr/>
        </p:nvPicPr>
        <p:blipFill>
          <a:blip r:embed="rId1"/>
          <a:stretch/>
        </p:blipFill>
        <p:spPr>
          <a:xfrm>
            <a:off x="548640" y="548640"/>
            <a:ext cx="447480" cy="447480"/>
          </a:xfrm>
          <a:prstGeom prst="rect">
            <a:avLst/>
          </a:prstGeom>
          <a:noFill/>
          <a:ln w="0">
            <a:noFill/>
          </a:ln>
        </p:spPr>
      </p:pic>
      <p:sp>
        <p:nvSpPr>
          <p:cNvPr id="95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The Mean — The Arithmetic Average</a:t>
            </a:r>
            <a:endParaRPr lang="en-US" sz="2400" b="0" u="none" strike="noStrike">
              <a:solidFill>
                <a:srgbClr val="000000"/>
              </a:solidFill>
              <a:effectLst/>
              <a:uFillTx/>
              <a:latin typeface="Arial"/>
            </a:endParaRPr>
          </a:p>
        </p:txBody>
      </p:sp>
      <p:sp>
        <p:nvSpPr>
          <p:cNvPr id="95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54" name="Text 3"/>
          <p:cNvSpPr/>
          <p:nvPr/>
        </p:nvSpPr>
        <p:spPr>
          <a:xfrm>
            <a:off x="548640" y="1828800"/>
            <a:ext cx="4754160" cy="40226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The mean adds up every value and divides by how many values there are — the formula from last session’s notation lesson, in action</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It uses every single value in the calculation, which makes it sensitive — one extreme value can shift it substantially</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Only meaningful on interval or ratio data — calculating a "mean" of nominal categories makes no sense at all</a:t>
            </a:r>
            <a:endParaRPr lang="en-US" sz="1350" b="0" u="none" strike="noStrike">
              <a:solidFill>
                <a:srgbClr val="000000"/>
              </a:solidFill>
              <a:effectLst/>
              <a:uFillTx/>
              <a:latin typeface="Arial"/>
            </a:endParaRPr>
          </a:p>
        </p:txBody>
      </p:sp>
      <p:sp>
        <p:nvSpPr>
          <p:cNvPr id="955" name="Shape 4"/>
          <p:cNvSpPr/>
          <p:nvPr/>
        </p:nvSpPr>
        <p:spPr>
          <a:xfrm>
            <a:off x="5486400" y="1691640"/>
            <a:ext cx="6217200" cy="4342680"/>
          </a:xfrm>
          <a:prstGeom prst="roundRect">
            <a:avLst>
              <a:gd name="adj" fmla="val 3368"/>
            </a:avLst>
          </a:prstGeom>
          <a:solidFill>
            <a:srgbClr val="E3FBF3"/>
          </a:solidFill>
          <a:ln w="19050">
            <a:solidFill>
              <a:srgbClr val="5FD6B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6" name="Text 5"/>
          <p:cNvSpPr/>
          <p:nvPr/>
        </p:nvSpPr>
        <p:spPr>
          <a:xfrm>
            <a:off x="5806440" y="1965960"/>
            <a:ext cx="5577120" cy="3794040"/>
          </a:xfrm>
          <a:prstGeom prst="rect">
            <a:avLst/>
          </a:prstGeom>
          <a:noFill/>
          <a:ln w="0">
            <a:noFill/>
          </a:ln>
        </p:spPr>
        <p:style>
          <a:lnRef idx="0"/>
          <a:fillRef idx="0"/>
          <a:effectRef idx="0"/>
          <a:fontRef idx="minor"/>
        </p:style>
        <p:txBody>
          <a:bodyPr lIns="0" tIns="0" rIns="0" bIns="0" anchor="t">
            <a:noAutofit/>
          </a:bodyPr>
          <a:p>
            <a:pPr defTabSz="914400">
              <a:lnSpc>
                <a:spcPct val="135000"/>
              </a:lnSpc>
              <a:tabLst>
                <a:tab pos="0" algn="l"/>
              </a:tabLst>
            </a:pPr>
            <a:r>
              <a:rPr lang="en-US" sz="1350" b="0" u="none" strike="noStrike">
                <a:solidFill>
                  <a:srgbClr val="6B5FD1"/>
                </a:solidFill>
                <a:effectLst/>
                <a:uFillTx/>
                <a:latin typeface="Consolas"/>
                <a:ea typeface="Consolas"/>
              </a:rPr>
              <a:t>          n</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x̄  =  1/n Σ  xᵢ</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i=1</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Example: [4, 8, 6, 10, 2]</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mean = (4 + 8 + 6 + 10 + 2) / 5</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 30 / 5</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 6</a:t>
            </a:r>
            <a:endParaRPr lang="en-US" sz="1350" b="0" u="none" strike="noStrike">
              <a:solidFill>
                <a:srgbClr val="000000"/>
              </a:solidFill>
              <a:effectLst/>
              <a:uFillTx/>
              <a:latin typeface="Arial"/>
            </a:endParaRPr>
          </a:p>
        </p:txBody>
      </p:sp>
      <p:sp>
        <p:nvSpPr>
          <p:cNvPr id="957" name="Text 6"/>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58" name="Text 7"/>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59"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60" name="Image 0" descr="preencoded.png"/>
          <p:cNvPicPr/>
          <p:nvPr/>
        </p:nvPicPr>
        <p:blipFill>
          <a:blip r:embed="rId1"/>
          <a:stretch/>
        </p:blipFill>
        <p:spPr>
          <a:xfrm>
            <a:off x="548640" y="548640"/>
            <a:ext cx="447480" cy="447480"/>
          </a:xfrm>
          <a:prstGeom prst="rect">
            <a:avLst/>
          </a:prstGeom>
          <a:noFill/>
          <a:ln w="0">
            <a:noFill/>
          </a:ln>
        </p:spPr>
      </p:pic>
      <p:sp>
        <p:nvSpPr>
          <p:cNvPr id="961"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The Median — The True Middle Value</a:t>
            </a:r>
            <a:endParaRPr lang="en-US" sz="2400" b="0" u="none" strike="noStrike">
              <a:solidFill>
                <a:srgbClr val="000000"/>
              </a:solidFill>
              <a:effectLst/>
              <a:uFillTx/>
              <a:latin typeface="Arial"/>
            </a:endParaRPr>
          </a:p>
        </p:txBody>
      </p:sp>
      <p:sp>
        <p:nvSpPr>
          <p:cNvPr id="962"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63" name="Text 3"/>
          <p:cNvSpPr/>
          <p:nvPr/>
        </p:nvSpPr>
        <p:spPr>
          <a:xfrm>
            <a:off x="548640" y="1828800"/>
            <a:ext cx="4754160" cy="40226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The median is the exact middle value once all your data is sorted — half the values fall below it, half above</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For an even number of values, it’s the average of the two middle numbers</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It ignores how extreme the highest and lowest values are — this is exactly why it resists outliers so much better than the mean</a:t>
            </a:r>
            <a:endParaRPr lang="en-US" sz="1350" b="0" u="none" strike="noStrike">
              <a:solidFill>
                <a:srgbClr val="000000"/>
              </a:solidFill>
              <a:effectLst/>
              <a:uFillTx/>
              <a:latin typeface="Arial"/>
            </a:endParaRPr>
          </a:p>
        </p:txBody>
      </p:sp>
      <p:sp>
        <p:nvSpPr>
          <p:cNvPr id="964" name="Shape 4"/>
          <p:cNvSpPr/>
          <p:nvPr/>
        </p:nvSpPr>
        <p:spPr>
          <a:xfrm>
            <a:off x="5486400" y="1691640"/>
            <a:ext cx="6217200" cy="4342680"/>
          </a:xfrm>
          <a:prstGeom prst="roundRect">
            <a:avLst>
              <a:gd name="adj" fmla="val 3368"/>
            </a:avLst>
          </a:prstGeom>
          <a:solidFill>
            <a:srgbClr val="E3FBF3"/>
          </a:solidFill>
          <a:ln w="19050">
            <a:solidFill>
              <a:srgbClr val="5FD6B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65" name="Text 5"/>
          <p:cNvSpPr/>
          <p:nvPr/>
        </p:nvSpPr>
        <p:spPr>
          <a:xfrm>
            <a:off x="5806440" y="1965960"/>
            <a:ext cx="5577120" cy="3794040"/>
          </a:xfrm>
          <a:prstGeom prst="rect">
            <a:avLst/>
          </a:prstGeom>
          <a:noFill/>
          <a:ln w="0">
            <a:noFill/>
          </a:ln>
        </p:spPr>
        <p:style>
          <a:lnRef idx="0"/>
          <a:fillRef idx="0"/>
          <a:effectRef idx="0"/>
          <a:fontRef idx="minor"/>
        </p:style>
        <p:txBody>
          <a:bodyPr lIns="0" tIns="0" rIns="0" bIns="0" anchor="t">
            <a:noAutofit/>
          </a:bodyPr>
          <a:p>
            <a:pPr defTabSz="914400">
              <a:lnSpc>
                <a:spcPct val="135000"/>
              </a:lnSpc>
              <a:tabLst>
                <a:tab pos="0" algn="l"/>
              </a:tabLst>
            </a:pPr>
            <a:r>
              <a:rPr lang="en-US" sz="1350" b="0" i="1" u="none" strike="noStrike">
                <a:solidFill>
                  <a:srgbClr val="685F8F"/>
                </a:solidFill>
                <a:effectLst/>
                <a:uFillTx/>
                <a:latin typeface="Consolas"/>
                <a:ea typeface="Consolas"/>
              </a:rPr>
              <a:t># Odd count: sort, take the exact middle</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[2, 4, 6, 8, 10]  →  median = 6</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Even count: average the two middle values</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[2, 4, 6, 8]      →  median = (4 + 6) / 2 = 5</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Works even on ordinal data (e.g. star ratings)</a:t>
            </a:r>
            <a:endParaRPr lang="en-US" sz="1350" b="0" u="none" strike="noStrike">
              <a:solidFill>
                <a:srgbClr val="000000"/>
              </a:solidFill>
              <a:effectLst/>
              <a:uFillTx/>
              <a:latin typeface="Arial"/>
            </a:endParaRPr>
          </a:p>
        </p:txBody>
      </p:sp>
      <p:sp>
        <p:nvSpPr>
          <p:cNvPr id="966" name="Text 6"/>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67" name="Text 7"/>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68"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69" name="Image 0" descr="preencoded.png"/>
          <p:cNvPicPr/>
          <p:nvPr/>
        </p:nvPicPr>
        <p:blipFill>
          <a:blip r:embed="rId1"/>
          <a:stretch/>
        </p:blipFill>
        <p:spPr>
          <a:xfrm>
            <a:off x="548640" y="548640"/>
            <a:ext cx="447480" cy="447480"/>
          </a:xfrm>
          <a:prstGeom prst="rect">
            <a:avLst/>
          </a:prstGeom>
          <a:noFill/>
          <a:ln w="0">
            <a:noFill/>
          </a:ln>
        </p:spPr>
      </p:pic>
      <p:sp>
        <p:nvSpPr>
          <p:cNvPr id="970"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The Mode — The Most Frequent Value</a:t>
            </a:r>
            <a:endParaRPr lang="en-US" sz="2400" b="0" u="none" strike="noStrike">
              <a:solidFill>
                <a:srgbClr val="000000"/>
              </a:solidFill>
              <a:effectLst/>
              <a:uFillTx/>
              <a:latin typeface="Arial"/>
            </a:endParaRPr>
          </a:p>
        </p:txBody>
      </p:sp>
      <p:sp>
        <p:nvSpPr>
          <p:cNvPr id="971"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72" name="Text 3"/>
          <p:cNvSpPr/>
          <p:nvPr/>
        </p:nvSpPr>
        <p:spPr>
          <a:xfrm>
            <a:off x="548640" y="1828800"/>
            <a:ext cx="4754160" cy="402264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The mode is simply whichever value appears most often in the dataset</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It’s the only measure of central tendency that works on nominal (category) data — mean and median don’t apply there at all</a:t>
            </a:r>
            <a:endParaRPr lang="en-US" sz="1350" b="0" u="none" strike="noStrike">
              <a:solidFill>
                <a:srgbClr val="000000"/>
              </a:solidFill>
              <a:effectLst/>
              <a:uFillTx/>
              <a:latin typeface="Arial"/>
            </a:endParaRPr>
          </a:p>
          <a:p>
            <a:pPr marL="203040" indent="-203040" defTabSz="914400">
              <a:lnSpc>
                <a:spcPct val="120000"/>
              </a:lnSpc>
              <a:spcAft>
                <a:spcPts val="1199"/>
              </a:spcAft>
              <a:buClr>
                <a:srgbClr val="2D2A4A"/>
              </a:buClr>
              <a:buFont typeface="Symbol" charset="2"/>
              <a:buChar char=""/>
            </a:pPr>
            <a:r>
              <a:rPr lang="en-US" sz="1350" b="0" u="none" strike="noStrike">
                <a:solidFill>
                  <a:srgbClr val="2D2A4A"/>
                </a:solidFill>
                <a:effectLst/>
                <a:uFillTx/>
                <a:latin typeface="Calibri"/>
                <a:ea typeface="Calibri"/>
              </a:rPr>
              <a:t>A dataset can have one mode, several (multimodal), or none at all if every value appears equally often</a:t>
            </a:r>
            <a:endParaRPr lang="en-US" sz="1350" b="0" u="none" strike="noStrike">
              <a:solidFill>
                <a:srgbClr val="000000"/>
              </a:solidFill>
              <a:effectLst/>
              <a:uFillTx/>
              <a:latin typeface="Arial"/>
            </a:endParaRPr>
          </a:p>
        </p:txBody>
      </p:sp>
      <p:sp>
        <p:nvSpPr>
          <p:cNvPr id="973" name="Shape 4"/>
          <p:cNvSpPr/>
          <p:nvPr/>
        </p:nvSpPr>
        <p:spPr>
          <a:xfrm>
            <a:off x="5486400" y="1691640"/>
            <a:ext cx="6217200" cy="4342680"/>
          </a:xfrm>
          <a:prstGeom prst="roundRect">
            <a:avLst>
              <a:gd name="adj" fmla="val 3368"/>
            </a:avLst>
          </a:prstGeom>
          <a:solidFill>
            <a:srgbClr val="E3FBF3"/>
          </a:solidFill>
          <a:ln w="19050">
            <a:solidFill>
              <a:srgbClr val="5FD6B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74" name="Text 5"/>
          <p:cNvSpPr/>
          <p:nvPr/>
        </p:nvSpPr>
        <p:spPr>
          <a:xfrm>
            <a:off x="5806440" y="1965960"/>
            <a:ext cx="5577120" cy="3794040"/>
          </a:xfrm>
          <a:prstGeom prst="rect">
            <a:avLst/>
          </a:prstGeom>
          <a:noFill/>
          <a:ln w="0">
            <a:noFill/>
          </a:ln>
        </p:spPr>
        <p:style>
          <a:lnRef idx="0"/>
          <a:fillRef idx="0"/>
          <a:effectRef idx="0"/>
          <a:fontRef idx="minor"/>
        </p:style>
        <p:txBody>
          <a:bodyPr lIns="0" tIns="0" rIns="0" bIns="0" anchor="t">
            <a:noAutofit/>
          </a:bodyPr>
          <a:p>
            <a:pPr defTabSz="914400">
              <a:lnSpc>
                <a:spcPct val="135000"/>
              </a:lnSpc>
              <a:tabLst>
                <a:tab pos="0" algn="l"/>
              </a:tabLst>
            </a:pPr>
            <a:r>
              <a:rPr lang="en-US" sz="1350" b="0" i="1" u="none" strike="noStrike">
                <a:solidFill>
                  <a:srgbClr val="685F8F"/>
                </a:solidFill>
                <a:effectLst/>
                <a:uFillTx/>
                <a:latin typeface="Consolas"/>
                <a:ea typeface="Consolas"/>
              </a:rPr>
              <a:t># [2, 4, 4, 6, 8]  →  mode = 4  (appears twice)</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['red', 'blue', 'red', 'green', 'red']</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  mode = 'red'</a:t>
            </a:r>
            <a:endParaRPr lang="en-US" sz="1350" b="0" u="none" strike="noStrike">
              <a:solidFill>
                <a:srgbClr val="000000"/>
              </a:solidFill>
              <a:effectLst/>
              <a:uFillTx/>
              <a:latin typeface="Arial"/>
            </a:endParaRPr>
          </a:p>
          <a:p>
            <a:pPr defTabSz="914400">
              <a:lnSpc>
                <a:spcPct val="135000"/>
              </a:lnSpc>
              <a:tabLst>
                <a:tab pos="0" algn="l"/>
              </a:tabLst>
            </a:pPr>
            <a:r>
              <a:rPr lang="en-US" sz="1350" b="0" u="none" strike="noStrike">
                <a:solidFill>
                  <a:srgbClr val="6B5FD1"/>
                </a:solidFill>
                <a:effectLst/>
                <a:uFillTx/>
                <a:latin typeface="Consolas"/>
                <a:ea typeface="Consolas"/>
              </a:rPr>
              <a:t> </a:t>
            </a:r>
            <a:endParaRPr lang="en-US" sz="1350" b="0" u="none" strike="noStrike">
              <a:solidFill>
                <a:srgbClr val="000000"/>
              </a:solidFill>
              <a:effectLst/>
              <a:uFillTx/>
              <a:latin typeface="Arial"/>
            </a:endParaRPr>
          </a:p>
          <a:p>
            <a:pPr defTabSz="914400">
              <a:lnSpc>
                <a:spcPct val="135000"/>
              </a:lnSpc>
              <a:tabLst>
                <a:tab pos="0" algn="l"/>
              </a:tabLst>
            </a:pPr>
            <a:r>
              <a:rPr lang="en-US" sz="1350" b="0" i="1" u="none" strike="noStrike">
                <a:solidFill>
                  <a:srgbClr val="685F8F"/>
                </a:solidFill>
                <a:effectLst/>
                <a:uFillTx/>
                <a:latin typeface="Consolas"/>
                <a:ea typeface="Consolas"/>
              </a:rPr>
              <a:t># [1, 2, 3, 4]  →  no mode — every value appears once</a:t>
            </a:r>
            <a:endParaRPr lang="en-US" sz="1350" b="0" u="none" strike="noStrike">
              <a:solidFill>
                <a:srgbClr val="000000"/>
              </a:solidFill>
              <a:effectLst/>
              <a:uFillTx/>
              <a:latin typeface="Arial"/>
            </a:endParaRPr>
          </a:p>
        </p:txBody>
      </p:sp>
      <p:sp>
        <p:nvSpPr>
          <p:cNvPr id="975" name="Text 6"/>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76" name="Text 7"/>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77"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78" name="Image 0" descr="preencoded.png"/>
          <p:cNvPicPr/>
          <p:nvPr/>
        </p:nvPicPr>
        <p:blipFill>
          <a:blip r:embed="rId1"/>
          <a:stretch/>
        </p:blipFill>
        <p:spPr>
          <a:xfrm>
            <a:off x="548640" y="548640"/>
            <a:ext cx="447480" cy="447480"/>
          </a:xfrm>
          <a:prstGeom prst="rect">
            <a:avLst/>
          </a:prstGeom>
          <a:noFill/>
          <a:ln w="0">
            <a:noFill/>
          </a:ln>
        </p:spPr>
      </p:pic>
      <p:sp>
        <p:nvSpPr>
          <p:cNvPr id="979"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When the Mean Lies to You</a:t>
            </a:r>
            <a:endParaRPr lang="en-US" sz="2400" b="0" u="none" strike="noStrike">
              <a:solidFill>
                <a:srgbClr val="000000"/>
              </a:solidFill>
              <a:effectLst/>
              <a:uFillTx/>
              <a:latin typeface="Arial"/>
            </a:endParaRPr>
          </a:p>
        </p:txBody>
      </p:sp>
      <p:sp>
        <p:nvSpPr>
          <p:cNvPr id="980"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81" name="Shape 3"/>
          <p:cNvSpPr/>
          <p:nvPr/>
        </p:nvSpPr>
        <p:spPr>
          <a:xfrm>
            <a:off x="457200" y="1645920"/>
            <a:ext cx="5348520" cy="4479840"/>
          </a:xfrm>
          <a:prstGeom prst="roundRect">
            <a:avLst>
              <a:gd name="adj" fmla="val 3265"/>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2" name="Shape 4"/>
          <p:cNvSpPr/>
          <p:nvPr/>
        </p:nvSpPr>
        <p:spPr>
          <a:xfrm>
            <a:off x="731520" y="1874520"/>
            <a:ext cx="456480" cy="45648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83" name="Image 1" descr="preencoded.png"/>
          <p:cNvPicPr/>
          <p:nvPr/>
        </p:nvPicPr>
        <p:blipFill>
          <a:blip r:embed="rId2"/>
          <a:stretch/>
        </p:blipFill>
        <p:spPr>
          <a:xfrm>
            <a:off x="804600" y="1938600"/>
            <a:ext cx="319320" cy="319320"/>
          </a:xfrm>
          <a:prstGeom prst="rect">
            <a:avLst/>
          </a:prstGeom>
          <a:noFill/>
          <a:ln w="0">
            <a:noFill/>
          </a:ln>
        </p:spPr>
      </p:pic>
      <p:sp>
        <p:nvSpPr>
          <p:cNvPr id="984" name="Text 5"/>
          <p:cNvSpPr/>
          <p:nvPr/>
        </p:nvSpPr>
        <p:spPr>
          <a:xfrm>
            <a:off x="1325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The Classic Example</a:t>
            </a:r>
            <a:endParaRPr lang="en-US" sz="1700" b="0" u="none" strike="noStrike">
              <a:solidFill>
                <a:srgbClr val="000000"/>
              </a:solidFill>
              <a:effectLst/>
              <a:uFillTx/>
              <a:latin typeface="Arial"/>
            </a:endParaRPr>
          </a:p>
        </p:txBody>
      </p:sp>
      <p:sp>
        <p:nvSpPr>
          <p:cNvPr id="985" name="Text 6"/>
          <p:cNvSpPr/>
          <p:nvPr/>
        </p:nvSpPr>
        <p:spPr>
          <a:xfrm>
            <a:off x="731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Salaries at a small company: $40k, $42k, $45k, $48k, $500k (the owner)</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Mean = $135k — technically correct, but describes almost NOBODY’S actual salary</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Median = $45k — this is what a "typical" employee genuinely earns</a:t>
            </a:r>
            <a:endParaRPr lang="en-US" sz="1350" b="0" u="none" strike="noStrike">
              <a:solidFill>
                <a:srgbClr val="000000"/>
              </a:solidFill>
              <a:effectLst/>
              <a:uFillTx/>
              <a:latin typeface="Arial"/>
            </a:endParaRPr>
          </a:p>
        </p:txBody>
      </p:sp>
      <p:sp>
        <p:nvSpPr>
          <p:cNvPr id="986" name="Shape 7"/>
          <p:cNvSpPr/>
          <p:nvPr/>
        </p:nvSpPr>
        <p:spPr>
          <a:xfrm>
            <a:off x="6172200" y="1645920"/>
            <a:ext cx="5348520" cy="4479840"/>
          </a:xfrm>
          <a:prstGeom prst="roundRect">
            <a:avLst>
              <a:gd name="adj" fmla="val 3265"/>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7" name="Shape 8"/>
          <p:cNvSpPr/>
          <p:nvPr/>
        </p:nvSpPr>
        <p:spPr>
          <a:xfrm>
            <a:off x="6446520" y="1874520"/>
            <a:ext cx="456480" cy="456480"/>
          </a:xfrm>
          <a:prstGeom prst="ellipse">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988" name="Image 2" descr="preencoded.png"/>
          <p:cNvPicPr/>
          <p:nvPr/>
        </p:nvPicPr>
        <p:blipFill>
          <a:blip r:embed="rId3"/>
          <a:stretch/>
        </p:blipFill>
        <p:spPr>
          <a:xfrm>
            <a:off x="6519600" y="1938600"/>
            <a:ext cx="319320" cy="319320"/>
          </a:xfrm>
          <a:prstGeom prst="rect">
            <a:avLst/>
          </a:prstGeom>
          <a:noFill/>
          <a:ln w="0">
            <a:noFill/>
          </a:ln>
        </p:spPr>
      </p:pic>
      <p:sp>
        <p:nvSpPr>
          <p:cNvPr id="989" name="Text 9"/>
          <p:cNvSpPr/>
          <p:nvPr/>
        </p:nvSpPr>
        <p:spPr>
          <a:xfrm>
            <a:off x="7040880" y="1874520"/>
            <a:ext cx="43426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2D2A4A"/>
                </a:solidFill>
                <a:effectLst/>
                <a:uFillTx/>
                <a:latin typeface="Century Gothic"/>
                <a:ea typeface="Century Gothic"/>
              </a:rPr>
              <a:t>The Rule of Thumb</a:t>
            </a:r>
            <a:endParaRPr lang="en-US" sz="1700" b="0" u="none" strike="noStrike">
              <a:solidFill>
                <a:srgbClr val="000000"/>
              </a:solidFill>
              <a:effectLst/>
              <a:uFillTx/>
              <a:latin typeface="Arial"/>
            </a:endParaRPr>
          </a:p>
        </p:txBody>
      </p:sp>
      <p:sp>
        <p:nvSpPr>
          <p:cNvPr id="990" name="Text 10"/>
          <p:cNvSpPr/>
          <p:nvPr/>
        </p:nvSpPr>
        <p:spPr>
          <a:xfrm>
            <a:off x="6446520" y="2514600"/>
            <a:ext cx="4799880" cy="3382560"/>
          </a:xfrm>
          <a:prstGeom prst="rect">
            <a:avLst/>
          </a:prstGeom>
          <a:noFill/>
          <a:ln w="0">
            <a:noFill/>
          </a:ln>
        </p:spPr>
        <p:style>
          <a:lnRef idx="0"/>
          <a:fillRef idx="0"/>
          <a:effectRef idx="0"/>
          <a:fontRef idx="minor"/>
        </p:style>
        <p:txBody>
          <a:bodyPr lIns="0" tIns="0" rIns="0" bIns="0" anchor="t">
            <a:noAutofit/>
          </a:bodyPr>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When data is skewed or has extreme outliers, prefer the median</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When data is roughly symmetric with no extreme values, the mean is fine, and uses more information</a:t>
            </a:r>
            <a:endParaRPr lang="en-US" sz="1350" b="0" u="none" strike="noStrike">
              <a:solidFill>
                <a:srgbClr val="000000"/>
              </a:solidFill>
              <a:effectLst/>
              <a:uFillTx/>
              <a:latin typeface="Arial"/>
            </a:endParaRPr>
          </a:p>
          <a:p>
            <a:pPr marL="203040" indent="-203040" defTabSz="914400">
              <a:lnSpc>
                <a:spcPct val="115000"/>
              </a:lnSpc>
              <a:spcAft>
                <a:spcPts val="1001"/>
              </a:spcAft>
              <a:buClr>
                <a:srgbClr val="2D2A4A"/>
              </a:buClr>
              <a:buFont typeface="Symbol" charset="2"/>
              <a:buChar char=""/>
            </a:pPr>
            <a:r>
              <a:rPr lang="en-US" sz="1350" b="0" u="none" strike="noStrike">
                <a:solidFill>
                  <a:srgbClr val="2D2A4A"/>
                </a:solidFill>
                <a:effectLst/>
                <a:uFillTx/>
                <a:latin typeface="Calibri"/>
                <a:ea typeface="Calibri"/>
              </a:rPr>
              <a:t>This is exactly why income, house prices, and similar data are almost always reported as medians in the news</a:t>
            </a:r>
            <a:endParaRPr lang="en-US" sz="1350" b="0" u="none" strike="noStrike">
              <a:solidFill>
                <a:srgbClr val="000000"/>
              </a:solidFill>
              <a:effectLst/>
              <a:uFillTx/>
              <a:latin typeface="Arial"/>
            </a:endParaRPr>
          </a:p>
        </p:txBody>
      </p:sp>
      <p:sp>
        <p:nvSpPr>
          <p:cNvPr id="991" name="Text 11"/>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992" name="Text 12"/>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99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94" name="Image 0" descr="preencoded.png"/>
          <p:cNvPicPr/>
          <p:nvPr/>
        </p:nvPicPr>
        <p:blipFill>
          <a:blip r:embed="rId1"/>
          <a:stretch/>
        </p:blipFill>
        <p:spPr>
          <a:xfrm>
            <a:off x="548640" y="548640"/>
            <a:ext cx="447480" cy="447480"/>
          </a:xfrm>
          <a:prstGeom prst="rect">
            <a:avLst/>
          </a:prstGeom>
          <a:noFill/>
          <a:ln w="0">
            <a:noFill/>
          </a:ln>
        </p:spPr>
      </p:pic>
      <p:sp>
        <p:nvSpPr>
          <p:cNvPr id="99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Practice Set — Central Tendency</a:t>
            </a:r>
            <a:endParaRPr lang="en-US" sz="2400" b="0" u="none" strike="noStrike">
              <a:solidFill>
                <a:srgbClr val="000000"/>
              </a:solidFill>
              <a:effectLst/>
              <a:uFillTx/>
              <a:latin typeface="Arial"/>
            </a:endParaRPr>
          </a:p>
        </p:txBody>
      </p:sp>
      <p:sp>
        <p:nvSpPr>
          <p:cNvPr id="99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997" name="Shape 3"/>
          <p:cNvSpPr/>
          <p:nvPr/>
        </p:nvSpPr>
        <p:spPr>
          <a:xfrm>
            <a:off x="457200" y="1600200"/>
            <a:ext cx="11273760" cy="4479840"/>
          </a:xfrm>
          <a:prstGeom prst="roundRect">
            <a:avLst>
              <a:gd name="adj" fmla="val 3673"/>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98"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D2A4A"/>
                </a:solidFill>
                <a:effectLst/>
                <a:uFillTx/>
                <a:latin typeface="Century Gothic"/>
                <a:ea typeface="Century Gothic"/>
              </a:rPr>
              <a:t>Try these yourself first — that's the point</a:t>
            </a:r>
            <a:endParaRPr lang="en-US" sz="1500" b="0" u="none" strike="noStrike">
              <a:solidFill>
                <a:srgbClr val="000000"/>
              </a:solidFill>
              <a:effectLst/>
              <a:uFillTx/>
              <a:latin typeface="Arial"/>
            </a:endParaRPr>
          </a:p>
        </p:txBody>
      </p:sp>
      <p:sp>
        <p:nvSpPr>
          <p:cNvPr id="999" name="Shape 5"/>
          <p:cNvSpPr/>
          <p:nvPr/>
        </p:nvSpPr>
        <p:spPr>
          <a:xfrm>
            <a:off x="822960" y="24231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0" name="Text 6"/>
          <p:cNvSpPr/>
          <p:nvPr/>
        </p:nvSpPr>
        <p:spPr>
          <a:xfrm>
            <a:off x="822960" y="24231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en-US" sz="1300" b="0" u="none" strike="noStrike">
              <a:solidFill>
                <a:srgbClr val="000000"/>
              </a:solidFill>
              <a:effectLst/>
              <a:uFillTx/>
              <a:latin typeface="Arial"/>
            </a:endParaRPr>
          </a:p>
        </p:txBody>
      </p:sp>
      <p:sp>
        <p:nvSpPr>
          <p:cNvPr id="1001" name="Text 7"/>
          <p:cNvSpPr/>
          <p:nvPr/>
        </p:nvSpPr>
        <p:spPr>
          <a:xfrm>
            <a:off x="1435680" y="24231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Calculate the mean, median, and mode of [5, 7, 7, 9, 100] by hand</a:t>
            </a:r>
            <a:endParaRPr lang="en-US" sz="1250" b="0" u="none" strike="noStrike">
              <a:solidFill>
                <a:srgbClr val="000000"/>
              </a:solidFill>
              <a:effectLst/>
              <a:uFillTx/>
              <a:latin typeface="Arial"/>
            </a:endParaRPr>
          </a:p>
        </p:txBody>
      </p:sp>
      <p:sp>
        <p:nvSpPr>
          <p:cNvPr id="1002" name="Shape 8"/>
          <p:cNvSpPr/>
          <p:nvPr/>
        </p:nvSpPr>
        <p:spPr>
          <a:xfrm>
            <a:off x="822960" y="330084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3" name="Text 9"/>
          <p:cNvSpPr/>
          <p:nvPr/>
        </p:nvSpPr>
        <p:spPr>
          <a:xfrm>
            <a:off x="822960" y="330084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en-US" sz="1300" b="0" u="none" strike="noStrike">
              <a:solidFill>
                <a:srgbClr val="000000"/>
              </a:solidFill>
              <a:effectLst/>
              <a:uFillTx/>
              <a:latin typeface="Arial"/>
            </a:endParaRPr>
          </a:p>
        </p:txBody>
      </p:sp>
      <p:sp>
        <p:nvSpPr>
          <p:cNvPr id="1004" name="Text 10"/>
          <p:cNvSpPr/>
          <p:nvPr/>
        </p:nvSpPr>
        <p:spPr>
          <a:xfrm>
            <a:off x="1435680" y="330084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Explain which measure best represents that dataset’s "typical" value, and why</a:t>
            </a:r>
            <a:endParaRPr lang="en-US" sz="1250" b="0" u="none" strike="noStrike">
              <a:solidFill>
                <a:srgbClr val="000000"/>
              </a:solidFill>
              <a:effectLst/>
              <a:uFillTx/>
              <a:latin typeface="Arial"/>
            </a:endParaRPr>
          </a:p>
        </p:txBody>
      </p:sp>
      <p:sp>
        <p:nvSpPr>
          <p:cNvPr id="1005" name="Shape 11"/>
          <p:cNvSpPr/>
          <p:nvPr/>
        </p:nvSpPr>
        <p:spPr>
          <a:xfrm>
            <a:off x="822960" y="417888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6" name="Text 12"/>
          <p:cNvSpPr/>
          <p:nvPr/>
        </p:nvSpPr>
        <p:spPr>
          <a:xfrm>
            <a:off x="822960" y="417888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en-US" sz="1300" b="0" u="none" strike="noStrike">
              <a:solidFill>
                <a:srgbClr val="000000"/>
              </a:solidFill>
              <a:effectLst/>
              <a:uFillTx/>
              <a:latin typeface="Arial"/>
            </a:endParaRPr>
          </a:p>
        </p:txBody>
      </p:sp>
      <p:sp>
        <p:nvSpPr>
          <p:cNvPr id="1007" name="Text 13"/>
          <p:cNvSpPr/>
          <p:nvPr/>
        </p:nvSpPr>
        <p:spPr>
          <a:xfrm>
            <a:off x="1435680" y="417888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For a dataset of shoe sizes sold in a store, explain which measure of central tendency is most useful for restocking decisions</a:t>
            </a:r>
            <a:endParaRPr lang="en-US" sz="1250" b="0" u="none" strike="noStrike">
              <a:solidFill>
                <a:srgbClr val="000000"/>
              </a:solidFill>
              <a:effectLst/>
              <a:uFillTx/>
              <a:latin typeface="Arial"/>
            </a:endParaRPr>
          </a:p>
        </p:txBody>
      </p:sp>
      <p:sp>
        <p:nvSpPr>
          <p:cNvPr id="1008" name="Shape 14"/>
          <p:cNvSpPr/>
          <p:nvPr/>
        </p:nvSpPr>
        <p:spPr>
          <a:xfrm>
            <a:off x="822960" y="5056560"/>
            <a:ext cx="383400" cy="38340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9" name="Text 15"/>
          <p:cNvSpPr/>
          <p:nvPr/>
        </p:nvSpPr>
        <p:spPr>
          <a:xfrm>
            <a:off x="822960" y="5056560"/>
            <a:ext cx="383400" cy="383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en-US" sz="1300" b="0" u="none" strike="noStrike">
              <a:solidFill>
                <a:srgbClr val="000000"/>
              </a:solidFill>
              <a:effectLst/>
              <a:uFillTx/>
              <a:latin typeface="Arial"/>
            </a:endParaRPr>
          </a:p>
        </p:txBody>
      </p:sp>
      <p:sp>
        <p:nvSpPr>
          <p:cNvPr id="1010" name="Text 16"/>
          <p:cNvSpPr/>
          <p:nvPr/>
        </p:nvSpPr>
        <p:spPr>
          <a:xfrm>
            <a:off x="1435680" y="5056560"/>
            <a:ext cx="9582120" cy="383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2D2A4A"/>
                </a:solidFill>
                <a:effectLst/>
                <a:uFillTx/>
                <a:latin typeface="Calibri"/>
                <a:ea typeface="Calibri"/>
              </a:rPr>
              <a:t>Find one real, published statistic that uses the median instead of the mean, and explain why that was likely the right choice</a:t>
            </a:r>
            <a:endParaRPr lang="en-US" sz="1250" b="0" u="none" strike="noStrike">
              <a:solidFill>
                <a:srgbClr val="000000"/>
              </a:solidFill>
              <a:effectLst/>
              <a:uFillTx/>
              <a:latin typeface="Arial"/>
            </a:endParaRPr>
          </a:p>
        </p:txBody>
      </p:sp>
      <p:sp>
        <p:nvSpPr>
          <p:cNvPr id="1011"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012"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58</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13"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1014"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1015"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1016"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1017"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18"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19" name="Image 0" descr="preencoded.png"/>
          <p:cNvPicPr/>
          <p:nvPr/>
        </p:nvPicPr>
        <p:blipFill>
          <a:blip r:embed="rId1"/>
          <a:stretch/>
        </p:blipFill>
        <p:spPr>
          <a:xfrm>
            <a:off x="5870520" y="1348920"/>
            <a:ext cx="456480" cy="456480"/>
          </a:xfrm>
          <a:prstGeom prst="rect">
            <a:avLst/>
          </a:prstGeom>
          <a:noFill/>
          <a:ln w="0">
            <a:noFill/>
          </a:ln>
        </p:spPr>
      </p:pic>
      <p:sp>
        <p:nvSpPr>
          <p:cNvPr id="1020"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INDUSTRY-STYLE TASKS</a:t>
            </a:r>
            <a:endParaRPr lang="en-US" sz="1200" b="0" u="none" strike="noStrike">
              <a:solidFill>
                <a:srgbClr val="000000"/>
              </a:solidFill>
              <a:effectLst/>
              <a:uFillTx/>
              <a:latin typeface="Arial"/>
            </a:endParaRPr>
          </a:p>
        </p:txBody>
      </p:sp>
      <p:sp>
        <p:nvSpPr>
          <p:cNvPr id="1021"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Build the Judgment Every Real Analysis Depends On</a:t>
            </a:r>
            <a:endParaRPr lang="en-US" sz="2900" b="0" u="none" strike="noStrike">
              <a:solidFill>
                <a:srgbClr val="000000"/>
              </a:solidFill>
              <a:effectLst/>
              <a:uFillTx/>
              <a:latin typeface="Arial"/>
            </a:endParaRPr>
          </a:p>
        </p:txBody>
      </p:sp>
      <p:sp>
        <p:nvSpPr>
          <p:cNvPr id="1022"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Not abstract classification drills — choosing the right scale, chart, and average is what separates a clear analysis from a misleading one</a:t>
            </a:r>
            <a:endParaRPr lang="en-US" sz="1500" b="0" u="none" strike="noStrike">
              <a:solidFill>
                <a:srgbClr val="000000"/>
              </a:solidFill>
              <a:effectLst/>
              <a:uFillTx/>
              <a:latin typeface="Arial"/>
            </a:endParaRPr>
          </a:p>
        </p:txBody>
      </p:sp>
      <p:sp>
        <p:nvSpPr>
          <p:cNvPr id="1023"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59</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24"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25" name="Image 0" descr="preencoded.png"/>
          <p:cNvPicPr/>
          <p:nvPr/>
        </p:nvPicPr>
        <p:blipFill>
          <a:blip r:embed="rId1"/>
          <a:stretch/>
        </p:blipFill>
        <p:spPr>
          <a:xfrm>
            <a:off x="548640" y="548640"/>
            <a:ext cx="447480" cy="447480"/>
          </a:xfrm>
          <a:prstGeom prst="rect">
            <a:avLst/>
          </a:prstGeom>
          <a:noFill/>
          <a:ln w="0">
            <a:noFill/>
          </a:ln>
        </p:spPr>
      </p:pic>
      <p:sp>
        <p:nvSpPr>
          <p:cNvPr id="1026"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Today's Tasks — Part A: Statistics Basics &amp; Variables</a:t>
            </a:r>
            <a:endParaRPr lang="en-US" sz="2400" b="0" u="none" strike="noStrike">
              <a:solidFill>
                <a:srgbClr val="000000"/>
              </a:solidFill>
              <a:effectLst/>
              <a:uFillTx/>
              <a:latin typeface="Arial"/>
            </a:endParaRPr>
          </a:p>
        </p:txBody>
      </p:sp>
      <p:sp>
        <p:nvSpPr>
          <p:cNvPr id="1027"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28" name="Shape 3"/>
          <p:cNvSpPr/>
          <p:nvPr/>
        </p:nvSpPr>
        <p:spPr>
          <a:xfrm>
            <a:off x="457200" y="1600200"/>
            <a:ext cx="11273760" cy="4479840"/>
          </a:xfrm>
          <a:prstGeom prst="roundRect">
            <a:avLst>
              <a:gd name="adj" fmla="val 3673"/>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29"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2A4A"/>
                </a:solidFill>
                <a:effectLst/>
                <a:uFillTx/>
                <a:latin typeface="Century Gothic"/>
                <a:ea typeface="Century Gothic"/>
              </a:rPr>
              <a:t>Small tasks — do them in order</a:t>
            </a:r>
            <a:endParaRPr lang="en-US" sz="1600" b="0" u="none" strike="noStrike">
              <a:solidFill>
                <a:srgbClr val="000000"/>
              </a:solidFill>
              <a:effectLst/>
              <a:uFillTx/>
              <a:latin typeface="Arial"/>
            </a:endParaRPr>
          </a:p>
        </p:txBody>
      </p:sp>
      <p:sp>
        <p:nvSpPr>
          <p:cNvPr id="1030" name="Shape 5"/>
          <p:cNvSpPr/>
          <p:nvPr/>
        </p:nvSpPr>
        <p:spPr>
          <a:xfrm>
            <a:off x="822960" y="242316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31" name="Image 1" descr="preencoded.png"/>
          <p:cNvPicPr/>
          <p:nvPr/>
        </p:nvPicPr>
        <p:blipFill>
          <a:blip r:embed="rId2"/>
          <a:stretch/>
        </p:blipFill>
        <p:spPr>
          <a:xfrm>
            <a:off x="887040" y="2487240"/>
            <a:ext cx="282600" cy="282600"/>
          </a:xfrm>
          <a:prstGeom prst="rect">
            <a:avLst/>
          </a:prstGeom>
          <a:noFill/>
          <a:ln w="0">
            <a:noFill/>
          </a:ln>
        </p:spPr>
      </p:pic>
      <p:sp>
        <p:nvSpPr>
          <p:cNvPr id="1032" name="Shape 6"/>
          <p:cNvSpPr/>
          <p:nvPr/>
        </p:nvSpPr>
        <p:spPr>
          <a:xfrm>
            <a:off x="1371600" y="244152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3" name="Text 7"/>
          <p:cNvSpPr/>
          <p:nvPr/>
        </p:nvSpPr>
        <p:spPr>
          <a:xfrm>
            <a:off x="1371600" y="244152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1</a:t>
            </a:r>
            <a:endParaRPr lang="en-US" sz="1300" b="0" u="none" strike="noStrike">
              <a:solidFill>
                <a:srgbClr val="000000"/>
              </a:solidFill>
              <a:effectLst/>
              <a:uFillTx/>
              <a:latin typeface="Arial"/>
            </a:endParaRPr>
          </a:p>
        </p:txBody>
      </p:sp>
      <p:sp>
        <p:nvSpPr>
          <p:cNvPr id="1034" name="Text 8"/>
          <p:cNvSpPr/>
          <p:nvPr/>
        </p:nvSpPr>
        <p:spPr>
          <a:xfrm>
            <a:off x="1920240" y="242316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Write a two-sentence explanation, for a non-technical friend, of the difference between descriptive and inferential statistics, using your own example for each.</a:t>
            </a:r>
            <a:endParaRPr lang="en-US" sz="1200" b="0" u="none" strike="noStrike">
              <a:solidFill>
                <a:srgbClr val="000000"/>
              </a:solidFill>
              <a:effectLst/>
              <a:uFillTx/>
              <a:latin typeface="Arial"/>
            </a:endParaRPr>
          </a:p>
        </p:txBody>
      </p:sp>
      <p:sp>
        <p:nvSpPr>
          <p:cNvPr id="1035" name="Shape 9"/>
          <p:cNvSpPr/>
          <p:nvPr/>
        </p:nvSpPr>
        <p:spPr>
          <a:xfrm>
            <a:off x="822960" y="359352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36" name="Image 2" descr="preencoded.png"/>
          <p:cNvPicPr/>
          <p:nvPr/>
        </p:nvPicPr>
        <p:blipFill>
          <a:blip r:embed="rId3"/>
          <a:stretch/>
        </p:blipFill>
        <p:spPr>
          <a:xfrm>
            <a:off x="887040" y="3657600"/>
            <a:ext cx="282600" cy="282600"/>
          </a:xfrm>
          <a:prstGeom prst="rect">
            <a:avLst/>
          </a:prstGeom>
          <a:noFill/>
          <a:ln w="0">
            <a:noFill/>
          </a:ln>
        </p:spPr>
      </p:pic>
      <p:sp>
        <p:nvSpPr>
          <p:cNvPr id="1037" name="Shape 10"/>
          <p:cNvSpPr/>
          <p:nvPr/>
        </p:nvSpPr>
        <p:spPr>
          <a:xfrm>
            <a:off x="1371600" y="361188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38" name="Text 11"/>
          <p:cNvSpPr/>
          <p:nvPr/>
        </p:nvSpPr>
        <p:spPr>
          <a:xfrm>
            <a:off x="1371600" y="361188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2</a:t>
            </a:r>
            <a:endParaRPr lang="en-US" sz="1300" b="0" u="none" strike="noStrike">
              <a:solidFill>
                <a:srgbClr val="000000"/>
              </a:solidFill>
              <a:effectLst/>
              <a:uFillTx/>
              <a:latin typeface="Arial"/>
            </a:endParaRPr>
          </a:p>
        </p:txBody>
      </p:sp>
      <p:sp>
        <p:nvSpPr>
          <p:cNvPr id="1039" name="Text 12"/>
          <p:cNvSpPr/>
          <p:nvPr/>
        </p:nvSpPr>
        <p:spPr>
          <a:xfrm>
            <a:off x="1920240" y="359352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For a study on "does sleep duration affect reaction time," identify the population, a reasonable sample, and the independent and dependent variables.</a:t>
            </a:r>
            <a:endParaRPr lang="en-US" sz="1200" b="0" u="none" strike="noStrike">
              <a:solidFill>
                <a:srgbClr val="000000"/>
              </a:solidFill>
              <a:effectLst/>
              <a:uFillTx/>
              <a:latin typeface="Arial"/>
            </a:endParaRPr>
          </a:p>
        </p:txBody>
      </p:sp>
      <p:sp>
        <p:nvSpPr>
          <p:cNvPr id="1040" name="Shape 13"/>
          <p:cNvSpPr/>
          <p:nvPr/>
        </p:nvSpPr>
        <p:spPr>
          <a:xfrm>
            <a:off x="822960" y="476388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41" name="Image 3" descr="preencoded.png"/>
          <p:cNvPicPr/>
          <p:nvPr/>
        </p:nvPicPr>
        <p:blipFill>
          <a:blip r:embed="rId4"/>
          <a:stretch/>
        </p:blipFill>
        <p:spPr>
          <a:xfrm>
            <a:off x="887040" y="4827960"/>
            <a:ext cx="282600" cy="282600"/>
          </a:xfrm>
          <a:prstGeom prst="rect">
            <a:avLst/>
          </a:prstGeom>
          <a:noFill/>
          <a:ln w="0">
            <a:noFill/>
          </a:ln>
        </p:spPr>
      </p:pic>
      <p:sp>
        <p:nvSpPr>
          <p:cNvPr id="1042" name="Shape 14"/>
          <p:cNvSpPr/>
          <p:nvPr/>
        </p:nvSpPr>
        <p:spPr>
          <a:xfrm>
            <a:off x="1371600" y="478224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3" name="Text 15"/>
          <p:cNvSpPr/>
          <p:nvPr/>
        </p:nvSpPr>
        <p:spPr>
          <a:xfrm>
            <a:off x="1371600" y="478224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3</a:t>
            </a:r>
            <a:endParaRPr lang="en-US" sz="1300" b="0" u="none" strike="noStrike">
              <a:solidFill>
                <a:srgbClr val="000000"/>
              </a:solidFill>
              <a:effectLst/>
              <a:uFillTx/>
              <a:latin typeface="Arial"/>
            </a:endParaRPr>
          </a:p>
        </p:txBody>
      </p:sp>
      <p:sp>
        <p:nvSpPr>
          <p:cNvPr id="1044" name="Text 16"/>
          <p:cNvSpPr/>
          <p:nvPr/>
        </p:nvSpPr>
        <p:spPr>
          <a:xfrm>
            <a:off x="1920240" y="476388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Explain why almost all real-world data science analysis works with a sample rather than a full population, using a concrete example.</a:t>
            </a:r>
            <a:endParaRPr lang="en-US" sz="1200" b="0" u="none" strike="noStrike">
              <a:solidFill>
                <a:srgbClr val="000000"/>
              </a:solidFill>
              <a:effectLst/>
              <a:uFillTx/>
              <a:latin typeface="Arial"/>
            </a:endParaRPr>
          </a:p>
        </p:txBody>
      </p:sp>
      <p:sp>
        <p:nvSpPr>
          <p:cNvPr id="1045"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046"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60</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47"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48" name="Image 0" descr="preencoded.png"/>
          <p:cNvPicPr/>
          <p:nvPr/>
        </p:nvPicPr>
        <p:blipFill>
          <a:blip r:embed="rId1"/>
          <a:stretch/>
        </p:blipFill>
        <p:spPr>
          <a:xfrm>
            <a:off x="548640" y="548640"/>
            <a:ext cx="447480" cy="447480"/>
          </a:xfrm>
          <a:prstGeom prst="rect">
            <a:avLst/>
          </a:prstGeom>
          <a:noFill/>
          <a:ln w="0">
            <a:noFill/>
          </a:ln>
        </p:spPr>
      </p:pic>
      <p:sp>
        <p:nvSpPr>
          <p:cNvPr id="1049"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Today's Tasks — Part B: Data Collection &amp; Measurement Quality</a:t>
            </a:r>
            <a:endParaRPr lang="en-US" sz="2400" b="0" u="none" strike="noStrike">
              <a:solidFill>
                <a:srgbClr val="000000"/>
              </a:solidFill>
              <a:effectLst/>
              <a:uFillTx/>
              <a:latin typeface="Arial"/>
            </a:endParaRPr>
          </a:p>
        </p:txBody>
      </p:sp>
      <p:sp>
        <p:nvSpPr>
          <p:cNvPr id="1050"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51" name="Shape 3"/>
          <p:cNvSpPr/>
          <p:nvPr/>
        </p:nvSpPr>
        <p:spPr>
          <a:xfrm>
            <a:off x="457200" y="1600200"/>
            <a:ext cx="11273760" cy="4479840"/>
          </a:xfrm>
          <a:prstGeom prst="roundRect">
            <a:avLst>
              <a:gd name="adj" fmla="val 3673"/>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2"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2A4A"/>
                </a:solidFill>
                <a:effectLst/>
                <a:uFillTx/>
                <a:latin typeface="Century Gothic"/>
                <a:ea typeface="Century Gothic"/>
              </a:rPr>
              <a:t>Small tasks — do them in order</a:t>
            </a:r>
            <a:endParaRPr lang="en-US" sz="1600" b="0" u="none" strike="noStrike">
              <a:solidFill>
                <a:srgbClr val="000000"/>
              </a:solidFill>
              <a:effectLst/>
              <a:uFillTx/>
              <a:latin typeface="Arial"/>
            </a:endParaRPr>
          </a:p>
        </p:txBody>
      </p:sp>
      <p:sp>
        <p:nvSpPr>
          <p:cNvPr id="1053" name="Shape 5"/>
          <p:cNvSpPr/>
          <p:nvPr/>
        </p:nvSpPr>
        <p:spPr>
          <a:xfrm>
            <a:off x="822960" y="242316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54" name="Image 1" descr="preencoded.png"/>
          <p:cNvPicPr/>
          <p:nvPr/>
        </p:nvPicPr>
        <p:blipFill>
          <a:blip r:embed="rId2"/>
          <a:stretch/>
        </p:blipFill>
        <p:spPr>
          <a:xfrm>
            <a:off x="887040" y="2487240"/>
            <a:ext cx="282600" cy="282600"/>
          </a:xfrm>
          <a:prstGeom prst="rect">
            <a:avLst/>
          </a:prstGeom>
          <a:noFill/>
          <a:ln w="0">
            <a:noFill/>
          </a:ln>
        </p:spPr>
      </p:pic>
      <p:sp>
        <p:nvSpPr>
          <p:cNvPr id="1055" name="Shape 6"/>
          <p:cNvSpPr/>
          <p:nvPr/>
        </p:nvSpPr>
        <p:spPr>
          <a:xfrm>
            <a:off x="1371600" y="244152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56" name="Text 7"/>
          <p:cNvSpPr/>
          <p:nvPr/>
        </p:nvSpPr>
        <p:spPr>
          <a:xfrm>
            <a:off x="1371600" y="244152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1</a:t>
            </a:r>
            <a:endParaRPr lang="en-US" sz="1300" b="0" u="none" strike="noStrike">
              <a:solidFill>
                <a:srgbClr val="000000"/>
              </a:solidFill>
              <a:effectLst/>
              <a:uFillTx/>
              <a:latin typeface="Arial"/>
            </a:endParaRPr>
          </a:p>
        </p:txBody>
      </p:sp>
      <p:sp>
        <p:nvSpPr>
          <p:cNvPr id="1057" name="Text 8"/>
          <p:cNvSpPr/>
          <p:nvPr/>
        </p:nvSpPr>
        <p:spPr>
          <a:xfrm>
            <a:off x="1920240" y="242316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For your own final project idea, decide whether you’d use primary or secondary data, and design a probability-based sampling plan to collect it.</a:t>
            </a:r>
            <a:endParaRPr lang="en-US" sz="1200" b="0" u="none" strike="noStrike">
              <a:solidFill>
                <a:srgbClr val="000000"/>
              </a:solidFill>
              <a:effectLst/>
              <a:uFillTx/>
              <a:latin typeface="Arial"/>
            </a:endParaRPr>
          </a:p>
        </p:txBody>
      </p:sp>
      <p:sp>
        <p:nvSpPr>
          <p:cNvPr id="1058" name="Shape 9"/>
          <p:cNvSpPr/>
          <p:nvPr/>
        </p:nvSpPr>
        <p:spPr>
          <a:xfrm>
            <a:off x="822960" y="359352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59" name="Image 2" descr="preencoded.png"/>
          <p:cNvPicPr/>
          <p:nvPr/>
        </p:nvPicPr>
        <p:blipFill>
          <a:blip r:embed="rId3"/>
          <a:stretch/>
        </p:blipFill>
        <p:spPr>
          <a:xfrm>
            <a:off x="887040" y="3657600"/>
            <a:ext cx="282600" cy="282600"/>
          </a:xfrm>
          <a:prstGeom prst="rect">
            <a:avLst/>
          </a:prstGeom>
          <a:noFill/>
          <a:ln w="0">
            <a:noFill/>
          </a:ln>
        </p:spPr>
      </p:pic>
      <p:sp>
        <p:nvSpPr>
          <p:cNvPr id="1060" name="Shape 10"/>
          <p:cNvSpPr/>
          <p:nvPr/>
        </p:nvSpPr>
        <p:spPr>
          <a:xfrm>
            <a:off x="1371600" y="361188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1" name="Text 11"/>
          <p:cNvSpPr/>
          <p:nvPr/>
        </p:nvSpPr>
        <p:spPr>
          <a:xfrm>
            <a:off x="1371600" y="361188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2</a:t>
            </a:r>
            <a:endParaRPr lang="en-US" sz="1300" b="0" u="none" strike="noStrike">
              <a:solidFill>
                <a:srgbClr val="000000"/>
              </a:solidFill>
              <a:effectLst/>
              <a:uFillTx/>
              <a:latin typeface="Arial"/>
            </a:endParaRPr>
          </a:p>
        </p:txBody>
      </p:sp>
      <p:sp>
        <p:nvSpPr>
          <p:cNvPr id="1062" name="Text 12"/>
          <p:cNvSpPr/>
          <p:nvPr/>
        </p:nvSpPr>
        <p:spPr>
          <a:xfrm>
            <a:off x="1920240" y="359352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Propose an operationalization with a measurable proxy for an abstract concept of your choice (e.g. "brand trust," "team morale").</a:t>
            </a:r>
            <a:endParaRPr lang="en-US" sz="1200" b="0" u="none" strike="noStrike">
              <a:solidFill>
                <a:srgbClr val="000000"/>
              </a:solidFill>
              <a:effectLst/>
              <a:uFillTx/>
              <a:latin typeface="Arial"/>
            </a:endParaRPr>
          </a:p>
        </p:txBody>
      </p:sp>
      <p:sp>
        <p:nvSpPr>
          <p:cNvPr id="1063" name="Shape 13"/>
          <p:cNvSpPr/>
          <p:nvPr/>
        </p:nvSpPr>
        <p:spPr>
          <a:xfrm>
            <a:off x="822960" y="476388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64" name="Image 3" descr="preencoded.png"/>
          <p:cNvPicPr/>
          <p:nvPr/>
        </p:nvPicPr>
        <p:blipFill>
          <a:blip r:embed="rId4"/>
          <a:stretch/>
        </p:blipFill>
        <p:spPr>
          <a:xfrm>
            <a:off x="887040" y="4827960"/>
            <a:ext cx="282600" cy="282600"/>
          </a:xfrm>
          <a:prstGeom prst="rect">
            <a:avLst/>
          </a:prstGeom>
          <a:noFill/>
          <a:ln w="0">
            <a:noFill/>
          </a:ln>
        </p:spPr>
      </p:pic>
      <p:sp>
        <p:nvSpPr>
          <p:cNvPr id="1065" name="Shape 14"/>
          <p:cNvSpPr/>
          <p:nvPr/>
        </p:nvSpPr>
        <p:spPr>
          <a:xfrm>
            <a:off x="1371600" y="478224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66" name="Text 15"/>
          <p:cNvSpPr/>
          <p:nvPr/>
        </p:nvSpPr>
        <p:spPr>
          <a:xfrm>
            <a:off x="1371600" y="478224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3</a:t>
            </a:r>
            <a:endParaRPr lang="en-US" sz="1300" b="0" u="none" strike="noStrike">
              <a:solidFill>
                <a:srgbClr val="000000"/>
              </a:solidFill>
              <a:effectLst/>
              <a:uFillTx/>
              <a:latin typeface="Arial"/>
            </a:endParaRPr>
          </a:p>
        </p:txBody>
      </p:sp>
      <p:sp>
        <p:nvSpPr>
          <p:cNvPr id="1067" name="Text 16"/>
          <p:cNvSpPr/>
          <p:nvPr/>
        </p:nvSpPr>
        <p:spPr>
          <a:xfrm>
            <a:off x="1920240" y="476388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Describe a realistic measurement tool or process, and evaluate it separately for reliability and for validity, explaining your reasoning for each.</a:t>
            </a:r>
            <a:endParaRPr lang="en-US" sz="1200" b="0" u="none" strike="noStrike">
              <a:solidFill>
                <a:srgbClr val="000000"/>
              </a:solidFill>
              <a:effectLst/>
              <a:uFillTx/>
              <a:latin typeface="Arial"/>
            </a:endParaRPr>
          </a:p>
        </p:txBody>
      </p:sp>
      <p:sp>
        <p:nvSpPr>
          <p:cNvPr id="1068"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069"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61</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7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71" name="Image 0" descr="preencoded.png"/>
          <p:cNvPicPr/>
          <p:nvPr/>
        </p:nvPicPr>
        <p:blipFill>
          <a:blip r:embed="rId1"/>
          <a:stretch/>
        </p:blipFill>
        <p:spPr>
          <a:xfrm>
            <a:off x="548640" y="548640"/>
            <a:ext cx="447480" cy="447480"/>
          </a:xfrm>
          <a:prstGeom prst="rect">
            <a:avLst/>
          </a:prstGeom>
          <a:noFill/>
          <a:ln w="0">
            <a:noFill/>
          </a:ln>
        </p:spPr>
      </p:pic>
      <p:sp>
        <p:nvSpPr>
          <p:cNvPr id="107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Today's Tasks — Part C: Data Types &amp; Measurement Scales</a:t>
            </a:r>
            <a:endParaRPr lang="en-US" sz="2400" b="0" u="none" strike="noStrike">
              <a:solidFill>
                <a:srgbClr val="000000"/>
              </a:solidFill>
              <a:effectLst/>
              <a:uFillTx/>
              <a:latin typeface="Arial"/>
            </a:endParaRPr>
          </a:p>
        </p:txBody>
      </p:sp>
      <p:sp>
        <p:nvSpPr>
          <p:cNvPr id="107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74" name="Shape 3"/>
          <p:cNvSpPr/>
          <p:nvPr/>
        </p:nvSpPr>
        <p:spPr>
          <a:xfrm>
            <a:off x="457200" y="1600200"/>
            <a:ext cx="11273760" cy="4479840"/>
          </a:xfrm>
          <a:prstGeom prst="roundRect">
            <a:avLst>
              <a:gd name="adj" fmla="val 3673"/>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5"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2A4A"/>
                </a:solidFill>
                <a:effectLst/>
                <a:uFillTx/>
                <a:latin typeface="Century Gothic"/>
                <a:ea typeface="Century Gothic"/>
              </a:rPr>
              <a:t>Small tasks — do them in order</a:t>
            </a:r>
            <a:endParaRPr lang="en-US" sz="1600" b="0" u="none" strike="noStrike">
              <a:solidFill>
                <a:srgbClr val="000000"/>
              </a:solidFill>
              <a:effectLst/>
              <a:uFillTx/>
              <a:latin typeface="Arial"/>
            </a:endParaRPr>
          </a:p>
        </p:txBody>
      </p:sp>
      <p:sp>
        <p:nvSpPr>
          <p:cNvPr id="1076" name="Shape 5"/>
          <p:cNvSpPr/>
          <p:nvPr/>
        </p:nvSpPr>
        <p:spPr>
          <a:xfrm>
            <a:off x="822960" y="242316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77" name="Image 1" descr="preencoded.png"/>
          <p:cNvPicPr/>
          <p:nvPr/>
        </p:nvPicPr>
        <p:blipFill>
          <a:blip r:embed="rId2"/>
          <a:stretch/>
        </p:blipFill>
        <p:spPr>
          <a:xfrm>
            <a:off x="887040" y="2487240"/>
            <a:ext cx="282600" cy="282600"/>
          </a:xfrm>
          <a:prstGeom prst="rect">
            <a:avLst/>
          </a:prstGeom>
          <a:noFill/>
          <a:ln w="0">
            <a:noFill/>
          </a:ln>
        </p:spPr>
      </p:pic>
      <p:sp>
        <p:nvSpPr>
          <p:cNvPr id="1078" name="Shape 6"/>
          <p:cNvSpPr/>
          <p:nvPr/>
        </p:nvSpPr>
        <p:spPr>
          <a:xfrm>
            <a:off x="1371600" y="244152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79" name="Text 7"/>
          <p:cNvSpPr/>
          <p:nvPr/>
        </p:nvSpPr>
        <p:spPr>
          <a:xfrm>
            <a:off x="1371600" y="244152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1</a:t>
            </a:r>
            <a:endParaRPr lang="en-US" sz="1300" b="0" u="none" strike="noStrike">
              <a:solidFill>
                <a:srgbClr val="000000"/>
              </a:solidFill>
              <a:effectLst/>
              <a:uFillTx/>
              <a:latin typeface="Arial"/>
            </a:endParaRPr>
          </a:p>
        </p:txBody>
      </p:sp>
      <p:sp>
        <p:nvSpPr>
          <p:cNvPr id="1080" name="Text 8"/>
          <p:cNvSpPr/>
          <p:nvPr/>
        </p:nvSpPr>
        <p:spPr>
          <a:xfrm>
            <a:off x="1920240" y="242316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Take any real dataset (or a provided one) and classify every single column by its measurement scale — nominal, ordinal, interval, or ratio.</a:t>
            </a:r>
            <a:endParaRPr lang="en-US" sz="1200" b="0" u="none" strike="noStrike">
              <a:solidFill>
                <a:srgbClr val="000000"/>
              </a:solidFill>
              <a:effectLst/>
              <a:uFillTx/>
              <a:latin typeface="Arial"/>
            </a:endParaRPr>
          </a:p>
        </p:txBody>
      </p:sp>
      <p:sp>
        <p:nvSpPr>
          <p:cNvPr id="1081" name="Shape 9"/>
          <p:cNvSpPr/>
          <p:nvPr/>
        </p:nvSpPr>
        <p:spPr>
          <a:xfrm>
            <a:off x="822960" y="359352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82" name="Image 2" descr="preencoded.png"/>
          <p:cNvPicPr/>
          <p:nvPr/>
        </p:nvPicPr>
        <p:blipFill>
          <a:blip r:embed="rId3"/>
          <a:stretch/>
        </p:blipFill>
        <p:spPr>
          <a:xfrm>
            <a:off x="887040" y="3657600"/>
            <a:ext cx="282600" cy="282600"/>
          </a:xfrm>
          <a:prstGeom prst="rect">
            <a:avLst/>
          </a:prstGeom>
          <a:noFill/>
          <a:ln w="0">
            <a:noFill/>
          </a:ln>
        </p:spPr>
      </p:pic>
      <p:sp>
        <p:nvSpPr>
          <p:cNvPr id="1083" name="Shape 10"/>
          <p:cNvSpPr/>
          <p:nvPr/>
        </p:nvSpPr>
        <p:spPr>
          <a:xfrm>
            <a:off x="1371600" y="361188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4" name="Text 11"/>
          <p:cNvSpPr/>
          <p:nvPr/>
        </p:nvSpPr>
        <p:spPr>
          <a:xfrm>
            <a:off x="1371600" y="361188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2</a:t>
            </a:r>
            <a:endParaRPr lang="en-US" sz="1300" b="0" u="none" strike="noStrike">
              <a:solidFill>
                <a:srgbClr val="000000"/>
              </a:solidFill>
              <a:effectLst/>
              <a:uFillTx/>
              <a:latin typeface="Arial"/>
            </a:endParaRPr>
          </a:p>
        </p:txBody>
      </p:sp>
      <p:sp>
        <p:nvSpPr>
          <p:cNvPr id="1085" name="Text 12"/>
          <p:cNvSpPr/>
          <p:nvPr/>
        </p:nvSpPr>
        <p:spPr>
          <a:xfrm>
            <a:off x="1920240" y="359352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For each ordinal column found, explain specifically why averaging it directly would be mathematically imprecise.</a:t>
            </a:r>
            <a:endParaRPr lang="en-US" sz="1200" b="0" u="none" strike="noStrike">
              <a:solidFill>
                <a:srgbClr val="000000"/>
              </a:solidFill>
              <a:effectLst/>
              <a:uFillTx/>
              <a:latin typeface="Arial"/>
            </a:endParaRPr>
          </a:p>
        </p:txBody>
      </p:sp>
      <p:sp>
        <p:nvSpPr>
          <p:cNvPr id="1086" name="Shape 13"/>
          <p:cNvSpPr/>
          <p:nvPr/>
        </p:nvSpPr>
        <p:spPr>
          <a:xfrm>
            <a:off x="822960" y="476388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87" name="Image 3" descr="preencoded.png"/>
          <p:cNvPicPr/>
          <p:nvPr/>
        </p:nvPicPr>
        <p:blipFill>
          <a:blip r:embed="rId4"/>
          <a:stretch/>
        </p:blipFill>
        <p:spPr>
          <a:xfrm>
            <a:off x="887040" y="4827960"/>
            <a:ext cx="282600" cy="282600"/>
          </a:xfrm>
          <a:prstGeom prst="rect">
            <a:avLst/>
          </a:prstGeom>
          <a:noFill/>
          <a:ln w="0">
            <a:noFill/>
          </a:ln>
        </p:spPr>
      </p:pic>
      <p:sp>
        <p:nvSpPr>
          <p:cNvPr id="1088" name="Shape 14"/>
          <p:cNvSpPr/>
          <p:nvPr/>
        </p:nvSpPr>
        <p:spPr>
          <a:xfrm>
            <a:off x="1371600" y="478224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89" name="Text 15"/>
          <p:cNvSpPr/>
          <p:nvPr/>
        </p:nvSpPr>
        <p:spPr>
          <a:xfrm>
            <a:off x="1371600" y="478224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3</a:t>
            </a:r>
            <a:endParaRPr lang="en-US" sz="1300" b="0" u="none" strike="noStrike">
              <a:solidFill>
                <a:srgbClr val="000000"/>
              </a:solidFill>
              <a:effectLst/>
              <a:uFillTx/>
              <a:latin typeface="Arial"/>
            </a:endParaRPr>
          </a:p>
        </p:txBody>
      </p:sp>
      <p:sp>
        <p:nvSpPr>
          <p:cNvPr id="1090" name="Text 16"/>
          <p:cNvSpPr/>
          <p:nvPr/>
        </p:nvSpPr>
        <p:spPr>
          <a:xfrm>
            <a:off x="1920240" y="476388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Write a one-paragraph explanation, for a non-technical reader, of why a "true zero" matters so much for ratio data.</a:t>
            </a:r>
            <a:endParaRPr lang="en-US" sz="1200" b="0" u="none" strike="noStrike">
              <a:solidFill>
                <a:srgbClr val="000000"/>
              </a:solidFill>
              <a:effectLst/>
              <a:uFillTx/>
              <a:latin typeface="Arial"/>
            </a:endParaRPr>
          </a:p>
        </p:txBody>
      </p:sp>
      <p:sp>
        <p:nvSpPr>
          <p:cNvPr id="1091"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092"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62</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093"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94" name="Image 0" descr="preencoded.png"/>
          <p:cNvPicPr/>
          <p:nvPr/>
        </p:nvPicPr>
        <p:blipFill>
          <a:blip r:embed="rId1"/>
          <a:stretch/>
        </p:blipFill>
        <p:spPr>
          <a:xfrm>
            <a:off x="548640" y="548640"/>
            <a:ext cx="447480" cy="447480"/>
          </a:xfrm>
          <a:prstGeom prst="rect">
            <a:avLst/>
          </a:prstGeom>
          <a:noFill/>
          <a:ln w="0">
            <a:noFill/>
          </a:ln>
        </p:spPr>
      </p:pic>
      <p:sp>
        <p:nvSpPr>
          <p:cNvPr id="1095"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Today's Tasks — Part D: Errors, Bias &amp; Chart Selection</a:t>
            </a:r>
            <a:endParaRPr lang="en-US" sz="2400" b="0" u="none" strike="noStrike">
              <a:solidFill>
                <a:srgbClr val="000000"/>
              </a:solidFill>
              <a:effectLst/>
              <a:uFillTx/>
              <a:latin typeface="Arial"/>
            </a:endParaRPr>
          </a:p>
        </p:txBody>
      </p:sp>
      <p:sp>
        <p:nvSpPr>
          <p:cNvPr id="1096"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097" name="Shape 3"/>
          <p:cNvSpPr/>
          <p:nvPr/>
        </p:nvSpPr>
        <p:spPr>
          <a:xfrm>
            <a:off x="457200" y="1600200"/>
            <a:ext cx="11273760" cy="4479840"/>
          </a:xfrm>
          <a:prstGeom prst="roundRect">
            <a:avLst>
              <a:gd name="adj" fmla="val 3673"/>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98"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2A4A"/>
                </a:solidFill>
                <a:effectLst/>
                <a:uFillTx/>
                <a:latin typeface="Century Gothic"/>
                <a:ea typeface="Century Gothic"/>
              </a:rPr>
              <a:t>Small tasks — do them in order</a:t>
            </a:r>
            <a:endParaRPr lang="en-US" sz="1600" b="0" u="none" strike="noStrike">
              <a:solidFill>
                <a:srgbClr val="000000"/>
              </a:solidFill>
              <a:effectLst/>
              <a:uFillTx/>
              <a:latin typeface="Arial"/>
            </a:endParaRPr>
          </a:p>
        </p:txBody>
      </p:sp>
      <p:sp>
        <p:nvSpPr>
          <p:cNvPr id="1099" name="Shape 5"/>
          <p:cNvSpPr/>
          <p:nvPr/>
        </p:nvSpPr>
        <p:spPr>
          <a:xfrm>
            <a:off x="822960" y="242316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00" name="Image 1" descr="preencoded.png"/>
          <p:cNvPicPr/>
          <p:nvPr/>
        </p:nvPicPr>
        <p:blipFill>
          <a:blip r:embed="rId2"/>
          <a:stretch/>
        </p:blipFill>
        <p:spPr>
          <a:xfrm>
            <a:off x="887040" y="2487240"/>
            <a:ext cx="282600" cy="282600"/>
          </a:xfrm>
          <a:prstGeom prst="rect">
            <a:avLst/>
          </a:prstGeom>
          <a:noFill/>
          <a:ln w="0">
            <a:noFill/>
          </a:ln>
        </p:spPr>
      </p:pic>
      <p:sp>
        <p:nvSpPr>
          <p:cNvPr id="1101" name="Shape 6"/>
          <p:cNvSpPr/>
          <p:nvPr/>
        </p:nvSpPr>
        <p:spPr>
          <a:xfrm>
            <a:off x="1371600" y="244152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2" name="Text 7"/>
          <p:cNvSpPr/>
          <p:nvPr/>
        </p:nvSpPr>
        <p:spPr>
          <a:xfrm>
            <a:off x="1371600" y="244152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1</a:t>
            </a:r>
            <a:endParaRPr lang="en-US" sz="1300" b="0" u="none" strike="noStrike">
              <a:solidFill>
                <a:srgbClr val="000000"/>
              </a:solidFill>
              <a:effectLst/>
              <a:uFillTx/>
              <a:latin typeface="Arial"/>
            </a:endParaRPr>
          </a:p>
        </p:txBody>
      </p:sp>
      <p:sp>
        <p:nvSpPr>
          <p:cNvPr id="1103" name="Text 8"/>
          <p:cNvSpPr/>
          <p:nvPr/>
        </p:nvSpPr>
        <p:spPr>
          <a:xfrm>
            <a:off x="1920240" y="242316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Describe a realistic data collection scenario for your own final project idea, and identify one likely source of random error and one of systematic bias.</a:t>
            </a:r>
            <a:endParaRPr lang="en-US" sz="1200" b="0" u="none" strike="noStrike">
              <a:solidFill>
                <a:srgbClr val="000000"/>
              </a:solidFill>
              <a:effectLst/>
              <a:uFillTx/>
              <a:latin typeface="Arial"/>
            </a:endParaRPr>
          </a:p>
        </p:txBody>
      </p:sp>
      <p:sp>
        <p:nvSpPr>
          <p:cNvPr id="1104" name="Shape 9"/>
          <p:cNvSpPr/>
          <p:nvPr/>
        </p:nvSpPr>
        <p:spPr>
          <a:xfrm>
            <a:off x="822960" y="359352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05" name="Image 2" descr="preencoded.png"/>
          <p:cNvPicPr/>
          <p:nvPr/>
        </p:nvPicPr>
        <p:blipFill>
          <a:blip r:embed="rId3"/>
          <a:stretch/>
        </p:blipFill>
        <p:spPr>
          <a:xfrm>
            <a:off x="887040" y="3657600"/>
            <a:ext cx="282600" cy="282600"/>
          </a:xfrm>
          <a:prstGeom prst="rect">
            <a:avLst/>
          </a:prstGeom>
          <a:noFill/>
          <a:ln w="0">
            <a:noFill/>
          </a:ln>
        </p:spPr>
      </p:pic>
      <p:sp>
        <p:nvSpPr>
          <p:cNvPr id="1106" name="Shape 10"/>
          <p:cNvSpPr/>
          <p:nvPr/>
        </p:nvSpPr>
        <p:spPr>
          <a:xfrm>
            <a:off x="1371600" y="361188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07" name="Text 11"/>
          <p:cNvSpPr/>
          <p:nvPr/>
        </p:nvSpPr>
        <p:spPr>
          <a:xfrm>
            <a:off x="1371600" y="361188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2</a:t>
            </a:r>
            <a:endParaRPr lang="en-US" sz="1300" b="0" u="none" strike="noStrike">
              <a:solidFill>
                <a:srgbClr val="000000"/>
              </a:solidFill>
              <a:effectLst/>
              <a:uFillTx/>
              <a:latin typeface="Arial"/>
            </a:endParaRPr>
          </a:p>
        </p:txBody>
      </p:sp>
      <p:sp>
        <p:nvSpPr>
          <p:cNvPr id="1108" name="Text 12"/>
          <p:cNvSpPr/>
          <p:nvPr/>
        </p:nvSpPr>
        <p:spPr>
          <a:xfrm>
            <a:off x="1920240" y="359352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Given a dataset with 3 numerical columns, choose and justify one appropriate chart for each column individually, and one for showing their relationships together.</a:t>
            </a:r>
            <a:endParaRPr lang="en-US" sz="1200" b="0" u="none" strike="noStrike">
              <a:solidFill>
                <a:srgbClr val="000000"/>
              </a:solidFill>
              <a:effectLst/>
              <a:uFillTx/>
              <a:latin typeface="Arial"/>
            </a:endParaRPr>
          </a:p>
        </p:txBody>
      </p:sp>
      <p:sp>
        <p:nvSpPr>
          <p:cNvPr id="1109" name="Shape 13"/>
          <p:cNvSpPr/>
          <p:nvPr/>
        </p:nvSpPr>
        <p:spPr>
          <a:xfrm>
            <a:off x="822960" y="476388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10" name="Image 3" descr="preencoded.png"/>
          <p:cNvPicPr/>
          <p:nvPr/>
        </p:nvPicPr>
        <p:blipFill>
          <a:blip r:embed="rId4"/>
          <a:stretch/>
        </p:blipFill>
        <p:spPr>
          <a:xfrm>
            <a:off x="887040" y="4827960"/>
            <a:ext cx="282600" cy="282600"/>
          </a:xfrm>
          <a:prstGeom prst="rect">
            <a:avLst/>
          </a:prstGeom>
          <a:noFill/>
          <a:ln w="0">
            <a:noFill/>
          </a:ln>
        </p:spPr>
      </p:pic>
      <p:sp>
        <p:nvSpPr>
          <p:cNvPr id="1111" name="Shape 14"/>
          <p:cNvSpPr/>
          <p:nvPr/>
        </p:nvSpPr>
        <p:spPr>
          <a:xfrm>
            <a:off x="1371600" y="478224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12" name="Text 15"/>
          <p:cNvSpPr/>
          <p:nvPr/>
        </p:nvSpPr>
        <p:spPr>
          <a:xfrm>
            <a:off x="1371600" y="478224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3</a:t>
            </a:r>
            <a:endParaRPr lang="en-US" sz="1300" b="0" u="none" strike="noStrike">
              <a:solidFill>
                <a:srgbClr val="000000"/>
              </a:solidFill>
              <a:effectLst/>
              <a:uFillTx/>
              <a:latin typeface="Arial"/>
            </a:endParaRPr>
          </a:p>
        </p:txBody>
      </p:sp>
      <p:sp>
        <p:nvSpPr>
          <p:cNvPr id="1113" name="Text 16"/>
          <p:cNvSpPr/>
          <p:nvPr/>
        </p:nvSpPr>
        <p:spPr>
          <a:xfrm>
            <a:off x="1920240" y="476388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Find one real published chart (news article or report) that violates a "when NOT to use" rule from today, and explain specifically what’s misleading about it.</a:t>
            </a:r>
            <a:endParaRPr lang="en-US" sz="1200" b="0" u="none" strike="noStrike">
              <a:solidFill>
                <a:srgbClr val="000000"/>
              </a:solidFill>
              <a:effectLst/>
              <a:uFillTx/>
              <a:latin typeface="Arial"/>
            </a:endParaRPr>
          </a:p>
        </p:txBody>
      </p:sp>
      <p:sp>
        <p:nvSpPr>
          <p:cNvPr id="1114"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115"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63</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116"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17" name="Image 0" descr="preencoded.png"/>
          <p:cNvPicPr/>
          <p:nvPr/>
        </p:nvPicPr>
        <p:blipFill>
          <a:blip r:embed="rId1"/>
          <a:stretch/>
        </p:blipFill>
        <p:spPr>
          <a:xfrm>
            <a:off x="548640" y="548640"/>
            <a:ext cx="447480" cy="447480"/>
          </a:xfrm>
          <a:prstGeom prst="rect">
            <a:avLst/>
          </a:prstGeom>
          <a:noFill/>
          <a:ln w="0">
            <a:noFill/>
          </a:ln>
        </p:spPr>
      </p:pic>
      <p:sp>
        <p:nvSpPr>
          <p:cNvPr id="1118"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Today's Tasks — Part E: Central Tendency</a:t>
            </a:r>
            <a:endParaRPr lang="en-US" sz="2400" b="0" u="none" strike="noStrike">
              <a:solidFill>
                <a:srgbClr val="000000"/>
              </a:solidFill>
              <a:effectLst/>
              <a:uFillTx/>
              <a:latin typeface="Arial"/>
            </a:endParaRPr>
          </a:p>
        </p:txBody>
      </p:sp>
      <p:sp>
        <p:nvSpPr>
          <p:cNvPr id="1119"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120" name="Shape 3"/>
          <p:cNvSpPr/>
          <p:nvPr/>
        </p:nvSpPr>
        <p:spPr>
          <a:xfrm>
            <a:off x="457200" y="1600200"/>
            <a:ext cx="11273760" cy="4479840"/>
          </a:xfrm>
          <a:prstGeom prst="roundRect">
            <a:avLst>
              <a:gd name="adj" fmla="val 3673"/>
            </a:avLst>
          </a:prstGeom>
          <a:solidFill>
            <a:srgbClr val="FFF6DC"/>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1" name="Text 4"/>
          <p:cNvSpPr/>
          <p:nvPr/>
        </p:nvSpPr>
        <p:spPr>
          <a:xfrm>
            <a:off x="822960" y="1828800"/>
            <a:ext cx="105148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2D2A4A"/>
                </a:solidFill>
                <a:effectLst/>
                <a:uFillTx/>
                <a:latin typeface="Century Gothic"/>
                <a:ea typeface="Century Gothic"/>
              </a:rPr>
              <a:t>Small tasks — do them in order</a:t>
            </a:r>
            <a:endParaRPr lang="en-US" sz="1600" b="0" u="none" strike="noStrike">
              <a:solidFill>
                <a:srgbClr val="000000"/>
              </a:solidFill>
              <a:effectLst/>
              <a:uFillTx/>
              <a:latin typeface="Arial"/>
            </a:endParaRPr>
          </a:p>
        </p:txBody>
      </p:sp>
      <p:sp>
        <p:nvSpPr>
          <p:cNvPr id="1122" name="Shape 5"/>
          <p:cNvSpPr/>
          <p:nvPr/>
        </p:nvSpPr>
        <p:spPr>
          <a:xfrm>
            <a:off x="822960" y="242316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23" name="Image 1" descr="preencoded.png"/>
          <p:cNvPicPr/>
          <p:nvPr/>
        </p:nvPicPr>
        <p:blipFill>
          <a:blip r:embed="rId2"/>
          <a:stretch/>
        </p:blipFill>
        <p:spPr>
          <a:xfrm>
            <a:off x="887040" y="2487240"/>
            <a:ext cx="282600" cy="282600"/>
          </a:xfrm>
          <a:prstGeom prst="rect">
            <a:avLst/>
          </a:prstGeom>
          <a:noFill/>
          <a:ln w="0">
            <a:noFill/>
          </a:ln>
        </p:spPr>
      </p:pic>
      <p:sp>
        <p:nvSpPr>
          <p:cNvPr id="1124" name="Shape 6"/>
          <p:cNvSpPr/>
          <p:nvPr/>
        </p:nvSpPr>
        <p:spPr>
          <a:xfrm>
            <a:off x="1371600" y="244152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25" name="Text 7"/>
          <p:cNvSpPr/>
          <p:nvPr/>
        </p:nvSpPr>
        <p:spPr>
          <a:xfrm>
            <a:off x="1371600" y="244152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1</a:t>
            </a:r>
            <a:endParaRPr lang="en-US" sz="1300" b="0" u="none" strike="noStrike">
              <a:solidFill>
                <a:srgbClr val="000000"/>
              </a:solidFill>
              <a:effectLst/>
              <a:uFillTx/>
              <a:latin typeface="Arial"/>
            </a:endParaRPr>
          </a:p>
        </p:txBody>
      </p:sp>
      <p:sp>
        <p:nvSpPr>
          <p:cNvPr id="1126" name="Text 8"/>
          <p:cNvSpPr/>
          <p:nvPr/>
        </p:nvSpPr>
        <p:spPr>
          <a:xfrm>
            <a:off x="1920240" y="242316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Calculate the mean, median, and mode of a real numerical column from a dataset of your choice, by hand or with simple code.</a:t>
            </a:r>
            <a:endParaRPr lang="en-US" sz="1200" b="0" u="none" strike="noStrike">
              <a:solidFill>
                <a:srgbClr val="000000"/>
              </a:solidFill>
              <a:effectLst/>
              <a:uFillTx/>
              <a:latin typeface="Arial"/>
            </a:endParaRPr>
          </a:p>
        </p:txBody>
      </p:sp>
      <p:sp>
        <p:nvSpPr>
          <p:cNvPr id="1127" name="Shape 9"/>
          <p:cNvSpPr/>
          <p:nvPr/>
        </p:nvSpPr>
        <p:spPr>
          <a:xfrm>
            <a:off x="822960" y="359352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28" name="Image 2" descr="preencoded.png"/>
          <p:cNvPicPr/>
          <p:nvPr/>
        </p:nvPicPr>
        <p:blipFill>
          <a:blip r:embed="rId3"/>
          <a:stretch/>
        </p:blipFill>
        <p:spPr>
          <a:xfrm>
            <a:off x="887040" y="3657600"/>
            <a:ext cx="282600" cy="282600"/>
          </a:xfrm>
          <a:prstGeom prst="rect">
            <a:avLst/>
          </a:prstGeom>
          <a:noFill/>
          <a:ln w="0">
            <a:noFill/>
          </a:ln>
        </p:spPr>
      </p:pic>
      <p:sp>
        <p:nvSpPr>
          <p:cNvPr id="1129" name="Shape 10"/>
          <p:cNvSpPr/>
          <p:nvPr/>
        </p:nvSpPr>
        <p:spPr>
          <a:xfrm>
            <a:off x="1371600" y="361188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0" name="Text 11"/>
          <p:cNvSpPr/>
          <p:nvPr/>
        </p:nvSpPr>
        <p:spPr>
          <a:xfrm>
            <a:off x="1371600" y="361188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2</a:t>
            </a:r>
            <a:endParaRPr lang="en-US" sz="1300" b="0" u="none" strike="noStrike">
              <a:solidFill>
                <a:srgbClr val="000000"/>
              </a:solidFill>
              <a:effectLst/>
              <a:uFillTx/>
              <a:latin typeface="Arial"/>
            </a:endParaRPr>
          </a:p>
        </p:txBody>
      </p:sp>
      <p:sp>
        <p:nvSpPr>
          <p:cNvPr id="1131" name="Text 12"/>
          <p:cNvSpPr/>
          <p:nvPr/>
        </p:nvSpPr>
        <p:spPr>
          <a:xfrm>
            <a:off x="1920240" y="359352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Identify whether that column is skewed by extreme values, and explain which measure most honestly represents it.</a:t>
            </a:r>
            <a:endParaRPr lang="en-US" sz="1200" b="0" u="none" strike="noStrike">
              <a:solidFill>
                <a:srgbClr val="000000"/>
              </a:solidFill>
              <a:effectLst/>
              <a:uFillTx/>
              <a:latin typeface="Arial"/>
            </a:endParaRPr>
          </a:p>
        </p:txBody>
      </p:sp>
      <p:sp>
        <p:nvSpPr>
          <p:cNvPr id="1132" name="Shape 13"/>
          <p:cNvSpPr/>
          <p:nvPr/>
        </p:nvSpPr>
        <p:spPr>
          <a:xfrm>
            <a:off x="822960" y="4763880"/>
            <a:ext cx="401760" cy="401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33" name="Image 3" descr="preencoded.png"/>
          <p:cNvPicPr/>
          <p:nvPr/>
        </p:nvPicPr>
        <p:blipFill>
          <a:blip r:embed="rId4"/>
          <a:stretch/>
        </p:blipFill>
        <p:spPr>
          <a:xfrm>
            <a:off x="887040" y="4827960"/>
            <a:ext cx="282600" cy="282600"/>
          </a:xfrm>
          <a:prstGeom prst="rect">
            <a:avLst/>
          </a:prstGeom>
          <a:noFill/>
          <a:ln w="0">
            <a:noFill/>
          </a:ln>
        </p:spPr>
      </p:pic>
      <p:sp>
        <p:nvSpPr>
          <p:cNvPr id="1134" name="Shape 14"/>
          <p:cNvSpPr/>
          <p:nvPr/>
        </p:nvSpPr>
        <p:spPr>
          <a:xfrm>
            <a:off x="1371600" y="4782240"/>
            <a:ext cx="401760" cy="365040"/>
          </a:xfrm>
          <a:prstGeom prst="roundRect">
            <a:avLst>
              <a:gd name="adj" fmla="val 20000"/>
            </a:avLst>
          </a:prstGeom>
          <a:solidFill>
            <a:srgbClr val="FFFFFF"/>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35" name="Text 15"/>
          <p:cNvSpPr/>
          <p:nvPr/>
        </p:nvSpPr>
        <p:spPr>
          <a:xfrm>
            <a:off x="1371600" y="4782240"/>
            <a:ext cx="401760" cy="365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6B5FD1"/>
                </a:solidFill>
                <a:effectLst/>
                <a:uFillTx/>
                <a:latin typeface="Calibri"/>
                <a:ea typeface="Calibri"/>
              </a:rPr>
              <a:t>3</a:t>
            </a:r>
            <a:endParaRPr lang="en-US" sz="1300" b="0" u="none" strike="noStrike">
              <a:solidFill>
                <a:srgbClr val="000000"/>
              </a:solidFill>
              <a:effectLst/>
              <a:uFillTx/>
              <a:latin typeface="Arial"/>
            </a:endParaRPr>
          </a:p>
        </p:txBody>
      </p:sp>
      <p:sp>
        <p:nvSpPr>
          <p:cNvPr id="1136" name="Text 16"/>
          <p:cNvSpPr/>
          <p:nvPr/>
        </p:nvSpPr>
        <p:spPr>
          <a:xfrm>
            <a:off x="1920240" y="4763880"/>
            <a:ext cx="9509040" cy="1005120"/>
          </a:xfrm>
          <a:prstGeom prst="rect">
            <a:avLst/>
          </a:prstGeom>
          <a:noFill/>
          <a:ln w="0">
            <a:noFill/>
          </a:ln>
        </p:spPr>
        <p:style>
          <a:lnRef idx="0"/>
          <a:fillRef idx="0"/>
          <a:effectRef idx="0"/>
          <a:fontRef idx="minor"/>
        </p:style>
        <p:txBody>
          <a:bodyPr lIns="0" tIns="0" rIns="0" bIns="0" anchor="t">
            <a:noAutofit/>
          </a:bodyPr>
          <a:p>
            <a:pPr defTabSz="914400">
              <a:lnSpc>
                <a:spcPct val="110000"/>
              </a:lnSpc>
              <a:tabLst>
                <a:tab pos="0" algn="l"/>
              </a:tabLst>
            </a:pPr>
            <a:r>
              <a:rPr lang="en-US" sz="1200" b="0" u="none" strike="noStrike">
                <a:solidFill>
                  <a:srgbClr val="2D2A4A"/>
                </a:solidFill>
                <a:effectLst/>
                <a:uFillTx/>
                <a:latin typeface="Calibri"/>
                <a:ea typeface="Calibri"/>
              </a:rPr>
              <a:t>Write a two-sentence summary of that column’s "typical value," suitable for someone who has never seen the raw data.</a:t>
            </a:r>
            <a:endParaRPr lang="en-US" sz="1200" b="0" u="none" strike="noStrike">
              <a:solidFill>
                <a:srgbClr val="000000"/>
              </a:solidFill>
              <a:effectLst/>
              <a:uFillTx/>
              <a:latin typeface="Arial"/>
            </a:endParaRPr>
          </a:p>
        </p:txBody>
      </p:sp>
      <p:sp>
        <p:nvSpPr>
          <p:cNvPr id="1137" name="Text 1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138" name="Text 1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64</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139"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1140"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1141"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1142"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1143"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44"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45" name="Image 0" descr="preencoded.png"/>
          <p:cNvPicPr/>
          <p:nvPr/>
        </p:nvPicPr>
        <p:blipFill>
          <a:blip r:embed="rId1"/>
          <a:stretch/>
        </p:blipFill>
        <p:spPr>
          <a:xfrm>
            <a:off x="5870520" y="1348920"/>
            <a:ext cx="456480" cy="456480"/>
          </a:xfrm>
          <a:prstGeom prst="rect">
            <a:avLst/>
          </a:prstGeom>
          <a:noFill/>
          <a:ln w="0">
            <a:noFill/>
          </a:ln>
        </p:spPr>
      </p:pic>
      <p:sp>
        <p:nvSpPr>
          <p:cNvPr id="1146"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MINI PROJECT</a:t>
            </a:r>
            <a:endParaRPr lang="en-US" sz="1200" b="0" u="none" strike="noStrike">
              <a:solidFill>
                <a:srgbClr val="000000"/>
              </a:solidFill>
              <a:effectLst/>
              <a:uFillTx/>
              <a:latin typeface="Arial"/>
            </a:endParaRPr>
          </a:p>
        </p:txBody>
      </p:sp>
      <p:sp>
        <p:nvSpPr>
          <p:cNvPr id="1147"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Put It All Together</a:t>
            </a:r>
            <a:endParaRPr lang="en-US" sz="2900" b="0" u="none" strike="noStrike">
              <a:solidFill>
                <a:srgbClr val="000000"/>
              </a:solidFill>
              <a:effectLst/>
              <a:uFillTx/>
              <a:latin typeface="Arial"/>
            </a:endParaRPr>
          </a:p>
        </p:txBody>
      </p:sp>
      <p:sp>
        <p:nvSpPr>
          <p:cNvPr id="1148"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Profile a real dataset from the ground up, using every skill from this session</a:t>
            </a:r>
            <a:endParaRPr lang="en-US" sz="1500" b="0" u="none" strike="noStrike">
              <a:solidFill>
                <a:srgbClr val="000000"/>
              </a:solidFill>
              <a:effectLst/>
              <a:uFillTx/>
              <a:latin typeface="Arial"/>
            </a:endParaRPr>
          </a:p>
        </p:txBody>
      </p:sp>
      <p:sp>
        <p:nvSpPr>
          <p:cNvPr id="1149"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65</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150" name="Shape 0"/>
          <p:cNvSpPr/>
          <p:nvPr/>
        </p:nvSpPr>
        <p:spPr>
          <a:xfrm>
            <a:off x="457200" y="457200"/>
            <a:ext cx="639360" cy="6393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51" name="Image 0" descr="preencoded.png"/>
          <p:cNvPicPr/>
          <p:nvPr/>
        </p:nvPicPr>
        <p:blipFill>
          <a:blip r:embed="rId1"/>
          <a:stretch/>
        </p:blipFill>
        <p:spPr>
          <a:xfrm>
            <a:off x="548640" y="548640"/>
            <a:ext cx="447480" cy="447480"/>
          </a:xfrm>
          <a:prstGeom prst="rect">
            <a:avLst/>
          </a:prstGeom>
          <a:noFill/>
          <a:ln w="0">
            <a:noFill/>
          </a:ln>
        </p:spPr>
      </p:pic>
      <p:sp>
        <p:nvSpPr>
          <p:cNvPr id="1152" name="Text 1"/>
          <p:cNvSpPr/>
          <p:nvPr/>
        </p:nvSpPr>
        <p:spPr>
          <a:xfrm>
            <a:off x="1280160" y="457200"/>
            <a:ext cx="1042344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2D2A4A"/>
                </a:solidFill>
                <a:effectLst/>
                <a:uFillTx/>
                <a:latin typeface="Century Gothic"/>
                <a:ea typeface="Century Gothic"/>
              </a:rPr>
              <a:t>Mini Project: Profile a Real Dataset</a:t>
            </a:r>
            <a:endParaRPr lang="en-US" sz="2400" b="0" u="none" strike="noStrike">
              <a:solidFill>
                <a:srgbClr val="000000"/>
              </a:solidFill>
              <a:effectLst/>
              <a:uFillTx/>
              <a:latin typeface="Arial"/>
            </a:endParaRPr>
          </a:p>
        </p:txBody>
      </p:sp>
      <p:sp>
        <p:nvSpPr>
          <p:cNvPr id="1153" name="Shape 2"/>
          <p:cNvSpPr/>
          <p:nvPr/>
        </p:nvSpPr>
        <p:spPr>
          <a:xfrm>
            <a:off x="457200" y="1206720"/>
            <a:ext cx="11274480" cy="360"/>
          </a:xfrm>
          <a:prstGeom prst="line">
            <a:avLst/>
          </a:prstGeom>
          <a:ln w="19050">
            <a:solidFill>
              <a:srgbClr val="D8D2F5"/>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1154" name="Shape 3"/>
          <p:cNvSpPr/>
          <p:nvPr/>
        </p:nvSpPr>
        <p:spPr>
          <a:xfrm>
            <a:off x="457200" y="1554480"/>
            <a:ext cx="3656880" cy="4662720"/>
          </a:xfrm>
          <a:prstGeom prst="roundRect">
            <a:avLst>
              <a:gd name="adj" fmla="val 4500"/>
            </a:avLst>
          </a:prstGeom>
          <a:solidFill>
            <a:srgbClr val="EDE9FE"/>
          </a:solidFill>
          <a:ln w="12700">
            <a:solidFill>
              <a:srgbClr val="D8D2F5"/>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5" name="Shape 4"/>
          <p:cNvSpPr/>
          <p:nvPr/>
        </p:nvSpPr>
        <p:spPr>
          <a:xfrm>
            <a:off x="1508760" y="2194560"/>
            <a:ext cx="1553760" cy="1553760"/>
          </a:xfrm>
          <a:prstGeom prst="ellipse">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56" name="Image 1" descr="preencoded.png"/>
          <p:cNvPicPr/>
          <p:nvPr/>
        </p:nvPicPr>
        <p:blipFill>
          <a:blip r:embed="rId2"/>
          <a:stretch/>
        </p:blipFill>
        <p:spPr>
          <a:xfrm>
            <a:off x="1746360" y="2423160"/>
            <a:ext cx="1087560" cy="1087560"/>
          </a:xfrm>
          <a:prstGeom prst="rect">
            <a:avLst/>
          </a:prstGeom>
          <a:noFill/>
          <a:ln w="0">
            <a:noFill/>
          </a:ln>
        </p:spPr>
      </p:pic>
      <p:sp>
        <p:nvSpPr>
          <p:cNvPr id="1157" name="Text 5"/>
          <p:cNvSpPr/>
          <p:nvPr/>
        </p:nvSpPr>
        <p:spPr>
          <a:xfrm>
            <a:off x="640080" y="3977640"/>
            <a:ext cx="3291120" cy="1736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2D2A4A"/>
                </a:solidFill>
                <a:effectLst/>
                <a:uFillTx/>
                <a:latin typeface="Century Gothic"/>
                <a:ea typeface="Century Gothic"/>
              </a:rPr>
              <a:t>Every skill</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from today,</a:t>
            </a:r>
            <a:endParaRPr lang="en-US"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2D2A4A"/>
                </a:solidFill>
                <a:effectLst/>
                <a:uFillTx/>
                <a:latin typeface="Century Gothic"/>
                <a:ea typeface="Century Gothic"/>
              </a:rPr>
              <a:t>combined</a:t>
            </a:r>
            <a:endParaRPr lang="en-US" sz="1600" b="0" u="none" strike="noStrike">
              <a:solidFill>
                <a:srgbClr val="000000"/>
              </a:solidFill>
              <a:effectLst/>
              <a:uFillTx/>
              <a:latin typeface="Arial"/>
            </a:endParaRPr>
          </a:p>
        </p:txBody>
      </p:sp>
      <p:sp>
        <p:nvSpPr>
          <p:cNvPr id="1158" name="Text 6"/>
          <p:cNvSpPr/>
          <p:nvPr/>
        </p:nvSpPr>
        <p:spPr>
          <a:xfrm>
            <a:off x="4572000" y="1737360"/>
            <a:ext cx="7131600" cy="4114080"/>
          </a:xfrm>
          <a:prstGeom prst="rect">
            <a:avLst/>
          </a:prstGeom>
          <a:noFill/>
          <a:ln w="0">
            <a:noFill/>
          </a:ln>
        </p:spPr>
        <p:style>
          <a:lnRef idx="0"/>
          <a:fillRef idx="0"/>
          <a:effectRef idx="0"/>
          <a:fontRef idx="minor"/>
        </p:style>
        <p:txBody>
          <a:bodyPr lIns="0" tIns="0" rIns="0" bIns="0" anchor="t">
            <a:noAutofit/>
          </a:bodyPr>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Choose any small, real dataset (or a provided one), and classify every column by data type and measurement scale</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State whether the data is primary or secondary, and identify a plausible source of both random error and systematic bias in how it might have been collected</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For three different columns, choose and justify an appropriate chart — one categorical, one numerical distribution, and one relationship between two variables</a:t>
            </a:r>
            <a:endParaRPr lang="en-US" sz="1600" b="0" u="none" strike="noStrike">
              <a:solidFill>
                <a:srgbClr val="000000"/>
              </a:solidFill>
              <a:effectLst/>
              <a:uFillTx/>
              <a:latin typeface="Arial"/>
            </a:endParaRPr>
          </a:p>
          <a:p>
            <a:pPr marL="228600" indent="-228600" defTabSz="914400">
              <a:lnSpc>
                <a:spcPct val="120000"/>
              </a:lnSpc>
              <a:spcAft>
                <a:spcPts val="1400"/>
              </a:spcAft>
              <a:buClr>
                <a:srgbClr val="2D2A4A"/>
              </a:buClr>
              <a:buFont typeface="Symbol" charset="2"/>
              <a:buChar char=""/>
            </a:pPr>
            <a:r>
              <a:rPr lang="en-US" sz="1600" b="0" u="none" strike="noStrike">
                <a:solidFill>
                  <a:srgbClr val="2D2A4A"/>
                </a:solidFill>
                <a:effectLst/>
                <a:uFillTx/>
                <a:latin typeface="Calibri"/>
                <a:ea typeface="Calibri"/>
              </a:rPr>
              <a:t>Calculate mean, median, and mode for the key numerical column, and write a short, honest summary of what "typical" looks like in this dataset</a:t>
            </a:r>
            <a:endParaRPr lang="en-US" sz="1600" b="0" u="none" strike="noStrike">
              <a:solidFill>
                <a:srgbClr val="000000"/>
              </a:solidFill>
              <a:effectLst/>
              <a:uFillTx/>
              <a:latin typeface="Arial"/>
            </a:endParaRPr>
          </a:p>
        </p:txBody>
      </p:sp>
      <p:sp>
        <p:nvSpPr>
          <p:cNvPr id="1159" name="Text 7"/>
          <p:cNvSpPr/>
          <p:nvPr/>
        </p:nvSpPr>
        <p:spPr>
          <a:xfrm>
            <a:off x="457200" y="6446520"/>
            <a:ext cx="868608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685F8F"/>
                </a:solidFill>
                <a:effectLst/>
                <a:uFillTx/>
                <a:latin typeface="Calibri"/>
                <a:ea typeface="Calibri"/>
              </a:rPr>
              <a:t>CodeByPaxto: The AI &amp; ML Playground  ·  Hafiz Waseem Ahmed (Paxto)</a:t>
            </a:r>
            <a:endParaRPr lang="en-US" sz="950" b="0" u="none" strike="noStrike">
              <a:solidFill>
                <a:srgbClr val="000000"/>
              </a:solidFill>
              <a:effectLst/>
              <a:uFillTx/>
              <a:latin typeface="Arial"/>
            </a:endParaRPr>
          </a:p>
        </p:txBody>
      </p:sp>
      <p:sp>
        <p:nvSpPr>
          <p:cNvPr id="1160" name="Text 8"/>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66</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8FF"/>
        </a:solidFill>
      </p:bgPr>
    </p:bg>
    <p:spTree>
      <p:nvGrpSpPr>
        <p:cNvPr id="1" name=""/>
        <p:cNvGrpSpPr/>
        <p:nvPr/>
      </p:nvGrpSpPr>
      <p:grpSpPr>
        <a:xfrm>
          <a:off x="0" y="0"/>
          <a:ext cx="0" cy="0"/>
          <a:chOff x="0" y="0"/>
          <a:chExt cx="0" cy="0"/>
        </a:xfrm>
      </p:grpSpPr>
      <p:sp>
        <p:nvSpPr>
          <p:cNvPr id="1161" name="Text 0"/>
          <p:cNvSpPr/>
          <p:nvPr/>
        </p:nvSpPr>
        <p:spPr>
          <a:xfrm>
            <a:off x="457200" y="45720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5FD6B0"/>
                </a:solidFill>
                <a:effectLst/>
                <a:uFillTx/>
                <a:latin typeface="Calibri"/>
              </a:rPr>
              <a:t>✦</a:t>
            </a:r>
            <a:endParaRPr lang="en-US" sz="1200" b="0" u="none" strike="noStrike">
              <a:solidFill>
                <a:srgbClr val="000000"/>
              </a:solidFill>
              <a:effectLst/>
              <a:uFillTx/>
              <a:latin typeface="Arial"/>
            </a:endParaRPr>
          </a:p>
        </p:txBody>
      </p:sp>
      <p:sp>
        <p:nvSpPr>
          <p:cNvPr id="1162" name="Text 1"/>
          <p:cNvSpPr/>
          <p:nvPr/>
        </p:nvSpPr>
        <p:spPr>
          <a:xfrm>
            <a:off x="11247120" y="548640"/>
            <a:ext cx="200520" cy="200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80" b="0" u="none" strike="noStrike">
                <a:solidFill>
                  <a:srgbClr val="FFC94A"/>
                </a:solidFill>
                <a:effectLst/>
                <a:uFillTx/>
                <a:latin typeface="Calibri"/>
              </a:rPr>
              <a:t>✦</a:t>
            </a:r>
            <a:endParaRPr lang="en-US" sz="880" b="0" u="none" strike="noStrike">
              <a:solidFill>
                <a:srgbClr val="000000"/>
              </a:solidFill>
              <a:effectLst/>
              <a:uFillTx/>
              <a:latin typeface="Arial"/>
            </a:endParaRPr>
          </a:p>
        </p:txBody>
      </p:sp>
      <p:sp>
        <p:nvSpPr>
          <p:cNvPr id="1163" name="Text 2"/>
          <p:cNvSpPr/>
          <p:nvPr/>
        </p:nvSpPr>
        <p:spPr>
          <a:xfrm>
            <a:off x="640080" y="6126480"/>
            <a:ext cx="227880" cy="227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0" u="none" strike="noStrike">
                <a:solidFill>
                  <a:srgbClr val="FF8FB3"/>
                </a:solidFill>
                <a:effectLst/>
                <a:uFillTx/>
                <a:latin typeface="Calibri"/>
              </a:rPr>
              <a:t>✦</a:t>
            </a:r>
            <a:endParaRPr lang="en-US" sz="1000" b="0" u="none" strike="noStrike">
              <a:solidFill>
                <a:srgbClr val="000000"/>
              </a:solidFill>
              <a:effectLst/>
              <a:uFillTx/>
              <a:latin typeface="Arial"/>
            </a:endParaRPr>
          </a:p>
        </p:txBody>
      </p:sp>
      <p:sp>
        <p:nvSpPr>
          <p:cNvPr id="1164" name="Text 3"/>
          <p:cNvSpPr/>
          <p:nvPr/>
        </p:nvSpPr>
        <p:spPr>
          <a:xfrm>
            <a:off x="11338560" y="6035040"/>
            <a:ext cx="27360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8B7FE8"/>
                </a:solidFill>
                <a:effectLst/>
                <a:uFillTx/>
                <a:latin typeface="Calibri"/>
              </a:rPr>
              <a:t>✦</a:t>
            </a:r>
            <a:endParaRPr lang="en-US" sz="1200" b="0" u="none" strike="noStrike">
              <a:solidFill>
                <a:srgbClr val="000000"/>
              </a:solidFill>
              <a:effectLst/>
              <a:uFillTx/>
              <a:latin typeface="Arial"/>
            </a:endParaRPr>
          </a:p>
        </p:txBody>
      </p:sp>
      <p:sp>
        <p:nvSpPr>
          <p:cNvPr id="1165" name="Shape 4"/>
          <p:cNvSpPr/>
          <p:nvPr/>
        </p:nvSpPr>
        <p:spPr>
          <a:xfrm rot="21510000">
            <a:off x="1874520" y="1325880"/>
            <a:ext cx="8804880" cy="776520"/>
          </a:xfrm>
          <a:prstGeom prst="roundRect">
            <a:avLst>
              <a:gd name="adj" fmla="val 17647"/>
            </a:avLst>
          </a:prstGeom>
          <a:solidFill>
            <a:srgbClr val="FFC94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6" name="Shape 5"/>
          <p:cNvSpPr/>
          <p:nvPr/>
        </p:nvSpPr>
        <p:spPr>
          <a:xfrm>
            <a:off x="1691640" y="1188720"/>
            <a:ext cx="8804880" cy="776520"/>
          </a:xfrm>
          <a:prstGeom prst="roundRect">
            <a:avLst>
              <a:gd name="adj" fmla="val 17647"/>
            </a:avLst>
          </a:prstGeom>
          <a:solidFill>
            <a:srgbClr val="8B7FE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167" name="Image 0" descr="preencoded.png"/>
          <p:cNvPicPr/>
          <p:nvPr/>
        </p:nvPicPr>
        <p:blipFill>
          <a:blip r:embed="rId1"/>
          <a:stretch/>
        </p:blipFill>
        <p:spPr>
          <a:xfrm>
            <a:off x="5870520" y="1348920"/>
            <a:ext cx="456480" cy="456480"/>
          </a:xfrm>
          <a:prstGeom prst="rect">
            <a:avLst/>
          </a:prstGeom>
          <a:noFill/>
          <a:ln w="0">
            <a:noFill/>
          </a:ln>
        </p:spPr>
      </p:pic>
      <p:sp>
        <p:nvSpPr>
          <p:cNvPr id="1168" name="Text 6"/>
          <p:cNvSpPr/>
          <p:nvPr/>
        </p:nvSpPr>
        <p:spPr>
          <a:xfrm>
            <a:off x="1691640" y="1188720"/>
            <a:ext cx="8804880" cy="776520"/>
          </a:xfrm>
          <a:prstGeom prst="rect">
            <a:avLst/>
          </a:prstGeom>
          <a:noFill/>
          <a:ln w="0">
            <a:noFill/>
          </a:ln>
        </p:spPr>
        <p:style>
          <a:lnRef idx="0"/>
          <a:fillRef idx="0"/>
          <a:effectRef idx="0"/>
          <a:fontRef idx="minor"/>
        </p:style>
        <p:txBody>
          <a:bodyPr lIns="0" tIns="0" rIns="0" bIns="0" anchor="b">
            <a:noAutofit/>
          </a:bodyPr>
          <a:p>
            <a:pPr algn="ctr" defTabSz="914400">
              <a:lnSpc>
                <a:spcPct val="100000"/>
              </a:lnSpc>
              <a:tabLst>
                <a:tab pos="0" algn="l"/>
              </a:tabLst>
            </a:pPr>
            <a:r>
              <a:rPr lang="en-US" sz="1200" b="1" u="none" spc="201" strike="noStrike">
                <a:solidFill>
                  <a:srgbClr val="FFF6DC"/>
                </a:solidFill>
                <a:effectLst/>
                <a:uFillTx/>
                <a:latin typeface="Calibri"/>
                <a:ea typeface="Calibri"/>
              </a:rPr>
              <a:t>RECAP</a:t>
            </a:r>
            <a:endParaRPr lang="en-US" sz="1200" b="0" u="none" strike="noStrike">
              <a:solidFill>
                <a:srgbClr val="000000"/>
              </a:solidFill>
              <a:effectLst/>
              <a:uFillTx/>
              <a:latin typeface="Arial"/>
            </a:endParaRPr>
          </a:p>
        </p:txBody>
      </p:sp>
      <p:sp>
        <p:nvSpPr>
          <p:cNvPr id="1169" name="Text 7"/>
          <p:cNvSpPr/>
          <p:nvPr/>
        </p:nvSpPr>
        <p:spPr>
          <a:xfrm>
            <a:off x="1097280" y="2331720"/>
            <a:ext cx="9993600" cy="191952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2900" b="1" u="none" strike="noStrike">
                <a:solidFill>
                  <a:srgbClr val="2D2A4A"/>
                </a:solidFill>
                <a:effectLst/>
                <a:uFillTx/>
                <a:latin typeface="Century Gothic"/>
                <a:ea typeface="Century Gothic"/>
              </a:rPr>
              <a:t>Before any statistic means anything, you need to know your data’s type, where it could have gone wrong, and the right picture to show it with.</a:t>
            </a:r>
            <a:endParaRPr lang="en-US" sz="2900" b="0" u="none" strike="noStrike">
              <a:solidFill>
                <a:srgbClr val="000000"/>
              </a:solidFill>
              <a:effectLst/>
              <a:uFillTx/>
              <a:latin typeface="Arial"/>
            </a:endParaRPr>
          </a:p>
        </p:txBody>
      </p:sp>
      <p:sp>
        <p:nvSpPr>
          <p:cNvPr id="1170" name="Text 8"/>
          <p:cNvSpPr/>
          <p:nvPr/>
        </p:nvSpPr>
        <p:spPr>
          <a:xfrm>
            <a:off x="1737360" y="4434840"/>
            <a:ext cx="8713440" cy="109656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500" b="0" u="none" strike="noStrike">
                <a:solidFill>
                  <a:srgbClr val="685F8F"/>
                </a:solidFill>
                <a:effectLst/>
                <a:uFillTx/>
                <a:latin typeface="Calibri"/>
                <a:ea typeface="Calibri"/>
              </a:rPr>
              <a:t>Next session: Descriptive Statistics II — measures of spread, distribution shape, and correlation</a:t>
            </a:r>
            <a:endParaRPr lang="en-US" sz="1500" b="0" u="none" strike="noStrike">
              <a:solidFill>
                <a:srgbClr val="000000"/>
              </a:solidFill>
              <a:effectLst/>
              <a:uFillTx/>
              <a:latin typeface="Arial"/>
            </a:endParaRPr>
          </a:p>
        </p:txBody>
      </p:sp>
      <p:sp>
        <p:nvSpPr>
          <p:cNvPr id="1171" name="Text 9"/>
          <p:cNvSpPr/>
          <p:nvPr/>
        </p:nvSpPr>
        <p:spPr>
          <a:xfrm>
            <a:off x="11521440" y="6446520"/>
            <a:ext cx="456480" cy="2736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000" b="0" u="none" strike="noStrike">
                <a:solidFill>
                  <a:srgbClr val="685F8F"/>
                </a:solidFill>
                <a:effectLst/>
                <a:uFillTx/>
                <a:latin typeface="Calibri"/>
                <a:ea typeface="Calibri"/>
              </a:rPr>
              <a:t>67</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2026-08-23T07:16:31Z</dcterms:created>
  <dc:creator>PptxGenJS</dc:creator>
  <dc:description/>
  <dc:language>en-US</dc:language>
  <cp:lastModifiedBy/>
  <dcterms:modified xsi:type="dcterms:W3CDTF">2026-09-27T20:23:09Z</dcterms:modified>
  <cp:revision>3</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67</vt:i4>
  </property>
  <property fmtid="{D5CDD505-2E9C-101B-9397-08002B2CF9AE}" pid="3" name="PresentationFormat">
    <vt:lpwstr>On-screen Show (16:9)</vt:lpwstr>
  </property>
  <property fmtid="{D5CDD505-2E9C-101B-9397-08002B2CF9AE}" pid="4" name="Slides">
    <vt:i4>67</vt:i4>
  </property>
</Properties>
</file>