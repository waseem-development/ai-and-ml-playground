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43.xml" ContentType="application/vnd.openxmlformats-officedocument.presentationml.slide+xml"/>
  <Override PartName="/ppt/slides/slide42.xml" ContentType="application/vnd.openxmlformats-officedocument.presentationml.slide+xml"/>
  <Override PartName="/ppt/slides/slide40.xml" ContentType="application/vnd.openxmlformats-officedocument.presentationml.slide+xml"/>
  <Override PartName="/ppt/slides/slide38.xml" ContentType="application/vnd.openxmlformats-officedocument.presentationml.slide+xml"/>
  <Override PartName="/ppt/slides/slide36.xml" ContentType="application/vnd.openxmlformats-officedocument.presentationml.slide+xml"/>
  <Override PartName="/ppt/slides/slide33.xml" ContentType="application/vnd.openxmlformats-officedocument.presentationml.slide+xml"/>
  <Override PartName="/ppt/slides/slide39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52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56.xml" ContentType="application/vnd.openxmlformats-officedocument.presentationml.slide+xml"/>
  <Override PartName="/ppt/slides/slide50.xml" ContentType="application/vnd.openxmlformats-officedocument.presentationml.slide+xml"/>
  <Override PartName="/ppt/slides/slide24.xml" ContentType="application/vnd.openxmlformats-officedocument.presentationml.slide+xml"/>
  <Override PartName="/ppt/slides/slide65.xml" ContentType="application/vnd.openxmlformats-officedocument.presentationml.slide+xml"/>
  <Override PartName="/ppt/slides/slide12.xml" ContentType="application/vnd.openxmlformats-officedocument.presentationml.slide+xml"/>
  <Override PartName="/ppt/slides/slide27.xml" ContentType="application/vnd.openxmlformats-officedocument.presentationml.slide+xml"/>
  <Override PartName="/ppt/slides/slide46.xml" ContentType="application/vnd.openxmlformats-officedocument.presentationml.slide+xml"/>
  <Override PartName="/ppt/slides/slide29.xml" ContentType="application/vnd.openxmlformats-officedocument.presentationml.slide+xml"/>
  <Override PartName="/ppt/slides/slide62.xml" ContentType="application/vnd.openxmlformats-officedocument.presentationml.slide+xml"/>
  <Override PartName="/ppt/slides/slide48.xml" ContentType="application/vnd.openxmlformats-officedocument.presentationml.slide+xml"/>
  <Override PartName="/ppt/slides/slide63.xml" ContentType="application/vnd.openxmlformats-officedocument.presentationml.slide+xml"/>
  <Override PartName="/ppt/slides/slide67.xml" ContentType="application/vnd.openxmlformats-officedocument.presentationml.slide+xml"/>
  <Override PartName="/ppt/slides/slide35.xml" ContentType="application/vnd.openxmlformats-officedocument.presentationml.slide+xml"/>
  <Override PartName="/ppt/slides/slide80.xml" ContentType="application/vnd.openxmlformats-officedocument.presentationml.slide+xml"/>
  <Override PartName="/ppt/slides/slide64.xml" ContentType="application/vnd.openxmlformats-officedocument.presentationml.slide+xml"/>
  <Override PartName="/ppt/slides/slide61.xml" ContentType="application/vnd.openxmlformats-officedocument.presentationml.slide+xml"/>
  <Override PartName="/ppt/slides/slide79.xml" ContentType="application/vnd.openxmlformats-officedocument.presentationml.slide+xml"/>
  <Override PartName="/ppt/slides/slide78.xml" ContentType="application/vnd.openxmlformats-officedocument.presentationml.slide+xml"/>
  <Override PartName="/ppt/slides/slide7.xml" ContentType="application/vnd.openxmlformats-officedocument.presentationml.slide+xml"/>
  <Override PartName="/ppt/slides/slide77.xml" ContentType="application/vnd.openxmlformats-officedocument.presentationml.slide+xml"/>
  <Override PartName="/ppt/slides/slide37.xml" ContentType="application/vnd.openxmlformats-officedocument.presentationml.slide+xml"/>
  <Override PartName="/ppt/slides/slide69.xml" ContentType="application/vnd.openxmlformats-officedocument.presentationml.slide+xml"/>
  <Override PartName="/ppt/slides/slide72.xml" ContentType="application/vnd.openxmlformats-officedocument.presentationml.slide+xml"/>
  <Override PartName="/ppt/slides/slide75.xml" ContentType="application/vnd.openxmlformats-officedocument.presentationml.slide+xml"/>
  <Override PartName="/ppt/slides/slide49.xml" ContentType="application/vnd.openxmlformats-officedocument.presentationml.slide+xml"/>
  <Override PartName="/ppt/slides/slide66.xml" ContentType="application/vnd.openxmlformats-officedocument.presentationml.slide+xml"/>
  <Override PartName="/ppt/slides/slide2.xml" ContentType="application/vnd.openxmlformats-officedocument.presentationml.slide+xml"/>
  <Override PartName="/ppt/slides/slide41.xml" ContentType="application/vnd.openxmlformats-officedocument.presentationml.slide+xml"/>
  <Override PartName="/ppt/slides/slide23.xml" ContentType="application/vnd.openxmlformats-officedocument.presentationml.slide+xml"/>
  <Override PartName="/ppt/slides/slide76.xml" ContentType="application/vnd.openxmlformats-officedocument.presentationml.slide+xml"/>
  <Override PartName="/ppt/slides/slide71.xml" ContentType="application/vnd.openxmlformats-officedocument.presentationml.slide+xml"/>
  <Override PartName="/ppt/slides/slide28.xml" ContentType="application/vnd.openxmlformats-officedocument.presentationml.slide+xml"/>
  <Override PartName="/ppt/slides/slide70.xml" ContentType="application/vnd.openxmlformats-officedocument.presentationml.slide+xml"/>
  <Override PartName="/ppt/slides/slide60.xml" ContentType="application/vnd.openxmlformats-officedocument.presentationml.slide+xml"/>
  <Override PartName="/ppt/slides/slide21.xml" ContentType="application/vnd.openxmlformats-officedocument.presentationml.slide+xml"/>
  <Override PartName="/ppt/slides/slide68.xml" ContentType="application/vnd.openxmlformats-officedocument.presentationml.slide+xml"/>
  <Override PartName="/ppt/slides/slide14.xml" ContentType="application/vnd.openxmlformats-officedocument.presentationml.slide+xml"/>
  <Override PartName="/ppt/slides/slide73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58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10.xml" ContentType="application/vnd.openxmlformats-officedocument.presentationml.slide+xml"/>
  <Override PartName="/ppt/slides/slide16.xml" ContentType="application/vnd.openxmlformats-officedocument.presentationml.slide+xml"/>
  <Override PartName="/ppt/slides/slide47.xml" ContentType="application/vnd.openxmlformats-officedocument.presentationml.slide+xml"/>
  <Override PartName="/ppt/slides/slide17.xml" ContentType="application/vnd.openxmlformats-officedocument.presentationml.slide+xml"/>
  <Override PartName="/ppt/slides/slide34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57.xml" ContentType="application/vnd.openxmlformats-officedocument.presentationml.slide+xml"/>
  <Override PartName="/ppt/slides/slide20.xml" ContentType="application/vnd.openxmlformats-officedocument.presentationml.slide+xml"/>
  <Override PartName="/ppt/slides/slide83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slides/slide84.xml" ContentType="application/vnd.openxmlformats-officedocument.presentationml.slide+xml"/>
  <Override PartName="/ppt/slides/slide26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74.xml" ContentType="application/vnd.openxmlformats-officedocument.presentationml.slide+xml"/>
  <Override PartName="/ppt/slides/slide22.xml" ContentType="application/vnd.openxmlformats-officedocument.presentationml.slide+xml"/>
  <Override PartName="/ppt/slides/slide59.xml" ContentType="application/vnd.openxmlformats-officedocument.presentationml.slide+xml"/>
  <Override PartName="/ppt/notesSlides/notesSlide46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4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D5C80E5-4150-47EF-8A05-320A982C5EC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_rels/notesSlide53.xml.rels><?xml version="1.0" encoding="UTF-8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
</Relationships>
</file>

<file path=ppt/notesSlides/_rels/notesSlide54.xml.rels><?xml version="1.0" encoding="UTF-8"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
</Relationships>
</file>

<file path=ppt/notesSlides/_rels/notesSlide55.xml.rels><?xml version="1.0" encoding="UTF-8"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
</Relationships>
</file>

<file path=ppt/notesSlides/_rels/notesSlide56.xml.rels><?xml version="1.0" encoding="UTF-8"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
</Relationships>
</file>

<file path=ppt/notesSlides/_rels/notesSlide57.xml.rels><?xml version="1.0" encoding="UTF-8"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
</Relationships>
</file>

<file path=ppt/notesSlides/_rels/notesSlide58.xml.rels><?xml version="1.0" encoding="UTF-8"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
</Relationships>
</file>

<file path=ppt/notesSlides/_rels/notesSlide59.xml.rels><?xml version="1.0" encoding="UTF-8"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
</Relationships>
</file>

<file path=ppt/notesSlides/_rels/notesSlide60.xml.rels><?xml version="1.0" encoding="UTF-8"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
</Relationships>
</file>

<file path=ppt/notesSlides/_rels/notesSlide61.xml.rels><?xml version="1.0" encoding="UTF-8"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
</Relationships>
</file>

<file path=ppt/notesSlides/_rels/notesSlide62.xml.rels><?xml version="1.0" encoding="UTF-8"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
</Relationships>
</file>

<file path=ppt/notesSlides/_rels/notesSlide63.xml.rels><?xml version="1.0" encoding="UTF-8"?>
<Relationships xmlns="http://schemas.openxmlformats.org/package/2006/relationships"><Relationship Id="rId1" Type="http://schemas.openxmlformats.org/officeDocument/2006/relationships/slide" Target="../slides/slide63.xml"/><Relationship Id="rId2" Type="http://schemas.openxmlformats.org/officeDocument/2006/relationships/notesMaster" Target="../notesMasters/notesMaster1.xml"/>
</Relationships>
</file>

<file path=ppt/notesSlides/_rels/notesSlide64.xml.rels><?xml version="1.0" encoding="UTF-8"?>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
</Relationships>
</file>

<file path=ppt/notesSlides/_rels/notesSlide65.xml.rels><?xml version="1.0" encoding="UTF-8"?>
<Relationships xmlns="http://schemas.openxmlformats.org/package/2006/relationships"><Relationship Id="rId1" Type="http://schemas.openxmlformats.org/officeDocument/2006/relationships/slide" Target="../slides/slide65.xml"/><Relationship Id="rId2" Type="http://schemas.openxmlformats.org/officeDocument/2006/relationships/notesMaster" Target="../notesMasters/notesMaster1.xml"/>
</Relationships>
</file>

<file path=ppt/notesSlides/_rels/notesSlide66.xml.rels><?xml version="1.0" encoding="UTF-8"?>
<Relationships xmlns="http://schemas.openxmlformats.org/package/2006/relationships"><Relationship Id="rId1" Type="http://schemas.openxmlformats.org/officeDocument/2006/relationships/slide" Target="../slides/slide66.xml"/><Relationship Id="rId2" Type="http://schemas.openxmlformats.org/officeDocument/2006/relationships/notesMaster" Target="../notesMasters/notesMaster1.xml"/>
</Relationships>
</file>

<file path=ppt/notesSlides/_rels/notesSlide67.xml.rels><?xml version="1.0" encoding="UTF-8"?>
<Relationships xmlns="http://schemas.openxmlformats.org/package/2006/relationships"><Relationship Id="rId1" Type="http://schemas.openxmlformats.org/officeDocument/2006/relationships/slide" Target="../slides/slide67.xml"/><Relationship Id="rId2" Type="http://schemas.openxmlformats.org/officeDocument/2006/relationships/notesMaster" Target="../notesMasters/notesMaster1.xml"/>
</Relationships>
</file>

<file path=ppt/notesSlides/_rels/notesSlide68.xml.rels><?xml version="1.0" encoding="UTF-8"?>
<Relationships xmlns="http://schemas.openxmlformats.org/package/2006/relationships"><Relationship Id="rId1" Type="http://schemas.openxmlformats.org/officeDocument/2006/relationships/slide" Target="../slides/slide68.xml"/><Relationship Id="rId2" Type="http://schemas.openxmlformats.org/officeDocument/2006/relationships/notesMaster" Target="../notesMasters/notesMaster1.xml"/>
</Relationships>
</file>

<file path=ppt/notesSlides/_rels/notesSlide69.xml.rels><?xml version="1.0" encoding="UTF-8"?>
<Relationships xmlns="http://schemas.openxmlformats.org/package/2006/relationships"><Relationship Id="rId1" Type="http://schemas.openxmlformats.org/officeDocument/2006/relationships/slide" Target="../slides/slide69.xml"/><Relationship Id="rId2" Type="http://schemas.openxmlformats.org/officeDocument/2006/relationships/notesMaster" Target="../notesMasters/notesMaster1.xml"/>
</Relationships>
</file>

<file path=ppt/notesSlides/_rels/notesSlide70.xml.rels><?xml version="1.0" encoding="UTF-8"?>
<Relationships xmlns="http://schemas.openxmlformats.org/package/2006/relationships"><Relationship Id="rId1" Type="http://schemas.openxmlformats.org/officeDocument/2006/relationships/slide" Target="../slides/slide70.xml"/><Relationship Id="rId2" Type="http://schemas.openxmlformats.org/officeDocument/2006/relationships/notesMaster" Target="../notesMasters/notesMaster1.xml"/>
</Relationships>
</file>

<file path=ppt/notesSlides/_rels/notesSlide71.xml.rels><?xml version="1.0" encoding="UTF-8"?>
<Relationships xmlns="http://schemas.openxmlformats.org/package/2006/relationships"><Relationship Id="rId1" Type="http://schemas.openxmlformats.org/officeDocument/2006/relationships/slide" Target="../slides/slide71.xml"/><Relationship Id="rId2" Type="http://schemas.openxmlformats.org/officeDocument/2006/relationships/notesMaster" Target="../notesMasters/notesMaster1.xml"/>
</Relationships>
</file>

<file path=ppt/notesSlides/_rels/notesSlide72.xml.rels><?xml version="1.0" encoding="UTF-8"?>
<Relationships xmlns="http://schemas.openxmlformats.org/package/2006/relationships"><Relationship Id="rId1" Type="http://schemas.openxmlformats.org/officeDocument/2006/relationships/slide" Target="../slides/slide72.xml"/><Relationship Id="rId2" Type="http://schemas.openxmlformats.org/officeDocument/2006/relationships/notesMaster" Target="../notesMasters/notesMaster1.xml"/>
</Relationships>
</file>

<file path=ppt/notesSlides/_rels/notesSlide73.xml.rels><?xml version="1.0" encoding="UTF-8"?>
<Relationships xmlns="http://schemas.openxmlformats.org/package/2006/relationships"><Relationship Id="rId1" Type="http://schemas.openxmlformats.org/officeDocument/2006/relationships/slide" Target="../slides/slide73.xml"/><Relationship Id="rId2" Type="http://schemas.openxmlformats.org/officeDocument/2006/relationships/notesMaster" Target="../notesMasters/notesMaster1.xml"/>
</Relationships>
</file>

<file path=ppt/notesSlides/_rels/notesSlide74.xml.rels><?xml version="1.0" encoding="UTF-8"?>
<Relationships xmlns="http://schemas.openxmlformats.org/package/2006/relationships"><Relationship Id="rId1" Type="http://schemas.openxmlformats.org/officeDocument/2006/relationships/slide" Target="../slides/slide74.xml"/><Relationship Id="rId2" Type="http://schemas.openxmlformats.org/officeDocument/2006/relationships/notesMaster" Target="../notesMasters/notesMaster1.xml"/>
</Relationships>
</file>

<file path=ppt/notesSlides/_rels/notesSlide75.xml.rels><?xml version="1.0" encoding="UTF-8"?>
<Relationships xmlns="http://schemas.openxmlformats.org/package/2006/relationships"><Relationship Id="rId1" Type="http://schemas.openxmlformats.org/officeDocument/2006/relationships/slide" Target="../slides/slide75.xml"/><Relationship Id="rId2" Type="http://schemas.openxmlformats.org/officeDocument/2006/relationships/notesMaster" Target="../notesMasters/notesMaster1.xml"/>
</Relationships>
</file>

<file path=ppt/notesSlides/_rels/notesSlide76.xml.rels><?xml version="1.0" encoding="UTF-8"?>
<Relationships xmlns="http://schemas.openxmlformats.org/package/2006/relationships"><Relationship Id="rId1" Type="http://schemas.openxmlformats.org/officeDocument/2006/relationships/slide" Target="../slides/slide76.xml"/><Relationship Id="rId2" Type="http://schemas.openxmlformats.org/officeDocument/2006/relationships/notesMaster" Target="../notesMasters/notesMaster1.xml"/>
</Relationships>
</file>

<file path=ppt/notesSlides/_rels/notesSlide77.xml.rels><?xml version="1.0" encoding="UTF-8"?>
<Relationships xmlns="http://schemas.openxmlformats.org/package/2006/relationships"><Relationship Id="rId1" Type="http://schemas.openxmlformats.org/officeDocument/2006/relationships/slide" Target="../slides/slide77.xml"/><Relationship Id="rId2" Type="http://schemas.openxmlformats.org/officeDocument/2006/relationships/notesMaster" Target="../notesMasters/notesMaster1.xml"/>
</Relationships>
</file>

<file path=ppt/notesSlides/_rels/notesSlide78.xml.rels><?xml version="1.0" encoding="UTF-8"?>
<Relationships xmlns="http://schemas.openxmlformats.org/package/2006/relationships"><Relationship Id="rId1" Type="http://schemas.openxmlformats.org/officeDocument/2006/relationships/slide" Target="../slides/slide78.xml"/><Relationship Id="rId2" Type="http://schemas.openxmlformats.org/officeDocument/2006/relationships/notesMaster" Target="../notesMasters/notesMaster1.xml"/>
</Relationships>
</file>

<file path=ppt/notesSlides/_rels/notesSlide79.xml.rels><?xml version="1.0" encoding="UTF-8"?>
<Relationships xmlns="http://schemas.openxmlformats.org/package/2006/relationships"><Relationship Id="rId1" Type="http://schemas.openxmlformats.org/officeDocument/2006/relationships/slide" Target="../slides/slide79.xml"/><Relationship Id="rId2" Type="http://schemas.openxmlformats.org/officeDocument/2006/relationships/notesMaster" Target="../notesMasters/notesMaster1.xml"/>
</Relationships>
</file>

<file path=ppt/notesSlides/_rels/notesSlide80.xml.rels><?xml version="1.0" encoding="UTF-8"?>
<Relationships xmlns="http://schemas.openxmlformats.org/package/2006/relationships"><Relationship Id="rId1" Type="http://schemas.openxmlformats.org/officeDocument/2006/relationships/slide" Target="../slides/slide80.xml"/><Relationship Id="rId2" Type="http://schemas.openxmlformats.org/officeDocument/2006/relationships/notesMaster" Target="../notesMasters/notesMaster1.xml"/>
</Relationships>
</file>

<file path=ppt/notesSlides/_rels/notesSlide81.xml.rels><?xml version="1.0" encoding="UTF-8"?>
<Relationships xmlns="http://schemas.openxmlformats.org/package/2006/relationships"><Relationship Id="rId1" Type="http://schemas.openxmlformats.org/officeDocument/2006/relationships/slide" Target="../slides/slide81.xml"/><Relationship Id="rId2" Type="http://schemas.openxmlformats.org/officeDocument/2006/relationships/notesMaster" Target="../notesMasters/notesMaster1.xml"/>
</Relationships>
</file>

<file path=ppt/notesSlides/_rels/notesSlide82.xml.rels><?xml version="1.0" encoding="UTF-8"?>
<Relationships xmlns="http://schemas.openxmlformats.org/package/2006/relationships"><Relationship Id="rId1" Type="http://schemas.openxmlformats.org/officeDocument/2006/relationships/slide" Target="../slides/slide82.xml"/><Relationship Id="rId2" Type="http://schemas.openxmlformats.org/officeDocument/2006/relationships/notesMaster" Target="../notesMasters/notesMaster1.xml"/>
</Relationships>
</file>

<file path=ppt/notesSlides/_rels/notesSlide83.xml.rels><?xml version="1.0" encoding="UTF-8"?>
<Relationships xmlns="http://schemas.openxmlformats.org/package/2006/relationships"><Relationship Id="rId1" Type="http://schemas.openxmlformats.org/officeDocument/2006/relationships/slide" Target="../slides/slide83.xml"/><Relationship Id="rId2" Type="http://schemas.openxmlformats.org/officeDocument/2006/relationships/notesMaster" Target="../notesMasters/notesMaster1.xml"/>
</Relationships>
</file>

<file path=ppt/notesSlides/_rels/notesSlide84.xml.rels><?xml version="1.0" encoding="UTF-8"?>
<Relationships xmlns="http://schemas.openxmlformats.org/package/2006/relationships"><Relationship Id="rId1" Type="http://schemas.openxmlformats.org/officeDocument/2006/relationships/slide" Target="../slides/slide8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618FAE-6586-49DD-B2A6-FE2752B5C8F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B19733-63A7-4F92-BDF3-FD9E4A07C0C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6AC41D-B2DC-44CF-98BE-9004C3A7274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ADD7B4-F61D-44EA-85F9-C3927BFEF9A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A6B209-3429-4714-9A9C-CA6F432B66B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BF735E-554C-47EA-91E1-BEC7013E4D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704225-1593-4A3A-9D24-395DD34CD23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52E9E8-6BE6-4755-A07A-138FD1925A7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80B653-7D69-4E60-9F3B-CFA352FF7F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0F9366-1236-4905-AD53-67DF71DF98C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11B3D6-EDB6-4D53-BB2D-4304AF3B264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0AF9E4-30DA-42CF-A128-0B5C6D473E8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3EFED9-88A6-474C-8590-6C0D090A79E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FD631D-1BB4-41D2-98D9-A31FFE336C8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3EB2C7-4D82-4DFD-9D86-F143B7A8BBC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45859E-5FE2-4C7C-8AA4-B44BCBF594A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8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29228C-8ACC-4EC5-8A86-8100922B47D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1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4DB2F2-31A5-4F36-BF3D-38ACC0DE180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4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3D40BC-B57D-4500-AD7E-6BA4591B409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7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440641-4584-44A3-A6DF-DF068464AED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0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F97AFD-EB8C-4F06-9106-76CCB74D88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3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D9076A-C5D7-44F5-B078-53509947A18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6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D7D78F-27EF-4FA9-9987-F6AB3D3110E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9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868DA6-E4F7-4560-952B-F6A1F93C1EF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2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3CCD45-3EC5-4387-9CE8-4B7DB47DF16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5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FE78A9-6E73-455E-A40F-3A6CD5EBB4D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8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A69A0C-6BAD-4819-99C6-8F9809D834A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1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CB00A4-ACBE-42A7-BEF9-01F78A17BFF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4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B374E8-AF34-4D82-8325-50CE518BCDB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7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C927A7-BDDC-4F3D-AC79-A7882628073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0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38881C-5EAD-49B6-B3AD-0A49A21A933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3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875F59-61C9-4E81-A78A-EE844C561B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6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328BE0-6CA8-41E5-839B-9D15D48D513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9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61DC72-64AB-4436-B10A-4A621EB62EC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2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7BD251-945D-43E1-8FCA-593963D434F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5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EFE524-E3C1-43D7-A56F-F1C8FF4504C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8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D9E004-1DD2-4C77-982F-7509CB137BC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1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D624DD-0211-4117-90D9-E97BAFCF464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4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344EC2-9A06-4473-BA11-95EFB7B4D4B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7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B9C71D-34DD-4444-BE5C-E8A63AA7B62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0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98815C-90DB-45B6-BCAD-39F797F3C3C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3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5ED8B9-5F8E-452E-8D2E-14B6ABF5D3B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6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7081E2-2D37-4E32-9EE8-10FAAFF395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9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A71446-81D1-4071-A53C-57872EE2BB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2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49C340-F3FC-4795-926D-846F4F9DD84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5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E62245-0140-44BB-A174-9B903922961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8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A1F3B6-EB57-455F-A1B4-F1E2332FE55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1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B376F7-D3C9-4D96-B4AF-34E0F0818A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4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D2BF1B-AEFE-4313-BFA2-281701F9036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7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BF8760-D808-4069-81CF-88B2F945745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0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056585-0085-4199-9D7C-4228BD10237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3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D45E7C-1ED9-4111-A10F-C6CA5629A01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6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781A9C-4B97-4B2D-8B77-107FC4363BB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9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55C117-00C1-4D55-B962-6E324D33A11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2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D5D6A1-FE70-4F05-A26B-DF1ABBBCDA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5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6E54F5-C870-433D-87E6-C8A1AFE759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8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CDF083-9B57-49CB-8FF3-BA2973CF6F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1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9B93F5-D3D5-4675-93C6-D6AF3EFBB46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4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5CB8DF-4B99-4354-B87F-59D836151F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7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C8D009-032A-4E14-875C-B5EB5F322CA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0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3B2023-79EA-448F-9CE9-2749EF571E7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3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E8A4A7-2339-4FDB-8092-267BE4F97B5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6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9608B8-0345-4D4D-98AE-4E68301EBDE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9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FB676F-4BE2-4AA7-98C9-1B1A08B166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2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D4143C-8BBE-47F8-A352-37E411BDEDC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5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481267-3E3F-4FA3-9EFD-F1BF93FF03A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8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F4A267-BA2D-4AB5-BABE-CC2CDC0F2FD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1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367E14-BD86-4EA0-8B9F-96E4112915C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4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4559AB-3C27-465C-8359-1F8C7A99722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7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EC4CB0-0C7D-4733-8A95-535CC6CCBE6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0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B8DEB8-B3BF-4961-9448-CCC7D65CBD2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3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E6583A-2AE0-430B-A525-C38BA71813B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6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32A8A1-4284-4DAB-A362-5A4681C3496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9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BF40C4-9980-4EF7-9AEB-E06E6FF54E3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2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7A8D74-A8D1-49B3-83F1-0FD2F8B0BB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5" name="PlaceHolder 3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00669A-0245-4CC0-876C-025626B105E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8" name="PlaceHolder 3"/>
          <p:cNvSpPr>
            <a:spLocks noGrp="1"/>
          </p:cNvSpPr>
          <p:nvPr>
            <p:ph type="sldNum" idx="8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C6D51A-D7B5-4EB3-A9D1-07BABDFB838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1" name="PlaceHolder 3"/>
          <p:cNvSpPr>
            <a:spLocks noGrp="1"/>
          </p:cNvSpPr>
          <p:nvPr>
            <p:ph type="sldNum" idx="8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FE681C-94B9-4850-A2FC-A13D0A0A53D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4" name="PlaceHolder 3"/>
          <p:cNvSpPr>
            <a:spLocks noGrp="1"/>
          </p:cNvSpPr>
          <p:nvPr>
            <p:ph type="sldNum" idx="8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FC4516-C8EF-438E-BBF0-3DF481C682C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7" name="PlaceHolder 3"/>
          <p:cNvSpPr>
            <a:spLocks noGrp="1"/>
          </p:cNvSpPr>
          <p:nvPr>
            <p:ph type="sldNum" idx="8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F46955-F8DB-4591-A670-30F987C48EF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0" name="PlaceHolder 3"/>
          <p:cNvSpPr>
            <a:spLocks noGrp="1"/>
          </p:cNvSpPr>
          <p:nvPr>
            <p:ph type="sldNum" idx="8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91E8C2-43F7-419D-BDDB-0300CCDADA9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3" name="PlaceHolder 3"/>
          <p:cNvSpPr>
            <a:spLocks noGrp="1"/>
          </p:cNvSpPr>
          <p:nvPr>
            <p:ph type="sldNum" idx="8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8B2B57-5DD2-44DB-89D3-F62D1E21CFC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6" name="PlaceHolder 3"/>
          <p:cNvSpPr>
            <a:spLocks noGrp="1"/>
          </p:cNvSpPr>
          <p:nvPr>
            <p:ph type="sldNum" idx="8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9C2C8A-CA95-4492-82AC-7910C89DB1B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9" name="PlaceHolder 3"/>
          <p:cNvSpPr>
            <a:spLocks noGrp="1"/>
          </p:cNvSpPr>
          <p:nvPr>
            <p:ph type="sldNum" idx="8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678EC9-87D1-47BF-8CA0-1058A295B37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
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
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
</Relationships>
</file>

<file path=ppt/slides/_rels/slide8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
</Relationships>
</file>

<file path=ppt/slides/_rels/slide8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
</Relationships>
</file>

<file path=ppt/slides/_rels/slide8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
</Relationships>
</file>

<file path=ppt/slides/_rels/slide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8778240" y="-2194560"/>
            <a:ext cx="5486040" cy="548604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5943600" y="5212080"/>
            <a:ext cx="1462680" cy="1462680"/>
          </a:xfrm>
          <a:prstGeom prst="ellipse">
            <a:avLst/>
          </a:prstGeom>
          <a:solidFill>
            <a:srgbClr val="4C112D">
              <a:alpha val="45000"/>
            </a:srgbClr>
          </a:solidFill>
          <a:ln w="12700">
            <a:solidFill>
              <a:srgbClr val="4C11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" name="Image 0" descr="preencoded.png"/>
          <p:cNvPicPr/>
          <p:nvPr/>
        </p:nvPicPr>
        <p:blipFill>
          <a:blip r:embed="rId1"/>
          <a:stretch/>
        </p:blipFill>
        <p:spPr>
          <a:xfrm>
            <a:off x="685800" y="457200"/>
            <a:ext cx="2651400" cy="93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Shape 5"/>
          <p:cNvSpPr/>
          <p:nvPr/>
        </p:nvSpPr>
        <p:spPr>
          <a:xfrm>
            <a:off x="713160" y="2331720"/>
            <a:ext cx="3931560" cy="292320"/>
          </a:xfrm>
          <a:prstGeom prst="roundRect">
            <a:avLst>
              <a:gd name="adj" fmla="val 50000"/>
            </a:avLst>
          </a:prstGeom>
          <a:solidFill>
            <a:srgbClr val="262758"/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713160" y="2331720"/>
            <a:ext cx="3931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E0E7FF"/>
                </a:solidFill>
                <a:effectLst/>
                <a:uFillTx/>
                <a:latin typeface="Plus Jakarta Sans"/>
                <a:ea typeface="Plus Jakarta Sans"/>
              </a:rPr>
              <a:t>SESSION 23  ·  AI &amp; ML PLAYGROUND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658440" y="278892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Linear Algebra for Data Science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713160" y="370332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Vectors, Matrices, Transformations, Eigenvalues &amp; SVD — by hand and in Python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713160" y="4572000"/>
            <a:ext cx="2926080" cy="360"/>
          </a:xfrm>
          <a:prstGeom prst="line">
            <a:avLst/>
          </a:prstGeom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713160" y="46634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CodeByPaxto: The AI &amp; ML Playground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713160" y="500184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Hafiz Waseem Ahmed (Paxto)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We're Covering Today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3"/>
          <p:cNvSpPr/>
          <p:nvPr/>
        </p:nvSpPr>
        <p:spPr>
          <a:xfrm>
            <a:off x="548640" y="1371600"/>
            <a:ext cx="11109600" cy="6030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4"/>
          <p:cNvSpPr/>
          <p:nvPr/>
        </p:nvSpPr>
        <p:spPr>
          <a:xfrm>
            <a:off x="731520" y="151776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5"/>
          <p:cNvSpPr/>
          <p:nvPr/>
        </p:nvSpPr>
        <p:spPr>
          <a:xfrm>
            <a:off x="731520" y="15177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6"/>
          <p:cNvSpPr/>
          <p:nvPr/>
        </p:nvSpPr>
        <p:spPr>
          <a:xfrm>
            <a:off x="1234440" y="137160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Algebra first — what it is, its types, its history, why data science needs it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7"/>
          <p:cNvSpPr/>
          <p:nvPr/>
        </p:nvSpPr>
        <p:spPr>
          <a:xfrm>
            <a:off x="548640" y="2084760"/>
            <a:ext cx="11109600" cy="6030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8"/>
          <p:cNvSpPr/>
          <p:nvPr/>
        </p:nvSpPr>
        <p:spPr>
          <a:xfrm>
            <a:off x="731520" y="223128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9"/>
          <p:cNvSpPr/>
          <p:nvPr/>
        </p:nvSpPr>
        <p:spPr>
          <a:xfrm>
            <a:off x="731520" y="22312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0"/>
          <p:cNvSpPr/>
          <p:nvPr/>
        </p:nvSpPr>
        <p:spPr>
          <a:xfrm>
            <a:off x="1234440" y="208476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What is linear algebra — and where it lives in AI/ML, deep learning and GCNs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1"/>
          <p:cNvSpPr/>
          <p:nvPr/>
        </p:nvSpPr>
        <p:spPr>
          <a:xfrm>
            <a:off x="548640" y="2797920"/>
            <a:ext cx="11109600" cy="6030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2"/>
          <p:cNvSpPr/>
          <p:nvPr/>
        </p:nvSpPr>
        <p:spPr>
          <a:xfrm>
            <a:off x="731520" y="294444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3"/>
          <p:cNvSpPr/>
          <p:nvPr/>
        </p:nvSpPr>
        <p:spPr>
          <a:xfrm>
            <a:off x="731520" y="29444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4"/>
          <p:cNvSpPr/>
          <p:nvPr/>
        </p:nvSpPr>
        <p:spPr>
          <a:xfrm>
            <a:off x="1234440" y="279792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Scalars &amp; vectors — dot product, cross product, span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5"/>
          <p:cNvSpPr/>
          <p:nvPr/>
        </p:nvSpPr>
        <p:spPr>
          <a:xfrm>
            <a:off x="548640" y="3511440"/>
            <a:ext cx="11109600" cy="6030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6"/>
          <p:cNvSpPr/>
          <p:nvPr/>
        </p:nvSpPr>
        <p:spPr>
          <a:xfrm>
            <a:off x="731520" y="365760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7"/>
          <p:cNvSpPr/>
          <p:nvPr/>
        </p:nvSpPr>
        <p:spPr>
          <a:xfrm>
            <a:off x="731520" y="36576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8"/>
          <p:cNvSpPr/>
          <p:nvPr/>
        </p:nvSpPr>
        <p:spPr>
          <a:xfrm>
            <a:off x="1234440" y="351144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Matrices — operations, determinant, inverse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9"/>
          <p:cNvSpPr/>
          <p:nvPr/>
        </p:nvSpPr>
        <p:spPr>
          <a:xfrm>
            <a:off x="548640" y="4224600"/>
            <a:ext cx="11109600" cy="6030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0"/>
          <p:cNvSpPr/>
          <p:nvPr/>
        </p:nvSpPr>
        <p:spPr>
          <a:xfrm>
            <a:off x="731520" y="437076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1"/>
          <p:cNvSpPr/>
          <p:nvPr/>
        </p:nvSpPr>
        <p:spPr>
          <a:xfrm>
            <a:off x="731520" y="43707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2"/>
          <p:cNvSpPr/>
          <p:nvPr/>
        </p:nvSpPr>
        <p:spPr>
          <a:xfrm>
            <a:off x="1234440" y="422460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Linear transformations &amp; systems of linear equations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3"/>
          <p:cNvSpPr/>
          <p:nvPr/>
        </p:nvSpPr>
        <p:spPr>
          <a:xfrm>
            <a:off x="548640" y="4937760"/>
            <a:ext cx="11109600" cy="6030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4"/>
          <p:cNvSpPr/>
          <p:nvPr/>
        </p:nvSpPr>
        <p:spPr>
          <a:xfrm>
            <a:off x="731520" y="508392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5"/>
          <p:cNvSpPr/>
          <p:nvPr/>
        </p:nvSpPr>
        <p:spPr>
          <a:xfrm>
            <a:off x="731520" y="50839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6"/>
          <p:cNvSpPr/>
          <p:nvPr/>
        </p:nvSpPr>
        <p:spPr>
          <a:xfrm>
            <a:off x="1234440" y="493776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Advanced methods — Gaussian, LU, eigenvalues, SVD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27"/>
          <p:cNvSpPr/>
          <p:nvPr/>
        </p:nvSpPr>
        <p:spPr>
          <a:xfrm>
            <a:off x="548640" y="5650920"/>
            <a:ext cx="11109600" cy="6030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8"/>
          <p:cNvSpPr/>
          <p:nvPr/>
        </p:nvSpPr>
        <p:spPr>
          <a:xfrm>
            <a:off x="731520" y="579744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9"/>
          <p:cNvSpPr/>
          <p:nvPr/>
        </p:nvSpPr>
        <p:spPr>
          <a:xfrm>
            <a:off x="731520" y="57974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0"/>
          <p:cNvSpPr/>
          <p:nvPr/>
        </p:nvSpPr>
        <p:spPr>
          <a:xfrm>
            <a:off x="1234440" y="565092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Tasks and a mini project: a similarity engine from scratch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03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2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4"/>
          <p:cNvSpPr/>
          <p:nvPr/>
        </p:nvSpPr>
        <p:spPr>
          <a:xfrm>
            <a:off x="640080" y="274320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Algebra First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Before linear algebra — what algebra is, where it came from, and why data science runs on it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Is Algebra?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x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Letters standing in for unknown numbers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7"/>
          <p:cNvSpPr/>
          <p:nvPr/>
        </p:nvSpPr>
        <p:spPr>
          <a:xfrm>
            <a:off x="3749040" y="1737360"/>
            <a:ext cx="79092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Algebra is arithmetic with unknowns: we write x for a number we do not know yet.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 equation says two sides are equal; solving means finding the value that makes it true.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golden rule: do the same thing to both sides.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Formulas like y = mx + b are algebra: a rule that works for every input.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Algebra in Action: Solve 2x + 3 = 11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Goal: get x alone.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1.  2x + 3 = 11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2.  Subtract 3 from both sides: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   2x = 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3.  Divide both sides by 2: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   x = 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4.  Check: 2(4) + 3 = 11  ✓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from sympy import symbols, Eq, solve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x = symbols("x")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eq = Eq(2*x + 3, 11)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print(solve(eq, x))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[4]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check by substitution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print(2*4 + 3)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11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Why Algebra Matters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3"/>
          <p:cNvSpPr/>
          <p:nvPr/>
        </p:nvSpPr>
        <p:spPr>
          <a:xfrm>
            <a:off x="548640" y="1737360"/>
            <a:ext cx="3520080" cy="40230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4"/>
          <p:cNvSpPr/>
          <p:nvPr/>
        </p:nvSpPr>
        <p:spPr>
          <a:xfrm>
            <a:off x="777240" y="1965960"/>
            <a:ext cx="456840" cy="4568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5"/>
          <p:cNvSpPr/>
          <p:nvPr/>
        </p:nvSpPr>
        <p:spPr>
          <a:xfrm>
            <a:off x="777240" y="1965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6"/>
          <p:cNvSpPr/>
          <p:nvPr/>
        </p:nvSpPr>
        <p:spPr>
          <a:xfrm>
            <a:off x="777240" y="2651760"/>
            <a:ext cx="3062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It generalises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7"/>
          <p:cNvSpPr/>
          <p:nvPr/>
        </p:nvSpPr>
        <p:spPr>
          <a:xfrm>
            <a:off x="777240" y="3520440"/>
            <a:ext cx="30628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One formula covers millions of cases — area = length × width works for every rectangle.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8"/>
          <p:cNvSpPr/>
          <p:nvPr/>
        </p:nvSpPr>
        <p:spPr>
          <a:xfrm>
            <a:off x="4343400" y="1737360"/>
            <a:ext cx="3520080" cy="40230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9"/>
          <p:cNvSpPr/>
          <p:nvPr/>
        </p:nvSpPr>
        <p:spPr>
          <a:xfrm>
            <a:off x="4572000" y="1965960"/>
            <a:ext cx="456840" cy="4568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0"/>
          <p:cNvSpPr/>
          <p:nvPr/>
        </p:nvSpPr>
        <p:spPr>
          <a:xfrm>
            <a:off x="4572000" y="1965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1"/>
          <p:cNvSpPr/>
          <p:nvPr/>
        </p:nvSpPr>
        <p:spPr>
          <a:xfrm>
            <a:off x="4572000" y="2651760"/>
            <a:ext cx="3062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It models the world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2"/>
          <p:cNvSpPr/>
          <p:nvPr/>
        </p:nvSpPr>
        <p:spPr>
          <a:xfrm>
            <a:off x="4572000" y="3520440"/>
            <a:ext cx="30628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Prices, speeds, growth, errors: real relationships written as equations we can analyse.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3"/>
          <p:cNvSpPr/>
          <p:nvPr/>
        </p:nvSpPr>
        <p:spPr>
          <a:xfrm>
            <a:off x="8138160" y="1737360"/>
            <a:ext cx="3520080" cy="40230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4"/>
          <p:cNvSpPr/>
          <p:nvPr/>
        </p:nvSpPr>
        <p:spPr>
          <a:xfrm>
            <a:off x="8366760" y="1965960"/>
            <a:ext cx="456840" cy="4568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5"/>
          <p:cNvSpPr/>
          <p:nvPr/>
        </p:nvSpPr>
        <p:spPr>
          <a:xfrm>
            <a:off x="8366760" y="1965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6"/>
          <p:cNvSpPr/>
          <p:nvPr/>
        </p:nvSpPr>
        <p:spPr>
          <a:xfrm>
            <a:off x="8366760" y="2651760"/>
            <a:ext cx="3062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It finds the unknown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7"/>
          <p:cNvSpPr/>
          <p:nvPr/>
        </p:nvSpPr>
        <p:spPr>
          <a:xfrm>
            <a:off x="8366760" y="3520440"/>
            <a:ext cx="30628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Given </a:t>
            </a: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the </a:t>
            </a: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outpu</a:t>
            </a: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ts and </a:t>
            </a: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the </a:t>
            </a: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rule, </a:t>
            </a: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algeb</a:t>
            </a: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ra </a:t>
            </a: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recov</a:t>
            </a: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ers </a:t>
            </a: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the </a:t>
            </a: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missi</a:t>
            </a: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ng </a:t>
            </a: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input </a:t>
            </a: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— the </a:t>
            </a: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heart </a:t>
            </a: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of </a:t>
            </a: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fitting </a:t>
            </a: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mode</a:t>
            </a: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ls.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How to Learn Algebra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↗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Practise the translation, not just the rules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7"/>
          <p:cNvSpPr/>
          <p:nvPr/>
        </p:nvSpPr>
        <p:spPr>
          <a:xfrm>
            <a:off x="3749040" y="1737360"/>
            <a:ext cx="79092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Translate words into symbols: “twice a number plus three is eleven” → 2x + 3 = 11.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Always check an answer by substituting it back.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Do small problems daily — algebra is a skill, like a language.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Keep the goal in mind: isolate the unknown, step by step.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Types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of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Algebr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3"/>
          <p:cNvSpPr/>
          <p:nvPr/>
        </p:nvSpPr>
        <p:spPr>
          <a:xfrm>
            <a:off x="548640" y="1737360"/>
            <a:ext cx="2571480" cy="40230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4"/>
          <p:cNvSpPr/>
          <p:nvPr/>
        </p:nvSpPr>
        <p:spPr>
          <a:xfrm>
            <a:off x="777240" y="1965960"/>
            <a:ext cx="456840" cy="4568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5"/>
          <p:cNvSpPr/>
          <p:nvPr/>
        </p:nvSpPr>
        <p:spPr>
          <a:xfrm>
            <a:off x="777240" y="1965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6"/>
          <p:cNvSpPr/>
          <p:nvPr/>
        </p:nvSpPr>
        <p:spPr>
          <a:xfrm>
            <a:off x="777240" y="2651760"/>
            <a:ext cx="2114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Elementary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7"/>
          <p:cNvSpPr/>
          <p:nvPr/>
        </p:nvSpPr>
        <p:spPr>
          <a:xfrm>
            <a:off x="777240" y="3520440"/>
            <a:ext cx="21142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Variables, expressions, equations and inequalities — the school algebra you already know.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8"/>
          <p:cNvSpPr/>
          <p:nvPr/>
        </p:nvSpPr>
        <p:spPr>
          <a:xfrm>
            <a:off x="3394800" y="1737360"/>
            <a:ext cx="2571480" cy="40230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9"/>
          <p:cNvSpPr/>
          <p:nvPr/>
        </p:nvSpPr>
        <p:spPr>
          <a:xfrm>
            <a:off x="3623400" y="1965960"/>
            <a:ext cx="456840" cy="4568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0"/>
          <p:cNvSpPr/>
          <p:nvPr/>
        </p:nvSpPr>
        <p:spPr>
          <a:xfrm>
            <a:off x="3623400" y="1965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1"/>
          <p:cNvSpPr/>
          <p:nvPr/>
        </p:nvSpPr>
        <p:spPr>
          <a:xfrm>
            <a:off x="3623400" y="2651760"/>
            <a:ext cx="2114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Linear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2"/>
          <p:cNvSpPr/>
          <p:nvPr/>
        </p:nvSpPr>
        <p:spPr>
          <a:xfrm>
            <a:off x="3623400" y="3520440"/>
            <a:ext cx="21142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Vectors, matrices and systems of linear equations. Our topic — and the engine of ML.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3"/>
          <p:cNvSpPr/>
          <p:nvPr/>
        </p:nvSpPr>
        <p:spPr>
          <a:xfrm>
            <a:off x="6240960" y="1737360"/>
            <a:ext cx="2571480" cy="40230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4"/>
          <p:cNvSpPr/>
          <p:nvPr/>
        </p:nvSpPr>
        <p:spPr>
          <a:xfrm>
            <a:off x="6469560" y="1965960"/>
            <a:ext cx="456840" cy="4568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5"/>
          <p:cNvSpPr/>
          <p:nvPr/>
        </p:nvSpPr>
        <p:spPr>
          <a:xfrm>
            <a:off x="6469560" y="1965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6"/>
          <p:cNvSpPr/>
          <p:nvPr/>
        </p:nvSpPr>
        <p:spPr>
          <a:xfrm>
            <a:off x="6469560" y="2651760"/>
            <a:ext cx="2114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Abstract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7"/>
          <p:cNvSpPr/>
          <p:nvPr/>
        </p:nvSpPr>
        <p:spPr>
          <a:xfrm>
            <a:off x="6469560" y="3520440"/>
            <a:ext cx="21142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Groups</a:t>
            </a: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, rings </a:t>
            </a: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and </a:t>
            </a: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fields </a:t>
            </a: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— </a:t>
            </a: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structu</a:t>
            </a: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res </a:t>
            </a: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and </a:t>
            </a: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their </a:t>
            </a: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rules. </a:t>
            </a: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Mostly </a:t>
            </a: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pure </a:t>
            </a: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maths; </a:t>
            </a: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useful </a:t>
            </a: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in </a:t>
            </a: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crypto</a:t>
            </a: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graphy</a:t>
            </a: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8"/>
          <p:cNvSpPr/>
          <p:nvPr/>
        </p:nvSpPr>
        <p:spPr>
          <a:xfrm>
            <a:off x="9086760" y="1737360"/>
            <a:ext cx="2571480" cy="40230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9"/>
          <p:cNvSpPr/>
          <p:nvPr/>
        </p:nvSpPr>
        <p:spPr>
          <a:xfrm>
            <a:off x="9315360" y="1965960"/>
            <a:ext cx="456840" cy="4568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0"/>
          <p:cNvSpPr/>
          <p:nvPr/>
        </p:nvSpPr>
        <p:spPr>
          <a:xfrm>
            <a:off x="9315360" y="1965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1"/>
          <p:cNvSpPr/>
          <p:nvPr/>
        </p:nvSpPr>
        <p:spPr>
          <a:xfrm>
            <a:off x="9315360" y="2651760"/>
            <a:ext cx="2114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Boolean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2"/>
          <p:cNvSpPr/>
          <p:nvPr/>
        </p:nvSpPr>
        <p:spPr>
          <a:xfrm>
            <a:off x="9315360" y="3520440"/>
            <a:ext cx="21142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Algebra of true/false with AND, OR, NOT. Powers digital circuits and every if-condition.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6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 Short History of Algebra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3"/>
          <p:cNvSpPr/>
          <p:nvPr/>
        </p:nvSpPr>
        <p:spPr>
          <a:xfrm>
            <a:off x="548640" y="1600200"/>
            <a:ext cx="7223400" cy="434304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4"/>
          <p:cNvSpPr/>
          <p:nvPr/>
        </p:nvSpPr>
        <p:spPr>
          <a:xfrm>
            <a:off x="822960" y="3749040"/>
            <a:ext cx="667512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5"/>
          <p:cNvSpPr/>
          <p:nvPr/>
        </p:nvSpPr>
        <p:spPr>
          <a:xfrm>
            <a:off x="1134000" y="3694320"/>
            <a:ext cx="109440" cy="109440"/>
          </a:xfrm>
          <a:prstGeom prst="ellipse">
            <a:avLst/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6"/>
          <p:cNvSpPr/>
          <p:nvPr/>
        </p:nvSpPr>
        <p:spPr>
          <a:xfrm>
            <a:off x="548640" y="324612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~2000 BCE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7"/>
          <p:cNvSpPr/>
          <p:nvPr/>
        </p:nvSpPr>
        <p:spPr>
          <a:xfrm>
            <a:off x="530280" y="2286000"/>
            <a:ext cx="13255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Babylon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Clay-tablet equation problems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8"/>
          <p:cNvSpPr/>
          <p:nvPr/>
        </p:nvSpPr>
        <p:spPr>
          <a:xfrm>
            <a:off x="2505600" y="3694320"/>
            <a:ext cx="109440" cy="1094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9"/>
          <p:cNvSpPr/>
          <p:nvPr/>
        </p:nvSpPr>
        <p:spPr>
          <a:xfrm>
            <a:off x="1920240" y="393192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~200 BCE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0"/>
          <p:cNvSpPr/>
          <p:nvPr/>
        </p:nvSpPr>
        <p:spPr>
          <a:xfrm>
            <a:off x="1901880" y="4206240"/>
            <a:ext cx="13255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China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Nine Chapters: elimination on arrays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1"/>
          <p:cNvSpPr/>
          <p:nvPr/>
        </p:nvSpPr>
        <p:spPr>
          <a:xfrm>
            <a:off x="3877200" y="3694320"/>
            <a:ext cx="109440" cy="109440"/>
          </a:xfrm>
          <a:prstGeom prst="ellipse">
            <a:avLst/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2"/>
          <p:cNvSpPr/>
          <p:nvPr/>
        </p:nvSpPr>
        <p:spPr>
          <a:xfrm>
            <a:off x="3291840" y="324612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~820 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3"/>
          <p:cNvSpPr/>
          <p:nvPr/>
        </p:nvSpPr>
        <p:spPr>
          <a:xfrm>
            <a:off x="3273480" y="2286000"/>
            <a:ext cx="13255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al-Khwarizmi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Book of “al-jabr” gives algebra its name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4"/>
          <p:cNvSpPr/>
          <p:nvPr/>
        </p:nvSpPr>
        <p:spPr>
          <a:xfrm>
            <a:off x="5248800" y="3694320"/>
            <a:ext cx="109440" cy="1094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5"/>
          <p:cNvSpPr/>
          <p:nvPr/>
        </p:nvSpPr>
        <p:spPr>
          <a:xfrm>
            <a:off x="4663440" y="393192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1637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6"/>
          <p:cNvSpPr/>
          <p:nvPr/>
        </p:nvSpPr>
        <p:spPr>
          <a:xfrm>
            <a:off x="4645080" y="4206240"/>
            <a:ext cx="13255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Descartes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Coordinates join geometry &amp; algebra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7"/>
          <p:cNvSpPr/>
          <p:nvPr/>
        </p:nvSpPr>
        <p:spPr>
          <a:xfrm>
            <a:off x="6620400" y="3694320"/>
            <a:ext cx="109440" cy="109440"/>
          </a:xfrm>
          <a:prstGeom prst="ellipse">
            <a:avLst/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8"/>
          <p:cNvSpPr/>
          <p:nvPr/>
        </p:nvSpPr>
        <p:spPr>
          <a:xfrm>
            <a:off x="6035040" y="324612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1858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9"/>
          <p:cNvSpPr/>
          <p:nvPr/>
        </p:nvSpPr>
        <p:spPr>
          <a:xfrm>
            <a:off x="6016680" y="2286000"/>
            <a:ext cx="13255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Cayley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Matrix algebra formalised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20"/>
          <p:cNvSpPr/>
          <p:nvPr/>
        </p:nvSpPr>
        <p:spPr>
          <a:xfrm>
            <a:off x="8046720" y="1600200"/>
            <a:ext cx="3611520" cy="4343040"/>
          </a:xfrm>
          <a:prstGeom prst="roundRect">
            <a:avLst>
              <a:gd name="adj" fmla="val 3038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1"/>
          <p:cNvSpPr/>
          <p:nvPr/>
        </p:nvSpPr>
        <p:spPr>
          <a:xfrm>
            <a:off x="8321040" y="1828800"/>
            <a:ext cx="31086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From clay tablets to GPUs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Algebra grew by solving practical problems — land, trade, astronomy.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The same elimination ideas from China and Babylon are in today’s linear solvers.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Today: every neural network is thousands of matrix operations on a GPU.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9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Algebra &amp; Data Science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ƒ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Every model is an equation with unknowns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7"/>
          <p:cNvSpPr/>
          <p:nvPr/>
        </p:nvSpPr>
        <p:spPr>
          <a:xfrm>
            <a:off x="3749040" y="1737360"/>
            <a:ext cx="79092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prediction rule like price = w₁·size + w₂·rooms + b is algebra.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Training = solving for the unknown weights w from data.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Many equations at once need a compact tool — that tool is linear algebra.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So we start with algebra, then scale up to vectors and matrices.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8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Algebra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Solve 3x − 5 = 16 and check your answer.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11"/>
          <p:cNvSpPr/>
          <p:nvPr/>
        </p:nvSpPr>
        <p:spPr>
          <a:xfrm>
            <a:off x="548640" y="292608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12"/>
          <p:cNvSpPr/>
          <p:nvPr/>
        </p:nvSpPr>
        <p:spPr>
          <a:xfrm>
            <a:off x="731520" y="316368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3"/>
          <p:cNvSpPr/>
          <p:nvPr/>
        </p:nvSpPr>
        <p:spPr>
          <a:xfrm>
            <a:off x="731520" y="31636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4"/>
          <p:cNvSpPr/>
          <p:nvPr/>
        </p:nvSpPr>
        <p:spPr>
          <a:xfrm>
            <a:off x="1234440" y="29260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Translate: “a phone costs 50 more than twice a pen; the phone is 250”. Write the equation and solve.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5"/>
          <p:cNvSpPr/>
          <p:nvPr/>
        </p:nvSpPr>
        <p:spPr>
          <a:xfrm>
            <a:off x="548640" y="388620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6"/>
          <p:cNvSpPr/>
          <p:nvPr/>
        </p:nvSpPr>
        <p:spPr>
          <a:xfrm>
            <a:off x="731520" y="41238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7"/>
          <p:cNvSpPr/>
          <p:nvPr/>
        </p:nvSpPr>
        <p:spPr>
          <a:xfrm>
            <a:off x="731520" y="4123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8"/>
          <p:cNvSpPr/>
          <p:nvPr/>
        </p:nvSpPr>
        <p:spPr>
          <a:xfrm>
            <a:off x="1234440" y="388620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Which type of algebra do you think handles tables of numbers?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9"/>
          <p:cNvSpPr/>
          <p:nvPr/>
        </p:nvSpPr>
        <p:spPr>
          <a:xfrm>
            <a:off x="548640" y="484632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20"/>
          <p:cNvSpPr/>
          <p:nvPr/>
        </p:nvSpPr>
        <p:spPr>
          <a:xfrm>
            <a:off x="731520" y="5083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21"/>
          <p:cNvSpPr/>
          <p:nvPr/>
        </p:nvSpPr>
        <p:spPr>
          <a:xfrm>
            <a:off x="731520" y="5083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2"/>
          <p:cNvSpPr/>
          <p:nvPr/>
        </p:nvSpPr>
        <p:spPr>
          <a:xfrm>
            <a:off x="1234440" y="48463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Python: use sympy to solve 5x + 2 = 3x + 10.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12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2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3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4"/>
          <p:cNvSpPr/>
          <p:nvPr/>
        </p:nvSpPr>
        <p:spPr>
          <a:xfrm>
            <a:off x="640080" y="274320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What Is Linear Algebra?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The mathematics of lists and tables of numbers — and why AI is built on it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8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9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Linear Algebra, Defined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Algebra with many numbers at once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7"/>
          <p:cNvSpPr/>
          <p:nvPr/>
        </p:nvSpPr>
        <p:spPr>
          <a:xfrm>
            <a:off x="3749040" y="1737360"/>
            <a:ext cx="79092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Linear algebra studies vectors (lists of numbers), matrices (tables of numbers), and the linear rules that connect them.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“Linear” means straight-line behaviour: double the input, double the output; add inputs, add outputs.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It lets us write thousands of equations as one short expression.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It is the language of data: anything stored in a table is a matrix.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7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8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Where Linear Algebra Lives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3"/>
          <p:cNvSpPr/>
          <p:nvPr/>
        </p:nvSpPr>
        <p:spPr>
          <a:xfrm>
            <a:off x="548640" y="1737360"/>
            <a:ext cx="2571480" cy="40230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4"/>
          <p:cNvSpPr/>
          <p:nvPr/>
        </p:nvSpPr>
        <p:spPr>
          <a:xfrm>
            <a:off x="777240" y="1965960"/>
            <a:ext cx="456840" cy="4568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5"/>
          <p:cNvSpPr/>
          <p:nvPr/>
        </p:nvSpPr>
        <p:spPr>
          <a:xfrm>
            <a:off x="777240" y="1965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6"/>
          <p:cNvSpPr/>
          <p:nvPr/>
        </p:nvSpPr>
        <p:spPr>
          <a:xfrm>
            <a:off x="777240" y="2651760"/>
            <a:ext cx="2114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Data Science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7"/>
          <p:cNvSpPr/>
          <p:nvPr/>
        </p:nvSpPr>
        <p:spPr>
          <a:xfrm>
            <a:off x="777240" y="3520440"/>
            <a:ext cx="21142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Datasets are matrices. Regression, PCA and clustering are linear algebra operations.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8"/>
          <p:cNvSpPr/>
          <p:nvPr/>
        </p:nvSpPr>
        <p:spPr>
          <a:xfrm>
            <a:off x="3394800" y="1737360"/>
            <a:ext cx="2571480" cy="40230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9"/>
          <p:cNvSpPr/>
          <p:nvPr/>
        </p:nvSpPr>
        <p:spPr>
          <a:xfrm>
            <a:off x="3623400" y="1965960"/>
            <a:ext cx="456840" cy="4568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0"/>
          <p:cNvSpPr/>
          <p:nvPr/>
        </p:nvSpPr>
        <p:spPr>
          <a:xfrm>
            <a:off x="3623400" y="1965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1"/>
          <p:cNvSpPr/>
          <p:nvPr/>
        </p:nvSpPr>
        <p:spPr>
          <a:xfrm>
            <a:off x="3623400" y="2651760"/>
            <a:ext cx="2114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Machine Learning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2"/>
          <p:cNvSpPr/>
          <p:nvPr/>
        </p:nvSpPr>
        <p:spPr>
          <a:xfrm>
            <a:off x="3623400" y="3520440"/>
            <a:ext cx="21142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Features are vectors, models hold weight vectors, similarity = dot product.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13"/>
          <p:cNvSpPr/>
          <p:nvPr/>
        </p:nvSpPr>
        <p:spPr>
          <a:xfrm>
            <a:off x="6240960" y="1737360"/>
            <a:ext cx="2571480" cy="40230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14"/>
          <p:cNvSpPr/>
          <p:nvPr/>
        </p:nvSpPr>
        <p:spPr>
          <a:xfrm>
            <a:off x="6469560" y="1965960"/>
            <a:ext cx="456840" cy="4568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5"/>
          <p:cNvSpPr/>
          <p:nvPr/>
        </p:nvSpPr>
        <p:spPr>
          <a:xfrm>
            <a:off x="6469560" y="1965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6"/>
          <p:cNvSpPr/>
          <p:nvPr/>
        </p:nvSpPr>
        <p:spPr>
          <a:xfrm>
            <a:off x="6469560" y="2651760"/>
            <a:ext cx="2114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Deep Learning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7"/>
          <p:cNvSpPr/>
          <p:nvPr/>
        </p:nvSpPr>
        <p:spPr>
          <a:xfrm>
            <a:off x="6469560" y="3520440"/>
            <a:ext cx="21142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Each layer is a matrix multiplication; images, text and weights are tensors.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18"/>
          <p:cNvSpPr/>
          <p:nvPr/>
        </p:nvSpPr>
        <p:spPr>
          <a:xfrm>
            <a:off x="9086760" y="1737360"/>
            <a:ext cx="2571480" cy="40230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19"/>
          <p:cNvSpPr/>
          <p:nvPr/>
        </p:nvSpPr>
        <p:spPr>
          <a:xfrm>
            <a:off x="9315360" y="1965960"/>
            <a:ext cx="456840" cy="4568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20"/>
          <p:cNvSpPr/>
          <p:nvPr/>
        </p:nvSpPr>
        <p:spPr>
          <a:xfrm>
            <a:off x="9315360" y="1965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21"/>
          <p:cNvSpPr/>
          <p:nvPr/>
        </p:nvSpPr>
        <p:spPr>
          <a:xfrm>
            <a:off x="9315360" y="2651760"/>
            <a:ext cx="2114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GCNs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22"/>
          <p:cNvSpPr/>
          <p:nvPr/>
        </p:nvSpPr>
        <p:spPr>
          <a:xfrm>
            <a:off x="9315360" y="3520440"/>
            <a:ext cx="21142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Graph networks multiply adjacency matrices by node features to share information.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1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 Dataset Is a Matrix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3"/>
          <p:cNvSpPr/>
          <p:nvPr/>
        </p:nvSpPr>
        <p:spPr>
          <a:xfrm>
            <a:off x="548640" y="1600200"/>
            <a:ext cx="7223400" cy="434304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4"/>
          <p:cNvSpPr/>
          <p:nvPr/>
        </p:nvSpPr>
        <p:spPr>
          <a:xfrm>
            <a:off x="2194560" y="1920240"/>
            <a:ext cx="1279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Height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5"/>
          <p:cNvSpPr/>
          <p:nvPr/>
        </p:nvSpPr>
        <p:spPr>
          <a:xfrm>
            <a:off x="3566160" y="1920240"/>
            <a:ext cx="1279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Weight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6"/>
          <p:cNvSpPr/>
          <p:nvPr/>
        </p:nvSpPr>
        <p:spPr>
          <a:xfrm>
            <a:off x="4937760" y="1920240"/>
            <a:ext cx="1279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Age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7"/>
          <p:cNvSpPr/>
          <p:nvPr/>
        </p:nvSpPr>
        <p:spPr>
          <a:xfrm>
            <a:off x="822960" y="2423160"/>
            <a:ext cx="1188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Ali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8"/>
          <p:cNvSpPr/>
          <p:nvPr/>
        </p:nvSpPr>
        <p:spPr>
          <a:xfrm>
            <a:off x="2194560" y="2423160"/>
            <a:ext cx="1234080" cy="456840"/>
          </a:xfrm>
          <a:prstGeom prst="roundRect">
            <a:avLst>
              <a:gd name="adj" fmla="val 16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9"/>
          <p:cNvSpPr/>
          <p:nvPr/>
        </p:nvSpPr>
        <p:spPr>
          <a:xfrm>
            <a:off x="2194560" y="2423160"/>
            <a:ext cx="1234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172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10"/>
          <p:cNvSpPr/>
          <p:nvPr/>
        </p:nvSpPr>
        <p:spPr>
          <a:xfrm>
            <a:off x="3566160" y="2423160"/>
            <a:ext cx="1234080" cy="456840"/>
          </a:xfrm>
          <a:prstGeom prst="roundRect">
            <a:avLst>
              <a:gd name="adj" fmla="val 16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1"/>
          <p:cNvSpPr/>
          <p:nvPr/>
        </p:nvSpPr>
        <p:spPr>
          <a:xfrm>
            <a:off x="3566160" y="2423160"/>
            <a:ext cx="1234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68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12"/>
          <p:cNvSpPr/>
          <p:nvPr/>
        </p:nvSpPr>
        <p:spPr>
          <a:xfrm>
            <a:off x="4937760" y="2423160"/>
            <a:ext cx="1234080" cy="456840"/>
          </a:xfrm>
          <a:prstGeom prst="roundRect">
            <a:avLst>
              <a:gd name="adj" fmla="val 16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3"/>
          <p:cNvSpPr/>
          <p:nvPr/>
        </p:nvSpPr>
        <p:spPr>
          <a:xfrm>
            <a:off x="4937760" y="2423160"/>
            <a:ext cx="1234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21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4"/>
          <p:cNvSpPr/>
          <p:nvPr/>
        </p:nvSpPr>
        <p:spPr>
          <a:xfrm>
            <a:off x="822960" y="2971800"/>
            <a:ext cx="1188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Sara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15"/>
          <p:cNvSpPr/>
          <p:nvPr/>
        </p:nvSpPr>
        <p:spPr>
          <a:xfrm>
            <a:off x="2194560" y="2971800"/>
            <a:ext cx="1234080" cy="456840"/>
          </a:xfrm>
          <a:prstGeom prst="roundRect">
            <a:avLst>
              <a:gd name="adj" fmla="val 16000"/>
            </a:avLst>
          </a:prstGeom>
          <a:solidFill>
            <a:srgbClr val="ECEBFB"/>
          </a:solidFill>
          <a:ln w="12700">
            <a:solidFill>
              <a:srgbClr val="ECEB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6"/>
          <p:cNvSpPr/>
          <p:nvPr/>
        </p:nvSpPr>
        <p:spPr>
          <a:xfrm>
            <a:off x="2194560" y="2971800"/>
            <a:ext cx="1234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160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17"/>
          <p:cNvSpPr/>
          <p:nvPr/>
        </p:nvSpPr>
        <p:spPr>
          <a:xfrm>
            <a:off x="3566160" y="2971800"/>
            <a:ext cx="1234080" cy="456840"/>
          </a:xfrm>
          <a:prstGeom prst="roundRect">
            <a:avLst>
              <a:gd name="adj" fmla="val 16000"/>
            </a:avLst>
          </a:prstGeom>
          <a:solidFill>
            <a:srgbClr val="ECEBFB"/>
          </a:solidFill>
          <a:ln w="12700">
            <a:solidFill>
              <a:srgbClr val="ECEB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8"/>
          <p:cNvSpPr/>
          <p:nvPr/>
        </p:nvSpPr>
        <p:spPr>
          <a:xfrm>
            <a:off x="3566160" y="2971800"/>
            <a:ext cx="1234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55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19"/>
          <p:cNvSpPr/>
          <p:nvPr/>
        </p:nvSpPr>
        <p:spPr>
          <a:xfrm>
            <a:off x="4937760" y="2971800"/>
            <a:ext cx="1234080" cy="456840"/>
          </a:xfrm>
          <a:prstGeom prst="roundRect">
            <a:avLst>
              <a:gd name="adj" fmla="val 16000"/>
            </a:avLst>
          </a:prstGeom>
          <a:solidFill>
            <a:srgbClr val="ECEBFB"/>
          </a:solidFill>
          <a:ln w="12700">
            <a:solidFill>
              <a:srgbClr val="ECEB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0"/>
          <p:cNvSpPr/>
          <p:nvPr/>
        </p:nvSpPr>
        <p:spPr>
          <a:xfrm>
            <a:off x="4937760" y="2971800"/>
            <a:ext cx="1234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24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21"/>
          <p:cNvSpPr/>
          <p:nvPr/>
        </p:nvSpPr>
        <p:spPr>
          <a:xfrm>
            <a:off x="822960" y="3520440"/>
            <a:ext cx="1188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Omar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22"/>
          <p:cNvSpPr/>
          <p:nvPr/>
        </p:nvSpPr>
        <p:spPr>
          <a:xfrm>
            <a:off x="2194560" y="3520440"/>
            <a:ext cx="1234080" cy="456840"/>
          </a:xfrm>
          <a:prstGeom prst="roundRect">
            <a:avLst>
              <a:gd name="adj" fmla="val 16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23"/>
          <p:cNvSpPr/>
          <p:nvPr/>
        </p:nvSpPr>
        <p:spPr>
          <a:xfrm>
            <a:off x="2194560" y="3520440"/>
            <a:ext cx="1234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181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24"/>
          <p:cNvSpPr/>
          <p:nvPr/>
        </p:nvSpPr>
        <p:spPr>
          <a:xfrm>
            <a:off x="3566160" y="3520440"/>
            <a:ext cx="1234080" cy="456840"/>
          </a:xfrm>
          <a:prstGeom prst="roundRect">
            <a:avLst>
              <a:gd name="adj" fmla="val 16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5"/>
          <p:cNvSpPr/>
          <p:nvPr/>
        </p:nvSpPr>
        <p:spPr>
          <a:xfrm>
            <a:off x="3566160" y="3520440"/>
            <a:ext cx="1234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80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26"/>
          <p:cNvSpPr/>
          <p:nvPr/>
        </p:nvSpPr>
        <p:spPr>
          <a:xfrm>
            <a:off x="4937760" y="3520440"/>
            <a:ext cx="1234080" cy="456840"/>
          </a:xfrm>
          <a:prstGeom prst="roundRect">
            <a:avLst>
              <a:gd name="adj" fmla="val 16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27"/>
          <p:cNvSpPr/>
          <p:nvPr/>
        </p:nvSpPr>
        <p:spPr>
          <a:xfrm>
            <a:off x="4937760" y="3520440"/>
            <a:ext cx="1234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22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28"/>
          <p:cNvSpPr/>
          <p:nvPr/>
        </p:nvSpPr>
        <p:spPr>
          <a:xfrm>
            <a:off x="822960" y="4069080"/>
            <a:ext cx="1188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Zoya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29"/>
          <p:cNvSpPr/>
          <p:nvPr/>
        </p:nvSpPr>
        <p:spPr>
          <a:xfrm>
            <a:off x="2194560" y="4069080"/>
            <a:ext cx="1234080" cy="456840"/>
          </a:xfrm>
          <a:prstGeom prst="roundRect">
            <a:avLst>
              <a:gd name="adj" fmla="val 16000"/>
            </a:avLst>
          </a:prstGeom>
          <a:solidFill>
            <a:srgbClr val="ECEBFB"/>
          </a:solidFill>
          <a:ln w="12700">
            <a:solidFill>
              <a:srgbClr val="ECEB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30"/>
          <p:cNvSpPr/>
          <p:nvPr/>
        </p:nvSpPr>
        <p:spPr>
          <a:xfrm>
            <a:off x="2194560" y="4069080"/>
            <a:ext cx="1234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167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31"/>
          <p:cNvSpPr/>
          <p:nvPr/>
        </p:nvSpPr>
        <p:spPr>
          <a:xfrm>
            <a:off x="3566160" y="4069080"/>
            <a:ext cx="1234080" cy="456840"/>
          </a:xfrm>
          <a:prstGeom prst="roundRect">
            <a:avLst>
              <a:gd name="adj" fmla="val 16000"/>
            </a:avLst>
          </a:prstGeom>
          <a:solidFill>
            <a:srgbClr val="ECEBFB"/>
          </a:solidFill>
          <a:ln w="12700">
            <a:solidFill>
              <a:srgbClr val="ECEB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32"/>
          <p:cNvSpPr/>
          <p:nvPr/>
        </p:nvSpPr>
        <p:spPr>
          <a:xfrm>
            <a:off x="3566160" y="4069080"/>
            <a:ext cx="1234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61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33"/>
          <p:cNvSpPr/>
          <p:nvPr/>
        </p:nvSpPr>
        <p:spPr>
          <a:xfrm>
            <a:off x="4937760" y="4069080"/>
            <a:ext cx="1234080" cy="456840"/>
          </a:xfrm>
          <a:prstGeom prst="roundRect">
            <a:avLst>
              <a:gd name="adj" fmla="val 16000"/>
            </a:avLst>
          </a:prstGeom>
          <a:solidFill>
            <a:srgbClr val="ECEBFB"/>
          </a:solidFill>
          <a:ln w="12700">
            <a:solidFill>
              <a:srgbClr val="ECEB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34"/>
          <p:cNvSpPr/>
          <p:nvPr/>
        </p:nvSpPr>
        <p:spPr>
          <a:xfrm>
            <a:off x="4937760" y="4069080"/>
            <a:ext cx="1234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23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35"/>
          <p:cNvSpPr/>
          <p:nvPr/>
        </p:nvSpPr>
        <p:spPr>
          <a:xfrm>
            <a:off x="822960" y="4846320"/>
            <a:ext cx="6583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5755A7"/>
                </a:solidFill>
                <a:effectLst/>
                <a:uFillTx/>
                <a:latin typeface="Cantarell"/>
                <a:ea typeface="Cantarell"/>
              </a:rPr>
              <a:t>X is 4 × 3  →  4 rows (samples), 3 columns (features)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36"/>
          <p:cNvSpPr/>
          <p:nvPr/>
        </p:nvSpPr>
        <p:spPr>
          <a:xfrm>
            <a:off x="822960" y="5257800"/>
            <a:ext cx="6583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74651"/>
                </a:solidFill>
                <a:effectLst/>
                <a:uFillTx/>
                <a:latin typeface="Cantarell"/>
                <a:ea typeface="Cantarell"/>
              </a:rPr>
              <a:t>Each row is a vector: Ali = (172, 68, 21)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37"/>
          <p:cNvSpPr/>
          <p:nvPr/>
        </p:nvSpPr>
        <p:spPr>
          <a:xfrm>
            <a:off x="8046720" y="1600200"/>
            <a:ext cx="3611520" cy="4343040"/>
          </a:xfrm>
          <a:prstGeom prst="roundRect">
            <a:avLst>
              <a:gd name="adj" fmla="val 3038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38"/>
          <p:cNvSpPr/>
          <p:nvPr/>
        </p:nvSpPr>
        <p:spPr>
          <a:xfrm>
            <a:off x="8321040" y="1828800"/>
            <a:ext cx="31086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Tables become matrices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Rows = observations; columns = features.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NumPy, Pandas and every ML library store data exactly this way.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So operations on data are matrix operations.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1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2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Linear Algebra in ML &amp; Deep Learning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Weights are matrices; layers are multiplications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7"/>
          <p:cNvSpPr/>
          <p:nvPr/>
        </p:nvSpPr>
        <p:spPr>
          <a:xfrm>
            <a:off x="3749040" y="1737360"/>
            <a:ext cx="79092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Linear regression: ŷ = Xw — one matrix–vector product predicts all rows.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Neural-network layer: output = W·x + b, followed by an activation.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Images are matrices of pixels; text becomes vectors (embeddings).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Similarity search and recommenders compare vectors with the dot product.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PCA and dimensionality reduction use eigenvectors and SVD.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0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1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Linear Algebra in GCNs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3"/>
          <p:cNvSpPr/>
          <p:nvPr/>
        </p:nvSpPr>
        <p:spPr>
          <a:xfrm>
            <a:off x="548640" y="1600200"/>
            <a:ext cx="7223400" cy="434304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4"/>
          <p:cNvSpPr/>
          <p:nvPr/>
        </p:nvSpPr>
        <p:spPr>
          <a:xfrm>
            <a:off x="1371600" y="2743200"/>
            <a:ext cx="137160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5"/>
          <p:cNvSpPr/>
          <p:nvPr/>
        </p:nvSpPr>
        <p:spPr>
          <a:xfrm>
            <a:off x="2743200" y="2743200"/>
            <a:ext cx="137160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6"/>
          <p:cNvSpPr/>
          <p:nvPr/>
        </p:nvSpPr>
        <p:spPr>
          <a:xfrm>
            <a:off x="1097280" y="2468880"/>
            <a:ext cx="548280" cy="548280"/>
          </a:xfrm>
          <a:prstGeom prst="ellipse">
            <a:avLst/>
          </a:prstGeom>
          <a:solidFill>
            <a:srgbClr val="8C8AE0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7"/>
          <p:cNvSpPr/>
          <p:nvPr/>
        </p:nvSpPr>
        <p:spPr>
          <a:xfrm>
            <a:off x="1097280" y="24688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8"/>
          <p:cNvSpPr/>
          <p:nvPr/>
        </p:nvSpPr>
        <p:spPr>
          <a:xfrm>
            <a:off x="2468880" y="2468880"/>
            <a:ext cx="548280" cy="5482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9"/>
          <p:cNvSpPr/>
          <p:nvPr/>
        </p:nvSpPr>
        <p:spPr>
          <a:xfrm>
            <a:off x="2468880" y="24688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10"/>
          <p:cNvSpPr/>
          <p:nvPr/>
        </p:nvSpPr>
        <p:spPr>
          <a:xfrm>
            <a:off x="3840480" y="2468880"/>
            <a:ext cx="548280" cy="548280"/>
          </a:xfrm>
          <a:prstGeom prst="ellipse">
            <a:avLst/>
          </a:prstGeom>
          <a:solidFill>
            <a:srgbClr val="8C8AE0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1"/>
          <p:cNvSpPr/>
          <p:nvPr/>
        </p:nvSpPr>
        <p:spPr>
          <a:xfrm>
            <a:off x="3840480" y="24688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2"/>
          <p:cNvSpPr/>
          <p:nvPr/>
        </p:nvSpPr>
        <p:spPr>
          <a:xfrm>
            <a:off x="914400" y="324612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A tiny graph: 1 — 2 — 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3"/>
          <p:cNvSpPr/>
          <p:nvPr/>
        </p:nvSpPr>
        <p:spPr>
          <a:xfrm>
            <a:off x="5212080" y="187452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Adjacency matrix 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4"/>
          <p:cNvSpPr/>
          <p:nvPr/>
        </p:nvSpPr>
        <p:spPr>
          <a:xfrm>
            <a:off x="5394960" y="2286000"/>
            <a:ext cx="594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755A7"/>
                </a:solidFill>
                <a:effectLst/>
                <a:uFillTx/>
                <a:latin typeface="Cantarell"/>
                <a:ea typeface="Cantarell"/>
              </a:rPr>
              <a:t>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5"/>
          <p:cNvSpPr/>
          <p:nvPr/>
        </p:nvSpPr>
        <p:spPr>
          <a:xfrm>
            <a:off x="5989320" y="2286000"/>
            <a:ext cx="594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755A7"/>
                </a:solidFill>
                <a:effectLst/>
                <a:uFillTx/>
                <a:latin typeface="Cantarell"/>
                <a:ea typeface="Cantarel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6"/>
          <p:cNvSpPr/>
          <p:nvPr/>
        </p:nvSpPr>
        <p:spPr>
          <a:xfrm>
            <a:off x="6583680" y="2286000"/>
            <a:ext cx="594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755A7"/>
                </a:solidFill>
                <a:effectLst/>
                <a:uFillTx/>
                <a:latin typeface="Cantarell"/>
                <a:ea typeface="Cantarell"/>
              </a:rPr>
              <a:t>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7"/>
          <p:cNvSpPr/>
          <p:nvPr/>
        </p:nvSpPr>
        <p:spPr>
          <a:xfrm>
            <a:off x="5394960" y="2788920"/>
            <a:ext cx="594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755A7"/>
                </a:solidFill>
                <a:effectLst/>
                <a:uFillTx/>
                <a:latin typeface="Cantarell"/>
                <a:ea typeface="Cantarel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8"/>
          <p:cNvSpPr/>
          <p:nvPr/>
        </p:nvSpPr>
        <p:spPr>
          <a:xfrm>
            <a:off x="5989320" y="2788920"/>
            <a:ext cx="594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755A7"/>
                </a:solidFill>
                <a:effectLst/>
                <a:uFillTx/>
                <a:latin typeface="Cantarell"/>
                <a:ea typeface="Cantarell"/>
              </a:rPr>
              <a:t>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19"/>
          <p:cNvSpPr/>
          <p:nvPr/>
        </p:nvSpPr>
        <p:spPr>
          <a:xfrm>
            <a:off x="6583680" y="2788920"/>
            <a:ext cx="594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755A7"/>
                </a:solidFill>
                <a:effectLst/>
                <a:uFillTx/>
                <a:latin typeface="Cantarell"/>
                <a:ea typeface="Cantarel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20"/>
          <p:cNvSpPr/>
          <p:nvPr/>
        </p:nvSpPr>
        <p:spPr>
          <a:xfrm>
            <a:off x="5394960" y="3291840"/>
            <a:ext cx="594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755A7"/>
                </a:solidFill>
                <a:effectLst/>
                <a:uFillTx/>
                <a:latin typeface="Cantarell"/>
                <a:ea typeface="Cantarell"/>
              </a:rPr>
              <a:t>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21"/>
          <p:cNvSpPr/>
          <p:nvPr/>
        </p:nvSpPr>
        <p:spPr>
          <a:xfrm>
            <a:off x="5989320" y="3291840"/>
            <a:ext cx="594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755A7"/>
                </a:solidFill>
                <a:effectLst/>
                <a:uFillTx/>
                <a:latin typeface="Cantarell"/>
                <a:ea typeface="Cantarel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22"/>
          <p:cNvSpPr/>
          <p:nvPr/>
        </p:nvSpPr>
        <p:spPr>
          <a:xfrm>
            <a:off x="6583680" y="3291840"/>
            <a:ext cx="594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755A7"/>
                </a:solidFill>
                <a:effectLst/>
                <a:uFillTx/>
                <a:latin typeface="Cantarell"/>
                <a:ea typeface="Cantarell"/>
              </a:rPr>
              <a:t>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23"/>
          <p:cNvSpPr/>
          <p:nvPr/>
        </p:nvSpPr>
        <p:spPr>
          <a:xfrm>
            <a:off x="5321520" y="2286000"/>
            <a:ext cx="360" cy="1508760"/>
          </a:xfrm>
          <a:prstGeom prst="line">
            <a:avLst/>
          </a:prstGeom>
          <a:ln w="190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24"/>
          <p:cNvSpPr/>
          <p:nvPr/>
        </p:nvSpPr>
        <p:spPr>
          <a:xfrm>
            <a:off x="5321520" y="2286000"/>
            <a:ext cx="91440" cy="360"/>
          </a:xfrm>
          <a:prstGeom prst="line">
            <a:avLst/>
          </a:prstGeom>
          <a:ln w="190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25"/>
          <p:cNvSpPr/>
          <p:nvPr/>
        </p:nvSpPr>
        <p:spPr>
          <a:xfrm>
            <a:off x="5321520" y="3794760"/>
            <a:ext cx="91440" cy="360"/>
          </a:xfrm>
          <a:prstGeom prst="line">
            <a:avLst/>
          </a:prstGeom>
          <a:ln w="190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26"/>
          <p:cNvSpPr/>
          <p:nvPr/>
        </p:nvSpPr>
        <p:spPr>
          <a:xfrm>
            <a:off x="7251120" y="2286000"/>
            <a:ext cx="360" cy="1508760"/>
          </a:xfrm>
          <a:prstGeom prst="line">
            <a:avLst/>
          </a:prstGeom>
          <a:ln w="190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27"/>
          <p:cNvSpPr/>
          <p:nvPr/>
        </p:nvSpPr>
        <p:spPr>
          <a:xfrm flipH="1">
            <a:off x="7159680" y="2286000"/>
            <a:ext cx="91440" cy="360"/>
          </a:xfrm>
          <a:prstGeom prst="line">
            <a:avLst/>
          </a:prstGeom>
          <a:ln w="190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28"/>
          <p:cNvSpPr/>
          <p:nvPr/>
        </p:nvSpPr>
        <p:spPr>
          <a:xfrm flipH="1">
            <a:off x="7159680" y="3794760"/>
            <a:ext cx="91440" cy="360"/>
          </a:xfrm>
          <a:prstGeom prst="line">
            <a:avLst/>
          </a:prstGeom>
          <a:ln w="190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29"/>
          <p:cNvSpPr/>
          <p:nvPr/>
        </p:nvSpPr>
        <p:spPr>
          <a:xfrm>
            <a:off x="5029200" y="388620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Row i, column j = 1 if node i touches node j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30"/>
          <p:cNvSpPr/>
          <p:nvPr/>
        </p:nvSpPr>
        <p:spPr>
          <a:xfrm>
            <a:off x="868680" y="4069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One GCN layer: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31"/>
          <p:cNvSpPr/>
          <p:nvPr/>
        </p:nvSpPr>
        <p:spPr>
          <a:xfrm>
            <a:off x="868680" y="4434840"/>
            <a:ext cx="6583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Cantarell"/>
                <a:ea typeface="Cantarell"/>
              </a:rPr>
              <a:t>H′ = σ( D^(−½) · (A + I) · D^(−½) · H · W 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32"/>
          <p:cNvSpPr/>
          <p:nvPr/>
        </p:nvSpPr>
        <p:spPr>
          <a:xfrm>
            <a:off x="868680" y="4937760"/>
            <a:ext cx="6583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4651"/>
                </a:solidFill>
                <a:effectLst/>
                <a:uFillTx/>
                <a:latin typeface="Cantarell"/>
                <a:ea typeface="Cantarell"/>
              </a:rPr>
              <a:t>A: who is connected   H: node features   W: learned weights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33"/>
          <p:cNvSpPr/>
          <p:nvPr/>
        </p:nvSpPr>
        <p:spPr>
          <a:xfrm>
            <a:off x="8046720" y="1600200"/>
            <a:ext cx="3611520" cy="4343040"/>
          </a:xfrm>
          <a:prstGeom prst="roundRect">
            <a:avLst>
              <a:gd name="adj" fmla="val 3038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34"/>
          <p:cNvSpPr/>
          <p:nvPr/>
        </p:nvSpPr>
        <p:spPr>
          <a:xfrm>
            <a:off x="8321040" y="1828800"/>
            <a:ext cx="31086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Messages along edges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A graph is stored as a matrix A.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Multiplying A by the feature matrix X adds up each node’s neighbours — a “message pass”.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Stack layers, and information travels further across the graph.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6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7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GCN Idea in Four Lines of NumPy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3"/>
          <p:cNvSpPr/>
          <p:nvPr/>
        </p:nvSpPr>
        <p:spPr>
          <a:xfrm>
            <a:off x="548640" y="1737360"/>
            <a:ext cx="5394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A·X sums each node’s neighbour features.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Node 2 touches nodes 1 and 3, so it receives (1,0) + (1,1) = (2,1).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That aggregation is the core of a graph convolution.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4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5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6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7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8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numpy as np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 = np.array([[0,1,0],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          [1,0,1],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          [0,1,0]])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X = np.array([[1,0],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          [0,1],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          [1,1]])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print(A @ X)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[[0 1]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 [2 1]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 [0 1]]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6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7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Where It’s Used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Why is a spreadsheet of 500 students × 6 features “a matrix”?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11"/>
          <p:cNvSpPr/>
          <p:nvPr/>
        </p:nvSpPr>
        <p:spPr>
          <a:xfrm>
            <a:off x="548640" y="292608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12"/>
          <p:cNvSpPr/>
          <p:nvPr/>
        </p:nvSpPr>
        <p:spPr>
          <a:xfrm>
            <a:off x="731520" y="316368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13"/>
          <p:cNvSpPr/>
          <p:nvPr/>
        </p:nvSpPr>
        <p:spPr>
          <a:xfrm>
            <a:off x="731520" y="31636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14"/>
          <p:cNvSpPr/>
          <p:nvPr/>
        </p:nvSpPr>
        <p:spPr>
          <a:xfrm>
            <a:off x="1234440" y="29260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 one sentence: why does a neural network layer need matrix multiplication?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15"/>
          <p:cNvSpPr/>
          <p:nvPr/>
        </p:nvSpPr>
        <p:spPr>
          <a:xfrm>
            <a:off x="548640" y="388620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16"/>
          <p:cNvSpPr/>
          <p:nvPr/>
        </p:nvSpPr>
        <p:spPr>
          <a:xfrm>
            <a:off x="731520" y="41238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17"/>
          <p:cNvSpPr/>
          <p:nvPr/>
        </p:nvSpPr>
        <p:spPr>
          <a:xfrm>
            <a:off x="731520" y="4123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18"/>
          <p:cNvSpPr/>
          <p:nvPr/>
        </p:nvSpPr>
        <p:spPr>
          <a:xfrm>
            <a:off x="1234440" y="388620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What does A @ X do for a node in a graph?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19"/>
          <p:cNvSpPr/>
          <p:nvPr/>
        </p:nvSpPr>
        <p:spPr>
          <a:xfrm>
            <a:off x="548640" y="484632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20"/>
          <p:cNvSpPr/>
          <p:nvPr/>
        </p:nvSpPr>
        <p:spPr>
          <a:xfrm>
            <a:off x="731520" y="5083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21"/>
          <p:cNvSpPr/>
          <p:nvPr/>
        </p:nvSpPr>
        <p:spPr>
          <a:xfrm>
            <a:off x="731520" y="5083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22"/>
          <p:cNvSpPr/>
          <p:nvPr/>
        </p:nvSpPr>
        <p:spPr>
          <a:xfrm>
            <a:off x="1234440" y="48463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Name one other place you have seen a table of numbers in everyday life.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20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1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2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3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4"/>
          <p:cNvSpPr/>
          <p:nvPr/>
        </p:nvSpPr>
        <p:spPr>
          <a:xfrm>
            <a:off x="640080" y="274320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Scalars &amp; Vectors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The building blocks — a single number, and a list of numbers with direction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6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7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Is a Scalar?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5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A single number — only size, no direction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7"/>
          <p:cNvSpPr/>
          <p:nvPr/>
        </p:nvSpPr>
        <p:spPr>
          <a:xfrm>
            <a:off x="3749040" y="1737360"/>
            <a:ext cx="79092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Examples: temperature 30°C, price 250, a learning rate 0.01.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Scalars scale things: multiplying a vector by a scalar stretches or shrinks it.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 Python a scalar is just an int or float.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Scalars have 0 dimensions — no rows, no columns.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5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6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Is a Vector?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v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An ordered list of numbers — size AND direction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7"/>
          <p:cNvSpPr/>
          <p:nvPr/>
        </p:nvSpPr>
        <p:spPr>
          <a:xfrm>
            <a:off x="3749040" y="1737360"/>
            <a:ext cx="79092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vector like v = (3, 2) is an arrow: 3 units right, 2 units up.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 data, a vector is one row — one student, one image, one word embedding.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Order matters: (3, 2) is not (2, 3).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number of entries is its dimension: v = (3, 2) lives in 2D.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4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5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Scalar → Vector → Matrix → Tensor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3"/>
          <p:cNvSpPr/>
          <p:nvPr/>
        </p:nvSpPr>
        <p:spPr>
          <a:xfrm>
            <a:off x="548640" y="1600200"/>
            <a:ext cx="7223400" cy="434304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4"/>
          <p:cNvSpPr/>
          <p:nvPr/>
        </p:nvSpPr>
        <p:spPr>
          <a:xfrm>
            <a:off x="868680" y="3017520"/>
            <a:ext cx="639720" cy="639720"/>
          </a:xfrm>
          <a:prstGeom prst="roundRect">
            <a:avLst>
              <a:gd name="adj" fmla="val 17143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5"/>
          <p:cNvSpPr/>
          <p:nvPr/>
        </p:nvSpPr>
        <p:spPr>
          <a:xfrm>
            <a:off x="868680" y="301752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ntarell"/>
                <a:ea typeface="Cantarell"/>
              </a:rPr>
              <a:t>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6"/>
          <p:cNvSpPr/>
          <p:nvPr/>
        </p:nvSpPr>
        <p:spPr>
          <a:xfrm>
            <a:off x="2194560" y="2468880"/>
            <a:ext cx="639720" cy="502560"/>
          </a:xfrm>
          <a:prstGeom prst="roundRect">
            <a:avLst>
              <a:gd name="adj" fmla="val 14545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7"/>
          <p:cNvSpPr/>
          <p:nvPr/>
        </p:nvSpPr>
        <p:spPr>
          <a:xfrm>
            <a:off x="2194560" y="2468880"/>
            <a:ext cx="639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Cantarell"/>
                <a:ea typeface="Cantarel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8"/>
          <p:cNvSpPr/>
          <p:nvPr/>
        </p:nvSpPr>
        <p:spPr>
          <a:xfrm>
            <a:off x="2194560" y="3017520"/>
            <a:ext cx="639720" cy="502560"/>
          </a:xfrm>
          <a:prstGeom prst="roundRect">
            <a:avLst>
              <a:gd name="adj" fmla="val 14545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9"/>
          <p:cNvSpPr/>
          <p:nvPr/>
        </p:nvSpPr>
        <p:spPr>
          <a:xfrm>
            <a:off x="2194560" y="3017520"/>
            <a:ext cx="639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Cantarell"/>
                <a:ea typeface="Cantarel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10"/>
          <p:cNvSpPr/>
          <p:nvPr/>
        </p:nvSpPr>
        <p:spPr>
          <a:xfrm>
            <a:off x="2194560" y="3566160"/>
            <a:ext cx="639720" cy="502560"/>
          </a:xfrm>
          <a:prstGeom prst="roundRect">
            <a:avLst>
              <a:gd name="adj" fmla="val 14545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11"/>
          <p:cNvSpPr/>
          <p:nvPr/>
        </p:nvSpPr>
        <p:spPr>
          <a:xfrm>
            <a:off x="2194560" y="3566160"/>
            <a:ext cx="639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Cantarell"/>
                <a:ea typeface="Cantarel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12"/>
          <p:cNvSpPr/>
          <p:nvPr/>
        </p:nvSpPr>
        <p:spPr>
          <a:xfrm>
            <a:off x="3566160" y="2468880"/>
            <a:ext cx="502560" cy="502560"/>
          </a:xfrm>
          <a:prstGeom prst="roundRect">
            <a:avLst>
              <a:gd name="adj" fmla="val 14545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13"/>
          <p:cNvSpPr/>
          <p:nvPr/>
        </p:nvSpPr>
        <p:spPr>
          <a:xfrm>
            <a:off x="4114800" y="2468880"/>
            <a:ext cx="502560" cy="502560"/>
          </a:xfrm>
          <a:prstGeom prst="roundRect">
            <a:avLst>
              <a:gd name="adj" fmla="val 14545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14"/>
          <p:cNvSpPr/>
          <p:nvPr/>
        </p:nvSpPr>
        <p:spPr>
          <a:xfrm>
            <a:off x="4663440" y="2468880"/>
            <a:ext cx="502560" cy="502560"/>
          </a:xfrm>
          <a:prstGeom prst="roundRect">
            <a:avLst>
              <a:gd name="adj" fmla="val 14545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15"/>
          <p:cNvSpPr/>
          <p:nvPr/>
        </p:nvSpPr>
        <p:spPr>
          <a:xfrm>
            <a:off x="3566160" y="3017520"/>
            <a:ext cx="502560" cy="502560"/>
          </a:xfrm>
          <a:prstGeom prst="roundRect">
            <a:avLst>
              <a:gd name="adj" fmla="val 14545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16"/>
          <p:cNvSpPr/>
          <p:nvPr/>
        </p:nvSpPr>
        <p:spPr>
          <a:xfrm>
            <a:off x="4114800" y="3017520"/>
            <a:ext cx="502560" cy="502560"/>
          </a:xfrm>
          <a:prstGeom prst="roundRect">
            <a:avLst>
              <a:gd name="adj" fmla="val 14545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17"/>
          <p:cNvSpPr/>
          <p:nvPr/>
        </p:nvSpPr>
        <p:spPr>
          <a:xfrm>
            <a:off x="4663440" y="3017520"/>
            <a:ext cx="502560" cy="502560"/>
          </a:xfrm>
          <a:prstGeom prst="roundRect">
            <a:avLst>
              <a:gd name="adj" fmla="val 14545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18"/>
          <p:cNvSpPr/>
          <p:nvPr/>
        </p:nvSpPr>
        <p:spPr>
          <a:xfrm>
            <a:off x="3566160" y="3566160"/>
            <a:ext cx="502560" cy="502560"/>
          </a:xfrm>
          <a:prstGeom prst="roundRect">
            <a:avLst>
              <a:gd name="adj" fmla="val 14545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19"/>
          <p:cNvSpPr/>
          <p:nvPr/>
        </p:nvSpPr>
        <p:spPr>
          <a:xfrm>
            <a:off x="4114800" y="3566160"/>
            <a:ext cx="502560" cy="502560"/>
          </a:xfrm>
          <a:prstGeom prst="roundRect">
            <a:avLst>
              <a:gd name="adj" fmla="val 14545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20"/>
          <p:cNvSpPr/>
          <p:nvPr/>
        </p:nvSpPr>
        <p:spPr>
          <a:xfrm>
            <a:off x="4663440" y="3566160"/>
            <a:ext cx="502560" cy="502560"/>
          </a:xfrm>
          <a:prstGeom prst="roundRect">
            <a:avLst>
              <a:gd name="adj" fmla="val 14545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21"/>
          <p:cNvSpPr/>
          <p:nvPr/>
        </p:nvSpPr>
        <p:spPr>
          <a:xfrm>
            <a:off x="5669280" y="2688480"/>
            <a:ext cx="1096920" cy="1096920"/>
          </a:xfrm>
          <a:prstGeom prst="roundRect">
            <a:avLst>
              <a:gd name="adj" fmla="val 6667"/>
            </a:avLst>
          </a:prstGeom>
          <a:solidFill>
            <a:srgbClr val="D9D7F7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22"/>
          <p:cNvSpPr/>
          <p:nvPr/>
        </p:nvSpPr>
        <p:spPr>
          <a:xfrm>
            <a:off x="5897880" y="2578680"/>
            <a:ext cx="1096920" cy="1096920"/>
          </a:xfrm>
          <a:prstGeom prst="roundRect">
            <a:avLst>
              <a:gd name="adj" fmla="val 6667"/>
            </a:avLst>
          </a:prstGeom>
          <a:solidFill>
            <a:srgbClr val="D9D7F7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23"/>
          <p:cNvSpPr/>
          <p:nvPr/>
        </p:nvSpPr>
        <p:spPr>
          <a:xfrm>
            <a:off x="6126480" y="2468880"/>
            <a:ext cx="1096920" cy="1096920"/>
          </a:xfrm>
          <a:prstGeom prst="roundRect">
            <a:avLst>
              <a:gd name="adj" fmla="val 6667"/>
            </a:avLst>
          </a:prstGeom>
          <a:solidFill>
            <a:srgbClr val="8C8AE0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24"/>
          <p:cNvSpPr/>
          <p:nvPr/>
        </p:nvSpPr>
        <p:spPr>
          <a:xfrm>
            <a:off x="640080" y="4297680"/>
            <a:ext cx="1737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Scalar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0-D · one number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25"/>
          <p:cNvSpPr/>
          <p:nvPr/>
        </p:nvSpPr>
        <p:spPr>
          <a:xfrm>
            <a:off x="1920240" y="4297680"/>
            <a:ext cx="1737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Vector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1-D · a list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26"/>
          <p:cNvSpPr/>
          <p:nvPr/>
        </p:nvSpPr>
        <p:spPr>
          <a:xfrm>
            <a:off x="3749040" y="4297680"/>
            <a:ext cx="1737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Matrix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2-D · a table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27"/>
          <p:cNvSpPr/>
          <p:nvPr/>
        </p:nvSpPr>
        <p:spPr>
          <a:xfrm>
            <a:off x="5760720" y="4297680"/>
            <a:ext cx="1737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Tensor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3-D+ · stack of tables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28"/>
          <p:cNvSpPr/>
          <p:nvPr/>
        </p:nvSpPr>
        <p:spPr>
          <a:xfrm>
            <a:off x="8046720" y="1600200"/>
            <a:ext cx="3611520" cy="4343040"/>
          </a:xfrm>
          <a:prstGeom prst="roundRect">
            <a:avLst>
              <a:gd name="adj" fmla="val 3038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29"/>
          <p:cNvSpPr/>
          <p:nvPr/>
        </p:nvSpPr>
        <p:spPr>
          <a:xfrm>
            <a:off x="8321040" y="1828800"/>
            <a:ext cx="31086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Same idea, more dimensions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Each step adds one dimension.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In NumPy every one of them is an array — only .ndim differs.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Deep learning mostly manipulates tensors.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5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6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Scalar vs. Vector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3"/>
          <p:cNvSpPr/>
          <p:nvPr/>
        </p:nvSpPr>
        <p:spPr>
          <a:xfrm>
            <a:off x="54864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4"/>
          <p:cNvSpPr/>
          <p:nvPr/>
        </p:nvSpPr>
        <p:spPr>
          <a:xfrm>
            <a:off x="777240" y="1965960"/>
            <a:ext cx="5028840" cy="4568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5"/>
          <p:cNvSpPr/>
          <p:nvPr/>
        </p:nvSpPr>
        <p:spPr>
          <a:xfrm>
            <a:off x="777240" y="19659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Scalar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6"/>
          <p:cNvSpPr/>
          <p:nvPr/>
        </p:nvSpPr>
        <p:spPr>
          <a:xfrm>
            <a:off x="822960" y="2697480"/>
            <a:ext cx="493740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One number.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Magnitude only — “30 km/h”.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Written as a plain letter: a, k, λ.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ndim = 0.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8"/>
          <p:cNvSpPr/>
          <p:nvPr/>
        </p:nvSpPr>
        <p:spPr>
          <a:xfrm>
            <a:off x="6400800" y="1965960"/>
            <a:ext cx="5028840" cy="4568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9"/>
          <p:cNvSpPr/>
          <p:nvPr/>
        </p:nvSpPr>
        <p:spPr>
          <a:xfrm>
            <a:off x="6400800" y="19659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Vector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10"/>
          <p:cNvSpPr/>
          <p:nvPr/>
        </p:nvSpPr>
        <p:spPr>
          <a:xfrm>
            <a:off x="6446520" y="2697480"/>
            <a:ext cx="493740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Several numbers in order.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Magnitude AND direction — “30 km/h north”.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Written bold or with an arrow: v, →v.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ndim = 1, shape = (n,).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7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8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Scalars &amp; Vectors in NumPy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3"/>
          <p:cNvSpPr/>
          <p:nvPr/>
        </p:nvSpPr>
        <p:spPr>
          <a:xfrm>
            <a:off x="548640" y="1737360"/>
            <a:ext cx="5394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np.array builds a vector.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.shape gives its length; .ndim its dimensions.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Vectors support arithmetic element by element.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4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5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6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7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8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numpy as np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s = 5                  # scalar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v = np.array([3, 2])    # vector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print(v.shape)   # (2,)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print(v.ndim)    #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print(v[0], v[1])  # 3 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print(v + 1)     # [4 3]  (adds to each)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7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8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Cartesian Coordinates &amp; Vectors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3"/>
          <p:cNvSpPr/>
          <p:nvPr/>
        </p:nvSpPr>
        <p:spPr>
          <a:xfrm>
            <a:off x="548640" y="1600200"/>
            <a:ext cx="7223400" cy="434304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4"/>
          <p:cNvSpPr/>
          <p:nvPr/>
        </p:nvSpPr>
        <p:spPr>
          <a:xfrm flipV="1">
            <a:off x="868680" y="1783080"/>
            <a:ext cx="360" cy="384048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5"/>
          <p:cNvSpPr/>
          <p:nvPr/>
        </p:nvSpPr>
        <p:spPr>
          <a:xfrm flipV="1">
            <a:off x="1508760" y="1783080"/>
            <a:ext cx="360" cy="384048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6"/>
          <p:cNvSpPr/>
          <p:nvPr/>
        </p:nvSpPr>
        <p:spPr>
          <a:xfrm flipV="1">
            <a:off x="2148840" y="1783080"/>
            <a:ext cx="360" cy="384048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7"/>
          <p:cNvSpPr/>
          <p:nvPr/>
        </p:nvSpPr>
        <p:spPr>
          <a:xfrm flipV="1">
            <a:off x="2788920" y="1783080"/>
            <a:ext cx="360" cy="384048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8"/>
          <p:cNvSpPr/>
          <p:nvPr/>
        </p:nvSpPr>
        <p:spPr>
          <a:xfrm flipV="1">
            <a:off x="3429000" y="1783080"/>
            <a:ext cx="360" cy="384048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9"/>
          <p:cNvSpPr/>
          <p:nvPr/>
        </p:nvSpPr>
        <p:spPr>
          <a:xfrm flipV="1">
            <a:off x="4069080" y="1783080"/>
            <a:ext cx="360" cy="384048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10"/>
          <p:cNvSpPr/>
          <p:nvPr/>
        </p:nvSpPr>
        <p:spPr>
          <a:xfrm flipV="1">
            <a:off x="4709160" y="1783080"/>
            <a:ext cx="360" cy="384048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11"/>
          <p:cNvSpPr/>
          <p:nvPr/>
        </p:nvSpPr>
        <p:spPr>
          <a:xfrm flipV="1">
            <a:off x="5349240" y="1783080"/>
            <a:ext cx="360" cy="384048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12"/>
          <p:cNvSpPr/>
          <p:nvPr/>
        </p:nvSpPr>
        <p:spPr>
          <a:xfrm flipV="1">
            <a:off x="5989320" y="1783080"/>
            <a:ext cx="360" cy="384048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13"/>
          <p:cNvSpPr/>
          <p:nvPr/>
        </p:nvSpPr>
        <p:spPr>
          <a:xfrm flipV="1">
            <a:off x="6629400" y="1783080"/>
            <a:ext cx="360" cy="384048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14"/>
          <p:cNvSpPr/>
          <p:nvPr/>
        </p:nvSpPr>
        <p:spPr>
          <a:xfrm flipV="1">
            <a:off x="7269480" y="1783080"/>
            <a:ext cx="360" cy="384048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15"/>
          <p:cNvSpPr/>
          <p:nvPr/>
        </p:nvSpPr>
        <p:spPr>
          <a:xfrm>
            <a:off x="868680" y="5623560"/>
            <a:ext cx="64008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16"/>
          <p:cNvSpPr/>
          <p:nvPr/>
        </p:nvSpPr>
        <p:spPr>
          <a:xfrm>
            <a:off x="868680" y="4983480"/>
            <a:ext cx="6400800" cy="36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17"/>
          <p:cNvSpPr/>
          <p:nvPr/>
        </p:nvSpPr>
        <p:spPr>
          <a:xfrm>
            <a:off x="868680" y="4343400"/>
            <a:ext cx="64008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18"/>
          <p:cNvSpPr/>
          <p:nvPr/>
        </p:nvSpPr>
        <p:spPr>
          <a:xfrm>
            <a:off x="868680" y="3703320"/>
            <a:ext cx="64008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19"/>
          <p:cNvSpPr/>
          <p:nvPr/>
        </p:nvSpPr>
        <p:spPr>
          <a:xfrm>
            <a:off x="868680" y="3063240"/>
            <a:ext cx="64008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20"/>
          <p:cNvSpPr/>
          <p:nvPr/>
        </p:nvSpPr>
        <p:spPr>
          <a:xfrm>
            <a:off x="868680" y="2423160"/>
            <a:ext cx="64008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21"/>
          <p:cNvSpPr/>
          <p:nvPr/>
        </p:nvSpPr>
        <p:spPr>
          <a:xfrm>
            <a:off x="868680" y="1783080"/>
            <a:ext cx="64008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22"/>
          <p:cNvSpPr/>
          <p:nvPr/>
        </p:nvSpPr>
        <p:spPr>
          <a:xfrm flipV="1">
            <a:off x="1508760" y="3703320"/>
            <a:ext cx="1920240" cy="1280160"/>
          </a:xfrm>
          <a:prstGeom prst="line">
            <a:avLst/>
          </a:prstGeom>
          <a:ln w="38100">
            <a:solidFill>
              <a:srgbClr val="5755A7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23"/>
          <p:cNvSpPr/>
          <p:nvPr/>
        </p:nvSpPr>
        <p:spPr>
          <a:xfrm flipV="1">
            <a:off x="3429000" y="3703320"/>
            <a:ext cx="360" cy="1280160"/>
          </a:xfrm>
          <a:prstGeom prst="line">
            <a:avLst/>
          </a:prstGeom>
          <a:ln w="19050">
            <a:solidFill>
              <a:srgbClr val="2DD4BF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24"/>
          <p:cNvSpPr/>
          <p:nvPr/>
        </p:nvSpPr>
        <p:spPr>
          <a:xfrm>
            <a:off x="1508760" y="3703320"/>
            <a:ext cx="1920240" cy="360"/>
          </a:xfrm>
          <a:prstGeom prst="line">
            <a:avLst/>
          </a:prstGeom>
          <a:ln w="19050">
            <a:solidFill>
              <a:srgbClr val="2DD4BF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25"/>
          <p:cNvSpPr/>
          <p:nvPr/>
        </p:nvSpPr>
        <p:spPr>
          <a:xfrm>
            <a:off x="5934600" y="3008520"/>
            <a:ext cx="109440" cy="1094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26"/>
          <p:cNvSpPr/>
          <p:nvPr/>
        </p:nvSpPr>
        <p:spPr>
          <a:xfrm>
            <a:off x="3520440" y="338328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755A7"/>
                </a:solidFill>
                <a:effectLst/>
                <a:uFillTx/>
                <a:latin typeface="Cantarell"/>
                <a:ea typeface="Cantarell"/>
              </a:rPr>
              <a:t>v = (3, 2)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27"/>
          <p:cNvSpPr/>
          <p:nvPr/>
        </p:nvSpPr>
        <p:spPr>
          <a:xfrm>
            <a:off x="6080760" y="274320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3F5E"/>
                </a:solidFill>
                <a:effectLst/>
                <a:uFillTx/>
                <a:latin typeface="Cantarell"/>
                <a:ea typeface="Cantarell"/>
              </a:rPr>
              <a:t>point </a:t>
            </a:r>
            <a:r>
              <a:rPr lang="en-US" sz="1200" b="1" u="none" strike="noStrike">
                <a:solidFill>
                  <a:srgbClr val="F43F5E"/>
                </a:solidFill>
                <a:effectLst/>
                <a:uFillTx/>
                <a:latin typeface="Cantarell"/>
                <a:ea typeface="Cantarell"/>
              </a:rPr>
              <a:t>(7, 3)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28"/>
          <p:cNvSpPr/>
          <p:nvPr/>
        </p:nvSpPr>
        <p:spPr>
          <a:xfrm>
            <a:off x="7086600" y="50292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74651"/>
                </a:solidFill>
                <a:effectLst/>
                <a:uFillTx/>
                <a:latin typeface="Cantarell"/>
                <a:ea typeface="Cantarell"/>
              </a:rPr>
              <a:t>x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29"/>
          <p:cNvSpPr/>
          <p:nvPr/>
        </p:nvSpPr>
        <p:spPr>
          <a:xfrm>
            <a:off x="1600200" y="17830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74651"/>
                </a:solidFill>
                <a:effectLst/>
                <a:uFillTx/>
                <a:latin typeface="Cantarell"/>
                <a:ea typeface="Cantarell"/>
              </a:rPr>
              <a:t>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30"/>
          <p:cNvSpPr/>
          <p:nvPr/>
        </p:nvSpPr>
        <p:spPr>
          <a:xfrm>
            <a:off x="8046720" y="1600200"/>
            <a:ext cx="3611520" cy="4343040"/>
          </a:xfrm>
          <a:prstGeom prst="roundRect">
            <a:avLst>
              <a:gd name="adj" fmla="val 3038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31"/>
          <p:cNvSpPr/>
          <p:nvPr/>
        </p:nvSpPr>
        <p:spPr>
          <a:xfrm>
            <a:off x="8321040" y="1828800"/>
            <a:ext cx="31086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Locating things by numbers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Two perpendicular axes meet at the origin (0, 0).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A point is a position; a vector is the arrow from the origin to it.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v = (3, 2): move 3 along x, 2 along y.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Three coordinates → 3D; n coordinates → n-D (data!).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0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1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Magnitude &amp; Unit Vectors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3"/>
          <p:cNvSpPr/>
          <p:nvPr/>
        </p:nvSpPr>
        <p:spPr>
          <a:xfrm>
            <a:off x="548640" y="1737360"/>
            <a:ext cx="5394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Magnitude (length): ‖v‖ = √(v₁² + v₂² + …).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unit vector has length 1 and keeps the direction.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Unit vectors are made by dividing v by its own length.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4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5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Shape 6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Shape 7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8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magnitude (Pythagoras)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‖v‖ = √(v₁² + v₂² + … + vₙ²)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unit vector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û = v / ‖v‖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standard unit vectors in 2D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î = (1, 0)     ĵ = (0, 1)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any vector: v = 3î + 2ĵ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0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1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Magnitude &amp; Unit Vector: v = (3, 4)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1.  ‖v‖ = √(3² + 4²)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      = √(9 + 16)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      = √25 = 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2.  Unit vector: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   û = v / 5 = (3/5, 4/5)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     = (0.6, 0.8)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3.  Check: √(0.36 + 0.64) = 1  ✓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numpy as np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v = np.array([3, 4])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mag = np.linalg.norm(v)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print(mag)        # 5.0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u = v / mag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print(u)          # [0.6 0.8]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print(np.linalg.norm(u))  # 1.0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3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4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Scaling a Vector by a Scalar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Shape 3"/>
          <p:cNvSpPr/>
          <p:nvPr/>
        </p:nvSpPr>
        <p:spPr>
          <a:xfrm>
            <a:off x="548640" y="1600200"/>
            <a:ext cx="7223400" cy="434304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Shape 4"/>
          <p:cNvSpPr/>
          <p:nvPr/>
        </p:nvSpPr>
        <p:spPr>
          <a:xfrm flipV="1">
            <a:off x="868680" y="1783080"/>
            <a:ext cx="360" cy="384048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5"/>
          <p:cNvSpPr/>
          <p:nvPr/>
        </p:nvSpPr>
        <p:spPr>
          <a:xfrm flipV="1">
            <a:off x="1508760" y="1783080"/>
            <a:ext cx="360" cy="384048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6"/>
          <p:cNvSpPr/>
          <p:nvPr/>
        </p:nvSpPr>
        <p:spPr>
          <a:xfrm flipV="1">
            <a:off x="2148840" y="1783080"/>
            <a:ext cx="360" cy="384048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7"/>
          <p:cNvSpPr/>
          <p:nvPr/>
        </p:nvSpPr>
        <p:spPr>
          <a:xfrm flipV="1">
            <a:off x="2788920" y="1783080"/>
            <a:ext cx="360" cy="384048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8"/>
          <p:cNvSpPr/>
          <p:nvPr/>
        </p:nvSpPr>
        <p:spPr>
          <a:xfrm flipV="1">
            <a:off x="3429000" y="1783080"/>
            <a:ext cx="360" cy="384048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9"/>
          <p:cNvSpPr/>
          <p:nvPr/>
        </p:nvSpPr>
        <p:spPr>
          <a:xfrm flipV="1">
            <a:off x="4069080" y="1783080"/>
            <a:ext cx="360" cy="384048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Shape 10"/>
          <p:cNvSpPr/>
          <p:nvPr/>
        </p:nvSpPr>
        <p:spPr>
          <a:xfrm flipV="1">
            <a:off x="4709160" y="1783080"/>
            <a:ext cx="360" cy="384048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Shape 11"/>
          <p:cNvSpPr/>
          <p:nvPr/>
        </p:nvSpPr>
        <p:spPr>
          <a:xfrm flipV="1">
            <a:off x="5349240" y="1783080"/>
            <a:ext cx="360" cy="384048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Shape 12"/>
          <p:cNvSpPr/>
          <p:nvPr/>
        </p:nvSpPr>
        <p:spPr>
          <a:xfrm flipV="1">
            <a:off x="5989320" y="1783080"/>
            <a:ext cx="360" cy="384048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Shape 13"/>
          <p:cNvSpPr/>
          <p:nvPr/>
        </p:nvSpPr>
        <p:spPr>
          <a:xfrm flipV="1">
            <a:off x="6629400" y="1783080"/>
            <a:ext cx="360" cy="384048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14"/>
          <p:cNvSpPr/>
          <p:nvPr/>
        </p:nvSpPr>
        <p:spPr>
          <a:xfrm flipV="1">
            <a:off x="7269480" y="1783080"/>
            <a:ext cx="360" cy="384048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15"/>
          <p:cNvSpPr/>
          <p:nvPr/>
        </p:nvSpPr>
        <p:spPr>
          <a:xfrm>
            <a:off x="868680" y="5623560"/>
            <a:ext cx="64008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16"/>
          <p:cNvSpPr/>
          <p:nvPr/>
        </p:nvSpPr>
        <p:spPr>
          <a:xfrm>
            <a:off x="868680" y="4983480"/>
            <a:ext cx="64008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17"/>
          <p:cNvSpPr/>
          <p:nvPr/>
        </p:nvSpPr>
        <p:spPr>
          <a:xfrm>
            <a:off x="868680" y="4343400"/>
            <a:ext cx="6400800" cy="36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18"/>
          <p:cNvSpPr/>
          <p:nvPr/>
        </p:nvSpPr>
        <p:spPr>
          <a:xfrm>
            <a:off x="868680" y="3703320"/>
            <a:ext cx="64008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Shape 19"/>
          <p:cNvSpPr/>
          <p:nvPr/>
        </p:nvSpPr>
        <p:spPr>
          <a:xfrm>
            <a:off x="868680" y="3063240"/>
            <a:ext cx="64008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Shape 20"/>
          <p:cNvSpPr/>
          <p:nvPr/>
        </p:nvSpPr>
        <p:spPr>
          <a:xfrm>
            <a:off x="868680" y="2423160"/>
            <a:ext cx="64008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Shape 21"/>
          <p:cNvSpPr/>
          <p:nvPr/>
        </p:nvSpPr>
        <p:spPr>
          <a:xfrm>
            <a:off x="868680" y="1783080"/>
            <a:ext cx="64008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Shape 22"/>
          <p:cNvSpPr/>
          <p:nvPr/>
        </p:nvSpPr>
        <p:spPr>
          <a:xfrm flipV="1">
            <a:off x="2788920" y="3063240"/>
            <a:ext cx="2560320" cy="1280160"/>
          </a:xfrm>
          <a:prstGeom prst="line">
            <a:avLst/>
          </a:prstGeom>
          <a:ln w="76200">
            <a:solidFill>
              <a:srgbClr val="C9C6F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23"/>
          <p:cNvSpPr/>
          <p:nvPr/>
        </p:nvSpPr>
        <p:spPr>
          <a:xfrm flipV="1">
            <a:off x="2788920" y="3703320"/>
            <a:ext cx="1280160" cy="640080"/>
          </a:xfrm>
          <a:prstGeom prst="line">
            <a:avLst/>
          </a:prstGeom>
          <a:ln w="38100">
            <a:solidFill>
              <a:srgbClr val="5755A7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24"/>
          <p:cNvSpPr/>
          <p:nvPr/>
        </p:nvSpPr>
        <p:spPr>
          <a:xfrm flipH="1">
            <a:off x="1508760" y="4343400"/>
            <a:ext cx="1280160" cy="640080"/>
          </a:xfrm>
          <a:prstGeom prst="line">
            <a:avLst/>
          </a:prstGeom>
          <a:ln w="38100">
            <a:solidFill>
              <a:srgbClr val="F43F5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25"/>
          <p:cNvSpPr/>
          <p:nvPr/>
        </p:nvSpPr>
        <p:spPr>
          <a:xfrm>
            <a:off x="5257800" y="26974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31F71"/>
                </a:solidFill>
                <a:effectLst/>
                <a:uFillTx/>
                <a:latin typeface="Cantarell"/>
                <a:ea typeface="Cantarell"/>
              </a:rPr>
              <a:t>2v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26"/>
          <p:cNvSpPr/>
          <p:nvPr/>
        </p:nvSpPr>
        <p:spPr>
          <a:xfrm>
            <a:off x="4023360" y="333756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755A7"/>
                </a:solidFill>
                <a:effectLst/>
                <a:uFillTx/>
                <a:latin typeface="Cantarell"/>
                <a:ea typeface="Cantarell"/>
              </a:rPr>
              <a:t>v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27"/>
          <p:cNvSpPr/>
          <p:nvPr/>
        </p:nvSpPr>
        <p:spPr>
          <a:xfrm>
            <a:off x="1051560" y="502920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3F5E"/>
                </a:solidFill>
                <a:effectLst/>
                <a:uFillTx/>
                <a:latin typeface="Cantarell"/>
                <a:ea typeface="Cantarell"/>
              </a:rPr>
              <a:t>−v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Shape 28"/>
          <p:cNvSpPr/>
          <p:nvPr/>
        </p:nvSpPr>
        <p:spPr>
          <a:xfrm>
            <a:off x="8046720" y="1600200"/>
            <a:ext cx="3611520" cy="4343040"/>
          </a:xfrm>
          <a:prstGeom prst="roundRect">
            <a:avLst>
              <a:gd name="adj" fmla="val 3038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29"/>
          <p:cNvSpPr/>
          <p:nvPr/>
        </p:nvSpPr>
        <p:spPr>
          <a:xfrm>
            <a:off x="8321040" y="1828800"/>
            <a:ext cx="31086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Scalars stretch &amp; flip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k·v multiplies every entry by k.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k &gt; 1 stretches; 0 &lt; k &lt; 1 shrinks.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A negative k flips the arrow — direction reverses.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The line stays the same: scaling never turns the vector.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4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5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Vector Addition: Tip-to-Tail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3"/>
          <p:cNvSpPr/>
          <p:nvPr/>
        </p:nvSpPr>
        <p:spPr>
          <a:xfrm>
            <a:off x="548640" y="1600200"/>
            <a:ext cx="7223400" cy="434304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Shape 4"/>
          <p:cNvSpPr/>
          <p:nvPr/>
        </p:nvSpPr>
        <p:spPr>
          <a:xfrm flipV="1">
            <a:off x="868680" y="1783080"/>
            <a:ext cx="360" cy="384048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Shape 5"/>
          <p:cNvSpPr/>
          <p:nvPr/>
        </p:nvSpPr>
        <p:spPr>
          <a:xfrm flipV="1">
            <a:off x="1508760" y="1783080"/>
            <a:ext cx="360" cy="384048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Shape 6"/>
          <p:cNvSpPr/>
          <p:nvPr/>
        </p:nvSpPr>
        <p:spPr>
          <a:xfrm flipV="1">
            <a:off x="2148840" y="1783080"/>
            <a:ext cx="360" cy="384048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Shape 7"/>
          <p:cNvSpPr/>
          <p:nvPr/>
        </p:nvSpPr>
        <p:spPr>
          <a:xfrm flipV="1">
            <a:off x="2788920" y="1783080"/>
            <a:ext cx="360" cy="384048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Shape 8"/>
          <p:cNvSpPr/>
          <p:nvPr/>
        </p:nvSpPr>
        <p:spPr>
          <a:xfrm flipV="1">
            <a:off x="3429000" y="1783080"/>
            <a:ext cx="360" cy="384048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Shape 9"/>
          <p:cNvSpPr/>
          <p:nvPr/>
        </p:nvSpPr>
        <p:spPr>
          <a:xfrm flipV="1">
            <a:off x="4069080" y="1783080"/>
            <a:ext cx="360" cy="384048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10"/>
          <p:cNvSpPr/>
          <p:nvPr/>
        </p:nvSpPr>
        <p:spPr>
          <a:xfrm flipV="1">
            <a:off x="4709160" y="1783080"/>
            <a:ext cx="360" cy="384048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Shape 11"/>
          <p:cNvSpPr/>
          <p:nvPr/>
        </p:nvSpPr>
        <p:spPr>
          <a:xfrm flipV="1">
            <a:off x="5349240" y="1783080"/>
            <a:ext cx="360" cy="384048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Shape 12"/>
          <p:cNvSpPr/>
          <p:nvPr/>
        </p:nvSpPr>
        <p:spPr>
          <a:xfrm flipV="1">
            <a:off x="5989320" y="1783080"/>
            <a:ext cx="360" cy="384048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Shape 13"/>
          <p:cNvSpPr/>
          <p:nvPr/>
        </p:nvSpPr>
        <p:spPr>
          <a:xfrm flipV="1">
            <a:off x="6629400" y="1783080"/>
            <a:ext cx="360" cy="384048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Shape 14"/>
          <p:cNvSpPr/>
          <p:nvPr/>
        </p:nvSpPr>
        <p:spPr>
          <a:xfrm flipV="1">
            <a:off x="7269480" y="1783080"/>
            <a:ext cx="360" cy="384048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Shape 15"/>
          <p:cNvSpPr/>
          <p:nvPr/>
        </p:nvSpPr>
        <p:spPr>
          <a:xfrm>
            <a:off x="868680" y="5623560"/>
            <a:ext cx="64008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Shape 16"/>
          <p:cNvSpPr/>
          <p:nvPr/>
        </p:nvSpPr>
        <p:spPr>
          <a:xfrm>
            <a:off x="868680" y="4983480"/>
            <a:ext cx="6400800" cy="36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Shape 17"/>
          <p:cNvSpPr/>
          <p:nvPr/>
        </p:nvSpPr>
        <p:spPr>
          <a:xfrm>
            <a:off x="868680" y="4343400"/>
            <a:ext cx="64008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Shape 18"/>
          <p:cNvSpPr/>
          <p:nvPr/>
        </p:nvSpPr>
        <p:spPr>
          <a:xfrm>
            <a:off x="868680" y="3703320"/>
            <a:ext cx="64008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Shape 19"/>
          <p:cNvSpPr/>
          <p:nvPr/>
        </p:nvSpPr>
        <p:spPr>
          <a:xfrm>
            <a:off x="868680" y="3063240"/>
            <a:ext cx="64008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Shape 20"/>
          <p:cNvSpPr/>
          <p:nvPr/>
        </p:nvSpPr>
        <p:spPr>
          <a:xfrm>
            <a:off x="868680" y="2423160"/>
            <a:ext cx="64008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Shape 21"/>
          <p:cNvSpPr/>
          <p:nvPr/>
        </p:nvSpPr>
        <p:spPr>
          <a:xfrm>
            <a:off x="868680" y="1783080"/>
            <a:ext cx="64008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Shape 22"/>
          <p:cNvSpPr/>
          <p:nvPr/>
        </p:nvSpPr>
        <p:spPr>
          <a:xfrm flipV="1">
            <a:off x="1508760" y="4343400"/>
            <a:ext cx="1280160" cy="640080"/>
          </a:xfrm>
          <a:prstGeom prst="line">
            <a:avLst/>
          </a:prstGeom>
          <a:ln w="38100">
            <a:solidFill>
              <a:srgbClr val="5755A7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Shape 23"/>
          <p:cNvSpPr/>
          <p:nvPr/>
        </p:nvSpPr>
        <p:spPr>
          <a:xfrm flipV="1">
            <a:off x="2788920" y="2423160"/>
            <a:ext cx="640080" cy="1920240"/>
          </a:xfrm>
          <a:prstGeom prst="line">
            <a:avLst/>
          </a:prstGeom>
          <a:ln w="38100">
            <a:solidFill>
              <a:srgbClr val="2DD4B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Shape 24"/>
          <p:cNvSpPr/>
          <p:nvPr/>
        </p:nvSpPr>
        <p:spPr>
          <a:xfrm flipV="1">
            <a:off x="1508760" y="2423160"/>
            <a:ext cx="1920240" cy="2560320"/>
          </a:xfrm>
          <a:prstGeom prst="line">
            <a:avLst/>
          </a:prstGeom>
          <a:ln w="38100">
            <a:solidFill>
              <a:srgbClr val="F43F5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Shape 25"/>
          <p:cNvSpPr/>
          <p:nvPr/>
        </p:nvSpPr>
        <p:spPr>
          <a:xfrm flipV="1">
            <a:off x="1508760" y="3063240"/>
            <a:ext cx="640080" cy="1920240"/>
          </a:xfrm>
          <a:prstGeom prst="line">
            <a:avLst/>
          </a:prstGeom>
          <a:ln w="19050">
            <a:solidFill>
              <a:srgbClr val="BFBDE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Shape 26"/>
          <p:cNvSpPr/>
          <p:nvPr/>
        </p:nvSpPr>
        <p:spPr>
          <a:xfrm flipV="1">
            <a:off x="2148840" y="2423160"/>
            <a:ext cx="1280160" cy="640080"/>
          </a:xfrm>
          <a:prstGeom prst="line">
            <a:avLst/>
          </a:prstGeom>
          <a:ln w="19050">
            <a:solidFill>
              <a:srgbClr val="BFBDE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 27"/>
          <p:cNvSpPr/>
          <p:nvPr/>
        </p:nvSpPr>
        <p:spPr>
          <a:xfrm>
            <a:off x="1965960" y="507492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755A7"/>
                </a:solidFill>
                <a:effectLst/>
                <a:uFillTx/>
                <a:latin typeface="Cantarell"/>
                <a:ea typeface="Cantarell"/>
              </a:rPr>
              <a:t>a = (2, 1)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 28"/>
          <p:cNvSpPr/>
          <p:nvPr/>
        </p:nvSpPr>
        <p:spPr>
          <a:xfrm>
            <a:off x="2926080" y="325512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766E"/>
                </a:solidFill>
                <a:effectLst/>
                <a:uFillTx/>
                <a:latin typeface="Cantarell"/>
                <a:ea typeface="Cantarell"/>
              </a:rPr>
              <a:t>b = (1, 3)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29"/>
          <p:cNvSpPr/>
          <p:nvPr/>
        </p:nvSpPr>
        <p:spPr>
          <a:xfrm>
            <a:off x="3520440" y="233172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3F5E"/>
                </a:solidFill>
                <a:effectLst/>
                <a:uFillTx/>
                <a:latin typeface="Cantarell"/>
                <a:ea typeface="Cantarell"/>
              </a:rPr>
              <a:t>a + b = (3, 4)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Shape 30"/>
          <p:cNvSpPr/>
          <p:nvPr/>
        </p:nvSpPr>
        <p:spPr>
          <a:xfrm>
            <a:off x="8046720" y="1600200"/>
            <a:ext cx="3611520" cy="4343040"/>
          </a:xfrm>
          <a:prstGeom prst="roundRect">
            <a:avLst>
              <a:gd name="adj" fmla="val 3038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 31"/>
          <p:cNvSpPr/>
          <p:nvPr/>
        </p:nvSpPr>
        <p:spPr>
          <a:xfrm>
            <a:off x="8321040" y="1828800"/>
            <a:ext cx="31086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Walk a, then walk b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Place b’s tail at a’s tip; the sum goes from start to finish.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Numerically: add matching entries.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The order does not matter (a + b = b + a) — the dashed parallelogram shows both routes.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7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8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Add &amp; Scale Vectors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a = (2, 1),  b = (1, 3)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Add: entry by entry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a + b = (2+1, 1+3) = (3, 4)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Scale: multiply every entry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2a = (2·2, 2·1) = (4, 2)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Combine (linear combination):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2a + b = (4+1, 2+3) = (5, 5)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4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numpy as np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 = np.array([2, 1])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b = np.array([1, 3])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print(a + b)       # [3 4]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print(2 * a)       # [4 2]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print(2*a + b)     # [5 5]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subtraction works the same way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print(a - b)       # [ 1 -2]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0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1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Span &amp; Linear Independence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3"/>
          <p:cNvSpPr/>
          <p:nvPr/>
        </p:nvSpPr>
        <p:spPr>
          <a:xfrm>
            <a:off x="548640" y="1737360"/>
            <a:ext cx="5394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Span = every vector you can build from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combinations of given vectors.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Independent: none is a combination of the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others.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Two independent vectors in 2D span the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whole plane.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Shape 4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4" name="Shape 5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Shape 6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Shape 7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8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linear combination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c₁·v₁ + c₂·v₂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dependent: one is a multiple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v₁ = (1, 2),  v₂ = (2, 4) = 2·v₁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span = just one line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independent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v₁ = (1, 0),  v₂ = (0, 1)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span = the entire 2D plane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0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1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Checking Independence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Are (1, 2) and (2, 4) independent?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Is one a multiple of the other?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(2, 4) = 2 × (1, 2)   → YES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So they are dependent: they lie 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one line and span only that line.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Are (1, 0) and (0, 1) independent?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No multiple works → independent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They span all of 2D.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8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numpy as np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M = np.array([[1, 2],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          [2, 4]])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print(np.linalg.matrix_rank(M))  #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rank 1 &lt; 2  → dependent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 = np.eye(2)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print(np.linalg.matrix_rank(I))  # 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rank 2  → independent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3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4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Dot Product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 3"/>
          <p:cNvSpPr/>
          <p:nvPr/>
        </p:nvSpPr>
        <p:spPr>
          <a:xfrm>
            <a:off x="548640" y="1737360"/>
            <a:ext cx="5394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Multiply matching entries, then add them up — the result is a scalar.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Geometrically: a·b = ‖a‖‖b‖cos θ.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Zero dot product → perpendicular. Large positive → similar direction.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Cosine similarity = a·b / (‖a‖‖b‖).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Shape 4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Shape 5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8" name="Shape 6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Shape 7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 8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algebr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aic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a·b = </a:t>
            </a: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a₁b₁ + </a:t>
            </a: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a₂b₂ + </a:t>
            </a: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… + </a:t>
            </a: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aₙbₙ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geome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tric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a·b = </a:t>
            </a: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‖a‖ ‖b‖ </a:t>
            </a: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cos 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angle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betwe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en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vector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cos θ = </a:t>
            </a: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a·b / </a:t>
            </a: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(‖a‖ ‖b‖)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a·b =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0   ⇒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perpe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ndicul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ar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3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4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Dot Product &amp; Cosine Similarity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7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a = (1, 2, 3),  b = (4, 5, 6)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a·b = 1·4 + 2·5 + 3·6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  = 4 + 10 + 18 = 32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‖a‖ = √14 ≈ 3.742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‖b‖ = √77 ≈ 8.775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cos θ = 32 / (3.742 × 8.775)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    ≈ 0.975   (very similar!)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0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1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numpy as np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 = np.array([1, 2, 3])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b = np.array([4, 5, 6])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print(np.dot(a, b))   # 32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print(a @ b)          # 32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cos = a @ b / (np.linalg.norm(a)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           * np.linalg.norm(b))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print(round(cos, 3))  # 0.975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6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7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Cross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Product (3D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Only)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Gives a NEW vector perpendicular to both.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a × b = ( a₂b₃ − a₃b₂,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        a₃b₁ − a₁b₃,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        a₁b₂ − a₂b₁ 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a = (1,2,3), b = (4,5,6):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= (2·6−3·5, 3·4−1·6, 1·5−2·4)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= (−3, 6, −3)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3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4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numpy as np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 = np.array([1, 2, 3])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b = np.array([4, 5, 6])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c = np.cross(a, b)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print(c)          # [-3  6 -3]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perpendicular to both?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print(c @ a, c @ b)  # 0 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9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0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Vector Spaces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ℝⁿ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A playground where vectors can be added and scaled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 7"/>
          <p:cNvSpPr/>
          <p:nvPr/>
        </p:nvSpPr>
        <p:spPr>
          <a:xfrm>
            <a:off x="3749040" y="1737360"/>
            <a:ext cx="79092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vector space is a collection of vectors closed under addition and scaling.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ℝ² (the plane) and ℝ³ (3D space) are the classic examples; ML data lives in ℝⁿ.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subspace is a vector space inside another — e.g. a line through the origin.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is awareness-level: you will use it when NumPy talks about “dimensions”.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8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9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0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</a:t>
            </a: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cti</a:t>
            </a: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ce </a:t>
            </a: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Set </a:t>
            </a: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— </a:t>
            </a: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Sca</a:t>
            </a: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lar</a:t>
            </a: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 &amp; </a:t>
            </a: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Ve</a:t>
            </a: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cto</a:t>
            </a: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rs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Shape 7"/>
          <p:cNvSpPr/>
          <p:nvPr/>
        </p:nvSpPr>
        <p:spPr>
          <a:xfrm>
            <a:off x="548640" y="196596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Shape 8"/>
          <p:cNvSpPr/>
          <p:nvPr/>
        </p:nvSpPr>
        <p:spPr>
          <a:xfrm>
            <a:off x="731520" y="21578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Text 9"/>
          <p:cNvSpPr/>
          <p:nvPr/>
        </p:nvSpPr>
        <p:spPr>
          <a:xfrm>
            <a:off x="731520" y="21578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Text 10"/>
          <p:cNvSpPr/>
          <p:nvPr/>
        </p:nvSpPr>
        <p:spPr>
          <a:xfrm>
            <a:off x="1234440" y="196596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Find ‖v‖ and the unit vector for v = (5, 12).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Shape 11"/>
          <p:cNvSpPr/>
          <p:nvPr/>
        </p:nvSpPr>
        <p:spPr>
          <a:xfrm>
            <a:off x="548640" y="282564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Shape 12"/>
          <p:cNvSpPr/>
          <p:nvPr/>
        </p:nvSpPr>
        <p:spPr>
          <a:xfrm>
            <a:off x="731520" y="3017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Text 13"/>
          <p:cNvSpPr/>
          <p:nvPr/>
        </p:nvSpPr>
        <p:spPr>
          <a:xfrm>
            <a:off x="731520" y="3017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Text 14"/>
          <p:cNvSpPr/>
          <p:nvPr/>
        </p:nvSpPr>
        <p:spPr>
          <a:xfrm>
            <a:off x="1234440" y="282564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Compute 3a − b for a = (1, 2), b = (0, 4).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Shape 15"/>
          <p:cNvSpPr/>
          <p:nvPr/>
        </p:nvSpPr>
        <p:spPr>
          <a:xfrm>
            <a:off x="548640" y="368496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Shape 16"/>
          <p:cNvSpPr/>
          <p:nvPr/>
        </p:nvSpPr>
        <p:spPr>
          <a:xfrm>
            <a:off x="731520" y="38772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 17"/>
          <p:cNvSpPr/>
          <p:nvPr/>
        </p:nvSpPr>
        <p:spPr>
          <a:xfrm>
            <a:off x="731520" y="38772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Text 18"/>
          <p:cNvSpPr/>
          <p:nvPr/>
        </p:nvSpPr>
        <p:spPr>
          <a:xfrm>
            <a:off x="1234440" y="368496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Dot product of (2, −1, 4) and (1, 3, 0). Are they perpendicular?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Shape 19"/>
          <p:cNvSpPr/>
          <p:nvPr/>
        </p:nvSpPr>
        <p:spPr>
          <a:xfrm>
            <a:off x="548640" y="454464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Shape 20"/>
          <p:cNvSpPr/>
          <p:nvPr/>
        </p:nvSpPr>
        <p:spPr>
          <a:xfrm>
            <a:off x="731520" y="4736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Text 21"/>
          <p:cNvSpPr/>
          <p:nvPr/>
        </p:nvSpPr>
        <p:spPr>
          <a:xfrm>
            <a:off x="731520" y="4736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Text 22"/>
          <p:cNvSpPr/>
          <p:nvPr/>
        </p:nvSpPr>
        <p:spPr>
          <a:xfrm>
            <a:off x="1234440" y="454464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Are (1, 3) and (2, 6) independent? Check with matrix_rank.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Shape 23"/>
          <p:cNvSpPr/>
          <p:nvPr/>
        </p:nvSpPr>
        <p:spPr>
          <a:xfrm>
            <a:off x="548640" y="540396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Shape 24"/>
          <p:cNvSpPr/>
          <p:nvPr/>
        </p:nvSpPr>
        <p:spPr>
          <a:xfrm>
            <a:off x="731520" y="55962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Text 25"/>
          <p:cNvSpPr/>
          <p:nvPr/>
        </p:nvSpPr>
        <p:spPr>
          <a:xfrm>
            <a:off x="731520" y="55962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Text 26"/>
          <p:cNvSpPr/>
          <p:nvPr/>
        </p:nvSpPr>
        <p:spPr>
          <a:xfrm>
            <a:off x="1234440" y="540396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Python: compute the cosine similarity of (3, 4) and (4, 3).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39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5" name="Shape 1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6" name="Shape 2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7" name="Text 3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8" name="Text 4"/>
          <p:cNvSpPr/>
          <p:nvPr/>
        </p:nvSpPr>
        <p:spPr>
          <a:xfrm>
            <a:off x="640080" y="274320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Matrices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9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Tables of numbers — the workhorse of data science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2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3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Is a Matrix?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5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▦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A rectangle of numbers with m rows and n columns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Text 7"/>
          <p:cNvSpPr/>
          <p:nvPr/>
        </p:nvSpPr>
        <p:spPr>
          <a:xfrm>
            <a:off x="3749040" y="1737360"/>
            <a:ext cx="79092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 m × n matrix has m rows and n columns: its shape.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Entry aᵢⱼ sits in row i, column j (counting from 1 in maths, 0 in Python).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vector is just a matrix with one column (or one row).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Datasets, images, weights and graphs all live as matrices.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axto  ·  AI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&amp; ML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Playgrou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nd  · 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Hafiz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Waseem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Ahmed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1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2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Types of Matrices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Shape 3"/>
          <p:cNvSpPr/>
          <p:nvPr/>
        </p:nvSpPr>
        <p:spPr>
          <a:xfrm>
            <a:off x="548640" y="1463040"/>
            <a:ext cx="2605680" cy="20570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Text 4"/>
          <p:cNvSpPr/>
          <p:nvPr/>
        </p:nvSpPr>
        <p:spPr>
          <a:xfrm>
            <a:off x="685800" y="155448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Square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Text 5"/>
          <p:cNvSpPr/>
          <p:nvPr/>
        </p:nvSpPr>
        <p:spPr>
          <a:xfrm>
            <a:off x="1348920" y="2148840"/>
            <a:ext cx="502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Text 6"/>
          <p:cNvSpPr/>
          <p:nvPr/>
        </p:nvSpPr>
        <p:spPr>
          <a:xfrm>
            <a:off x="1851840" y="2148840"/>
            <a:ext cx="502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Text 7"/>
          <p:cNvSpPr/>
          <p:nvPr/>
        </p:nvSpPr>
        <p:spPr>
          <a:xfrm>
            <a:off x="1348920" y="2560320"/>
            <a:ext cx="502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Text 8"/>
          <p:cNvSpPr/>
          <p:nvPr/>
        </p:nvSpPr>
        <p:spPr>
          <a:xfrm>
            <a:off x="1851840" y="2560320"/>
            <a:ext cx="502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Shape 9"/>
          <p:cNvSpPr/>
          <p:nvPr/>
        </p:nvSpPr>
        <p:spPr>
          <a:xfrm>
            <a:off x="1275480" y="2148840"/>
            <a:ext cx="360" cy="8229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Shape 10"/>
          <p:cNvSpPr/>
          <p:nvPr/>
        </p:nvSpPr>
        <p:spPr>
          <a:xfrm>
            <a:off x="1275480" y="2148840"/>
            <a:ext cx="91440" cy="3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Shape 11"/>
          <p:cNvSpPr/>
          <p:nvPr/>
        </p:nvSpPr>
        <p:spPr>
          <a:xfrm>
            <a:off x="1275480" y="2971800"/>
            <a:ext cx="91440" cy="3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Shape 12"/>
          <p:cNvSpPr/>
          <p:nvPr/>
        </p:nvSpPr>
        <p:spPr>
          <a:xfrm>
            <a:off x="2427480" y="2148840"/>
            <a:ext cx="360" cy="8229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Shape 13"/>
          <p:cNvSpPr/>
          <p:nvPr/>
        </p:nvSpPr>
        <p:spPr>
          <a:xfrm flipH="1">
            <a:off x="2336040" y="2148840"/>
            <a:ext cx="91440" cy="3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Shape 14"/>
          <p:cNvSpPr/>
          <p:nvPr/>
        </p:nvSpPr>
        <p:spPr>
          <a:xfrm flipH="1">
            <a:off x="2336040" y="2971800"/>
            <a:ext cx="91440" cy="3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Text 15"/>
          <p:cNvSpPr/>
          <p:nvPr/>
        </p:nvSpPr>
        <p:spPr>
          <a:xfrm>
            <a:off x="685800" y="301752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Same rows and columns (n × n)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Shape 16"/>
          <p:cNvSpPr/>
          <p:nvPr/>
        </p:nvSpPr>
        <p:spPr>
          <a:xfrm>
            <a:off x="3383280" y="1463040"/>
            <a:ext cx="2605680" cy="20570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Text 17"/>
          <p:cNvSpPr/>
          <p:nvPr/>
        </p:nvSpPr>
        <p:spPr>
          <a:xfrm>
            <a:off x="3520440" y="155448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Identity  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Text 18"/>
          <p:cNvSpPr/>
          <p:nvPr/>
        </p:nvSpPr>
        <p:spPr>
          <a:xfrm>
            <a:off x="4183560" y="2148840"/>
            <a:ext cx="502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Text 19"/>
          <p:cNvSpPr/>
          <p:nvPr/>
        </p:nvSpPr>
        <p:spPr>
          <a:xfrm>
            <a:off x="4686480" y="2148840"/>
            <a:ext cx="502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Text 20"/>
          <p:cNvSpPr/>
          <p:nvPr/>
        </p:nvSpPr>
        <p:spPr>
          <a:xfrm>
            <a:off x="4183560" y="2560320"/>
            <a:ext cx="502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Text 21"/>
          <p:cNvSpPr/>
          <p:nvPr/>
        </p:nvSpPr>
        <p:spPr>
          <a:xfrm>
            <a:off x="4686480" y="2560320"/>
            <a:ext cx="502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Shape 22"/>
          <p:cNvSpPr/>
          <p:nvPr/>
        </p:nvSpPr>
        <p:spPr>
          <a:xfrm>
            <a:off x="4110120" y="2148840"/>
            <a:ext cx="360" cy="8229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Shape 23"/>
          <p:cNvSpPr/>
          <p:nvPr/>
        </p:nvSpPr>
        <p:spPr>
          <a:xfrm>
            <a:off x="4110120" y="2148840"/>
            <a:ext cx="91440" cy="3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Shape 24"/>
          <p:cNvSpPr/>
          <p:nvPr/>
        </p:nvSpPr>
        <p:spPr>
          <a:xfrm>
            <a:off x="4110120" y="2971800"/>
            <a:ext cx="91440" cy="3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Shape 25"/>
          <p:cNvSpPr/>
          <p:nvPr/>
        </p:nvSpPr>
        <p:spPr>
          <a:xfrm>
            <a:off x="5262120" y="2148840"/>
            <a:ext cx="360" cy="8229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Shape 26"/>
          <p:cNvSpPr/>
          <p:nvPr/>
        </p:nvSpPr>
        <p:spPr>
          <a:xfrm flipH="1">
            <a:off x="5170680" y="2148840"/>
            <a:ext cx="91440" cy="3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Shape 27"/>
          <p:cNvSpPr/>
          <p:nvPr/>
        </p:nvSpPr>
        <p:spPr>
          <a:xfrm flipH="1">
            <a:off x="5170680" y="2971800"/>
            <a:ext cx="91440" cy="3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Text 28"/>
          <p:cNvSpPr/>
          <p:nvPr/>
        </p:nvSpPr>
        <p:spPr>
          <a:xfrm>
            <a:off x="3520440" y="301752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1s on the diagonal; A·I = 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Shape 29"/>
          <p:cNvSpPr/>
          <p:nvPr/>
        </p:nvSpPr>
        <p:spPr>
          <a:xfrm>
            <a:off x="6217920" y="1463040"/>
            <a:ext cx="2605680" cy="20570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Text 30"/>
          <p:cNvSpPr/>
          <p:nvPr/>
        </p:nvSpPr>
        <p:spPr>
          <a:xfrm>
            <a:off x="6355080" y="155448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Zero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Text 31"/>
          <p:cNvSpPr/>
          <p:nvPr/>
        </p:nvSpPr>
        <p:spPr>
          <a:xfrm>
            <a:off x="7018200" y="2148840"/>
            <a:ext cx="502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Text 32"/>
          <p:cNvSpPr/>
          <p:nvPr/>
        </p:nvSpPr>
        <p:spPr>
          <a:xfrm>
            <a:off x="7521120" y="2148840"/>
            <a:ext cx="502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Text 33"/>
          <p:cNvSpPr/>
          <p:nvPr/>
        </p:nvSpPr>
        <p:spPr>
          <a:xfrm>
            <a:off x="7018200" y="2560320"/>
            <a:ext cx="502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Text 34"/>
          <p:cNvSpPr/>
          <p:nvPr/>
        </p:nvSpPr>
        <p:spPr>
          <a:xfrm>
            <a:off x="7521120" y="2560320"/>
            <a:ext cx="502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Shape 35"/>
          <p:cNvSpPr/>
          <p:nvPr/>
        </p:nvSpPr>
        <p:spPr>
          <a:xfrm>
            <a:off x="6944760" y="2148840"/>
            <a:ext cx="360" cy="8229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Shape 36"/>
          <p:cNvSpPr/>
          <p:nvPr/>
        </p:nvSpPr>
        <p:spPr>
          <a:xfrm>
            <a:off x="6944760" y="2148840"/>
            <a:ext cx="91440" cy="3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Shape 37"/>
          <p:cNvSpPr/>
          <p:nvPr/>
        </p:nvSpPr>
        <p:spPr>
          <a:xfrm>
            <a:off x="6944760" y="2971800"/>
            <a:ext cx="91440" cy="3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Shape 38"/>
          <p:cNvSpPr/>
          <p:nvPr/>
        </p:nvSpPr>
        <p:spPr>
          <a:xfrm>
            <a:off x="8096760" y="2148840"/>
            <a:ext cx="360" cy="8229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Shape 39"/>
          <p:cNvSpPr/>
          <p:nvPr/>
        </p:nvSpPr>
        <p:spPr>
          <a:xfrm flipH="1">
            <a:off x="8005320" y="2148840"/>
            <a:ext cx="91440" cy="3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Shape 40"/>
          <p:cNvSpPr/>
          <p:nvPr/>
        </p:nvSpPr>
        <p:spPr>
          <a:xfrm flipH="1">
            <a:off x="8005320" y="2971800"/>
            <a:ext cx="91440" cy="3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Text 41"/>
          <p:cNvSpPr/>
          <p:nvPr/>
        </p:nvSpPr>
        <p:spPr>
          <a:xfrm>
            <a:off x="6355080" y="301752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All entries zero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Shape 42"/>
          <p:cNvSpPr/>
          <p:nvPr/>
        </p:nvSpPr>
        <p:spPr>
          <a:xfrm>
            <a:off x="9052560" y="1463040"/>
            <a:ext cx="2605680" cy="20570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Text 43"/>
          <p:cNvSpPr/>
          <p:nvPr/>
        </p:nvSpPr>
        <p:spPr>
          <a:xfrm>
            <a:off x="9189720" y="155448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Diagonal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Text 44"/>
          <p:cNvSpPr/>
          <p:nvPr/>
        </p:nvSpPr>
        <p:spPr>
          <a:xfrm>
            <a:off x="9852840" y="2148840"/>
            <a:ext cx="502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Text 45"/>
          <p:cNvSpPr/>
          <p:nvPr/>
        </p:nvSpPr>
        <p:spPr>
          <a:xfrm>
            <a:off x="10355760" y="2148840"/>
            <a:ext cx="502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Text 46"/>
          <p:cNvSpPr/>
          <p:nvPr/>
        </p:nvSpPr>
        <p:spPr>
          <a:xfrm>
            <a:off x="9852840" y="2560320"/>
            <a:ext cx="502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Text 47"/>
          <p:cNvSpPr/>
          <p:nvPr/>
        </p:nvSpPr>
        <p:spPr>
          <a:xfrm>
            <a:off x="10355760" y="2560320"/>
            <a:ext cx="502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5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Shape 48"/>
          <p:cNvSpPr/>
          <p:nvPr/>
        </p:nvSpPr>
        <p:spPr>
          <a:xfrm>
            <a:off x="9779400" y="2148840"/>
            <a:ext cx="360" cy="8229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Shape 49"/>
          <p:cNvSpPr/>
          <p:nvPr/>
        </p:nvSpPr>
        <p:spPr>
          <a:xfrm>
            <a:off x="9779400" y="2148840"/>
            <a:ext cx="91440" cy="3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Shape 50"/>
          <p:cNvSpPr/>
          <p:nvPr/>
        </p:nvSpPr>
        <p:spPr>
          <a:xfrm>
            <a:off x="9779400" y="2971800"/>
            <a:ext cx="91440" cy="3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Shape 51"/>
          <p:cNvSpPr/>
          <p:nvPr/>
        </p:nvSpPr>
        <p:spPr>
          <a:xfrm>
            <a:off x="10931400" y="2148840"/>
            <a:ext cx="360" cy="8229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Shape 52"/>
          <p:cNvSpPr/>
          <p:nvPr/>
        </p:nvSpPr>
        <p:spPr>
          <a:xfrm flipH="1">
            <a:off x="10839960" y="2148840"/>
            <a:ext cx="91440" cy="3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Shape 53"/>
          <p:cNvSpPr/>
          <p:nvPr/>
        </p:nvSpPr>
        <p:spPr>
          <a:xfrm flipH="1">
            <a:off x="10839960" y="2971800"/>
            <a:ext cx="91440" cy="3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Text 54"/>
          <p:cNvSpPr/>
          <p:nvPr/>
        </p:nvSpPr>
        <p:spPr>
          <a:xfrm>
            <a:off x="9189720" y="301752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Non</a:t>
            </a:r>
            <a:r>
              <a:rPr lang="en-US" sz="11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-</a:t>
            </a:r>
            <a:r>
              <a:rPr lang="en-US" sz="11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zero </a:t>
            </a:r>
            <a:r>
              <a:rPr lang="en-US" sz="11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only </a:t>
            </a:r>
            <a:r>
              <a:rPr lang="en-US" sz="11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on </a:t>
            </a:r>
            <a:r>
              <a:rPr lang="en-US" sz="11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the </a:t>
            </a:r>
            <a:r>
              <a:rPr lang="en-US" sz="11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diag</a:t>
            </a:r>
            <a:r>
              <a:rPr lang="en-US" sz="11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onal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Shape 55"/>
          <p:cNvSpPr/>
          <p:nvPr/>
        </p:nvSpPr>
        <p:spPr>
          <a:xfrm>
            <a:off x="548640" y="3703320"/>
            <a:ext cx="2605680" cy="20570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Text 56"/>
          <p:cNvSpPr/>
          <p:nvPr/>
        </p:nvSpPr>
        <p:spPr>
          <a:xfrm>
            <a:off x="685800" y="379476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Symmetric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Text 57"/>
          <p:cNvSpPr/>
          <p:nvPr/>
        </p:nvSpPr>
        <p:spPr>
          <a:xfrm>
            <a:off x="1348920" y="4389120"/>
            <a:ext cx="502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Text 58"/>
          <p:cNvSpPr/>
          <p:nvPr/>
        </p:nvSpPr>
        <p:spPr>
          <a:xfrm>
            <a:off x="1851840" y="4389120"/>
            <a:ext cx="502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7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Text 59"/>
          <p:cNvSpPr/>
          <p:nvPr/>
        </p:nvSpPr>
        <p:spPr>
          <a:xfrm>
            <a:off x="1348920" y="4800600"/>
            <a:ext cx="502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7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Text 60"/>
          <p:cNvSpPr/>
          <p:nvPr/>
        </p:nvSpPr>
        <p:spPr>
          <a:xfrm>
            <a:off x="1851840" y="4800600"/>
            <a:ext cx="502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Shape 61"/>
          <p:cNvSpPr/>
          <p:nvPr/>
        </p:nvSpPr>
        <p:spPr>
          <a:xfrm>
            <a:off x="1275480" y="4389120"/>
            <a:ext cx="360" cy="8229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Shape 62"/>
          <p:cNvSpPr/>
          <p:nvPr/>
        </p:nvSpPr>
        <p:spPr>
          <a:xfrm>
            <a:off x="1275480" y="4389120"/>
            <a:ext cx="91440" cy="3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Shape 63"/>
          <p:cNvSpPr/>
          <p:nvPr/>
        </p:nvSpPr>
        <p:spPr>
          <a:xfrm>
            <a:off x="1275480" y="5212080"/>
            <a:ext cx="91440" cy="3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Shape 64"/>
          <p:cNvSpPr/>
          <p:nvPr/>
        </p:nvSpPr>
        <p:spPr>
          <a:xfrm>
            <a:off x="2427480" y="4389120"/>
            <a:ext cx="360" cy="8229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Shape 65"/>
          <p:cNvSpPr/>
          <p:nvPr/>
        </p:nvSpPr>
        <p:spPr>
          <a:xfrm flipH="1">
            <a:off x="2336040" y="4389120"/>
            <a:ext cx="91440" cy="3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Shape 66"/>
          <p:cNvSpPr/>
          <p:nvPr/>
        </p:nvSpPr>
        <p:spPr>
          <a:xfrm flipH="1">
            <a:off x="2336040" y="5212080"/>
            <a:ext cx="91440" cy="3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Text 67"/>
          <p:cNvSpPr/>
          <p:nvPr/>
        </p:nvSpPr>
        <p:spPr>
          <a:xfrm>
            <a:off x="685800" y="525780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Same as its transpose: A = Aᵀ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Shape 68"/>
          <p:cNvSpPr/>
          <p:nvPr/>
        </p:nvSpPr>
        <p:spPr>
          <a:xfrm>
            <a:off x="3383280" y="3703320"/>
            <a:ext cx="2605680" cy="20570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Text 69"/>
          <p:cNvSpPr/>
          <p:nvPr/>
        </p:nvSpPr>
        <p:spPr>
          <a:xfrm>
            <a:off x="3520440" y="379476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Upper triangular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Text 70"/>
          <p:cNvSpPr/>
          <p:nvPr/>
        </p:nvSpPr>
        <p:spPr>
          <a:xfrm>
            <a:off x="4183560" y="4389120"/>
            <a:ext cx="502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Text 71"/>
          <p:cNvSpPr/>
          <p:nvPr/>
        </p:nvSpPr>
        <p:spPr>
          <a:xfrm>
            <a:off x="4686480" y="4389120"/>
            <a:ext cx="502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Text 72"/>
          <p:cNvSpPr/>
          <p:nvPr/>
        </p:nvSpPr>
        <p:spPr>
          <a:xfrm>
            <a:off x="4183560" y="4800600"/>
            <a:ext cx="502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Text 73"/>
          <p:cNvSpPr/>
          <p:nvPr/>
        </p:nvSpPr>
        <p:spPr>
          <a:xfrm>
            <a:off x="4686480" y="4800600"/>
            <a:ext cx="502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6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Shape 74"/>
          <p:cNvSpPr/>
          <p:nvPr/>
        </p:nvSpPr>
        <p:spPr>
          <a:xfrm>
            <a:off x="4110120" y="4389120"/>
            <a:ext cx="360" cy="8229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Shape 75"/>
          <p:cNvSpPr/>
          <p:nvPr/>
        </p:nvSpPr>
        <p:spPr>
          <a:xfrm>
            <a:off x="4110120" y="4389120"/>
            <a:ext cx="91440" cy="3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Shape 76"/>
          <p:cNvSpPr/>
          <p:nvPr/>
        </p:nvSpPr>
        <p:spPr>
          <a:xfrm>
            <a:off x="4110120" y="5212080"/>
            <a:ext cx="91440" cy="3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Shape 77"/>
          <p:cNvSpPr/>
          <p:nvPr/>
        </p:nvSpPr>
        <p:spPr>
          <a:xfrm>
            <a:off x="5262120" y="4389120"/>
            <a:ext cx="360" cy="8229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Shape 78"/>
          <p:cNvSpPr/>
          <p:nvPr/>
        </p:nvSpPr>
        <p:spPr>
          <a:xfrm flipH="1">
            <a:off x="5170680" y="4389120"/>
            <a:ext cx="91440" cy="3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Shape 79"/>
          <p:cNvSpPr/>
          <p:nvPr/>
        </p:nvSpPr>
        <p:spPr>
          <a:xfrm flipH="1">
            <a:off x="5170680" y="5212080"/>
            <a:ext cx="91440" cy="3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Text 80"/>
          <p:cNvSpPr/>
          <p:nvPr/>
        </p:nvSpPr>
        <p:spPr>
          <a:xfrm>
            <a:off x="3520440" y="525780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Zeros below the diagonal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Shape 81"/>
          <p:cNvSpPr/>
          <p:nvPr/>
        </p:nvSpPr>
        <p:spPr>
          <a:xfrm>
            <a:off x="6217920" y="3703320"/>
            <a:ext cx="2605680" cy="20570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Text 82"/>
          <p:cNvSpPr/>
          <p:nvPr/>
        </p:nvSpPr>
        <p:spPr>
          <a:xfrm>
            <a:off x="6355080" y="379476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Row vector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Text 83"/>
          <p:cNvSpPr/>
          <p:nvPr/>
        </p:nvSpPr>
        <p:spPr>
          <a:xfrm>
            <a:off x="6766560" y="4389120"/>
            <a:ext cx="502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Text 84"/>
          <p:cNvSpPr/>
          <p:nvPr/>
        </p:nvSpPr>
        <p:spPr>
          <a:xfrm>
            <a:off x="7269480" y="4389120"/>
            <a:ext cx="502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Text 85"/>
          <p:cNvSpPr/>
          <p:nvPr/>
        </p:nvSpPr>
        <p:spPr>
          <a:xfrm>
            <a:off x="7772400" y="4389120"/>
            <a:ext cx="502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Shape 86"/>
          <p:cNvSpPr/>
          <p:nvPr/>
        </p:nvSpPr>
        <p:spPr>
          <a:xfrm>
            <a:off x="6693120" y="4389120"/>
            <a:ext cx="360" cy="41148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Shape 87"/>
          <p:cNvSpPr/>
          <p:nvPr/>
        </p:nvSpPr>
        <p:spPr>
          <a:xfrm>
            <a:off x="6693120" y="4389120"/>
            <a:ext cx="91440" cy="3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Shape 88"/>
          <p:cNvSpPr/>
          <p:nvPr/>
        </p:nvSpPr>
        <p:spPr>
          <a:xfrm>
            <a:off x="6693120" y="4800600"/>
            <a:ext cx="91440" cy="3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Shape 89"/>
          <p:cNvSpPr/>
          <p:nvPr/>
        </p:nvSpPr>
        <p:spPr>
          <a:xfrm>
            <a:off x="8348400" y="4389120"/>
            <a:ext cx="360" cy="41148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Shape 90"/>
          <p:cNvSpPr/>
          <p:nvPr/>
        </p:nvSpPr>
        <p:spPr>
          <a:xfrm flipH="1">
            <a:off x="8256960" y="4389120"/>
            <a:ext cx="91440" cy="3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Shape 91"/>
          <p:cNvSpPr/>
          <p:nvPr/>
        </p:nvSpPr>
        <p:spPr>
          <a:xfrm flipH="1">
            <a:off x="8256960" y="4800600"/>
            <a:ext cx="91440" cy="3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Text 92"/>
          <p:cNvSpPr/>
          <p:nvPr/>
        </p:nvSpPr>
        <p:spPr>
          <a:xfrm>
            <a:off x="6355080" y="525780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1 × n matrix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Shape 93"/>
          <p:cNvSpPr/>
          <p:nvPr/>
        </p:nvSpPr>
        <p:spPr>
          <a:xfrm>
            <a:off x="9052560" y="3703320"/>
            <a:ext cx="2605680" cy="20570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Text 94"/>
          <p:cNvSpPr/>
          <p:nvPr/>
        </p:nvSpPr>
        <p:spPr>
          <a:xfrm>
            <a:off x="9189720" y="379476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Column vector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Text 95"/>
          <p:cNvSpPr/>
          <p:nvPr/>
        </p:nvSpPr>
        <p:spPr>
          <a:xfrm>
            <a:off x="10104120" y="4251960"/>
            <a:ext cx="502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Text 96"/>
          <p:cNvSpPr/>
          <p:nvPr/>
        </p:nvSpPr>
        <p:spPr>
          <a:xfrm>
            <a:off x="10104120" y="4563000"/>
            <a:ext cx="502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Text 97"/>
          <p:cNvSpPr/>
          <p:nvPr/>
        </p:nvSpPr>
        <p:spPr>
          <a:xfrm>
            <a:off x="10104120" y="4873680"/>
            <a:ext cx="502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Shape 98"/>
          <p:cNvSpPr/>
          <p:nvPr/>
        </p:nvSpPr>
        <p:spPr>
          <a:xfrm>
            <a:off x="10030680" y="4251960"/>
            <a:ext cx="360" cy="93240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Shape 99"/>
          <p:cNvSpPr/>
          <p:nvPr/>
        </p:nvSpPr>
        <p:spPr>
          <a:xfrm>
            <a:off x="10030680" y="4251960"/>
            <a:ext cx="91440" cy="3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Shape 100"/>
          <p:cNvSpPr/>
          <p:nvPr/>
        </p:nvSpPr>
        <p:spPr>
          <a:xfrm>
            <a:off x="10030680" y="5184360"/>
            <a:ext cx="91440" cy="3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Shape 101"/>
          <p:cNvSpPr/>
          <p:nvPr/>
        </p:nvSpPr>
        <p:spPr>
          <a:xfrm>
            <a:off x="10680120" y="4251960"/>
            <a:ext cx="360" cy="93240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Shape 102"/>
          <p:cNvSpPr/>
          <p:nvPr/>
        </p:nvSpPr>
        <p:spPr>
          <a:xfrm flipH="1">
            <a:off x="10588680" y="4251960"/>
            <a:ext cx="91440" cy="3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Shape 103"/>
          <p:cNvSpPr/>
          <p:nvPr/>
        </p:nvSpPr>
        <p:spPr>
          <a:xfrm flipH="1">
            <a:off x="10588680" y="5184360"/>
            <a:ext cx="91440" cy="3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Text 104"/>
          <p:cNvSpPr/>
          <p:nvPr/>
        </p:nvSpPr>
        <p:spPr>
          <a:xfrm>
            <a:off x="9189720" y="525780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m × 1 matrix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7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8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Matrix Addition, Subtraction &amp; Scaling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1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Same shape needed — add entry by entry.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A = [1 2; 3 4],  B = [5 6; 7 8]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A + B = [1+5  2+6; 3+7  4+8]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    = [6 8; 10 12]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B − A = [4 4; 4 4]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2A = [2 4; 6 8]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4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5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numpy as np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 = np.array([[1, 2], [3, 4]])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B = np.array([[5, 6], [7, 8]])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print(A + B)   # [[ 6  8]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               #  [10 12]]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print(B - A)   # [[4 4], [4 4]]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print(2 * A)   # [[2 4], [6 8]]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axto  ·  AI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&amp; ML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Playgrou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nd  · 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Hafiz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Waseem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Ahmed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0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1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Matrix Multiplication: Row × Column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Shape 3"/>
          <p:cNvSpPr/>
          <p:nvPr/>
        </p:nvSpPr>
        <p:spPr>
          <a:xfrm>
            <a:off x="548640" y="1600200"/>
            <a:ext cx="7223400" cy="434304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Text 4"/>
          <p:cNvSpPr/>
          <p:nvPr/>
        </p:nvSpPr>
        <p:spPr>
          <a:xfrm>
            <a:off x="1005840" y="182880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Text 5"/>
          <p:cNvSpPr/>
          <p:nvPr/>
        </p:nvSpPr>
        <p:spPr>
          <a:xfrm>
            <a:off x="3383280" y="182880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B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Text 6"/>
          <p:cNvSpPr/>
          <p:nvPr/>
        </p:nvSpPr>
        <p:spPr>
          <a:xfrm>
            <a:off x="5852160" y="182880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A·B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Shape 7"/>
          <p:cNvSpPr/>
          <p:nvPr/>
        </p:nvSpPr>
        <p:spPr>
          <a:xfrm>
            <a:off x="914400" y="2286000"/>
            <a:ext cx="1416960" cy="456840"/>
          </a:xfrm>
          <a:prstGeom prst="roundRect">
            <a:avLst>
              <a:gd name="adj" fmla="val 16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Shape 8"/>
          <p:cNvSpPr/>
          <p:nvPr/>
        </p:nvSpPr>
        <p:spPr>
          <a:xfrm>
            <a:off x="3383280" y="2240280"/>
            <a:ext cx="639720" cy="1051200"/>
          </a:xfrm>
          <a:prstGeom prst="roundRect">
            <a:avLst>
              <a:gd name="adj" fmla="val 11429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Shape 9"/>
          <p:cNvSpPr/>
          <p:nvPr/>
        </p:nvSpPr>
        <p:spPr>
          <a:xfrm>
            <a:off x="5897880" y="2286000"/>
            <a:ext cx="639720" cy="456840"/>
          </a:xfrm>
          <a:prstGeom prst="roundRect">
            <a:avLst>
              <a:gd name="adj" fmla="val 16000"/>
            </a:avLst>
          </a:prstGeom>
          <a:solidFill>
            <a:srgbClr val="FFC94A"/>
          </a:solidFill>
          <a:ln w="12700">
            <a:solidFill>
              <a:srgbClr val="FFC9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Text 10"/>
          <p:cNvSpPr/>
          <p:nvPr/>
        </p:nvSpPr>
        <p:spPr>
          <a:xfrm>
            <a:off x="914400" y="2286000"/>
            <a:ext cx="685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Text 11"/>
          <p:cNvSpPr/>
          <p:nvPr/>
        </p:nvSpPr>
        <p:spPr>
          <a:xfrm>
            <a:off x="1600200" y="2286000"/>
            <a:ext cx="685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Text 12"/>
          <p:cNvSpPr/>
          <p:nvPr/>
        </p:nvSpPr>
        <p:spPr>
          <a:xfrm>
            <a:off x="914400" y="2743200"/>
            <a:ext cx="685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2" name="Text 13"/>
          <p:cNvSpPr/>
          <p:nvPr/>
        </p:nvSpPr>
        <p:spPr>
          <a:xfrm>
            <a:off x="1600200" y="2743200"/>
            <a:ext cx="685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Shape 14"/>
          <p:cNvSpPr/>
          <p:nvPr/>
        </p:nvSpPr>
        <p:spPr>
          <a:xfrm>
            <a:off x="840960" y="2286000"/>
            <a:ext cx="360" cy="91440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Shape 15"/>
          <p:cNvSpPr/>
          <p:nvPr/>
        </p:nvSpPr>
        <p:spPr>
          <a:xfrm>
            <a:off x="840960" y="2286000"/>
            <a:ext cx="91440" cy="3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Shape 16"/>
          <p:cNvSpPr/>
          <p:nvPr/>
        </p:nvSpPr>
        <p:spPr>
          <a:xfrm>
            <a:off x="840960" y="3200400"/>
            <a:ext cx="91440" cy="3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6" name="Shape 17"/>
          <p:cNvSpPr/>
          <p:nvPr/>
        </p:nvSpPr>
        <p:spPr>
          <a:xfrm>
            <a:off x="2359080" y="2286000"/>
            <a:ext cx="360" cy="91440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Shape 18"/>
          <p:cNvSpPr/>
          <p:nvPr/>
        </p:nvSpPr>
        <p:spPr>
          <a:xfrm flipH="1">
            <a:off x="2267640" y="2286000"/>
            <a:ext cx="91440" cy="3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8" name="Shape 19"/>
          <p:cNvSpPr/>
          <p:nvPr/>
        </p:nvSpPr>
        <p:spPr>
          <a:xfrm flipH="1">
            <a:off x="2267640" y="3200400"/>
            <a:ext cx="91440" cy="3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Text 20"/>
          <p:cNvSpPr/>
          <p:nvPr/>
        </p:nvSpPr>
        <p:spPr>
          <a:xfrm>
            <a:off x="3383280" y="2286000"/>
            <a:ext cx="685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Text 21"/>
          <p:cNvSpPr/>
          <p:nvPr/>
        </p:nvSpPr>
        <p:spPr>
          <a:xfrm>
            <a:off x="4069080" y="2286000"/>
            <a:ext cx="685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Text 22"/>
          <p:cNvSpPr/>
          <p:nvPr/>
        </p:nvSpPr>
        <p:spPr>
          <a:xfrm>
            <a:off x="3383280" y="2743200"/>
            <a:ext cx="685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2" name="Text 23"/>
          <p:cNvSpPr/>
          <p:nvPr/>
        </p:nvSpPr>
        <p:spPr>
          <a:xfrm>
            <a:off x="4069080" y="2743200"/>
            <a:ext cx="685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Shape 24"/>
          <p:cNvSpPr/>
          <p:nvPr/>
        </p:nvSpPr>
        <p:spPr>
          <a:xfrm>
            <a:off x="3309840" y="2286000"/>
            <a:ext cx="360" cy="91440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Shape 25"/>
          <p:cNvSpPr/>
          <p:nvPr/>
        </p:nvSpPr>
        <p:spPr>
          <a:xfrm>
            <a:off x="3309840" y="2286000"/>
            <a:ext cx="91440" cy="3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5" name="Shape 26"/>
          <p:cNvSpPr/>
          <p:nvPr/>
        </p:nvSpPr>
        <p:spPr>
          <a:xfrm>
            <a:off x="3309840" y="3200400"/>
            <a:ext cx="91440" cy="3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6" name="Shape 27"/>
          <p:cNvSpPr/>
          <p:nvPr/>
        </p:nvSpPr>
        <p:spPr>
          <a:xfrm>
            <a:off x="4827960" y="2286000"/>
            <a:ext cx="360" cy="91440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Shape 28"/>
          <p:cNvSpPr/>
          <p:nvPr/>
        </p:nvSpPr>
        <p:spPr>
          <a:xfrm flipH="1">
            <a:off x="4736520" y="2286000"/>
            <a:ext cx="91440" cy="3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Shape 29"/>
          <p:cNvSpPr/>
          <p:nvPr/>
        </p:nvSpPr>
        <p:spPr>
          <a:xfrm flipH="1">
            <a:off x="4736520" y="3200400"/>
            <a:ext cx="91440" cy="3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Text 30"/>
          <p:cNvSpPr/>
          <p:nvPr/>
        </p:nvSpPr>
        <p:spPr>
          <a:xfrm>
            <a:off x="5897880" y="2286000"/>
            <a:ext cx="63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19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Text 31"/>
          <p:cNvSpPr/>
          <p:nvPr/>
        </p:nvSpPr>
        <p:spPr>
          <a:xfrm>
            <a:off x="6537960" y="2286000"/>
            <a:ext cx="63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22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Text 32"/>
          <p:cNvSpPr/>
          <p:nvPr/>
        </p:nvSpPr>
        <p:spPr>
          <a:xfrm>
            <a:off x="5897880" y="2743200"/>
            <a:ext cx="63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43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Text 33"/>
          <p:cNvSpPr/>
          <p:nvPr/>
        </p:nvSpPr>
        <p:spPr>
          <a:xfrm>
            <a:off x="6537960" y="2743200"/>
            <a:ext cx="63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50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3" name="Shape 34"/>
          <p:cNvSpPr/>
          <p:nvPr/>
        </p:nvSpPr>
        <p:spPr>
          <a:xfrm>
            <a:off x="5824440" y="2286000"/>
            <a:ext cx="360" cy="91440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Shape 35"/>
          <p:cNvSpPr/>
          <p:nvPr/>
        </p:nvSpPr>
        <p:spPr>
          <a:xfrm>
            <a:off x="5824440" y="2286000"/>
            <a:ext cx="91440" cy="3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Shape 36"/>
          <p:cNvSpPr/>
          <p:nvPr/>
        </p:nvSpPr>
        <p:spPr>
          <a:xfrm>
            <a:off x="5824440" y="3200400"/>
            <a:ext cx="91440" cy="3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6" name="Shape 37"/>
          <p:cNvSpPr/>
          <p:nvPr/>
        </p:nvSpPr>
        <p:spPr>
          <a:xfrm>
            <a:off x="7251120" y="2286000"/>
            <a:ext cx="360" cy="91440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7" name="Shape 38"/>
          <p:cNvSpPr/>
          <p:nvPr/>
        </p:nvSpPr>
        <p:spPr>
          <a:xfrm flipH="1">
            <a:off x="7159680" y="2286000"/>
            <a:ext cx="91440" cy="3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Shape 39"/>
          <p:cNvSpPr/>
          <p:nvPr/>
        </p:nvSpPr>
        <p:spPr>
          <a:xfrm flipH="1">
            <a:off x="7159680" y="3200400"/>
            <a:ext cx="91440" cy="360"/>
          </a:xfrm>
          <a:prstGeom prst="line">
            <a:avLst/>
          </a:prstGeom>
          <a:ln w="1905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Text 40"/>
          <p:cNvSpPr/>
          <p:nvPr/>
        </p:nvSpPr>
        <p:spPr>
          <a:xfrm>
            <a:off x="2697480" y="24688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474651"/>
                </a:solidFill>
                <a:effectLst/>
                <a:uFillTx/>
                <a:latin typeface="Bricolage Grotesque"/>
                <a:ea typeface="Bricolage Grotesque"/>
              </a:rPr>
              <a:t>×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Text 41"/>
          <p:cNvSpPr/>
          <p:nvPr/>
        </p:nvSpPr>
        <p:spPr>
          <a:xfrm>
            <a:off x="5029200" y="24688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474651"/>
                </a:solidFill>
                <a:effectLst/>
                <a:uFillTx/>
                <a:latin typeface="Bricolage Grotesque"/>
                <a:ea typeface="Bricolage Grotesque"/>
              </a:rPr>
              <a:t>=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Text 42"/>
          <p:cNvSpPr/>
          <p:nvPr/>
        </p:nvSpPr>
        <p:spPr>
          <a:xfrm>
            <a:off x="822960" y="379476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31F71"/>
                </a:solidFill>
                <a:effectLst/>
                <a:uFillTx/>
                <a:latin typeface="Cantarell"/>
                <a:ea typeface="Cantarell"/>
              </a:rPr>
              <a:t>Top-left entry = (row 1 of A) · (column 1 of B)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2" name="Text 43"/>
          <p:cNvSpPr/>
          <p:nvPr/>
        </p:nvSpPr>
        <p:spPr>
          <a:xfrm>
            <a:off x="822960" y="425196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(1 × 5) + (2 × 7) = 5 + 14 = 19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3" name="Text 44"/>
          <p:cNvSpPr/>
          <p:nvPr/>
        </p:nvSpPr>
        <p:spPr>
          <a:xfrm>
            <a:off x="822960" y="484632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74651"/>
                </a:solidFill>
                <a:effectLst/>
                <a:uFillTx/>
                <a:latin typeface="Cantarell"/>
                <a:ea typeface="Cantarell"/>
              </a:rPr>
              <a:t>Inner sizes must match:  (m × n) · (n × p) = (m × p)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Shape 45"/>
          <p:cNvSpPr/>
          <p:nvPr/>
        </p:nvSpPr>
        <p:spPr>
          <a:xfrm>
            <a:off x="8046720" y="1600200"/>
            <a:ext cx="3611520" cy="4343040"/>
          </a:xfrm>
          <a:prstGeom prst="roundRect">
            <a:avLst>
              <a:gd name="adj" fmla="val 3038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Text 46"/>
          <p:cNvSpPr/>
          <p:nvPr/>
        </p:nvSpPr>
        <p:spPr>
          <a:xfrm>
            <a:off x="8321040" y="1828800"/>
            <a:ext cx="31086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Rows meet columns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Each result entry is a dot product of a row with a column.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Shapes: (m×n)·(n×p) → m×p; the inner n must agree.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Order matters: A·B is usually NOT B·A.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7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8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9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Matrix Multiplication, Fully Worked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0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1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2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3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A = [1 2; 3 4],  B = [5 6; 7 8]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AB₁₁ = 1·5 + 2·7 = 19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AB₁₂ = 1·6 + 2·8 = 22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AB₂₁ = 3·5 + 4·7 = 43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AB₂₂ = 3·6 + 4·8 = 50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AB = [19 22; 43 50]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BA = [23 34; 31 46]   ≠ AB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5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6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7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8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numpy as np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 = np.array([[1, 2], [3, 4]])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B = np.array([[5, 6], [7, 8]])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print(A @ B)   # [[19 22]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               #  [43 50]]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print(B @ A)   # [[23 34]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               #  [31 46]]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A * B is element-wise, NOT this!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1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2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hy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ult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ipl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ica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tio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n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Is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e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Ke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y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Op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er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ati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3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4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5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⊗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One multiplication does the work of many equations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7" name="Text 7"/>
          <p:cNvSpPr/>
          <p:nvPr/>
        </p:nvSpPr>
        <p:spPr>
          <a:xfrm>
            <a:off x="3749040" y="1737360"/>
            <a:ext cx="79092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neural-network layer is output = W @ x + b.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Linear regression predictions: ŷ = X @ w.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Chaining transformations = multiplying their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matrices.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GPUs exist largely to multiply matrices fast.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Remember: use @ (matrix product), not *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(element-wise).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9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0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1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Tr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an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sp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os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e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of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atr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ix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2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3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4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5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Flip rows and columns:  (Aᵀ)ᵢⱼ = Aⱼᵢ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A = [1 2 3; 4 5 6]   (2 × 3)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Aᵀ = [1 4; 2 5; 3 6]  (3 × 2)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Useful rules: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(Aᵀ)ᵀ = 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(AB)ᵀ = BᵀAᵀ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6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7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8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9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numpy as np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 = np.array([[1, 2, 3],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          [4, 5, 6]])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print(A.shape)    # (2, 3)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print(A.T)        # [[1 4]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                  #  [2 5]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                  #  [3 6]]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print(A.T.shape)  # (3, 2)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2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3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4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Determinant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5" name="Text 3"/>
          <p:cNvSpPr/>
          <p:nvPr/>
        </p:nvSpPr>
        <p:spPr>
          <a:xfrm>
            <a:off x="548640" y="1737360"/>
            <a:ext cx="5394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determinant is one number that summarises a square matrix.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It is the factor by which the matrix scales area (2D) or volume (3D).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det = 0 → space is squashed flat → the matrix has no inverse (singular).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6" name="Shape 4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7" name="Shape 5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8" name="Shape 6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9" name="Shape 7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0" name="Text 8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2 × 2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 = [a </a:t>
            </a: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b; c d]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det(A) </a:t>
            </a: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= a·d − </a:t>
            </a: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b·c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3 × </a:t>
            </a: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3: </a:t>
            </a: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expan</a:t>
            </a: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d </a:t>
            </a: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along </a:t>
            </a: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a row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det = </a:t>
            </a: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a(ei−fh</a:t>
            </a: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) − </a:t>
            </a: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b(di−f</a:t>
            </a: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g) + </a:t>
            </a: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c(dh−e</a:t>
            </a: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g)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</a:t>
            </a: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meani</a:t>
            </a: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|det| = </a:t>
            </a: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area </a:t>
            </a: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scaling </a:t>
            </a: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factor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det = 0 </a:t>
            </a: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⇒  no </a:t>
            </a: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invers</a:t>
            </a: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3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4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Determinant of a Matrix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5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6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7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8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A = [1 2; 3 4]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det(A) = (1)(4) − (2)(3)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     = 4 − 6 = −2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Non-zero → A is invertible.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Area scales by |−2| = 2,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and the minus sign means the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orientation is flipped.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9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0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1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2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3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numpy as np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 = np.array([[1, 2], [3, 4]])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print(np.linalg.det(A))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-2.0000000000000004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print(round(np.linalg.det(A), 2))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-2.0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singular example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S = np.array([[1, 2], [2, 4]])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print(np.linalg.det(S))   # 0.0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6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7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Inverse of a Matrix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Text 3"/>
          <p:cNvSpPr/>
          <p:nvPr/>
        </p:nvSpPr>
        <p:spPr>
          <a:xfrm>
            <a:off x="548640" y="1737360"/>
            <a:ext cx="5394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⁻¹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A: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A·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⁻¹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=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xi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nl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q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tr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ic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it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≠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0.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2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×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2: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di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al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,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fli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si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rs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,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di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vi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9" name="Shape 4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0" name="Shape 5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1" name="Shape 6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2" name="Shape 7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3" name="Text 8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A·A⁻¹ = A⁻¹·A = I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2 × 2 formula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 = [a b; c d]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A⁻¹ = (1 / det) · [ d  −b;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               −c   a 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solving Ax = b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x = A⁻¹ b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50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6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7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Inverse of a 2 × 2 Matrix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8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9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0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1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A = [1 2; 3 4],  det = −2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Swap diagonal, negate the others: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[4 −2; −3 1]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Divide by det (−2):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A⁻¹ = [−2 1; 1.5 −0.5]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Check: A·A⁻¹ = [1 0; 0 1] = I  ✓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2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3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4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5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6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</a:t>
            </a: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numpy </a:t>
            </a: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as np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 = </a:t>
            </a: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np.arr</a:t>
            </a: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ay([[1, </a:t>
            </a: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2], [3, </a:t>
            </a: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4]])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inv = </a:t>
            </a: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np.lina</a:t>
            </a: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lg.inv(</a:t>
            </a: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print(i</a:t>
            </a: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nv)    # </a:t>
            </a: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[[-2.   </a:t>
            </a: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1. 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              </a:t>
            </a: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 [ 1.5 </a:t>
            </a: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-0.5]]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print(n</a:t>
            </a: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p.roun</a:t>
            </a: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d(A @ </a:t>
            </a: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inv, 2))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[[1. </a:t>
            </a: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0.]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 [0. </a:t>
            </a: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1.]]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51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8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9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0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1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2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3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Matrices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4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5" name="Shape 7"/>
          <p:cNvSpPr/>
          <p:nvPr/>
        </p:nvSpPr>
        <p:spPr>
          <a:xfrm>
            <a:off x="548640" y="196596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6" name="Shape 8"/>
          <p:cNvSpPr/>
          <p:nvPr/>
        </p:nvSpPr>
        <p:spPr>
          <a:xfrm>
            <a:off x="731520" y="21578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7" name="Text 9"/>
          <p:cNvSpPr/>
          <p:nvPr/>
        </p:nvSpPr>
        <p:spPr>
          <a:xfrm>
            <a:off x="731520" y="21578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8" name="Text 10"/>
          <p:cNvSpPr/>
          <p:nvPr/>
        </p:nvSpPr>
        <p:spPr>
          <a:xfrm>
            <a:off x="1234440" y="196596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Compute A + B and 3A for A = [1 0; 2 5], B = [4 1; 0 2].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9" name="Shape 11"/>
          <p:cNvSpPr/>
          <p:nvPr/>
        </p:nvSpPr>
        <p:spPr>
          <a:xfrm>
            <a:off x="548640" y="282564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0" name="Shape 12"/>
          <p:cNvSpPr/>
          <p:nvPr/>
        </p:nvSpPr>
        <p:spPr>
          <a:xfrm>
            <a:off x="731520" y="3017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1" name="Text 13"/>
          <p:cNvSpPr/>
          <p:nvPr/>
        </p:nvSpPr>
        <p:spPr>
          <a:xfrm>
            <a:off x="731520" y="3017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2" name="Text 14"/>
          <p:cNvSpPr/>
          <p:nvPr/>
        </p:nvSpPr>
        <p:spPr>
          <a:xfrm>
            <a:off x="1234440" y="282564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Multiply [2 1; 0 3] by [1 4; 2 0] by hand, then check with @.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3" name="Shape 15"/>
          <p:cNvSpPr/>
          <p:nvPr/>
        </p:nvSpPr>
        <p:spPr>
          <a:xfrm>
            <a:off x="548640" y="368496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4" name="Shape 16"/>
          <p:cNvSpPr/>
          <p:nvPr/>
        </p:nvSpPr>
        <p:spPr>
          <a:xfrm>
            <a:off x="731520" y="38772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5" name="Text 17"/>
          <p:cNvSpPr/>
          <p:nvPr/>
        </p:nvSpPr>
        <p:spPr>
          <a:xfrm>
            <a:off x="731520" y="38772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Text 18"/>
          <p:cNvSpPr/>
          <p:nvPr/>
        </p:nvSpPr>
        <p:spPr>
          <a:xfrm>
            <a:off x="1234440" y="368496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Find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deter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minan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 of [3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1; 2 4].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Is it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inverti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ble?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7" name="Shape 19"/>
          <p:cNvSpPr/>
          <p:nvPr/>
        </p:nvSpPr>
        <p:spPr>
          <a:xfrm>
            <a:off x="548640" y="454464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8" name="Shape 20"/>
          <p:cNvSpPr/>
          <p:nvPr/>
        </p:nvSpPr>
        <p:spPr>
          <a:xfrm>
            <a:off x="731520" y="4736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9" name="Text 21"/>
          <p:cNvSpPr/>
          <p:nvPr/>
        </p:nvSpPr>
        <p:spPr>
          <a:xfrm>
            <a:off x="731520" y="4736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0" name="Text 22"/>
          <p:cNvSpPr/>
          <p:nvPr/>
        </p:nvSpPr>
        <p:spPr>
          <a:xfrm>
            <a:off x="1234440" y="454464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Find the inverse of [2 1; 1 1] by the 2×2 formula.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1" name="Shape 23"/>
          <p:cNvSpPr/>
          <p:nvPr/>
        </p:nvSpPr>
        <p:spPr>
          <a:xfrm>
            <a:off x="548640" y="540396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2" name="Shape 24"/>
          <p:cNvSpPr/>
          <p:nvPr/>
        </p:nvSpPr>
        <p:spPr>
          <a:xfrm>
            <a:off x="731520" y="55962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3" name="Text 25"/>
          <p:cNvSpPr/>
          <p:nvPr/>
        </p:nvSpPr>
        <p:spPr>
          <a:xfrm>
            <a:off x="731520" y="55962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4" name="Text 26"/>
          <p:cNvSpPr/>
          <p:nvPr/>
        </p:nvSpPr>
        <p:spPr>
          <a:xfrm>
            <a:off x="1234440" y="540396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Why is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* B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NumP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 not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matrix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produ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ct?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52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6" name="Shape 1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7" name="Shape 2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8" name="Text 3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9" name="Text 4"/>
          <p:cNvSpPr/>
          <p:nvPr/>
        </p:nvSpPr>
        <p:spPr>
          <a:xfrm>
            <a:off x="640080" y="274320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Linear Transformations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0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Matrices as </a:t>
            </a: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machines that </a:t>
            </a: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move, stretch, </a:t>
            </a: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rotate and </a:t>
            </a: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shear space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53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2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3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4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Why Do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We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Need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Transfo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rmation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5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6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7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⤢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8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Ever</a:t>
            </a: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y </a:t>
            </a: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matr</a:t>
            </a: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ix is </a:t>
            </a: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a </a:t>
            </a: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funct</a:t>
            </a: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ion </a:t>
            </a: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on </a:t>
            </a: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spac</a:t>
            </a: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9" name="Text 7"/>
          <p:cNvSpPr/>
          <p:nvPr/>
        </p:nvSpPr>
        <p:spPr>
          <a:xfrm>
            <a:off x="3749040" y="1737360"/>
            <a:ext cx="79092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matrix takes a vector in and gives a vector out: v → A·v.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It can rotate, stretch, reflect or shear an entire plane at once.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Graphics, robotics and image augmentation all use these maps.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neural-network layer transforms its inputs into a new feature space.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“Linear” = the origin stays put and straight lines stay straight.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54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1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2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3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Sh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ea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r: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e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Un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it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Sq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ua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re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Sli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de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4" name="Shape 3"/>
          <p:cNvSpPr/>
          <p:nvPr/>
        </p:nvSpPr>
        <p:spPr>
          <a:xfrm>
            <a:off x="548640" y="1600200"/>
            <a:ext cx="7223400" cy="434304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5" name="Shape 4"/>
          <p:cNvSpPr/>
          <p:nvPr/>
        </p:nvSpPr>
        <p:spPr>
          <a:xfrm flipV="1">
            <a:off x="914400" y="1783080"/>
            <a:ext cx="360" cy="4023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6" name="Shape 5"/>
          <p:cNvSpPr/>
          <p:nvPr/>
        </p:nvSpPr>
        <p:spPr>
          <a:xfrm flipV="1">
            <a:off x="1920240" y="1783080"/>
            <a:ext cx="360" cy="402336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7" name="Shape 6"/>
          <p:cNvSpPr/>
          <p:nvPr/>
        </p:nvSpPr>
        <p:spPr>
          <a:xfrm flipV="1">
            <a:off x="2926080" y="1783080"/>
            <a:ext cx="360" cy="4023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8" name="Shape 7"/>
          <p:cNvSpPr/>
          <p:nvPr/>
        </p:nvSpPr>
        <p:spPr>
          <a:xfrm flipV="1">
            <a:off x="3931920" y="1783080"/>
            <a:ext cx="360" cy="4023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9" name="Shape 8"/>
          <p:cNvSpPr/>
          <p:nvPr/>
        </p:nvSpPr>
        <p:spPr>
          <a:xfrm flipV="1">
            <a:off x="4937760" y="1783080"/>
            <a:ext cx="360" cy="4023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0" name="Shape 9"/>
          <p:cNvSpPr/>
          <p:nvPr/>
        </p:nvSpPr>
        <p:spPr>
          <a:xfrm flipV="1">
            <a:off x="5943600" y="1783080"/>
            <a:ext cx="360" cy="4023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1" name="Shape 10"/>
          <p:cNvSpPr/>
          <p:nvPr/>
        </p:nvSpPr>
        <p:spPr>
          <a:xfrm flipV="1">
            <a:off x="6949440" y="1783080"/>
            <a:ext cx="360" cy="4023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2" name="Shape 11"/>
          <p:cNvSpPr/>
          <p:nvPr/>
        </p:nvSpPr>
        <p:spPr>
          <a:xfrm>
            <a:off x="914400" y="5806440"/>
            <a:ext cx="603504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3" name="Shape 12"/>
          <p:cNvSpPr/>
          <p:nvPr/>
        </p:nvSpPr>
        <p:spPr>
          <a:xfrm>
            <a:off x="914400" y="4800600"/>
            <a:ext cx="6035040" cy="36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4" name="Shape 13"/>
          <p:cNvSpPr/>
          <p:nvPr/>
        </p:nvSpPr>
        <p:spPr>
          <a:xfrm>
            <a:off x="914400" y="3794760"/>
            <a:ext cx="603504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5" name="Shape 14"/>
          <p:cNvSpPr/>
          <p:nvPr/>
        </p:nvSpPr>
        <p:spPr>
          <a:xfrm>
            <a:off x="914400" y="2788920"/>
            <a:ext cx="603504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6" name="Shape 15"/>
          <p:cNvSpPr/>
          <p:nvPr/>
        </p:nvSpPr>
        <p:spPr>
          <a:xfrm>
            <a:off x="914400" y="1783080"/>
            <a:ext cx="603504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7" name="Shape 16"/>
          <p:cNvSpPr/>
          <p:nvPr/>
        </p:nvSpPr>
        <p:spPr>
          <a:xfrm>
            <a:off x="1920240" y="4800600"/>
            <a:ext cx="100584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8" name="Shape 17"/>
          <p:cNvSpPr/>
          <p:nvPr/>
        </p:nvSpPr>
        <p:spPr>
          <a:xfrm flipV="1">
            <a:off x="2926080" y="3794760"/>
            <a:ext cx="360" cy="10058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9" name="Shape 18"/>
          <p:cNvSpPr/>
          <p:nvPr/>
        </p:nvSpPr>
        <p:spPr>
          <a:xfrm flipH="1">
            <a:off x="1920240" y="3794760"/>
            <a:ext cx="100584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0" name="Shape 19"/>
          <p:cNvSpPr/>
          <p:nvPr/>
        </p:nvSpPr>
        <p:spPr>
          <a:xfrm>
            <a:off x="1920240" y="3794760"/>
            <a:ext cx="360" cy="10058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1" name="Shape 20"/>
          <p:cNvSpPr/>
          <p:nvPr/>
        </p:nvSpPr>
        <p:spPr>
          <a:xfrm>
            <a:off x="1920240" y="4800600"/>
            <a:ext cx="1005840" cy="360"/>
          </a:xfrm>
          <a:prstGeom prst="line">
            <a:avLst/>
          </a:prstGeom>
          <a:ln w="381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2" name="Shape 21"/>
          <p:cNvSpPr/>
          <p:nvPr/>
        </p:nvSpPr>
        <p:spPr>
          <a:xfrm flipV="1">
            <a:off x="2926080" y="3794760"/>
            <a:ext cx="1005840" cy="1005840"/>
          </a:xfrm>
          <a:prstGeom prst="line">
            <a:avLst/>
          </a:prstGeom>
          <a:ln w="381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3" name="Shape 22"/>
          <p:cNvSpPr/>
          <p:nvPr/>
        </p:nvSpPr>
        <p:spPr>
          <a:xfrm flipH="1">
            <a:off x="2926080" y="3794760"/>
            <a:ext cx="1005840" cy="360"/>
          </a:xfrm>
          <a:prstGeom prst="line">
            <a:avLst/>
          </a:prstGeom>
          <a:ln w="381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4" name="Shape 23"/>
          <p:cNvSpPr/>
          <p:nvPr/>
        </p:nvSpPr>
        <p:spPr>
          <a:xfrm flipH="1">
            <a:off x="1920240" y="3794760"/>
            <a:ext cx="1005840" cy="1005840"/>
          </a:xfrm>
          <a:prstGeom prst="line">
            <a:avLst/>
          </a:prstGeom>
          <a:ln w="381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5" name="Shape 24"/>
          <p:cNvSpPr/>
          <p:nvPr/>
        </p:nvSpPr>
        <p:spPr>
          <a:xfrm flipV="1">
            <a:off x="1920240" y="3794760"/>
            <a:ext cx="1005840" cy="1005840"/>
          </a:xfrm>
          <a:prstGeom prst="line">
            <a:avLst/>
          </a:prstGeom>
          <a:ln w="19050">
            <a:solidFill>
              <a:srgbClr val="BFBDE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6" name="Text 25"/>
          <p:cNvSpPr/>
          <p:nvPr/>
        </p:nvSpPr>
        <p:spPr>
          <a:xfrm>
            <a:off x="2020680" y="324144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755A7"/>
                </a:solidFill>
                <a:effectLst/>
                <a:uFillTx/>
                <a:latin typeface="Cantarell"/>
                <a:ea typeface="Cantarell"/>
              </a:rPr>
              <a:t>original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7" name="Text 26"/>
          <p:cNvSpPr/>
          <p:nvPr/>
        </p:nvSpPr>
        <p:spPr>
          <a:xfrm>
            <a:off x="3982320" y="36943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3F5E"/>
                </a:solidFill>
                <a:effectLst/>
                <a:uFillTx/>
                <a:latin typeface="Cantarell"/>
                <a:ea typeface="Cantarell"/>
              </a:rPr>
              <a:t>sheared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8" name="Text 27"/>
          <p:cNvSpPr/>
          <p:nvPr/>
        </p:nvSpPr>
        <p:spPr>
          <a:xfrm>
            <a:off x="5139000" y="449892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31F71"/>
                </a:solidFill>
                <a:effectLst/>
                <a:uFillTx/>
                <a:latin typeface="Cantarell"/>
                <a:ea typeface="Cantarell"/>
              </a:rPr>
              <a:t>S = [1 </a:t>
            </a:r>
            <a:r>
              <a:rPr lang="en-US" sz="1300" b="1" u="none" strike="noStrike">
                <a:solidFill>
                  <a:srgbClr val="231F71"/>
                </a:solidFill>
                <a:effectLst/>
                <a:uFillTx/>
                <a:latin typeface="Cantarell"/>
                <a:ea typeface="Cantarell"/>
              </a:rPr>
              <a:t>1; 0 1]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9" name="Shape 28"/>
          <p:cNvSpPr/>
          <p:nvPr/>
        </p:nvSpPr>
        <p:spPr>
          <a:xfrm>
            <a:off x="8046720" y="1600200"/>
            <a:ext cx="3611520" cy="4343040"/>
          </a:xfrm>
          <a:prstGeom prst="roundRect">
            <a:avLst>
              <a:gd name="adj" fmla="val 3038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0" name="Text 29"/>
          <p:cNvSpPr/>
          <p:nvPr/>
        </p:nvSpPr>
        <p:spPr>
          <a:xfrm>
            <a:off x="8321040" y="1828800"/>
            <a:ext cx="31086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Columns tell the story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The columns of a matrix show where î and ĵ land.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For S = [1 1; 0 1], î stays at (1, 0) and ĵ moves to (1, 1).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Shear keeps heights, but slides the top sideways.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Area stays 1 because det(S) = 1.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55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2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3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4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Apply a Transformation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5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6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7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8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Shear S = [1 1; 0 1],  v = (1, 2)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S·v = (1·1 + 1·2, 0·1 + 1·2)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    = (3, 2)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Rotate 90° with R = [0 −1; 1 0]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R·(1, 0) = (0, 1)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The columns of R are where î and ĵ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land: (0, 1) and (−1, 0).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9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0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1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2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3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numpy as np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S = np.array([[1, 1], [0, 1]])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R = np.array([[0, -1], [1, 0]])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v = np.array([1, 2])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print(S @ v)           # [3 2]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print(R @ [1, 0])      # [0 1]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matrix shape (2,2) @ vector (2,)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→ vector (2,)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56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06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7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Composition: Apply Two in a Row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8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9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0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1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Do shear S first, then rotate R.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Single matrix: R·S  (right to left!)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R·S = [0 −1; 1 0] · [1 1; 0 1]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  = [0 −1; 1 1]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The other order, S·R, gives 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different matrix [1 −1; 1 0] —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order changes the result.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2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3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4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5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6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numpy as np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S = np.array([[1, 1], [0, 1]])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R = np.array([[0, -1], [1, 0]])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print(R @ S)   # [[ 0 -1]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               #  [ 1  1]]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print(S @ R)   # [[ 1 -1]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               #  [ 1  0]]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57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9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0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1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2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3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Transformations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4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5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6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7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8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Where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do î =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(1, 0)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and ĵ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= (0, 1)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land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under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[2 0; 0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3]?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9" name="Shape 11"/>
          <p:cNvSpPr/>
          <p:nvPr/>
        </p:nvSpPr>
        <p:spPr>
          <a:xfrm>
            <a:off x="548640" y="292608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0" name="Shape 12"/>
          <p:cNvSpPr/>
          <p:nvPr/>
        </p:nvSpPr>
        <p:spPr>
          <a:xfrm>
            <a:off x="731520" y="316368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1" name="Text 13"/>
          <p:cNvSpPr/>
          <p:nvPr/>
        </p:nvSpPr>
        <p:spPr>
          <a:xfrm>
            <a:off x="731520" y="31636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2" name="Text 14"/>
          <p:cNvSpPr/>
          <p:nvPr/>
        </p:nvSpPr>
        <p:spPr>
          <a:xfrm>
            <a:off x="1234440" y="29260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Apply [0 −1; 1 0] to the vector (2, 1) by hand.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3" name="Shape 15"/>
          <p:cNvSpPr/>
          <p:nvPr/>
        </p:nvSpPr>
        <p:spPr>
          <a:xfrm>
            <a:off x="548640" y="388620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4" name="Shape 16"/>
          <p:cNvSpPr/>
          <p:nvPr/>
        </p:nvSpPr>
        <p:spPr>
          <a:xfrm>
            <a:off x="731520" y="41238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5" name="Text 17"/>
          <p:cNvSpPr/>
          <p:nvPr/>
        </p:nvSpPr>
        <p:spPr>
          <a:xfrm>
            <a:off x="731520" y="4123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6" name="Text 18"/>
          <p:cNvSpPr/>
          <p:nvPr/>
        </p:nvSpPr>
        <p:spPr>
          <a:xfrm>
            <a:off x="1234440" y="388620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What does the matrix [−1 0; 0 1] do to the plane?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7" name="Shape 19"/>
          <p:cNvSpPr/>
          <p:nvPr/>
        </p:nvSpPr>
        <p:spPr>
          <a:xfrm>
            <a:off x="548640" y="484632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8" name="Shape 20"/>
          <p:cNvSpPr/>
          <p:nvPr/>
        </p:nvSpPr>
        <p:spPr>
          <a:xfrm>
            <a:off x="731520" y="5083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9" name="Text 21"/>
          <p:cNvSpPr/>
          <p:nvPr/>
        </p:nvSpPr>
        <p:spPr>
          <a:xfrm>
            <a:off x="731520" y="5083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0" name="Text 22"/>
          <p:cNvSpPr/>
          <p:nvPr/>
        </p:nvSpPr>
        <p:spPr>
          <a:xfrm>
            <a:off x="1234440" y="48463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Pytho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n: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build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45°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rotati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on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matrix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with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np.cos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and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np.sin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, then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apply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it to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(1, 0).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58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2" name="Shape 1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3" name="Shape 2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4" name="Text 3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6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5" name="Text 4"/>
          <p:cNvSpPr/>
          <p:nvPr/>
        </p:nvSpPr>
        <p:spPr>
          <a:xfrm>
            <a:off x="640080" y="274320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Systems of Linear Equations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6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Many equations, many unknowns — solved together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59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8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9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0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Types of Linear Equations &amp; Their Solutions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1" name="Shape 3"/>
          <p:cNvSpPr/>
          <p:nvPr/>
        </p:nvSpPr>
        <p:spPr>
          <a:xfrm>
            <a:off x="54864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2" name="Shape 4"/>
          <p:cNvSpPr/>
          <p:nvPr/>
        </p:nvSpPr>
        <p:spPr>
          <a:xfrm>
            <a:off x="777240" y="1965960"/>
            <a:ext cx="5028840" cy="4568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3" name="Text 5"/>
          <p:cNvSpPr/>
          <p:nvPr/>
        </p:nvSpPr>
        <p:spPr>
          <a:xfrm>
            <a:off x="777240" y="19659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What a linear equation is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4" name="Text 6"/>
          <p:cNvSpPr/>
          <p:nvPr/>
        </p:nvSpPr>
        <p:spPr>
          <a:xfrm>
            <a:off x="822960" y="2697480"/>
            <a:ext cx="493740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Unknowns appear only to the first power: 2x + y = 5.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No x², no xy, no √x, no sin x.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 2D each equation draws a straight line.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5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6" name="Shape 8"/>
          <p:cNvSpPr/>
          <p:nvPr/>
        </p:nvSpPr>
        <p:spPr>
          <a:xfrm>
            <a:off x="6400800" y="1965960"/>
            <a:ext cx="5028840" cy="4568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7" name="Text 9"/>
          <p:cNvSpPr/>
          <p:nvPr/>
        </p:nvSpPr>
        <p:spPr>
          <a:xfrm>
            <a:off x="6400800" y="19659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What can happen to a system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8" name="Text 10"/>
          <p:cNvSpPr/>
          <p:nvPr/>
        </p:nvSpPr>
        <p:spPr>
          <a:xfrm>
            <a:off x="6446520" y="2697480"/>
            <a:ext cx="493740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One solution — lines cross at a point.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No solution — parallel lines never meet.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Infinitely many — the lines coincide.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x- and y-intercepts quickly sketch each line.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60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0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1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2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Representing a System: Ax = b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3" name="Text 3"/>
          <p:cNvSpPr/>
          <p:nvPr/>
        </p:nvSpPr>
        <p:spPr>
          <a:xfrm>
            <a:off x="548640" y="1737360"/>
            <a:ext cx="5394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whole system becomes one matrix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equation.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holds the coefficients, x the unknowns, b the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right-hand sides.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Solve it by finding x = A⁻¹b — or, better,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elimination.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4" name="Shape 4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5" name="Shape 5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6" name="Shape 6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7" name="Shape 7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8" name="Text 8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system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2x + y = 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x − y =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matrix form  A x = b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[ 2   1 ] [x]   [5]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[ 1  −1 ] [y] = [1]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augmented matrix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[ 2   1 | 5 ]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[ 1  −1 | 1 ]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61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0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1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2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Graphical Method: Where Lines Cross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3" name="Shape 3"/>
          <p:cNvSpPr/>
          <p:nvPr/>
        </p:nvSpPr>
        <p:spPr>
          <a:xfrm>
            <a:off x="548640" y="1600200"/>
            <a:ext cx="7223400" cy="434304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4" name="Shape 4"/>
          <p:cNvSpPr/>
          <p:nvPr/>
        </p:nvSpPr>
        <p:spPr>
          <a:xfrm flipV="1">
            <a:off x="1645920" y="1783080"/>
            <a:ext cx="360" cy="4023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5" name="Shape 5"/>
          <p:cNvSpPr/>
          <p:nvPr/>
        </p:nvSpPr>
        <p:spPr>
          <a:xfrm flipV="1">
            <a:off x="2148840" y="1783080"/>
            <a:ext cx="360" cy="4023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6" name="Shape 6"/>
          <p:cNvSpPr/>
          <p:nvPr/>
        </p:nvSpPr>
        <p:spPr>
          <a:xfrm flipV="1">
            <a:off x="2651760" y="1783080"/>
            <a:ext cx="360" cy="402336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7" name="Shape 7"/>
          <p:cNvSpPr/>
          <p:nvPr/>
        </p:nvSpPr>
        <p:spPr>
          <a:xfrm flipV="1">
            <a:off x="3154680" y="1783080"/>
            <a:ext cx="360" cy="4023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8" name="Shape 8"/>
          <p:cNvSpPr/>
          <p:nvPr/>
        </p:nvSpPr>
        <p:spPr>
          <a:xfrm flipV="1">
            <a:off x="3657600" y="1783080"/>
            <a:ext cx="360" cy="4023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9" name="Shape 9"/>
          <p:cNvSpPr/>
          <p:nvPr/>
        </p:nvSpPr>
        <p:spPr>
          <a:xfrm flipV="1">
            <a:off x="4160520" y="1783080"/>
            <a:ext cx="360" cy="4023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0" name="Shape 10"/>
          <p:cNvSpPr/>
          <p:nvPr/>
        </p:nvSpPr>
        <p:spPr>
          <a:xfrm flipV="1">
            <a:off x="4663440" y="1783080"/>
            <a:ext cx="360" cy="4023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1" name="Shape 11"/>
          <p:cNvSpPr/>
          <p:nvPr/>
        </p:nvSpPr>
        <p:spPr>
          <a:xfrm flipV="1">
            <a:off x="5166360" y="1783080"/>
            <a:ext cx="360" cy="4023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2" name="Shape 12"/>
          <p:cNvSpPr/>
          <p:nvPr/>
        </p:nvSpPr>
        <p:spPr>
          <a:xfrm flipV="1">
            <a:off x="5669280" y="1783080"/>
            <a:ext cx="360" cy="4023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3" name="Shape 13"/>
          <p:cNvSpPr/>
          <p:nvPr/>
        </p:nvSpPr>
        <p:spPr>
          <a:xfrm flipV="1">
            <a:off x="6172200" y="1783080"/>
            <a:ext cx="360" cy="4023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4" name="Shape 14"/>
          <p:cNvSpPr/>
          <p:nvPr/>
        </p:nvSpPr>
        <p:spPr>
          <a:xfrm flipV="1">
            <a:off x="6675120" y="1783080"/>
            <a:ext cx="360" cy="4023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5" name="Shape 15"/>
          <p:cNvSpPr/>
          <p:nvPr/>
        </p:nvSpPr>
        <p:spPr>
          <a:xfrm>
            <a:off x="1645920" y="5806440"/>
            <a:ext cx="50292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6" name="Shape 16"/>
          <p:cNvSpPr/>
          <p:nvPr/>
        </p:nvSpPr>
        <p:spPr>
          <a:xfrm>
            <a:off x="1645920" y="5303520"/>
            <a:ext cx="50292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7" name="Shape 17"/>
          <p:cNvSpPr/>
          <p:nvPr/>
        </p:nvSpPr>
        <p:spPr>
          <a:xfrm>
            <a:off x="1645920" y="4800600"/>
            <a:ext cx="5029200" cy="36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8" name="Shape 18"/>
          <p:cNvSpPr/>
          <p:nvPr/>
        </p:nvSpPr>
        <p:spPr>
          <a:xfrm>
            <a:off x="1645920" y="4297680"/>
            <a:ext cx="50292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9" name="Shape 19"/>
          <p:cNvSpPr/>
          <p:nvPr/>
        </p:nvSpPr>
        <p:spPr>
          <a:xfrm>
            <a:off x="1645920" y="3794760"/>
            <a:ext cx="50292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0" name="Shape 20"/>
          <p:cNvSpPr/>
          <p:nvPr/>
        </p:nvSpPr>
        <p:spPr>
          <a:xfrm>
            <a:off x="1645920" y="3291840"/>
            <a:ext cx="50292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1" name="Shape 21"/>
          <p:cNvSpPr/>
          <p:nvPr/>
        </p:nvSpPr>
        <p:spPr>
          <a:xfrm>
            <a:off x="1645920" y="2788920"/>
            <a:ext cx="50292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2" name="Shape 22"/>
          <p:cNvSpPr/>
          <p:nvPr/>
        </p:nvSpPr>
        <p:spPr>
          <a:xfrm>
            <a:off x="1645920" y="2286000"/>
            <a:ext cx="50292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3" name="Shape 23"/>
          <p:cNvSpPr/>
          <p:nvPr/>
        </p:nvSpPr>
        <p:spPr>
          <a:xfrm>
            <a:off x="1645920" y="1783080"/>
            <a:ext cx="50292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4" name="Shape 24"/>
          <p:cNvSpPr/>
          <p:nvPr/>
        </p:nvSpPr>
        <p:spPr>
          <a:xfrm>
            <a:off x="2400120" y="1783080"/>
            <a:ext cx="2011680" cy="4023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5" name="Shape 25"/>
          <p:cNvSpPr/>
          <p:nvPr/>
        </p:nvSpPr>
        <p:spPr>
          <a:xfrm flipV="1">
            <a:off x="2148840" y="1783080"/>
            <a:ext cx="4023360" cy="4023360"/>
          </a:xfrm>
          <a:prstGeom prst="line">
            <a:avLst/>
          </a:prstGeom>
          <a:ln w="381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6" name="Shape 26"/>
          <p:cNvSpPr/>
          <p:nvPr/>
        </p:nvSpPr>
        <p:spPr>
          <a:xfrm>
            <a:off x="3547800" y="4187880"/>
            <a:ext cx="219240" cy="219240"/>
          </a:xfrm>
          <a:prstGeom prst="ellipse">
            <a:avLst/>
          </a:prstGeom>
          <a:solidFill>
            <a:srgbClr val="F43F5E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7" name="Text 27"/>
          <p:cNvSpPr/>
          <p:nvPr/>
        </p:nvSpPr>
        <p:spPr>
          <a:xfrm>
            <a:off x="4370760" y="555516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755A7"/>
                </a:solidFill>
                <a:effectLst/>
                <a:uFillTx/>
                <a:latin typeface="Cantarell"/>
                <a:ea typeface="Cantarell"/>
              </a:rPr>
              <a:t>2x + y = 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8" name="Text 28"/>
          <p:cNvSpPr/>
          <p:nvPr/>
        </p:nvSpPr>
        <p:spPr>
          <a:xfrm>
            <a:off x="5257800" y="347472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766E"/>
                </a:solidFill>
                <a:effectLst/>
                <a:uFillTx/>
                <a:latin typeface="Cantarell"/>
                <a:ea typeface="Cantarell"/>
              </a:rPr>
              <a:t>x − y = 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9" name="Text 29"/>
          <p:cNvSpPr/>
          <p:nvPr/>
        </p:nvSpPr>
        <p:spPr>
          <a:xfrm>
            <a:off x="3840480" y="43891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3F5E"/>
                </a:solidFill>
                <a:effectLst/>
                <a:uFillTx/>
                <a:latin typeface="Cantarell"/>
                <a:ea typeface="Cantarell"/>
              </a:rPr>
              <a:t>(2, 1)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0" name="Shape 30"/>
          <p:cNvSpPr/>
          <p:nvPr/>
        </p:nvSpPr>
        <p:spPr>
          <a:xfrm>
            <a:off x="8046720" y="1600200"/>
            <a:ext cx="3611520" cy="4343040"/>
          </a:xfrm>
          <a:prstGeom prst="roundRect">
            <a:avLst>
              <a:gd name="adj" fmla="val 3038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1" name="Text 31"/>
          <p:cNvSpPr/>
          <p:nvPr/>
        </p:nvSpPr>
        <p:spPr>
          <a:xfrm>
            <a:off x="8321040" y="1828800"/>
            <a:ext cx="31086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The solution is a point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Plot each line (use the intercepts).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Their intersection satisfies both equations.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Here x = 2, y = 1.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Quick to see, but only practical for 2–3 unknowns.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62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3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4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5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Substitution &amp; Elimination by Hand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6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7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8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9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2x + y = 5   (1)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x − y = 1   (2)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Substitution: from (2) x = y + 1.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Into (1): 2(y+1) + y = 5 → 3y = 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y = 1,  x = 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Elimination: add (1) and (2):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3x = 6 → x = 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Back into (2): y = 1   ✓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0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1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2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3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4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numpy as np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 = np.array([[2,  1],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          [1, -1]])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b = np.array([5, 1])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x = np.linalg.solve(A, b)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print(x)     # [2. 1.]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verify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print(A @ x)  # [5. 1.]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63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6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17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8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Matrix Inversion Method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9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0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1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2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x = A⁻¹ b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A = [2 1; 1 −1],  det = −2 − 1 = −3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A⁻¹ = (1/−3)·[−1 −1; −1 2]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  = [1/3 1/3; 1/3 −2/3]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x = A⁻¹ b = [1/3 1/3; 1/3 −2/3]·[5; 1]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= [ 5/3 + 1/3 ;  5/3 − 2/3 ]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= [2; 1]   ✓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3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4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5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6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7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numpy as np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inv = np.linalg.inv(A)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print(inv)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[[ 0.333  0.333]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 [ 0.333 -0.667]]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print(inv @ b)   # [2. 1.]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Prefer np.linalg.solve(A, b):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faster and more accurate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64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9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0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1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2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3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4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Systems of Equations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5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6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7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8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9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Is 3x + 2y = 6 a linear equation? What about x² + y = 4?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0" name="Shape 11"/>
          <p:cNvSpPr/>
          <p:nvPr/>
        </p:nvSpPr>
        <p:spPr>
          <a:xfrm>
            <a:off x="548640" y="292608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1" name="Shape 12"/>
          <p:cNvSpPr/>
          <p:nvPr/>
        </p:nvSpPr>
        <p:spPr>
          <a:xfrm>
            <a:off x="731520" y="316368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2" name="Text 13"/>
          <p:cNvSpPr/>
          <p:nvPr/>
        </p:nvSpPr>
        <p:spPr>
          <a:xfrm>
            <a:off x="731520" y="31636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3" name="Text 14"/>
          <p:cNvSpPr/>
          <p:nvPr/>
        </p:nvSpPr>
        <p:spPr>
          <a:xfrm>
            <a:off x="1234440" y="29260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Find the x- and y-intercepts of 2x + 3y = 12.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4" name="Shape 15"/>
          <p:cNvSpPr/>
          <p:nvPr/>
        </p:nvSpPr>
        <p:spPr>
          <a:xfrm>
            <a:off x="548640" y="388620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5" name="Shape 16"/>
          <p:cNvSpPr/>
          <p:nvPr/>
        </p:nvSpPr>
        <p:spPr>
          <a:xfrm>
            <a:off x="731520" y="41238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6" name="Text 17"/>
          <p:cNvSpPr/>
          <p:nvPr/>
        </p:nvSpPr>
        <p:spPr>
          <a:xfrm>
            <a:off x="731520" y="4123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7" name="Text 18"/>
          <p:cNvSpPr/>
          <p:nvPr/>
        </p:nvSpPr>
        <p:spPr>
          <a:xfrm>
            <a:off x="1234440" y="388620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Solve x + y = 7, x − y = 1 by elimination, then with np.linalg.solve.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8" name="Shape 19"/>
          <p:cNvSpPr/>
          <p:nvPr/>
        </p:nvSpPr>
        <p:spPr>
          <a:xfrm>
            <a:off x="548640" y="484632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9" name="Shape 20"/>
          <p:cNvSpPr/>
          <p:nvPr/>
        </p:nvSpPr>
        <p:spPr>
          <a:xfrm>
            <a:off x="731520" y="5083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0" name="Text 21"/>
          <p:cNvSpPr/>
          <p:nvPr/>
        </p:nvSpPr>
        <p:spPr>
          <a:xfrm>
            <a:off x="731520" y="5083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1" name="Text 22"/>
          <p:cNvSpPr/>
          <p:nvPr/>
        </p:nvSpPr>
        <p:spPr>
          <a:xfrm>
            <a:off x="1234440" y="48463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Write the system 2x + y = 5, x + 3y = 10 in the form Ax = b.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65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3" name="Shape 1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4" name="Shape 2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5" name="Text 3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7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6" name="Text 4"/>
          <p:cNvSpPr/>
          <p:nvPr/>
        </p:nvSpPr>
        <p:spPr>
          <a:xfrm>
            <a:off x="640080" y="274320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Advanced Methods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7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How computers really solve systems — and the ideas behind PCA and compression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66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9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0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1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Gaussian Elimination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2" name="Text 3"/>
          <p:cNvSpPr/>
          <p:nvPr/>
        </p:nvSpPr>
        <p:spPr>
          <a:xfrm>
            <a:off x="548640" y="1737360"/>
            <a:ext cx="5394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Use row operations to reach an upper-triangular system, then back-substitute.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Allowed operations: swap rows, multiply a row by a non-zero number, add a multiple of one row to another.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is how solvers actually work.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3" name="Shape 4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4" name="Shape 5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5" name="Shape 6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6" name="Shape 7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7" name="Text 8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the 3 row operations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R₁ ↔ R₂        (swap)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R₁ → k·R₁      (scale)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R₂ → R₂ + k·R₁ (combine)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goal: row-echelon form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[ ■ ■ ■ | ■ 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[ 0 ■ ■ | ■ 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[ 0 0 ■ | ■ 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then back-substitute from the bottom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67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9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0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1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Gaussian Elimination: 3 Unknowns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2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3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4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5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x + y + z = 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  2y + 5z = −4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2x + 5y − z = 27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R₃ → R₃ − 2R₁ :  3y − 3z = 15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R₃ → R₃ − 1.5R₂ : −10.5z = 21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 → z = −2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Back: 2y + 5(−2) = −4 → y = 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Back: x + 3 − 2 = 6 → x = 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6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7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8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9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0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numpy as np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 = np.array([[1, 1,  1],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          [0, 2,  5],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          [2, 5, -1]])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b = np.array([6, -4, 27])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print(np.linalg.solve(A, b))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[ 5.  3. -2.]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print(round(np.linalg.det(A)))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-21  (non-zero → unique solution)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68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2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3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4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Gauss-Jordan: Reduce All the Way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5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6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7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8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Keep going until the left side is I.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[ 2  1 | 5 ]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[ 1 −1 | 1 ]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R₁ ↔ R₂ → [1 −1 | 1; 2 1 | 5]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R₂ → R₂ − 2R₁ → [0 3 | 3]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R₂ → R₂/3 → [0 1 | 1]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R₁ → R₁ + R₂ → [1 0 | 2]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Result: [1 0 | 2; 0 1 | 1] → x=2, y=1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9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0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1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2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3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sympy as sp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M = sp.Matrix([[2, 1, 5],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           [1, -1, 1]])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rref, pivots = M.rref()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print(rref)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Matrix([[1, 0, 2],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        [0, 1, 1]])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→ x = 2, y = 1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69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axto  ·  AI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&amp; ML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Playgrou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nd  · 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Hafiz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Waseem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Ahmed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6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7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LU Decomposition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8" name="Text 3"/>
          <p:cNvSpPr/>
          <p:nvPr/>
        </p:nvSpPr>
        <p:spPr>
          <a:xfrm>
            <a:off x="548640" y="1737360"/>
            <a:ext cx="5394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Factor A = L·U: L lower-triangular, U upper-triangular.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Solve in two cheap steps: L·y = b, then U·x = b.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Great when you solve for many different b with the same A.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9" name="Shape 4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0" name="Shape 5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1" name="Shape 6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2" name="Shape 7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3" name="Text 8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A = L · U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[ 4 3 ]   [ 1    0 ] [ 4    3  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[ 6 3 ] = [ 1.5  1 ] [ 0  −1.5 ]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solve A x = 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L y = b     (forward substitution)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U x = y     (back substitution)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in practice solvers pivot rows: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P·A = L·U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70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6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7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LU Decomposition in Python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8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9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0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1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By hand (no pivoting):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A = [4 3; 6 3]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m = 6/4 = 1.5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R₂ → R₂ − 1.5R₁ = [0 −1.5]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U = [4 3; 0 −1.5]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L = [1 0; 1.5 1]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Check: L·U = [4 3; 6 3]  ✓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scipy pivots (swaps to the 6 first).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2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3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4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5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6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numpy as np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from scipy.linalg import lu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 = np.array([[4, 3], [6, 3]])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P, L, U = lu(A)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print(L)   # [[1.    0.]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           #  [0.667 1.]]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print(U)   # [[6. 3.]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           #  [0. 1.]]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print(np.allclose(P @ L @ U, A))  # True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71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8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9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0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Eigenvalues &amp; Eigenvectors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1" name="Text 3"/>
          <p:cNvSpPr/>
          <p:nvPr/>
        </p:nvSpPr>
        <p:spPr>
          <a:xfrm>
            <a:off x="548640" y="1737360"/>
            <a:ext cx="5394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Most vectors change direction under A. Eigenvectors do not — they only get stretched.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A·v = λ·v: λ is the eigenvalue (stretch factor), v the eigenvector.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Solve det(A − λI) = 0 to find the λ values.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2" name="Shape 4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3" name="Shape 5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4" name="Shape 6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5" name="Shape 7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6" name="Text 8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definition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 v = λ v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find λ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det(A − λI) = 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then solve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(A − λI) v = 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eigenvalues tell you stretch,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eigenvectors tell you direction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72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8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9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0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Eigenvectors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Keep Their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Direction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1" name="Shape 3"/>
          <p:cNvSpPr/>
          <p:nvPr/>
        </p:nvSpPr>
        <p:spPr>
          <a:xfrm>
            <a:off x="548640" y="1600200"/>
            <a:ext cx="7223400" cy="434304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2" name="Shape 4"/>
          <p:cNvSpPr/>
          <p:nvPr/>
        </p:nvSpPr>
        <p:spPr>
          <a:xfrm flipV="1">
            <a:off x="960120" y="1783080"/>
            <a:ext cx="360" cy="382212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3" name="Shape 5"/>
          <p:cNvSpPr/>
          <p:nvPr/>
        </p:nvSpPr>
        <p:spPr>
          <a:xfrm flipV="1">
            <a:off x="1307520" y="1783080"/>
            <a:ext cx="360" cy="382212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4" name="Shape 6"/>
          <p:cNvSpPr/>
          <p:nvPr/>
        </p:nvSpPr>
        <p:spPr>
          <a:xfrm flipV="1">
            <a:off x="1654920" y="1783080"/>
            <a:ext cx="360" cy="382212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5" name="Shape 7"/>
          <p:cNvSpPr/>
          <p:nvPr/>
        </p:nvSpPr>
        <p:spPr>
          <a:xfrm flipV="1">
            <a:off x="2002320" y="1783080"/>
            <a:ext cx="360" cy="382212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6" name="Shape 8"/>
          <p:cNvSpPr/>
          <p:nvPr/>
        </p:nvSpPr>
        <p:spPr>
          <a:xfrm flipV="1">
            <a:off x="2349720" y="1783080"/>
            <a:ext cx="360" cy="382212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7" name="Shape 9"/>
          <p:cNvSpPr/>
          <p:nvPr/>
        </p:nvSpPr>
        <p:spPr>
          <a:xfrm flipV="1">
            <a:off x="2697480" y="1783080"/>
            <a:ext cx="360" cy="382212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8" name="Shape 10"/>
          <p:cNvSpPr/>
          <p:nvPr/>
        </p:nvSpPr>
        <p:spPr>
          <a:xfrm flipV="1">
            <a:off x="3044880" y="1783080"/>
            <a:ext cx="360" cy="382212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9" name="Shape 11"/>
          <p:cNvSpPr/>
          <p:nvPr/>
        </p:nvSpPr>
        <p:spPr>
          <a:xfrm flipV="1">
            <a:off x="3392280" y="1783080"/>
            <a:ext cx="360" cy="382212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0" name="Shape 12"/>
          <p:cNvSpPr/>
          <p:nvPr/>
        </p:nvSpPr>
        <p:spPr>
          <a:xfrm flipV="1">
            <a:off x="3739680" y="1783080"/>
            <a:ext cx="360" cy="382212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1" name="Shape 13"/>
          <p:cNvSpPr/>
          <p:nvPr/>
        </p:nvSpPr>
        <p:spPr>
          <a:xfrm flipV="1">
            <a:off x="4087080" y="1783080"/>
            <a:ext cx="360" cy="382212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2" name="Shape 14"/>
          <p:cNvSpPr/>
          <p:nvPr/>
        </p:nvSpPr>
        <p:spPr>
          <a:xfrm flipV="1">
            <a:off x="4434840" y="1783080"/>
            <a:ext cx="360" cy="382212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3" name="Shape 15"/>
          <p:cNvSpPr/>
          <p:nvPr/>
        </p:nvSpPr>
        <p:spPr>
          <a:xfrm flipV="1">
            <a:off x="4782240" y="1783080"/>
            <a:ext cx="360" cy="382212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4" name="Shape 16"/>
          <p:cNvSpPr/>
          <p:nvPr/>
        </p:nvSpPr>
        <p:spPr>
          <a:xfrm flipV="1">
            <a:off x="5129640" y="1783080"/>
            <a:ext cx="360" cy="382212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5" name="Shape 17"/>
          <p:cNvSpPr/>
          <p:nvPr/>
        </p:nvSpPr>
        <p:spPr>
          <a:xfrm>
            <a:off x="960120" y="5605200"/>
            <a:ext cx="416952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6" name="Shape 18"/>
          <p:cNvSpPr/>
          <p:nvPr/>
        </p:nvSpPr>
        <p:spPr>
          <a:xfrm>
            <a:off x="960120" y="5257800"/>
            <a:ext cx="416952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7" name="Shape 19"/>
          <p:cNvSpPr/>
          <p:nvPr/>
        </p:nvSpPr>
        <p:spPr>
          <a:xfrm>
            <a:off x="960120" y="4910040"/>
            <a:ext cx="416952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8" name="Shape 20"/>
          <p:cNvSpPr/>
          <p:nvPr/>
        </p:nvSpPr>
        <p:spPr>
          <a:xfrm>
            <a:off x="960120" y="4562640"/>
            <a:ext cx="416952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9" name="Shape 21"/>
          <p:cNvSpPr/>
          <p:nvPr/>
        </p:nvSpPr>
        <p:spPr>
          <a:xfrm>
            <a:off x="960120" y="4215240"/>
            <a:ext cx="416952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0" name="Shape 22"/>
          <p:cNvSpPr/>
          <p:nvPr/>
        </p:nvSpPr>
        <p:spPr>
          <a:xfrm>
            <a:off x="960120" y="3867840"/>
            <a:ext cx="4169520" cy="36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1" name="Shape 23"/>
          <p:cNvSpPr/>
          <p:nvPr/>
        </p:nvSpPr>
        <p:spPr>
          <a:xfrm>
            <a:off x="960120" y="3520440"/>
            <a:ext cx="416952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2" name="Shape 24"/>
          <p:cNvSpPr/>
          <p:nvPr/>
        </p:nvSpPr>
        <p:spPr>
          <a:xfrm>
            <a:off x="960120" y="3172680"/>
            <a:ext cx="416952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3" name="Shape 25"/>
          <p:cNvSpPr/>
          <p:nvPr/>
        </p:nvSpPr>
        <p:spPr>
          <a:xfrm>
            <a:off x="960120" y="2825280"/>
            <a:ext cx="416952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4" name="Shape 26"/>
          <p:cNvSpPr/>
          <p:nvPr/>
        </p:nvSpPr>
        <p:spPr>
          <a:xfrm>
            <a:off x="960120" y="2477880"/>
            <a:ext cx="416952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5" name="Shape 27"/>
          <p:cNvSpPr/>
          <p:nvPr/>
        </p:nvSpPr>
        <p:spPr>
          <a:xfrm>
            <a:off x="960120" y="2130480"/>
            <a:ext cx="416952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6" name="Shape 28"/>
          <p:cNvSpPr/>
          <p:nvPr/>
        </p:nvSpPr>
        <p:spPr>
          <a:xfrm>
            <a:off x="960120" y="1783080"/>
            <a:ext cx="416952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7" name="Shape 29"/>
          <p:cNvSpPr/>
          <p:nvPr/>
        </p:nvSpPr>
        <p:spPr>
          <a:xfrm flipV="1">
            <a:off x="2349720" y="2130480"/>
            <a:ext cx="1737360" cy="1737360"/>
          </a:xfrm>
          <a:prstGeom prst="line">
            <a:avLst/>
          </a:prstGeom>
          <a:ln w="76200">
            <a:solidFill>
              <a:srgbClr val="C9C6F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8" name="Shape 30"/>
          <p:cNvSpPr/>
          <p:nvPr/>
        </p:nvSpPr>
        <p:spPr>
          <a:xfrm flipV="1">
            <a:off x="2349720" y="3520440"/>
            <a:ext cx="347760" cy="347400"/>
          </a:xfrm>
          <a:prstGeom prst="line">
            <a:avLst/>
          </a:prstGeom>
          <a:ln w="38100">
            <a:solidFill>
              <a:srgbClr val="5755A7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9" name="Shape 31"/>
          <p:cNvSpPr/>
          <p:nvPr/>
        </p:nvSpPr>
        <p:spPr>
          <a:xfrm>
            <a:off x="2349720" y="3867840"/>
            <a:ext cx="695160" cy="1389960"/>
          </a:xfrm>
          <a:prstGeom prst="line">
            <a:avLst/>
          </a:prstGeom>
          <a:ln w="76200">
            <a:solidFill>
              <a:srgbClr val="BFEFE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0" name="Shape 32"/>
          <p:cNvSpPr/>
          <p:nvPr/>
        </p:nvSpPr>
        <p:spPr>
          <a:xfrm>
            <a:off x="2349720" y="3867840"/>
            <a:ext cx="347760" cy="694800"/>
          </a:xfrm>
          <a:prstGeom prst="line">
            <a:avLst/>
          </a:prstGeom>
          <a:ln w="38100">
            <a:solidFill>
              <a:srgbClr val="0F766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1" name="Text 33"/>
          <p:cNvSpPr/>
          <p:nvPr/>
        </p:nvSpPr>
        <p:spPr>
          <a:xfrm>
            <a:off x="2788920" y="365760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755A7"/>
                </a:solidFill>
                <a:effectLst/>
                <a:uFillTx/>
                <a:latin typeface="Cantarell"/>
                <a:ea typeface="Cantarell"/>
              </a:rPr>
              <a:t>v = (1, 1)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2" name="Text 34"/>
          <p:cNvSpPr/>
          <p:nvPr/>
        </p:nvSpPr>
        <p:spPr>
          <a:xfrm>
            <a:off x="3264480" y="176472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31F71"/>
                </a:solidFill>
                <a:effectLst/>
                <a:uFillTx/>
                <a:latin typeface="Cantarell"/>
                <a:ea typeface="Cantarell"/>
              </a:rPr>
              <a:t>Av = 5v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3" name="Text 35"/>
          <p:cNvSpPr/>
          <p:nvPr/>
        </p:nvSpPr>
        <p:spPr>
          <a:xfrm>
            <a:off x="2788920" y="442584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766E"/>
                </a:solidFill>
                <a:effectLst/>
                <a:uFillTx/>
                <a:latin typeface="Cantarell"/>
                <a:ea typeface="Cantarell"/>
              </a:rPr>
              <a:t>w = (1, −2)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4" name="Text 36"/>
          <p:cNvSpPr/>
          <p:nvPr/>
        </p:nvSpPr>
        <p:spPr>
          <a:xfrm>
            <a:off x="3136320" y="516636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766E"/>
                </a:solidFill>
                <a:effectLst/>
                <a:uFillTx/>
                <a:latin typeface="Cantarell"/>
                <a:ea typeface="Cantarell"/>
              </a:rPr>
              <a:t>Aw = 2w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5" name="Shape 37"/>
          <p:cNvSpPr/>
          <p:nvPr/>
        </p:nvSpPr>
        <p:spPr>
          <a:xfrm>
            <a:off x="8046720" y="1600200"/>
            <a:ext cx="3611520" cy="4343040"/>
          </a:xfrm>
          <a:prstGeom prst="roundRect">
            <a:avLst>
              <a:gd name="adj" fmla="val 3038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6" name="Text 38"/>
          <p:cNvSpPr/>
          <p:nvPr/>
        </p:nvSpPr>
        <p:spPr>
          <a:xfrm>
            <a:off x="8321040" y="1828800"/>
            <a:ext cx="31086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A = [4 1; 2 3]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A sends v = (1, 1) to (5, 5): same line, 5× longer → λ = 5.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It sends w = (1, −2) to (2, −4): same line, 2× longer → λ = 2.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Every other direction gets turned.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73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8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9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0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Eigenvalues: A = [4 1; 2 3]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1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2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3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4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det(A − λI) = (4−λ)(3−λ) − 2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= λ² − 7λ + 10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= (λ − 5)(λ − 2) = 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→ λ = 5 and λ = 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For λ = 5: (A − 5I)v = 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[−1 1; 2 −2]v = 0 → v = (1, 1)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For λ = 2: [2 1; 2 1]v = 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→ v = (1, −2)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5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6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7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8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9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numpy as np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 = np.array([[4, 1], [2, 3]])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vals, vecs = np.linalg.eig(A)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print(vals)   # [5. 2.]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print(vecs)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[[ 0.707 -0.447]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 [ 0.707  0.894]]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columns = eigenvectors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(normalised to length 1)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74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1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2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3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Singular Value Decomposition (SVD)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4" name="Shape 3"/>
          <p:cNvSpPr/>
          <p:nvPr/>
        </p:nvSpPr>
        <p:spPr>
          <a:xfrm>
            <a:off x="548640" y="1600200"/>
            <a:ext cx="7223400" cy="434304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5" name="Shape 4"/>
          <p:cNvSpPr/>
          <p:nvPr/>
        </p:nvSpPr>
        <p:spPr>
          <a:xfrm>
            <a:off x="822960" y="2240280"/>
            <a:ext cx="1279800" cy="1005480"/>
          </a:xfrm>
          <a:prstGeom prst="roundRect">
            <a:avLst>
              <a:gd name="adj" fmla="val 9091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6" name="Text 5"/>
          <p:cNvSpPr/>
          <p:nvPr/>
        </p:nvSpPr>
        <p:spPr>
          <a:xfrm>
            <a:off x="822960" y="2240280"/>
            <a:ext cx="12798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m × 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7" name="Text 6"/>
          <p:cNvSpPr/>
          <p:nvPr/>
        </p:nvSpPr>
        <p:spPr>
          <a:xfrm>
            <a:off x="2148840" y="2514600"/>
            <a:ext cx="365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474651"/>
                </a:solidFill>
                <a:effectLst/>
                <a:uFillTx/>
                <a:latin typeface="Bricolage Grotesque"/>
                <a:ea typeface="Bricolage Grotesque"/>
              </a:rPr>
              <a:t>=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8" name="Shape 7"/>
          <p:cNvSpPr/>
          <p:nvPr/>
        </p:nvSpPr>
        <p:spPr>
          <a:xfrm>
            <a:off x="2560320" y="2240280"/>
            <a:ext cx="1096920" cy="1005480"/>
          </a:xfrm>
          <a:prstGeom prst="roundRect">
            <a:avLst>
              <a:gd name="adj" fmla="val 9091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9" name="Text 8"/>
          <p:cNvSpPr/>
          <p:nvPr/>
        </p:nvSpPr>
        <p:spPr>
          <a:xfrm>
            <a:off x="2560320" y="2240280"/>
            <a:ext cx="10969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Hanken Grotesk"/>
                <a:ea typeface="Hanken Grotesk"/>
              </a:rPr>
              <a:t>m × 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0" name="Shape 9"/>
          <p:cNvSpPr/>
          <p:nvPr/>
        </p:nvSpPr>
        <p:spPr>
          <a:xfrm>
            <a:off x="3794760" y="2240280"/>
            <a:ext cx="1279800" cy="1005480"/>
          </a:xfrm>
          <a:prstGeom prst="roundRect">
            <a:avLst>
              <a:gd name="adj" fmla="val 9091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1" name="Text 10"/>
          <p:cNvSpPr/>
          <p:nvPr/>
        </p:nvSpPr>
        <p:spPr>
          <a:xfrm>
            <a:off x="3794760" y="2240280"/>
            <a:ext cx="12798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Σ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m × n </a:t>
            </a:r>
            <a:r>
              <a:rPr lang="en-US" sz="110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diagon</a:t>
            </a:r>
            <a:r>
              <a:rPr lang="en-US" sz="110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2" name="Shape 11"/>
          <p:cNvSpPr/>
          <p:nvPr/>
        </p:nvSpPr>
        <p:spPr>
          <a:xfrm>
            <a:off x="5212080" y="2240280"/>
            <a:ext cx="1371240" cy="1005480"/>
          </a:xfrm>
          <a:prstGeom prst="roundRect">
            <a:avLst>
              <a:gd name="adj" fmla="val 9091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3" name="Text 12"/>
          <p:cNvSpPr/>
          <p:nvPr/>
        </p:nvSpPr>
        <p:spPr>
          <a:xfrm>
            <a:off x="5212080" y="2240280"/>
            <a:ext cx="1371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Vᵀ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n × 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4" name="Text 13"/>
          <p:cNvSpPr/>
          <p:nvPr/>
        </p:nvSpPr>
        <p:spPr>
          <a:xfrm>
            <a:off x="2560320" y="356616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31F71"/>
                </a:solidFill>
                <a:effectLst/>
                <a:uFillTx/>
                <a:latin typeface="Cantarell"/>
                <a:ea typeface="Cantarell"/>
              </a:rPr>
              <a:t>rotate  →  stretch  →  rotate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5" name="Text 14"/>
          <p:cNvSpPr/>
          <p:nvPr/>
        </p:nvSpPr>
        <p:spPr>
          <a:xfrm>
            <a:off x="822960" y="429768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5755A7"/>
                </a:solidFill>
                <a:effectLst/>
                <a:uFillTx/>
                <a:latin typeface="Cantarell"/>
                <a:ea typeface="Cantarell"/>
              </a:rPr>
              <a:t>A = U Σ Vᵀ     (singular values in Σ, largest first)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6" name="Shape 15"/>
          <p:cNvSpPr/>
          <p:nvPr/>
        </p:nvSpPr>
        <p:spPr>
          <a:xfrm>
            <a:off x="8046720" y="1600200"/>
            <a:ext cx="3611520" cy="4343040"/>
          </a:xfrm>
          <a:prstGeom prst="roundRect">
            <a:avLst>
              <a:gd name="adj" fmla="val 3038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7" name="Text 16"/>
          <p:cNvSpPr/>
          <p:nvPr/>
        </p:nvSpPr>
        <p:spPr>
          <a:xfrm>
            <a:off x="8321040" y="1828800"/>
            <a:ext cx="31086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Every matrix, three simple moves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Works for ANY matrix, not only square ones.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The singular values in Σ say how important each direction is.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Keep only the biggest few → compression and dimensionality reduction (PCA, recommenders).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75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9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0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1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SVD in Python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2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3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4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5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A = [3 2 2; 2 3 −2]  (2 × 3)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By hand, singular values are the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square roots of the eigenvalues of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AAᵀ = [17 8; 8 17]: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λ = 25 and 9  →  σ = 5 and 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Keep only σ₁ = 5 to get the best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rank-1 approximation of A.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6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7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8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9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0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numpy as np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 = np.array([[3, 2,  2],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          [2, 3, -2]])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U, s, Vt = np.linalg.svd(A)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print(s)          # [5. 3.]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S = np.zeros(A.shape)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S[:2, :2] = np.diag(s)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print(np.allclose(U @ S @ Vt, A))  # True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76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2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3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4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Where These Show Up in AI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5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6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7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★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8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The advanced tools behind real models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9" name="Text 7"/>
          <p:cNvSpPr/>
          <p:nvPr/>
        </p:nvSpPr>
        <p:spPr>
          <a:xfrm>
            <a:off x="3749040" y="1737360"/>
            <a:ext cx="79092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Gaussian elimination / LU: the solvers inside regression and many libraries.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Eigenvectors: PCA finds the directions of greatest variance.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SVD: image compression, recommender systems, topic models (LSA).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Matrix products: every neural-network forward pass.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Coming next: NumPy gives you all of this in one library.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77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1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2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3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4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5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6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Advanced Methods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7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8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9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0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1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Solve x + 2y = 5, 3x + 4y = 11 with row operations. Check with np.linalg.solve.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2" name="Shape 11"/>
          <p:cNvSpPr/>
          <p:nvPr/>
        </p:nvSpPr>
        <p:spPr>
          <a:xfrm>
            <a:off x="548640" y="292608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3" name="Shape 12"/>
          <p:cNvSpPr/>
          <p:nvPr/>
        </p:nvSpPr>
        <p:spPr>
          <a:xfrm>
            <a:off x="731520" y="316368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4" name="Text 13"/>
          <p:cNvSpPr/>
          <p:nvPr/>
        </p:nvSpPr>
        <p:spPr>
          <a:xfrm>
            <a:off x="731520" y="31636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5" name="Text 14"/>
          <p:cNvSpPr/>
          <p:nvPr/>
        </p:nvSpPr>
        <p:spPr>
          <a:xfrm>
            <a:off x="1234440" y="29260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Find the eigenvalues of [2 0; 0 3] by inspection.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6" name="Shape 15"/>
          <p:cNvSpPr/>
          <p:nvPr/>
        </p:nvSpPr>
        <p:spPr>
          <a:xfrm>
            <a:off x="548640" y="388620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7" name="Shape 16"/>
          <p:cNvSpPr/>
          <p:nvPr/>
        </p:nvSpPr>
        <p:spPr>
          <a:xfrm>
            <a:off x="731520" y="41238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8" name="Text 17"/>
          <p:cNvSpPr/>
          <p:nvPr/>
        </p:nvSpPr>
        <p:spPr>
          <a:xfrm>
            <a:off x="731520" y="4123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9" name="Text 18"/>
          <p:cNvSpPr/>
          <p:nvPr/>
        </p:nvSpPr>
        <p:spPr>
          <a:xfrm>
            <a:off x="1234440" y="388620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Run np.linalg.eig on [[2,1],[1,2]]. What are the eigenvalues?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0" name="Shape 19"/>
          <p:cNvSpPr/>
          <p:nvPr/>
        </p:nvSpPr>
        <p:spPr>
          <a:xfrm>
            <a:off x="548640" y="484632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1" name="Shape 20"/>
          <p:cNvSpPr/>
          <p:nvPr/>
        </p:nvSpPr>
        <p:spPr>
          <a:xfrm>
            <a:off x="731520" y="5083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2" name="Text 21"/>
          <p:cNvSpPr/>
          <p:nvPr/>
        </p:nvSpPr>
        <p:spPr>
          <a:xfrm>
            <a:off x="731520" y="5083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3" name="Text 22"/>
          <p:cNvSpPr/>
          <p:nvPr/>
        </p:nvSpPr>
        <p:spPr>
          <a:xfrm>
            <a:off x="1234440" y="48463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Python: compute the SVD of any 3×2 matrix and reconstruct it.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78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5" name="Shape 1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6" name="Shape 2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7" name="Text 3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TASKS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8" name="Text 4"/>
          <p:cNvSpPr/>
          <p:nvPr/>
        </p:nvSpPr>
        <p:spPr>
          <a:xfrm>
            <a:off x="640080" y="274320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Your Turn: Three Task Sets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9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Do it by hand first, then confirm with NumPy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79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1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52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3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4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5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TASK 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6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Vectors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7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By hand, then in NumPy.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8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9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0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1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Vectors a = (2, −1, 3), b = (1, 4, 0): compute a + b, 3a, and a·b.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2" name="Shape 11"/>
          <p:cNvSpPr/>
          <p:nvPr/>
        </p:nvSpPr>
        <p:spPr>
          <a:xfrm>
            <a:off x="548640" y="292608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3" name="Shape 12"/>
          <p:cNvSpPr/>
          <p:nvPr/>
        </p:nvSpPr>
        <p:spPr>
          <a:xfrm>
            <a:off x="731520" y="316368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4" name="Text 13"/>
          <p:cNvSpPr/>
          <p:nvPr/>
        </p:nvSpPr>
        <p:spPr>
          <a:xfrm>
            <a:off x="731520" y="31636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5" name="Text 14"/>
          <p:cNvSpPr/>
          <p:nvPr/>
        </p:nvSpPr>
        <p:spPr>
          <a:xfrm>
            <a:off x="1234440" y="29260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Find ‖a‖ and the unit vector of a.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6" name="Shape 15"/>
          <p:cNvSpPr/>
          <p:nvPr/>
        </p:nvSpPr>
        <p:spPr>
          <a:xfrm>
            <a:off x="548640" y="388620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7" name="Shape 16"/>
          <p:cNvSpPr/>
          <p:nvPr/>
        </p:nvSpPr>
        <p:spPr>
          <a:xfrm>
            <a:off x="731520" y="41238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8" name="Text 17"/>
          <p:cNvSpPr/>
          <p:nvPr/>
        </p:nvSpPr>
        <p:spPr>
          <a:xfrm>
            <a:off x="731520" y="4123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9" name="Text 18"/>
          <p:cNvSpPr/>
          <p:nvPr/>
        </p:nvSpPr>
        <p:spPr>
          <a:xfrm>
            <a:off x="1234440" y="388620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Compute the cross product a × b and verify it is perpendicular to a.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0" name="Shape 19"/>
          <p:cNvSpPr/>
          <p:nvPr/>
        </p:nvSpPr>
        <p:spPr>
          <a:xfrm>
            <a:off x="548640" y="484632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1" name="Shape 20"/>
          <p:cNvSpPr/>
          <p:nvPr/>
        </p:nvSpPr>
        <p:spPr>
          <a:xfrm>
            <a:off x="731520" y="5083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2" name="Text 21"/>
          <p:cNvSpPr/>
          <p:nvPr/>
        </p:nvSpPr>
        <p:spPr>
          <a:xfrm>
            <a:off x="731520" y="5083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3" name="Text 22"/>
          <p:cNvSpPr/>
          <p:nvPr/>
        </p:nvSpPr>
        <p:spPr>
          <a:xfrm>
            <a:off x="1234440" y="48463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Compute the cosine similarity of a and b.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80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76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7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8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9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TASK 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0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Matrices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1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Operations and properties.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2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3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4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5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For A = [2 1; 4 3] and B = [1 0; 2 5]: compute AB and BA.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6" name="Shape 11"/>
          <p:cNvSpPr/>
          <p:nvPr/>
        </p:nvSpPr>
        <p:spPr>
          <a:xfrm>
            <a:off x="548640" y="292608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7" name="Shape 12"/>
          <p:cNvSpPr/>
          <p:nvPr/>
        </p:nvSpPr>
        <p:spPr>
          <a:xfrm>
            <a:off x="731520" y="316368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8" name="Text 13"/>
          <p:cNvSpPr/>
          <p:nvPr/>
        </p:nvSpPr>
        <p:spPr>
          <a:xfrm>
            <a:off x="731520" y="31636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9" name="Text 14"/>
          <p:cNvSpPr/>
          <p:nvPr/>
        </p:nvSpPr>
        <p:spPr>
          <a:xfrm>
            <a:off x="1234440" y="29260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Compute det(A) and A⁻¹ by hand; verify with NumPy.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0" name="Shape 15"/>
          <p:cNvSpPr/>
          <p:nvPr/>
        </p:nvSpPr>
        <p:spPr>
          <a:xfrm>
            <a:off x="548640" y="388620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1" name="Shape 16"/>
          <p:cNvSpPr/>
          <p:nvPr/>
        </p:nvSpPr>
        <p:spPr>
          <a:xfrm>
            <a:off x="731520" y="41238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2" name="Text 17"/>
          <p:cNvSpPr/>
          <p:nvPr/>
        </p:nvSpPr>
        <p:spPr>
          <a:xfrm>
            <a:off x="731520" y="4123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3" name="Text 18"/>
          <p:cNvSpPr/>
          <p:nvPr/>
        </p:nvSpPr>
        <p:spPr>
          <a:xfrm>
            <a:off x="1234440" y="388620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Show that A·A⁻¹ = I using np.round.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4" name="Shape 19"/>
          <p:cNvSpPr/>
          <p:nvPr/>
        </p:nvSpPr>
        <p:spPr>
          <a:xfrm>
            <a:off x="548640" y="484632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5" name="Shape 20"/>
          <p:cNvSpPr/>
          <p:nvPr/>
        </p:nvSpPr>
        <p:spPr>
          <a:xfrm>
            <a:off x="731520" y="5083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6" name="Text 21"/>
          <p:cNvSpPr/>
          <p:nvPr/>
        </p:nvSpPr>
        <p:spPr>
          <a:xfrm>
            <a:off x="731520" y="5083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7" name="Text 22"/>
          <p:cNvSpPr/>
          <p:nvPr/>
        </p:nvSpPr>
        <p:spPr>
          <a:xfrm>
            <a:off x="1234440" y="48463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Apply A as a transformation to î and ĵ; describe what happens.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81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9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00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1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2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3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TASK 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4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Systems &amp; Eigen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5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Solve with three different tools.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6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7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8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9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Solve 3x + y = 9, x − y = 3 by elimination.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0" name="Shape 11"/>
          <p:cNvSpPr/>
          <p:nvPr/>
        </p:nvSpPr>
        <p:spPr>
          <a:xfrm>
            <a:off x="548640" y="292608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1" name="Shape 12"/>
          <p:cNvSpPr/>
          <p:nvPr/>
        </p:nvSpPr>
        <p:spPr>
          <a:xfrm>
            <a:off x="731520" y="316368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2" name="Text 13"/>
          <p:cNvSpPr/>
          <p:nvPr/>
        </p:nvSpPr>
        <p:spPr>
          <a:xfrm>
            <a:off x="731520" y="31636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3" name="Text 14"/>
          <p:cNvSpPr/>
          <p:nvPr/>
        </p:nvSpPr>
        <p:spPr>
          <a:xfrm>
            <a:off x="1234440" y="29260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Solve it again with np.linalg.solve and with the inverse.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4" name="Shape 15"/>
          <p:cNvSpPr/>
          <p:nvPr/>
        </p:nvSpPr>
        <p:spPr>
          <a:xfrm>
            <a:off x="548640" y="388620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5" name="Shape 16"/>
          <p:cNvSpPr/>
          <p:nvPr/>
        </p:nvSpPr>
        <p:spPr>
          <a:xfrm>
            <a:off x="731520" y="41238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6" name="Text 17"/>
          <p:cNvSpPr/>
          <p:nvPr/>
        </p:nvSpPr>
        <p:spPr>
          <a:xfrm>
            <a:off x="731520" y="4123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7" name="Text 18"/>
          <p:cNvSpPr/>
          <p:nvPr/>
        </p:nvSpPr>
        <p:spPr>
          <a:xfrm>
            <a:off x="1234440" y="388620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Solve a 3-equation system of your own with Gaussian elimination.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8" name="Shape 19"/>
          <p:cNvSpPr/>
          <p:nvPr/>
        </p:nvSpPr>
        <p:spPr>
          <a:xfrm>
            <a:off x="548640" y="484632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9" name="Shape 20"/>
          <p:cNvSpPr/>
          <p:nvPr/>
        </p:nvSpPr>
        <p:spPr>
          <a:xfrm>
            <a:off x="731520" y="5083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0" name="Text 21"/>
          <p:cNvSpPr/>
          <p:nvPr/>
        </p:nvSpPr>
        <p:spPr>
          <a:xfrm>
            <a:off x="731520" y="5083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1" name="Text 22"/>
          <p:cNvSpPr/>
          <p:nvPr/>
        </p:nvSpPr>
        <p:spPr>
          <a:xfrm>
            <a:off x="1234440" y="48463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Find eigenvalues/eigenvectors of [[3,1],[0,2]] and check A·v = λ·v.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82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3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24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5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Mini Project: A Similarity Engine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6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7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8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✦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9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Who has the most similar taste?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0" name="Text 7"/>
          <p:cNvSpPr/>
          <p:nvPr/>
        </p:nvSpPr>
        <p:spPr>
          <a:xfrm>
            <a:off x="3749040" y="1737360"/>
            <a:ext cx="79092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Collect ratings (1–5) from 5 classmates for 6 movies, songs or apps — each person is a vector.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Compute the cosine similarity between every pair using only NumPy.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Find the most similar pair and the most different pair.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Write a 5-sentence report: what the vectors are, why cosine, the winner, one limitation.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83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2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33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4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Mini Project: Starter Template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5" name="Text 3"/>
          <p:cNvSpPr/>
          <p:nvPr/>
        </p:nvSpPr>
        <p:spPr>
          <a:xfrm>
            <a:off x="548640" y="1737360"/>
            <a:ext cx="5394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Rows = people, columns = items.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Normalise rows, then one matrix product gives all similarities at once.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Read the biggest off-diagonal value.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6" name="Shape 4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7" name="Shape 5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8" name="Shape 6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9" name="Shape 7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0" name="Text 8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numpy as np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R = np.array([[5, 3, 4, 1, 2, 5],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          [4, 3, 5, 1, 1, 4],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          [1, 5, 2, 5, 4, 1],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          [...],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          [...]])   # your data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norms = np.linalg.norm(R, axis=1,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                   keepdims=True)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U = R / norms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sim = U @ U.T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print(np.round(sim, 2))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84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2" name="Shape 1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3" name="Shape 2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4" name="Text 3"/>
          <p:cNvSpPr/>
          <p:nvPr/>
        </p:nvSpPr>
        <p:spPr>
          <a:xfrm>
            <a:off x="640080" y="128016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SESSION 23 COMPLETE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5" name="Text 4"/>
          <p:cNvSpPr/>
          <p:nvPr/>
        </p:nvSpPr>
        <p:spPr>
          <a:xfrm>
            <a:off x="640080" y="1691640"/>
            <a:ext cx="10332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What You Can Do Now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6" name="Text 5"/>
          <p:cNvSpPr/>
          <p:nvPr/>
        </p:nvSpPr>
        <p:spPr>
          <a:xfrm>
            <a:off x="640080" y="2834640"/>
            <a:ext cx="1051524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E0E7FF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E0E7FF"/>
                </a:solidFill>
                <a:effectLst/>
                <a:uFillTx/>
                <a:latin typeface="Hanken Grotesk"/>
                <a:ea typeface="Hanken Grotesk"/>
              </a:rPr>
              <a:t>Explain algebra, linear algebra and where AI uses it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E0E7FF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E0E7FF"/>
                </a:solidFill>
                <a:effectLst/>
                <a:uFillTx/>
                <a:latin typeface="Hanken Grotesk"/>
                <a:ea typeface="Hanken Grotesk"/>
              </a:rPr>
              <a:t>Work with scalars and vectors: norm, dot and cross products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E0E7FF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E0E7FF"/>
                </a:solidFill>
                <a:effectLst/>
                <a:uFillTx/>
                <a:latin typeface="Hanken Grotesk"/>
                <a:ea typeface="Hanken Grotesk"/>
              </a:rPr>
              <a:t>Multiply matrices, find determinants and inverses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E0E7FF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E0E7FF"/>
                </a:solidFill>
                <a:effectLst/>
                <a:uFillTx/>
                <a:latin typeface="Hanken Grotesk"/>
                <a:ea typeface="Hanken Grotesk"/>
              </a:rPr>
              <a:t>See matrices as transformations and solve Ax = b several ways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E0E7FF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E0E7FF"/>
                </a:solidFill>
                <a:effectLst/>
                <a:uFillTx/>
                <a:latin typeface="Hanken Grotesk"/>
                <a:ea typeface="Hanken Grotesk"/>
              </a:rPr>
              <a:t>Understand LU, eigenvectors and SVD — and run them in NumPy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7" name="Text 6"/>
          <p:cNvSpPr/>
          <p:nvPr/>
        </p:nvSpPr>
        <p:spPr>
          <a:xfrm>
            <a:off x="640080" y="521208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Hanken Grotesk"/>
                <a:ea typeface="Hanken Grotesk"/>
              </a:rPr>
              <a:t>Next up — Phase 5: NumPy, Pandas, Matplotlib &amp; Seaborn · where every idea in this deck becomes a daily tool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LibreOffice/26.2.6.3$Linux_X86_64 LibreOffice_project/620$Build-3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2026-10-01T05:20:31Z</dcterms:created>
  <dc:creator>PptxGenJS</dc:creator>
  <dc:description/>
  <dc:language>en-US</dc:language>
  <cp:lastModifiedBy/>
  <dcterms:modified xsi:type="dcterms:W3CDTF">2026-10-01T21:09:45Z</dcterms:modified>
  <cp:revision>7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84</vt:i4>
  </property>
  <property fmtid="{D5CDD505-2E9C-101B-9397-08002B2CF9AE}" pid="3" name="PresentationFormat">
    <vt:lpwstr>On-screen Show (16:9)</vt:lpwstr>
  </property>
  <property fmtid="{D5CDD505-2E9C-101B-9397-08002B2CF9AE}" pid="4" name="Slides">
    <vt:i4>84</vt:i4>
  </property>
</Properties>
</file>