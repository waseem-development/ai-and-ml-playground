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9DE5AC-F446-4DC3-938A-70CEB59FA01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76BA9A-F25B-4F72-A3F8-24F283D08D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3AAEF8-D851-4B1D-82A2-069DD13F38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0DB5C-119B-4811-8809-833B95C7D3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655198-232C-46DD-91B1-2872E0BD69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410CCB-D808-4FCC-B742-106F90A8D0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3B204-1E4A-42EB-A730-04AC33221C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65F99D-474C-42C6-8021-36843558FD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DDD909-E6BE-45CB-B58E-2BC8C727DA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D43547-1B30-44D8-BF70-E8C0328F10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2006BA-33E4-42E4-A478-B026AD6ACE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2B2BEC-6228-4BAD-97B8-59C1702F45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E4BCAF-A85D-48C0-A3E7-2FEF474FCE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058CDE-E8C7-4CDE-A97F-8D60947581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EDE930-4D7C-469A-97C1-2A1B5875E4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57350B-2C3C-4617-83AF-E98468BE4A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E8F99A-ACB8-4CF5-A254-8E3DFA7C6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EA3F4D-8AD6-4749-B733-BA2834D0F0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C78B5-36EA-44A5-A910-6BEF4692B9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5880" cy="420588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why_math/assets/logo_full.png"/>
          <p:cNvPicPr/>
          <p:nvPr/>
        </p:nvPicPr>
        <p:blipFill>
          <a:blip r:embed="rId1"/>
          <a:stretch/>
        </p:blipFill>
        <p:spPr>
          <a:xfrm>
            <a:off x="685800" y="502920"/>
            <a:ext cx="2651400" cy="8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</a:t>
            </a: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16  ·  AI </a:t>
            </a: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PLAYGR</a:t>
            </a: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10058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Why Mathematics?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379476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Language Behind Every Model, Every Dataset, Every Decision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470916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48006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d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B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y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x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: 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h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e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I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&amp;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L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l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a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y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g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r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o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u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n</a:t>
            </a: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51390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</a:t>
            </a: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548640" y="155448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713160" y="171000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713160" y="1710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143000" y="155448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mathematics actually is — and why it isn't what you think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548640" y="224928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713160" y="240480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713160" y="24048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143000" y="224928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Gauss called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mathematics "the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Queen of all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Sciences"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548640" y="294444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713160" y="309996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713160" y="30999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143000" y="294444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Math you already use, without ever calling it "math"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548640" y="363924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713160" y="379476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713160" y="3794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1143000" y="363924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Where statistics, probability, linear algebra, and calculus each fit in AI &amp; data science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548640" y="433440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713160" y="448956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713160" y="4489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1143000" y="433440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Real systems you use daily, and the math quietly running underneath them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548640" y="502920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713160" y="518472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713160" y="5184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1143000" y="502920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this course will — and deliberately won't — ask of you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6"/>
          <p:cNvSpPr/>
          <p:nvPr/>
        </p:nvSpPr>
        <p:spPr>
          <a:xfrm>
            <a:off x="548640" y="5724000"/>
            <a:ext cx="11109600" cy="6030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713160" y="587952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713160" y="5879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1143000" y="5724000"/>
            <a:ext cx="10286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road ahead — a preview of every math session still to come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Mathematics, Really?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548640" y="1737360"/>
            <a:ext cx="3108600" cy="4114440"/>
          </a:xfrm>
          <a:prstGeom prst="roundRect">
            <a:avLst>
              <a:gd name="adj" fmla="val 4118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1691640" y="210312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1691640" y="2084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20" b="0" u="none" strike="noStrike">
                <a:solidFill>
                  <a:srgbClr val="5755A7"/>
                </a:solidFill>
                <a:effectLst/>
                <a:uFillTx/>
                <a:latin typeface="Hanken Grotesk"/>
                <a:ea typeface="Hanken Grotesk"/>
              </a:rPr>
              <a:t>💬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731520" y="3154680"/>
            <a:ext cx="27428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language,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not 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subject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3977640" y="1783080"/>
            <a:ext cx="7680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Mathematics is not fundamentally about numbers — it's a language for describing patterns, relationships, and change, precisely enough that a computer can act on them.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"The average customer spends more on weekends" is a pattern. Math is simply how you state that precisely enough to test it, measure it, and build something on top of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field that deals with patterns eventually needs this language — physics, economics, biology, and yes, artificial intelligence and data science.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You've been doing informal versions of this your entire life — this phase of the course is about formalizing instincts you already have.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-1828800" y="-2103120"/>
            <a:ext cx="4754520" cy="47545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9326880" y="4206240"/>
            <a:ext cx="4205880" cy="4205880"/>
          </a:xfrm>
          <a:prstGeom prst="ellipse">
            <a:avLst/>
          </a:prstGeom>
          <a:solidFill>
            <a:srgbClr val="11362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907160" y="1051560"/>
            <a:ext cx="2377080" cy="5436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0" y="123444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A FAMOUS 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249560" y="1920240"/>
            <a:ext cx="9692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“Mathematics is the Queen of all Sciences.”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0" y="45262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— Carl Friedrich Gauss, one of history's greatest mathematicians, 1856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“Queen,” Not “King”?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548640" y="1737360"/>
            <a:ext cx="3108600" cy="4114440"/>
          </a:xfrm>
          <a:prstGeom prst="roundRect">
            <a:avLst>
              <a:gd name="adj" fmla="val 4118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1691640" y="210312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1691640" y="2084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20" b="0" u="none" strike="noStrike">
                <a:solidFill>
                  <a:srgbClr val="5755A7"/>
                </a:solidFill>
                <a:effectLst/>
                <a:uFillTx/>
                <a:latin typeface="Hanken Grotesk"/>
                <a:ea typeface="Hanken Grotesk"/>
              </a:rPr>
              <a:t>♛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731520" y="3154680"/>
            <a:ext cx="27428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most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powerful piece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on the board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3977640" y="1783080"/>
            <a:ext cx="7680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 a chessboard, the king can only ever move one square at a time — technically the most important piece, but genuinely limited in reach.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queen moves any number of squares, in every direction — rows, columns, and diagonals alike. She isn't just important; she's the single most powerful, most versatile piece on the board.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Gauss's choice of "queen" over "king" was deliberate — mathematics doesn't just sit at the top of one field. It reaches into every field, in every direction, with no limit on distance.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Physics, biology, economics, art, medicine, music, computer science — mathematics moves into all of them, often quietly, whether the people working in those fields notice it or not.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the Queen — Not the 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1188720" y="1600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85D"/>
                </a:solidFill>
                <a:effectLst/>
                <a:uFillTx/>
                <a:latin typeface="Bricolage Grotesque"/>
                <a:ea typeface="Bricolage Grotesque"/>
              </a:rPr>
              <a:t>The 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1188720" y="205740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1755720" y="2057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2322720" y="205740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2889360" y="2057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3456360" y="205740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1188720" y="2624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1755720" y="262440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2322720" y="262440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2889360" y="262440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3456360" y="2624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1188720" y="319140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1755720" y="319140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2322720" y="319140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6"/>
          <p:cNvSpPr/>
          <p:nvPr/>
        </p:nvSpPr>
        <p:spPr>
          <a:xfrm>
            <a:off x="2889360" y="319140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7"/>
          <p:cNvSpPr/>
          <p:nvPr/>
        </p:nvSpPr>
        <p:spPr>
          <a:xfrm>
            <a:off x="3456360" y="319140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8"/>
          <p:cNvSpPr/>
          <p:nvPr/>
        </p:nvSpPr>
        <p:spPr>
          <a:xfrm>
            <a:off x="1188720" y="3758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9"/>
          <p:cNvSpPr/>
          <p:nvPr/>
        </p:nvSpPr>
        <p:spPr>
          <a:xfrm>
            <a:off x="1755720" y="375804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0"/>
          <p:cNvSpPr/>
          <p:nvPr/>
        </p:nvSpPr>
        <p:spPr>
          <a:xfrm>
            <a:off x="2322720" y="375804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1"/>
          <p:cNvSpPr/>
          <p:nvPr/>
        </p:nvSpPr>
        <p:spPr>
          <a:xfrm>
            <a:off x="2889360" y="3758040"/>
            <a:ext cx="566640" cy="566640"/>
          </a:xfrm>
          <a:prstGeom prst="rect">
            <a:avLst/>
          </a:prstGeom>
          <a:solidFill>
            <a:srgbClr val="E07AB4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2"/>
          <p:cNvSpPr/>
          <p:nvPr/>
        </p:nvSpPr>
        <p:spPr>
          <a:xfrm>
            <a:off x="3456360" y="3758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1188720" y="432504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1755720" y="4325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5"/>
          <p:cNvSpPr/>
          <p:nvPr/>
        </p:nvSpPr>
        <p:spPr>
          <a:xfrm>
            <a:off x="2322720" y="432504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6"/>
          <p:cNvSpPr/>
          <p:nvPr/>
        </p:nvSpPr>
        <p:spPr>
          <a:xfrm>
            <a:off x="2889360" y="4325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7"/>
          <p:cNvSpPr/>
          <p:nvPr/>
        </p:nvSpPr>
        <p:spPr>
          <a:xfrm>
            <a:off x="3456360" y="4325040"/>
            <a:ext cx="566640" cy="566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8"/>
          <p:cNvSpPr/>
          <p:nvPr/>
        </p:nvSpPr>
        <p:spPr>
          <a:xfrm>
            <a:off x="2322720" y="31636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1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♚</a:t>
            </a:r>
            <a:endParaRPr lang="en-US" sz="2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822960" y="50292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Moves one square — its reach barely extends past itself.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0"/>
          <p:cNvSpPr/>
          <p:nvPr/>
        </p:nvSpPr>
        <p:spPr>
          <a:xfrm>
            <a:off x="6766560" y="1600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The Queen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1"/>
          <p:cNvSpPr/>
          <p:nvPr/>
        </p:nvSpPr>
        <p:spPr>
          <a:xfrm>
            <a:off x="6766560" y="2057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2"/>
          <p:cNvSpPr/>
          <p:nvPr/>
        </p:nvSpPr>
        <p:spPr>
          <a:xfrm>
            <a:off x="7333560" y="2057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3"/>
          <p:cNvSpPr/>
          <p:nvPr/>
        </p:nvSpPr>
        <p:spPr>
          <a:xfrm>
            <a:off x="7900560" y="2057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4"/>
          <p:cNvSpPr/>
          <p:nvPr/>
        </p:nvSpPr>
        <p:spPr>
          <a:xfrm>
            <a:off x="8467200" y="2057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5"/>
          <p:cNvSpPr/>
          <p:nvPr/>
        </p:nvSpPr>
        <p:spPr>
          <a:xfrm>
            <a:off x="9034200" y="2057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6"/>
          <p:cNvSpPr/>
          <p:nvPr/>
        </p:nvSpPr>
        <p:spPr>
          <a:xfrm>
            <a:off x="6766560" y="2624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37"/>
          <p:cNvSpPr/>
          <p:nvPr/>
        </p:nvSpPr>
        <p:spPr>
          <a:xfrm>
            <a:off x="7333560" y="2624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8"/>
          <p:cNvSpPr/>
          <p:nvPr/>
        </p:nvSpPr>
        <p:spPr>
          <a:xfrm>
            <a:off x="7900560" y="2624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9"/>
          <p:cNvSpPr/>
          <p:nvPr/>
        </p:nvSpPr>
        <p:spPr>
          <a:xfrm>
            <a:off x="8467200" y="2624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0"/>
          <p:cNvSpPr/>
          <p:nvPr/>
        </p:nvSpPr>
        <p:spPr>
          <a:xfrm>
            <a:off x="9034200" y="262440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1"/>
          <p:cNvSpPr/>
          <p:nvPr/>
        </p:nvSpPr>
        <p:spPr>
          <a:xfrm>
            <a:off x="6766560" y="3191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2"/>
          <p:cNvSpPr/>
          <p:nvPr/>
        </p:nvSpPr>
        <p:spPr>
          <a:xfrm>
            <a:off x="7333560" y="3191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3"/>
          <p:cNvSpPr/>
          <p:nvPr/>
        </p:nvSpPr>
        <p:spPr>
          <a:xfrm>
            <a:off x="7900560" y="3191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4"/>
          <p:cNvSpPr/>
          <p:nvPr/>
        </p:nvSpPr>
        <p:spPr>
          <a:xfrm>
            <a:off x="8467200" y="3191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5"/>
          <p:cNvSpPr/>
          <p:nvPr/>
        </p:nvSpPr>
        <p:spPr>
          <a:xfrm>
            <a:off x="9034200" y="319140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6"/>
          <p:cNvSpPr/>
          <p:nvPr/>
        </p:nvSpPr>
        <p:spPr>
          <a:xfrm>
            <a:off x="6766560" y="3758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7"/>
          <p:cNvSpPr/>
          <p:nvPr/>
        </p:nvSpPr>
        <p:spPr>
          <a:xfrm>
            <a:off x="7333560" y="375804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8"/>
          <p:cNvSpPr/>
          <p:nvPr/>
        </p:nvSpPr>
        <p:spPr>
          <a:xfrm>
            <a:off x="7900560" y="375804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9"/>
          <p:cNvSpPr/>
          <p:nvPr/>
        </p:nvSpPr>
        <p:spPr>
          <a:xfrm>
            <a:off x="8467200" y="375804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0"/>
          <p:cNvSpPr/>
          <p:nvPr/>
        </p:nvSpPr>
        <p:spPr>
          <a:xfrm>
            <a:off x="9034200" y="3758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1"/>
          <p:cNvSpPr/>
          <p:nvPr/>
        </p:nvSpPr>
        <p:spPr>
          <a:xfrm>
            <a:off x="6766560" y="432504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2"/>
          <p:cNvSpPr/>
          <p:nvPr/>
        </p:nvSpPr>
        <p:spPr>
          <a:xfrm>
            <a:off x="7333560" y="4325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3"/>
          <p:cNvSpPr/>
          <p:nvPr/>
        </p:nvSpPr>
        <p:spPr>
          <a:xfrm>
            <a:off x="7900560" y="432504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4"/>
          <p:cNvSpPr/>
          <p:nvPr/>
        </p:nvSpPr>
        <p:spPr>
          <a:xfrm>
            <a:off x="8467200" y="4325040"/>
            <a:ext cx="566640" cy="566640"/>
          </a:xfrm>
          <a:prstGeom prst="rect">
            <a:avLst/>
          </a:prstGeom>
          <a:solidFill>
            <a:srgbClr val="EAE7EE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5"/>
          <p:cNvSpPr/>
          <p:nvPr/>
        </p:nvSpPr>
        <p:spPr>
          <a:xfrm>
            <a:off x="9034200" y="4325040"/>
            <a:ext cx="566640" cy="566640"/>
          </a:xfrm>
          <a:prstGeom prst="rect">
            <a:avLst/>
          </a:prstGeom>
          <a:solidFill>
            <a:srgbClr val="8C8AE0"/>
          </a:solidFill>
          <a:ln w="635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6"/>
          <p:cNvSpPr/>
          <p:nvPr/>
        </p:nvSpPr>
        <p:spPr>
          <a:xfrm>
            <a:off x="7900560" y="31636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1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♛</a:t>
            </a:r>
            <a:endParaRPr lang="en-US" sz="2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7"/>
          <p:cNvSpPr/>
          <p:nvPr/>
        </p:nvSpPr>
        <p:spPr>
          <a:xfrm>
            <a:off x="6400800" y="50292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Moves any distance, in every direction — rows, columns, AND diagonals.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8"/>
          <p:cNvSpPr/>
          <p:nvPr/>
        </p:nvSpPr>
        <p:spPr>
          <a:xfrm>
            <a:off x="548640" y="5577840"/>
            <a:ext cx="11109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Mathematics moves like the queen, not the king: it doesn't stay confined to one small corner of knowledge. It reaches into biology, art, medicine, economics, and computer science alike — in every direction, as far as it needs to.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Math Hiding in Plain Sight, Across Every Field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54864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731520" y="196596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Biology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731520" y="2514600"/>
            <a:ext cx="22856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Population growth models, genetics ratios, and the statistics behind every clinical trial.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338328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3566160" y="196596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Art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3566160" y="2514600"/>
            <a:ext cx="22856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golden ratio and symmetry have quietly guided composition for thousands of years.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621792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E07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6400800" y="196596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0523"/>
                </a:solidFill>
                <a:effectLst/>
                <a:uFillTx/>
                <a:latin typeface="Bricolage Grotesque"/>
                <a:ea typeface="Bricolage Grotesque"/>
              </a:rPr>
              <a:t>Music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6400800" y="2514600"/>
            <a:ext cx="22856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Musical scales and harmony are built on precise mathematical frequency ratios.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905256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EAE7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9235440" y="196596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Economics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3"/>
          <p:cNvSpPr/>
          <p:nvPr/>
        </p:nvSpPr>
        <p:spPr>
          <a:xfrm>
            <a:off x="9235440" y="2514600"/>
            <a:ext cx="22856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Markets, forecasting, and risk are modeled almost entirely through statistics and probability.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You Don't Need to Be a “Math Person”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48640" y="1737360"/>
            <a:ext cx="3108600" cy="4114440"/>
          </a:xfrm>
          <a:prstGeom prst="roundRect">
            <a:avLst>
              <a:gd name="adj" fmla="val 4118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1691640" y="210312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1691640" y="2084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20" b="0" u="none" strike="noStrike">
                <a:solidFill>
                  <a:srgbClr val="5755A7"/>
                </a:solidFill>
                <a:effectLst/>
                <a:uFillTx/>
                <a:latin typeface="Hanken Grotesk"/>
                <a:ea typeface="Hanken Grotesk"/>
              </a:rPr>
              <a:t>❓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731520" y="3154680"/>
            <a:ext cx="27428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Intuition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over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proofs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3977640" y="1783080"/>
            <a:ext cx="7680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"Math person" is a myth — it usually just means someone who's had more repetition with the notation, not someone with a fundamentally different brain.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course will never ask you to prove a theorem, derive a formula from scratch, or memorize a page of equations — that's not the goal here.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goal is intuition: knowing what a concept means, when to reach for it, and what a tool is actually doing when your code calls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you can already read a bar chart and say "that one's bigger," you already have more mathematical instinct than you're giving yourself credit for.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Math You Already Do, Without Realizing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54864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777240" y="20116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Budgeting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777240" y="2651760"/>
            <a:ext cx="30628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Comparing prices, calculating a discount, splitting a bill — arithmetic and percentages, already automatic.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434340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4572000" y="20116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Judging Risk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4572000" y="2651760"/>
            <a:ext cx="30628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“It probably won't rain today” is an informal probability estimate, built from experience.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8138160" y="1737360"/>
            <a:ext cx="3520080" cy="4023000"/>
          </a:xfrm>
          <a:prstGeom prst="roundRect">
            <a:avLst>
              <a:gd name="adj" fmla="val 3117"/>
            </a:avLst>
          </a:prstGeom>
          <a:solidFill>
            <a:srgbClr val="E07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8366760" y="201168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0523"/>
                </a:solidFill>
                <a:effectLst/>
                <a:uFillTx/>
                <a:latin typeface="Bricolage Grotesque"/>
                <a:ea typeface="Bricolage Grotesque"/>
              </a:rPr>
              <a:t>Spotting Trends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8366760" y="2651760"/>
            <a:ext cx="30628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Noticing your electricity bill “has been going up lately” is you doing statistics, casually.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From Raw Data to a Working Model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548640" y="2011680"/>
            <a:ext cx="2038680" cy="2742840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685800" y="2286000"/>
            <a:ext cx="176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Raw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685800" y="3474720"/>
            <a:ext cx="176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Numbers, text, images — unorganized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2587680" y="2011680"/>
            <a:ext cx="228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2816280" y="2011680"/>
            <a:ext cx="2038680" cy="2742840"/>
          </a:xfrm>
          <a:prstGeom prst="roundRect">
            <a:avLst>
              <a:gd name="adj" fmla="val 538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2953440" y="2286000"/>
            <a:ext cx="176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Statistics &amp;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Probability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2953440" y="3474720"/>
            <a:ext cx="176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Understand it, trust it, handle uncertainty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855320" y="2011680"/>
            <a:ext cx="228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0"/>
          <p:cNvSpPr/>
          <p:nvPr/>
        </p:nvSpPr>
        <p:spPr>
          <a:xfrm>
            <a:off x="5083920" y="2011680"/>
            <a:ext cx="2038680" cy="2742840"/>
          </a:xfrm>
          <a:prstGeom prst="roundRect">
            <a:avLst>
              <a:gd name="adj" fmla="val 538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5221080" y="2286000"/>
            <a:ext cx="176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Linear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Algebra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5221080" y="3474720"/>
            <a:ext cx="176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Represent it, compute with 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7123320" y="2011680"/>
            <a:ext cx="228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7351920" y="2011680"/>
            <a:ext cx="2038680" cy="2742840"/>
          </a:xfrm>
          <a:prstGeom prst="roundRect">
            <a:avLst>
              <a:gd name="adj" fmla="val 538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7489080" y="2286000"/>
            <a:ext cx="176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Calculus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7489080" y="3474720"/>
            <a:ext cx="176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Learn from it, improve over 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9390960" y="2011680"/>
            <a:ext cx="228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8"/>
          <p:cNvSpPr/>
          <p:nvPr/>
        </p:nvSpPr>
        <p:spPr>
          <a:xfrm>
            <a:off x="9619560" y="2011680"/>
            <a:ext cx="2038680" cy="2742840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9756720" y="2286000"/>
            <a:ext cx="176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9756720" y="3474720"/>
            <a:ext cx="176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Predicts, classifies, recommends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548640" y="5029200"/>
            <a:ext cx="11109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Every arrow in this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diagram is a phase of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this course — you're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about to spend the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next several sessions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building exactly this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pipeline, one skill at a </a:t>
            </a: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Statistics &amp; Probability — Making Sense of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548640" y="1600200"/>
            <a:ext cx="2925720" cy="2697120"/>
          </a:xfrm>
          <a:prstGeom prst="roundRect">
            <a:avLst>
              <a:gd name="adj" fmla="val 4746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1600200" y="196596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1600200" y="19476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20" b="0" u="none" strike="noStrike">
                <a:solidFill>
                  <a:srgbClr val="5755A7"/>
                </a:solidFill>
                <a:effectLst/>
                <a:uFillTx/>
                <a:latin typeface="Hanken Grotesk"/>
                <a:ea typeface="Hanken Grotesk"/>
              </a:rPr>
              <a:t>🎲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731520" y="301752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Understand it,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and trust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it (or not)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3749040" y="1600200"/>
            <a:ext cx="79092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 describes what your data actually looks like — what's typical, what's unusual, and how spread out things really are.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Probability handles what statistics alone can't — uncertainty. Will this customer churn? How confident are we in this result? Is this difference real, or just noise?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model evaluation metric you'll ever compute — accuracy, confidence, error margins — is statistics and probability wearing a machine learning costume.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also, on its own, the exact toolkit used in academic and scientific research — hypothesis testing, confidence intervals, and the tests you'll learn later aren't just for AI.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548640" y="4343400"/>
            <a:ext cx="11109600" cy="2148480"/>
          </a:xfrm>
          <a:prstGeom prst="roundRect">
            <a:avLst>
              <a:gd name="adj" fmla="val 510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713160" y="448956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914400" y="448956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1115640" y="448956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749880" y="4727520"/>
            <a:ext cx="1070712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scores = [72, 85, 90, 61, 78, 95, 88]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average = statistics.mean(scores)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spread = statistics.variance(scores)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print("Average:", average, "| Spread:", spread)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statistics ships with Python — no install needed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Linear Algebra — How Data and Models Are Represented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548640" y="1600200"/>
            <a:ext cx="2925720" cy="2697120"/>
          </a:xfrm>
          <a:prstGeom prst="roundRect">
            <a:avLst>
              <a:gd name="adj" fmla="val 4746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1600200" y="196596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600200" y="19476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20" b="0" u="none" strike="noStrike">
                <a:solidFill>
                  <a:srgbClr val="5755A7"/>
                </a:solidFill>
                <a:effectLst/>
                <a:uFillTx/>
                <a:latin typeface="Hanken Grotesk"/>
                <a:ea typeface="Hanken Grotesk"/>
              </a:rPr>
              <a:t>▦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731520" y="301752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shape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data actually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takes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3749040" y="1600200"/>
            <a:ext cx="79092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row in a dataset — a customer, an image, a sentence — is, underneath, </a:t>
            </a: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just a list of numbers. Linear algebra is the study of exactly that: lists and </a:t>
            </a: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grids of numbers, and what you can do with them.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NumPy array, a Pandas DataFrame, and every layer of a neural network are </a:t>
            </a: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all built directly on linear algebra's core objects: vectors and matrices.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genuinely the most immediately useful math in this entire phase — </a:t>
            </a: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you'll be using it within days, the moment NumPy shows up.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Even a single idea — the dot product — quietly powers recommendation </a:t>
            </a: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systems, similarity search, and the core computation inside every neural </a:t>
            </a: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network.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548640" y="4343400"/>
            <a:ext cx="11109600" cy="2148480"/>
          </a:xfrm>
          <a:prstGeom prst="roundRect">
            <a:avLst>
              <a:gd name="adj" fmla="val 510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713160" y="448956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9"/>
          <p:cNvSpPr/>
          <p:nvPr/>
        </p:nvSpPr>
        <p:spPr>
          <a:xfrm>
            <a:off x="914400" y="448956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1115640" y="448956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749880" y="4727520"/>
            <a:ext cx="1070712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user_taste  = np.array([5, 1, 3])   # action, romance, comedy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movie_genre = np.array([4, 0, 2])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similarity = np.dot(user_taste, movie_genre)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print("Similarity score:", similarity)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NumPy gets its own full session soon — this is a preview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Calculus — How Models Actually Learn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548640" y="1600200"/>
            <a:ext cx="2925720" cy="2697120"/>
          </a:xfrm>
          <a:prstGeom prst="roundRect">
            <a:avLst>
              <a:gd name="adj" fmla="val 4746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1600200" y="196596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1600200" y="194760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20" b="0" u="none" strike="noStrike">
                <a:solidFill>
                  <a:srgbClr val="5755A7"/>
                </a:solidFill>
                <a:effectLst/>
                <a:uFillTx/>
                <a:latin typeface="Hanken Grotesk"/>
                <a:ea typeface="Hanken Grotesk"/>
              </a:rPr>
              <a:t>∑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731520" y="3017520"/>
            <a:ext cx="2559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engine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behind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“training”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3749040" y="1600200"/>
            <a:ext cx="790920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When you hear a model was "trained," calculus is what that word is actually describing — a process of gradually reducing error, step by step.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Calculus, at its core, is the study of change — and "how do I change my model's settings to make its predictions a little less wrong" is exactly a calculus question.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won't need this until much later in the course — it only really clicks once there's an actual model to train, so we're deliberately saving it for that exact moment.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now, just know it exists, and know its job: calculus is the part of math that lets a model improve itself, automatically, without you hand-tuning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548640" y="4343400"/>
            <a:ext cx="11109600" cy="2148480"/>
          </a:xfrm>
          <a:prstGeom prst="roundRect">
            <a:avLst>
              <a:gd name="adj" fmla="val 510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713160" y="448956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914400" y="448956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0"/>
          <p:cNvSpPr/>
          <p:nvPr/>
        </p:nvSpPr>
        <p:spPr>
          <a:xfrm>
            <a:off x="1115640" y="448956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749880" y="4727520"/>
            <a:ext cx="1070712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A sneak peek — plain Python, no libraries needed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error(x): return (x - 4) ** 2   # how "wrong" a guess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for _ in range(5):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slope = (error(x + 0.001) - error(x)) / 0.001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 -= 0.1 * slope   # nudge x to reduce the error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print("x is creeping toward 4:", round(x, 2))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Real Systems, and the Math Quietly Running Underneath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54864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731520" y="1965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Recommendations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731520" y="2651760"/>
            <a:ext cx="2285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Netflix and Spotify suggestions run on similarity math — linear algebra's dot product, at massive scale.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338328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3566160" y="1965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Spam Filters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3566160" y="2651760"/>
            <a:ext cx="2285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Deciding “spam or not” from the words in an email is a probability calculation — Bayes' Theorem, specifically.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621792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E07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6400800" y="1965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0523"/>
                </a:solidFill>
                <a:effectLst/>
                <a:uFillTx/>
                <a:latin typeface="Bricolage Grotesque"/>
                <a:ea typeface="Bricolage Grotesque"/>
              </a:rPr>
              <a:t>Medical Diagnosis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6400800" y="2651760"/>
            <a:ext cx="2285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AI-assisted diagnosis tools report a confidence level — a direct, practical use of statistics and probability.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9052560" y="1737360"/>
            <a:ext cx="2651400" cy="4023000"/>
          </a:xfrm>
          <a:prstGeom prst="roundRect">
            <a:avLst>
              <a:gd name="adj" fmla="val 4138"/>
            </a:avLst>
          </a:prstGeom>
          <a:solidFill>
            <a:srgbClr val="EAE7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9235440" y="196596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Self-Driving Cars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9235440" y="2651760"/>
            <a:ext cx="22856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Reading the road and updating driving decisions in real time leans on calculus — constant, rapid adjustment.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Intuition First — What This Course Will (and Won't) Do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777240" y="19386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✓  What We WILL 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777240" y="242316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Build real intuition for what each concept means and why it matters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Show you exactly when to reach for which tool, in real, practical situations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Cover the handful of formulas that are genuinely worth knowing by heart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Connect every concept directly to code, data, and models you'll actually build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6263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E07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6492240" y="19386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0523"/>
                </a:solidFill>
                <a:effectLst/>
                <a:uFillTx/>
                <a:latin typeface="Bricolage Grotesque"/>
                <a:ea typeface="Bricolage Grotesque"/>
              </a:rPr>
              <a:t>✕  What We WON'T 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6492240" y="242316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Derive formulas from first principles, or prove theorems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Drill long hand-calculations that a library computes instantly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Cover every edge case or every advanced variant of a technique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Expect any prior math background beyond what next session will cover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Road Ahead — Every Math Session Still to Come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548640" y="1600200"/>
            <a:ext cx="1110960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713160" y="1792080"/>
            <a:ext cx="164160" cy="164160"/>
          </a:xfrm>
          <a:prstGeom prst="ellipse">
            <a:avLst/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1051560" y="1600200"/>
            <a:ext cx="10378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17 — Math Prerequisites: percentages, ratios, roots, powers, logs, and reading notation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548640" y="2240280"/>
            <a:ext cx="1110960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713160" y="2432160"/>
            <a:ext cx="164160" cy="164160"/>
          </a:xfrm>
          <a:prstGeom prst="ellipse">
            <a:avLst/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1051560" y="2240280"/>
            <a:ext cx="10378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18 — Descriptive Statistics: describing what your data actually looks like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8"/>
          <p:cNvSpPr/>
          <p:nvPr/>
        </p:nvSpPr>
        <p:spPr>
          <a:xfrm>
            <a:off x="548640" y="2880360"/>
            <a:ext cx="1110960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713160" y="3072240"/>
            <a:ext cx="164160" cy="164160"/>
          </a:xfrm>
          <a:prstGeom prst="ellipse">
            <a:avLst/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1051560" y="2880360"/>
            <a:ext cx="10378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19 — Probability: reasoning about uncertainty, and Bayes' Theorem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548640" y="3520440"/>
            <a:ext cx="1110960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2"/>
          <p:cNvSpPr/>
          <p:nvPr/>
        </p:nvSpPr>
        <p:spPr>
          <a:xfrm>
            <a:off x="713160" y="3712320"/>
            <a:ext cx="164160" cy="164160"/>
          </a:xfrm>
          <a:prstGeom prst="ellipse">
            <a:avLst/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1051560" y="3520440"/>
            <a:ext cx="10378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20 — Inferential Statistics I: confidence, hypothesis testing, and p-values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548640" y="4160520"/>
            <a:ext cx="1110960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5"/>
          <p:cNvSpPr/>
          <p:nvPr/>
        </p:nvSpPr>
        <p:spPr>
          <a:xfrm>
            <a:off x="713160" y="4352400"/>
            <a:ext cx="164160" cy="164160"/>
          </a:xfrm>
          <a:prstGeom prst="ellipse">
            <a:avLst/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1051560" y="4160520"/>
            <a:ext cx="10378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21 — Inferential Statistics II: t-tests, ANOVA, chi-square, and which test to use when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7"/>
          <p:cNvSpPr/>
          <p:nvPr/>
        </p:nvSpPr>
        <p:spPr>
          <a:xfrm>
            <a:off x="548640" y="4800600"/>
            <a:ext cx="11109600" cy="548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8"/>
          <p:cNvSpPr/>
          <p:nvPr/>
        </p:nvSpPr>
        <p:spPr>
          <a:xfrm>
            <a:off x="713160" y="4992480"/>
            <a:ext cx="164160" cy="164160"/>
          </a:xfrm>
          <a:prstGeom prst="ellipse">
            <a:avLst/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1051560" y="4800600"/>
            <a:ext cx="10378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Session 22 — Linear Algebra: vectors, matrices, and the dot product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0"/>
          <p:cNvSpPr/>
          <p:nvPr/>
        </p:nvSpPr>
        <p:spPr>
          <a:xfrm>
            <a:off x="548640" y="5486400"/>
            <a:ext cx="1110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Calculus arrives later — saved for the exact moment we introduce training a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Quick Reflection — Before We Move 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0" descr="/home/claude/why_math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548640" y="1554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Take a few minutes with these — there's no right answer, just your own thinking.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548640" y="2103120"/>
            <a:ext cx="11109600" cy="8956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731520" y="23774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731520" y="2377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1234440" y="2103120"/>
            <a:ext cx="101952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Think of one decision you made this week using an informal average, percentage, or probability — write it down.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548640" y="3127320"/>
            <a:ext cx="11109600" cy="8956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731520" y="3401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731520" y="3401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1234440" y="3127320"/>
            <a:ext cx="101952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Which of the four pillars — statistics, probability, linear algebra, calculus — sounds most useful for something YOU want to build one day?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1"/>
          <p:cNvSpPr/>
          <p:nvPr/>
        </p:nvSpPr>
        <p:spPr>
          <a:xfrm>
            <a:off x="548640" y="4151520"/>
            <a:ext cx="11109600" cy="8956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2"/>
          <p:cNvSpPr/>
          <p:nvPr/>
        </p:nvSpPr>
        <p:spPr>
          <a:xfrm>
            <a:off x="731520" y="4425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731520" y="4425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1234440" y="4151520"/>
            <a:ext cx="101952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one AI-powered product you use regularly, and guess which pillar is doing the most work behind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548640" y="5175360"/>
            <a:ext cx="11109600" cy="89568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731520" y="5449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731520" y="5449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1234440" y="5175360"/>
            <a:ext cx="101952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What's one math topic that's intimidated you in the past? Keep it in mind — we'll very likely de-mystify it directly in this phase.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-1828800" y="-2103120"/>
            <a:ext cx="4754520" cy="47545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9326880" y="4206240"/>
            <a:ext cx="4205880" cy="4205880"/>
          </a:xfrm>
          <a:prstGeom prst="ellipse">
            <a:avLst/>
          </a:prstGeom>
          <a:solidFill>
            <a:srgbClr val="11362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>
            <a:off x="4907160" y="1051560"/>
            <a:ext cx="2377080" cy="5436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0" y="123444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RECAP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1249560" y="1920240"/>
            <a:ext cx="9692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Math isn't a wall standing between you and AI — it's the vocabulary AI is written in. Like the queen, it reaches everywhere. You already speak more of it than you think.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0" y="45262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Next session: Math Prerequisites — percentages, ratios, roots, powers, logarithms, and reading notation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2026-09-27T09:03:57Z</dcterms:created>
  <dc:creator>PptxGenJS</dc:creator>
  <dc:description/>
  <dc:language>en-US</dc:language>
  <cp:lastModifiedBy/>
  <dcterms:modified xsi:type="dcterms:W3CDTF">2026-09-27T19:18:12Z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