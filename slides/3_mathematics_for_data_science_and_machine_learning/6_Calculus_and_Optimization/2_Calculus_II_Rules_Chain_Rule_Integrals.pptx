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B9CC459-E8DD-4260-86B3-BFEF42DF972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3376A9-F5B7-4B80-950C-1C51DD29E9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6A142F-368B-453E-9F3D-2E7D011FA2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E5C5EF-21ED-41B6-AA57-7D22636D1B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436B3C-92CC-4497-8608-6823556275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F6D523-BF42-4DB5-88F3-B7C55F9208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909F5D-4323-4AC3-880A-F4A430408D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6FA367-487E-4C59-94AF-19541515C7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C829FE-9976-47DB-8724-80B37562C3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08E2CA-C0AD-48C2-9140-D602262B77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FDE502-3DD7-42C8-A7E0-0079AC4CFC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532EB7-DD20-45F4-BAE9-777FCC2283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680ABA-4D5A-45E9-AA60-89F2255E1D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F773D6-239C-4775-B599-A9AC17F96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9F724F-5D77-4298-809B-E5FB0C2366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BDEA2D-36EB-4065-9659-9F3E553186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29EF8A-7D15-4BCD-A792-06B8DA9200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B60DD8-7D35-4451-9B16-70B19D7557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C08F8D-EB39-47C2-8571-DE03ADEF98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4491C4-A67B-4AE8-88F6-668737E3BE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454DF5-D257-406E-99F3-CBB10D7C19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5957A1-FE72-4390-B510-E087A62FD4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AE87E5-B903-457D-9DE0-01A1DB6E4E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E87C15-975B-4786-B4D2-714E3860AF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086097-089B-44F2-ACF2-271AEF92FF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C49725-25D4-4677-B33B-521F2413B5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53C6B3-A531-4F7E-BD70-56D6AEDD57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E42B00-251B-4ED7-BE4C-7268264D22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F6FB81-26BD-4954-96CC-5823A315B5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0C30B-0E14-4BCD-8E16-4E70FBC272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80D455-69DA-4097-B919-3C16DDF012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CDB77C-9BD1-488C-9CFA-E10A6C67DE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0F233F-9D37-454E-AFBE-F6D921358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1F6FA3-FA7C-436A-ADF0-A6E7E63B0A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24D658-2094-4ED2-AE8C-319069FB92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1DAD82-3282-496B-82A0-4B9CEDF7BD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ABAC9E-22AB-40D8-BA6F-93628F8016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A98C98-A32B-444F-BAE7-9E826653B4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64DE14-DB2A-4619-97FE-ED4A07BB58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B00176-B9B2-4992-AE46-2B7F2F3616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6D0097-DC06-4FC9-9C3D-C7082447DE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D5419A-69AD-42DA-9591-DE9528FE52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ED2C7E-6921-4B85-ABCB-4369B4FFD2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3E006C-CC9A-43D9-907F-3499E7B81C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79C38D-F548-4E5D-97AA-DA4AFA08A4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212B82-23D5-4088-B208-28F308DCB7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2AB50C-AEEB-49E4-A60D-D687517D18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C31268-7563-4FFD-8117-0EEA08F1B9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6BE8FC-6426-43CE-AE89-551D694170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685800" y="457200"/>
            <a:ext cx="2651400" cy="93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Shape 5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CALCULUS II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58440" y="2788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Calculus II: Chain Rule &amp; Integrals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13160" y="3703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Differentiation rules, eˣ / ln x / sigmoid, the chain rule, minima &amp; integrals — by hand and in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13160" y="5001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517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517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Rules of differentiation — power, sum, product and quotient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2084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231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231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2084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Derivatives of eˣ, ln x and the sigmoid — the ML favourites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797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944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94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797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chain rule — the heart of backpropagation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51144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65760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65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51144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Finding minima with derivatives (and when that stops working)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4224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4370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4370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4224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Integrals — area under a curve, and why probability needs them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937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5083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5083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937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 throughout: SymPy for exact answers, SciPy and NumPy for numerical ones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48640" y="5650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731520" y="5797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731520" y="5797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1234440" y="5650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Tasks and a mini project: verify a one-neuron gradient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Rules of Differentiation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Fast derivatives without the limit definition — five rules cover most of what you will meet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We Need Rules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limit definition is correct — but slow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Last deck: f′(x) = lim [f(x+h) − f(x)] / h. Doing that every time is painful.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Rules turn derivatives into quick pattern matching.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Learn five rules once; apply them to millions of functions.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Each rule has a by-hand version and a one-line SymPy check.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Constant, Power, Sum &amp; Multiple Rules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power rule: bring the exponent down, then lower it by 1.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Constants vanish; constant multiples stay.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Sums are differentiated term by term.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constant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c ]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power rule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xⁿ ] = n · xⁿ⁻¹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constant multiple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c·f(x) ] = c · f′(x)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sum / difference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f ± g ] = f′ ± g′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Power Rule Worked: 3x⁴ − 5x² + 7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f(x) = 3x⁴ − 5x² + 7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Term by term: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3x⁴  →  3 · 4x³ = 12x³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−5x² →  −5 · 2x = −10x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7    →  0  (constant)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f′(x) = 12x³ − 10x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x = 1:  12 − 10 =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3*x**4 - 5*x**2 + 7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df = sp.diff(f, x)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print(df)           # 12*x**3 - 10*x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print(df.subs(x, 1))  #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numerical check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g = lambda v: 3*v**4 - 5*v**2 + 7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print((g(1.00001) - g(1)) / 1e-5)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≈ 2.0001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Product &amp; Quotient Rules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Product rule: you cannot just multiply the derivatives.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Quotient rule: “low d-high minus high d-low, over low squared”.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Both are chain-rule cousins you can always re-derive.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product rule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u · v ] = u′·v + u·v′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quotient rule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u / v ] = ( u′·v − u·v′ ) / v²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remember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u′ = derivative of the top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v′ = derivative of the bottom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(quotient: top-derivative first!)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Product Rule Worked: x²(x + 1)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 = x²,  v = x + 1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u′ = 2x,  v′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f′ = u′v + uv′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= 2x(x + 1) + x²·1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= 2x² + 2x + x²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= 3x² + 2x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Check: x²(x+1) = x³ + x²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→ 3x² + 2x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x**2 * (x + 1)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print(sp.diff(f, x))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x**2 + 2*x*(x + 1)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print(sp.expand(sp.diff(f, x)))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3*x**2 + 2*x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print(sp.diff(f, x).subs(x, 2))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Quotient Rule Worked: x² / (x + 1)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 = x²,  v = x + 1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u′ = 2x,  v′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f′ = (u′v − uv′) / v²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= (2x(x+1) − x²·1) / (x+1)²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= (x² + 2x) / (x+1)²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x = 1: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(1 + 2) / 4 = 0.75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x**2 / (x + 1)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df = sp.simplify(sp.diff(f, x))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print(df)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x*(x + 2)/(x + 1)**2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print(df.subs(x, 1))   # 3/4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print(float(df.subs(x, 1)))  # 0.75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Rules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f(x) = 4x³ − 2x + 9 by hand.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the product rule on f(x) = x · (x² + 3).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the quotient rule on f(x) = (x + 1)/(x − 1).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verify all three with sympy.diff.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d/dx[x²·x³] not 2x · 3x²?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eˣ, ln x &amp; the Sigmoid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special functions that appear in almost every ML formula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Derivatives to Memorise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short list covers most of ML.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eˣ is the one function that is its own derivative.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ln x gives 1/x — the origin of log-loss gradients.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eˣ ]   =  eˣ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ln x ]  =  1 / x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[ 1/x ]   = −1 / x²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√x ]   =  1 / (2√x)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sin x ] =  cos x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d/dx [ cos x ] = −sin x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ReLU(x) = max(0, 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derivative = 0 for x &lt; 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1 for x &gt; 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eˣ: Slope Equals Height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 flipV="1">
            <a:off x="8686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 flipV="1">
            <a:off x="205740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 flipV="1">
            <a:off x="443484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 flipV="1">
            <a:off x="562356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 flipV="1">
            <a:off x="6812280" y="1783080"/>
            <a:ext cx="360" cy="384048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9"/>
          <p:cNvSpPr/>
          <p:nvPr/>
        </p:nvSpPr>
        <p:spPr>
          <a:xfrm>
            <a:off x="868680" y="562356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868680" y="485532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868680" y="447120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2"/>
          <p:cNvSpPr/>
          <p:nvPr/>
        </p:nvSpPr>
        <p:spPr>
          <a:xfrm>
            <a:off x="868680" y="408708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868680" y="370332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868680" y="331920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5"/>
          <p:cNvSpPr/>
          <p:nvPr/>
        </p:nvSpPr>
        <p:spPr>
          <a:xfrm>
            <a:off x="868680" y="293508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868680" y="255096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7"/>
          <p:cNvSpPr/>
          <p:nvPr/>
        </p:nvSpPr>
        <p:spPr>
          <a:xfrm>
            <a:off x="868680" y="216684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8"/>
          <p:cNvSpPr/>
          <p:nvPr/>
        </p:nvSpPr>
        <p:spPr>
          <a:xfrm>
            <a:off x="868680" y="1783080"/>
            <a:ext cx="59436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 flipV="1">
            <a:off x="3246120" y="1783080"/>
            <a:ext cx="360" cy="384048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0"/>
          <p:cNvSpPr/>
          <p:nvPr/>
        </p:nvSpPr>
        <p:spPr>
          <a:xfrm>
            <a:off x="868680" y="5239440"/>
            <a:ext cx="59436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1"/>
          <p:cNvSpPr/>
          <p:nvPr/>
        </p:nvSpPr>
        <p:spPr>
          <a:xfrm flipV="1">
            <a:off x="868680" y="5185080"/>
            <a:ext cx="475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 flipV="1">
            <a:off x="916200" y="5182920"/>
            <a:ext cx="475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3"/>
          <p:cNvSpPr/>
          <p:nvPr/>
        </p:nvSpPr>
        <p:spPr>
          <a:xfrm flipV="1">
            <a:off x="963720" y="5180760"/>
            <a:ext cx="475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4"/>
          <p:cNvSpPr/>
          <p:nvPr/>
        </p:nvSpPr>
        <p:spPr>
          <a:xfrm flipV="1">
            <a:off x="1011240" y="5178240"/>
            <a:ext cx="47520" cy="2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5"/>
          <p:cNvSpPr/>
          <p:nvPr/>
        </p:nvSpPr>
        <p:spPr>
          <a:xfrm flipV="1">
            <a:off x="1058760" y="5175720"/>
            <a:ext cx="47520" cy="2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6"/>
          <p:cNvSpPr/>
          <p:nvPr/>
        </p:nvSpPr>
        <p:spPr>
          <a:xfrm flipV="1">
            <a:off x="1106280" y="5173200"/>
            <a:ext cx="47520" cy="2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7"/>
          <p:cNvSpPr/>
          <p:nvPr/>
        </p:nvSpPr>
        <p:spPr>
          <a:xfrm flipV="1">
            <a:off x="1153800" y="5170680"/>
            <a:ext cx="47520" cy="2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8"/>
          <p:cNvSpPr/>
          <p:nvPr/>
        </p:nvSpPr>
        <p:spPr>
          <a:xfrm flipV="1">
            <a:off x="1201320" y="5167800"/>
            <a:ext cx="47520" cy="2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9"/>
          <p:cNvSpPr/>
          <p:nvPr/>
        </p:nvSpPr>
        <p:spPr>
          <a:xfrm flipV="1">
            <a:off x="1248840" y="5164920"/>
            <a:ext cx="47520" cy="2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0"/>
          <p:cNvSpPr/>
          <p:nvPr/>
        </p:nvSpPr>
        <p:spPr>
          <a:xfrm flipV="1">
            <a:off x="1296360" y="5161680"/>
            <a:ext cx="47520" cy="3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1"/>
          <p:cNvSpPr/>
          <p:nvPr/>
        </p:nvSpPr>
        <p:spPr>
          <a:xfrm flipV="1">
            <a:off x="1343880" y="5158800"/>
            <a:ext cx="47520" cy="2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2"/>
          <p:cNvSpPr/>
          <p:nvPr/>
        </p:nvSpPr>
        <p:spPr>
          <a:xfrm flipV="1">
            <a:off x="1391400" y="5155200"/>
            <a:ext cx="47520" cy="3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3"/>
          <p:cNvSpPr/>
          <p:nvPr/>
        </p:nvSpPr>
        <p:spPr>
          <a:xfrm flipV="1">
            <a:off x="1438920" y="5151960"/>
            <a:ext cx="47880" cy="3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4"/>
          <p:cNvSpPr/>
          <p:nvPr/>
        </p:nvSpPr>
        <p:spPr>
          <a:xfrm flipV="1">
            <a:off x="1486800" y="5148360"/>
            <a:ext cx="47520" cy="3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5"/>
          <p:cNvSpPr/>
          <p:nvPr/>
        </p:nvSpPr>
        <p:spPr>
          <a:xfrm flipV="1">
            <a:off x="1534320" y="5144760"/>
            <a:ext cx="47520" cy="3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6"/>
          <p:cNvSpPr/>
          <p:nvPr/>
        </p:nvSpPr>
        <p:spPr>
          <a:xfrm flipV="1">
            <a:off x="1581840" y="5140800"/>
            <a:ext cx="47520" cy="3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7"/>
          <p:cNvSpPr/>
          <p:nvPr/>
        </p:nvSpPr>
        <p:spPr>
          <a:xfrm flipV="1">
            <a:off x="1629360" y="5136840"/>
            <a:ext cx="47520" cy="3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8"/>
          <p:cNvSpPr/>
          <p:nvPr/>
        </p:nvSpPr>
        <p:spPr>
          <a:xfrm flipV="1">
            <a:off x="1676880" y="5132520"/>
            <a:ext cx="47520" cy="4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9"/>
          <p:cNvSpPr/>
          <p:nvPr/>
        </p:nvSpPr>
        <p:spPr>
          <a:xfrm flipV="1">
            <a:off x="1724400" y="5128200"/>
            <a:ext cx="47520" cy="4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0"/>
          <p:cNvSpPr/>
          <p:nvPr/>
        </p:nvSpPr>
        <p:spPr>
          <a:xfrm flipV="1">
            <a:off x="1771920" y="5123520"/>
            <a:ext cx="475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1"/>
          <p:cNvSpPr/>
          <p:nvPr/>
        </p:nvSpPr>
        <p:spPr>
          <a:xfrm flipV="1">
            <a:off x="1819440" y="5118840"/>
            <a:ext cx="475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2"/>
          <p:cNvSpPr/>
          <p:nvPr/>
        </p:nvSpPr>
        <p:spPr>
          <a:xfrm flipV="1">
            <a:off x="1866960" y="5114160"/>
            <a:ext cx="475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3"/>
          <p:cNvSpPr/>
          <p:nvPr/>
        </p:nvSpPr>
        <p:spPr>
          <a:xfrm flipV="1">
            <a:off x="1914480" y="5108760"/>
            <a:ext cx="47520" cy="5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4"/>
          <p:cNvSpPr/>
          <p:nvPr/>
        </p:nvSpPr>
        <p:spPr>
          <a:xfrm flipV="1">
            <a:off x="1962000" y="5103720"/>
            <a:ext cx="47520" cy="5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5"/>
          <p:cNvSpPr/>
          <p:nvPr/>
        </p:nvSpPr>
        <p:spPr>
          <a:xfrm flipV="1">
            <a:off x="2009520" y="5097960"/>
            <a:ext cx="4788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6"/>
          <p:cNvSpPr/>
          <p:nvPr/>
        </p:nvSpPr>
        <p:spPr>
          <a:xfrm flipV="1">
            <a:off x="2057400" y="5092200"/>
            <a:ext cx="4752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47"/>
          <p:cNvSpPr/>
          <p:nvPr/>
        </p:nvSpPr>
        <p:spPr>
          <a:xfrm flipV="1">
            <a:off x="2104920" y="5086440"/>
            <a:ext cx="4752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8"/>
          <p:cNvSpPr/>
          <p:nvPr/>
        </p:nvSpPr>
        <p:spPr>
          <a:xfrm flipV="1">
            <a:off x="2152440" y="5079960"/>
            <a:ext cx="47520" cy="6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49"/>
          <p:cNvSpPr/>
          <p:nvPr/>
        </p:nvSpPr>
        <p:spPr>
          <a:xfrm flipV="1">
            <a:off x="2199960" y="5073480"/>
            <a:ext cx="47520" cy="6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0"/>
          <p:cNvSpPr/>
          <p:nvPr/>
        </p:nvSpPr>
        <p:spPr>
          <a:xfrm flipV="1">
            <a:off x="2247480" y="5066640"/>
            <a:ext cx="47520" cy="6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1"/>
          <p:cNvSpPr/>
          <p:nvPr/>
        </p:nvSpPr>
        <p:spPr>
          <a:xfrm flipV="1">
            <a:off x="2295000" y="5059800"/>
            <a:ext cx="47520" cy="6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52"/>
          <p:cNvSpPr/>
          <p:nvPr/>
        </p:nvSpPr>
        <p:spPr>
          <a:xfrm flipV="1">
            <a:off x="2342520" y="5052240"/>
            <a:ext cx="47520" cy="7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3"/>
          <p:cNvSpPr/>
          <p:nvPr/>
        </p:nvSpPr>
        <p:spPr>
          <a:xfrm flipV="1">
            <a:off x="2390040" y="5044680"/>
            <a:ext cx="47520" cy="7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54"/>
          <p:cNvSpPr/>
          <p:nvPr/>
        </p:nvSpPr>
        <p:spPr>
          <a:xfrm flipV="1">
            <a:off x="2437560" y="5036760"/>
            <a:ext cx="47520" cy="7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5"/>
          <p:cNvSpPr/>
          <p:nvPr/>
        </p:nvSpPr>
        <p:spPr>
          <a:xfrm flipV="1">
            <a:off x="2485080" y="5028480"/>
            <a:ext cx="47520" cy="8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6"/>
          <p:cNvSpPr/>
          <p:nvPr/>
        </p:nvSpPr>
        <p:spPr>
          <a:xfrm flipV="1">
            <a:off x="2532600" y="5019840"/>
            <a:ext cx="47520" cy="8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7"/>
          <p:cNvSpPr/>
          <p:nvPr/>
        </p:nvSpPr>
        <p:spPr>
          <a:xfrm flipV="1">
            <a:off x="2580120" y="5010840"/>
            <a:ext cx="47520" cy="9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8"/>
          <p:cNvSpPr/>
          <p:nvPr/>
        </p:nvSpPr>
        <p:spPr>
          <a:xfrm flipV="1">
            <a:off x="2627640" y="5001840"/>
            <a:ext cx="47880" cy="9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59"/>
          <p:cNvSpPr/>
          <p:nvPr/>
        </p:nvSpPr>
        <p:spPr>
          <a:xfrm flipV="1">
            <a:off x="2675520" y="4992120"/>
            <a:ext cx="47520" cy="9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0"/>
          <p:cNvSpPr/>
          <p:nvPr/>
        </p:nvSpPr>
        <p:spPr>
          <a:xfrm flipV="1">
            <a:off x="2723040" y="4982040"/>
            <a:ext cx="47520" cy="10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61"/>
          <p:cNvSpPr/>
          <p:nvPr/>
        </p:nvSpPr>
        <p:spPr>
          <a:xfrm flipV="1">
            <a:off x="2770560" y="4971240"/>
            <a:ext cx="47520" cy="10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2"/>
          <p:cNvSpPr/>
          <p:nvPr/>
        </p:nvSpPr>
        <p:spPr>
          <a:xfrm flipV="1">
            <a:off x="2818080" y="4960440"/>
            <a:ext cx="47520" cy="10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63"/>
          <p:cNvSpPr/>
          <p:nvPr/>
        </p:nvSpPr>
        <p:spPr>
          <a:xfrm flipV="1">
            <a:off x="2865600" y="4948920"/>
            <a:ext cx="47520" cy="11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64"/>
          <p:cNvSpPr/>
          <p:nvPr/>
        </p:nvSpPr>
        <p:spPr>
          <a:xfrm flipV="1">
            <a:off x="2913120" y="4937400"/>
            <a:ext cx="47520" cy="11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65"/>
          <p:cNvSpPr/>
          <p:nvPr/>
        </p:nvSpPr>
        <p:spPr>
          <a:xfrm flipV="1">
            <a:off x="2960640" y="4924800"/>
            <a:ext cx="47520" cy="12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66"/>
          <p:cNvSpPr/>
          <p:nvPr/>
        </p:nvSpPr>
        <p:spPr>
          <a:xfrm flipV="1">
            <a:off x="3008160" y="4912200"/>
            <a:ext cx="47520" cy="12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67"/>
          <p:cNvSpPr/>
          <p:nvPr/>
        </p:nvSpPr>
        <p:spPr>
          <a:xfrm flipV="1">
            <a:off x="3055680" y="4898880"/>
            <a:ext cx="47520" cy="13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680" rIns="90000" bIns="-31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8"/>
          <p:cNvSpPr/>
          <p:nvPr/>
        </p:nvSpPr>
        <p:spPr>
          <a:xfrm flipV="1">
            <a:off x="3103200" y="4884840"/>
            <a:ext cx="47520" cy="14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69"/>
          <p:cNvSpPr/>
          <p:nvPr/>
        </p:nvSpPr>
        <p:spPr>
          <a:xfrm flipV="1">
            <a:off x="3150720" y="4870440"/>
            <a:ext cx="47520" cy="14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0"/>
          <p:cNvSpPr/>
          <p:nvPr/>
        </p:nvSpPr>
        <p:spPr>
          <a:xfrm flipV="1">
            <a:off x="3198240" y="4855320"/>
            <a:ext cx="47880" cy="15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71"/>
          <p:cNvSpPr/>
          <p:nvPr/>
        </p:nvSpPr>
        <p:spPr>
          <a:xfrm flipV="1">
            <a:off x="3246120" y="4839480"/>
            <a:ext cx="47520" cy="15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72"/>
          <p:cNvSpPr/>
          <p:nvPr/>
        </p:nvSpPr>
        <p:spPr>
          <a:xfrm flipV="1">
            <a:off x="3293640" y="4823280"/>
            <a:ext cx="47520" cy="16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3"/>
          <p:cNvSpPr/>
          <p:nvPr/>
        </p:nvSpPr>
        <p:spPr>
          <a:xfrm flipV="1">
            <a:off x="3341160" y="4806360"/>
            <a:ext cx="47520" cy="16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74"/>
          <p:cNvSpPr/>
          <p:nvPr/>
        </p:nvSpPr>
        <p:spPr>
          <a:xfrm flipV="1">
            <a:off x="3388680" y="4788720"/>
            <a:ext cx="47520" cy="17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75"/>
          <p:cNvSpPr/>
          <p:nvPr/>
        </p:nvSpPr>
        <p:spPr>
          <a:xfrm flipV="1">
            <a:off x="3436200" y="4770360"/>
            <a:ext cx="47520" cy="183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76"/>
          <p:cNvSpPr/>
          <p:nvPr/>
        </p:nvSpPr>
        <p:spPr>
          <a:xfrm flipV="1">
            <a:off x="3483720" y="4751280"/>
            <a:ext cx="47520" cy="19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7"/>
          <p:cNvSpPr/>
          <p:nvPr/>
        </p:nvSpPr>
        <p:spPr>
          <a:xfrm flipV="1">
            <a:off x="3531240" y="4731120"/>
            <a:ext cx="47520" cy="20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8"/>
          <p:cNvSpPr/>
          <p:nvPr/>
        </p:nvSpPr>
        <p:spPr>
          <a:xfrm flipV="1">
            <a:off x="3578760" y="4710600"/>
            <a:ext cx="47520" cy="20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9"/>
          <p:cNvSpPr/>
          <p:nvPr/>
        </p:nvSpPr>
        <p:spPr>
          <a:xfrm flipV="1">
            <a:off x="3626280" y="4689000"/>
            <a:ext cx="47520" cy="21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80"/>
          <p:cNvSpPr/>
          <p:nvPr/>
        </p:nvSpPr>
        <p:spPr>
          <a:xfrm flipV="1">
            <a:off x="3673800" y="4666320"/>
            <a:ext cx="47520" cy="22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81"/>
          <p:cNvSpPr/>
          <p:nvPr/>
        </p:nvSpPr>
        <p:spPr>
          <a:xfrm flipV="1">
            <a:off x="3721320" y="4642920"/>
            <a:ext cx="47520" cy="23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0" rIns="90000" bIns="-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82"/>
          <p:cNvSpPr/>
          <p:nvPr/>
        </p:nvSpPr>
        <p:spPr>
          <a:xfrm flipV="1">
            <a:off x="3768840" y="4618800"/>
            <a:ext cx="47520" cy="24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880" rIns="90000" bIns="-20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83"/>
          <p:cNvSpPr/>
          <p:nvPr/>
        </p:nvSpPr>
        <p:spPr>
          <a:xfrm flipV="1">
            <a:off x="3816360" y="4593240"/>
            <a:ext cx="47880" cy="25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84"/>
          <p:cNvSpPr/>
          <p:nvPr/>
        </p:nvSpPr>
        <p:spPr>
          <a:xfrm flipV="1">
            <a:off x="3864240" y="4566960"/>
            <a:ext cx="47520" cy="26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85"/>
          <p:cNvSpPr/>
          <p:nvPr/>
        </p:nvSpPr>
        <p:spPr>
          <a:xfrm flipV="1">
            <a:off x="3911760" y="4539600"/>
            <a:ext cx="47520" cy="273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86"/>
          <p:cNvSpPr/>
          <p:nvPr/>
        </p:nvSpPr>
        <p:spPr>
          <a:xfrm flipV="1">
            <a:off x="3959280" y="4511160"/>
            <a:ext cx="47520" cy="28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87"/>
          <p:cNvSpPr/>
          <p:nvPr/>
        </p:nvSpPr>
        <p:spPr>
          <a:xfrm flipV="1">
            <a:off x="4006800" y="4481280"/>
            <a:ext cx="47520" cy="29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120" rIns="90000" bIns="-15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88"/>
          <p:cNvSpPr/>
          <p:nvPr/>
        </p:nvSpPr>
        <p:spPr>
          <a:xfrm flipV="1">
            <a:off x="4054320" y="4450320"/>
            <a:ext cx="47520" cy="30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89"/>
          <p:cNvSpPr/>
          <p:nvPr/>
        </p:nvSpPr>
        <p:spPr>
          <a:xfrm flipV="1">
            <a:off x="4101840" y="4418280"/>
            <a:ext cx="47520" cy="32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90"/>
          <p:cNvSpPr/>
          <p:nvPr/>
        </p:nvSpPr>
        <p:spPr>
          <a:xfrm flipV="1">
            <a:off x="4149360" y="4384440"/>
            <a:ext cx="47520" cy="33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91"/>
          <p:cNvSpPr/>
          <p:nvPr/>
        </p:nvSpPr>
        <p:spPr>
          <a:xfrm flipV="1">
            <a:off x="4196880" y="4349880"/>
            <a:ext cx="47520" cy="34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92"/>
          <p:cNvSpPr/>
          <p:nvPr/>
        </p:nvSpPr>
        <p:spPr>
          <a:xfrm flipV="1">
            <a:off x="4244400" y="4313520"/>
            <a:ext cx="47520" cy="363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93"/>
          <p:cNvSpPr/>
          <p:nvPr/>
        </p:nvSpPr>
        <p:spPr>
          <a:xfrm flipV="1">
            <a:off x="4291920" y="4275720"/>
            <a:ext cx="47520" cy="37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94"/>
          <p:cNvSpPr/>
          <p:nvPr/>
        </p:nvSpPr>
        <p:spPr>
          <a:xfrm flipV="1">
            <a:off x="4339440" y="4236480"/>
            <a:ext cx="47520" cy="39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760" rIns="90000" bIns="-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95"/>
          <p:cNvSpPr/>
          <p:nvPr/>
        </p:nvSpPr>
        <p:spPr>
          <a:xfrm flipV="1">
            <a:off x="4386960" y="4195440"/>
            <a:ext cx="47880" cy="41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96"/>
          <p:cNvSpPr/>
          <p:nvPr/>
        </p:nvSpPr>
        <p:spPr>
          <a:xfrm flipV="1">
            <a:off x="4434840" y="4152600"/>
            <a:ext cx="47520" cy="42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97"/>
          <p:cNvSpPr/>
          <p:nvPr/>
        </p:nvSpPr>
        <p:spPr>
          <a:xfrm flipV="1">
            <a:off x="4482360" y="4108320"/>
            <a:ext cx="47520" cy="44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98"/>
          <p:cNvSpPr/>
          <p:nvPr/>
        </p:nvSpPr>
        <p:spPr>
          <a:xfrm flipV="1">
            <a:off x="4529880" y="4062240"/>
            <a:ext cx="47520" cy="46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99"/>
          <p:cNvSpPr/>
          <p:nvPr/>
        </p:nvSpPr>
        <p:spPr>
          <a:xfrm flipV="1">
            <a:off x="4577400" y="4014360"/>
            <a:ext cx="47520" cy="47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00"/>
          <p:cNvSpPr/>
          <p:nvPr/>
        </p:nvSpPr>
        <p:spPr>
          <a:xfrm flipV="1">
            <a:off x="4624920" y="3964320"/>
            <a:ext cx="47520" cy="50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040" rIns="90000" bIns="5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1"/>
          <p:cNvSpPr/>
          <p:nvPr/>
        </p:nvSpPr>
        <p:spPr>
          <a:xfrm flipV="1">
            <a:off x="4672440" y="3912120"/>
            <a:ext cx="47520" cy="52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02"/>
          <p:cNvSpPr/>
          <p:nvPr/>
        </p:nvSpPr>
        <p:spPr>
          <a:xfrm flipV="1">
            <a:off x="4719960" y="3858120"/>
            <a:ext cx="47520" cy="54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000" rIns="90000" bIns="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03"/>
          <p:cNvSpPr/>
          <p:nvPr/>
        </p:nvSpPr>
        <p:spPr>
          <a:xfrm flipV="1">
            <a:off x="4767480" y="3801600"/>
            <a:ext cx="47520" cy="56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04"/>
          <p:cNvSpPr/>
          <p:nvPr/>
        </p:nvSpPr>
        <p:spPr>
          <a:xfrm flipV="1">
            <a:off x="4815000" y="3742920"/>
            <a:ext cx="47520" cy="58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05"/>
          <p:cNvSpPr/>
          <p:nvPr/>
        </p:nvSpPr>
        <p:spPr>
          <a:xfrm flipV="1">
            <a:off x="4862520" y="3682080"/>
            <a:ext cx="47520" cy="60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06"/>
          <p:cNvSpPr/>
          <p:nvPr/>
        </p:nvSpPr>
        <p:spPr>
          <a:xfrm flipV="1">
            <a:off x="4910040" y="3618360"/>
            <a:ext cx="47520" cy="63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07"/>
          <p:cNvSpPr/>
          <p:nvPr/>
        </p:nvSpPr>
        <p:spPr>
          <a:xfrm flipV="1">
            <a:off x="4957560" y="3552120"/>
            <a:ext cx="47520" cy="66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240" rIns="90000" bIns="21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08"/>
          <p:cNvSpPr/>
          <p:nvPr/>
        </p:nvSpPr>
        <p:spPr>
          <a:xfrm flipV="1">
            <a:off x="5005080" y="3483360"/>
            <a:ext cx="47880" cy="68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760" rIns="90000" bIns="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09"/>
          <p:cNvSpPr/>
          <p:nvPr/>
        </p:nvSpPr>
        <p:spPr>
          <a:xfrm flipV="1">
            <a:off x="5052960" y="3411720"/>
            <a:ext cx="47520" cy="71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10"/>
          <p:cNvSpPr/>
          <p:nvPr/>
        </p:nvSpPr>
        <p:spPr>
          <a:xfrm flipV="1">
            <a:off x="5100480" y="3337200"/>
            <a:ext cx="47520" cy="74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520" rIns="90000" bIns="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11"/>
          <p:cNvSpPr/>
          <p:nvPr/>
        </p:nvSpPr>
        <p:spPr>
          <a:xfrm flipV="1">
            <a:off x="5148000" y="3259440"/>
            <a:ext cx="47520" cy="77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12"/>
          <p:cNvSpPr/>
          <p:nvPr/>
        </p:nvSpPr>
        <p:spPr>
          <a:xfrm flipV="1">
            <a:off x="5195520" y="3178800"/>
            <a:ext cx="47520" cy="80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5640" rIns="90000" bIns="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13"/>
          <p:cNvSpPr/>
          <p:nvPr/>
        </p:nvSpPr>
        <p:spPr>
          <a:xfrm flipV="1">
            <a:off x="5243040" y="3094560"/>
            <a:ext cx="47520" cy="84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9240" rIns="90000" bIns="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14"/>
          <p:cNvSpPr/>
          <p:nvPr/>
        </p:nvSpPr>
        <p:spPr>
          <a:xfrm flipV="1">
            <a:off x="5290560" y="3007080"/>
            <a:ext cx="47520" cy="87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15"/>
          <p:cNvSpPr/>
          <p:nvPr/>
        </p:nvSpPr>
        <p:spPr>
          <a:xfrm flipV="1">
            <a:off x="5338080" y="2916000"/>
            <a:ext cx="47520" cy="91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16"/>
          <p:cNvSpPr/>
          <p:nvPr/>
        </p:nvSpPr>
        <p:spPr>
          <a:xfrm flipV="1">
            <a:off x="5385600" y="2821320"/>
            <a:ext cx="47520" cy="9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17"/>
          <p:cNvSpPr/>
          <p:nvPr/>
        </p:nvSpPr>
        <p:spPr>
          <a:xfrm flipV="1">
            <a:off x="5433120" y="2722320"/>
            <a:ext cx="47520" cy="99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18"/>
          <p:cNvSpPr/>
          <p:nvPr/>
        </p:nvSpPr>
        <p:spPr>
          <a:xfrm flipV="1">
            <a:off x="5480640" y="2619720"/>
            <a:ext cx="47520" cy="102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19"/>
          <p:cNvSpPr/>
          <p:nvPr/>
        </p:nvSpPr>
        <p:spPr>
          <a:xfrm flipV="1">
            <a:off x="5528160" y="2512800"/>
            <a:ext cx="47520" cy="106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20"/>
          <p:cNvSpPr/>
          <p:nvPr/>
        </p:nvSpPr>
        <p:spPr>
          <a:xfrm flipV="1">
            <a:off x="5575680" y="2401560"/>
            <a:ext cx="47880" cy="111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21"/>
          <p:cNvSpPr/>
          <p:nvPr/>
        </p:nvSpPr>
        <p:spPr>
          <a:xfrm flipV="1">
            <a:off x="5623560" y="2285640"/>
            <a:ext cx="47520" cy="115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22"/>
          <p:cNvSpPr/>
          <p:nvPr/>
        </p:nvSpPr>
        <p:spPr>
          <a:xfrm flipV="1">
            <a:off x="5671080" y="2165400"/>
            <a:ext cx="47520" cy="120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23"/>
          <p:cNvSpPr/>
          <p:nvPr/>
        </p:nvSpPr>
        <p:spPr>
          <a:xfrm flipV="1">
            <a:off x="5718600" y="2039760"/>
            <a:ext cx="47520" cy="125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24"/>
          <p:cNvSpPr/>
          <p:nvPr/>
        </p:nvSpPr>
        <p:spPr>
          <a:xfrm flipV="1">
            <a:off x="5766120" y="1909080"/>
            <a:ext cx="47520" cy="130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25"/>
          <p:cNvSpPr/>
          <p:nvPr/>
        </p:nvSpPr>
        <p:spPr>
          <a:xfrm flipV="1">
            <a:off x="1463040" y="3703320"/>
            <a:ext cx="5349240" cy="1728000"/>
          </a:xfrm>
          <a:prstGeom prst="line">
            <a:avLst/>
          </a:prstGeom>
          <a:ln w="317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26"/>
          <p:cNvSpPr/>
          <p:nvPr/>
        </p:nvSpPr>
        <p:spPr>
          <a:xfrm flipV="1">
            <a:off x="2808720" y="2107440"/>
            <a:ext cx="4003560" cy="3516120"/>
          </a:xfrm>
          <a:prstGeom prst="line">
            <a:avLst/>
          </a:prstGeom>
          <a:ln w="317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27"/>
          <p:cNvSpPr/>
          <p:nvPr/>
        </p:nvSpPr>
        <p:spPr>
          <a:xfrm>
            <a:off x="3191400" y="4800600"/>
            <a:ext cx="109440" cy="109440"/>
          </a:xfrm>
          <a:prstGeom prst="ellipse">
            <a:avLst/>
          </a:prstGeom>
          <a:solidFill>
            <a:srgbClr val="B7860F"/>
          </a:solidFill>
          <a:ln w="12700">
            <a:solidFill>
              <a:srgbClr val="B786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28"/>
          <p:cNvSpPr/>
          <p:nvPr/>
        </p:nvSpPr>
        <p:spPr>
          <a:xfrm>
            <a:off x="4380120" y="414072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29"/>
          <p:cNvSpPr/>
          <p:nvPr/>
        </p:nvSpPr>
        <p:spPr>
          <a:xfrm>
            <a:off x="987480" y="1936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7860F"/>
                </a:solidFill>
                <a:effectLst/>
                <a:uFillTx/>
                <a:latin typeface="Cantarell"/>
                <a:ea typeface="Cantarell"/>
              </a:rPr>
              <a:t>at x = 0: height 1, slope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30"/>
          <p:cNvSpPr/>
          <p:nvPr/>
        </p:nvSpPr>
        <p:spPr>
          <a:xfrm>
            <a:off x="987480" y="22824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at x = 1: height e ≈ 2.718, slope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31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32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The self-slope function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steepness of eˣ at any point equals its height there.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That is why d/dx eˣ = eˣ.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Exponentials show up in softmax, probabilities and growth models.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Using the Rules: x · ln 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f(x) = x · ln 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Product rule: u = x, v = ln 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u′ = 1,  v′ = 1/x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f′ = 1·ln x + x·(1/x)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= ln x + 1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ML tie: log-loss uses −ln 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d/dp [ −ln p ] = −1/p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(a wrong, confident p ≈ 0 → huge slope)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p = sp.symbols("x p", positive=True)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print(sp.diff(x * sp.log(x), x))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log(x) + 1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print(sp.diff(-sp.log(p), p))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-1/p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print(sp.diff(sp.exp(x), x))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exp(x)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Sigmoid and Its Derivative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 flipV="1">
            <a:off x="77724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5"/>
          <p:cNvSpPr/>
          <p:nvPr/>
        </p:nvSpPr>
        <p:spPr>
          <a:xfrm flipV="1">
            <a:off x="132588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6"/>
          <p:cNvSpPr/>
          <p:nvPr/>
        </p:nvSpPr>
        <p:spPr>
          <a:xfrm flipV="1">
            <a:off x="187452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7"/>
          <p:cNvSpPr/>
          <p:nvPr/>
        </p:nvSpPr>
        <p:spPr>
          <a:xfrm flipV="1">
            <a:off x="242316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8"/>
          <p:cNvSpPr/>
          <p:nvPr/>
        </p:nvSpPr>
        <p:spPr>
          <a:xfrm flipV="1">
            <a:off x="297180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9"/>
          <p:cNvSpPr/>
          <p:nvPr/>
        </p:nvSpPr>
        <p:spPr>
          <a:xfrm flipV="1">
            <a:off x="352044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0"/>
          <p:cNvSpPr/>
          <p:nvPr/>
        </p:nvSpPr>
        <p:spPr>
          <a:xfrm flipV="1">
            <a:off x="461772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1"/>
          <p:cNvSpPr/>
          <p:nvPr/>
        </p:nvSpPr>
        <p:spPr>
          <a:xfrm flipV="1">
            <a:off x="516636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2"/>
          <p:cNvSpPr/>
          <p:nvPr/>
        </p:nvSpPr>
        <p:spPr>
          <a:xfrm flipV="1">
            <a:off x="571500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3"/>
          <p:cNvSpPr/>
          <p:nvPr/>
        </p:nvSpPr>
        <p:spPr>
          <a:xfrm flipV="1">
            <a:off x="626364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4"/>
          <p:cNvSpPr/>
          <p:nvPr/>
        </p:nvSpPr>
        <p:spPr>
          <a:xfrm flipV="1">
            <a:off x="681228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5"/>
          <p:cNvSpPr/>
          <p:nvPr/>
        </p:nvSpPr>
        <p:spPr>
          <a:xfrm flipV="1">
            <a:off x="7360920" y="1783080"/>
            <a:ext cx="360" cy="409644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6"/>
          <p:cNvSpPr/>
          <p:nvPr/>
        </p:nvSpPr>
        <p:spPr>
          <a:xfrm>
            <a:off x="777240" y="2368080"/>
            <a:ext cx="658368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7"/>
          <p:cNvSpPr/>
          <p:nvPr/>
        </p:nvSpPr>
        <p:spPr>
          <a:xfrm flipV="1">
            <a:off x="4069080" y="1783080"/>
            <a:ext cx="360" cy="409644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8"/>
          <p:cNvSpPr/>
          <p:nvPr/>
        </p:nvSpPr>
        <p:spPr>
          <a:xfrm>
            <a:off x="777240" y="5294160"/>
            <a:ext cx="658368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9"/>
          <p:cNvSpPr/>
          <p:nvPr/>
        </p:nvSpPr>
        <p:spPr>
          <a:xfrm flipV="1">
            <a:off x="777240" y="5286240"/>
            <a:ext cx="4356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0"/>
          <p:cNvSpPr/>
          <p:nvPr/>
        </p:nvSpPr>
        <p:spPr>
          <a:xfrm flipV="1">
            <a:off x="820800" y="5285880"/>
            <a:ext cx="43920" cy="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1"/>
          <p:cNvSpPr/>
          <p:nvPr/>
        </p:nvSpPr>
        <p:spPr>
          <a:xfrm flipV="1">
            <a:off x="864720" y="528516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2"/>
          <p:cNvSpPr/>
          <p:nvPr/>
        </p:nvSpPr>
        <p:spPr>
          <a:xfrm flipV="1">
            <a:off x="908640" y="528408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3"/>
          <p:cNvSpPr/>
          <p:nvPr/>
        </p:nvSpPr>
        <p:spPr>
          <a:xfrm flipV="1">
            <a:off x="952560" y="528336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4"/>
          <p:cNvSpPr/>
          <p:nvPr/>
        </p:nvSpPr>
        <p:spPr>
          <a:xfrm flipV="1">
            <a:off x="996480" y="528264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5"/>
          <p:cNvSpPr/>
          <p:nvPr/>
        </p:nvSpPr>
        <p:spPr>
          <a:xfrm flipV="1">
            <a:off x="1040400" y="528156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6"/>
          <p:cNvSpPr/>
          <p:nvPr/>
        </p:nvSpPr>
        <p:spPr>
          <a:xfrm flipV="1">
            <a:off x="1084320" y="528048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27"/>
          <p:cNvSpPr/>
          <p:nvPr/>
        </p:nvSpPr>
        <p:spPr>
          <a:xfrm flipV="1">
            <a:off x="1128240" y="527940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8"/>
          <p:cNvSpPr/>
          <p:nvPr/>
        </p:nvSpPr>
        <p:spPr>
          <a:xfrm flipV="1">
            <a:off x="1172160" y="527832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9"/>
          <p:cNvSpPr/>
          <p:nvPr/>
        </p:nvSpPr>
        <p:spPr>
          <a:xfrm flipV="1">
            <a:off x="1216080" y="5276880"/>
            <a:ext cx="43920" cy="1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0"/>
          <p:cNvSpPr/>
          <p:nvPr/>
        </p:nvSpPr>
        <p:spPr>
          <a:xfrm flipV="1">
            <a:off x="1260000" y="5275440"/>
            <a:ext cx="43920" cy="1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1"/>
          <p:cNvSpPr/>
          <p:nvPr/>
        </p:nvSpPr>
        <p:spPr>
          <a:xfrm flipV="1">
            <a:off x="1303920" y="5273640"/>
            <a:ext cx="43560" cy="1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32"/>
          <p:cNvSpPr/>
          <p:nvPr/>
        </p:nvSpPr>
        <p:spPr>
          <a:xfrm flipV="1">
            <a:off x="1347480" y="5272200"/>
            <a:ext cx="43920" cy="1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3"/>
          <p:cNvSpPr/>
          <p:nvPr/>
        </p:nvSpPr>
        <p:spPr>
          <a:xfrm flipV="1">
            <a:off x="1391400" y="5270400"/>
            <a:ext cx="43920" cy="1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4"/>
          <p:cNvSpPr/>
          <p:nvPr/>
        </p:nvSpPr>
        <p:spPr>
          <a:xfrm flipV="1">
            <a:off x="1435320" y="5268240"/>
            <a:ext cx="43920" cy="2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35"/>
          <p:cNvSpPr/>
          <p:nvPr/>
        </p:nvSpPr>
        <p:spPr>
          <a:xfrm flipV="1">
            <a:off x="1479240" y="5266080"/>
            <a:ext cx="43920" cy="2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36"/>
          <p:cNvSpPr/>
          <p:nvPr/>
        </p:nvSpPr>
        <p:spPr>
          <a:xfrm flipV="1">
            <a:off x="1523160" y="5263920"/>
            <a:ext cx="43920" cy="2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37"/>
          <p:cNvSpPr/>
          <p:nvPr/>
        </p:nvSpPr>
        <p:spPr>
          <a:xfrm flipV="1">
            <a:off x="1567080" y="5261400"/>
            <a:ext cx="43920" cy="2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38"/>
          <p:cNvSpPr/>
          <p:nvPr/>
        </p:nvSpPr>
        <p:spPr>
          <a:xfrm flipV="1">
            <a:off x="1611000" y="5258880"/>
            <a:ext cx="43920" cy="2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39"/>
          <p:cNvSpPr/>
          <p:nvPr/>
        </p:nvSpPr>
        <p:spPr>
          <a:xfrm flipV="1">
            <a:off x="1654920" y="5255640"/>
            <a:ext cx="43920" cy="3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40"/>
          <p:cNvSpPr/>
          <p:nvPr/>
        </p:nvSpPr>
        <p:spPr>
          <a:xfrm flipV="1">
            <a:off x="1698840" y="5252760"/>
            <a:ext cx="43920" cy="2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1"/>
          <p:cNvSpPr/>
          <p:nvPr/>
        </p:nvSpPr>
        <p:spPr>
          <a:xfrm flipV="1">
            <a:off x="1742760" y="5249160"/>
            <a:ext cx="43920" cy="3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42"/>
          <p:cNvSpPr/>
          <p:nvPr/>
        </p:nvSpPr>
        <p:spPr>
          <a:xfrm flipV="1">
            <a:off x="1786680" y="5245560"/>
            <a:ext cx="43920" cy="3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43"/>
          <p:cNvSpPr/>
          <p:nvPr/>
        </p:nvSpPr>
        <p:spPr>
          <a:xfrm flipV="1">
            <a:off x="1830600" y="5241600"/>
            <a:ext cx="43920" cy="3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44"/>
          <p:cNvSpPr/>
          <p:nvPr/>
        </p:nvSpPr>
        <p:spPr>
          <a:xfrm flipV="1">
            <a:off x="1874520" y="5237280"/>
            <a:ext cx="43560" cy="4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45"/>
          <p:cNvSpPr/>
          <p:nvPr/>
        </p:nvSpPr>
        <p:spPr>
          <a:xfrm flipV="1">
            <a:off x="1918080" y="5232600"/>
            <a:ext cx="43920" cy="4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46"/>
          <p:cNvSpPr/>
          <p:nvPr/>
        </p:nvSpPr>
        <p:spPr>
          <a:xfrm flipV="1">
            <a:off x="1962000" y="5227560"/>
            <a:ext cx="43920" cy="5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47"/>
          <p:cNvSpPr/>
          <p:nvPr/>
        </p:nvSpPr>
        <p:spPr>
          <a:xfrm flipV="1">
            <a:off x="2005920" y="5222160"/>
            <a:ext cx="43920" cy="54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48"/>
          <p:cNvSpPr/>
          <p:nvPr/>
        </p:nvSpPr>
        <p:spPr>
          <a:xfrm flipV="1">
            <a:off x="2049840" y="5216400"/>
            <a:ext cx="43920" cy="5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49"/>
          <p:cNvSpPr/>
          <p:nvPr/>
        </p:nvSpPr>
        <p:spPr>
          <a:xfrm flipV="1">
            <a:off x="2093760" y="5209920"/>
            <a:ext cx="43920" cy="6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50"/>
          <p:cNvSpPr/>
          <p:nvPr/>
        </p:nvSpPr>
        <p:spPr>
          <a:xfrm flipV="1">
            <a:off x="2137680" y="5203440"/>
            <a:ext cx="43920" cy="6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51"/>
          <p:cNvSpPr/>
          <p:nvPr/>
        </p:nvSpPr>
        <p:spPr>
          <a:xfrm flipV="1">
            <a:off x="2181600" y="5195880"/>
            <a:ext cx="43920" cy="75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52"/>
          <p:cNvSpPr/>
          <p:nvPr/>
        </p:nvSpPr>
        <p:spPr>
          <a:xfrm flipV="1">
            <a:off x="2225520" y="5187960"/>
            <a:ext cx="43920" cy="79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53"/>
          <p:cNvSpPr/>
          <p:nvPr/>
        </p:nvSpPr>
        <p:spPr>
          <a:xfrm flipV="1">
            <a:off x="2269440" y="5179680"/>
            <a:ext cx="43920" cy="8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54"/>
          <p:cNvSpPr/>
          <p:nvPr/>
        </p:nvSpPr>
        <p:spPr>
          <a:xfrm flipV="1">
            <a:off x="2313360" y="5170320"/>
            <a:ext cx="43920" cy="9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55"/>
          <p:cNvSpPr/>
          <p:nvPr/>
        </p:nvSpPr>
        <p:spPr>
          <a:xfrm flipV="1">
            <a:off x="2357280" y="5160600"/>
            <a:ext cx="43920" cy="9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56"/>
          <p:cNvSpPr/>
          <p:nvPr/>
        </p:nvSpPr>
        <p:spPr>
          <a:xfrm flipV="1">
            <a:off x="2401200" y="5150160"/>
            <a:ext cx="43560" cy="10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57"/>
          <p:cNvSpPr/>
          <p:nvPr/>
        </p:nvSpPr>
        <p:spPr>
          <a:xfrm flipV="1">
            <a:off x="2444760" y="5138640"/>
            <a:ext cx="43920" cy="11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58"/>
          <p:cNvSpPr/>
          <p:nvPr/>
        </p:nvSpPr>
        <p:spPr>
          <a:xfrm flipV="1">
            <a:off x="2488680" y="5126400"/>
            <a:ext cx="43920" cy="12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59"/>
          <p:cNvSpPr/>
          <p:nvPr/>
        </p:nvSpPr>
        <p:spPr>
          <a:xfrm flipV="1">
            <a:off x="2532600" y="5113440"/>
            <a:ext cx="43920" cy="12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60"/>
          <p:cNvSpPr/>
          <p:nvPr/>
        </p:nvSpPr>
        <p:spPr>
          <a:xfrm flipV="1">
            <a:off x="2576520" y="5099400"/>
            <a:ext cx="43920" cy="14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61"/>
          <p:cNvSpPr/>
          <p:nvPr/>
        </p:nvSpPr>
        <p:spPr>
          <a:xfrm flipV="1">
            <a:off x="2620440" y="5084280"/>
            <a:ext cx="43920" cy="151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62"/>
          <p:cNvSpPr/>
          <p:nvPr/>
        </p:nvSpPr>
        <p:spPr>
          <a:xfrm flipV="1">
            <a:off x="2664360" y="5068080"/>
            <a:ext cx="43920" cy="16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63"/>
          <p:cNvSpPr/>
          <p:nvPr/>
        </p:nvSpPr>
        <p:spPr>
          <a:xfrm flipV="1">
            <a:off x="2708280" y="5050800"/>
            <a:ext cx="43920" cy="17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720" rIns="90000" bIns="-27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64"/>
          <p:cNvSpPr/>
          <p:nvPr/>
        </p:nvSpPr>
        <p:spPr>
          <a:xfrm flipV="1">
            <a:off x="2752200" y="5032440"/>
            <a:ext cx="43920" cy="18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65"/>
          <p:cNvSpPr/>
          <p:nvPr/>
        </p:nvSpPr>
        <p:spPr>
          <a:xfrm flipV="1">
            <a:off x="2796120" y="5012640"/>
            <a:ext cx="43920" cy="19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66"/>
          <p:cNvSpPr/>
          <p:nvPr/>
        </p:nvSpPr>
        <p:spPr>
          <a:xfrm flipV="1">
            <a:off x="2840040" y="4991760"/>
            <a:ext cx="43920" cy="20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67"/>
          <p:cNvSpPr/>
          <p:nvPr/>
        </p:nvSpPr>
        <p:spPr>
          <a:xfrm flipV="1">
            <a:off x="2883960" y="4969080"/>
            <a:ext cx="43920" cy="22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68"/>
          <p:cNvSpPr/>
          <p:nvPr/>
        </p:nvSpPr>
        <p:spPr>
          <a:xfrm flipV="1">
            <a:off x="2927880" y="4945320"/>
            <a:ext cx="43920" cy="23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69"/>
          <p:cNvSpPr/>
          <p:nvPr/>
        </p:nvSpPr>
        <p:spPr>
          <a:xfrm flipV="1">
            <a:off x="2971800" y="4920120"/>
            <a:ext cx="43560" cy="25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800" rIns="90000" bIns="-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70"/>
          <p:cNvSpPr/>
          <p:nvPr/>
        </p:nvSpPr>
        <p:spPr>
          <a:xfrm flipV="1">
            <a:off x="3015360" y="4893120"/>
            <a:ext cx="43920" cy="270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71"/>
          <p:cNvSpPr/>
          <p:nvPr/>
        </p:nvSpPr>
        <p:spPr>
          <a:xfrm flipV="1">
            <a:off x="3059280" y="4864680"/>
            <a:ext cx="43920" cy="28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72"/>
          <p:cNvSpPr/>
          <p:nvPr/>
        </p:nvSpPr>
        <p:spPr>
          <a:xfrm flipV="1">
            <a:off x="3103200" y="4834440"/>
            <a:ext cx="43920" cy="30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760" rIns="90000" bIns="-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73"/>
          <p:cNvSpPr/>
          <p:nvPr/>
        </p:nvSpPr>
        <p:spPr>
          <a:xfrm flipV="1">
            <a:off x="3147120" y="4802760"/>
            <a:ext cx="43920" cy="31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74"/>
          <p:cNvSpPr/>
          <p:nvPr/>
        </p:nvSpPr>
        <p:spPr>
          <a:xfrm flipV="1">
            <a:off x="3191040" y="4768920"/>
            <a:ext cx="43920" cy="33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75"/>
          <p:cNvSpPr/>
          <p:nvPr/>
        </p:nvSpPr>
        <p:spPr>
          <a:xfrm flipV="1">
            <a:off x="3234960" y="4733640"/>
            <a:ext cx="43920" cy="35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720" rIns="90000" bIns="-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76"/>
          <p:cNvSpPr/>
          <p:nvPr/>
        </p:nvSpPr>
        <p:spPr>
          <a:xfrm flipV="1">
            <a:off x="3278880" y="4696560"/>
            <a:ext cx="43920" cy="37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77"/>
          <p:cNvSpPr/>
          <p:nvPr/>
        </p:nvSpPr>
        <p:spPr>
          <a:xfrm flipV="1">
            <a:off x="3322800" y="4657680"/>
            <a:ext cx="43920" cy="38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120" rIns="90000" bIns="-6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78"/>
          <p:cNvSpPr/>
          <p:nvPr/>
        </p:nvSpPr>
        <p:spPr>
          <a:xfrm flipV="1">
            <a:off x="3366720" y="4617000"/>
            <a:ext cx="43920" cy="40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" rIns="90000" bIns="-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79"/>
          <p:cNvSpPr/>
          <p:nvPr/>
        </p:nvSpPr>
        <p:spPr>
          <a:xfrm flipV="1">
            <a:off x="3410640" y="4574520"/>
            <a:ext cx="43920" cy="42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" rIns="90000" bIns="-2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80"/>
          <p:cNvSpPr/>
          <p:nvPr/>
        </p:nvSpPr>
        <p:spPr>
          <a:xfrm flipV="1">
            <a:off x="3454560" y="4529880"/>
            <a:ext cx="43920" cy="446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" rIns="90000" bIns="-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81"/>
          <p:cNvSpPr/>
          <p:nvPr/>
        </p:nvSpPr>
        <p:spPr>
          <a:xfrm flipV="1">
            <a:off x="3498480" y="4484160"/>
            <a:ext cx="43560" cy="45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82"/>
          <p:cNvSpPr/>
          <p:nvPr/>
        </p:nvSpPr>
        <p:spPr>
          <a:xfrm flipV="1">
            <a:off x="3542040" y="4436280"/>
            <a:ext cx="43920" cy="47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83"/>
          <p:cNvSpPr/>
          <p:nvPr/>
        </p:nvSpPr>
        <p:spPr>
          <a:xfrm flipV="1">
            <a:off x="3585960" y="4386960"/>
            <a:ext cx="43920" cy="49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84"/>
          <p:cNvSpPr/>
          <p:nvPr/>
        </p:nvSpPr>
        <p:spPr>
          <a:xfrm flipV="1">
            <a:off x="3629880" y="4336200"/>
            <a:ext cx="43920" cy="50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85"/>
          <p:cNvSpPr/>
          <p:nvPr/>
        </p:nvSpPr>
        <p:spPr>
          <a:xfrm flipV="1">
            <a:off x="3673800" y="4284000"/>
            <a:ext cx="43920" cy="52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86"/>
          <p:cNvSpPr/>
          <p:nvPr/>
        </p:nvSpPr>
        <p:spPr>
          <a:xfrm flipV="1">
            <a:off x="3717720" y="4230360"/>
            <a:ext cx="43920" cy="536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87"/>
          <p:cNvSpPr/>
          <p:nvPr/>
        </p:nvSpPr>
        <p:spPr>
          <a:xfrm flipV="1">
            <a:off x="3761640" y="4175640"/>
            <a:ext cx="43920" cy="54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88"/>
          <p:cNvSpPr/>
          <p:nvPr/>
        </p:nvSpPr>
        <p:spPr>
          <a:xfrm flipV="1">
            <a:off x="3805560" y="4119840"/>
            <a:ext cx="43920" cy="55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89"/>
          <p:cNvSpPr/>
          <p:nvPr/>
        </p:nvSpPr>
        <p:spPr>
          <a:xfrm flipV="1">
            <a:off x="3849480" y="4063320"/>
            <a:ext cx="43920" cy="56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90"/>
          <p:cNvSpPr/>
          <p:nvPr/>
        </p:nvSpPr>
        <p:spPr>
          <a:xfrm flipV="1">
            <a:off x="3893400" y="4005720"/>
            <a:ext cx="43920" cy="57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600" rIns="90000" bIns="12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91"/>
          <p:cNvSpPr/>
          <p:nvPr/>
        </p:nvSpPr>
        <p:spPr>
          <a:xfrm flipV="1">
            <a:off x="3937320" y="3948120"/>
            <a:ext cx="43920" cy="57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600" rIns="90000" bIns="12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92"/>
          <p:cNvSpPr/>
          <p:nvPr/>
        </p:nvSpPr>
        <p:spPr>
          <a:xfrm flipV="1">
            <a:off x="3981240" y="3889800"/>
            <a:ext cx="43920" cy="58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93"/>
          <p:cNvSpPr/>
          <p:nvPr/>
        </p:nvSpPr>
        <p:spPr>
          <a:xfrm flipV="1">
            <a:off x="4025160" y="3831120"/>
            <a:ext cx="43920" cy="58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94"/>
          <p:cNvSpPr/>
          <p:nvPr/>
        </p:nvSpPr>
        <p:spPr>
          <a:xfrm flipV="1">
            <a:off x="4069080" y="3772800"/>
            <a:ext cx="43560" cy="58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95"/>
          <p:cNvSpPr/>
          <p:nvPr/>
        </p:nvSpPr>
        <p:spPr>
          <a:xfrm flipV="1">
            <a:off x="4112640" y="3714480"/>
            <a:ext cx="43920" cy="58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96"/>
          <p:cNvSpPr/>
          <p:nvPr/>
        </p:nvSpPr>
        <p:spPr>
          <a:xfrm flipV="1">
            <a:off x="4156560" y="3656520"/>
            <a:ext cx="43920" cy="57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97"/>
          <p:cNvSpPr/>
          <p:nvPr/>
        </p:nvSpPr>
        <p:spPr>
          <a:xfrm flipV="1">
            <a:off x="4200480" y="3598920"/>
            <a:ext cx="43920" cy="57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600" rIns="90000" bIns="12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98"/>
          <p:cNvSpPr/>
          <p:nvPr/>
        </p:nvSpPr>
        <p:spPr>
          <a:xfrm flipV="1">
            <a:off x="4244400" y="3542400"/>
            <a:ext cx="43920" cy="56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99"/>
          <p:cNvSpPr/>
          <p:nvPr/>
        </p:nvSpPr>
        <p:spPr>
          <a:xfrm flipV="1">
            <a:off x="4288320" y="3486600"/>
            <a:ext cx="43920" cy="55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00"/>
          <p:cNvSpPr/>
          <p:nvPr/>
        </p:nvSpPr>
        <p:spPr>
          <a:xfrm flipV="1">
            <a:off x="4332240" y="3431880"/>
            <a:ext cx="43920" cy="54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01"/>
          <p:cNvSpPr/>
          <p:nvPr/>
        </p:nvSpPr>
        <p:spPr>
          <a:xfrm flipV="1">
            <a:off x="4376160" y="3378240"/>
            <a:ext cx="43920" cy="536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02"/>
          <p:cNvSpPr/>
          <p:nvPr/>
        </p:nvSpPr>
        <p:spPr>
          <a:xfrm flipV="1">
            <a:off x="4420080" y="3326040"/>
            <a:ext cx="43920" cy="52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03"/>
          <p:cNvSpPr/>
          <p:nvPr/>
        </p:nvSpPr>
        <p:spPr>
          <a:xfrm flipV="1">
            <a:off x="4464000" y="3275280"/>
            <a:ext cx="43920" cy="50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04"/>
          <p:cNvSpPr/>
          <p:nvPr/>
        </p:nvSpPr>
        <p:spPr>
          <a:xfrm flipV="1">
            <a:off x="4507920" y="3225960"/>
            <a:ext cx="43920" cy="49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05"/>
          <p:cNvSpPr/>
          <p:nvPr/>
        </p:nvSpPr>
        <p:spPr>
          <a:xfrm flipV="1">
            <a:off x="4551840" y="3178440"/>
            <a:ext cx="43920" cy="47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06"/>
          <p:cNvSpPr/>
          <p:nvPr/>
        </p:nvSpPr>
        <p:spPr>
          <a:xfrm flipV="1">
            <a:off x="4595760" y="3132360"/>
            <a:ext cx="43560" cy="46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07"/>
          <p:cNvSpPr/>
          <p:nvPr/>
        </p:nvSpPr>
        <p:spPr>
          <a:xfrm flipV="1">
            <a:off x="4639320" y="3088080"/>
            <a:ext cx="43920" cy="44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08"/>
          <p:cNvSpPr/>
          <p:nvPr/>
        </p:nvSpPr>
        <p:spPr>
          <a:xfrm flipV="1">
            <a:off x="4683240" y="3045600"/>
            <a:ext cx="43920" cy="42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" rIns="90000" bIns="-2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09"/>
          <p:cNvSpPr/>
          <p:nvPr/>
        </p:nvSpPr>
        <p:spPr>
          <a:xfrm flipV="1">
            <a:off x="4727160" y="3004560"/>
            <a:ext cx="43920" cy="41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10"/>
          <p:cNvSpPr/>
          <p:nvPr/>
        </p:nvSpPr>
        <p:spPr>
          <a:xfrm flipV="1">
            <a:off x="4771080" y="2965680"/>
            <a:ext cx="43920" cy="38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120" rIns="90000" bIns="-6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11"/>
          <p:cNvSpPr/>
          <p:nvPr/>
        </p:nvSpPr>
        <p:spPr>
          <a:xfrm flipV="1">
            <a:off x="4815000" y="2928600"/>
            <a:ext cx="43920" cy="37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12"/>
          <p:cNvSpPr/>
          <p:nvPr/>
        </p:nvSpPr>
        <p:spPr>
          <a:xfrm flipV="1">
            <a:off x="4858920" y="2893320"/>
            <a:ext cx="43920" cy="35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720" rIns="90000" bIns="-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13"/>
          <p:cNvSpPr/>
          <p:nvPr/>
        </p:nvSpPr>
        <p:spPr>
          <a:xfrm flipV="1">
            <a:off x="4902840" y="2859480"/>
            <a:ext cx="43920" cy="33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14"/>
          <p:cNvSpPr/>
          <p:nvPr/>
        </p:nvSpPr>
        <p:spPr>
          <a:xfrm flipV="1">
            <a:off x="4946760" y="2827800"/>
            <a:ext cx="43920" cy="31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15"/>
          <p:cNvSpPr/>
          <p:nvPr/>
        </p:nvSpPr>
        <p:spPr>
          <a:xfrm flipV="1">
            <a:off x="4990680" y="2797560"/>
            <a:ext cx="43920" cy="30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760" rIns="90000" bIns="-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16"/>
          <p:cNvSpPr/>
          <p:nvPr/>
        </p:nvSpPr>
        <p:spPr>
          <a:xfrm flipV="1">
            <a:off x="5034600" y="2769120"/>
            <a:ext cx="43920" cy="28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17"/>
          <p:cNvSpPr/>
          <p:nvPr/>
        </p:nvSpPr>
        <p:spPr>
          <a:xfrm flipV="1">
            <a:off x="5078520" y="2742120"/>
            <a:ext cx="43920" cy="270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18"/>
          <p:cNvSpPr/>
          <p:nvPr/>
        </p:nvSpPr>
        <p:spPr>
          <a:xfrm flipV="1">
            <a:off x="5122440" y="2716920"/>
            <a:ext cx="43920" cy="25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800" rIns="90000" bIns="-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19"/>
          <p:cNvSpPr/>
          <p:nvPr/>
        </p:nvSpPr>
        <p:spPr>
          <a:xfrm flipV="1">
            <a:off x="5166360" y="2693160"/>
            <a:ext cx="43560" cy="23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20"/>
          <p:cNvSpPr/>
          <p:nvPr/>
        </p:nvSpPr>
        <p:spPr>
          <a:xfrm flipV="1">
            <a:off x="5209920" y="2670840"/>
            <a:ext cx="43920" cy="22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21"/>
          <p:cNvSpPr/>
          <p:nvPr/>
        </p:nvSpPr>
        <p:spPr>
          <a:xfrm flipV="1">
            <a:off x="5253840" y="2649600"/>
            <a:ext cx="43920" cy="21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22"/>
          <p:cNvSpPr/>
          <p:nvPr/>
        </p:nvSpPr>
        <p:spPr>
          <a:xfrm flipV="1">
            <a:off x="5297760" y="2629800"/>
            <a:ext cx="43920" cy="19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23"/>
          <p:cNvSpPr/>
          <p:nvPr/>
        </p:nvSpPr>
        <p:spPr>
          <a:xfrm flipV="1">
            <a:off x="5341680" y="2611440"/>
            <a:ext cx="43920" cy="18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24"/>
          <p:cNvSpPr/>
          <p:nvPr/>
        </p:nvSpPr>
        <p:spPr>
          <a:xfrm flipV="1">
            <a:off x="5385600" y="2594160"/>
            <a:ext cx="43920" cy="17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720" rIns="90000" bIns="-27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25"/>
          <p:cNvSpPr/>
          <p:nvPr/>
        </p:nvSpPr>
        <p:spPr>
          <a:xfrm flipV="1">
            <a:off x="5429520" y="2577960"/>
            <a:ext cx="43920" cy="16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26"/>
          <p:cNvSpPr/>
          <p:nvPr/>
        </p:nvSpPr>
        <p:spPr>
          <a:xfrm flipV="1">
            <a:off x="5473440" y="2562840"/>
            <a:ext cx="43920" cy="151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27"/>
          <p:cNvSpPr/>
          <p:nvPr/>
        </p:nvSpPr>
        <p:spPr>
          <a:xfrm flipV="1">
            <a:off x="5517360" y="2548800"/>
            <a:ext cx="43920" cy="14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28"/>
          <p:cNvSpPr/>
          <p:nvPr/>
        </p:nvSpPr>
        <p:spPr>
          <a:xfrm flipV="1">
            <a:off x="5561280" y="2535840"/>
            <a:ext cx="43920" cy="12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29"/>
          <p:cNvSpPr/>
          <p:nvPr/>
        </p:nvSpPr>
        <p:spPr>
          <a:xfrm flipV="1">
            <a:off x="5605200" y="2523600"/>
            <a:ext cx="43920" cy="12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30"/>
          <p:cNvSpPr/>
          <p:nvPr/>
        </p:nvSpPr>
        <p:spPr>
          <a:xfrm flipV="1">
            <a:off x="5649120" y="2512440"/>
            <a:ext cx="43920" cy="11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31"/>
          <p:cNvSpPr/>
          <p:nvPr/>
        </p:nvSpPr>
        <p:spPr>
          <a:xfrm flipV="1">
            <a:off x="5693040" y="2501640"/>
            <a:ext cx="43560" cy="10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32"/>
          <p:cNvSpPr/>
          <p:nvPr/>
        </p:nvSpPr>
        <p:spPr>
          <a:xfrm flipV="1">
            <a:off x="5736600" y="2491920"/>
            <a:ext cx="43920" cy="9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33"/>
          <p:cNvSpPr/>
          <p:nvPr/>
        </p:nvSpPr>
        <p:spPr>
          <a:xfrm flipV="1">
            <a:off x="5780520" y="2482560"/>
            <a:ext cx="43920" cy="9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34"/>
          <p:cNvSpPr/>
          <p:nvPr/>
        </p:nvSpPr>
        <p:spPr>
          <a:xfrm flipV="1">
            <a:off x="5824440" y="2474280"/>
            <a:ext cx="43920" cy="8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35"/>
          <p:cNvSpPr/>
          <p:nvPr/>
        </p:nvSpPr>
        <p:spPr>
          <a:xfrm flipV="1">
            <a:off x="5868360" y="2466360"/>
            <a:ext cx="43920" cy="79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36"/>
          <p:cNvSpPr/>
          <p:nvPr/>
        </p:nvSpPr>
        <p:spPr>
          <a:xfrm flipV="1">
            <a:off x="5912280" y="2459160"/>
            <a:ext cx="43920" cy="7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37"/>
          <p:cNvSpPr/>
          <p:nvPr/>
        </p:nvSpPr>
        <p:spPr>
          <a:xfrm flipV="1">
            <a:off x="5956200" y="2452320"/>
            <a:ext cx="43920" cy="6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38"/>
          <p:cNvSpPr/>
          <p:nvPr/>
        </p:nvSpPr>
        <p:spPr>
          <a:xfrm flipV="1">
            <a:off x="6000120" y="2445840"/>
            <a:ext cx="43920" cy="6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39"/>
          <p:cNvSpPr/>
          <p:nvPr/>
        </p:nvSpPr>
        <p:spPr>
          <a:xfrm flipV="1">
            <a:off x="6044040" y="2440080"/>
            <a:ext cx="43920" cy="5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40"/>
          <p:cNvSpPr/>
          <p:nvPr/>
        </p:nvSpPr>
        <p:spPr>
          <a:xfrm flipV="1">
            <a:off x="6087960" y="2434680"/>
            <a:ext cx="43920" cy="54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41"/>
          <p:cNvSpPr/>
          <p:nvPr/>
        </p:nvSpPr>
        <p:spPr>
          <a:xfrm flipV="1">
            <a:off x="6131880" y="2429640"/>
            <a:ext cx="43920" cy="5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42"/>
          <p:cNvSpPr/>
          <p:nvPr/>
        </p:nvSpPr>
        <p:spPr>
          <a:xfrm flipV="1">
            <a:off x="6175800" y="2424960"/>
            <a:ext cx="43920" cy="4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43"/>
          <p:cNvSpPr/>
          <p:nvPr/>
        </p:nvSpPr>
        <p:spPr>
          <a:xfrm flipV="1">
            <a:off x="6219720" y="2420640"/>
            <a:ext cx="43920" cy="4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44"/>
          <p:cNvSpPr/>
          <p:nvPr/>
        </p:nvSpPr>
        <p:spPr>
          <a:xfrm flipV="1">
            <a:off x="6263640" y="2416680"/>
            <a:ext cx="43560" cy="3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45"/>
          <p:cNvSpPr/>
          <p:nvPr/>
        </p:nvSpPr>
        <p:spPr>
          <a:xfrm flipV="1">
            <a:off x="6307200" y="2413080"/>
            <a:ext cx="43920" cy="3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46"/>
          <p:cNvSpPr/>
          <p:nvPr/>
        </p:nvSpPr>
        <p:spPr>
          <a:xfrm flipV="1">
            <a:off x="6351120" y="2409840"/>
            <a:ext cx="43920" cy="3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47"/>
          <p:cNvSpPr/>
          <p:nvPr/>
        </p:nvSpPr>
        <p:spPr>
          <a:xfrm flipV="1">
            <a:off x="6395040" y="2406600"/>
            <a:ext cx="43920" cy="3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48"/>
          <p:cNvSpPr/>
          <p:nvPr/>
        </p:nvSpPr>
        <p:spPr>
          <a:xfrm flipV="1">
            <a:off x="6438960" y="2403720"/>
            <a:ext cx="43920" cy="2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49"/>
          <p:cNvSpPr/>
          <p:nvPr/>
        </p:nvSpPr>
        <p:spPr>
          <a:xfrm flipV="1">
            <a:off x="6482880" y="2400840"/>
            <a:ext cx="43920" cy="2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50"/>
          <p:cNvSpPr/>
          <p:nvPr/>
        </p:nvSpPr>
        <p:spPr>
          <a:xfrm flipV="1">
            <a:off x="6526800" y="2398320"/>
            <a:ext cx="43920" cy="2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51"/>
          <p:cNvSpPr/>
          <p:nvPr/>
        </p:nvSpPr>
        <p:spPr>
          <a:xfrm flipV="1">
            <a:off x="6570720" y="2396160"/>
            <a:ext cx="43920" cy="2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52"/>
          <p:cNvSpPr/>
          <p:nvPr/>
        </p:nvSpPr>
        <p:spPr>
          <a:xfrm flipV="1">
            <a:off x="6614640" y="2394000"/>
            <a:ext cx="43920" cy="2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153"/>
          <p:cNvSpPr/>
          <p:nvPr/>
        </p:nvSpPr>
        <p:spPr>
          <a:xfrm flipV="1">
            <a:off x="6658560" y="2391840"/>
            <a:ext cx="43920" cy="2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54"/>
          <p:cNvSpPr/>
          <p:nvPr/>
        </p:nvSpPr>
        <p:spPr>
          <a:xfrm flipV="1">
            <a:off x="6702480" y="2390040"/>
            <a:ext cx="43920" cy="1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55"/>
          <p:cNvSpPr/>
          <p:nvPr/>
        </p:nvSpPr>
        <p:spPr>
          <a:xfrm flipV="1">
            <a:off x="6746400" y="2388600"/>
            <a:ext cx="43920" cy="1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56"/>
          <p:cNvSpPr/>
          <p:nvPr/>
        </p:nvSpPr>
        <p:spPr>
          <a:xfrm flipV="1">
            <a:off x="6790320" y="2386800"/>
            <a:ext cx="43560" cy="1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57"/>
          <p:cNvSpPr/>
          <p:nvPr/>
        </p:nvSpPr>
        <p:spPr>
          <a:xfrm flipV="1">
            <a:off x="6833880" y="2385360"/>
            <a:ext cx="43920" cy="1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58"/>
          <p:cNvSpPr/>
          <p:nvPr/>
        </p:nvSpPr>
        <p:spPr>
          <a:xfrm flipV="1">
            <a:off x="6877800" y="238428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59"/>
          <p:cNvSpPr/>
          <p:nvPr/>
        </p:nvSpPr>
        <p:spPr>
          <a:xfrm flipV="1">
            <a:off x="6921720" y="2382840"/>
            <a:ext cx="43920" cy="1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60"/>
          <p:cNvSpPr/>
          <p:nvPr/>
        </p:nvSpPr>
        <p:spPr>
          <a:xfrm flipV="1">
            <a:off x="6965640" y="238176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61"/>
          <p:cNvSpPr/>
          <p:nvPr/>
        </p:nvSpPr>
        <p:spPr>
          <a:xfrm flipV="1">
            <a:off x="7009560" y="238068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62"/>
          <p:cNvSpPr/>
          <p:nvPr/>
        </p:nvSpPr>
        <p:spPr>
          <a:xfrm flipV="1">
            <a:off x="7053480" y="237996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63"/>
          <p:cNvSpPr/>
          <p:nvPr/>
        </p:nvSpPr>
        <p:spPr>
          <a:xfrm flipV="1">
            <a:off x="7097400" y="2378880"/>
            <a:ext cx="43920" cy="1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164"/>
          <p:cNvSpPr/>
          <p:nvPr/>
        </p:nvSpPr>
        <p:spPr>
          <a:xfrm flipV="1">
            <a:off x="7141320" y="237816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65"/>
          <p:cNvSpPr/>
          <p:nvPr/>
        </p:nvSpPr>
        <p:spPr>
          <a:xfrm flipV="1">
            <a:off x="7185240" y="237744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66"/>
          <p:cNvSpPr/>
          <p:nvPr/>
        </p:nvSpPr>
        <p:spPr>
          <a:xfrm flipV="1">
            <a:off x="7229160" y="237672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67"/>
          <p:cNvSpPr/>
          <p:nvPr/>
        </p:nvSpPr>
        <p:spPr>
          <a:xfrm flipV="1">
            <a:off x="7273080" y="237600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68"/>
          <p:cNvSpPr/>
          <p:nvPr/>
        </p:nvSpPr>
        <p:spPr>
          <a:xfrm flipV="1">
            <a:off x="7317000" y="2375280"/>
            <a:ext cx="4392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69"/>
          <p:cNvSpPr/>
          <p:nvPr/>
        </p:nvSpPr>
        <p:spPr>
          <a:xfrm flipV="1">
            <a:off x="777240" y="5286240"/>
            <a:ext cx="4356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70"/>
          <p:cNvSpPr/>
          <p:nvPr/>
        </p:nvSpPr>
        <p:spPr>
          <a:xfrm flipV="1">
            <a:off x="820800" y="5285880"/>
            <a:ext cx="43920" cy="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71"/>
          <p:cNvSpPr/>
          <p:nvPr/>
        </p:nvSpPr>
        <p:spPr>
          <a:xfrm flipV="1">
            <a:off x="864720" y="5285160"/>
            <a:ext cx="4392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72"/>
          <p:cNvSpPr/>
          <p:nvPr/>
        </p:nvSpPr>
        <p:spPr>
          <a:xfrm flipV="1">
            <a:off x="908640" y="5284440"/>
            <a:ext cx="4392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73"/>
          <p:cNvSpPr/>
          <p:nvPr/>
        </p:nvSpPr>
        <p:spPr>
          <a:xfrm flipV="1">
            <a:off x="952560" y="528336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74"/>
          <p:cNvSpPr/>
          <p:nvPr/>
        </p:nvSpPr>
        <p:spPr>
          <a:xfrm flipV="1">
            <a:off x="996480" y="5282640"/>
            <a:ext cx="4392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75"/>
          <p:cNvSpPr/>
          <p:nvPr/>
        </p:nvSpPr>
        <p:spPr>
          <a:xfrm flipV="1">
            <a:off x="1040400" y="528156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76"/>
          <p:cNvSpPr/>
          <p:nvPr/>
        </p:nvSpPr>
        <p:spPr>
          <a:xfrm flipV="1">
            <a:off x="1084320" y="528048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77"/>
          <p:cNvSpPr/>
          <p:nvPr/>
        </p:nvSpPr>
        <p:spPr>
          <a:xfrm flipV="1">
            <a:off x="1128240" y="527940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78"/>
          <p:cNvSpPr/>
          <p:nvPr/>
        </p:nvSpPr>
        <p:spPr>
          <a:xfrm flipV="1">
            <a:off x="1172160" y="527832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79"/>
          <p:cNvSpPr/>
          <p:nvPr/>
        </p:nvSpPr>
        <p:spPr>
          <a:xfrm flipV="1">
            <a:off x="1216080" y="5276880"/>
            <a:ext cx="43920" cy="1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80"/>
          <p:cNvSpPr/>
          <p:nvPr/>
        </p:nvSpPr>
        <p:spPr>
          <a:xfrm flipV="1">
            <a:off x="1260000" y="5275440"/>
            <a:ext cx="43920" cy="1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81"/>
          <p:cNvSpPr/>
          <p:nvPr/>
        </p:nvSpPr>
        <p:spPr>
          <a:xfrm flipV="1">
            <a:off x="1303920" y="5274000"/>
            <a:ext cx="43560" cy="1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82"/>
          <p:cNvSpPr/>
          <p:nvPr/>
        </p:nvSpPr>
        <p:spPr>
          <a:xfrm flipV="1">
            <a:off x="1347480" y="5272200"/>
            <a:ext cx="43920" cy="1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83"/>
          <p:cNvSpPr/>
          <p:nvPr/>
        </p:nvSpPr>
        <p:spPr>
          <a:xfrm flipV="1">
            <a:off x="1391400" y="5270400"/>
            <a:ext cx="43920" cy="1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84"/>
          <p:cNvSpPr/>
          <p:nvPr/>
        </p:nvSpPr>
        <p:spPr>
          <a:xfrm flipV="1">
            <a:off x="1435320" y="5268600"/>
            <a:ext cx="43920" cy="1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85"/>
          <p:cNvSpPr/>
          <p:nvPr/>
        </p:nvSpPr>
        <p:spPr>
          <a:xfrm flipV="1">
            <a:off x="1479240" y="5266440"/>
            <a:ext cx="43920" cy="2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86"/>
          <p:cNvSpPr/>
          <p:nvPr/>
        </p:nvSpPr>
        <p:spPr>
          <a:xfrm flipV="1">
            <a:off x="1523160" y="5264280"/>
            <a:ext cx="43920" cy="2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187"/>
          <p:cNvSpPr/>
          <p:nvPr/>
        </p:nvSpPr>
        <p:spPr>
          <a:xfrm flipV="1">
            <a:off x="1567080" y="5261760"/>
            <a:ext cx="43920" cy="2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88"/>
          <p:cNvSpPr/>
          <p:nvPr/>
        </p:nvSpPr>
        <p:spPr>
          <a:xfrm flipV="1">
            <a:off x="1611000" y="5259240"/>
            <a:ext cx="43920" cy="2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89"/>
          <p:cNvSpPr/>
          <p:nvPr/>
        </p:nvSpPr>
        <p:spPr>
          <a:xfrm flipV="1">
            <a:off x="1654920" y="5256360"/>
            <a:ext cx="43920" cy="2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90"/>
          <p:cNvSpPr/>
          <p:nvPr/>
        </p:nvSpPr>
        <p:spPr>
          <a:xfrm flipV="1">
            <a:off x="1698840" y="5253120"/>
            <a:ext cx="43920" cy="3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91"/>
          <p:cNvSpPr/>
          <p:nvPr/>
        </p:nvSpPr>
        <p:spPr>
          <a:xfrm flipV="1">
            <a:off x="1742760" y="5249880"/>
            <a:ext cx="43920" cy="3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92"/>
          <p:cNvSpPr/>
          <p:nvPr/>
        </p:nvSpPr>
        <p:spPr>
          <a:xfrm flipV="1">
            <a:off x="1786680" y="5246280"/>
            <a:ext cx="43920" cy="3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93"/>
          <p:cNvSpPr/>
          <p:nvPr/>
        </p:nvSpPr>
        <p:spPr>
          <a:xfrm flipV="1">
            <a:off x="1830600" y="5242680"/>
            <a:ext cx="43920" cy="3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94"/>
          <p:cNvSpPr/>
          <p:nvPr/>
        </p:nvSpPr>
        <p:spPr>
          <a:xfrm flipV="1">
            <a:off x="1874520" y="5238360"/>
            <a:ext cx="43560" cy="4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95"/>
          <p:cNvSpPr/>
          <p:nvPr/>
        </p:nvSpPr>
        <p:spPr>
          <a:xfrm flipV="1">
            <a:off x="1918080" y="5234040"/>
            <a:ext cx="43920" cy="4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96"/>
          <p:cNvSpPr/>
          <p:nvPr/>
        </p:nvSpPr>
        <p:spPr>
          <a:xfrm flipV="1">
            <a:off x="1962000" y="5229000"/>
            <a:ext cx="43920" cy="5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97"/>
          <p:cNvSpPr/>
          <p:nvPr/>
        </p:nvSpPr>
        <p:spPr>
          <a:xfrm flipV="1">
            <a:off x="2005920" y="5223960"/>
            <a:ext cx="43920" cy="5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98"/>
          <p:cNvSpPr/>
          <p:nvPr/>
        </p:nvSpPr>
        <p:spPr>
          <a:xfrm flipV="1">
            <a:off x="2049840" y="5218560"/>
            <a:ext cx="43920" cy="54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99"/>
          <p:cNvSpPr/>
          <p:nvPr/>
        </p:nvSpPr>
        <p:spPr>
          <a:xfrm flipV="1">
            <a:off x="2093760" y="5212440"/>
            <a:ext cx="43920" cy="6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00"/>
          <p:cNvSpPr/>
          <p:nvPr/>
        </p:nvSpPr>
        <p:spPr>
          <a:xfrm flipV="1">
            <a:off x="2137680" y="5205960"/>
            <a:ext cx="43920" cy="64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01"/>
          <p:cNvSpPr/>
          <p:nvPr/>
        </p:nvSpPr>
        <p:spPr>
          <a:xfrm flipV="1">
            <a:off x="2181600" y="5199120"/>
            <a:ext cx="43920" cy="6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202"/>
          <p:cNvSpPr/>
          <p:nvPr/>
        </p:nvSpPr>
        <p:spPr>
          <a:xfrm flipV="1">
            <a:off x="2225520" y="5191920"/>
            <a:ext cx="43920" cy="7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03"/>
          <p:cNvSpPr/>
          <p:nvPr/>
        </p:nvSpPr>
        <p:spPr>
          <a:xfrm flipV="1">
            <a:off x="2269440" y="5184000"/>
            <a:ext cx="43920" cy="7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04"/>
          <p:cNvSpPr/>
          <p:nvPr/>
        </p:nvSpPr>
        <p:spPr>
          <a:xfrm flipV="1">
            <a:off x="2313360" y="5175720"/>
            <a:ext cx="43920" cy="8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05"/>
          <p:cNvSpPr/>
          <p:nvPr/>
        </p:nvSpPr>
        <p:spPr>
          <a:xfrm flipV="1">
            <a:off x="2357280" y="5166720"/>
            <a:ext cx="43920" cy="9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206"/>
          <p:cNvSpPr/>
          <p:nvPr/>
        </p:nvSpPr>
        <p:spPr>
          <a:xfrm flipV="1">
            <a:off x="2401200" y="5157000"/>
            <a:ext cx="43560" cy="9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07"/>
          <p:cNvSpPr/>
          <p:nvPr/>
        </p:nvSpPr>
        <p:spPr>
          <a:xfrm flipV="1">
            <a:off x="2444760" y="5146920"/>
            <a:ext cx="43920" cy="10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08"/>
          <p:cNvSpPr/>
          <p:nvPr/>
        </p:nvSpPr>
        <p:spPr>
          <a:xfrm flipV="1">
            <a:off x="2488680" y="5136120"/>
            <a:ext cx="43920" cy="10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09"/>
          <p:cNvSpPr/>
          <p:nvPr/>
        </p:nvSpPr>
        <p:spPr>
          <a:xfrm flipV="1">
            <a:off x="2532600" y="5124600"/>
            <a:ext cx="43920" cy="11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210"/>
          <p:cNvSpPr/>
          <p:nvPr/>
        </p:nvSpPr>
        <p:spPr>
          <a:xfrm flipV="1">
            <a:off x="2576520" y="5112360"/>
            <a:ext cx="43920" cy="12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11"/>
          <p:cNvSpPr/>
          <p:nvPr/>
        </p:nvSpPr>
        <p:spPr>
          <a:xfrm flipV="1">
            <a:off x="2620440" y="5099400"/>
            <a:ext cx="43920" cy="129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212"/>
          <p:cNvSpPr/>
          <p:nvPr/>
        </p:nvSpPr>
        <p:spPr>
          <a:xfrm flipV="1">
            <a:off x="2664360" y="5085720"/>
            <a:ext cx="43920" cy="13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213"/>
          <p:cNvSpPr/>
          <p:nvPr/>
        </p:nvSpPr>
        <p:spPr>
          <a:xfrm flipV="1">
            <a:off x="2708280" y="5070960"/>
            <a:ext cx="43920" cy="14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14"/>
          <p:cNvSpPr/>
          <p:nvPr/>
        </p:nvSpPr>
        <p:spPr>
          <a:xfrm flipV="1">
            <a:off x="2752200" y="5055840"/>
            <a:ext cx="43920" cy="15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15"/>
          <p:cNvSpPr/>
          <p:nvPr/>
        </p:nvSpPr>
        <p:spPr>
          <a:xfrm flipV="1">
            <a:off x="2796120" y="5039640"/>
            <a:ext cx="43920" cy="16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216"/>
          <p:cNvSpPr/>
          <p:nvPr/>
        </p:nvSpPr>
        <p:spPr>
          <a:xfrm flipV="1">
            <a:off x="2840040" y="5023080"/>
            <a:ext cx="43920" cy="16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217"/>
          <p:cNvSpPr/>
          <p:nvPr/>
        </p:nvSpPr>
        <p:spPr>
          <a:xfrm flipV="1">
            <a:off x="2883960" y="5005440"/>
            <a:ext cx="43920" cy="17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218"/>
          <p:cNvSpPr/>
          <p:nvPr/>
        </p:nvSpPr>
        <p:spPr>
          <a:xfrm flipV="1">
            <a:off x="2927880" y="4987080"/>
            <a:ext cx="43920" cy="18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219"/>
          <p:cNvSpPr/>
          <p:nvPr/>
        </p:nvSpPr>
        <p:spPr>
          <a:xfrm flipV="1">
            <a:off x="2971800" y="4968000"/>
            <a:ext cx="43560" cy="19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220"/>
          <p:cNvSpPr/>
          <p:nvPr/>
        </p:nvSpPr>
        <p:spPr>
          <a:xfrm flipV="1">
            <a:off x="3015360" y="4948200"/>
            <a:ext cx="43920" cy="19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221"/>
          <p:cNvSpPr/>
          <p:nvPr/>
        </p:nvSpPr>
        <p:spPr>
          <a:xfrm flipV="1">
            <a:off x="3059280" y="4927680"/>
            <a:ext cx="43920" cy="20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222"/>
          <p:cNvSpPr/>
          <p:nvPr/>
        </p:nvSpPr>
        <p:spPr>
          <a:xfrm flipV="1">
            <a:off x="3103200" y="4906800"/>
            <a:ext cx="43920" cy="20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223"/>
          <p:cNvSpPr/>
          <p:nvPr/>
        </p:nvSpPr>
        <p:spPr>
          <a:xfrm flipV="1">
            <a:off x="3147120" y="4885200"/>
            <a:ext cx="43920" cy="21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224"/>
          <p:cNvSpPr/>
          <p:nvPr/>
        </p:nvSpPr>
        <p:spPr>
          <a:xfrm flipV="1">
            <a:off x="3191040" y="4863240"/>
            <a:ext cx="43920" cy="219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225"/>
          <p:cNvSpPr/>
          <p:nvPr/>
        </p:nvSpPr>
        <p:spPr>
          <a:xfrm flipV="1">
            <a:off x="3234960" y="4840920"/>
            <a:ext cx="4392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226"/>
          <p:cNvSpPr/>
          <p:nvPr/>
        </p:nvSpPr>
        <p:spPr>
          <a:xfrm flipV="1">
            <a:off x="3278880" y="4818600"/>
            <a:ext cx="4392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227"/>
          <p:cNvSpPr/>
          <p:nvPr/>
        </p:nvSpPr>
        <p:spPr>
          <a:xfrm flipV="1">
            <a:off x="3322800" y="4796280"/>
            <a:ext cx="4392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228"/>
          <p:cNvSpPr/>
          <p:nvPr/>
        </p:nvSpPr>
        <p:spPr>
          <a:xfrm flipV="1">
            <a:off x="3366720" y="4773600"/>
            <a:ext cx="43920" cy="22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229"/>
          <p:cNvSpPr/>
          <p:nvPr/>
        </p:nvSpPr>
        <p:spPr>
          <a:xfrm flipV="1">
            <a:off x="3410640" y="4751280"/>
            <a:ext cx="4392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30"/>
          <p:cNvSpPr/>
          <p:nvPr/>
        </p:nvSpPr>
        <p:spPr>
          <a:xfrm flipV="1">
            <a:off x="3454560" y="4729680"/>
            <a:ext cx="43920" cy="21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31"/>
          <p:cNvSpPr/>
          <p:nvPr/>
        </p:nvSpPr>
        <p:spPr>
          <a:xfrm flipV="1">
            <a:off x="3498480" y="4708440"/>
            <a:ext cx="43560" cy="21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232"/>
          <p:cNvSpPr/>
          <p:nvPr/>
        </p:nvSpPr>
        <p:spPr>
          <a:xfrm flipV="1">
            <a:off x="3542040" y="4687920"/>
            <a:ext cx="43920" cy="20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33"/>
          <p:cNvSpPr/>
          <p:nvPr/>
        </p:nvSpPr>
        <p:spPr>
          <a:xfrm flipV="1">
            <a:off x="3585960" y="4668120"/>
            <a:ext cx="43920" cy="19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234"/>
          <p:cNvSpPr/>
          <p:nvPr/>
        </p:nvSpPr>
        <p:spPr>
          <a:xfrm flipV="1">
            <a:off x="3629880" y="4649760"/>
            <a:ext cx="43920" cy="18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35"/>
          <p:cNvSpPr/>
          <p:nvPr/>
        </p:nvSpPr>
        <p:spPr>
          <a:xfrm flipV="1">
            <a:off x="3673800" y="4632840"/>
            <a:ext cx="43920" cy="16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36"/>
          <p:cNvSpPr/>
          <p:nvPr/>
        </p:nvSpPr>
        <p:spPr>
          <a:xfrm flipV="1">
            <a:off x="3717720" y="4617000"/>
            <a:ext cx="43920" cy="15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37"/>
          <p:cNvSpPr/>
          <p:nvPr/>
        </p:nvSpPr>
        <p:spPr>
          <a:xfrm flipV="1">
            <a:off x="3761640" y="4603320"/>
            <a:ext cx="43920" cy="13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38"/>
          <p:cNvSpPr/>
          <p:nvPr/>
        </p:nvSpPr>
        <p:spPr>
          <a:xfrm flipV="1">
            <a:off x="3805560" y="4591080"/>
            <a:ext cx="43920" cy="12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239"/>
          <p:cNvSpPr/>
          <p:nvPr/>
        </p:nvSpPr>
        <p:spPr>
          <a:xfrm flipV="1">
            <a:off x="3849480" y="4581000"/>
            <a:ext cx="43920" cy="10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240"/>
          <p:cNvSpPr/>
          <p:nvPr/>
        </p:nvSpPr>
        <p:spPr>
          <a:xfrm flipV="1">
            <a:off x="3893400" y="4573080"/>
            <a:ext cx="43920" cy="7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241"/>
          <p:cNvSpPr/>
          <p:nvPr/>
        </p:nvSpPr>
        <p:spPr>
          <a:xfrm flipV="1">
            <a:off x="3937320" y="4567320"/>
            <a:ext cx="43920" cy="5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242"/>
          <p:cNvSpPr/>
          <p:nvPr/>
        </p:nvSpPr>
        <p:spPr>
          <a:xfrm flipV="1">
            <a:off x="3981240" y="4563720"/>
            <a:ext cx="43920" cy="3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43"/>
          <p:cNvSpPr/>
          <p:nvPr/>
        </p:nvSpPr>
        <p:spPr>
          <a:xfrm flipV="1">
            <a:off x="4025160" y="456264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244"/>
          <p:cNvSpPr/>
          <p:nvPr/>
        </p:nvSpPr>
        <p:spPr>
          <a:xfrm>
            <a:off x="4069080" y="4562640"/>
            <a:ext cx="4356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245"/>
          <p:cNvSpPr/>
          <p:nvPr/>
        </p:nvSpPr>
        <p:spPr>
          <a:xfrm>
            <a:off x="4112640" y="4563720"/>
            <a:ext cx="43920" cy="3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246"/>
          <p:cNvSpPr/>
          <p:nvPr/>
        </p:nvSpPr>
        <p:spPr>
          <a:xfrm>
            <a:off x="4156560" y="4567320"/>
            <a:ext cx="43920" cy="5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247"/>
          <p:cNvSpPr/>
          <p:nvPr/>
        </p:nvSpPr>
        <p:spPr>
          <a:xfrm>
            <a:off x="4200480" y="4573080"/>
            <a:ext cx="43920" cy="7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248"/>
          <p:cNvSpPr/>
          <p:nvPr/>
        </p:nvSpPr>
        <p:spPr>
          <a:xfrm>
            <a:off x="4244400" y="4581000"/>
            <a:ext cx="43920" cy="10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49"/>
          <p:cNvSpPr/>
          <p:nvPr/>
        </p:nvSpPr>
        <p:spPr>
          <a:xfrm>
            <a:off x="4288320" y="4591080"/>
            <a:ext cx="43920" cy="12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250"/>
          <p:cNvSpPr/>
          <p:nvPr/>
        </p:nvSpPr>
        <p:spPr>
          <a:xfrm>
            <a:off x="4332240" y="4603320"/>
            <a:ext cx="43920" cy="13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251"/>
          <p:cNvSpPr/>
          <p:nvPr/>
        </p:nvSpPr>
        <p:spPr>
          <a:xfrm>
            <a:off x="4376160" y="4617000"/>
            <a:ext cx="43920" cy="15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252"/>
          <p:cNvSpPr/>
          <p:nvPr/>
        </p:nvSpPr>
        <p:spPr>
          <a:xfrm>
            <a:off x="4420080" y="4632840"/>
            <a:ext cx="43920" cy="16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253"/>
          <p:cNvSpPr/>
          <p:nvPr/>
        </p:nvSpPr>
        <p:spPr>
          <a:xfrm>
            <a:off x="4464000" y="4649760"/>
            <a:ext cx="43920" cy="18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254"/>
          <p:cNvSpPr/>
          <p:nvPr/>
        </p:nvSpPr>
        <p:spPr>
          <a:xfrm>
            <a:off x="4507920" y="4668120"/>
            <a:ext cx="43920" cy="19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255"/>
          <p:cNvSpPr/>
          <p:nvPr/>
        </p:nvSpPr>
        <p:spPr>
          <a:xfrm>
            <a:off x="4551840" y="4687920"/>
            <a:ext cx="43920" cy="20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256"/>
          <p:cNvSpPr/>
          <p:nvPr/>
        </p:nvSpPr>
        <p:spPr>
          <a:xfrm>
            <a:off x="4595760" y="4708440"/>
            <a:ext cx="43560" cy="21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257"/>
          <p:cNvSpPr/>
          <p:nvPr/>
        </p:nvSpPr>
        <p:spPr>
          <a:xfrm>
            <a:off x="4639320" y="4729680"/>
            <a:ext cx="43920" cy="21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258"/>
          <p:cNvSpPr/>
          <p:nvPr/>
        </p:nvSpPr>
        <p:spPr>
          <a:xfrm>
            <a:off x="4683240" y="4751280"/>
            <a:ext cx="4392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259"/>
          <p:cNvSpPr/>
          <p:nvPr/>
        </p:nvSpPr>
        <p:spPr>
          <a:xfrm>
            <a:off x="4727160" y="4773600"/>
            <a:ext cx="43920" cy="22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260"/>
          <p:cNvSpPr/>
          <p:nvPr/>
        </p:nvSpPr>
        <p:spPr>
          <a:xfrm>
            <a:off x="4771080" y="4796280"/>
            <a:ext cx="4392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261"/>
          <p:cNvSpPr/>
          <p:nvPr/>
        </p:nvSpPr>
        <p:spPr>
          <a:xfrm>
            <a:off x="4815000" y="4818600"/>
            <a:ext cx="4392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262"/>
          <p:cNvSpPr/>
          <p:nvPr/>
        </p:nvSpPr>
        <p:spPr>
          <a:xfrm>
            <a:off x="4858920" y="4840920"/>
            <a:ext cx="4392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263"/>
          <p:cNvSpPr/>
          <p:nvPr/>
        </p:nvSpPr>
        <p:spPr>
          <a:xfrm>
            <a:off x="4902840" y="4863240"/>
            <a:ext cx="43920" cy="219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264"/>
          <p:cNvSpPr/>
          <p:nvPr/>
        </p:nvSpPr>
        <p:spPr>
          <a:xfrm>
            <a:off x="4946760" y="4885200"/>
            <a:ext cx="43920" cy="21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265"/>
          <p:cNvSpPr/>
          <p:nvPr/>
        </p:nvSpPr>
        <p:spPr>
          <a:xfrm>
            <a:off x="4990680" y="4906800"/>
            <a:ext cx="43920" cy="20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266"/>
          <p:cNvSpPr/>
          <p:nvPr/>
        </p:nvSpPr>
        <p:spPr>
          <a:xfrm>
            <a:off x="5034600" y="4927680"/>
            <a:ext cx="43920" cy="20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267"/>
          <p:cNvSpPr/>
          <p:nvPr/>
        </p:nvSpPr>
        <p:spPr>
          <a:xfrm>
            <a:off x="5078520" y="4948200"/>
            <a:ext cx="43920" cy="19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268"/>
          <p:cNvSpPr/>
          <p:nvPr/>
        </p:nvSpPr>
        <p:spPr>
          <a:xfrm>
            <a:off x="5122440" y="4968000"/>
            <a:ext cx="43920" cy="19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269"/>
          <p:cNvSpPr/>
          <p:nvPr/>
        </p:nvSpPr>
        <p:spPr>
          <a:xfrm>
            <a:off x="5166360" y="4987080"/>
            <a:ext cx="43560" cy="18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270"/>
          <p:cNvSpPr/>
          <p:nvPr/>
        </p:nvSpPr>
        <p:spPr>
          <a:xfrm>
            <a:off x="5209920" y="5005440"/>
            <a:ext cx="43920" cy="17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271"/>
          <p:cNvSpPr/>
          <p:nvPr/>
        </p:nvSpPr>
        <p:spPr>
          <a:xfrm>
            <a:off x="5253840" y="5023080"/>
            <a:ext cx="43920" cy="16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272"/>
          <p:cNvSpPr/>
          <p:nvPr/>
        </p:nvSpPr>
        <p:spPr>
          <a:xfrm>
            <a:off x="5297760" y="5039640"/>
            <a:ext cx="43920" cy="16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273"/>
          <p:cNvSpPr/>
          <p:nvPr/>
        </p:nvSpPr>
        <p:spPr>
          <a:xfrm>
            <a:off x="5341680" y="5055840"/>
            <a:ext cx="43920" cy="15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274"/>
          <p:cNvSpPr/>
          <p:nvPr/>
        </p:nvSpPr>
        <p:spPr>
          <a:xfrm>
            <a:off x="5385600" y="5070960"/>
            <a:ext cx="43920" cy="14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275"/>
          <p:cNvSpPr/>
          <p:nvPr/>
        </p:nvSpPr>
        <p:spPr>
          <a:xfrm>
            <a:off x="5429520" y="5085720"/>
            <a:ext cx="43920" cy="13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276"/>
          <p:cNvSpPr/>
          <p:nvPr/>
        </p:nvSpPr>
        <p:spPr>
          <a:xfrm>
            <a:off x="5473440" y="5099400"/>
            <a:ext cx="43920" cy="129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277"/>
          <p:cNvSpPr/>
          <p:nvPr/>
        </p:nvSpPr>
        <p:spPr>
          <a:xfrm>
            <a:off x="5517360" y="5112360"/>
            <a:ext cx="43920" cy="12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278"/>
          <p:cNvSpPr/>
          <p:nvPr/>
        </p:nvSpPr>
        <p:spPr>
          <a:xfrm>
            <a:off x="5561280" y="5124600"/>
            <a:ext cx="43920" cy="11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279"/>
          <p:cNvSpPr/>
          <p:nvPr/>
        </p:nvSpPr>
        <p:spPr>
          <a:xfrm>
            <a:off x="5605200" y="5136120"/>
            <a:ext cx="43920" cy="10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280"/>
          <p:cNvSpPr/>
          <p:nvPr/>
        </p:nvSpPr>
        <p:spPr>
          <a:xfrm>
            <a:off x="5649120" y="5146920"/>
            <a:ext cx="43920" cy="10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281"/>
          <p:cNvSpPr/>
          <p:nvPr/>
        </p:nvSpPr>
        <p:spPr>
          <a:xfrm>
            <a:off x="5693040" y="5157000"/>
            <a:ext cx="43560" cy="9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282"/>
          <p:cNvSpPr/>
          <p:nvPr/>
        </p:nvSpPr>
        <p:spPr>
          <a:xfrm>
            <a:off x="5736600" y="5166720"/>
            <a:ext cx="43920" cy="9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283"/>
          <p:cNvSpPr/>
          <p:nvPr/>
        </p:nvSpPr>
        <p:spPr>
          <a:xfrm>
            <a:off x="5780520" y="5175720"/>
            <a:ext cx="43920" cy="8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284"/>
          <p:cNvSpPr/>
          <p:nvPr/>
        </p:nvSpPr>
        <p:spPr>
          <a:xfrm>
            <a:off x="5824440" y="5184000"/>
            <a:ext cx="43920" cy="7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285"/>
          <p:cNvSpPr/>
          <p:nvPr/>
        </p:nvSpPr>
        <p:spPr>
          <a:xfrm>
            <a:off x="5868360" y="5191920"/>
            <a:ext cx="43920" cy="7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86"/>
          <p:cNvSpPr/>
          <p:nvPr/>
        </p:nvSpPr>
        <p:spPr>
          <a:xfrm>
            <a:off x="5912280" y="5199120"/>
            <a:ext cx="43920" cy="6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287"/>
          <p:cNvSpPr/>
          <p:nvPr/>
        </p:nvSpPr>
        <p:spPr>
          <a:xfrm>
            <a:off x="5956200" y="5205960"/>
            <a:ext cx="43920" cy="64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288"/>
          <p:cNvSpPr/>
          <p:nvPr/>
        </p:nvSpPr>
        <p:spPr>
          <a:xfrm>
            <a:off x="6000120" y="5212440"/>
            <a:ext cx="43920" cy="6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289"/>
          <p:cNvSpPr/>
          <p:nvPr/>
        </p:nvSpPr>
        <p:spPr>
          <a:xfrm>
            <a:off x="6044040" y="5218560"/>
            <a:ext cx="43920" cy="54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290"/>
          <p:cNvSpPr/>
          <p:nvPr/>
        </p:nvSpPr>
        <p:spPr>
          <a:xfrm>
            <a:off x="6087960" y="5223960"/>
            <a:ext cx="43920" cy="5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291"/>
          <p:cNvSpPr/>
          <p:nvPr/>
        </p:nvSpPr>
        <p:spPr>
          <a:xfrm>
            <a:off x="6131880" y="5229000"/>
            <a:ext cx="43920" cy="5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292"/>
          <p:cNvSpPr/>
          <p:nvPr/>
        </p:nvSpPr>
        <p:spPr>
          <a:xfrm>
            <a:off x="6175800" y="5234040"/>
            <a:ext cx="43920" cy="4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293"/>
          <p:cNvSpPr/>
          <p:nvPr/>
        </p:nvSpPr>
        <p:spPr>
          <a:xfrm>
            <a:off x="6219720" y="5238360"/>
            <a:ext cx="43920" cy="4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294"/>
          <p:cNvSpPr/>
          <p:nvPr/>
        </p:nvSpPr>
        <p:spPr>
          <a:xfrm>
            <a:off x="6263640" y="5242680"/>
            <a:ext cx="43560" cy="3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295"/>
          <p:cNvSpPr/>
          <p:nvPr/>
        </p:nvSpPr>
        <p:spPr>
          <a:xfrm>
            <a:off x="6307200" y="5246280"/>
            <a:ext cx="43920" cy="3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296"/>
          <p:cNvSpPr/>
          <p:nvPr/>
        </p:nvSpPr>
        <p:spPr>
          <a:xfrm>
            <a:off x="6351120" y="5249880"/>
            <a:ext cx="43920" cy="3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297"/>
          <p:cNvSpPr/>
          <p:nvPr/>
        </p:nvSpPr>
        <p:spPr>
          <a:xfrm>
            <a:off x="6395040" y="5253120"/>
            <a:ext cx="43920" cy="3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298"/>
          <p:cNvSpPr/>
          <p:nvPr/>
        </p:nvSpPr>
        <p:spPr>
          <a:xfrm>
            <a:off x="6438960" y="5256360"/>
            <a:ext cx="43920" cy="2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299"/>
          <p:cNvSpPr/>
          <p:nvPr/>
        </p:nvSpPr>
        <p:spPr>
          <a:xfrm>
            <a:off x="6482880" y="5259240"/>
            <a:ext cx="43920" cy="2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300"/>
          <p:cNvSpPr/>
          <p:nvPr/>
        </p:nvSpPr>
        <p:spPr>
          <a:xfrm>
            <a:off x="6526800" y="5261760"/>
            <a:ext cx="43920" cy="2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01"/>
          <p:cNvSpPr/>
          <p:nvPr/>
        </p:nvSpPr>
        <p:spPr>
          <a:xfrm>
            <a:off x="6570720" y="5264280"/>
            <a:ext cx="43920" cy="2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302"/>
          <p:cNvSpPr/>
          <p:nvPr/>
        </p:nvSpPr>
        <p:spPr>
          <a:xfrm>
            <a:off x="6614640" y="5266440"/>
            <a:ext cx="43920" cy="2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303"/>
          <p:cNvSpPr/>
          <p:nvPr/>
        </p:nvSpPr>
        <p:spPr>
          <a:xfrm>
            <a:off x="6658560" y="5268600"/>
            <a:ext cx="43920" cy="1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304"/>
          <p:cNvSpPr/>
          <p:nvPr/>
        </p:nvSpPr>
        <p:spPr>
          <a:xfrm>
            <a:off x="6702480" y="5270400"/>
            <a:ext cx="43920" cy="1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305"/>
          <p:cNvSpPr/>
          <p:nvPr/>
        </p:nvSpPr>
        <p:spPr>
          <a:xfrm>
            <a:off x="6746400" y="5272200"/>
            <a:ext cx="43920" cy="1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306"/>
          <p:cNvSpPr/>
          <p:nvPr/>
        </p:nvSpPr>
        <p:spPr>
          <a:xfrm>
            <a:off x="6790320" y="5274000"/>
            <a:ext cx="43560" cy="1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307"/>
          <p:cNvSpPr/>
          <p:nvPr/>
        </p:nvSpPr>
        <p:spPr>
          <a:xfrm>
            <a:off x="6833880" y="5275440"/>
            <a:ext cx="43920" cy="1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308"/>
          <p:cNvSpPr/>
          <p:nvPr/>
        </p:nvSpPr>
        <p:spPr>
          <a:xfrm>
            <a:off x="6877800" y="5276880"/>
            <a:ext cx="43920" cy="1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309"/>
          <p:cNvSpPr/>
          <p:nvPr/>
        </p:nvSpPr>
        <p:spPr>
          <a:xfrm>
            <a:off x="6921720" y="527832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310"/>
          <p:cNvSpPr/>
          <p:nvPr/>
        </p:nvSpPr>
        <p:spPr>
          <a:xfrm>
            <a:off x="6965640" y="527940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311"/>
          <p:cNvSpPr/>
          <p:nvPr/>
        </p:nvSpPr>
        <p:spPr>
          <a:xfrm>
            <a:off x="7009560" y="528048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312"/>
          <p:cNvSpPr/>
          <p:nvPr/>
        </p:nvSpPr>
        <p:spPr>
          <a:xfrm>
            <a:off x="7053480" y="528156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313"/>
          <p:cNvSpPr/>
          <p:nvPr/>
        </p:nvSpPr>
        <p:spPr>
          <a:xfrm>
            <a:off x="7097400" y="5282640"/>
            <a:ext cx="4392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314"/>
          <p:cNvSpPr/>
          <p:nvPr/>
        </p:nvSpPr>
        <p:spPr>
          <a:xfrm>
            <a:off x="7141320" y="5283360"/>
            <a:ext cx="4392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315"/>
          <p:cNvSpPr/>
          <p:nvPr/>
        </p:nvSpPr>
        <p:spPr>
          <a:xfrm>
            <a:off x="7185240" y="5284440"/>
            <a:ext cx="4392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316"/>
          <p:cNvSpPr/>
          <p:nvPr/>
        </p:nvSpPr>
        <p:spPr>
          <a:xfrm>
            <a:off x="7229160" y="5285160"/>
            <a:ext cx="4392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317"/>
          <p:cNvSpPr/>
          <p:nvPr/>
        </p:nvSpPr>
        <p:spPr>
          <a:xfrm>
            <a:off x="7273080" y="5285880"/>
            <a:ext cx="43920" cy="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318"/>
          <p:cNvSpPr/>
          <p:nvPr/>
        </p:nvSpPr>
        <p:spPr>
          <a:xfrm>
            <a:off x="7317000" y="5286240"/>
            <a:ext cx="4392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319"/>
          <p:cNvSpPr/>
          <p:nvPr/>
        </p:nvSpPr>
        <p:spPr>
          <a:xfrm>
            <a:off x="996840" y="22219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σ(x)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320"/>
          <p:cNvSpPr/>
          <p:nvPr/>
        </p:nvSpPr>
        <p:spPr>
          <a:xfrm>
            <a:off x="4288680" y="418248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σ′(x)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321"/>
          <p:cNvSpPr/>
          <p:nvPr/>
        </p:nvSpPr>
        <p:spPr>
          <a:xfrm>
            <a:off x="887040" y="3831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max 0.25 at x = 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322"/>
          <p:cNvSpPr/>
          <p:nvPr/>
        </p:nvSpPr>
        <p:spPr>
          <a:xfrm>
            <a:off x="5824800" y="47678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tails ≈ 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323"/>
          <p:cNvSpPr/>
          <p:nvPr/>
        </p:nvSpPr>
        <p:spPr>
          <a:xfrm>
            <a:off x="887040" y="49431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vanishing gradient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324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325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Steep in the middle, flat at the ends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σ′(x) = σ(x)(1 − σ(x)), a small bell shape with maximum 0.25.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For very large or very small x the slope is almost zero, so learning stalls: the vanishing-gradient problem.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This is one reason ReLU became popular.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Derivative of the Sigmoid, by Hand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σ(x) = (1 + e⁻ˣ)⁻¹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Chain rule (power, then inside):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σ′ = −(1 + e⁻ˣ)⁻² · (−e⁻ˣ)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= e⁻ˣ / (1 + e⁻ˣ)²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Note 1 − σ = e⁻ˣ / (1 + e⁻ˣ), so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σ′ = σ · (1 − σ)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x = 0:  0.5 · 0.5 = 0.25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sig(z):  return 1 / (1 + np.exp(-z))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dsig(z): return sig(z) * (1 - sig(z))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for z in (0, 2, 5):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print(z, round(dsig(z), 4))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0 0.25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2 0.105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5 0.0066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gradient almost gone at z =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ReLU vs. Sigmoid: The Derivative Story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Sigmoid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Slope at most 0.25, nearly 0 at the tails.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Many layers multiply small numbers → vanishing gradients.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Still useful for probability outputs.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ReLU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Slope is exactly 0 or 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Gradients flow undiminished where it is active.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Cheap to compute; the modern default in hidden layers.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Downside: neurons stuck at 0 can “die”.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4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Special Functions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f(x) = 3eˣ + ln x.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f(x) = x² · eˣ with the product rule.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σ′(0) and σ′(3) using σ′ = σ(1 − σ).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a small σ′ a problem for deep networks?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verify d/dx [ x · ln x ] at x = 2 numerically.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Chain Rule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Derivatives of functions inside functions — the engine of backpropagation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Chain Rule: Rates Multiply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⛓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If y reacts to u and u reacts to x, multiply the reactions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Gears analogy: if y turns 5× per turn of u, and u turns 3× per turn of x, then y turns 15× per turn of x.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y = f(g(x)): dy/dx = f′(g(x)) · g′(x).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the outside, keep the inside, then multiply by the derivative of the inside.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Neural networks are long chains of functions — this rule is how they learn.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Chain Rule Formula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the inner function u, the outer function 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Multiply the two small derivatives.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Longer chains just multiply more links.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y = f(u),  u = g(x)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dy/dx = (dy/du) · (du/dx)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longer chain: y(u(v(x)))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dy/dx = (dy/du)·(du/dv)·(dv/dx)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recipe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1. split into inside u and outside 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2. differentiate each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3. multiply, then substitute u back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Chain Rule Worked: (3x + 2)⁵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y = (3x + 2)⁵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Inside:  u = 3x + 2     du/dx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Outside: y = u⁵         dy/du = 5u⁴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dy/dx = 5u⁴ ·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= 15(3x + 2)⁴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x = 0:  15 · 2⁴ = 240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Common mistake: forgetting the × 3.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y = (3*x + 2) **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print(sp.diff(y, x))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15*(3*x + 2)**4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print(sp.diff(y, x).subs(x, 0))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240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lambda v: (3*v + 2) **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print((f(0.00001) - f(0)) / 1e-5)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≈ 240.01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Chain Rule Worked: e^(−x²)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y = e^(−x²)   (a bell-curve shape)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Inside:  u = −x²      du/dx = −2x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Outside: y = eᵘ       dy/du = eᵘ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dy/dx = eᵘ · (−2x)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= −2x · e^(−x²)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x = 1: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−2 · e⁻¹ ≈ −0.7358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Slope is negative: curve is falling.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print(sp.diff(sp.exp(-x**2), x))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-2*x*exp(-x**2)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df = lambda v: -2*v*np.exp(-v**2)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print(round(df(1), 4))   # -0.7358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lambda v: np.exp(-v**2)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print((f(1.00001) - f(1)) / 1e-5)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≈ -0.7358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Chain Rule as a Graph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4"/>
          <p:cNvSpPr/>
          <p:nvPr/>
        </p:nvSpPr>
        <p:spPr>
          <a:xfrm>
            <a:off x="822960" y="2194560"/>
            <a:ext cx="1645560" cy="1005480"/>
          </a:xfrm>
          <a:prstGeom prst="roundRect">
            <a:avLst>
              <a:gd name="adj" fmla="val 1090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5"/>
          <p:cNvSpPr/>
          <p:nvPr/>
        </p:nvSpPr>
        <p:spPr>
          <a:xfrm>
            <a:off x="822960" y="2194560"/>
            <a:ext cx="1645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Hanken Grotesk"/>
                <a:ea typeface="Hanken Grotesk"/>
              </a:rPr>
              <a:t>input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6"/>
          <p:cNvSpPr/>
          <p:nvPr/>
        </p:nvSpPr>
        <p:spPr>
          <a:xfrm>
            <a:off x="3017520" y="2194560"/>
            <a:ext cx="1645560" cy="1005480"/>
          </a:xfrm>
          <a:prstGeom prst="roundRect">
            <a:avLst>
              <a:gd name="adj" fmla="val 10909"/>
            </a:avLst>
          </a:prstGeom>
          <a:solidFill>
            <a:srgbClr val="FFC94A"/>
          </a:solidFill>
          <a:ln w="12700">
            <a:solidFill>
              <a:srgbClr val="FFC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7"/>
          <p:cNvSpPr/>
          <p:nvPr/>
        </p:nvSpPr>
        <p:spPr>
          <a:xfrm>
            <a:off x="3017520" y="2194560"/>
            <a:ext cx="1645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 = 3x + 2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inside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8"/>
          <p:cNvSpPr/>
          <p:nvPr/>
        </p:nvSpPr>
        <p:spPr>
          <a:xfrm>
            <a:off x="5212080" y="2194560"/>
            <a:ext cx="1645560" cy="100548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9"/>
          <p:cNvSpPr/>
          <p:nvPr/>
        </p:nvSpPr>
        <p:spPr>
          <a:xfrm>
            <a:off x="5212080" y="2194560"/>
            <a:ext cx="1645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2019"/>
                </a:solidFill>
                <a:effectLst/>
                <a:uFillTx/>
                <a:latin typeface="Cantarell"/>
                <a:ea typeface="Cantarell"/>
              </a:rPr>
              <a:t>y = u⁵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outside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10"/>
          <p:cNvSpPr/>
          <p:nvPr/>
        </p:nvSpPr>
        <p:spPr>
          <a:xfrm>
            <a:off x="2486880" y="2697480"/>
            <a:ext cx="512280" cy="360"/>
          </a:xfrm>
          <a:prstGeom prst="line">
            <a:avLst/>
          </a:prstGeom>
          <a:ln w="31750">
            <a:solidFill>
              <a:srgbClr val="47465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11"/>
          <p:cNvSpPr/>
          <p:nvPr/>
        </p:nvSpPr>
        <p:spPr>
          <a:xfrm>
            <a:off x="4681440" y="2697480"/>
            <a:ext cx="512280" cy="360"/>
          </a:xfrm>
          <a:prstGeom prst="line">
            <a:avLst/>
          </a:prstGeom>
          <a:ln w="31750">
            <a:solidFill>
              <a:srgbClr val="47465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12"/>
          <p:cNvSpPr/>
          <p:nvPr/>
        </p:nvSpPr>
        <p:spPr>
          <a:xfrm>
            <a:off x="2194560" y="32918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du/dx =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13"/>
          <p:cNvSpPr/>
          <p:nvPr/>
        </p:nvSpPr>
        <p:spPr>
          <a:xfrm>
            <a:off x="4343400" y="32918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dy/du = 5u⁴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14"/>
          <p:cNvSpPr/>
          <p:nvPr/>
        </p:nvSpPr>
        <p:spPr>
          <a:xfrm>
            <a:off x="1188720" y="4023360"/>
            <a:ext cx="5760360" cy="1005480"/>
          </a:xfrm>
          <a:prstGeom prst="roundRect">
            <a:avLst>
              <a:gd name="adj" fmla="val 10909"/>
            </a:avLst>
          </a:prstGeom>
          <a:solidFill>
            <a:srgbClr val="ECEBFB"/>
          </a:solidFill>
          <a:ln w="12700">
            <a:solidFill>
              <a:srgbClr val="ECEB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15"/>
          <p:cNvSpPr/>
          <p:nvPr/>
        </p:nvSpPr>
        <p:spPr>
          <a:xfrm>
            <a:off x="1188720" y="4023360"/>
            <a:ext cx="5760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dy/dx = 3 × 5u⁴ = 15(3x + 2)⁴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6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17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Multiply along the links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Each arrow carries a local derivative.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total derivative is the product along the path.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Backpropagation is exactly this, on a graph with millions of links.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One Neuron: Chain Rule on a Loss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x = 2, w = 0.5, b = 0, target t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z = wx + b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= σ(z) = 0.7311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 = (a − t)² = 0.0723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dL/da = 2(a − t) = −0.5379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da/dz = σ′(z) = 0.1966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dz/dw = x =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dL/dw = −0.5379 × 0.1966 × 2 ≈ −0.2115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sig = lambda z: 1 / (1 + np.exp(-z))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w, b, t = 2.0, 0.5, 0.0, 1.0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z = w*x + b;  a = sig(z)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dL_da = 2*(a - t)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da_dz = a*(1 - a)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dz_dw = 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print(dL_da * da_dz * dz_dw)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-0.2115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 = lambda w: (sig(w*x + b) - t)**2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print((L(w+1e-6) - L(w-1e-6)) / 2e-6)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-0.2115  ✓ same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Backpropagation Preview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4"/>
          <p:cNvSpPr/>
          <p:nvPr/>
        </p:nvSpPr>
        <p:spPr>
          <a:xfrm>
            <a:off x="777240" y="2011680"/>
            <a:ext cx="1416960" cy="822600"/>
          </a:xfrm>
          <a:prstGeom prst="roundRect">
            <a:avLst>
              <a:gd name="adj" fmla="val 13333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5"/>
          <p:cNvSpPr/>
          <p:nvPr/>
        </p:nvSpPr>
        <p:spPr>
          <a:xfrm>
            <a:off x="777240" y="2011680"/>
            <a:ext cx="1416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w, 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6"/>
          <p:cNvSpPr/>
          <p:nvPr/>
        </p:nvSpPr>
        <p:spPr>
          <a:xfrm>
            <a:off x="2212560" y="2423160"/>
            <a:ext cx="375120" cy="360"/>
          </a:xfrm>
          <a:prstGeom prst="line">
            <a:avLst/>
          </a:prstGeom>
          <a:ln w="25400">
            <a:solidFill>
              <a:srgbClr val="47465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7"/>
          <p:cNvSpPr/>
          <p:nvPr/>
        </p:nvSpPr>
        <p:spPr>
          <a:xfrm>
            <a:off x="2606040" y="2011680"/>
            <a:ext cx="1416960" cy="822600"/>
          </a:xfrm>
          <a:prstGeom prst="roundRect">
            <a:avLst>
              <a:gd name="adj" fmla="val 13333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8"/>
          <p:cNvSpPr/>
          <p:nvPr/>
        </p:nvSpPr>
        <p:spPr>
          <a:xfrm>
            <a:off x="2606040" y="2011680"/>
            <a:ext cx="1416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Cantarell"/>
                <a:ea typeface="Cantarell"/>
              </a:rPr>
              <a:t>z = wx +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9"/>
          <p:cNvSpPr/>
          <p:nvPr/>
        </p:nvSpPr>
        <p:spPr>
          <a:xfrm>
            <a:off x="4041360" y="2423160"/>
            <a:ext cx="375120" cy="360"/>
          </a:xfrm>
          <a:prstGeom prst="line">
            <a:avLst/>
          </a:prstGeom>
          <a:ln w="25400">
            <a:solidFill>
              <a:srgbClr val="47465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10"/>
          <p:cNvSpPr/>
          <p:nvPr/>
        </p:nvSpPr>
        <p:spPr>
          <a:xfrm>
            <a:off x="4434840" y="2011680"/>
            <a:ext cx="1416960" cy="822600"/>
          </a:xfrm>
          <a:prstGeom prst="roundRect">
            <a:avLst>
              <a:gd name="adj" fmla="val 13333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11"/>
          <p:cNvSpPr/>
          <p:nvPr/>
        </p:nvSpPr>
        <p:spPr>
          <a:xfrm>
            <a:off x="4434840" y="2011680"/>
            <a:ext cx="1416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Cantarell"/>
                <a:ea typeface="Cantarell"/>
              </a:rPr>
              <a:t>a = σ(z)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Shape 12"/>
          <p:cNvSpPr/>
          <p:nvPr/>
        </p:nvSpPr>
        <p:spPr>
          <a:xfrm>
            <a:off x="5870160" y="2423160"/>
            <a:ext cx="100800" cy="360"/>
          </a:xfrm>
          <a:prstGeom prst="line">
            <a:avLst/>
          </a:prstGeom>
          <a:ln w="25400">
            <a:solidFill>
              <a:srgbClr val="47465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13"/>
          <p:cNvSpPr/>
          <p:nvPr/>
        </p:nvSpPr>
        <p:spPr>
          <a:xfrm>
            <a:off x="5989320" y="2011680"/>
            <a:ext cx="1416960" cy="822600"/>
          </a:xfrm>
          <a:prstGeom prst="roundRect">
            <a:avLst>
              <a:gd name="adj" fmla="val 13333"/>
            </a:avLst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14"/>
          <p:cNvSpPr/>
          <p:nvPr/>
        </p:nvSpPr>
        <p:spPr>
          <a:xfrm>
            <a:off x="5989320" y="2011680"/>
            <a:ext cx="1416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L = (a − t)²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15"/>
          <p:cNvSpPr/>
          <p:nvPr/>
        </p:nvSpPr>
        <p:spPr>
          <a:xfrm>
            <a:off x="777240" y="292608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forward pass: compute the prediction and the loss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16"/>
          <p:cNvSpPr/>
          <p:nvPr/>
        </p:nvSpPr>
        <p:spPr>
          <a:xfrm flipH="1">
            <a:off x="5120640" y="3730680"/>
            <a:ext cx="1554480" cy="360"/>
          </a:xfrm>
          <a:prstGeom prst="line">
            <a:avLst/>
          </a:prstGeom>
          <a:ln w="31750">
            <a:solidFill>
              <a:srgbClr val="F43F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17"/>
          <p:cNvSpPr/>
          <p:nvPr/>
        </p:nvSpPr>
        <p:spPr>
          <a:xfrm>
            <a:off x="5120640" y="33832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∂L/∂a = 2(a − 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18"/>
          <p:cNvSpPr/>
          <p:nvPr/>
        </p:nvSpPr>
        <p:spPr>
          <a:xfrm flipH="1">
            <a:off x="3291840" y="4233600"/>
            <a:ext cx="1828800" cy="360"/>
          </a:xfrm>
          <a:prstGeom prst="line">
            <a:avLst/>
          </a:prstGeom>
          <a:ln w="31750">
            <a:solidFill>
              <a:srgbClr val="F43F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19"/>
          <p:cNvSpPr/>
          <p:nvPr/>
        </p:nvSpPr>
        <p:spPr>
          <a:xfrm>
            <a:off x="3291840" y="38862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∂a/∂z = σ′(z)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20"/>
          <p:cNvSpPr/>
          <p:nvPr/>
        </p:nvSpPr>
        <p:spPr>
          <a:xfrm flipH="1">
            <a:off x="1463040" y="4736520"/>
            <a:ext cx="1828800" cy="360"/>
          </a:xfrm>
          <a:prstGeom prst="line">
            <a:avLst/>
          </a:prstGeom>
          <a:ln w="31750">
            <a:solidFill>
              <a:srgbClr val="F43F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21"/>
          <p:cNvSpPr/>
          <p:nvPr/>
        </p:nvSpPr>
        <p:spPr>
          <a:xfrm>
            <a:off x="1463040" y="4389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∂z/∂w = 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 22"/>
          <p:cNvSpPr/>
          <p:nvPr/>
        </p:nvSpPr>
        <p:spPr>
          <a:xfrm>
            <a:off x="777240" y="521208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∂L/∂w = ∂L/∂a · ∂a/∂z · ∂z/∂w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23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24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Learning flows backwards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forward pass computes the loss.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backward pass multiplies local derivatives from the loss back to each weight.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That one product tells you how to nudge w. A deep net just has more links.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The Chain Rule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(2x − 1)⁴ by hand.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e^(3x) and sin(x²).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the one-neuron example, does the gradient −0.2115 say to increase or decrease w?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dL/dw for L = (σ(wx) − t)² as a product of three terms.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check your answer to question 1 with sympy.diff.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Finding Minima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Use the derivative to locate the lowest point — and learn when that is not enough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Critical Points: Where Slope Is Zero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Minima and maxima hide where f′(x) = 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critical point is any x where f′(x) = 0 — the tangent is flat.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second derivative f″ tells you which kind: f″ &gt; 0 → bowl (minimum), f″ &lt; 0 → hill (maximum).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f″ is the derivative of the derivative — it measures curvature.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Recipe: solve f′ = 0, then test with f″.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Find the Minimum of x² − 6x + 5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f(x) = x² − 6x + 5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1.  f′(x) = 2x − 6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2.  Solve 2x − 6 = 0  →  x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3.  f″(x) = 2 &gt; 0  →  a minimum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4.  Value: f(3) = 9 − 18 + 5 = −4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The lowest point is (3, −4).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Same idea as the loss (w − 3)².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x**2 - 6*x + 5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crit = sp.solve(sp.diff(f, x), 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print(crit)                   # [3]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print(sp.diff(f, x, 2))       #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print(f.subs(x, crit[0]))     # -4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f″ = 2 &gt; 0  → minimum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Not Just Solve f′ = 0 Every Time?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Works for small problems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Simple losses like (w − 3)² have a clean answer.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regression even has a closed-form solution.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Great for checking intuition.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Fails at ML scale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Real losses have millions of weights and no neat formula.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f′ = 0 becomes millions of tangled equations.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 we walk downhill step by step: gradient descent (next deck family).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9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Minima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critical point of f(x) = x² + 4x + 1 and classify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f(x) = −x² + 6x a hill or a bowl? Where is its top?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does f″(x) measure?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find the minimum of (w − 5)² + 2 with sympy.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Integrals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Adding up infinitely many tiny pieces — areas, totals and probabilities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an Integral?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area under a curve — accumulation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integral ∫ₐᵇ f(x) dx is the signed area between f and the x-axis from a to b.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adds up infinitely many thin slices — the opposite of slicing a rate.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Fundamental Theorem links the two halves of calculus: integrals undo derivatives.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ML you meet integrals mainly in probability.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Area as a Sum of Rectangles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4"/>
          <p:cNvSpPr/>
          <p:nvPr/>
        </p:nvSpPr>
        <p:spPr>
          <a:xfrm flipV="1">
            <a:off x="320040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5"/>
          <p:cNvSpPr/>
          <p:nvPr/>
        </p:nvSpPr>
        <p:spPr>
          <a:xfrm flipV="1">
            <a:off x="475488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6"/>
          <p:cNvSpPr/>
          <p:nvPr/>
        </p:nvSpPr>
        <p:spPr>
          <a:xfrm flipV="1">
            <a:off x="6309360" y="1783080"/>
            <a:ext cx="360" cy="4023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7"/>
          <p:cNvSpPr/>
          <p:nvPr/>
        </p:nvSpPr>
        <p:spPr>
          <a:xfrm>
            <a:off x="868680" y="580644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8"/>
          <p:cNvSpPr/>
          <p:nvPr/>
        </p:nvSpPr>
        <p:spPr>
          <a:xfrm>
            <a:off x="868680" y="507492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9"/>
          <p:cNvSpPr/>
          <p:nvPr/>
        </p:nvSpPr>
        <p:spPr>
          <a:xfrm>
            <a:off x="868680" y="470916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10"/>
          <p:cNvSpPr/>
          <p:nvPr/>
        </p:nvSpPr>
        <p:spPr>
          <a:xfrm>
            <a:off x="868680" y="434340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11"/>
          <p:cNvSpPr/>
          <p:nvPr/>
        </p:nvSpPr>
        <p:spPr>
          <a:xfrm>
            <a:off x="868680" y="397764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12"/>
          <p:cNvSpPr/>
          <p:nvPr/>
        </p:nvSpPr>
        <p:spPr>
          <a:xfrm>
            <a:off x="868680" y="361188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13"/>
          <p:cNvSpPr/>
          <p:nvPr/>
        </p:nvSpPr>
        <p:spPr>
          <a:xfrm>
            <a:off x="868680" y="324612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14"/>
          <p:cNvSpPr/>
          <p:nvPr/>
        </p:nvSpPr>
        <p:spPr>
          <a:xfrm>
            <a:off x="868680" y="288036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15"/>
          <p:cNvSpPr/>
          <p:nvPr/>
        </p:nvSpPr>
        <p:spPr>
          <a:xfrm>
            <a:off x="868680" y="251460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16"/>
          <p:cNvSpPr/>
          <p:nvPr/>
        </p:nvSpPr>
        <p:spPr>
          <a:xfrm>
            <a:off x="868680" y="214884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17"/>
          <p:cNvSpPr/>
          <p:nvPr/>
        </p:nvSpPr>
        <p:spPr>
          <a:xfrm>
            <a:off x="868680" y="1783080"/>
            <a:ext cx="62179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18"/>
          <p:cNvSpPr/>
          <p:nvPr/>
        </p:nvSpPr>
        <p:spPr>
          <a:xfrm flipV="1">
            <a:off x="1645920" y="1783080"/>
            <a:ext cx="360" cy="4023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19"/>
          <p:cNvSpPr/>
          <p:nvPr/>
        </p:nvSpPr>
        <p:spPr>
          <a:xfrm>
            <a:off x="868680" y="5440680"/>
            <a:ext cx="621792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20"/>
          <p:cNvSpPr/>
          <p:nvPr/>
        </p:nvSpPr>
        <p:spPr>
          <a:xfrm>
            <a:off x="2423160" y="5349240"/>
            <a:ext cx="776880" cy="91080"/>
          </a:xfrm>
          <a:prstGeom prst="rect">
            <a:avLst/>
          </a:prstGeom>
          <a:solidFill>
            <a:srgbClr val="D9D7F7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21"/>
          <p:cNvSpPr/>
          <p:nvPr/>
        </p:nvSpPr>
        <p:spPr>
          <a:xfrm>
            <a:off x="3200400" y="5074920"/>
            <a:ext cx="776880" cy="365400"/>
          </a:xfrm>
          <a:prstGeom prst="rect">
            <a:avLst/>
          </a:prstGeom>
          <a:solidFill>
            <a:srgbClr val="D9D7F7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22"/>
          <p:cNvSpPr/>
          <p:nvPr/>
        </p:nvSpPr>
        <p:spPr>
          <a:xfrm>
            <a:off x="3977640" y="4617720"/>
            <a:ext cx="776880" cy="822600"/>
          </a:xfrm>
          <a:prstGeom prst="rect">
            <a:avLst/>
          </a:prstGeom>
          <a:solidFill>
            <a:srgbClr val="D9D7F7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23"/>
          <p:cNvSpPr/>
          <p:nvPr/>
        </p:nvSpPr>
        <p:spPr>
          <a:xfrm>
            <a:off x="4754880" y="3977640"/>
            <a:ext cx="776880" cy="1462680"/>
          </a:xfrm>
          <a:prstGeom prst="rect">
            <a:avLst/>
          </a:prstGeom>
          <a:solidFill>
            <a:srgbClr val="D9D7F7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24"/>
          <p:cNvSpPr/>
          <p:nvPr/>
        </p:nvSpPr>
        <p:spPr>
          <a:xfrm>
            <a:off x="5532120" y="3154680"/>
            <a:ext cx="776880" cy="2285640"/>
          </a:xfrm>
          <a:prstGeom prst="rect">
            <a:avLst/>
          </a:prstGeom>
          <a:solidFill>
            <a:srgbClr val="D9D7F7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25"/>
          <p:cNvSpPr/>
          <p:nvPr/>
        </p:nvSpPr>
        <p:spPr>
          <a:xfrm>
            <a:off x="868680" y="5349240"/>
            <a:ext cx="61920" cy="14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26"/>
          <p:cNvSpPr/>
          <p:nvPr/>
        </p:nvSpPr>
        <p:spPr>
          <a:xfrm>
            <a:off x="930600" y="5363280"/>
            <a:ext cx="62280" cy="12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27"/>
          <p:cNvSpPr/>
          <p:nvPr/>
        </p:nvSpPr>
        <p:spPr>
          <a:xfrm>
            <a:off x="992880" y="5375880"/>
            <a:ext cx="62280" cy="11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28"/>
          <p:cNvSpPr/>
          <p:nvPr/>
        </p:nvSpPr>
        <p:spPr>
          <a:xfrm>
            <a:off x="1055160" y="5387760"/>
            <a:ext cx="61920" cy="10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Shape 29"/>
          <p:cNvSpPr/>
          <p:nvPr/>
        </p:nvSpPr>
        <p:spPr>
          <a:xfrm>
            <a:off x="1117080" y="5398200"/>
            <a:ext cx="62280" cy="9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30"/>
          <p:cNvSpPr/>
          <p:nvPr/>
        </p:nvSpPr>
        <p:spPr>
          <a:xfrm>
            <a:off x="1179360" y="5407560"/>
            <a:ext cx="62280" cy="8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31"/>
          <p:cNvSpPr/>
          <p:nvPr/>
        </p:nvSpPr>
        <p:spPr>
          <a:xfrm>
            <a:off x="1241640" y="5415840"/>
            <a:ext cx="62280" cy="6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Shape 32"/>
          <p:cNvSpPr/>
          <p:nvPr/>
        </p:nvSpPr>
        <p:spPr>
          <a:xfrm>
            <a:off x="1303920" y="5422680"/>
            <a:ext cx="61920" cy="6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33"/>
          <p:cNvSpPr/>
          <p:nvPr/>
        </p:nvSpPr>
        <p:spPr>
          <a:xfrm>
            <a:off x="1365840" y="5428800"/>
            <a:ext cx="62280" cy="4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34"/>
          <p:cNvSpPr/>
          <p:nvPr/>
        </p:nvSpPr>
        <p:spPr>
          <a:xfrm>
            <a:off x="1428120" y="5433480"/>
            <a:ext cx="62280" cy="3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35"/>
          <p:cNvSpPr/>
          <p:nvPr/>
        </p:nvSpPr>
        <p:spPr>
          <a:xfrm>
            <a:off x="1490400" y="5436720"/>
            <a:ext cx="61920" cy="2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36"/>
          <p:cNvSpPr/>
          <p:nvPr/>
        </p:nvSpPr>
        <p:spPr>
          <a:xfrm>
            <a:off x="1552320" y="5439240"/>
            <a:ext cx="6228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37"/>
          <p:cNvSpPr/>
          <p:nvPr/>
        </p:nvSpPr>
        <p:spPr>
          <a:xfrm>
            <a:off x="1614600" y="5440320"/>
            <a:ext cx="62280" cy="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38"/>
          <p:cNvSpPr/>
          <p:nvPr/>
        </p:nvSpPr>
        <p:spPr>
          <a:xfrm flipV="1">
            <a:off x="1676880" y="5439240"/>
            <a:ext cx="62280" cy="1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39"/>
          <p:cNvSpPr/>
          <p:nvPr/>
        </p:nvSpPr>
        <p:spPr>
          <a:xfrm flipV="1">
            <a:off x="1739160" y="5436720"/>
            <a:ext cx="61920" cy="2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40"/>
          <p:cNvSpPr/>
          <p:nvPr/>
        </p:nvSpPr>
        <p:spPr>
          <a:xfrm flipV="1">
            <a:off x="1801080" y="5433480"/>
            <a:ext cx="62280" cy="3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41"/>
          <p:cNvSpPr/>
          <p:nvPr/>
        </p:nvSpPr>
        <p:spPr>
          <a:xfrm flipV="1">
            <a:off x="1863360" y="5428800"/>
            <a:ext cx="62280" cy="4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Shape 42"/>
          <p:cNvSpPr/>
          <p:nvPr/>
        </p:nvSpPr>
        <p:spPr>
          <a:xfrm flipV="1">
            <a:off x="1925640" y="5422680"/>
            <a:ext cx="61920" cy="6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43"/>
          <p:cNvSpPr/>
          <p:nvPr/>
        </p:nvSpPr>
        <p:spPr>
          <a:xfrm flipV="1">
            <a:off x="1987560" y="5415840"/>
            <a:ext cx="62280" cy="6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44"/>
          <p:cNvSpPr/>
          <p:nvPr/>
        </p:nvSpPr>
        <p:spPr>
          <a:xfrm flipV="1">
            <a:off x="2049840" y="5407560"/>
            <a:ext cx="62280" cy="8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45"/>
          <p:cNvSpPr/>
          <p:nvPr/>
        </p:nvSpPr>
        <p:spPr>
          <a:xfrm flipV="1">
            <a:off x="2112120" y="5398200"/>
            <a:ext cx="62280" cy="9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46"/>
          <p:cNvSpPr/>
          <p:nvPr/>
        </p:nvSpPr>
        <p:spPr>
          <a:xfrm flipV="1">
            <a:off x="2174400" y="5387760"/>
            <a:ext cx="61920" cy="10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47"/>
          <p:cNvSpPr/>
          <p:nvPr/>
        </p:nvSpPr>
        <p:spPr>
          <a:xfrm flipV="1">
            <a:off x="2236320" y="5375880"/>
            <a:ext cx="62280" cy="11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48"/>
          <p:cNvSpPr/>
          <p:nvPr/>
        </p:nvSpPr>
        <p:spPr>
          <a:xfrm flipV="1">
            <a:off x="2298600" y="5363280"/>
            <a:ext cx="62280" cy="12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49"/>
          <p:cNvSpPr/>
          <p:nvPr/>
        </p:nvSpPr>
        <p:spPr>
          <a:xfrm flipV="1">
            <a:off x="2360880" y="5349240"/>
            <a:ext cx="62280" cy="14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50"/>
          <p:cNvSpPr/>
          <p:nvPr/>
        </p:nvSpPr>
        <p:spPr>
          <a:xfrm flipV="1">
            <a:off x="2423160" y="5333760"/>
            <a:ext cx="61920" cy="154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51"/>
          <p:cNvSpPr/>
          <p:nvPr/>
        </p:nvSpPr>
        <p:spPr>
          <a:xfrm flipV="1">
            <a:off x="2485080" y="5317560"/>
            <a:ext cx="62280" cy="16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52"/>
          <p:cNvSpPr/>
          <p:nvPr/>
        </p:nvSpPr>
        <p:spPr>
          <a:xfrm flipV="1">
            <a:off x="2547360" y="5299920"/>
            <a:ext cx="62280" cy="17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53"/>
          <p:cNvSpPr/>
          <p:nvPr/>
        </p:nvSpPr>
        <p:spPr>
          <a:xfrm flipV="1">
            <a:off x="2609640" y="5281200"/>
            <a:ext cx="61920" cy="18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280" rIns="90000" bIns="-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54"/>
          <p:cNvSpPr/>
          <p:nvPr/>
        </p:nvSpPr>
        <p:spPr>
          <a:xfrm flipV="1">
            <a:off x="2671560" y="5261400"/>
            <a:ext cx="62280" cy="19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55"/>
          <p:cNvSpPr/>
          <p:nvPr/>
        </p:nvSpPr>
        <p:spPr>
          <a:xfrm flipV="1">
            <a:off x="2733840" y="5240160"/>
            <a:ext cx="62280" cy="21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56"/>
          <p:cNvSpPr/>
          <p:nvPr/>
        </p:nvSpPr>
        <p:spPr>
          <a:xfrm flipV="1">
            <a:off x="2796120" y="5217840"/>
            <a:ext cx="62280" cy="22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57"/>
          <p:cNvSpPr/>
          <p:nvPr/>
        </p:nvSpPr>
        <p:spPr>
          <a:xfrm flipV="1">
            <a:off x="2858400" y="5194440"/>
            <a:ext cx="61920" cy="234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0" rIns="90000" bIns="-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58"/>
          <p:cNvSpPr/>
          <p:nvPr/>
        </p:nvSpPr>
        <p:spPr>
          <a:xfrm flipV="1">
            <a:off x="2920320" y="5169960"/>
            <a:ext cx="62280" cy="244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59"/>
          <p:cNvSpPr/>
          <p:nvPr/>
        </p:nvSpPr>
        <p:spPr>
          <a:xfrm flipV="1">
            <a:off x="2982600" y="5144400"/>
            <a:ext cx="62280" cy="25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Shape 60"/>
          <p:cNvSpPr/>
          <p:nvPr/>
        </p:nvSpPr>
        <p:spPr>
          <a:xfrm flipV="1">
            <a:off x="3044880" y="5117400"/>
            <a:ext cx="61920" cy="27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61"/>
          <p:cNvSpPr/>
          <p:nvPr/>
        </p:nvSpPr>
        <p:spPr>
          <a:xfrm flipV="1">
            <a:off x="3106800" y="5089320"/>
            <a:ext cx="62280" cy="28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920" rIns="90000" bIns="-16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62"/>
          <p:cNvSpPr/>
          <p:nvPr/>
        </p:nvSpPr>
        <p:spPr>
          <a:xfrm flipV="1">
            <a:off x="3169080" y="5059800"/>
            <a:ext cx="62280" cy="29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Shape 63"/>
          <p:cNvSpPr/>
          <p:nvPr/>
        </p:nvSpPr>
        <p:spPr>
          <a:xfrm flipV="1">
            <a:off x="3231360" y="5029560"/>
            <a:ext cx="62280" cy="30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760" rIns="90000" bIns="-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Shape 64"/>
          <p:cNvSpPr/>
          <p:nvPr/>
        </p:nvSpPr>
        <p:spPr>
          <a:xfrm flipV="1">
            <a:off x="3293640" y="4997880"/>
            <a:ext cx="61920" cy="31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65"/>
          <p:cNvSpPr/>
          <p:nvPr/>
        </p:nvSpPr>
        <p:spPr>
          <a:xfrm flipV="1">
            <a:off x="3355560" y="4965120"/>
            <a:ext cx="62280" cy="32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240" rIns="90000" bIns="-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66"/>
          <p:cNvSpPr/>
          <p:nvPr/>
        </p:nvSpPr>
        <p:spPr>
          <a:xfrm flipV="1">
            <a:off x="3417840" y="4931280"/>
            <a:ext cx="62280" cy="33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67"/>
          <p:cNvSpPr/>
          <p:nvPr/>
        </p:nvSpPr>
        <p:spPr>
          <a:xfrm flipV="1">
            <a:off x="3480120" y="4896000"/>
            <a:ext cx="61920" cy="35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720" rIns="90000" bIns="-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68"/>
          <p:cNvSpPr/>
          <p:nvPr/>
        </p:nvSpPr>
        <p:spPr>
          <a:xfrm flipV="1">
            <a:off x="3542040" y="4859640"/>
            <a:ext cx="62280" cy="36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69"/>
          <p:cNvSpPr/>
          <p:nvPr/>
        </p:nvSpPr>
        <p:spPr>
          <a:xfrm flipV="1">
            <a:off x="3604320" y="4822200"/>
            <a:ext cx="62280" cy="37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70"/>
          <p:cNvSpPr/>
          <p:nvPr/>
        </p:nvSpPr>
        <p:spPr>
          <a:xfrm flipV="1">
            <a:off x="3666600" y="4783680"/>
            <a:ext cx="62280" cy="38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71"/>
          <p:cNvSpPr/>
          <p:nvPr/>
        </p:nvSpPr>
        <p:spPr>
          <a:xfrm flipV="1">
            <a:off x="3728880" y="4744080"/>
            <a:ext cx="61920" cy="39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400" rIns="90000" bIns="-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72"/>
          <p:cNvSpPr/>
          <p:nvPr/>
        </p:nvSpPr>
        <p:spPr>
          <a:xfrm flipV="1">
            <a:off x="3790800" y="4703040"/>
            <a:ext cx="62280" cy="41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73"/>
          <p:cNvSpPr/>
          <p:nvPr/>
        </p:nvSpPr>
        <p:spPr>
          <a:xfrm flipV="1">
            <a:off x="3853080" y="4660920"/>
            <a:ext cx="62280" cy="42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" rIns="90000" bIns="-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Shape 74"/>
          <p:cNvSpPr/>
          <p:nvPr/>
        </p:nvSpPr>
        <p:spPr>
          <a:xfrm flipV="1">
            <a:off x="3915360" y="4617720"/>
            <a:ext cx="62280" cy="43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" rIns="90000" bIns="-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75"/>
          <p:cNvSpPr/>
          <p:nvPr/>
        </p:nvSpPr>
        <p:spPr>
          <a:xfrm flipV="1">
            <a:off x="3977640" y="4573080"/>
            <a:ext cx="61920" cy="44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" rIns="90000" bIns="-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76"/>
          <p:cNvSpPr/>
          <p:nvPr/>
        </p:nvSpPr>
        <p:spPr>
          <a:xfrm flipV="1">
            <a:off x="4039560" y="4527360"/>
            <a:ext cx="62280" cy="45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77"/>
          <p:cNvSpPr/>
          <p:nvPr/>
        </p:nvSpPr>
        <p:spPr>
          <a:xfrm flipV="1">
            <a:off x="4101840" y="4480560"/>
            <a:ext cx="62280" cy="46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78"/>
          <p:cNvSpPr/>
          <p:nvPr/>
        </p:nvSpPr>
        <p:spPr>
          <a:xfrm flipV="1">
            <a:off x="4164120" y="4432680"/>
            <a:ext cx="61920" cy="47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Shape 79"/>
          <p:cNvSpPr/>
          <p:nvPr/>
        </p:nvSpPr>
        <p:spPr>
          <a:xfrm flipV="1">
            <a:off x="4226040" y="4383360"/>
            <a:ext cx="62280" cy="49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80"/>
          <p:cNvSpPr/>
          <p:nvPr/>
        </p:nvSpPr>
        <p:spPr>
          <a:xfrm flipV="1">
            <a:off x="4288320" y="4332960"/>
            <a:ext cx="62280" cy="504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81"/>
          <p:cNvSpPr/>
          <p:nvPr/>
        </p:nvSpPr>
        <p:spPr>
          <a:xfrm flipV="1">
            <a:off x="4350600" y="4281480"/>
            <a:ext cx="62280" cy="514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480" rIns="90000" bIns="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82"/>
          <p:cNvSpPr/>
          <p:nvPr/>
        </p:nvSpPr>
        <p:spPr>
          <a:xfrm flipV="1">
            <a:off x="4412880" y="4228920"/>
            <a:ext cx="61920" cy="52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560" rIns="90000" bIns="7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83"/>
          <p:cNvSpPr/>
          <p:nvPr/>
        </p:nvSpPr>
        <p:spPr>
          <a:xfrm flipV="1">
            <a:off x="4474800" y="4175280"/>
            <a:ext cx="62280" cy="53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84"/>
          <p:cNvSpPr/>
          <p:nvPr/>
        </p:nvSpPr>
        <p:spPr>
          <a:xfrm flipV="1">
            <a:off x="4537080" y="4120200"/>
            <a:ext cx="62280" cy="55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85"/>
          <p:cNvSpPr/>
          <p:nvPr/>
        </p:nvSpPr>
        <p:spPr>
          <a:xfrm flipV="1">
            <a:off x="4599360" y="4064040"/>
            <a:ext cx="61920" cy="56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1160" rIns="90000" bIns="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86"/>
          <p:cNvSpPr/>
          <p:nvPr/>
        </p:nvSpPr>
        <p:spPr>
          <a:xfrm flipV="1">
            <a:off x="4661280" y="4006440"/>
            <a:ext cx="62280" cy="57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600" rIns="90000" bIns="12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Shape 87"/>
          <p:cNvSpPr/>
          <p:nvPr/>
        </p:nvSpPr>
        <p:spPr>
          <a:xfrm flipV="1">
            <a:off x="4723560" y="3948120"/>
            <a:ext cx="62280" cy="58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88"/>
          <p:cNvSpPr/>
          <p:nvPr/>
        </p:nvSpPr>
        <p:spPr>
          <a:xfrm flipV="1">
            <a:off x="4785840" y="3888360"/>
            <a:ext cx="62280" cy="59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Shape 89"/>
          <p:cNvSpPr/>
          <p:nvPr/>
        </p:nvSpPr>
        <p:spPr>
          <a:xfrm flipV="1">
            <a:off x="4848120" y="3827520"/>
            <a:ext cx="61920" cy="60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5840" rIns="90000" bIns="15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Shape 90"/>
          <p:cNvSpPr/>
          <p:nvPr/>
        </p:nvSpPr>
        <p:spPr>
          <a:xfrm flipV="1">
            <a:off x="4910040" y="3765600"/>
            <a:ext cx="62280" cy="61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920" rIns="90000" bIns="16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Shape 91"/>
          <p:cNvSpPr/>
          <p:nvPr/>
        </p:nvSpPr>
        <p:spPr>
          <a:xfrm flipV="1">
            <a:off x="4972320" y="3702240"/>
            <a:ext cx="62280" cy="63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360" rIns="90000" bIns="18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Shape 92"/>
          <p:cNvSpPr/>
          <p:nvPr/>
        </p:nvSpPr>
        <p:spPr>
          <a:xfrm flipV="1">
            <a:off x="5034600" y="3637800"/>
            <a:ext cx="61920" cy="64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93"/>
          <p:cNvSpPr/>
          <p:nvPr/>
        </p:nvSpPr>
        <p:spPr>
          <a:xfrm flipV="1">
            <a:off x="5096520" y="3572280"/>
            <a:ext cx="62280" cy="65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520" rIns="90000" bIns="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94"/>
          <p:cNvSpPr/>
          <p:nvPr/>
        </p:nvSpPr>
        <p:spPr>
          <a:xfrm flipV="1">
            <a:off x="5158800" y="3505680"/>
            <a:ext cx="62280" cy="66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Shape 95"/>
          <p:cNvSpPr/>
          <p:nvPr/>
        </p:nvSpPr>
        <p:spPr>
          <a:xfrm flipV="1">
            <a:off x="5221080" y="3437640"/>
            <a:ext cx="62280" cy="68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040" rIns="90000" bIns="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96"/>
          <p:cNvSpPr/>
          <p:nvPr/>
        </p:nvSpPr>
        <p:spPr>
          <a:xfrm flipV="1">
            <a:off x="5283360" y="3368520"/>
            <a:ext cx="61920" cy="69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120" rIns="90000" bIns="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97"/>
          <p:cNvSpPr/>
          <p:nvPr/>
        </p:nvSpPr>
        <p:spPr>
          <a:xfrm flipV="1">
            <a:off x="5345280" y="3298320"/>
            <a:ext cx="62280" cy="70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0" rIns="90000" bIns="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98"/>
          <p:cNvSpPr/>
          <p:nvPr/>
        </p:nvSpPr>
        <p:spPr>
          <a:xfrm flipV="1">
            <a:off x="5407560" y="3227040"/>
            <a:ext cx="62280" cy="71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99"/>
          <p:cNvSpPr/>
          <p:nvPr/>
        </p:nvSpPr>
        <p:spPr>
          <a:xfrm flipV="1">
            <a:off x="5469840" y="3154680"/>
            <a:ext cx="62280" cy="72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Shape 100"/>
          <p:cNvSpPr/>
          <p:nvPr/>
        </p:nvSpPr>
        <p:spPr>
          <a:xfrm flipV="1">
            <a:off x="5532120" y="3080880"/>
            <a:ext cx="61920" cy="73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101"/>
          <p:cNvSpPr/>
          <p:nvPr/>
        </p:nvSpPr>
        <p:spPr>
          <a:xfrm flipV="1">
            <a:off x="5594040" y="3006000"/>
            <a:ext cx="62280" cy="74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880" rIns="90000" bIns="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102"/>
          <p:cNvSpPr/>
          <p:nvPr/>
        </p:nvSpPr>
        <p:spPr>
          <a:xfrm flipV="1">
            <a:off x="5656320" y="2929680"/>
            <a:ext cx="62280" cy="76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Shape 103"/>
          <p:cNvSpPr/>
          <p:nvPr/>
        </p:nvSpPr>
        <p:spPr>
          <a:xfrm flipV="1">
            <a:off x="5718600" y="2852640"/>
            <a:ext cx="61920" cy="77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040" rIns="90000" bIns="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104"/>
          <p:cNvSpPr/>
          <p:nvPr/>
        </p:nvSpPr>
        <p:spPr>
          <a:xfrm flipV="1">
            <a:off x="5780520" y="2774160"/>
            <a:ext cx="62280" cy="784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3480" rIns="90000" bIns="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Shape 105"/>
          <p:cNvSpPr/>
          <p:nvPr/>
        </p:nvSpPr>
        <p:spPr>
          <a:xfrm flipV="1">
            <a:off x="5842800" y="2694600"/>
            <a:ext cx="62280" cy="79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560" rIns="90000" bIns="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106"/>
          <p:cNvSpPr/>
          <p:nvPr/>
        </p:nvSpPr>
        <p:spPr>
          <a:xfrm flipV="1">
            <a:off x="5905080" y="2613600"/>
            <a:ext cx="62280" cy="81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0" rIns="90000" bIns="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Shape 107"/>
          <p:cNvSpPr/>
          <p:nvPr/>
        </p:nvSpPr>
        <p:spPr>
          <a:xfrm flipV="1">
            <a:off x="5967360" y="2531880"/>
            <a:ext cx="61920" cy="81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720" rIns="90000" bIns="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108"/>
          <p:cNvSpPr/>
          <p:nvPr/>
        </p:nvSpPr>
        <p:spPr>
          <a:xfrm flipV="1">
            <a:off x="6029280" y="2448720"/>
            <a:ext cx="62280" cy="83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160" rIns="90000" bIns="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109"/>
          <p:cNvSpPr/>
          <p:nvPr/>
        </p:nvSpPr>
        <p:spPr>
          <a:xfrm flipV="1">
            <a:off x="6091560" y="2364480"/>
            <a:ext cx="62280" cy="84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9240" rIns="90000" bIns="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110"/>
          <p:cNvSpPr/>
          <p:nvPr/>
        </p:nvSpPr>
        <p:spPr>
          <a:xfrm flipV="1">
            <a:off x="6153840" y="2279160"/>
            <a:ext cx="61920" cy="85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0320" rIns="90000" bIns="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Shape 111"/>
          <p:cNvSpPr/>
          <p:nvPr/>
        </p:nvSpPr>
        <p:spPr>
          <a:xfrm flipV="1">
            <a:off x="6215760" y="2192400"/>
            <a:ext cx="62280" cy="86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1760" rIns="90000" bIns="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Shape 112"/>
          <p:cNvSpPr/>
          <p:nvPr/>
        </p:nvSpPr>
        <p:spPr>
          <a:xfrm flipV="1">
            <a:off x="6278040" y="2104560"/>
            <a:ext cx="62280" cy="87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Shape 113"/>
          <p:cNvSpPr/>
          <p:nvPr/>
        </p:nvSpPr>
        <p:spPr>
          <a:xfrm flipV="1">
            <a:off x="6340320" y="2015640"/>
            <a:ext cx="62280" cy="88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920" rIns="90000" bIns="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114"/>
          <p:cNvSpPr/>
          <p:nvPr/>
        </p:nvSpPr>
        <p:spPr>
          <a:xfrm flipV="1">
            <a:off x="6402600" y="1925640"/>
            <a:ext cx="61920" cy="90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Shape 115"/>
          <p:cNvSpPr/>
          <p:nvPr/>
        </p:nvSpPr>
        <p:spPr>
          <a:xfrm flipV="1">
            <a:off x="6464520" y="1834200"/>
            <a:ext cx="62280" cy="91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116"/>
          <p:cNvSpPr/>
          <p:nvPr/>
        </p:nvSpPr>
        <p:spPr>
          <a:xfrm>
            <a:off x="1179720" y="20390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6 rectangles ≈ 6.875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117"/>
          <p:cNvSpPr/>
          <p:nvPr/>
        </p:nvSpPr>
        <p:spPr>
          <a:xfrm>
            <a:off x="1179720" y="24048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true area =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118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Text 119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More slices, better answer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f(x) = x² from 0 to 3.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Six left rectangles give 6.875 — an under-estimate.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With 1,000 rectangles you get 8.9865; the exact area is 9.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integral is the limit as the slices get infinitely thin.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Integral Notation &amp; the Fundamental Theorem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antiderivative F has F′ = f.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Evaluate it at the end-points and subtract.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“+ C” appears in the indefinite integral because constants vanish when differentiated.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definite integral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∫ₐᵇ f(x) dx = area from a to 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Fundamental Theorem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∫ₐᵇ f(x) dx = F(b) − F(a)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where F′(x) = f(x)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indefinite integral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 f(x) dx = F(x) + C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Basic Integration Rules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Mirror images of the derivative rules.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 any answer by differentiating it back.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1/x case gives the natural log.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2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 xⁿ dx = xⁿ⁺¹ / (n + 1) + C   (n ≠ −1)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 eˣ dx  = eˣ + 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 1/x dx = ln |x| + 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 cos x dx = sin x + 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constant multiple &amp; sums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 c·f dx = c ∫ f dx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∫ (f + g) dx = ∫ f dx + ∫ g dx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Integral Worked: ∫₀³ x² dx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Antiderivative of x²:  F(x) = x³/3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∫₀³ x² dx = F(3) − F(0)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   = 27/3 − 0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   = 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Matches the rectangle sums: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6 slices   → 6.875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1000 slices → 8.9865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exact      → 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from scipy import integrate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val, err = integrate.quad(lambda x: x**2, 0, 3)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print(round(val, 6))      # 9.0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print(sp.integrate(x**2, (x, 0, 3)))  # 9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xs = np.linspace(0, 3, 1000, endpoint=False)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print(sum(xs**2) * 3/1000)   # 8.9865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Probability = Area Under a Density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4"/>
          <p:cNvSpPr/>
          <p:nvPr/>
        </p:nvSpPr>
        <p:spPr>
          <a:xfrm>
            <a:off x="914400" y="5067360"/>
            <a:ext cx="91080" cy="72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5"/>
          <p:cNvSpPr/>
          <p:nvPr/>
        </p:nvSpPr>
        <p:spPr>
          <a:xfrm>
            <a:off x="1005840" y="5064120"/>
            <a:ext cx="91080" cy="104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6"/>
          <p:cNvSpPr/>
          <p:nvPr/>
        </p:nvSpPr>
        <p:spPr>
          <a:xfrm>
            <a:off x="1097280" y="5060160"/>
            <a:ext cx="91080" cy="144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7"/>
          <p:cNvSpPr/>
          <p:nvPr/>
        </p:nvSpPr>
        <p:spPr>
          <a:xfrm>
            <a:off x="1188720" y="5054400"/>
            <a:ext cx="91080" cy="201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8"/>
          <p:cNvSpPr/>
          <p:nvPr/>
        </p:nvSpPr>
        <p:spPr>
          <a:xfrm>
            <a:off x="1280160" y="5047200"/>
            <a:ext cx="91080" cy="273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280" rIns="90000" bIns="-17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9"/>
          <p:cNvSpPr/>
          <p:nvPr/>
        </p:nvSpPr>
        <p:spPr>
          <a:xfrm>
            <a:off x="1371600" y="5037480"/>
            <a:ext cx="91080" cy="374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Shape 10"/>
          <p:cNvSpPr/>
          <p:nvPr/>
        </p:nvSpPr>
        <p:spPr>
          <a:xfrm>
            <a:off x="1463040" y="5024520"/>
            <a:ext cx="91080" cy="500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Shape 11"/>
          <p:cNvSpPr/>
          <p:nvPr/>
        </p:nvSpPr>
        <p:spPr>
          <a:xfrm>
            <a:off x="1554480" y="5008320"/>
            <a:ext cx="91080" cy="662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12"/>
          <p:cNvSpPr/>
          <p:nvPr/>
        </p:nvSpPr>
        <p:spPr>
          <a:xfrm>
            <a:off x="1645920" y="4987800"/>
            <a:ext cx="91080" cy="867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Shape 13"/>
          <p:cNvSpPr/>
          <p:nvPr/>
        </p:nvSpPr>
        <p:spPr>
          <a:xfrm>
            <a:off x="1737360" y="4961880"/>
            <a:ext cx="91080" cy="1126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14"/>
          <p:cNvSpPr/>
          <p:nvPr/>
        </p:nvSpPr>
        <p:spPr>
          <a:xfrm>
            <a:off x="1828800" y="4929840"/>
            <a:ext cx="91080" cy="1447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Shape 15"/>
          <p:cNvSpPr/>
          <p:nvPr/>
        </p:nvSpPr>
        <p:spPr>
          <a:xfrm>
            <a:off x="1920240" y="4890600"/>
            <a:ext cx="91080" cy="1839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Shape 16"/>
          <p:cNvSpPr/>
          <p:nvPr/>
        </p:nvSpPr>
        <p:spPr>
          <a:xfrm>
            <a:off x="2011680" y="4842720"/>
            <a:ext cx="91080" cy="2318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17"/>
          <p:cNvSpPr/>
          <p:nvPr/>
        </p:nvSpPr>
        <p:spPr>
          <a:xfrm>
            <a:off x="2103120" y="4785480"/>
            <a:ext cx="91080" cy="2890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18"/>
          <p:cNvSpPr/>
          <p:nvPr/>
        </p:nvSpPr>
        <p:spPr>
          <a:xfrm>
            <a:off x="2194560" y="4718160"/>
            <a:ext cx="91080" cy="3564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19"/>
          <p:cNvSpPr/>
          <p:nvPr/>
        </p:nvSpPr>
        <p:spPr>
          <a:xfrm>
            <a:off x="2286000" y="4638960"/>
            <a:ext cx="91080" cy="435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Shape 20"/>
          <p:cNvSpPr/>
          <p:nvPr/>
        </p:nvSpPr>
        <p:spPr>
          <a:xfrm>
            <a:off x="2377440" y="4547880"/>
            <a:ext cx="91080" cy="526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21"/>
          <p:cNvSpPr/>
          <p:nvPr/>
        </p:nvSpPr>
        <p:spPr>
          <a:xfrm>
            <a:off x="2468880" y="4443840"/>
            <a:ext cx="91080" cy="630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22"/>
          <p:cNvSpPr/>
          <p:nvPr/>
        </p:nvSpPr>
        <p:spPr>
          <a:xfrm>
            <a:off x="2560320" y="4326840"/>
            <a:ext cx="91080" cy="747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Shape 23"/>
          <p:cNvSpPr/>
          <p:nvPr/>
        </p:nvSpPr>
        <p:spPr>
          <a:xfrm>
            <a:off x="2651760" y="4196880"/>
            <a:ext cx="91080" cy="877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Shape 24"/>
          <p:cNvSpPr/>
          <p:nvPr/>
        </p:nvSpPr>
        <p:spPr>
          <a:xfrm>
            <a:off x="2743200" y="4055040"/>
            <a:ext cx="91080" cy="1019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25"/>
          <p:cNvSpPr/>
          <p:nvPr/>
        </p:nvSpPr>
        <p:spPr>
          <a:xfrm>
            <a:off x="2834640" y="3901680"/>
            <a:ext cx="91080" cy="1172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Shape 26"/>
          <p:cNvSpPr/>
          <p:nvPr/>
        </p:nvSpPr>
        <p:spPr>
          <a:xfrm>
            <a:off x="2926080" y="3738960"/>
            <a:ext cx="91080" cy="1335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27"/>
          <p:cNvSpPr/>
          <p:nvPr/>
        </p:nvSpPr>
        <p:spPr>
          <a:xfrm>
            <a:off x="3017520" y="3568320"/>
            <a:ext cx="91080" cy="1506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Shape 28"/>
          <p:cNvSpPr/>
          <p:nvPr/>
        </p:nvSpPr>
        <p:spPr>
          <a:xfrm>
            <a:off x="3108960" y="3393360"/>
            <a:ext cx="91080" cy="1681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Shape 29"/>
          <p:cNvSpPr/>
          <p:nvPr/>
        </p:nvSpPr>
        <p:spPr>
          <a:xfrm>
            <a:off x="3200400" y="3216240"/>
            <a:ext cx="91080" cy="18583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Shape 30"/>
          <p:cNvSpPr/>
          <p:nvPr/>
        </p:nvSpPr>
        <p:spPr>
          <a:xfrm>
            <a:off x="3291840" y="3041280"/>
            <a:ext cx="91080" cy="20332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31"/>
          <p:cNvSpPr/>
          <p:nvPr/>
        </p:nvSpPr>
        <p:spPr>
          <a:xfrm>
            <a:off x="3383280" y="2872080"/>
            <a:ext cx="91080" cy="2202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Shape 32"/>
          <p:cNvSpPr/>
          <p:nvPr/>
        </p:nvSpPr>
        <p:spPr>
          <a:xfrm>
            <a:off x="3474720" y="2712240"/>
            <a:ext cx="91080" cy="23623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Shape 33"/>
          <p:cNvSpPr/>
          <p:nvPr/>
        </p:nvSpPr>
        <p:spPr>
          <a:xfrm>
            <a:off x="3566160" y="2566080"/>
            <a:ext cx="91080" cy="2508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Shape 34"/>
          <p:cNvSpPr/>
          <p:nvPr/>
        </p:nvSpPr>
        <p:spPr>
          <a:xfrm>
            <a:off x="3657600" y="2437560"/>
            <a:ext cx="91080" cy="2637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35"/>
          <p:cNvSpPr/>
          <p:nvPr/>
        </p:nvSpPr>
        <p:spPr>
          <a:xfrm>
            <a:off x="3749040" y="2329920"/>
            <a:ext cx="91080" cy="2744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Shape 36"/>
          <p:cNvSpPr/>
          <p:nvPr/>
        </p:nvSpPr>
        <p:spPr>
          <a:xfrm>
            <a:off x="3840480" y="2246400"/>
            <a:ext cx="91080" cy="2828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Shape 37"/>
          <p:cNvSpPr/>
          <p:nvPr/>
        </p:nvSpPr>
        <p:spPr>
          <a:xfrm>
            <a:off x="3931920" y="2189160"/>
            <a:ext cx="91080" cy="2885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Shape 38"/>
          <p:cNvSpPr/>
          <p:nvPr/>
        </p:nvSpPr>
        <p:spPr>
          <a:xfrm>
            <a:off x="4023360" y="2160360"/>
            <a:ext cx="91080" cy="2914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39"/>
          <p:cNvSpPr/>
          <p:nvPr/>
        </p:nvSpPr>
        <p:spPr>
          <a:xfrm>
            <a:off x="4114800" y="2160360"/>
            <a:ext cx="91080" cy="2914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Shape 40"/>
          <p:cNvSpPr/>
          <p:nvPr/>
        </p:nvSpPr>
        <p:spPr>
          <a:xfrm>
            <a:off x="4206240" y="2189160"/>
            <a:ext cx="91080" cy="28854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Shape 41"/>
          <p:cNvSpPr/>
          <p:nvPr/>
        </p:nvSpPr>
        <p:spPr>
          <a:xfrm>
            <a:off x="4297680" y="2246400"/>
            <a:ext cx="91080" cy="2828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Shape 42"/>
          <p:cNvSpPr/>
          <p:nvPr/>
        </p:nvSpPr>
        <p:spPr>
          <a:xfrm>
            <a:off x="4389120" y="2329920"/>
            <a:ext cx="91080" cy="2744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43"/>
          <p:cNvSpPr/>
          <p:nvPr/>
        </p:nvSpPr>
        <p:spPr>
          <a:xfrm>
            <a:off x="4480560" y="2437560"/>
            <a:ext cx="91080" cy="2637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44"/>
          <p:cNvSpPr/>
          <p:nvPr/>
        </p:nvSpPr>
        <p:spPr>
          <a:xfrm>
            <a:off x="4572000" y="2566080"/>
            <a:ext cx="91080" cy="2508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45"/>
          <p:cNvSpPr/>
          <p:nvPr/>
        </p:nvSpPr>
        <p:spPr>
          <a:xfrm>
            <a:off x="4663440" y="2712240"/>
            <a:ext cx="91080" cy="23623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Shape 46"/>
          <p:cNvSpPr/>
          <p:nvPr/>
        </p:nvSpPr>
        <p:spPr>
          <a:xfrm>
            <a:off x="4754880" y="2872080"/>
            <a:ext cx="91080" cy="2202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Shape 47"/>
          <p:cNvSpPr/>
          <p:nvPr/>
        </p:nvSpPr>
        <p:spPr>
          <a:xfrm>
            <a:off x="4846320" y="3041280"/>
            <a:ext cx="91080" cy="20332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Shape 48"/>
          <p:cNvSpPr/>
          <p:nvPr/>
        </p:nvSpPr>
        <p:spPr>
          <a:xfrm>
            <a:off x="4937760" y="3216240"/>
            <a:ext cx="91080" cy="18583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Shape 49"/>
          <p:cNvSpPr/>
          <p:nvPr/>
        </p:nvSpPr>
        <p:spPr>
          <a:xfrm>
            <a:off x="5029200" y="3393360"/>
            <a:ext cx="91080" cy="1681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Shape 50"/>
          <p:cNvSpPr/>
          <p:nvPr/>
        </p:nvSpPr>
        <p:spPr>
          <a:xfrm>
            <a:off x="5120640" y="3568320"/>
            <a:ext cx="91080" cy="1506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Shape 51"/>
          <p:cNvSpPr/>
          <p:nvPr/>
        </p:nvSpPr>
        <p:spPr>
          <a:xfrm>
            <a:off x="5212080" y="3738960"/>
            <a:ext cx="91080" cy="1335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Shape 52"/>
          <p:cNvSpPr/>
          <p:nvPr/>
        </p:nvSpPr>
        <p:spPr>
          <a:xfrm>
            <a:off x="5303520" y="3901680"/>
            <a:ext cx="91080" cy="1172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Shape 53"/>
          <p:cNvSpPr/>
          <p:nvPr/>
        </p:nvSpPr>
        <p:spPr>
          <a:xfrm>
            <a:off x="5394960" y="4055040"/>
            <a:ext cx="91080" cy="1019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54"/>
          <p:cNvSpPr/>
          <p:nvPr/>
        </p:nvSpPr>
        <p:spPr>
          <a:xfrm>
            <a:off x="5486400" y="4196880"/>
            <a:ext cx="91080" cy="877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55"/>
          <p:cNvSpPr/>
          <p:nvPr/>
        </p:nvSpPr>
        <p:spPr>
          <a:xfrm>
            <a:off x="5577840" y="4326840"/>
            <a:ext cx="91080" cy="747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56"/>
          <p:cNvSpPr/>
          <p:nvPr/>
        </p:nvSpPr>
        <p:spPr>
          <a:xfrm>
            <a:off x="5669280" y="4443840"/>
            <a:ext cx="91080" cy="630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57"/>
          <p:cNvSpPr/>
          <p:nvPr/>
        </p:nvSpPr>
        <p:spPr>
          <a:xfrm>
            <a:off x="5760720" y="4547880"/>
            <a:ext cx="91080" cy="526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58"/>
          <p:cNvSpPr/>
          <p:nvPr/>
        </p:nvSpPr>
        <p:spPr>
          <a:xfrm>
            <a:off x="5852160" y="4638960"/>
            <a:ext cx="91080" cy="435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Shape 59"/>
          <p:cNvSpPr/>
          <p:nvPr/>
        </p:nvSpPr>
        <p:spPr>
          <a:xfrm>
            <a:off x="5943600" y="4718160"/>
            <a:ext cx="91080" cy="3564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60"/>
          <p:cNvSpPr/>
          <p:nvPr/>
        </p:nvSpPr>
        <p:spPr>
          <a:xfrm>
            <a:off x="6035040" y="4785480"/>
            <a:ext cx="91080" cy="2890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Shape 61"/>
          <p:cNvSpPr/>
          <p:nvPr/>
        </p:nvSpPr>
        <p:spPr>
          <a:xfrm>
            <a:off x="6126480" y="4842720"/>
            <a:ext cx="91080" cy="2318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Shape 62"/>
          <p:cNvSpPr/>
          <p:nvPr/>
        </p:nvSpPr>
        <p:spPr>
          <a:xfrm>
            <a:off x="6217920" y="4890600"/>
            <a:ext cx="91080" cy="1839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Shape 63"/>
          <p:cNvSpPr/>
          <p:nvPr/>
        </p:nvSpPr>
        <p:spPr>
          <a:xfrm>
            <a:off x="6309360" y="4929840"/>
            <a:ext cx="91080" cy="1447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Shape 64"/>
          <p:cNvSpPr/>
          <p:nvPr/>
        </p:nvSpPr>
        <p:spPr>
          <a:xfrm>
            <a:off x="6400800" y="4961880"/>
            <a:ext cx="91080" cy="1126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Shape 65"/>
          <p:cNvSpPr/>
          <p:nvPr/>
        </p:nvSpPr>
        <p:spPr>
          <a:xfrm>
            <a:off x="6492240" y="4987800"/>
            <a:ext cx="91080" cy="867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Shape 66"/>
          <p:cNvSpPr/>
          <p:nvPr/>
        </p:nvSpPr>
        <p:spPr>
          <a:xfrm>
            <a:off x="6583680" y="5008320"/>
            <a:ext cx="91080" cy="662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67"/>
          <p:cNvSpPr/>
          <p:nvPr/>
        </p:nvSpPr>
        <p:spPr>
          <a:xfrm>
            <a:off x="6675120" y="5024520"/>
            <a:ext cx="91080" cy="500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Shape 68"/>
          <p:cNvSpPr/>
          <p:nvPr/>
        </p:nvSpPr>
        <p:spPr>
          <a:xfrm>
            <a:off x="6766560" y="5037480"/>
            <a:ext cx="91080" cy="374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Shape 69"/>
          <p:cNvSpPr/>
          <p:nvPr/>
        </p:nvSpPr>
        <p:spPr>
          <a:xfrm>
            <a:off x="6858000" y="5047200"/>
            <a:ext cx="91080" cy="273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280" rIns="90000" bIns="-17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Shape 70"/>
          <p:cNvSpPr/>
          <p:nvPr/>
        </p:nvSpPr>
        <p:spPr>
          <a:xfrm>
            <a:off x="6949440" y="5054400"/>
            <a:ext cx="91080" cy="201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Shape 71"/>
          <p:cNvSpPr/>
          <p:nvPr/>
        </p:nvSpPr>
        <p:spPr>
          <a:xfrm>
            <a:off x="7040880" y="5060160"/>
            <a:ext cx="91080" cy="144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72"/>
          <p:cNvSpPr/>
          <p:nvPr/>
        </p:nvSpPr>
        <p:spPr>
          <a:xfrm>
            <a:off x="7132320" y="5064120"/>
            <a:ext cx="91080" cy="104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73"/>
          <p:cNvSpPr/>
          <p:nvPr/>
        </p:nvSpPr>
        <p:spPr>
          <a:xfrm>
            <a:off x="7223760" y="5067360"/>
            <a:ext cx="91080" cy="72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74"/>
          <p:cNvSpPr/>
          <p:nvPr/>
        </p:nvSpPr>
        <p:spPr>
          <a:xfrm>
            <a:off x="914400" y="5074920"/>
            <a:ext cx="6400800" cy="360"/>
          </a:xfrm>
          <a:prstGeom prst="line">
            <a:avLst/>
          </a:prstGeom>
          <a:ln w="15875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75"/>
          <p:cNvSpPr/>
          <p:nvPr/>
        </p:nvSpPr>
        <p:spPr>
          <a:xfrm>
            <a:off x="1956960" y="514800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−1.96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76"/>
          <p:cNvSpPr/>
          <p:nvPr/>
        </p:nvSpPr>
        <p:spPr>
          <a:xfrm>
            <a:off x="3749040" y="514800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 77"/>
          <p:cNvSpPr/>
          <p:nvPr/>
        </p:nvSpPr>
        <p:spPr>
          <a:xfrm>
            <a:off x="5541120" y="514800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+1.96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Text 78"/>
          <p:cNvSpPr/>
          <p:nvPr/>
        </p:nvSpPr>
        <p:spPr>
          <a:xfrm>
            <a:off x="2651760" y="35661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area = 0.95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 79"/>
          <p:cNvSpPr/>
          <p:nvPr/>
        </p:nvSpPr>
        <p:spPr>
          <a:xfrm>
            <a:off x="1097280" y="182880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P(−1.96 ≤ Z ≤ 1.96) = ∫ f(z) dz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Shape 80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81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The bridge to your stats course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probability density f(x) has total area 1.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chance X lands between a and b is the integral of f from a to b.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This is why the normal-curve table works, and where the 95% rule comes from.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Integrals in Probability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Uniform on [0, 1]:  f(x)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P(0.2 ≤ X ≤ 0.7) = ∫ 1 dx = 0.5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Expected value: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E[X] = ∫₀¹ x · 1 dx = x²/2 |₀¹ = 0.5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Normal curve: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total area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area from −1.96 to 1.96 ≈ 0.95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The stats tables you used 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pre-computed integrals.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from scipy import integrate, stats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pdf = stats.norm.pdf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a, _ = integrate.quad(pdf, -1.96, 1.96)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print(round(a, 4))     # 0.95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tot, _ = integrate.quad(pdf, -np.inf, np.inf)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print(round(tot, 4))   # 1.0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E, _ = integrate.quad(lambda x: x*1, 0, 1)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print(E)               # 0.5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print(stats.norm.cdf(1.96) - stats.norm.cdf(-1.96))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8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Integrals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Evaluate ∫₀² 3x² dx by hand.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∫ (2x + 5) dx.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the integral of a probability density over all x equal 1?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use integrate.quad to find P(−1 ≤ Z ≤ 1) for a standard normal (≈ 0.6827).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is the link between derivatives and integrals?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4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Your Turn: Three Task Sets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Compute by hand, then verify with SymPy, NumPy and SciPy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2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Differentiation Rules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Hand first, SymPy second.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5x³ − 4x² + x − 7.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x²·eˣ (product rule) and (x + 1)/(x − 1) (quotient rule).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 each result with sympy.diff.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 each at one point with a numerical derivative.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6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7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Chain Rule &amp; Sigmoid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Link the chain.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Differentiate (2x − 1)⁴ and e^(3x) with the chain rule.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σ′(z) for z = −2, 0, 2 using σ(1 − σ).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σ and σ′ together with matplotlib.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Explain, in 3 sentences, what vanishing gradients are.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Integrals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Areas and probabilities.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∫₀² 3x² dx by hand and with integrate.quad.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Riemann-sum function and test it with n = 10, 100, 1000.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area under the normal curve from −1 to 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your result with stats.norm.cdf(1) − stats.norm.cdf(−1).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Verify a One-Neuron Gradient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6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Prove the chain rule works — three ways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Choose x, w, b and a target t for one sigmoid neuron.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dL/dw by the chain rule, by a numerical derivative, and with sympy.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Confirm all three agree to 4 decimals.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6 sentences: each link of the chain, the sign of the gradient, which way w should move, and how you verified 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Starter Template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Replace the numbers with your own.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three results should match.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Then try a different w and 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6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7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sig = lambda z: 1 / (1 + np.exp(-z))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w, b, t = 2.0, 0.5, 0.0, 1.0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1) chain rule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 = sig(w*x + b)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g1 = 2*(a - t) * a*(1 - a) * 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2) numerical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 = lambda w: (sig(w*x + b) - t)**2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g2 = (L(w + 1e-6) - L(w - 1e-6)) / 2e-6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print(round(g1, 4), round(g2, 4))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3) sympy: build L symbolically and diff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 3"/>
          <p:cNvSpPr/>
          <p:nvPr/>
        </p:nvSpPr>
        <p:spPr>
          <a:xfrm>
            <a:off x="640080" y="12801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CALCULUS II COMPLETE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Text 4"/>
          <p:cNvSpPr/>
          <p:nvPr/>
        </p:nvSpPr>
        <p:spPr>
          <a:xfrm>
            <a:off x="640080" y="16916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You Can Do Now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5"/>
          <p:cNvSpPr/>
          <p:nvPr/>
        </p:nvSpPr>
        <p:spPr>
          <a:xfrm>
            <a:off x="640080" y="2834640"/>
            <a:ext cx="10515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Differentiate with the power, sum, product and quotient rules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Know the derivatives of eˣ, ln x and the sigmoid — and why σ′ vanishes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Apply the chain rule, including a one-neuron loss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Find and classify minima with f′ and f″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Compute integrals by hand and in Python, and link them to probability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6" name="Text 6"/>
          <p:cNvSpPr/>
          <p:nvPr/>
        </p:nvSpPr>
        <p:spPr>
          <a:xfrm>
            <a:off x="640080" y="52120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Next up — Calculus III: partial derivatives, the gradient, Jacobian &amp; Hessian, convexity and saddle points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2026-10-01T10:31:28Z</dcterms:created>
  <dc:creator>PptxGenJS</dc:creator>
  <dc:description/>
  <dc:language>en-US</dc:language>
  <cp:lastModifiedBy/>
  <dcterms:modified xsi:type="dcterms:W3CDTF">2026-10-01T20:35:40Z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48</vt:i4>
  </property>
  <property fmtid="{D5CDD505-2E9C-101B-9397-08002B2CF9AE}" pid="3" name="PresentationFormat">
    <vt:lpwstr>On-screen Show (16:9)</vt:lpwstr>
  </property>
  <property fmtid="{D5CDD505-2E9C-101B-9397-08002B2CF9AE}" pid="4" name="Slides">
    <vt:i4>48</vt:i4>
  </property>
</Properties>
</file>