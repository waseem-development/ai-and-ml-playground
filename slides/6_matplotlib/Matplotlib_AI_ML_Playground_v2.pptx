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02.xml" ContentType="application/vnd.openxmlformats-officedocument.presentationml.slide+xml"/>
  <Override PartName="/ppt/slides/slide55.xml" ContentType="application/vnd.openxmlformats-officedocument.presentationml.slide+xml"/>
  <Override PartName="/ppt/slides/slide101.xml" ContentType="application/vnd.openxmlformats-officedocument.presentationml.slide+xml"/>
  <Override PartName="/ppt/slides/slide54.xml" ContentType="application/vnd.openxmlformats-officedocument.presentationml.slide+xml"/>
  <Override PartName="/ppt/slides/slide100.xml" ContentType="application/vnd.openxmlformats-officedocument.presentationml.slide+xml"/>
  <Override PartName="/ppt/slides/slide53.xml" ContentType="application/vnd.openxmlformats-officedocument.presentationml.slide+xml"/>
  <Override PartName="/ppt/slides/slide45.xml" ContentType="application/vnd.openxmlformats-officedocument.presentationml.slide+xml"/>
  <Override PartName="/ppt/slides/slide44.xml" ContentType="application/vnd.openxmlformats-officedocument.presentationml.slide+xml"/>
  <Override PartName="/ppt/slides/slide42.xml" ContentType="application/vnd.openxmlformats-officedocument.presentationml.slide+xml"/>
  <Override PartName="/ppt/slides/slide40.xml" ContentType="application/vnd.openxmlformats-officedocument.presentationml.slide+xml"/>
  <Override PartName="/ppt/slides/slide38.xml" ContentType="application/vnd.openxmlformats-officedocument.presentationml.slide+xml"/>
  <Override PartName="/ppt/slides/slide36.xml" ContentType="application/vnd.openxmlformats-officedocument.presentationml.slide+xml"/>
  <Override PartName="/ppt/slides/slide33.xml" ContentType="application/vnd.openxmlformats-officedocument.presentationml.slide+xml"/>
  <Override PartName="/ppt/slides/slide39.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52.xml" ContentType="application/vnd.openxmlformats-officedocument.presentationml.slide+xml"/>
  <Override PartName="/ppt/slides/slide30.xml" ContentType="application/vnd.openxmlformats-officedocument.presentationml.slide+xml"/>
  <Override PartName="/ppt/slides/slide5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5.xml" ContentType="application/vnd.openxmlformats-officedocument.presentationml.slide+xml"/>
  <Override PartName="/ppt/slides/slide104.xml" ContentType="application/vnd.openxmlformats-officedocument.presentationml.slide+xml"/>
  <Override PartName="/ppt/slides/slide12.xml" ContentType="application/vnd.openxmlformats-officedocument.presentationml.slide+xml"/>
  <Override PartName="/ppt/slides/slide43.xml" ContentType="application/vnd.openxmlformats-officedocument.presentationml.slide+xml"/>
  <Override PartName="/ppt/slides/slide105.xml" ContentType="application/vnd.openxmlformats-officedocument.presentationml.slide+xml"/>
  <Override PartName="/ppt/slides/slide94.xml" ContentType="application/vnd.openxmlformats-officedocument.presentationml.slide+xml"/>
  <Override PartName="/ppt/slides/slide62.xml" ContentType="application/vnd.openxmlformats-officedocument.presentationml.slide+xml"/>
  <Override PartName="/ppt/slides/slide48.xml" ContentType="application/vnd.openxmlformats-officedocument.presentationml.slide+xml"/>
  <Override PartName="/ppt/slides/slide99.xml" ContentType="application/vnd.openxmlformats-officedocument.presentationml.slide+xml"/>
  <Override PartName="/ppt/slides/slide93.xml" ContentType="application/vnd.openxmlformats-officedocument.presentationml.slide+xml"/>
  <Override PartName="/ppt/slides/slide63.xml" ContentType="application/vnd.openxmlformats-officedocument.presentationml.slide+xml"/>
  <Override PartName="/ppt/slides/slide67.xml" ContentType="application/vnd.openxmlformats-officedocument.presentationml.slide+xml"/>
  <Override PartName="/ppt/slides/slide92.xml" ContentType="application/vnd.openxmlformats-officedocument.presentationml.slide+xml"/>
  <Override PartName="/ppt/slides/slide37.xml" ContentType="application/vnd.openxmlformats-officedocument.presentationml.slide+xml"/>
  <Override PartName="/ppt/slides/slide69.xml" ContentType="application/vnd.openxmlformats-officedocument.presentationml.slide+xml"/>
  <Override PartName="/ppt/slides/slide49.xml" ContentType="application/vnd.openxmlformats-officedocument.presentationml.slide+xml"/>
  <Override PartName="/ppt/slides/slide75.xml" ContentType="application/vnd.openxmlformats-officedocument.presentationml.slide+xml"/>
  <Override PartName="/ppt/slides/slide85.xml" ContentType="application/vnd.openxmlformats-officedocument.presentationml.slide+xml"/>
  <Override PartName="/ppt/slides/slide72.xml" ContentType="application/vnd.openxmlformats-officedocument.presentationml.slide+xml"/>
  <Override PartName="/ppt/slides/slide95.xml" ContentType="application/vnd.openxmlformats-officedocument.presentationml.slide+xml"/>
  <Override PartName="/ppt/slides/slide84.xml" ContentType="application/vnd.openxmlformats-officedocument.presentationml.slide+xml"/>
  <Override PartName="/ppt/slides/slide8.xml" ContentType="application/vnd.openxmlformats-officedocument.presentationml.slide+xml"/>
  <Override PartName="/ppt/slides/slide89.xml" ContentType="application/vnd.openxmlformats-officedocument.presentationml.slide+xml"/>
  <Override PartName="/ppt/slides/slide60.xml" ContentType="application/vnd.openxmlformats-officedocument.presentationml.slide+xml"/>
  <Override PartName="/ppt/slides/slide77.xml" ContentType="application/vnd.openxmlformats-officedocument.presentationml.slide+xml"/>
  <Override PartName="/ppt/slides/slide88.xml" ContentType="application/vnd.openxmlformats-officedocument.presentationml.slide+xml"/>
  <Override PartName="/ppt/slides/slide87.xml" ContentType="application/vnd.openxmlformats-officedocument.presentationml.slide+xml"/>
  <Override PartName="/ppt/slides/slide29.xml" ContentType="application/vnd.openxmlformats-officedocument.presentationml.slide+xml"/>
  <Override PartName="/ppt/slides/slide41.xml" ContentType="application/vnd.openxmlformats-officedocument.presentationml.slide+xml"/>
  <Override PartName="/ppt/slides/slide23.xml" ContentType="application/vnd.openxmlformats-officedocument.presentationml.slide+xml"/>
  <Override PartName="/ppt/slides/slide98.xml" ContentType="application/vnd.openxmlformats-officedocument.presentationml.slide+xml"/>
  <Override PartName="/ppt/slides/slide78.xml" ContentType="application/vnd.openxmlformats-officedocument.presentationml.slide+xml"/>
  <Override PartName="/ppt/slides/slide51.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6.xml" ContentType="application/vnd.openxmlformats-officedocument.presentationml.slide+xml"/>
  <Override PartName="/ppt/slides/slide66.xml" ContentType="application/vnd.openxmlformats-officedocument.presentationml.slide+xml"/>
  <Override PartName="/ppt/slides/slide2.xml" ContentType="application/vnd.openxmlformats-officedocument.presentationml.slide+xml"/>
  <Override PartName="/ppt/slides/slide71.xml" ContentType="application/vnd.openxmlformats-officedocument.presentationml.slide+xml"/>
  <Override PartName="/ppt/slides/slide86.xml" ContentType="application/vnd.openxmlformats-officedocument.presentationml.slide+xml"/>
  <Override PartName="/ppt/slides/slide76.xml" ContentType="application/vnd.openxmlformats-officedocument.presentationml.slide+xml"/>
  <Override PartName="/ppt/slides/slide21.xml" ContentType="application/vnd.openxmlformats-officedocument.presentationml.slide+xml"/>
  <Override PartName="/ppt/slides/slide68.xml" ContentType="application/vnd.openxmlformats-officedocument.presentationml.slide+xml"/>
  <Override PartName="/ppt/slides/slide97.xml" ContentType="application/vnd.openxmlformats-officedocument.presentationml.slide+xml"/>
  <Override PartName="/ppt/slides/slide65.xml" ContentType="application/vnd.openxmlformats-officedocument.presentationml.slide+xml"/>
  <Override PartName="/ppt/slides/slide58.xml" ContentType="application/vnd.openxmlformats-officedocument.presentationml.slide+xml"/>
  <Override PartName="/ppt/slides/slide15.xml" ContentType="application/vnd.openxmlformats-officedocument.presentationml.slide+xml"/>
  <Override PartName="/ppt/slides/slide22.xml" ContentType="application/vnd.openxmlformats-officedocument.presentationml.slide+xml"/>
  <Override PartName="/ppt/slides/slide74.xml" ContentType="application/vnd.openxmlformats-officedocument.presentationml.slide+xml"/>
  <Override PartName="/ppt/slides/slide70.xml" ContentType="application/vnd.openxmlformats-officedocument.presentationml.slide+xml"/>
  <Override PartName="/ppt/slides/slide28.xml" ContentType="application/vnd.openxmlformats-officedocument.presentationml.slide+xml"/>
  <Override PartName="/ppt/slides/slide35.xml" ContentType="application/vnd.openxmlformats-officedocument.presentationml.slide+xml"/>
  <Override PartName="/ppt/slides/slide64.xml" ContentType="application/vnd.openxmlformats-officedocument.presentationml.slide+xml"/>
  <Override PartName="/ppt/slides/slide80.xml" ContentType="application/vnd.openxmlformats-officedocument.presentationml.slide+xml"/>
  <Override PartName="/ppt/slides/slide27.xml" ContentType="application/vnd.openxmlformats-officedocument.presentationml.slide+xml"/>
  <Override PartName="/ppt/slides/slide46.xml" ContentType="application/vnd.openxmlformats-officedocument.presentationml.slide+xml"/>
  <Override PartName="/ppt/slides/slide19.xml" ContentType="application/vnd.openxmlformats-officedocument.presentationml.slide+xml"/>
  <Override PartName="/ppt/slides/slide26.xml" ContentType="application/vnd.openxmlformats-officedocument.presentationml.slide+xml"/>
  <Override PartName="/ppt/slides/slide73.xml" ContentType="application/vnd.openxmlformats-officedocument.presentationml.slide+xml"/>
  <Override PartName="/ppt/slides/slide14.xml" ContentType="application/vnd.openxmlformats-officedocument.presentationml.slide+xml"/>
  <Override PartName="/ppt/slides/slide7.xml" ContentType="application/vnd.openxmlformats-officedocument.presentationml.slide+xml"/>
  <Override PartName="/ppt/slides/slide79.xml" ContentType="application/vnd.openxmlformats-officedocument.presentationml.slide+xml"/>
  <Override PartName="/ppt/slides/slide61.xml" ContentType="application/vnd.openxmlformats-officedocument.presentationml.slide+xml"/>
  <Override PartName="/ppt/slides/slide96.xml" ContentType="application/vnd.openxmlformats-officedocument.presentationml.slide+xml"/>
  <Override PartName="/ppt/slides/slide1.xml" ContentType="application/vnd.openxmlformats-officedocument.presentationml.slide+xml"/>
  <Override PartName="/ppt/slides/slide91.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47.xml" ContentType="application/vnd.openxmlformats-officedocument.presentationml.slide+xml"/>
  <Override PartName="/ppt/slides/slide16.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34.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90.xml" ContentType="application/vnd.openxmlformats-officedocument.presentationml.slide+xml"/>
  <Override PartName="/ppt/slides/slide11.xml" ContentType="application/vnd.openxmlformats-officedocument.presentationml.slide+xml"/>
  <Override PartName="/ppt/slides/slide83.xml" ContentType="application/vnd.openxmlformats-officedocument.presentationml.slide+xml"/>
  <Override PartName="/ppt/slides/slide20.xml" ContentType="application/vnd.openxmlformats-officedocument.presentationml.slide+xml"/>
  <Override PartName="/ppt/slides/slide56.xml" ContentType="application/vnd.openxmlformats-officedocument.presentationml.slide+xml"/>
  <Override PartName="/ppt/slides/slide50.xml" ContentType="application/vnd.openxmlformats-officedocument.presentationml.slide+xml"/>
  <Override PartName="/ppt/slides/slide24.xml" ContentType="application/vnd.openxmlformats-officedocument.presentationml.slide+xml"/>
  <Override PartName="/ppt/slides/slide103.xml" ContentType="application/vnd.openxmlformats-officedocument.presentationml.slide+xml"/>
  <Override PartName="/ppt/slides/slide57.xml" ContentType="application/vnd.openxmlformats-officedocument.presentationml.slide+xml"/>
  <Override PartName="/ppt/notesSlides/notesSlide46.xml" ContentType="application/vnd.openxmlformats-officedocument.presentationml.notesSlide+xml"/>
  <Override PartName="/ppt/notesSlides/notesSlide43.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Override PartName="/ppt/notesSlides/notesSlide37.xml" ContentType="application/vnd.openxmlformats-officedocument.presentationml.notesSlide+xml"/>
  <Override PartName="/ppt/notesSlides/notesSlide36.xml" ContentType="application/vnd.openxmlformats-officedocument.presentationml.notesSlide+xml"/>
  <Override PartName="/ppt/notesSlides/notesSlide49.xml" ContentType="application/vnd.openxmlformats-officedocument.presentationml.notesSlide+xml"/>
  <Override PartName="/ppt/notesSlides/notesSlide12.xml" ContentType="application/vnd.openxmlformats-officedocument.presentationml.notesSlide+xml"/>
  <Override PartName="/ppt/notesSlides/notesSlide47.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8.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94.xml" ContentType="application/vnd.openxmlformats-officedocument.presentationml.notesSlide+xml"/>
  <Override PartName="/ppt/notesSlides/notesSlide52.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91.xml" ContentType="application/vnd.openxmlformats-officedocument.presentationml.notesSlide+xml"/>
  <Override PartName="/ppt/notesSlides/notesSlide69.xml" ContentType="application/vnd.openxmlformats-officedocument.presentationml.notesSlide+xml"/>
  <Override PartName="/ppt/notesSlides/notesSlide86.xml" ContentType="application/vnd.openxmlformats-officedocument.presentationml.notesSlide+xml"/>
  <Override PartName="/ppt/notesSlides/notesSlide88.xml" ContentType="application/vnd.openxmlformats-officedocument.presentationml.notesSlide+xml"/>
  <Override PartName="/ppt/notesSlides/notesSlide104.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notesSlides/notesSlide51.xml" ContentType="application/vnd.openxmlformats-officedocument.presentationml.notesSlide+xml"/>
  <Override PartName="/ppt/notesSlides/notesSlide35.xml" ContentType="application/vnd.openxmlformats-officedocument.presentationml.notesSlide+xml"/>
  <Override PartName="/ppt/notesSlides/notesSlide98.xml" ContentType="application/vnd.openxmlformats-officedocument.presentationml.notesSlide+xml"/>
  <Override PartName="/ppt/notesSlides/notesSlide103.xml" ContentType="application/vnd.openxmlformats-officedocument.presentationml.notesSlide+xml"/>
  <Override PartName="/ppt/notesSlides/notesSlide4.xml" ContentType="application/vnd.openxmlformats-officedocument.presentationml.notesSlide+xml"/>
  <Override PartName="/ppt/notesSlides/notesSlide102.xml" ContentType="application/vnd.openxmlformats-officedocument.presentationml.notesSlide+xml"/>
  <Override PartName="/ppt/notesSlides/notesSlide70.xml" ContentType="application/vnd.openxmlformats-officedocument.presentationml.notesSlide+xml"/>
  <Override PartName="/ppt/notesSlides/notesSlide85.xml" ContentType="application/vnd.openxmlformats-officedocument.presentationml.notesSlide+xml"/>
  <Override PartName="/ppt/notesSlides/notesSlide29.xml" ContentType="application/vnd.openxmlformats-officedocument.presentationml.notesSlide+xml"/>
  <Override PartName="/ppt/notesSlides/notesSlide105.xml" ContentType="application/vnd.openxmlformats-officedocument.presentationml.notesSlide+xml"/>
  <Override PartName="/ppt/notesSlides/notesSlide79.xml" ContentType="application/vnd.openxmlformats-officedocument.presentationml.notesSlide+xml"/>
  <Override PartName="/ppt/notesSlides/notesSlide66.xml" ContentType="application/vnd.openxmlformats-officedocument.presentationml.notesSlide+xml"/>
  <Override PartName="/ppt/notesSlides/notesSlide100.xml" ContentType="application/vnd.openxmlformats-officedocument.presentationml.notesSlide+xml"/>
  <Override PartName="/ppt/notesSlides/notesSlide97.xml" ContentType="application/vnd.openxmlformats-officedocument.presentationml.notesSlide+xml"/>
  <Override PartName="/ppt/notesSlides/notesSlide90.xml" ContentType="application/vnd.openxmlformats-officedocument.presentationml.notesSlide+xml"/>
  <Override PartName="/ppt/notesSlides/notesSlide30.xml" ContentType="application/vnd.openxmlformats-officedocument.presentationml.notesSlide+xml"/>
  <Override PartName="/ppt/notesSlides/notesSlide99.xml" ContentType="application/vnd.openxmlformats-officedocument.presentationml.notesSlide+xml"/>
  <Override PartName="/ppt/notesSlides/notesSlide89.xml" ContentType="application/vnd.openxmlformats-officedocument.presentationml.notesSlide+xml"/>
  <Override PartName="/ppt/notesSlides/notesSlide82.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71.xml" ContentType="application/vnd.openxmlformats-officedocument.presentationml.notesSlide+xml"/>
  <Override PartName="/ppt/notesSlides/notesSlide101.xml" ContentType="application/vnd.openxmlformats-officedocument.presentationml.notesSlide+xml"/>
  <Override PartName="/ppt/notesSlides/notesSlide18.xml" ContentType="application/vnd.openxmlformats-officedocument.presentationml.notesSlide+xml"/>
  <Override PartName="/ppt/notesSlides/notesSlide21.xml" ContentType="application/vnd.openxmlformats-officedocument.presentationml.notesSlide+xml"/>
  <Override PartName="/ppt/notesSlides/notesSlide72.xml" ContentType="application/vnd.openxmlformats-officedocument.presentationml.notesSlide+xml"/>
  <Override PartName="/ppt/notesSlides/notesSlide87.xml" ContentType="application/vnd.openxmlformats-officedocument.presentationml.notesSlide+xml"/>
  <Override PartName="/ppt/notesSlides/notesSlide44.xml" ContentType="application/vnd.openxmlformats-officedocument.presentationml.notesSlide+xml"/>
  <Override PartName="/ppt/notesSlides/notesSlide11.xml" ContentType="application/vnd.openxmlformats-officedocument.presentationml.notesSlide+xml"/>
  <Override PartName="/ppt/notesSlides/notesSlide81.xml" ContentType="application/vnd.openxmlformats-officedocument.presentationml.notesSlide+xml"/>
  <Override PartName="/ppt/notesSlides/notesSlide95.xml" ContentType="application/vnd.openxmlformats-officedocument.presentationml.notesSlide+xml"/>
  <Override PartName="/ppt/notesSlides/notesSlide68.xml" ContentType="application/vnd.openxmlformats-officedocument.presentationml.notesSlide+xml"/>
  <Override PartName="/ppt/notesSlides/notesSlide57.xml" ContentType="application/vnd.openxmlformats-officedocument.presentationml.notesSlide+xml"/>
  <Override PartName="/ppt/notesSlides/notesSlide17.xml" ContentType="application/vnd.openxmlformats-officedocument.presentationml.notesSlide+xml"/>
  <Override PartName="/ppt/notesSlides/notesSlide45.xml" ContentType="application/vnd.openxmlformats-officedocument.presentationml.notesSlide+xml"/>
  <Override PartName="/ppt/notesSlides/notesSlide65.xml" ContentType="application/vnd.openxmlformats-officedocument.presentationml.notesSlide+xml"/>
  <Override PartName="/ppt/notesSlides/notesSlide96.xml" ContentType="application/vnd.openxmlformats-officedocument.presentationml.notesSlide+xml"/>
  <Override PartName="/ppt/notesSlides/notesSlide33.xml" ContentType="application/vnd.openxmlformats-officedocument.presentationml.notesSlide+xml"/>
  <Override PartName="/ppt/notesSlides/notesSlide3.xml" ContentType="application/vnd.openxmlformats-officedocument.presentationml.notesSlide+xml"/>
  <Override PartName="/ppt/notesSlides/notesSlide93.xml" ContentType="application/vnd.openxmlformats-officedocument.presentationml.notesSlide+xml"/>
  <Override PartName="/ppt/notesSlides/notesSlide22.xml" ContentType="application/vnd.openxmlformats-officedocument.presentationml.notesSlide+xml"/>
  <Override PartName="/ppt/notesSlides/notesSlide77.xml" ContentType="application/vnd.openxmlformats-officedocument.presentationml.notesSlide+xml"/>
  <Override PartName="/ppt/notesSlides/notesSlide58.xml" ContentType="application/vnd.openxmlformats-officedocument.presentationml.notesSlide+xml"/>
  <Override PartName="/ppt/notesSlides/notesSlide64.xml" ContentType="application/vnd.openxmlformats-officedocument.presentationml.notesSlide+xml"/>
  <Override PartName="/ppt/notesSlides/notesSlide8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1.xml" ContentType="application/vnd.openxmlformats-officedocument.presentationml.notesSlide+xml"/>
  <Override PartName="/ppt/notesSlides/notesSlide76.xml" ContentType="application/vnd.openxmlformats-officedocument.presentationml.notesSlide+xml"/>
  <Override PartName="/ppt/notesSlides/notesSlide56.xml" ContentType="application/vnd.openxmlformats-officedocument.presentationml.notesSlide+xml"/>
  <Override PartName="/ppt/notesSlides/notesSlide59.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4.xml" ContentType="application/vnd.openxmlformats-officedocument.presentationml.notesSlide+xml"/>
  <Override PartName="/ppt/notesSlides/notesSlide19.xml" ContentType="application/vnd.openxmlformats-officedocument.presentationml.notesSlide+xml"/>
  <Override PartName="/ppt/notesSlides/notesSlide55.xml" ContentType="application/vnd.openxmlformats-officedocument.presentationml.notesSlide+xml"/>
  <Override PartName="/ppt/notesSlides/notesSlide48.xml" ContentType="application/vnd.openxmlformats-officedocument.presentationml.notesSlide+xml"/>
  <Override PartName="/ppt/notesSlides/notesSlide26.xml" ContentType="application/vnd.openxmlformats-officedocument.presentationml.notesSlide+xml"/>
  <Override PartName="/ppt/notesSlides/notesSlide20.xml" ContentType="application/vnd.openxmlformats-officedocument.presentationml.notesSlide+xml"/>
  <Override PartName="/ppt/notesSlides/notesSlide62.xml" ContentType="application/vnd.openxmlformats-officedocument.presentationml.notesSlide+xml"/>
  <Override PartName="/ppt/notesSlides/notesSlide50.xml" ContentType="application/vnd.openxmlformats-officedocument.presentationml.notesSlide+xml"/>
  <Override PartName="/ppt/notesSlides/notesSlide83.xml" ContentType="application/vnd.openxmlformats-officedocument.presentationml.notesSlide+xml"/>
  <Override PartName="/ppt/notesSlides/notesSlide60.xml" ContentType="application/vnd.openxmlformats-officedocument.presentationml.notesSlide+xml"/>
  <Override PartName="/ppt/notesSlides/notesSlide42.xml" ContentType="application/vnd.openxmlformats-officedocument.presentationml.notesSlide+xml"/>
  <Override PartName="/ppt/notesSlides/notesSlide16.xml" ContentType="application/vnd.openxmlformats-officedocument.presentationml.notesSlide+xml"/>
  <Override PartName="/ppt/notesSlides/notesSlide67.xml" ContentType="application/vnd.openxmlformats-officedocument.presentationml.notesSlide+xml"/>
  <Override PartName="/ppt/notesSlides/notesSlide15.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92.xml" ContentType="application/vnd.openxmlformats-officedocument.presentationml.notesSlide+xml"/>
  <Override PartName="/ppt/notesSlides/notesSlide31.xml" ContentType="application/vnd.openxmlformats-officedocument.presentationml.notesSlide+xml"/>
  <Override PartName="/ppt/notesSlides/notesSlide7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CF1DCF8-5852-4318-B00D-E9AEC9EFAECE}"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_rels/notesSlide83.xml.rels><?xml version="1.0" encoding="UTF-8"?>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
</Relationships>
</file>

<file path=ppt/notesSlides/_rels/notesSlide84.xml.rels><?xml version="1.0" encoding="UTF-8"?>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
</Relationships>
</file>

<file path=ppt/notesSlides/_rels/notesSlide85.xml.rels><?xml version="1.0" encoding="UTF-8"?>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
</Relationships>
</file>

<file path=ppt/notesSlides/_rels/notesSlide86.xml.rels><?xml version="1.0" encoding="UTF-8"?>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
</Relationships>
</file>

<file path=ppt/notesSlides/_rels/notesSlide87.xml.rels><?xml version="1.0" encoding="UTF-8"?>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
</Relationships>
</file>

<file path=ppt/notesSlides/_rels/notesSlide88.xml.rels><?xml version="1.0" encoding="UTF-8"?>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
</Relationships>
</file>

<file path=ppt/notesSlides/_rels/notesSlide89.xml.rels><?xml version="1.0" encoding="UTF-8"?>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
</Relationships>
</file>

<file path=ppt/notesSlides/_rels/notesSlide90.xml.rels><?xml version="1.0" encoding="UTF-8"?>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
</Relationships>
</file>

<file path=ppt/notesSlides/_rels/notesSlide91.xml.rels><?xml version="1.0" encoding="UTF-8"?>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
</Relationships>
</file>

<file path=ppt/notesSlides/_rels/notesSlide92.xml.rels><?xml version="1.0" encoding="UTF-8"?>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
</Relationships>
</file>

<file path=ppt/notesSlides/_rels/notesSlide93.xml.rels><?xml version="1.0" encoding="UTF-8"?>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
</Relationships>
</file>

<file path=ppt/notesSlides/_rels/notesSlide94.xml.rels><?xml version="1.0" encoding="UTF-8"?>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
</Relationships>
</file>

<file path=ppt/notesSlides/_rels/notesSlide95.xml.rels><?xml version="1.0" encoding="UTF-8"?>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
</Relationships>
</file>

<file path=ppt/notesSlides/_rels/notesSlide96.xml.rels><?xml version="1.0" encoding="UTF-8"?>
<Relationships xmlns="http://schemas.openxmlformats.org/package/2006/relationships"><Relationship Id="rId1" Type="http://schemas.openxmlformats.org/officeDocument/2006/relationships/slide" Target="../slides/slide96.xml"/><Relationship Id="rId2" Type="http://schemas.openxmlformats.org/officeDocument/2006/relationships/notesMaster" Target="../notesMasters/notesMaster1.xml"/>
</Relationships>
</file>

<file path=ppt/notesSlides/_rels/notesSlide97.xml.rels><?xml version="1.0" encoding="UTF-8"?>
<Relationships xmlns="http://schemas.openxmlformats.org/package/2006/relationships"><Relationship Id="rId1" Type="http://schemas.openxmlformats.org/officeDocument/2006/relationships/slide" Target="../slides/slide97.xml"/><Relationship Id="rId2" Type="http://schemas.openxmlformats.org/officeDocument/2006/relationships/notesMaster" Target="../notesMasters/notesMaster1.xml"/>
</Relationships>
</file>

<file path=ppt/notesSlides/_rels/notesSlide98.xml.rels><?xml version="1.0" encoding="UTF-8"?>
<Relationships xmlns="http://schemas.openxmlformats.org/package/2006/relationships"><Relationship Id="rId1" Type="http://schemas.openxmlformats.org/officeDocument/2006/relationships/slide" Target="../slides/slide98.xml"/><Relationship Id="rId2" Type="http://schemas.openxmlformats.org/officeDocument/2006/relationships/notesMaster" Target="../notesMasters/notesMaster1.xml"/>
</Relationships>
</file>

<file path=ppt/notesSlides/_rels/notesSlide99.xml.rels><?xml version="1.0" encoding="UTF-8"?>
<Relationships xmlns="http://schemas.openxmlformats.org/package/2006/relationships"><Relationship Id="rId1" Type="http://schemas.openxmlformats.org/officeDocument/2006/relationships/slide" Target="../slides/slide99.xml"/><Relationship Id="rId2" Type="http://schemas.openxmlformats.org/officeDocument/2006/relationships/notesMaster" Target="../notesMasters/notesMaster1.xml"/>
</Relationships>
</file>

<file path=ppt/notesSlides/_rels/notesSlide100.xml.rels><?xml version="1.0" encoding="UTF-8"?>
<Relationships xmlns="http://schemas.openxmlformats.org/package/2006/relationships"><Relationship Id="rId1" Type="http://schemas.openxmlformats.org/officeDocument/2006/relationships/slide" Target="../slides/slide100.xml"/><Relationship Id="rId2" Type="http://schemas.openxmlformats.org/officeDocument/2006/relationships/notesMaster" Target="../notesMasters/notesMaster1.xml"/>
</Relationships>
</file>

<file path=ppt/notesSlides/_rels/notesSlide101.xml.rels><?xml version="1.0" encoding="UTF-8"?>
<Relationships xmlns="http://schemas.openxmlformats.org/package/2006/relationships"><Relationship Id="rId1" Type="http://schemas.openxmlformats.org/officeDocument/2006/relationships/slide" Target="../slides/slide101.xml"/><Relationship Id="rId2" Type="http://schemas.openxmlformats.org/officeDocument/2006/relationships/notesMaster" Target="../notesMasters/notesMaster1.xml"/>
</Relationships>
</file>

<file path=ppt/notesSlides/_rels/notesSlide102.xml.rels><?xml version="1.0" encoding="UTF-8"?>
<Relationships xmlns="http://schemas.openxmlformats.org/package/2006/relationships"><Relationship Id="rId1" Type="http://schemas.openxmlformats.org/officeDocument/2006/relationships/slide" Target="../slides/slide102.xml"/><Relationship Id="rId2" Type="http://schemas.openxmlformats.org/officeDocument/2006/relationships/notesMaster" Target="../notesMasters/notesMaster1.xml"/>
</Relationships>
</file>

<file path=ppt/notesSlides/_rels/notesSlide103.xml.rels><?xml version="1.0" encoding="UTF-8"?>
<Relationships xmlns="http://schemas.openxmlformats.org/package/2006/relationships"><Relationship Id="rId1" Type="http://schemas.openxmlformats.org/officeDocument/2006/relationships/slide" Target="../slides/slide103.xml"/><Relationship Id="rId2" Type="http://schemas.openxmlformats.org/officeDocument/2006/relationships/notesMaster" Target="../notesMasters/notesMaster1.xml"/>
</Relationships>
</file>

<file path=ppt/notesSlides/_rels/notesSlide104.xml.rels><?xml version="1.0" encoding="UTF-8"?>
<Relationships xmlns="http://schemas.openxmlformats.org/package/2006/relationships"><Relationship Id="rId1" Type="http://schemas.openxmlformats.org/officeDocument/2006/relationships/slide" Target="../slides/slide104.xml"/><Relationship Id="rId2" Type="http://schemas.openxmlformats.org/officeDocument/2006/relationships/notesMaster" Target="../notesMasters/notesMaster1.xml"/>
</Relationships>
</file>

<file path=ppt/notesSlides/_rels/notesSlide105.xml.rels><?xml version="1.0" encoding="UTF-8"?>
<Relationships xmlns="http://schemas.openxmlformats.org/package/2006/relationships"><Relationship Id="rId1" Type="http://schemas.openxmlformats.org/officeDocument/2006/relationships/slide" Target="../slides/slide10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3" name="PlaceHolder 1"/>
          <p:cNvSpPr>
            <a:spLocks noGrp="1"/>
          </p:cNvSpPr>
          <p:nvPr>
            <p:ph type="sldImg"/>
          </p:nvPr>
        </p:nvSpPr>
        <p:spPr>
          <a:xfrm>
            <a:off x="685800" y="1143000"/>
            <a:ext cx="5485680" cy="3085560"/>
          </a:xfrm>
          <a:prstGeom prst="rect">
            <a:avLst/>
          </a:prstGeom>
          <a:ln w="0">
            <a:noFill/>
          </a:ln>
        </p:spPr>
      </p:sp>
      <p:sp>
        <p:nvSpPr>
          <p:cNvPr id="139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95"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1E6F9F4-1F93-48B3-B2C1-3E85EDB54A1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6" name="PlaceHolder 1"/>
          <p:cNvSpPr>
            <a:spLocks noGrp="1"/>
          </p:cNvSpPr>
          <p:nvPr>
            <p:ph type="sldImg"/>
          </p:nvPr>
        </p:nvSpPr>
        <p:spPr>
          <a:xfrm>
            <a:off x="685800" y="1143000"/>
            <a:ext cx="5485680" cy="3085560"/>
          </a:xfrm>
          <a:prstGeom prst="rect">
            <a:avLst/>
          </a:prstGeom>
          <a:ln w="0">
            <a:noFill/>
          </a:ln>
        </p:spPr>
      </p:sp>
      <p:sp>
        <p:nvSpPr>
          <p:cNvPr id="139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98"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FE89708-1237-4B88-844E-D0F80D0B022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9" name="PlaceHolder 1"/>
          <p:cNvSpPr>
            <a:spLocks noGrp="1"/>
          </p:cNvSpPr>
          <p:nvPr>
            <p:ph type="sldImg"/>
          </p:nvPr>
        </p:nvSpPr>
        <p:spPr>
          <a:xfrm>
            <a:off x="685800" y="1143000"/>
            <a:ext cx="5485680" cy="3085560"/>
          </a:xfrm>
          <a:prstGeom prst="rect">
            <a:avLst/>
          </a:prstGeom>
          <a:ln w="0">
            <a:noFill/>
          </a:ln>
        </p:spPr>
      </p:sp>
      <p:sp>
        <p:nvSpPr>
          <p:cNvPr id="140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01"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D462E09-3EF4-4A92-9BFC-CB6EA7280EC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2" name="PlaceHolder 1"/>
          <p:cNvSpPr>
            <a:spLocks noGrp="1"/>
          </p:cNvSpPr>
          <p:nvPr>
            <p:ph type="sldImg"/>
          </p:nvPr>
        </p:nvSpPr>
        <p:spPr>
          <a:xfrm>
            <a:off x="685800" y="1143000"/>
            <a:ext cx="5485680" cy="3085560"/>
          </a:xfrm>
          <a:prstGeom prst="rect">
            <a:avLst/>
          </a:prstGeom>
          <a:ln w="0">
            <a:noFill/>
          </a:ln>
        </p:spPr>
      </p:sp>
      <p:sp>
        <p:nvSpPr>
          <p:cNvPr id="140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04"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EE55541-3055-4603-A4E6-1A8AFEA10F8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5" name="PlaceHolder 1"/>
          <p:cNvSpPr>
            <a:spLocks noGrp="1"/>
          </p:cNvSpPr>
          <p:nvPr>
            <p:ph type="sldImg"/>
          </p:nvPr>
        </p:nvSpPr>
        <p:spPr>
          <a:xfrm>
            <a:off x="685800" y="1143000"/>
            <a:ext cx="5485680" cy="3085560"/>
          </a:xfrm>
          <a:prstGeom prst="rect">
            <a:avLst/>
          </a:prstGeom>
          <a:ln w="0">
            <a:noFill/>
          </a:ln>
        </p:spPr>
      </p:sp>
      <p:sp>
        <p:nvSpPr>
          <p:cNvPr id="140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07"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4C98BFA-48A2-42AC-BF86-C2ED2B1D764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8" name="PlaceHolder 1"/>
          <p:cNvSpPr>
            <a:spLocks noGrp="1"/>
          </p:cNvSpPr>
          <p:nvPr>
            <p:ph type="sldImg"/>
          </p:nvPr>
        </p:nvSpPr>
        <p:spPr>
          <a:xfrm>
            <a:off x="685800" y="1143000"/>
            <a:ext cx="5485680" cy="3085560"/>
          </a:xfrm>
          <a:prstGeom prst="rect">
            <a:avLst/>
          </a:prstGeom>
          <a:ln w="0">
            <a:noFill/>
          </a:ln>
        </p:spPr>
      </p:sp>
      <p:sp>
        <p:nvSpPr>
          <p:cNvPr id="140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10"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4E16CF7-FB47-4643-9D8C-BA27D7D2FFD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1" name="PlaceHolder 1"/>
          <p:cNvSpPr>
            <a:spLocks noGrp="1"/>
          </p:cNvSpPr>
          <p:nvPr>
            <p:ph type="sldImg"/>
          </p:nvPr>
        </p:nvSpPr>
        <p:spPr>
          <a:xfrm>
            <a:off x="685800" y="1143000"/>
            <a:ext cx="5485680" cy="3085560"/>
          </a:xfrm>
          <a:prstGeom prst="rect">
            <a:avLst/>
          </a:prstGeom>
          <a:ln w="0">
            <a:noFill/>
          </a:ln>
        </p:spPr>
      </p:sp>
      <p:sp>
        <p:nvSpPr>
          <p:cNvPr id="141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13"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C1A57C4-4BF4-43EB-A15D-D8E778849B9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4" name="PlaceHolder 1"/>
          <p:cNvSpPr>
            <a:spLocks noGrp="1"/>
          </p:cNvSpPr>
          <p:nvPr>
            <p:ph type="sldImg"/>
          </p:nvPr>
        </p:nvSpPr>
        <p:spPr>
          <a:xfrm>
            <a:off x="685800" y="1143000"/>
            <a:ext cx="5485680" cy="3085560"/>
          </a:xfrm>
          <a:prstGeom prst="rect">
            <a:avLst/>
          </a:prstGeom>
          <a:ln w="0">
            <a:noFill/>
          </a:ln>
        </p:spPr>
      </p:sp>
      <p:sp>
        <p:nvSpPr>
          <p:cNvPr id="141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16"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0204D4C-85F8-4212-9528-0DB261B41EA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7" name="PlaceHolder 1"/>
          <p:cNvSpPr>
            <a:spLocks noGrp="1"/>
          </p:cNvSpPr>
          <p:nvPr>
            <p:ph type="sldImg"/>
          </p:nvPr>
        </p:nvSpPr>
        <p:spPr>
          <a:xfrm>
            <a:off x="685800" y="1143000"/>
            <a:ext cx="5485680" cy="3085560"/>
          </a:xfrm>
          <a:prstGeom prst="rect">
            <a:avLst/>
          </a:prstGeom>
          <a:ln w="0">
            <a:noFill/>
          </a:ln>
        </p:spPr>
      </p:sp>
      <p:sp>
        <p:nvSpPr>
          <p:cNvPr id="141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19"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8CBDD33-CE19-476E-875D-392202823F0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0" name="PlaceHolder 1"/>
          <p:cNvSpPr>
            <a:spLocks noGrp="1"/>
          </p:cNvSpPr>
          <p:nvPr>
            <p:ph type="sldImg"/>
          </p:nvPr>
        </p:nvSpPr>
        <p:spPr>
          <a:xfrm>
            <a:off x="685800" y="1143000"/>
            <a:ext cx="5485680" cy="3085560"/>
          </a:xfrm>
          <a:prstGeom prst="rect">
            <a:avLst/>
          </a:prstGeom>
          <a:ln w="0">
            <a:noFill/>
          </a:ln>
        </p:spPr>
      </p:sp>
      <p:sp>
        <p:nvSpPr>
          <p:cNvPr id="142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22"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FA0AE6B-90C3-4554-8F2D-034F4972104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3" name="PlaceHolder 1"/>
          <p:cNvSpPr>
            <a:spLocks noGrp="1"/>
          </p:cNvSpPr>
          <p:nvPr>
            <p:ph type="sldImg"/>
          </p:nvPr>
        </p:nvSpPr>
        <p:spPr>
          <a:xfrm>
            <a:off x="685800" y="1143000"/>
            <a:ext cx="5485680" cy="3085560"/>
          </a:xfrm>
          <a:prstGeom prst="rect">
            <a:avLst/>
          </a:prstGeom>
          <a:ln w="0">
            <a:noFill/>
          </a:ln>
        </p:spPr>
      </p:sp>
      <p:sp>
        <p:nvSpPr>
          <p:cNvPr id="142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25"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0944303-20E3-4463-9EC0-8F7B05C1198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6" name="PlaceHolder 1"/>
          <p:cNvSpPr>
            <a:spLocks noGrp="1"/>
          </p:cNvSpPr>
          <p:nvPr>
            <p:ph type="sldImg"/>
          </p:nvPr>
        </p:nvSpPr>
        <p:spPr>
          <a:xfrm>
            <a:off x="685800" y="1143000"/>
            <a:ext cx="5485680" cy="3085560"/>
          </a:xfrm>
          <a:prstGeom prst="rect">
            <a:avLst/>
          </a:prstGeom>
          <a:ln w="0">
            <a:noFill/>
          </a:ln>
        </p:spPr>
      </p:sp>
      <p:sp>
        <p:nvSpPr>
          <p:cNvPr id="142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28"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5A6738C-14E7-4633-B0D5-2BCF7304874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9" name="PlaceHolder 1"/>
          <p:cNvSpPr>
            <a:spLocks noGrp="1"/>
          </p:cNvSpPr>
          <p:nvPr>
            <p:ph type="sldImg"/>
          </p:nvPr>
        </p:nvSpPr>
        <p:spPr>
          <a:xfrm>
            <a:off x="685800" y="1143000"/>
            <a:ext cx="5485680" cy="3085560"/>
          </a:xfrm>
          <a:prstGeom prst="rect">
            <a:avLst/>
          </a:prstGeom>
          <a:ln w="0">
            <a:noFill/>
          </a:ln>
        </p:spPr>
      </p:sp>
      <p:sp>
        <p:nvSpPr>
          <p:cNvPr id="143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31"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48402AD-5400-466D-8070-F899E1122A0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2" name="PlaceHolder 1"/>
          <p:cNvSpPr>
            <a:spLocks noGrp="1"/>
          </p:cNvSpPr>
          <p:nvPr>
            <p:ph type="sldImg"/>
          </p:nvPr>
        </p:nvSpPr>
        <p:spPr>
          <a:xfrm>
            <a:off x="685800" y="1143000"/>
            <a:ext cx="5485680" cy="3085560"/>
          </a:xfrm>
          <a:prstGeom prst="rect">
            <a:avLst/>
          </a:prstGeom>
          <a:ln w="0">
            <a:noFill/>
          </a:ln>
        </p:spPr>
      </p:sp>
      <p:sp>
        <p:nvSpPr>
          <p:cNvPr id="143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34"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3741E6D-2648-4794-A533-F75AA3FFAED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5" name="PlaceHolder 1"/>
          <p:cNvSpPr>
            <a:spLocks noGrp="1"/>
          </p:cNvSpPr>
          <p:nvPr>
            <p:ph type="sldImg"/>
          </p:nvPr>
        </p:nvSpPr>
        <p:spPr>
          <a:xfrm>
            <a:off x="685800" y="1143000"/>
            <a:ext cx="5485680" cy="3085560"/>
          </a:xfrm>
          <a:prstGeom prst="rect">
            <a:avLst/>
          </a:prstGeom>
          <a:ln w="0">
            <a:noFill/>
          </a:ln>
        </p:spPr>
      </p:sp>
      <p:sp>
        <p:nvSpPr>
          <p:cNvPr id="143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37"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08325A8-935C-41AB-B8BE-7B9FEB67ED1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8" name="PlaceHolder 1"/>
          <p:cNvSpPr>
            <a:spLocks noGrp="1"/>
          </p:cNvSpPr>
          <p:nvPr>
            <p:ph type="sldImg"/>
          </p:nvPr>
        </p:nvSpPr>
        <p:spPr>
          <a:xfrm>
            <a:off x="685800" y="1143000"/>
            <a:ext cx="5485680" cy="3085560"/>
          </a:xfrm>
          <a:prstGeom prst="rect">
            <a:avLst/>
          </a:prstGeom>
          <a:ln w="0">
            <a:noFill/>
          </a:ln>
        </p:spPr>
      </p:sp>
      <p:sp>
        <p:nvSpPr>
          <p:cNvPr id="143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40"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B209D68-22E6-42EE-94A8-479C4C38633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1" name="PlaceHolder 1"/>
          <p:cNvSpPr>
            <a:spLocks noGrp="1"/>
          </p:cNvSpPr>
          <p:nvPr>
            <p:ph type="sldImg"/>
          </p:nvPr>
        </p:nvSpPr>
        <p:spPr>
          <a:xfrm>
            <a:off x="685800" y="1143000"/>
            <a:ext cx="5485680" cy="3085560"/>
          </a:xfrm>
          <a:prstGeom prst="rect">
            <a:avLst/>
          </a:prstGeom>
          <a:ln w="0">
            <a:noFill/>
          </a:ln>
        </p:spPr>
      </p:sp>
      <p:sp>
        <p:nvSpPr>
          <p:cNvPr id="144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43"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365246C-7CE3-4554-B780-B3159BB757D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4" name="PlaceHolder 1"/>
          <p:cNvSpPr>
            <a:spLocks noGrp="1"/>
          </p:cNvSpPr>
          <p:nvPr>
            <p:ph type="sldImg"/>
          </p:nvPr>
        </p:nvSpPr>
        <p:spPr>
          <a:xfrm>
            <a:off x="685800" y="1143000"/>
            <a:ext cx="5485680" cy="3085560"/>
          </a:xfrm>
          <a:prstGeom prst="rect">
            <a:avLst/>
          </a:prstGeom>
          <a:ln w="0">
            <a:noFill/>
          </a:ln>
        </p:spPr>
      </p:sp>
      <p:sp>
        <p:nvSpPr>
          <p:cNvPr id="144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46"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B3F0283-72BF-4605-BFB3-83C68FFC89C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7" name="PlaceHolder 1"/>
          <p:cNvSpPr>
            <a:spLocks noGrp="1"/>
          </p:cNvSpPr>
          <p:nvPr>
            <p:ph type="sldImg"/>
          </p:nvPr>
        </p:nvSpPr>
        <p:spPr>
          <a:xfrm>
            <a:off x="685800" y="1143000"/>
            <a:ext cx="5485680" cy="3085560"/>
          </a:xfrm>
          <a:prstGeom prst="rect">
            <a:avLst/>
          </a:prstGeom>
          <a:ln w="0">
            <a:noFill/>
          </a:ln>
        </p:spPr>
      </p:sp>
      <p:sp>
        <p:nvSpPr>
          <p:cNvPr id="144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49"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871F55B-ADC6-49ED-914A-498D10F147C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0" name="PlaceHolder 1"/>
          <p:cNvSpPr>
            <a:spLocks noGrp="1"/>
          </p:cNvSpPr>
          <p:nvPr>
            <p:ph type="sldImg"/>
          </p:nvPr>
        </p:nvSpPr>
        <p:spPr>
          <a:xfrm>
            <a:off x="685800" y="1143000"/>
            <a:ext cx="5485680" cy="3085560"/>
          </a:xfrm>
          <a:prstGeom prst="rect">
            <a:avLst/>
          </a:prstGeom>
          <a:ln w="0">
            <a:noFill/>
          </a:ln>
        </p:spPr>
      </p:sp>
      <p:sp>
        <p:nvSpPr>
          <p:cNvPr id="145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52"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34BD4F2-765B-44F6-93A2-7AC0350CFB8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3" name="PlaceHolder 1"/>
          <p:cNvSpPr>
            <a:spLocks noGrp="1"/>
          </p:cNvSpPr>
          <p:nvPr>
            <p:ph type="sldImg"/>
          </p:nvPr>
        </p:nvSpPr>
        <p:spPr>
          <a:xfrm>
            <a:off x="685800" y="1143000"/>
            <a:ext cx="5485680" cy="3085560"/>
          </a:xfrm>
          <a:prstGeom prst="rect">
            <a:avLst/>
          </a:prstGeom>
          <a:ln w="0">
            <a:noFill/>
          </a:ln>
        </p:spPr>
      </p:sp>
      <p:sp>
        <p:nvSpPr>
          <p:cNvPr id="145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55"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5DBF12D-D7A7-4719-A13A-B9B5A9E3820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6" name="PlaceHolder 1"/>
          <p:cNvSpPr>
            <a:spLocks noGrp="1"/>
          </p:cNvSpPr>
          <p:nvPr>
            <p:ph type="sldImg"/>
          </p:nvPr>
        </p:nvSpPr>
        <p:spPr>
          <a:xfrm>
            <a:off x="685800" y="1143000"/>
            <a:ext cx="5485680" cy="3085560"/>
          </a:xfrm>
          <a:prstGeom prst="rect">
            <a:avLst/>
          </a:prstGeom>
          <a:ln w="0">
            <a:noFill/>
          </a:ln>
        </p:spPr>
      </p:sp>
      <p:sp>
        <p:nvSpPr>
          <p:cNvPr id="145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58"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353875B-5EB6-4F52-AB86-60D90005DB0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9" name="PlaceHolder 1"/>
          <p:cNvSpPr>
            <a:spLocks noGrp="1"/>
          </p:cNvSpPr>
          <p:nvPr>
            <p:ph type="sldImg"/>
          </p:nvPr>
        </p:nvSpPr>
        <p:spPr>
          <a:xfrm>
            <a:off x="685800" y="1143000"/>
            <a:ext cx="5485680" cy="3085560"/>
          </a:xfrm>
          <a:prstGeom prst="rect">
            <a:avLst/>
          </a:prstGeom>
          <a:ln w="0">
            <a:noFill/>
          </a:ln>
        </p:spPr>
      </p:sp>
      <p:sp>
        <p:nvSpPr>
          <p:cNvPr id="146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61"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2E12875-1A0B-4C63-A027-78BBAB9DF0D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2" name="PlaceHolder 1"/>
          <p:cNvSpPr>
            <a:spLocks noGrp="1"/>
          </p:cNvSpPr>
          <p:nvPr>
            <p:ph type="sldImg"/>
          </p:nvPr>
        </p:nvSpPr>
        <p:spPr>
          <a:xfrm>
            <a:off x="685800" y="1143000"/>
            <a:ext cx="5485680" cy="3085560"/>
          </a:xfrm>
          <a:prstGeom prst="rect">
            <a:avLst/>
          </a:prstGeom>
          <a:ln w="0">
            <a:noFill/>
          </a:ln>
        </p:spPr>
      </p:sp>
      <p:sp>
        <p:nvSpPr>
          <p:cNvPr id="146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64" name="PlaceHolder 3"/>
          <p:cNvSpPr>
            <a:spLocks noGrp="1"/>
          </p:cNvSpPr>
          <p:nvPr>
            <p:ph type="sldNum" idx="2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355221F-0AD1-44E0-A388-7AC9A4454F2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5" name="PlaceHolder 1"/>
          <p:cNvSpPr>
            <a:spLocks noGrp="1"/>
          </p:cNvSpPr>
          <p:nvPr>
            <p:ph type="sldImg"/>
          </p:nvPr>
        </p:nvSpPr>
        <p:spPr>
          <a:xfrm>
            <a:off x="685800" y="1143000"/>
            <a:ext cx="5485680" cy="3085560"/>
          </a:xfrm>
          <a:prstGeom prst="rect">
            <a:avLst/>
          </a:prstGeom>
          <a:ln w="0">
            <a:noFill/>
          </a:ln>
        </p:spPr>
      </p:sp>
      <p:sp>
        <p:nvSpPr>
          <p:cNvPr id="146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67"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413140-8871-4A73-BE3C-660D50E54AB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8" name="PlaceHolder 1"/>
          <p:cNvSpPr>
            <a:spLocks noGrp="1"/>
          </p:cNvSpPr>
          <p:nvPr>
            <p:ph type="sldImg"/>
          </p:nvPr>
        </p:nvSpPr>
        <p:spPr>
          <a:xfrm>
            <a:off x="685800" y="1143000"/>
            <a:ext cx="5485680" cy="3085560"/>
          </a:xfrm>
          <a:prstGeom prst="rect">
            <a:avLst/>
          </a:prstGeom>
          <a:ln w="0">
            <a:noFill/>
          </a:ln>
        </p:spPr>
      </p:sp>
      <p:sp>
        <p:nvSpPr>
          <p:cNvPr id="146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70"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009F6F2-DDEE-4885-B5CC-242C5BBE62B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1" name="PlaceHolder 1"/>
          <p:cNvSpPr>
            <a:spLocks noGrp="1"/>
          </p:cNvSpPr>
          <p:nvPr>
            <p:ph type="sldImg"/>
          </p:nvPr>
        </p:nvSpPr>
        <p:spPr>
          <a:xfrm>
            <a:off x="685800" y="1143000"/>
            <a:ext cx="5485680" cy="3085560"/>
          </a:xfrm>
          <a:prstGeom prst="rect">
            <a:avLst/>
          </a:prstGeom>
          <a:ln w="0">
            <a:noFill/>
          </a:ln>
        </p:spPr>
      </p:sp>
      <p:sp>
        <p:nvSpPr>
          <p:cNvPr id="147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73"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DC8BB22-79A1-419B-9870-8E3767022BA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4" name="PlaceHolder 1"/>
          <p:cNvSpPr>
            <a:spLocks noGrp="1"/>
          </p:cNvSpPr>
          <p:nvPr>
            <p:ph type="sldImg"/>
          </p:nvPr>
        </p:nvSpPr>
        <p:spPr>
          <a:xfrm>
            <a:off x="685800" y="1143000"/>
            <a:ext cx="5485680" cy="3085560"/>
          </a:xfrm>
          <a:prstGeom prst="rect">
            <a:avLst/>
          </a:prstGeom>
          <a:ln w="0">
            <a:noFill/>
          </a:ln>
        </p:spPr>
      </p:sp>
      <p:sp>
        <p:nvSpPr>
          <p:cNvPr id="147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76"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FB2EFB-3B8C-492B-8BE0-958B2F58AA4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7" name="PlaceHolder 1"/>
          <p:cNvSpPr>
            <a:spLocks noGrp="1"/>
          </p:cNvSpPr>
          <p:nvPr>
            <p:ph type="sldImg"/>
          </p:nvPr>
        </p:nvSpPr>
        <p:spPr>
          <a:xfrm>
            <a:off x="685800" y="1143000"/>
            <a:ext cx="5485680" cy="3085560"/>
          </a:xfrm>
          <a:prstGeom prst="rect">
            <a:avLst/>
          </a:prstGeom>
          <a:ln w="0">
            <a:noFill/>
          </a:ln>
        </p:spPr>
      </p:sp>
      <p:sp>
        <p:nvSpPr>
          <p:cNvPr id="147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79"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D3FD69F-9F15-48B8-A810-1C03D75CC7C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0" name="PlaceHolder 1"/>
          <p:cNvSpPr>
            <a:spLocks noGrp="1"/>
          </p:cNvSpPr>
          <p:nvPr>
            <p:ph type="sldImg"/>
          </p:nvPr>
        </p:nvSpPr>
        <p:spPr>
          <a:xfrm>
            <a:off x="685800" y="1143000"/>
            <a:ext cx="5485680" cy="3085560"/>
          </a:xfrm>
          <a:prstGeom prst="rect">
            <a:avLst/>
          </a:prstGeom>
          <a:ln w="0">
            <a:noFill/>
          </a:ln>
        </p:spPr>
      </p:sp>
      <p:sp>
        <p:nvSpPr>
          <p:cNvPr id="148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82"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954B202-019C-47D7-A45D-2273B79CD2D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3" name="PlaceHolder 1"/>
          <p:cNvSpPr>
            <a:spLocks noGrp="1"/>
          </p:cNvSpPr>
          <p:nvPr>
            <p:ph type="sldImg"/>
          </p:nvPr>
        </p:nvSpPr>
        <p:spPr>
          <a:xfrm>
            <a:off x="685800" y="1143000"/>
            <a:ext cx="5485680" cy="3085560"/>
          </a:xfrm>
          <a:prstGeom prst="rect">
            <a:avLst/>
          </a:prstGeom>
          <a:ln w="0">
            <a:noFill/>
          </a:ln>
        </p:spPr>
      </p:sp>
      <p:sp>
        <p:nvSpPr>
          <p:cNvPr id="148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85"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32EACDE-246B-468A-B493-43235E10706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6" name="PlaceHolder 1"/>
          <p:cNvSpPr>
            <a:spLocks noGrp="1"/>
          </p:cNvSpPr>
          <p:nvPr>
            <p:ph type="sldImg"/>
          </p:nvPr>
        </p:nvSpPr>
        <p:spPr>
          <a:xfrm>
            <a:off x="685800" y="1143000"/>
            <a:ext cx="5485680" cy="3085560"/>
          </a:xfrm>
          <a:prstGeom prst="rect">
            <a:avLst/>
          </a:prstGeom>
          <a:ln w="0">
            <a:noFill/>
          </a:ln>
        </p:spPr>
      </p:sp>
      <p:sp>
        <p:nvSpPr>
          <p:cNvPr id="148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88"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E9B0426-CA72-4437-96BF-74FD82A2AD9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9" name="PlaceHolder 1"/>
          <p:cNvSpPr>
            <a:spLocks noGrp="1"/>
          </p:cNvSpPr>
          <p:nvPr>
            <p:ph type="sldImg"/>
          </p:nvPr>
        </p:nvSpPr>
        <p:spPr>
          <a:xfrm>
            <a:off x="685800" y="1143000"/>
            <a:ext cx="5485680" cy="3085560"/>
          </a:xfrm>
          <a:prstGeom prst="rect">
            <a:avLst/>
          </a:prstGeom>
          <a:ln w="0">
            <a:noFill/>
          </a:ln>
        </p:spPr>
      </p:sp>
      <p:sp>
        <p:nvSpPr>
          <p:cNvPr id="149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91"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052DB82-6226-444F-9D9C-B6D94B1A423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2" name="PlaceHolder 1"/>
          <p:cNvSpPr>
            <a:spLocks noGrp="1"/>
          </p:cNvSpPr>
          <p:nvPr>
            <p:ph type="sldImg"/>
          </p:nvPr>
        </p:nvSpPr>
        <p:spPr>
          <a:xfrm>
            <a:off x="685800" y="1143000"/>
            <a:ext cx="5485680" cy="3085560"/>
          </a:xfrm>
          <a:prstGeom prst="rect">
            <a:avLst/>
          </a:prstGeom>
          <a:ln w="0">
            <a:noFill/>
          </a:ln>
        </p:spPr>
      </p:sp>
      <p:sp>
        <p:nvSpPr>
          <p:cNvPr id="149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94" name="PlaceHolder 3"/>
          <p:cNvSpPr>
            <a:spLocks noGrp="1"/>
          </p:cNvSpPr>
          <p:nvPr>
            <p:ph type="sldNum" idx="3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DEADF0A-DC0F-4E20-AFB4-23A0079D34D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5" name="PlaceHolder 1"/>
          <p:cNvSpPr>
            <a:spLocks noGrp="1"/>
          </p:cNvSpPr>
          <p:nvPr>
            <p:ph type="sldImg"/>
          </p:nvPr>
        </p:nvSpPr>
        <p:spPr>
          <a:xfrm>
            <a:off x="685800" y="1143000"/>
            <a:ext cx="5485680" cy="3085560"/>
          </a:xfrm>
          <a:prstGeom prst="rect">
            <a:avLst/>
          </a:prstGeom>
          <a:ln w="0">
            <a:noFill/>
          </a:ln>
        </p:spPr>
      </p:sp>
      <p:sp>
        <p:nvSpPr>
          <p:cNvPr id="149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97" name="PlaceHolder 3"/>
          <p:cNvSpPr>
            <a:spLocks noGrp="1"/>
          </p:cNvSpPr>
          <p:nvPr>
            <p:ph type="sldNum" idx="3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625FE79-78DC-4793-BB16-29C35584EC8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8" name="PlaceHolder 1"/>
          <p:cNvSpPr>
            <a:spLocks noGrp="1"/>
          </p:cNvSpPr>
          <p:nvPr>
            <p:ph type="sldImg"/>
          </p:nvPr>
        </p:nvSpPr>
        <p:spPr>
          <a:xfrm>
            <a:off x="685800" y="1143000"/>
            <a:ext cx="5485680" cy="3085560"/>
          </a:xfrm>
          <a:prstGeom prst="rect">
            <a:avLst/>
          </a:prstGeom>
          <a:ln w="0">
            <a:noFill/>
          </a:ln>
        </p:spPr>
      </p:sp>
      <p:sp>
        <p:nvSpPr>
          <p:cNvPr id="149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00" name="PlaceHolder 3"/>
          <p:cNvSpPr>
            <a:spLocks noGrp="1"/>
          </p:cNvSpPr>
          <p:nvPr>
            <p:ph type="sldNum" idx="3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309527F-B008-46C0-8A4A-DDDB5F2296E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1" name="PlaceHolder 1"/>
          <p:cNvSpPr>
            <a:spLocks noGrp="1"/>
          </p:cNvSpPr>
          <p:nvPr>
            <p:ph type="sldImg"/>
          </p:nvPr>
        </p:nvSpPr>
        <p:spPr>
          <a:xfrm>
            <a:off x="685800" y="1143000"/>
            <a:ext cx="5485680" cy="3085560"/>
          </a:xfrm>
          <a:prstGeom prst="rect">
            <a:avLst/>
          </a:prstGeom>
          <a:ln w="0">
            <a:noFill/>
          </a:ln>
        </p:spPr>
      </p:sp>
      <p:sp>
        <p:nvSpPr>
          <p:cNvPr id="150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03" name="PlaceHolder 3"/>
          <p:cNvSpPr>
            <a:spLocks noGrp="1"/>
          </p:cNvSpPr>
          <p:nvPr>
            <p:ph type="sldNum" idx="4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22BDEEF-4592-480F-ABEC-D2DDD8DE49A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4" name="PlaceHolder 1"/>
          <p:cNvSpPr>
            <a:spLocks noGrp="1"/>
          </p:cNvSpPr>
          <p:nvPr>
            <p:ph type="sldImg"/>
          </p:nvPr>
        </p:nvSpPr>
        <p:spPr>
          <a:xfrm>
            <a:off x="685800" y="1143000"/>
            <a:ext cx="5485680" cy="3085560"/>
          </a:xfrm>
          <a:prstGeom prst="rect">
            <a:avLst/>
          </a:prstGeom>
          <a:ln w="0">
            <a:noFill/>
          </a:ln>
        </p:spPr>
      </p:sp>
      <p:sp>
        <p:nvSpPr>
          <p:cNvPr id="150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06" name="PlaceHolder 3"/>
          <p:cNvSpPr>
            <a:spLocks noGrp="1"/>
          </p:cNvSpPr>
          <p:nvPr>
            <p:ph type="sldNum" idx="4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29798DE-C430-411B-BF28-2C18622ACEE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7" name="PlaceHolder 1"/>
          <p:cNvSpPr>
            <a:spLocks noGrp="1"/>
          </p:cNvSpPr>
          <p:nvPr>
            <p:ph type="sldImg"/>
          </p:nvPr>
        </p:nvSpPr>
        <p:spPr>
          <a:xfrm>
            <a:off x="685800" y="1143000"/>
            <a:ext cx="5485680" cy="3085560"/>
          </a:xfrm>
          <a:prstGeom prst="rect">
            <a:avLst/>
          </a:prstGeom>
          <a:ln w="0">
            <a:noFill/>
          </a:ln>
        </p:spPr>
      </p:sp>
      <p:sp>
        <p:nvSpPr>
          <p:cNvPr id="150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09" name="PlaceHolder 3"/>
          <p:cNvSpPr>
            <a:spLocks noGrp="1"/>
          </p:cNvSpPr>
          <p:nvPr>
            <p:ph type="sldNum" idx="4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D2BBA40-8D37-471F-A5EC-5C84C4EBD0D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0" name="PlaceHolder 1"/>
          <p:cNvSpPr>
            <a:spLocks noGrp="1"/>
          </p:cNvSpPr>
          <p:nvPr>
            <p:ph type="sldImg"/>
          </p:nvPr>
        </p:nvSpPr>
        <p:spPr>
          <a:xfrm>
            <a:off x="685800" y="1143000"/>
            <a:ext cx="5485680" cy="3085560"/>
          </a:xfrm>
          <a:prstGeom prst="rect">
            <a:avLst/>
          </a:prstGeom>
          <a:ln w="0">
            <a:noFill/>
          </a:ln>
        </p:spPr>
      </p:sp>
      <p:sp>
        <p:nvSpPr>
          <p:cNvPr id="15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12" name="PlaceHolder 3"/>
          <p:cNvSpPr>
            <a:spLocks noGrp="1"/>
          </p:cNvSpPr>
          <p:nvPr>
            <p:ph type="sldNum" idx="4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9849F64-BFD4-4FFB-8C13-3701C571030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3" name="PlaceHolder 1"/>
          <p:cNvSpPr>
            <a:spLocks noGrp="1"/>
          </p:cNvSpPr>
          <p:nvPr>
            <p:ph type="sldImg"/>
          </p:nvPr>
        </p:nvSpPr>
        <p:spPr>
          <a:xfrm>
            <a:off x="685800" y="1143000"/>
            <a:ext cx="5485680" cy="3085560"/>
          </a:xfrm>
          <a:prstGeom prst="rect">
            <a:avLst/>
          </a:prstGeom>
          <a:ln w="0">
            <a:noFill/>
          </a:ln>
        </p:spPr>
      </p:sp>
      <p:sp>
        <p:nvSpPr>
          <p:cNvPr id="15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15" name="PlaceHolder 3"/>
          <p:cNvSpPr>
            <a:spLocks noGrp="1"/>
          </p:cNvSpPr>
          <p:nvPr>
            <p:ph type="sldNum" idx="4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C4FE297-9B06-4DA7-8A38-09473D0AA28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6" name="PlaceHolder 1"/>
          <p:cNvSpPr>
            <a:spLocks noGrp="1"/>
          </p:cNvSpPr>
          <p:nvPr>
            <p:ph type="sldImg"/>
          </p:nvPr>
        </p:nvSpPr>
        <p:spPr>
          <a:xfrm>
            <a:off x="685800" y="1143000"/>
            <a:ext cx="5485680" cy="3085560"/>
          </a:xfrm>
          <a:prstGeom prst="rect">
            <a:avLst/>
          </a:prstGeom>
          <a:ln w="0">
            <a:noFill/>
          </a:ln>
        </p:spPr>
      </p:sp>
      <p:sp>
        <p:nvSpPr>
          <p:cNvPr id="15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18" name="PlaceHolder 3"/>
          <p:cNvSpPr>
            <a:spLocks noGrp="1"/>
          </p:cNvSpPr>
          <p:nvPr>
            <p:ph type="sldNum" idx="4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C2735D5-61FA-42C6-86E4-EACD1C4B823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9" name="PlaceHolder 1"/>
          <p:cNvSpPr>
            <a:spLocks noGrp="1"/>
          </p:cNvSpPr>
          <p:nvPr>
            <p:ph type="sldImg"/>
          </p:nvPr>
        </p:nvSpPr>
        <p:spPr>
          <a:xfrm>
            <a:off x="685800" y="1143000"/>
            <a:ext cx="5485680" cy="3085560"/>
          </a:xfrm>
          <a:prstGeom prst="rect">
            <a:avLst/>
          </a:prstGeom>
          <a:ln w="0">
            <a:noFill/>
          </a:ln>
        </p:spPr>
      </p:sp>
      <p:sp>
        <p:nvSpPr>
          <p:cNvPr id="15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21" name="PlaceHolder 3"/>
          <p:cNvSpPr>
            <a:spLocks noGrp="1"/>
          </p:cNvSpPr>
          <p:nvPr>
            <p:ph type="sldNum" idx="4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13FFFB9-BAAA-4E7B-81B5-0698BFF0370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2" name="PlaceHolder 1"/>
          <p:cNvSpPr>
            <a:spLocks noGrp="1"/>
          </p:cNvSpPr>
          <p:nvPr>
            <p:ph type="sldImg"/>
          </p:nvPr>
        </p:nvSpPr>
        <p:spPr>
          <a:xfrm>
            <a:off x="685800" y="1143000"/>
            <a:ext cx="5485680" cy="3085560"/>
          </a:xfrm>
          <a:prstGeom prst="rect">
            <a:avLst/>
          </a:prstGeom>
          <a:ln w="0">
            <a:noFill/>
          </a:ln>
        </p:spPr>
      </p:sp>
      <p:sp>
        <p:nvSpPr>
          <p:cNvPr id="15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24" name="PlaceHolder 3"/>
          <p:cNvSpPr>
            <a:spLocks noGrp="1"/>
          </p:cNvSpPr>
          <p:nvPr>
            <p:ph type="sldNum" idx="4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98BA7EE-EF93-409B-9C0F-E115852EFD9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5" name="PlaceHolder 1"/>
          <p:cNvSpPr>
            <a:spLocks noGrp="1"/>
          </p:cNvSpPr>
          <p:nvPr>
            <p:ph type="sldImg"/>
          </p:nvPr>
        </p:nvSpPr>
        <p:spPr>
          <a:xfrm>
            <a:off x="685800" y="1143000"/>
            <a:ext cx="5485680" cy="3085560"/>
          </a:xfrm>
          <a:prstGeom prst="rect">
            <a:avLst/>
          </a:prstGeom>
          <a:ln w="0">
            <a:noFill/>
          </a:ln>
        </p:spPr>
      </p:sp>
      <p:sp>
        <p:nvSpPr>
          <p:cNvPr id="15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27" name="PlaceHolder 3"/>
          <p:cNvSpPr>
            <a:spLocks noGrp="1"/>
          </p:cNvSpPr>
          <p:nvPr>
            <p:ph type="sldNum" idx="4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F4239C4-F03D-42FF-A811-CF2368132C8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8" name="PlaceHolder 1"/>
          <p:cNvSpPr>
            <a:spLocks noGrp="1"/>
          </p:cNvSpPr>
          <p:nvPr>
            <p:ph type="sldImg"/>
          </p:nvPr>
        </p:nvSpPr>
        <p:spPr>
          <a:xfrm>
            <a:off x="685800" y="1143000"/>
            <a:ext cx="5485680" cy="3085560"/>
          </a:xfrm>
          <a:prstGeom prst="rect">
            <a:avLst/>
          </a:prstGeom>
          <a:ln w="0">
            <a:noFill/>
          </a:ln>
        </p:spPr>
      </p:sp>
      <p:sp>
        <p:nvSpPr>
          <p:cNvPr id="15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30" name="PlaceHolder 3"/>
          <p:cNvSpPr>
            <a:spLocks noGrp="1"/>
          </p:cNvSpPr>
          <p:nvPr>
            <p:ph type="sldNum" idx="4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E97FF52-31FF-4D60-9170-5D9176F809D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1" name="PlaceHolder 1"/>
          <p:cNvSpPr>
            <a:spLocks noGrp="1"/>
          </p:cNvSpPr>
          <p:nvPr>
            <p:ph type="sldImg"/>
          </p:nvPr>
        </p:nvSpPr>
        <p:spPr>
          <a:xfrm>
            <a:off x="685800" y="1143000"/>
            <a:ext cx="5485680" cy="3085560"/>
          </a:xfrm>
          <a:prstGeom prst="rect">
            <a:avLst/>
          </a:prstGeom>
          <a:ln w="0">
            <a:noFill/>
          </a:ln>
        </p:spPr>
      </p:sp>
      <p:sp>
        <p:nvSpPr>
          <p:cNvPr id="15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33" name="PlaceHolder 3"/>
          <p:cNvSpPr>
            <a:spLocks noGrp="1"/>
          </p:cNvSpPr>
          <p:nvPr>
            <p:ph type="sldNum" idx="5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3DFC7BD-28CC-4296-90E3-91BDE3A280C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4" name="PlaceHolder 1"/>
          <p:cNvSpPr>
            <a:spLocks noGrp="1"/>
          </p:cNvSpPr>
          <p:nvPr>
            <p:ph type="sldImg"/>
          </p:nvPr>
        </p:nvSpPr>
        <p:spPr>
          <a:xfrm>
            <a:off x="685800" y="1143000"/>
            <a:ext cx="5485680" cy="3085560"/>
          </a:xfrm>
          <a:prstGeom prst="rect">
            <a:avLst/>
          </a:prstGeom>
          <a:ln w="0">
            <a:noFill/>
          </a:ln>
        </p:spPr>
      </p:sp>
      <p:sp>
        <p:nvSpPr>
          <p:cNvPr id="15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36" name="PlaceHolder 3"/>
          <p:cNvSpPr>
            <a:spLocks noGrp="1"/>
          </p:cNvSpPr>
          <p:nvPr>
            <p:ph type="sldNum" idx="5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37EDF4B-88D3-4FD1-82F1-42AF75E8F13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7" name="PlaceHolder 1"/>
          <p:cNvSpPr>
            <a:spLocks noGrp="1"/>
          </p:cNvSpPr>
          <p:nvPr>
            <p:ph type="sldImg"/>
          </p:nvPr>
        </p:nvSpPr>
        <p:spPr>
          <a:xfrm>
            <a:off x="685800" y="1143000"/>
            <a:ext cx="5485680" cy="3085560"/>
          </a:xfrm>
          <a:prstGeom prst="rect">
            <a:avLst/>
          </a:prstGeom>
          <a:ln w="0">
            <a:noFill/>
          </a:ln>
        </p:spPr>
      </p:sp>
      <p:sp>
        <p:nvSpPr>
          <p:cNvPr id="15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39" name="PlaceHolder 3"/>
          <p:cNvSpPr>
            <a:spLocks noGrp="1"/>
          </p:cNvSpPr>
          <p:nvPr>
            <p:ph type="sldNum" idx="5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10606B2-729B-4CCE-A05F-7D4FFC30CD7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0" name="PlaceHolder 1"/>
          <p:cNvSpPr>
            <a:spLocks noGrp="1"/>
          </p:cNvSpPr>
          <p:nvPr>
            <p:ph type="sldImg"/>
          </p:nvPr>
        </p:nvSpPr>
        <p:spPr>
          <a:xfrm>
            <a:off x="685800" y="1143000"/>
            <a:ext cx="5485680" cy="3085560"/>
          </a:xfrm>
          <a:prstGeom prst="rect">
            <a:avLst/>
          </a:prstGeom>
          <a:ln w="0">
            <a:noFill/>
          </a:ln>
        </p:spPr>
      </p:sp>
      <p:sp>
        <p:nvSpPr>
          <p:cNvPr id="15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42" name="PlaceHolder 3"/>
          <p:cNvSpPr>
            <a:spLocks noGrp="1"/>
          </p:cNvSpPr>
          <p:nvPr>
            <p:ph type="sldNum" idx="5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5572FF8-211D-47F9-8482-D2FC100878C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3" name="PlaceHolder 1"/>
          <p:cNvSpPr>
            <a:spLocks noGrp="1"/>
          </p:cNvSpPr>
          <p:nvPr>
            <p:ph type="sldImg"/>
          </p:nvPr>
        </p:nvSpPr>
        <p:spPr>
          <a:xfrm>
            <a:off x="685800" y="1143000"/>
            <a:ext cx="5485680" cy="3085560"/>
          </a:xfrm>
          <a:prstGeom prst="rect">
            <a:avLst/>
          </a:prstGeom>
          <a:ln w="0">
            <a:noFill/>
          </a:ln>
        </p:spPr>
      </p:sp>
      <p:sp>
        <p:nvSpPr>
          <p:cNvPr id="15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45" name="PlaceHolder 3"/>
          <p:cNvSpPr>
            <a:spLocks noGrp="1"/>
          </p:cNvSpPr>
          <p:nvPr>
            <p:ph type="sldNum" idx="5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07E4A44-E5A0-4A4A-8067-D302F189BAD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6" name="PlaceHolder 1"/>
          <p:cNvSpPr>
            <a:spLocks noGrp="1"/>
          </p:cNvSpPr>
          <p:nvPr>
            <p:ph type="sldImg"/>
          </p:nvPr>
        </p:nvSpPr>
        <p:spPr>
          <a:xfrm>
            <a:off x="685800" y="1143000"/>
            <a:ext cx="5485680" cy="3085560"/>
          </a:xfrm>
          <a:prstGeom prst="rect">
            <a:avLst/>
          </a:prstGeom>
          <a:ln w="0">
            <a:noFill/>
          </a:ln>
        </p:spPr>
      </p:sp>
      <p:sp>
        <p:nvSpPr>
          <p:cNvPr id="15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48" name="PlaceHolder 3"/>
          <p:cNvSpPr>
            <a:spLocks noGrp="1"/>
          </p:cNvSpPr>
          <p:nvPr>
            <p:ph type="sldNum" idx="5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8ECA180-A27F-42CD-B0C1-FFBAA796C49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9" name="PlaceHolder 1"/>
          <p:cNvSpPr>
            <a:spLocks noGrp="1"/>
          </p:cNvSpPr>
          <p:nvPr>
            <p:ph type="sldImg"/>
          </p:nvPr>
        </p:nvSpPr>
        <p:spPr>
          <a:xfrm>
            <a:off x="685800" y="1143000"/>
            <a:ext cx="5485680" cy="3085560"/>
          </a:xfrm>
          <a:prstGeom prst="rect">
            <a:avLst/>
          </a:prstGeom>
          <a:ln w="0">
            <a:noFill/>
          </a:ln>
        </p:spPr>
      </p:sp>
      <p:sp>
        <p:nvSpPr>
          <p:cNvPr id="15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51" name="PlaceHolder 3"/>
          <p:cNvSpPr>
            <a:spLocks noGrp="1"/>
          </p:cNvSpPr>
          <p:nvPr>
            <p:ph type="sldNum" idx="5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FD7A2B6-07E6-4982-9743-D84EED7250F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2" name="PlaceHolder 1"/>
          <p:cNvSpPr>
            <a:spLocks noGrp="1"/>
          </p:cNvSpPr>
          <p:nvPr>
            <p:ph type="sldImg"/>
          </p:nvPr>
        </p:nvSpPr>
        <p:spPr>
          <a:xfrm>
            <a:off x="685800" y="1143000"/>
            <a:ext cx="5485680" cy="3085560"/>
          </a:xfrm>
          <a:prstGeom prst="rect">
            <a:avLst/>
          </a:prstGeom>
          <a:ln w="0">
            <a:noFill/>
          </a:ln>
        </p:spPr>
      </p:sp>
      <p:sp>
        <p:nvSpPr>
          <p:cNvPr id="15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54" name="PlaceHolder 3"/>
          <p:cNvSpPr>
            <a:spLocks noGrp="1"/>
          </p:cNvSpPr>
          <p:nvPr>
            <p:ph type="sldNum" idx="5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46828AD-0A67-4B0D-9CD5-D41D2E992FB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5" name="PlaceHolder 1"/>
          <p:cNvSpPr>
            <a:spLocks noGrp="1"/>
          </p:cNvSpPr>
          <p:nvPr>
            <p:ph type="sldImg"/>
          </p:nvPr>
        </p:nvSpPr>
        <p:spPr>
          <a:xfrm>
            <a:off x="685800" y="1143000"/>
            <a:ext cx="5485680" cy="3085560"/>
          </a:xfrm>
          <a:prstGeom prst="rect">
            <a:avLst/>
          </a:prstGeom>
          <a:ln w="0">
            <a:noFill/>
          </a:ln>
        </p:spPr>
      </p:sp>
      <p:sp>
        <p:nvSpPr>
          <p:cNvPr id="15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57" name="PlaceHolder 3"/>
          <p:cNvSpPr>
            <a:spLocks noGrp="1"/>
          </p:cNvSpPr>
          <p:nvPr>
            <p:ph type="sldNum" idx="5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23EDDDB-487F-46F6-BC71-7DD7B5638DC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8" name="PlaceHolder 1"/>
          <p:cNvSpPr>
            <a:spLocks noGrp="1"/>
          </p:cNvSpPr>
          <p:nvPr>
            <p:ph type="sldImg"/>
          </p:nvPr>
        </p:nvSpPr>
        <p:spPr>
          <a:xfrm>
            <a:off x="685800" y="1143000"/>
            <a:ext cx="5485680" cy="3085560"/>
          </a:xfrm>
          <a:prstGeom prst="rect">
            <a:avLst/>
          </a:prstGeom>
          <a:ln w="0">
            <a:noFill/>
          </a:ln>
        </p:spPr>
      </p:sp>
      <p:sp>
        <p:nvSpPr>
          <p:cNvPr id="15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60" name="PlaceHolder 3"/>
          <p:cNvSpPr>
            <a:spLocks noGrp="1"/>
          </p:cNvSpPr>
          <p:nvPr>
            <p:ph type="sldNum" idx="5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C4C12B5-B0A7-4AB5-8874-11D029A43EC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1" name="PlaceHolder 1"/>
          <p:cNvSpPr>
            <a:spLocks noGrp="1"/>
          </p:cNvSpPr>
          <p:nvPr>
            <p:ph type="sldImg"/>
          </p:nvPr>
        </p:nvSpPr>
        <p:spPr>
          <a:xfrm>
            <a:off x="685800" y="1143000"/>
            <a:ext cx="5485680" cy="3085560"/>
          </a:xfrm>
          <a:prstGeom prst="rect">
            <a:avLst/>
          </a:prstGeom>
          <a:ln w="0">
            <a:noFill/>
          </a:ln>
        </p:spPr>
      </p:sp>
      <p:sp>
        <p:nvSpPr>
          <p:cNvPr id="15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63" name="PlaceHolder 3"/>
          <p:cNvSpPr>
            <a:spLocks noGrp="1"/>
          </p:cNvSpPr>
          <p:nvPr>
            <p:ph type="sldNum" idx="6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086C7AC-82FF-4CA9-B33E-517AAFECC00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4" name="PlaceHolder 1"/>
          <p:cNvSpPr>
            <a:spLocks noGrp="1"/>
          </p:cNvSpPr>
          <p:nvPr>
            <p:ph type="sldImg"/>
          </p:nvPr>
        </p:nvSpPr>
        <p:spPr>
          <a:xfrm>
            <a:off x="685800" y="1143000"/>
            <a:ext cx="5485680" cy="3085560"/>
          </a:xfrm>
          <a:prstGeom prst="rect">
            <a:avLst/>
          </a:prstGeom>
          <a:ln w="0">
            <a:noFill/>
          </a:ln>
        </p:spPr>
      </p:sp>
      <p:sp>
        <p:nvSpPr>
          <p:cNvPr id="15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66" name="PlaceHolder 3"/>
          <p:cNvSpPr>
            <a:spLocks noGrp="1"/>
          </p:cNvSpPr>
          <p:nvPr>
            <p:ph type="sldNum" idx="6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F35C73-E268-498C-AE42-B4F0D8CFD70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7" name="PlaceHolder 1"/>
          <p:cNvSpPr>
            <a:spLocks noGrp="1"/>
          </p:cNvSpPr>
          <p:nvPr>
            <p:ph type="sldImg"/>
          </p:nvPr>
        </p:nvSpPr>
        <p:spPr>
          <a:xfrm>
            <a:off x="685800" y="1143000"/>
            <a:ext cx="5485680" cy="3085560"/>
          </a:xfrm>
          <a:prstGeom prst="rect">
            <a:avLst/>
          </a:prstGeom>
          <a:ln w="0">
            <a:noFill/>
          </a:ln>
        </p:spPr>
      </p:sp>
      <p:sp>
        <p:nvSpPr>
          <p:cNvPr id="15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69" name="PlaceHolder 3"/>
          <p:cNvSpPr>
            <a:spLocks noGrp="1"/>
          </p:cNvSpPr>
          <p:nvPr>
            <p:ph type="sldNum" idx="6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F3978B6-C15F-4A32-A4A7-3D583D2C760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0" name="PlaceHolder 1"/>
          <p:cNvSpPr>
            <a:spLocks noGrp="1"/>
          </p:cNvSpPr>
          <p:nvPr>
            <p:ph type="sldImg"/>
          </p:nvPr>
        </p:nvSpPr>
        <p:spPr>
          <a:xfrm>
            <a:off x="685800" y="1143000"/>
            <a:ext cx="5485680" cy="3085560"/>
          </a:xfrm>
          <a:prstGeom prst="rect">
            <a:avLst/>
          </a:prstGeom>
          <a:ln w="0">
            <a:noFill/>
          </a:ln>
        </p:spPr>
      </p:sp>
      <p:sp>
        <p:nvSpPr>
          <p:cNvPr id="15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72" name="PlaceHolder 3"/>
          <p:cNvSpPr>
            <a:spLocks noGrp="1"/>
          </p:cNvSpPr>
          <p:nvPr>
            <p:ph type="sldNum" idx="6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0E9F4F-D751-4AFB-94FD-71096A370B8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3" name="PlaceHolder 1"/>
          <p:cNvSpPr>
            <a:spLocks noGrp="1"/>
          </p:cNvSpPr>
          <p:nvPr>
            <p:ph type="sldImg"/>
          </p:nvPr>
        </p:nvSpPr>
        <p:spPr>
          <a:xfrm>
            <a:off x="685800" y="1143000"/>
            <a:ext cx="5485680" cy="3085560"/>
          </a:xfrm>
          <a:prstGeom prst="rect">
            <a:avLst/>
          </a:prstGeom>
          <a:ln w="0">
            <a:noFill/>
          </a:ln>
        </p:spPr>
      </p:sp>
      <p:sp>
        <p:nvSpPr>
          <p:cNvPr id="15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75" name="PlaceHolder 3"/>
          <p:cNvSpPr>
            <a:spLocks noGrp="1"/>
          </p:cNvSpPr>
          <p:nvPr>
            <p:ph type="sldNum" idx="6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51E5362-AE03-47F7-BDB6-E3F5040B969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6" name="PlaceHolder 1"/>
          <p:cNvSpPr>
            <a:spLocks noGrp="1"/>
          </p:cNvSpPr>
          <p:nvPr>
            <p:ph type="sldImg"/>
          </p:nvPr>
        </p:nvSpPr>
        <p:spPr>
          <a:xfrm>
            <a:off x="685800" y="1143000"/>
            <a:ext cx="5485680" cy="3085560"/>
          </a:xfrm>
          <a:prstGeom prst="rect">
            <a:avLst/>
          </a:prstGeom>
          <a:ln w="0">
            <a:noFill/>
          </a:ln>
        </p:spPr>
      </p:sp>
      <p:sp>
        <p:nvSpPr>
          <p:cNvPr id="15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78" name="PlaceHolder 3"/>
          <p:cNvSpPr>
            <a:spLocks noGrp="1"/>
          </p:cNvSpPr>
          <p:nvPr>
            <p:ph type="sldNum" idx="6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8725B59-A634-4B3B-95B4-878424C258D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9" name="PlaceHolder 1"/>
          <p:cNvSpPr>
            <a:spLocks noGrp="1"/>
          </p:cNvSpPr>
          <p:nvPr>
            <p:ph type="sldImg"/>
          </p:nvPr>
        </p:nvSpPr>
        <p:spPr>
          <a:xfrm>
            <a:off x="685800" y="1143000"/>
            <a:ext cx="5485680" cy="3085560"/>
          </a:xfrm>
          <a:prstGeom prst="rect">
            <a:avLst/>
          </a:prstGeom>
          <a:ln w="0">
            <a:noFill/>
          </a:ln>
        </p:spPr>
      </p:sp>
      <p:sp>
        <p:nvSpPr>
          <p:cNvPr id="158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81" name="PlaceHolder 3"/>
          <p:cNvSpPr>
            <a:spLocks noGrp="1"/>
          </p:cNvSpPr>
          <p:nvPr>
            <p:ph type="sldNum" idx="6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A5A3A76-E48D-451A-A7C5-489C691372B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2" name="PlaceHolder 1"/>
          <p:cNvSpPr>
            <a:spLocks noGrp="1"/>
          </p:cNvSpPr>
          <p:nvPr>
            <p:ph type="sldImg"/>
          </p:nvPr>
        </p:nvSpPr>
        <p:spPr>
          <a:xfrm>
            <a:off x="685800" y="1143000"/>
            <a:ext cx="5485680" cy="3085560"/>
          </a:xfrm>
          <a:prstGeom prst="rect">
            <a:avLst/>
          </a:prstGeom>
          <a:ln w="0">
            <a:noFill/>
          </a:ln>
        </p:spPr>
      </p:sp>
      <p:sp>
        <p:nvSpPr>
          <p:cNvPr id="15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84" name="PlaceHolder 3"/>
          <p:cNvSpPr>
            <a:spLocks noGrp="1"/>
          </p:cNvSpPr>
          <p:nvPr>
            <p:ph type="sldNum" idx="6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77D1ECB-5F4B-4449-A5EA-D0D1733D5FE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5" name="PlaceHolder 1"/>
          <p:cNvSpPr>
            <a:spLocks noGrp="1"/>
          </p:cNvSpPr>
          <p:nvPr>
            <p:ph type="sldImg"/>
          </p:nvPr>
        </p:nvSpPr>
        <p:spPr>
          <a:xfrm>
            <a:off x="685800" y="1143000"/>
            <a:ext cx="5485680" cy="3085560"/>
          </a:xfrm>
          <a:prstGeom prst="rect">
            <a:avLst/>
          </a:prstGeom>
          <a:ln w="0">
            <a:noFill/>
          </a:ln>
        </p:spPr>
      </p:sp>
      <p:sp>
        <p:nvSpPr>
          <p:cNvPr id="15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87" name="PlaceHolder 3"/>
          <p:cNvSpPr>
            <a:spLocks noGrp="1"/>
          </p:cNvSpPr>
          <p:nvPr>
            <p:ph type="sldNum" idx="6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5862880-DBCB-4B55-BAD1-73BC62E2CDA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8" name="PlaceHolder 1"/>
          <p:cNvSpPr>
            <a:spLocks noGrp="1"/>
          </p:cNvSpPr>
          <p:nvPr>
            <p:ph type="sldImg"/>
          </p:nvPr>
        </p:nvSpPr>
        <p:spPr>
          <a:xfrm>
            <a:off x="685800" y="1143000"/>
            <a:ext cx="5485680" cy="3085560"/>
          </a:xfrm>
          <a:prstGeom prst="rect">
            <a:avLst/>
          </a:prstGeom>
          <a:ln w="0">
            <a:noFill/>
          </a:ln>
        </p:spPr>
      </p:sp>
      <p:sp>
        <p:nvSpPr>
          <p:cNvPr id="15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90" name="PlaceHolder 3"/>
          <p:cNvSpPr>
            <a:spLocks noGrp="1"/>
          </p:cNvSpPr>
          <p:nvPr>
            <p:ph type="sldNum" idx="6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8D7AE11-2D82-4D25-9DB7-1DB770F87A6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1" name="PlaceHolder 1"/>
          <p:cNvSpPr>
            <a:spLocks noGrp="1"/>
          </p:cNvSpPr>
          <p:nvPr>
            <p:ph type="sldImg"/>
          </p:nvPr>
        </p:nvSpPr>
        <p:spPr>
          <a:xfrm>
            <a:off x="685800" y="1143000"/>
            <a:ext cx="5485680" cy="3085560"/>
          </a:xfrm>
          <a:prstGeom prst="rect">
            <a:avLst/>
          </a:prstGeom>
          <a:ln w="0">
            <a:noFill/>
          </a:ln>
        </p:spPr>
      </p:sp>
      <p:sp>
        <p:nvSpPr>
          <p:cNvPr id="15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93" name="PlaceHolder 3"/>
          <p:cNvSpPr>
            <a:spLocks noGrp="1"/>
          </p:cNvSpPr>
          <p:nvPr>
            <p:ph type="sldNum" idx="7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0263406-AF38-4E72-9B26-2D526994878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4" name="PlaceHolder 1"/>
          <p:cNvSpPr>
            <a:spLocks noGrp="1"/>
          </p:cNvSpPr>
          <p:nvPr>
            <p:ph type="sldImg"/>
          </p:nvPr>
        </p:nvSpPr>
        <p:spPr>
          <a:xfrm>
            <a:off x="685800" y="1143000"/>
            <a:ext cx="5485680" cy="3085560"/>
          </a:xfrm>
          <a:prstGeom prst="rect">
            <a:avLst/>
          </a:prstGeom>
          <a:ln w="0">
            <a:noFill/>
          </a:ln>
        </p:spPr>
      </p:sp>
      <p:sp>
        <p:nvSpPr>
          <p:cNvPr id="15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96" name="PlaceHolder 3"/>
          <p:cNvSpPr>
            <a:spLocks noGrp="1"/>
          </p:cNvSpPr>
          <p:nvPr>
            <p:ph type="sldNum" idx="7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19A0E3E-20C9-477B-9584-D8951A13F44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7" name="PlaceHolder 1"/>
          <p:cNvSpPr>
            <a:spLocks noGrp="1"/>
          </p:cNvSpPr>
          <p:nvPr>
            <p:ph type="sldImg"/>
          </p:nvPr>
        </p:nvSpPr>
        <p:spPr>
          <a:xfrm>
            <a:off x="685800" y="1143000"/>
            <a:ext cx="5485680" cy="3085560"/>
          </a:xfrm>
          <a:prstGeom prst="rect">
            <a:avLst/>
          </a:prstGeom>
          <a:ln w="0">
            <a:noFill/>
          </a:ln>
        </p:spPr>
      </p:sp>
      <p:sp>
        <p:nvSpPr>
          <p:cNvPr id="15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599" name="PlaceHolder 3"/>
          <p:cNvSpPr>
            <a:spLocks noGrp="1"/>
          </p:cNvSpPr>
          <p:nvPr>
            <p:ph type="sldNum" idx="7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7D79E75-21BB-49A1-AD70-F73652FC732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0" name="PlaceHolder 1"/>
          <p:cNvSpPr>
            <a:spLocks noGrp="1"/>
          </p:cNvSpPr>
          <p:nvPr>
            <p:ph type="sldImg"/>
          </p:nvPr>
        </p:nvSpPr>
        <p:spPr>
          <a:xfrm>
            <a:off x="685800" y="1143000"/>
            <a:ext cx="5485680" cy="3085560"/>
          </a:xfrm>
          <a:prstGeom prst="rect">
            <a:avLst/>
          </a:prstGeom>
          <a:ln w="0">
            <a:noFill/>
          </a:ln>
        </p:spPr>
      </p:sp>
      <p:sp>
        <p:nvSpPr>
          <p:cNvPr id="16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02" name="PlaceHolder 3"/>
          <p:cNvSpPr>
            <a:spLocks noGrp="1"/>
          </p:cNvSpPr>
          <p:nvPr>
            <p:ph type="sldNum" idx="7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AF8E6F7-6FCB-4979-830D-C57D30234B9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3" name="PlaceHolder 1"/>
          <p:cNvSpPr>
            <a:spLocks noGrp="1"/>
          </p:cNvSpPr>
          <p:nvPr>
            <p:ph type="sldImg"/>
          </p:nvPr>
        </p:nvSpPr>
        <p:spPr>
          <a:xfrm>
            <a:off x="685800" y="1143000"/>
            <a:ext cx="5485680" cy="3085560"/>
          </a:xfrm>
          <a:prstGeom prst="rect">
            <a:avLst/>
          </a:prstGeom>
          <a:ln w="0">
            <a:noFill/>
          </a:ln>
        </p:spPr>
      </p:sp>
      <p:sp>
        <p:nvSpPr>
          <p:cNvPr id="16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05" name="PlaceHolder 3"/>
          <p:cNvSpPr>
            <a:spLocks noGrp="1"/>
          </p:cNvSpPr>
          <p:nvPr>
            <p:ph type="sldNum" idx="7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ACFF2F5-74C4-43FE-AEB7-D75A60BADAD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6" name="PlaceHolder 1"/>
          <p:cNvSpPr>
            <a:spLocks noGrp="1"/>
          </p:cNvSpPr>
          <p:nvPr>
            <p:ph type="sldImg"/>
          </p:nvPr>
        </p:nvSpPr>
        <p:spPr>
          <a:xfrm>
            <a:off x="685800" y="1143000"/>
            <a:ext cx="5485680" cy="3085560"/>
          </a:xfrm>
          <a:prstGeom prst="rect">
            <a:avLst/>
          </a:prstGeom>
          <a:ln w="0">
            <a:noFill/>
          </a:ln>
        </p:spPr>
      </p:sp>
      <p:sp>
        <p:nvSpPr>
          <p:cNvPr id="160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08" name="PlaceHolder 3"/>
          <p:cNvSpPr>
            <a:spLocks noGrp="1"/>
          </p:cNvSpPr>
          <p:nvPr>
            <p:ph type="sldNum" idx="7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73D70EC-3A8A-4AE2-99FA-E6478CE4196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9" name="PlaceHolder 1"/>
          <p:cNvSpPr>
            <a:spLocks noGrp="1"/>
          </p:cNvSpPr>
          <p:nvPr>
            <p:ph type="sldImg"/>
          </p:nvPr>
        </p:nvSpPr>
        <p:spPr>
          <a:xfrm>
            <a:off x="685800" y="1143000"/>
            <a:ext cx="5485680" cy="3085560"/>
          </a:xfrm>
          <a:prstGeom prst="rect">
            <a:avLst/>
          </a:prstGeom>
          <a:ln w="0">
            <a:noFill/>
          </a:ln>
        </p:spPr>
      </p:sp>
      <p:sp>
        <p:nvSpPr>
          <p:cNvPr id="161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11" name="PlaceHolder 3"/>
          <p:cNvSpPr>
            <a:spLocks noGrp="1"/>
          </p:cNvSpPr>
          <p:nvPr>
            <p:ph type="sldNum" idx="7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EBF35C0-4779-47C9-BE61-5BCC309C2DD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2" name="PlaceHolder 1"/>
          <p:cNvSpPr>
            <a:spLocks noGrp="1"/>
          </p:cNvSpPr>
          <p:nvPr>
            <p:ph type="sldImg"/>
          </p:nvPr>
        </p:nvSpPr>
        <p:spPr>
          <a:xfrm>
            <a:off x="685800" y="1143000"/>
            <a:ext cx="5485680" cy="3085560"/>
          </a:xfrm>
          <a:prstGeom prst="rect">
            <a:avLst/>
          </a:prstGeom>
          <a:ln w="0">
            <a:noFill/>
          </a:ln>
        </p:spPr>
      </p:sp>
      <p:sp>
        <p:nvSpPr>
          <p:cNvPr id="161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14" name="PlaceHolder 3"/>
          <p:cNvSpPr>
            <a:spLocks noGrp="1"/>
          </p:cNvSpPr>
          <p:nvPr>
            <p:ph type="sldNum" idx="7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2830FAF-1FED-43FF-988A-FD63B4A7911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5" name="PlaceHolder 1"/>
          <p:cNvSpPr>
            <a:spLocks noGrp="1"/>
          </p:cNvSpPr>
          <p:nvPr>
            <p:ph type="sldImg"/>
          </p:nvPr>
        </p:nvSpPr>
        <p:spPr>
          <a:xfrm>
            <a:off x="685800" y="1143000"/>
            <a:ext cx="5485680" cy="3085560"/>
          </a:xfrm>
          <a:prstGeom prst="rect">
            <a:avLst/>
          </a:prstGeom>
          <a:ln w="0">
            <a:noFill/>
          </a:ln>
        </p:spPr>
      </p:sp>
      <p:sp>
        <p:nvSpPr>
          <p:cNvPr id="161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17" name="PlaceHolder 3"/>
          <p:cNvSpPr>
            <a:spLocks noGrp="1"/>
          </p:cNvSpPr>
          <p:nvPr>
            <p:ph type="sldNum" idx="7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E9E5C49-EA92-4E54-9B41-9F43B1F5E4C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8" name="PlaceHolder 1"/>
          <p:cNvSpPr>
            <a:spLocks noGrp="1"/>
          </p:cNvSpPr>
          <p:nvPr>
            <p:ph type="sldImg"/>
          </p:nvPr>
        </p:nvSpPr>
        <p:spPr>
          <a:xfrm>
            <a:off x="685800" y="1143000"/>
            <a:ext cx="5485680" cy="3085560"/>
          </a:xfrm>
          <a:prstGeom prst="rect">
            <a:avLst/>
          </a:prstGeom>
          <a:ln w="0">
            <a:noFill/>
          </a:ln>
        </p:spPr>
      </p:sp>
      <p:sp>
        <p:nvSpPr>
          <p:cNvPr id="161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20" name="PlaceHolder 3"/>
          <p:cNvSpPr>
            <a:spLocks noGrp="1"/>
          </p:cNvSpPr>
          <p:nvPr>
            <p:ph type="sldNum" idx="7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1E2195-0B34-4BEE-9CA4-E759F78C029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1" name="PlaceHolder 1"/>
          <p:cNvSpPr>
            <a:spLocks noGrp="1"/>
          </p:cNvSpPr>
          <p:nvPr>
            <p:ph type="sldImg"/>
          </p:nvPr>
        </p:nvSpPr>
        <p:spPr>
          <a:xfrm>
            <a:off x="685800" y="1143000"/>
            <a:ext cx="5485680" cy="3085560"/>
          </a:xfrm>
          <a:prstGeom prst="rect">
            <a:avLst/>
          </a:prstGeom>
          <a:ln w="0">
            <a:noFill/>
          </a:ln>
        </p:spPr>
      </p:sp>
      <p:sp>
        <p:nvSpPr>
          <p:cNvPr id="162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23" name="PlaceHolder 3"/>
          <p:cNvSpPr>
            <a:spLocks noGrp="1"/>
          </p:cNvSpPr>
          <p:nvPr>
            <p:ph type="sldNum" idx="8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BA835FE-D1CF-478A-AB4D-FD8D3446EAC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4" name="PlaceHolder 1"/>
          <p:cNvSpPr>
            <a:spLocks noGrp="1"/>
          </p:cNvSpPr>
          <p:nvPr>
            <p:ph type="sldImg"/>
          </p:nvPr>
        </p:nvSpPr>
        <p:spPr>
          <a:xfrm>
            <a:off x="685800" y="1143000"/>
            <a:ext cx="5485680" cy="3085560"/>
          </a:xfrm>
          <a:prstGeom prst="rect">
            <a:avLst/>
          </a:prstGeom>
          <a:ln w="0">
            <a:noFill/>
          </a:ln>
        </p:spPr>
      </p:sp>
      <p:sp>
        <p:nvSpPr>
          <p:cNvPr id="162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26" name="PlaceHolder 3"/>
          <p:cNvSpPr>
            <a:spLocks noGrp="1"/>
          </p:cNvSpPr>
          <p:nvPr>
            <p:ph type="sldNum" idx="8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E9CD66D-3890-4DA6-8F2D-ED47D9B883C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7" name="PlaceHolder 1"/>
          <p:cNvSpPr>
            <a:spLocks noGrp="1"/>
          </p:cNvSpPr>
          <p:nvPr>
            <p:ph type="sldImg"/>
          </p:nvPr>
        </p:nvSpPr>
        <p:spPr>
          <a:xfrm>
            <a:off x="685800" y="1143000"/>
            <a:ext cx="5485680" cy="3085560"/>
          </a:xfrm>
          <a:prstGeom prst="rect">
            <a:avLst/>
          </a:prstGeom>
          <a:ln w="0">
            <a:noFill/>
          </a:ln>
        </p:spPr>
      </p:sp>
      <p:sp>
        <p:nvSpPr>
          <p:cNvPr id="162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29" name="PlaceHolder 3"/>
          <p:cNvSpPr>
            <a:spLocks noGrp="1"/>
          </p:cNvSpPr>
          <p:nvPr>
            <p:ph type="sldNum" idx="8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D161464-CC61-4611-BFFA-7842556F0B1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0" name="PlaceHolder 1"/>
          <p:cNvSpPr>
            <a:spLocks noGrp="1"/>
          </p:cNvSpPr>
          <p:nvPr>
            <p:ph type="sldImg"/>
          </p:nvPr>
        </p:nvSpPr>
        <p:spPr>
          <a:xfrm>
            <a:off x="685800" y="1143000"/>
            <a:ext cx="5485680" cy="3085560"/>
          </a:xfrm>
          <a:prstGeom prst="rect">
            <a:avLst/>
          </a:prstGeom>
          <a:ln w="0">
            <a:noFill/>
          </a:ln>
        </p:spPr>
      </p:sp>
      <p:sp>
        <p:nvSpPr>
          <p:cNvPr id="163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32" name="PlaceHolder 3"/>
          <p:cNvSpPr>
            <a:spLocks noGrp="1"/>
          </p:cNvSpPr>
          <p:nvPr>
            <p:ph type="sldNum" idx="8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ACADBCE-6D64-4B49-BA93-8C6CA57AB08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3" name="PlaceHolder 1"/>
          <p:cNvSpPr>
            <a:spLocks noGrp="1"/>
          </p:cNvSpPr>
          <p:nvPr>
            <p:ph type="sldImg"/>
          </p:nvPr>
        </p:nvSpPr>
        <p:spPr>
          <a:xfrm>
            <a:off x="685800" y="1143000"/>
            <a:ext cx="5485680" cy="3085560"/>
          </a:xfrm>
          <a:prstGeom prst="rect">
            <a:avLst/>
          </a:prstGeom>
          <a:ln w="0">
            <a:noFill/>
          </a:ln>
        </p:spPr>
      </p:sp>
      <p:sp>
        <p:nvSpPr>
          <p:cNvPr id="163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35" name="PlaceHolder 3"/>
          <p:cNvSpPr>
            <a:spLocks noGrp="1"/>
          </p:cNvSpPr>
          <p:nvPr>
            <p:ph type="sldNum" idx="8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9A10656-DEC7-4201-810F-61A66CD743A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6" name="PlaceHolder 1"/>
          <p:cNvSpPr>
            <a:spLocks noGrp="1"/>
          </p:cNvSpPr>
          <p:nvPr>
            <p:ph type="sldImg"/>
          </p:nvPr>
        </p:nvSpPr>
        <p:spPr>
          <a:xfrm>
            <a:off x="685800" y="1143000"/>
            <a:ext cx="5485680" cy="3085560"/>
          </a:xfrm>
          <a:prstGeom prst="rect">
            <a:avLst/>
          </a:prstGeom>
          <a:ln w="0">
            <a:noFill/>
          </a:ln>
        </p:spPr>
      </p:sp>
      <p:sp>
        <p:nvSpPr>
          <p:cNvPr id="163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38" name="PlaceHolder 3"/>
          <p:cNvSpPr>
            <a:spLocks noGrp="1"/>
          </p:cNvSpPr>
          <p:nvPr>
            <p:ph type="sldNum" idx="8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2DF8D6-6537-46B5-874B-3FC823BF38F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9" name="PlaceHolder 1"/>
          <p:cNvSpPr>
            <a:spLocks noGrp="1"/>
          </p:cNvSpPr>
          <p:nvPr>
            <p:ph type="sldImg"/>
          </p:nvPr>
        </p:nvSpPr>
        <p:spPr>
          <a:xfrm>
            <a:off x="685800" y="1143000"/>
            <a:ext cx="5485680" cy="3085560"/>
          </a:xfrm>
          <a:prstGeom prst="rect">
            <a:avLst/>
          </a:prstGeom>
          <a:ln w="0">
            <a:noFill/>
          </a:ln>
        </p:spPr>
      </p:sp>
      <p:sp>
        <p:nvSpPr>
          <p:cNvPr id="164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41" name="PlaceHolder 3"/>
          <p:cNvSpPr>
            <a:spLocks noGrp="1"/>
          </p:cNvSpPr>
          <p:nvPr>
            <p:ph type="sldNum" idx="8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E59BE11-4511-4881-AC27-5F1612B0365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2" name="PlaceHolder 1"/>
          <p:cNvSpPr>
            <a:spLocks noGrp="1"/>
          </p:cNvSpPr>
          <p:nvPr>
            <p:ph type="sldImg"/>
          </p:nvPr>
        </p:nvSpPr>
        <p:spPr>
          <a:xfrm>
            <a:off x="685800" y="1143000"/>
            <a:ext cx="5485680" cy="3085560"/>
          </a:xfrm>
          <a:prstGeom prst="rect">
            <a:avLst/>
          </a:prstGeom>
          <a:ln w="0">
            <a:noFill/>
          </a:ln>
        </p:spPr>
      </p:sp>
      <p:sp>
        <p:nvSpPr>
          <p:cNvPr id="164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44" name="PlaceHolder 3"/>
          <p:cNvSpPr>
            <a:spLocks noGrp="1"/>
          </p:cNvSpPr>
          <p:nvPr>
            <p:ph type="sldNum" idx="8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B76F9F8-638A-412C-9C31-9EC4FEFC91F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5" name="PlaceHolder 1"/>
          <p:cNvSpPr>
            <a:spLocks noGrp="1"/>
          </p:cNvSpPr>
          <p:nvPr>
            <p:ph type="sldImg"/>
          </p:nvPr>
        </p:nvSpPr>
        <p:spPr>
          <a:xfrm>
            <a:off x="685800" y="1143000"/>
            <a:ext cx="5485680" cy="3085560"/>
          </a:xfrm>
          <a:prstGeom prst="rect">
            <a:avLst/>
          </a:prstGeom>
          <a:ln w="0">
            <a:noFill/>
          </a:ln>
        </p:spPr>
      </p:sp>
      <p:sp>
        <p:nvSpPr>
          <p:cNvPr id="164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47" name="PlaceHolder 3"/>
          <p:cNvSpPr>
            <a:spLocks noGrp="1"/>
          </p:cNvSpPr>
          <p:nvPr>
            <p:ph type="sldNum" idx="8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2A698EF-7DA2-44E8-84A6-E97FA7226CB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8" name="PlaceHolder 1"/>
          <p:cNvSpPr>
            <a:spLocks noGrp="1"/>
          </p:cNvSpPr>
          <p:nvPr>
            <p:ph type="sldImg"/>
          </p:nvPr>
        </p:nvSpPr>
        <p:spPr>
          <a:xfrm>
            <a:off x="685800" y="1143000"/>
            <a:ext cx="5485680" cy="3085560"/>
          </a:xfrm>
          <a:prstGeom prst="rect">
            <a:avLst/>
          </a:prstGeom>
          <a:ln w="0">
            <a:noFill/>
          </a:ln>
        </p:spPr>
      </p:sp>
      <p:sp>
        <p:nvSpPr>
          <p:cNvPr id="164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50" name="PlaceHolder 3"/>
          <p:cNvSpPr>
            <a:spLocks noGrp="1"/>
          </p:cNvSpPr>
          <p:nvPr>
            <p:ph type="sldNum" idx="8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1046A67-1DE1-4824-AB2D-8890BFA8D47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1" name="PlaceHolder 1"/>
          <p:cNvSpPr>
            <a:spLocks noGrp="1"/>
          </p:cNvSpPr>
          <p:nvPr>
            <p:ph type="sldImg"/>
          </p:nvPr>
        </p:nvSpPr>
        <p:spPr>
          <a:xfrm>
            <a:off x="685800" y="1143000"/>
            <a:ext cx="5485680" cy="3085560"/>
          </a:xfrm>
          <a:prstGeom prst="rect">
            <a:avLst/>
          </a:prstGeom>
          <a:ln w="0">
            <a:noFill/>
          </a:ln>
        </p:spPr>
      </p:sp>
      <p:sp>
        <p:nvSpPr>
          <p:cNvPr id="165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53" name="PlaceHolder 3"/>
          <p:cNvSpPr>
            <a:spLocks noGrp="1"/>
          </p:cNvSpPr>
          <p:nvPr>
            <p:ph type="sldNum" idx="9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10C0023-ACAF-4D27-8699-B230674ECC8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4" name="PlaceHolder 1"/>
          <p:cNvSpPr>
            <a:spLocks noGrp="1"/>
          </p:cNvSpPr>
          <p:nvPr>
            <p:ph type="sldImg"/>
          </p:nvPr>
        </p:nvSpPr>
        <p:spPr>
          <a:xfrm>
            <a:off x="685800" y="1143000"/>
            <a:ext cx="5485680" cy="3085560"/>
          </a:xfrm>
          <a:prstGeom prst="rect">
            <a:avLst/>
          </a:prstGeom>
          <a:ln w="0">
            <a:noFill/>
          </a:ln>
        </p:spPr>
      </p:sp>
      <p:sp>
        <p:nvSpPr>
          <p:cNvPr id="165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56" name="PlaceHolder 3"/>
          <p:cNvSpPr>
            <a:spLocks noGrp="1"/>
          </p:cNvSpPr>
          <p:nvPr>
            <p:ph type="sldNum" idx="9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4A7A9D-1692-4688-9502-957C9A1467D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7" name="PlaceHolder 1"/>
          <p:cNvSpPr>
            <a:spLocks noGrp="1"/>
          </p:cNvSpPr>
          <p:nvPr>
            <p:ph type="sldImg"/>
          </p:nvPr>
        </p:nvSpPr>
        <p:spPr>
          <a:xfrm>
            <a:off x="685800" y="1143000"/>
            <a:ext cx="5485680" cy="3085560"/>
          </a:xfrm>
          <a:prstGeom prst="rect">
            <a:avLst/>
          </a:prstGeom>
          <a:ln w="0">
            <a:noFill/>
          </a:ln>
        </p:spPr>
      </p:sp>
      <p:sp>
        <p:nvSpPr>
          <p:cNvPr id="165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59" name="PlaceHolder 3"/>
          <p:cNvSpPr>
            <a:spLocks noGrp="1"/>
          </p:cNvSpPr>
          <p:nvPr>
            <p:ph type="sldNum" idx="9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9F10D69-89E6-48BE-9D66-311A8C9081F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0" name="PlaceHolder 1"/>
          <p:cNvSpPr>
            <a:spLocks noGrp="1"/>
          </p:cNvSpPr>
          <p:nvPr>
            <p:ph type="sldImg"/>
          </p:nvPr>
        </p:nvSpPr>
        <p:spPr>
          <a:xfrm>
            <a:off x="685800" y="1143000"/>
            <a:ext cx="5485680" cy="3085560"/>
          </a:xfrm>
          <a:prstGeom prst="rect">
            <a:avLst/>
          </a:prstGeom>
          <a:ln w="0">
            <a:noFill/>
          </a:ln>
        </p:spPr>
      </p:sp>
      <p:sp>
        <p:nvSpPr>
          <p:cNvPr id="166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62" name="PlaceHolder 3"/>
          <p:cNvSpPr>
            <a:spLocks noGrp="1"/>
          </p:cNvSpPr>
          <p:nvPr>
            <p:ph type="sldNum" idx="9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FA5BB27-D9CE-46BD-BC4D-5A90F148160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3" name="PlaceHolder 1"/>
          <p:cNvSpPr>
            <a:spLocks noGrp="1"/>
          </p:cNvSpPr>
          <p:nvPr>
            <p:ph type="sldImg"/>
          </p:nvPr>
        </p:nvSpPr>
        <p:spPr>
          <a:xfrm>
            <a:off x="685800" y="1143000"/>
            <a:ext cx="5485680" cy="3085560"/>
          </a:xfrm>
          <a:prstGeom prst="rect">
            <a:avLst/>
          </a:prstGeom>
          <a:ln w="0">
            <a:noFill/>
          </a:ln>
        </p:spPr>
      </p:sp>
      <p:sp>
        <p:nvSpPr>
          <p:cNvPr id="166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65" name="PlaceHolder 3"/>
          <p:cNvSpPr>
            <a:spLocks noGrp="1"/>
          </p:cNvSpPr>
          <p:nvPr>
            <p:ph type="sldNum" idx="9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50D9A25-E3F8-46CD-ACF1-A0C3E02587E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6" name="PlaceHolder 1"/>
          <p:cNvSpPr>
            <a:spLocks noGrp="1"/>
          </p:cNvSpPr>
          <p:nvPr>
            <p:ph type="sldImg"/>
          </p:nvPr>
        </p:nvSpPr>
        <p:spPr>
          <a:xfrm>
            <a:off x="685800" y="1143000"/>
            <a:ext cx="5485680" cy="3085560"/>
          </a:xfrm>
          <a:prstGeom prst="rect">
            <a:avLst/>
          </a:prstGeom>
          <a:ln w="0">
            <a:noFill/>
          </a:ln>
        </p:spPr>
      </p:sp>
      <p:sp>
        <p:nvSpPr>
          <p:cNvPr id="16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68" name="PlaceHolder 3"/>
          <p:cNvSpPr>
            <a:spLocks noGrp="1"/>
          </p:cNvSpPr>
          <p:nvPr>
            <p:ph type="sldNum" idx="9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2495860-B42A-4BD7-8F34-4596D60F7B2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9" name="PlaceHolder 1"/>
          <p:cNvSpPr>
            <a:spLocks noGrp="1"/>
          </p:cNvSpPr>
          <p:nvPr>
            <p:ph type="sldImg"/>
          </p:nvPr>
        </p:nvSpPr>
        <p:spPr>
          <a:xfrm>
            <a:off x="685800" y="1143000"/>
            <a:ext cx="5485680" cy="3085560"/>
          </a:xfrm>
          <a:prstGeom prst="rect">
            <a:avLst/>
          </a:prstGeom>
          <a:ln w="0">
            <a:noFill/>
          </a:ln>
        </p:spPr>
      </p:sp>
      <p:sp>
        <p:nvSpPr>
          <p:cNvPr id="16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71" name="PlaceHolder 3"/>
          <p:cNvSpPr>
            <a:spLocks noGrp="1"/>
          </p:cNvSpPr>
          <p:nvPr>
            <p:ph type="sldNum" idx="9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5E6FFCB-21C1-4F73-9D97-D50B9B7EEC4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2" name="PlaceHolder 1"/>
          <p:cNvSpPr>
            <a:spLocks noGrp="1"/>
          </p:cNvSpPr>
          <p:nvPr>
            <p:ph type="sldImg"/>
          </p:nvPr>
        </p:nvSpPr>
        <p:spPr>
          <a:xfrm>
            <a:off x="685800" y="1143000"/>
            <a:ext cx="5485680" cy="3085560"/>
          </a:xfrm>
          <a:prstGeom prst="rect">
            <a:avLst/>
          </a:prstGeom>
          <a:ln w="0">
            <a:noFill/>
          </a:ln>
        </p:spPr>
      </p:sp>
      <p:sp>
        <p:nvSpPr>
          <p:cNvPr id="167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74" name="PlaceHolder 3"/>
          <p:cNvSpPr>
            <a:spLocks noGrp="1"/>
          </p:cNvSpPr>
          <p:nvPr>
            <p:ph type="sldNum" idx="9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D32C584-2065-4F74-A17B-CE9E96314FC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5" name="PlaceHolder 1"/>
          <p:cNvSpPr>
            <a:spLocks noGrp="1"/>
          </p:cNvSpPr>
          <p:nvPr>
            <p:ph type="sldImg"/>
          </p:nvPr>
        </p:nvSpPr>
        <p:spPr>
          <a:xfrm>
            <a:off x="685800" y="1143000"/>
            <a:ext cx="5485680" cy="3085560"/>
          </a:xfrm>
          <a:prstGeom prst="rect">
            <a:avLst/>
          </a:prstGeom>
          <a:ln w="0">
            <a:noFill/>
          </a:ln>
        </p:spPr>
      </p:sp>
      <p:sp>
        <p:nvSpPr>
          <p:cNvPr id="167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77" name="PlaceHolder 3"/>
          <p:cNvSpPr>
            <a:spLocks noGrp="1"/>
          </p:cNvSpPr>
          <p:nvPr>
            <p:ph type="sldNum" idx="9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36C47A-23F9-4795-8488-B1A068D1E2D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8" name="PlaceHolder 1"/>
          <p:cNvSpPr>
            <a:spLocks noGrp="1"/>
          </p:cNvSpPr>
          <p:nvPr>
            <p:ph type="sldImg"/>
          </p:nvPr>
        </p:nvSpPr>
        <p:spPr>
          <a:xfrm>
            <a:off x="685800" y="1143000"/>
            <a:ext cx="5485680" cy="3085560"/>
          </a:xfrm>
          <a:prstGeom prst="rect">
            <a:avLst/>
          </a:prstGeom>
          <a:ln w="0">
            <a:noFill/>
          </a:ln>
        </p:spPr>
      </p:sp>
      <p:sp>
        <p:nvSpPr>
          <p:cNvPr id="167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80" name="PlaceHolder 3"/>
          <p:cNvSpPr>
            <a:spLocks noGrp="1"/>
          </p:cNvSpPr>
          <p:nvPr>
            <p:ph type="sldNum" idx="9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C9A4CFF-DAF5-4AFF-AD88-B2FFFA4FC2B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1" name="PlaceHolder 1"/>
          <p:cNvSpPr>
            <a:spLocks noGrp="1"/>
          </p:cNvSpPr>
          <p:nvPr>
            <p:ph type="sldImg"/>
          </p:nvPr>
        </p:nvSpPr>
        <p:spPr>
          <a:xfrm>
            <a:off x="685800" y="1143000"/>
            <a:ext cx="5485680" cy="3085560"/>
          </a:xfrm>
          <a:prstGeom prst="rect">
            <a:avLst/>
          </a:prstGeom>
          <a:ln w="0">
            <a:noFill/>
          </a:ln>
        </p:spPr>
      </p:sp>
      <p:sp>
        <p:nvSpPr>
          <p:cNvPr id="168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83" name="PlaceHolder 3"/>
          <p:cNvSpPr>
            <a:spLocks noGrp="1"/>
          </p:cNvSpPr>
          <p:nvPr>
            <p:ph type="sldNum" idx="10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5AA1E7E-ECE2-4FE7-A027-BD887DF7C5A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4" name="PlaceHolder 1"/>
          <p:cNvSpPr>
            <a:spLocks noGrp="1"/>
          </p:cNvSpPr>
          <p:nvPr>
            <p:ph type="sldImg"/>
          </p:nvPr>
        </p:nvSpPr>
        <p:spPr>
          <a:xfrm>
            <a:off x="685800" y="1143000"/>
            <a:ext cx="5485680" cy="3085560"/>
          </a:xfrm>
          <a:prstGeom prst="rect">
            <a:avLst/>
          </a:prstGeom>
          <a:ln w="0">
            <a:noFill/>
          </a:ln>
        </p:spPr>
      </p:sp>
      <p:sp>
        <p:nvSpPr>
          <p:cNvPr id="168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686" name="PlaceHolder 3"/>
          <p:cNvSpPr>
            <a:spLocks noGrp="1"/>
          </p:cNvSpPr>
          <p:nvPr>
            <p:ph type="sldNum" idx="10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E4D72D3-E5B7-4CAD-AF3B-3C86F488C02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Calibri"/>
              </a:defRPr>
            </a:lvl1pPr>
          </a:lstStyle>
          <a:p>
            <a:pPr indent="0" algn="l">
              <a:buNone/>
              <a:tabLst>
                <a:tab pos="0" algn="l"/>
              </a:tabLst>
            </a:pPr>
            <a:r>
              <a:rPr lang="en-US" sz="1800" b="0" u="none" strike="noStrike">
                <a:solidFill>
                  <a:schemeClr val="dk1"/>
                </a:solidFill>
                <a:effectLst/>
                <a:uFillTx/>
                <a:latin typeface="Calibri"/>
              </a:rPr>
              <a:t>Cli</a:t>
            </a:r>
            <a:r>
              <a:rPr lang="en-US" sz="1800" b="0" u="none" strike="noStrike">
                <a:solidFill>
                  <a:schemeClr val="dk1"/>
                </a:solidFill>
                <a:effectLst/>
                <a:uFillTx/>
                <a:latin typeface="Calibri"/>
              </a:rPr>
              <a:t>ck </a:t>
            </a:r>
            <a:r>
              <a:rPr lang="en-US" sz="1800" b="0" u="none" strike="noStrike">
                <a:solidFill>
                  <a:schemeClr val="dk1"/>
                </a:solidFill>
                <a:effectLst/>
                <a:uFillTx/>
                <a:latin typeface="Calibri"/>
              </a:rPr>
              <a:t>to </a:t>
            </a:r>
            <a:r>
              <a:rPr lang="en-US" sz="1800" b="0" u="none" strike="noStrike">
                <a:solidFill>
                  <a:schemeClr val="dk1"/>
                </a:solidFill>
                <a:effectLst/>
                <a:uFillTx/>
                <a:latin typeface="Calibri"/>
              </a:rPr>
              <a:t>edi</a:t>
            </a:r>
            <a:r>
              <a:rPr lang="en-US" sz="1800" b="0" u="none" strike="noStrike">
                <a:solidFill>
                  <a:schemeClr val="dk1"/>
                </a:solidFill>
                <a:effectLst/>
                <a:uFillTx/>
                <a:latin typeface="Calibri"/>
              </a:rPr>
              <a:t>t </a:t>
            </a:r>
            <a:r>
              <a:rPr lang="en-US" sz="1800" b="0" u="none" strike="noStrike">
                <a:solidFill>
                  <a:schemeClr val="dk1"/>
                </a:solidFill>
                <a:effectLst/>
                <a:uFillTx/>
                <a:latin typeface="Calibri"/>
              </a:rPr>
              <a:t>the </a:t>
            </a:r>
            <a:r>
              <a:rPr lang="en-US" sz="1800" b="0" u="none" strike="noStrike">
                <a:solidFill>
                  <a:schemeClr val="dk1"/>
                </a:solidFill>
                <a:effectLst/>
                <a:uFillTx/>
                <a:latin typeface="Calibri"/>
              </a:rPr>
              <a:t>titl</a:t>
            </a:r>
            <a:r>
              <a:rPr lang="en-US" sz="1800" b="0" u="none" strike="noStrike">
                <a:solidFill>
                  <a:schemeClr val="dk1"/>
                </a:solidFill>
                <a:effectLst/>
                <a:uFillTx/>
                <a:latin typeface="Calibri"/>
              </a:rPr>
              <a:t>e </a:t>
            </a:r>
            <a:r>
              <a:rPr lang="en-US" sz="1800" b="0" u="none" strike="noStrike">
                <a:solidFill>
                  <a:schemeClr val="dk1"/>
                </a:solidFill>
                <a:effectLst/>
                <a:uFillTx/>
                <a:latin typeface="Calibri"/>
              </a:rPr>
              <a:t>tex</a:t>
            </a:r>
            <a:r>
              <a:rPr lang="en-US" sz="1800" b="0" u="none" strike="noStrike">
                <a:solidFill>
                  <a:schemeClr val="dk1"/>
                </a:solidFill>
                <a:effectLst/>
                <a:uFillTx/>
                <a:latin typeface="Calibri"/>
              </a:rPr>
              <a:t>t </a:t>
            </a:r>
            <a:r>
              <a:rPr lang="en-US" sz="1800" b="0" u="none" strike="noStrike">
                <a:solidFill>
                  <a:schemeClr val="dk1"/>
                </a:solidFill>
                <a:effectLst/>
                <a:uFillTx/>
                <a:latin typeface="Calibri"/>
              </a:rPr>
              <a:t>for</a:t>
            </a:r>
            <a:r>
              <a:rPr lang="en-US" sz="1800" b="0" u="none" strike="noStrike">
                <a:solidFill>
                  <a:schemeClr val="dk1"/>
                </a:solidFill>
                <a:effectLst/>
                <a:uFillTx/>
                <a:latin typeface="Calibri"/>
              </a:rPr>
              <a:t>ma</a:t>
            </a:r>
            <a:r>
              <a:rPr lang="en-US" sz="1800" b="0" u="none" strike="noStrike">
                <a:solidFill>
                  <a:schemeClr val="dk1"/>
                </a:solidFill>
                <a:effectLst/>
                <a:uFillTx/>
                <a:latin typeface="Calibri"/>
              </a:rPr>
              <a:t>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5.png"/><Relationship Id="rId3"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8.png"/><Relationship Id="rId3" Type="http://schemas.openxmlformats.org/officeDocument/2006/relationships/slideLayout" Target="../slideLayouts/slideLayout1.xml"/><Relationship Id="rId4"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0.png"/><Relationship Id="rId3" Type="http://schemas.openxmlformats.org/officeDocument/2006/relationships/slideLayout" Target="../slideLayouts/slideLayout1.xml"/><Relationship Id="rId4"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1.jpeg"/><Relationship Id="rId3"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3.jpeg"/><Relationship Id="rId3"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4.png"/><Relationship Id="rId3"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5.png"/><Relationship Id="rId3" Type="http://schemas.openxmlformats.org/officeDocument/2006/relationships/slideLayout" Target="../slideLayouts/slideLayout1.xml"/><Relationship Id="rId4"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2.xml"/>
</Relationships>
</file>

<file path=ppt/slides/_rels/slide8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6.png"/><Relationship Id="rId3" Type="http://schemas.openxmlformats.org/officeDocument/2006/relationships/slideLayout" Target="../slideLayouts/slideLayout1.xml"/><Relationship Id="rId4" Type="http://schemas.openxmlformats.org/officeDocument/2006/relationships/notesSlide" Target="../notesSlides/notesSlide83.xml"/>
</Relationships>
</file>

<file path=ppt/slides/_rels/slide8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4.xml"/>
</Relationships>
</file>

<file path=ppt/slides/_rels/slide8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5.xml"/>
</Relationships>
</file>

<file path=ppt/slides/_rels/slide8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6.xml"/>
</Relationships>
</file>

<file path=ppt/slides/_rels/slide8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7.xml"/>
</Relationships>
</file>

<file path=ppt/slides/_rels/slide8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7.png"/><Relationship Id="rId3" Type="http://schemas.openxmlformats.org/officeDocument/2006/relationships/slideLayout" Target="../slideLayouts/slideLayout1.xml"/><Relationship Id="rId4" Type="http://schemas.openxmlformats.org/officeDocument/2006/relationships/notesSlide" Target="../notesSlides/notesSlide88.xml"/>
</Relationships>
</file>

<file path=ppt/slides/_rels/slide8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9.xml"/>
</Relationships>
</file>

<file path=ppt/slides/_rels/slide9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0.xml"/>
</Relationships>
</file>

<file path=ppt/slides/_rels/slide9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1.xml"/>
</Relationships>
</file>

<file path=ppt/slides/_rels/slide9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2.xml"/>
</Relationships>
</file>

<file path=ppt/slides/_rels/slide9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3.xml"/>
</Relationships>
</file>

<file path=ppt/slides/_rels/slide9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4.xml"/>
</Relationships>
</file>

<file path=ppt/slides/_rels/slide9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8.png"/><Relationship Id="rId3" Type="http://schemas.openxmlformats.org/officeDocument/2006/relationships/slideLayout" Target="../slideLayouts/slideLayout1.xml"/><Relationship Id="rId4" Type="http://schemas.openxmlformats.org/officeDocument/2006/relationships/notesSlide" Target="../notesSlides/notesSlide95.xml"/>
</Relationships>
</file>

<file path=ppt/slides/_rels/slide9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96.xml"/>
</Relationships>
</file>

<file path=ppt/slides/_rels/slide9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9.png"/><Relationship Id="rId3" Type="http://schemas.openxmlformats.org/officeDocument/2006/relationships/slideLayout" Target="../slideLayouts/slideLayout1.xml"/><Relationship Id="rId4" Type="http://schemas.openxmlformats.org/officeDocument/2006/relationships/notesSlide" Target="../notesSlides/notesSlide97.xml"/>
</Relationships>
</file>

<file path=ppt/slides/_rels/slide9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slideLayout" Target="../slideLayouts/slideLayout1.xml"/><Relationship Id="rId5" Type="http://schemas.openxmlformats.org/officeDocument/2006/relationships/notesSlide" Target="../notesSlides/notesSlide98.xml"/>
</Relationships>
</file>

<file path=ppt/slides/_rels/slide9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99.xml"/>
</Relationships>
</file>

<file path=ppt/slides/_rels/slide10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00.xml"/>
</Relationships>
</file>

<file path=ppt/slides/_rels/slide10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01.xml"/>
</Relationships>
</file>

<file path=ppt/slides/_rels/slide10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02.xml"/>
</Relationships>
</file>

<file path=ppt/slides/_rels/slide10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03.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
</Relationships>
</file>

<file path=ppt/slides/_rels/slide10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0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0" name="Shape 0"/>
          <p:cNvSpPr/>
          <p:nvPr/>
        </p:nvSpPr>
        <p:spPr>
          <a:xfrm>
            <a:off x="8778240" y="-2194560"/>
            <a:ext cx="5485680" cy="548568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Shape 1"/>
          <p:cNvSpPr/>
          <p:nvPr/>
        </p:nvSpPr>
        <p:spPr>
          <a:xfrm>
            <a:off x="-2011680" y="4206240"/>
            <a:ext cx="4205520" cy="420552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 name="Shape 2"/>
          <p:cNvSpPr/>
          <p:nvPr/>
        </p:nvSpPr>
        <p:spPr>
          <a:xfrm>
            <a:off x="5943600" y="5212080"/>
            <a:ext cx="1462320" cy="1462320"/>
          </a:xfrm>
          <a:prstGeom prst="ellipse">
            <a:avLst/>
          </a:prstGeom>
          <a:solidFill>
            <a:srgbClr val="4C112D">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3" name="Image 0" descr="/home/claude/mpl/assets/logo_full.png"/>
          <p:cNvPicPr/>
          <p:nvPr/>
        </p:nvPicPr>
        <p:blipFill>
          <a:blip r:embed="rId1"/>
          <a:stretch/>
        </p:blipFill>
        <p:spPr>
          <a:xfrm>
            <a:off x="685800" y="502920"/>
            <a:ext cx="2651040" cy="861480"/>
          </a:xfrm>
          <a:prstGeom prst="rect">
            <a:avLst/>
          </a:prstGeom>
          <a:noFill/>
          <a:ln w="0">
            <a:noFill/>
          </a:ln>
        </p:spPr>
      </p:pic>
      <p:sp>
        <p:nvSpPr>
          <p:cNvPr id="14" name="Shape 4"/>
          <p:cNvSpPr/>
          <p:nvPr/>
        </p:nvSpPr>
        <p:spPr>
          <a:xfrm>
            <a:off x="713160" y="2331720"/>
            <a:ext cx="4022640" cy="291960"/>
          </a:xfrm>
          <a:prstGeom prst="roundRect">
            <a:avLst>
              <a:gd name="adj" fmla="val 50000"/>
            </a:avLst>
          </a:prstGeom>
          <a:solidFill>
            <a:srgbClr val="26275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 name="Text 5"/>
          <p:cNvSpPr/>
          <p:nvPr/>
        </p:nvSpPr>
        <p:spPr>
          <a:xfrm>
            <a:off x="713160" y="2331720"/>
            <a:ext cx="4022640" cy="291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E0E7FF"/>
                </a:solidFill>
                <a:effectLst/>
                <a:uFillTx/>
                <a:latin typeface="Plus Jakarta Sans"/>
                <a:ea typeface="Plus Jakarta Sans"/>
              </a:rPr>
              <a:t>AI &amp; ML PLAYGROUND  ·  MODULE 06</a:t>
            </a:r>
            <a:endParaRPr lang="en-US" sz="1100" b="0" u="none" strike="noStrike">
              <a:solidFill>
                <a:srgbClr val="FFFFFF"/>
              </a:solidFill>
              <a:effectLst/>
              <a:uFillTx/>
              <a:latin typeface="Arial"/>
            </a:endParaRPr>
          </a:p>
        </p:txBody>
      </p:sp>
      <p:sp>
        <p:nvSpPr>
          <p:cNvPr id="16" name="Text 6"/>
          <p:cNvSpPr/>
          <p:nvPr/>
        </p:nvSpPr>
        <p:spPr>
          <a:xfrm>
            <a:off x="658440" y="2788920"/>
            <a:ext cx="9600480" cy="146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6400" b="1" u="none" spc="-99" strike="noStrike">
                <a:solidFill>
                  <a:srgbClr val="F1F5F9"/>
                </a:solidFill>
                <a:effectLst/>
                <a:uFillTx/>
                <a:latin typeface="Bricolage Grotesque"/>
                <a:ea typeface="Bricolage Grotesque"/>
              </a:rPr>
              <a:t>Matplotlib</a:t>
            </a:r>
            <a:endParaRPr lang="en-US" sz="6400" b="0" u="none" strike="noStrike">
              <a:solidFill>
                <a:srgbClr val="FFFFFF"/>
              </a:solidFill>
              <a:effectLst/>
              <a:uFillTx/>
              <a:latin typeface="Arial"/>
            </a:endParaRPr>
          </a:p>
        </p:txBody>
      </p:sp>
      <p:sp>
        <p:nvSpPr>
          <p:cNvPr id="17" name="Text 7"/>
          <p:cNvSpPr/>
          <p:nvPr/>
        </p:nvSpPr>
        <p:spPr>
          <a:xfrm>
            <a:off x="713160" y="4160520"/>
            <a:ext cx="7863120" cy="6393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600" b="0" u="none" strike="noStrike">
                <a:solidFill>
                  <a:srgbClr val="94A3B8"/>
                </a:solidFill>
                <a:effectLst/>
                <a:uFillTx/>
                <a:latin typeface="Hanken Grotesk"/>
                <a:ea typeface="Hanken Grotesk"/>
              </a:rPr>
              <a:t>Turning numbers into pictures — the visualization foundation for Data Analytics and Machine Learning.</a:t>
            </a:r>
            <a:endParaRPr lang="en-US" sz="1600" b="0" u="none" strike="noStrike">
              <a:solidFill>
                <a:srgbClr val="FFFFFF"/>
              </a:solidFill>
              <a:effectLst/>
              <a:uFillTx/>
              <a:latin typeface="Arial"/>
            </a:endParaRPr>
          </a:p>
        </p:txBody>
      </p:sp>
      <p:sp>
        <p:nvSpPr>
          <p:cNvPr id="18" name="Shape 8"/>
          <p:cNvSpPr/>
          <p:nvPr/>
        </p:nvSpPr>
        <p:spPr>
          <a:xfrm>
            <a:off x="713160" y="5074920"/>
            <a:ext cx="2926080" cy="360"/>
          </a:xfrm>
          <a:prstGeom prst="line">
            <a:avLst/>
          </a:prstGeom>
          <a:ln w="12700">
            <a:solidFill>
              <a:srgbClr val="1E293B"/>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19" name="Text 9"/>
          <p:cNvSpPr/>
          <p:nvPr/>
        </p:nvSpPr>
        <p:spPr>
          <a:xfrm>
            <a:off x="713160" y="5166360"/>
            <a:ext cx="45712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2DD4BF"/>
                </a:solidFill>
                <a:effectLst/>
                <a:uFillTx/>
                <a:latin typeface="Plus Jakarta Sans"/>
                <a:ea typeface="Plus Jakarta Sans"/>
              </a:rPr>
              <a:t>C</a:t>
            </a:r>
            <a:r>
              <a:rPr lang="en-US" sz="1300" b="1" u="none" strike="noStrike">
                <a:solidFill>
                  <a:srgbClr val="2DD4BF"/>
                </a:solidFill>
                <a:effectLst/>
                <a:uFillTx/>
                <a:latin typeface="Plus Jakarta Sans"/>
                <a:ea typeface="Plus Jakarta Sans"/>
              </a:rPr>
              <a:t>o</a:t>
            </a:r>
            <a:r>
              <a:rPr lang="en-US" sz="1300" b="1" u="none" strike="noStrike">
                <a:solidFill>
                  <a:srgbClr val="2DD4BF"/>
                </a:solidFill>
                <a:effectLst/>
                <a:uFillTx/>
                <a:latin typeface="Plus Jakarta Sans"/>
                <a:ea typeface="Plus Jakarta Sans"/>
              </a:rPr>
              <a:t>d</a:t>
            </a:r>
            <a:r>
              <a:rPr lang="en-US" sz="1300" b="1" u="none" strike="noStrike">
                <a:solidFill>
                  <a:srgbClr val="2DD4BF"/>
                </a:solidFill>
                <a:effectLst/>
                <a:uFillTx/>
                <a:latin typeface="Plus Jakarta Sans"/>
                <a:ea typeface="Plus Jakarta Sans"/>
              </a:rPr>
              <a:t>e</a:t>
            </a:r>
            <a:r>
              <a:rPr lang="en-US" sz="1300" b="1" u="none" strike="noStrike">
                <a:solidFill>
                  <a:srgbClr val="2DD4BF"/>
                </a:solidFill>
                <a:effectLst/>
                <a:uFillTx/>
                <a:latin typeface="Plus Jakarta Sans"/>
                <a:ea typeface="Plus Jakarta Sans"/>
              </a:rPr>
              <a:t>B</a:t>
            </a:r>
            <a:r>
              <a:rPr lang="en-US" sz="1300" b="1" u="none" strike="noStrike">
                <a:solidFill>
                  <a:srgbClr val="2DD4BF"/>
                </a:solidFill>
                <a:effectLst/>
                <a:uFillTx/>
                <a:latin typeface="Plus Jakarta Sans"/>
                <a:ea typeface="Plus Jakarta Sans"/>
              </a:rPr>
              <a:t>y</a:t>
            </a:r>
            <a:r>
              <a:rPr lang="en-US" sz="1300" b="1" u="none" strike="noStrike">
                <a:solidFill>
                  <a:srgbClr val="2DD4BF"/>
                </a:solidFill>
                <a:effectLst/>
                <a:uFillTx/>
                <a:latin typeface="Plus Jakarta Sans"/>
                <a:ea typeface="Plus Jakarta Sans"/>
              </a:rPr>
              <a:t>P</a:t>
            </a:r>
            <a:r>
              <a:rPr lang="en-US" sz="1300" b="1" u="none" strike="noStrike">
                <a:solidFill>
                  <a:srgbClr val="2DD4BF"/>
                </a:solidFill>
                <a:effectLst/>
                <a:uFillTx/>
                <a:latin typeface="Plus Jakarta Sans"/>
                <a:ea typeface="Plus Jakarta Sans"/>
              </a:rPr>
              <a:t>a</a:t>
            </a:r>
            <a:r>
              <a:rPr lang="en-US" sz="1300" b="1" u="none" strike="noStrike">
                <a:solidFill>
                  <a:srgbClr val="2DD4BF"/>
                </a:solidFill>
                <a:effectLst/>
                <a:uFillTx/>
                <a:latin typeface="Plus Jakarta Sans"/>
                <a:ea typeface="Plus Jakarta Sans"/>
              </a:rPr>
              <a:t>xt</a:t>
            </a:r>
            <a:r>
              <a:rPr lang="en-US" sz="1300" b="1" u="none" strike="noStrike">
                <a:solidFill>
                  <a:srgbClr val="2DD4BF"/>
                </a:solidFill>
                <a:effectLst/>
                <a:uFillTx/>
                <a:latin typeface="Plus Jakarta Sans"/>
                <a:ea typeface="Plus Jakarta Sans"/>
              </a:rPr>
              <a:t>o: </a:t>
            </a:r>
            <a:r>
              <a:rPr lang="en-US" sz="1300" b="1" u="none" strike="noStrike">
                <a:solidFill>
                  <a:srgbClr val="2DD4BF"/>
                </a:solidFill>
                <a:effectLst/>
                <a:uFillTx/>
                <a:latin typeface="Plus Jakarta Sans"/>
                <a:ea typeface="Plus Jakarta Sans"/>
              </a:rPr>
              <a:t>T</a:t>
            </a:r>
            <a:r>
              <a:rPr lang="en-US" sz="1300" b="1" u="none" strike="noStrike">
                <a:solidFill>
                  <a:srgbClr val="2DD4BF"/>
                </a:solidFill>
                <a:effectLst/>
                <a:uFillTx/>
                <a:latin typeface="Plus Jakarta Sans"/>
                <a:ea typeface="Plus Jakarta Sans"/>
              </a:rPr>
              <a:t>h</a:t>
            </a:r>
            <a:r>
              <a:rPr lang="en-US" sz="1300" b="1" u="none" strike="noStrike">
                <a:solidFill>
                  <a:srgbClr val="2DD4BF"/>
                </a:solidFill>
                <a:effectLst/>
                <a:uFillTx/>
                <a:latin typeface="Plus Jakarta Sans"/>
                <a:ea typeface="Plus Jakarta Sans"/>
              </a:rPr>
              <a:t>e </a:t>
            </a:r>
            <a:r>
              <a:rPr lang="en-US" sz="1300" b="1" u="none" strike="noStrike">
                <a:solidFill>
                  <a:srgbClr val="2DD4BF"/>
                </a:solidFill>
                <a:effectLst/>
                <a:uFillTx/>
                <a:latin typeface="Plus Jakarta Sans"/>
                <a:ea typeface="Plus Jakarta Sans"/>
              </a:rPr>
              <a:t>A</a:t>
            </a:r>
            <a:r>
              <a:rPr lang="en-US" sz="1300" b="1" u="none" strike="noStrike">
                <a:solidFill>
                  <a:srgbClr val="2DD4BF"/>
                </a:solidFill>
                <a:effectLst/>
                <a:uFillTx/>
                <a:latin typeface="Plus Jakarta Sans"/>
                <a:ea typeface="Plus Jakarta Sans"/>
              </a:rPr>
              <a:t>I </a:t>
            </a:r>
            <a:r>
              <a:rPr lang="en-US" sz="1300" b="1" u="none" strike="noStrike">
                <a:solidFill>
                  <a:srgbClr val="2DD4BF"/>
                </a:solidFill>
                <a:effectLst/>
                <a:uFillTx/>
                <a:latin typeface="Plus Jakarta Sans"/>
                <a:ea typeface="Plus Jakarta Sans"/>
              </a:rPr>
              <a:t>&amp; </a:t>
            </a:r>
            <a:r>
              <a:rPr lang="en-US" sz="1300" b="1" u="none" strike="noStrike">
                <a:solidFill>
                  <a:srgbClr val="2DD4BF"/>
                </a:solidFill>
                <a:effectLst/>
                <a:uFillTx/>
                <a:latin typeface="Plus Jakarta Sans"/>
                <a:ea typeface="Plus Jakarta Sans"/>
              </a:rPr>
              <a:t>M</a:t>
            </a:r>
            <a:r>
              <a:rPr lang="en-US" sz="1300" b="1" u="none" strike="noStrike">
                <a:solidFill>
                  <a:srgbClr val="2DD4BF"/>
                </a:solidFill>
                <a:effectLst/>
                <a:uFillTx/>
                <a:latin typeface="Plus Jakarta Sans"/>
                <a:ea typeface="Plus Jakarta Sans"/>
              </a:rPr>
              <a:t>L </a:t>
            </a:r>
            <a:r>
              <a:rPr lang="en-US" sz="1300" b="1" u="none" strike="noStrike">
                <a:solidFill>
                  <a:srgbClr val="2DD4BF"/>
                </a:solidFill>
                <a:effectLst/>
                <a:uFillTx/>
                <a:latin typeface="Plus Jakarta Sans"/>
                <a:ea typeface="Plus Jakarta Sans"/>
              </a:rPr>
              <a:t>Pl</a:t>
            </a:r>
            <a:r>
              <a:rPr lang="en-US" sz="1300" b="1" u="none" strike="noStrike">
                <a:solidFill>
                  <a:srgbClr val="2DD4BF"/>
                </a:solidFill>
                <a:effectLst/>
                <a:uFillTx/>
                <a:latin typeface="Plus Jakarta Sans"/>
                <a:ea typeface="Plus Jakarta Sans"/>
              </a:rPr>
              <a:t>a</a:t>
            </a:r>
            <a:r>
              <a:rPr lang="en-US" sz="1300" b="1" u="none" strike="noStrike">
                <a:solidFill>
                  <a:srgbClr val="2DD4BF"/>
                </a:solidFill>
                <a:effectLst/>
                <a:uFillTx/>
                <a:latin typeface="Plus Jakarta Sans"/>
                <a:ea typeface="Plus Jakarta Sans"/>
              </a:rPr>
              <a:t>y</a:t>
            </a:r>
            <a:r>
              <a:rPr lang="en-US" sz="1300" b="1" u="none" strike="noStrike">
                <a:solidFill>
                  <a:srgbClr val="2DD4BF"/>
                </a:solidFill>
                <a:effectLst/>
                <a:uFillTx/>
                <a:latin typeface="Plus Jakarta Sans"/>
                <a:ea typeface="Plus Jakarta Sans"/>
              </a:rPr>
              <a:t>g</a:t>
            </a:r>
            <a:r>
              <a:rPr lang="en-US" sz="1300" b="1" u="none" strike="noStrike">
                <a:solidFill>
                  <a:srgbClr val="2DD4BF"/>
                </a:solidFill>
                <a:effectLst/>
                <a:uFillTx/>
                <a:latin typeface="Plus Jakarta Sans"/>
                <a:ea typeface="Plus Jakarta Sans"/>
              </a:rPr>
              <a:t>r</a:t>
            </a:r>
            <a:r>
              <a:rPr lang="en-US" sz="1300" b="1" u="none" strike="noStrike">
                <a:solidFill>
                  <a:srgbClr val="2DD4BF"/>
                </a:solidFill>
                <a:effectLst/>
                <a:uFillTx/>
                <a:latin typeface="Plus Jakarta Sans"/>
                <a:ea typeface="Plus Jakarta Sans"/>
              </a:rPr>
              <a:t>o</a:t>
            </a:r>
            <a:r>
              <a:rPr lang="en-US" sz="1300" b="1" u="none" strike="noStrike">
                <a:solidFill>
                  <a:srgbClr val="2DD4BF"/>
                </a:solidFill>
                <a:effectLst/>
                <a:uFillTx/>
                <a:latin typeface="Plus Jakarta Sans"/>
                <a:ea typeface="Plus Jakarta Sans"/>
              </a:rPr>
              <a:t>u</a:t>
            </a:r>
            <a:r>
              <a:rPr lang="en-US" sz="1300" b="1" u="none" strike="noStrike">
                <a:solidFill>
                  <a:srgbClr val="2DD4BF"/>
                </a:solidFill>
                <a:effectLst/>
                <a:uFillTx/>
                <a:latin typeface="Plus Jakarta Sans"/>
                <a:ea typeface="Plus Jakarta Sans"/>
              </a:rPr>
              <a:t>n</a:t>
            </a:r>
            <a:r>
              <a:rPr lang="en-US" sz="1300" b="1" u="none" strike="noStrike">
                <a:solidFill>
                  <a:srgbClr val="2DD4BF"/>
                </a:solidFill>
                <a:effectLst/>
                <a:uFillTx/>
                <a:latin typeface="Plus Jakarta Sans"/>
                <a:ea typeface="Plus Jakarta Sans"/>
              </a:rPr>
              <a:t>d  </a:t>
            </a:r>
            <a:r>
              <a:rPr lang="en-US" sz="1300" b="1" u="none" strike="noStrike">
                <a:solidFill>
                  <a:srgbClr val="2DD4BF"/>
                </a:solidFill>
                <a:effectLst/>
                <a:uFillTx/>
                <a:latin typeface="Plus Jakarta Sans"/>
                <a:ea typeface="Plus Jakarta Sans"/>
              </a:rPr>
              <a:t>·  </a:t>
            </a:r>
            <a:r>
              <a:rPr lang="en-US" sz="1300" b="1" u="none" strike="noStrike">
                <a:solidFill>
                  <a:srgbClr val="2DD4BF"/>
                </a:solidFill>
                <a:effectLst/>
                <a:uFillTx/>
                <a:latin typeface="Plus Jakarta Sans"/>
                <a:ea typeface="Plus Jakarta Sans"/>
              </a:rPr>
              <a:t>H</a:t>
            </a:r>
            <a:r>
              <a:rPr lang="en-US" sz="1300" b="1" u="none" strike="noStrike">
                <a:solidFill>
                  <a:srgbClr val="2DD4BF"/>
                </a:solidFill>
                <a:effectLst/>
                <a:uFillTx/>
                <a:latin typeface="Plus Jakarta Sans"/>
                <a:ea typeface="Plus Jakarta Sans"/>
              </a:rPr>
              <a:t>af</a:t>
            </a:r>
            <a:r>
              <a:rPr lang="en-US" sz="1300" b="1" u="none" strike="noStrike">
                <a:solidFill>
                  <a:srgbClr val="2DD4BF"/>
                </a:solidFill>
                <a:effectLst/>
                <a:uFillTx/>
                <a:latin typeface="Plus Jakarta Sans"/>
                <a:ea typeface="Plus Jakarta Sans"/>
              </a:rPr>
              <a:t>iz </a:t>
            </a:r>
            <a:r>
              <a:rPr lang="en-US" sz="1300" b="1" u="none" strike="noStrike">
                <a:solidFill>
                  <a:srgbClr val="2DD4BF"/>
                </a:solidFill>
                <a:effectLst/>
                <a:uFillTx/>
                <a:latin typeface="Plus Jakarta Sans"/>
                <a:ea typeface="Plus Jakarta Sans"/>
              </a:rPr>
              <a:t>W</a:t>
            </a:r>
            <a:r>
              <a:rPr lang="en-US" sz="1300" b="1" u="none" strike="noStrike">
                <a:solidFill>
                  <a:srgbClr val="2DD4BF"/>
                </a:solidFill>
                <a:effectLst/>
                <a:uFillTx/>
                <a:latin typeface="Plus Jakarta Sans"/>
                <a:ea typeface="Plus Jakarta Sans"/>
              </a:rPr>
              <a:t>a</a:t>
            </a:r>
            <a:r>
              <a:rPr lang="en-US" sz="1300" b="1" u="none" strike="noStrike">
                <a:solidFill>
                  <a:srgbClr val="2DD4BF"/>
                </a:solidFill>
                <a:effectLst/>
                <a:uFillTx/>
                <a:latin typeface="Plus Jakarta Sans"/>
                <a:ea typeface="Plus Jakarta Sans"/>
              </a:rPr>
              <a:t>s</a:t>
            </a:r>
            <a:r>
              <a:rPr lang="en-US" sz="1300" b="1" u="none" strike="noStrike">
                <a:solidFill>
                  <a:srgbClr val="2DD4BF"/>
                </a:solidFill>
                <a:effectLst/>
                <a:uFillTx/>
                <a:latin typeface="Plus Jakarta Sans"/>
                <a:ea typeface="Plus Jakarta Sans"/>
              </a:rPr>
              <a:t>e</a:t>
            </a:r>
            <a:r>
              <a:rPr lang="en-US" sz="1300" b="1" u="none" strike="noStrike">
                <a:solidFill>
                  <a:srgbClr val="2DD4BF"/>
                </a:solidFill>
                <a:effectLst/>
                <a:uFillTx/>
                <a:latin typeface="Plus Jakarta Sans"/>
                <a:ea typeface="Plus Jakarta Sans"/>
              </a:rPr>
              <a:t>e</a:t>
            </a:r>
            <a:r>
              <a:rPr lang="en-US" sz="1300" b="1" u="none" strike="noStrike">
                <a:solidFill>
                  <a:srgbClr val="2DD4BF"/>
                </a:solidFill>
                <a:effectLst/>
                <a:uFillTx/>
                <a:latin typeface="Plus Jakarta Sans"/>
                <a:ea typeface="Plus Jakarta Sans"/>
              </a:rPr>
              <a:t>m </a:t>
            </a:r>
            <a:r>
              <a:rPr lang="en-US" sz="1300" b="1" u="none" strike="noStrike">
                <a:solidFill>
                  <a:srgbClr val="2DD4BF"/>
                </a:solidFill>
                <a:effectLst/>
                <a:uFillTx/>
                <a:latin typeface="Plus Jakarta Sans"/>
                <a:ea typeface="Plus Jakarta Sans"/>
              </a:rPr>
              <a:t>A</a:t>
            </a:r>
            <a:r>
              <a:rPr lang="en-US" sz="1300" b="1" u="none" strike="noStrike">
                <a:solidFill>
                  <a:srgbClr val="2DD4BF"/>
                </a:solidFill>
                <a:effectLst/>
                <a:uFillTx/>
                <a:latin typeface="Plus Jakarta Sans"/>
                <a:ea typeface="Plus Jakarta Sans"/>
              </a:rPr>
              <a:t>h</a:t>
            </a:r>
            <a:r>
              <a:rPr lang="en-US" sz="1300" b="1" u="none" strike="noStrike">
                <a:solidFill>
                  <a:srgbClr val="2DD4BF"/>
                </a:solidFill>
                <a:effectLst/>
                <a:uFillTx/>
                <a:latin typeface="Plus Jakarta Sans"/>
                <a:ea typeface="Plus Jakarta Sans"/>
              </a:rPr>
              <a:t>m</a:t>
            </a:r>
            <a:r>
              <a:rPr lang="en-US" sz="1300" b="1" u="none" strike="noStrike">
                <a:solidFill>
                  <a:srgbClr val="2DD4BF"/>
                </a:solidFill>
                <a:effectLst/>
                <a:uFillTx/>
                <a:latin typeface="Plus Jakarta Sans"/>
                <a:ea typeface="Plus Jakarta Sans"/>
              </a:rPr>
              <a:t>e</a:t>
            </a:r>
            <a:r>
              <a:rPr lang="en-US" sz="1300" b="1" u="none" strike="noStrike">
                <a:solidFill>
                  <a:srgbClr val="2DD4BF"/>
                </a:solidFill>
                <a:effectLst/>
                <a:uFillTx/>
                <a:latin typeface="Plus Jakarta Sans"/>
                <a:ea typeface="Plus Jakarta Sans"/>
              </a:rPr>
              <a:t>d </a:t>
            </a:r>
            <a:r>
              <a:rPr lang="en-US" sz="1300" b="1" u="none" strike="noStrike">
                <a:solidFill>
                  <a:srgbClr val="2DD4BF"/>
                </a:solidFill>
                <a:effectLst/>
                <a:uFillTx/>
                <a:latin typeface="Plus Jakarta Sans"/>
                <a:ea typeface="Plus Jakarta Sans"/>
              </a:rPr>
              <a:t>(P</a:t>
            </a:r>
            <a:r>
              <a:rPr lang="en-US" sz="1300" b="1" u="none" strike="noStrike">
                <a:solidFill>
                  <a:srgbClr val="2DD4BF"/>
                </a:solidFill>
                <a:effectLst/>
                <a:uFillTx/>
                <a:latin typeface="Plus Jakarta Sans"/>
                <a:ea typeface="Plus Jakarta Sans"/>
              </a:rPr>
              <a:t>a</a:t>
            </a:r>
            <a:r>
              <a:rPr lang="en-US" sz="1300" b="1" u="none" strike="noStrike">
                <a:solidFill>
                  <a:srgbClr val="2DD4BF"/>
                </a:solidFill>
                <a:effectLst/>
                <a:uFillTx/>
                <a:latin typeface="Plus Jakarta Sans"/>
                <a:ea typeface="Plus Jakarta Sans"/>
              </a:rPr>
              <a:t>xt</a:t>
            </a:r>
            <a:r>
              <a:rPr lang="en-US" sz="1300" b="1" u="none" strike="noStrike">
                <a:solidFill>
                  <a:srgbClr val="2DD4BF"/>
                </a:solidFill>
                <a:effectLst/>
                <a:uFillTx/>
                <a:latin typeface="Plus Jakarta Sans"/>
                <a:ea typeface="Plus Jakarta Sans"/>
              </a:rPr>
              <a:t>o)</a:t>
            </a:r>
            <a:endParaRPr lang="en-US" sz="1300" b="0" u="none" strike="noStrike">
              <a:solidFill>
                <a:srgbClr val="FFFFFF"/>
              </a:solidFill>
              <a:effectLst/>
              <a:uFillTx/>
              <a:latin typeface="Arial"/>
            </a:endParaRPr>
          </a:p>
        </p:txBody>
      </p:sp>
      <p:sp>
        <p:nvSpPr>
          <p:cNvPr id="20"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01</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pic>
        <p:nvPicPr>
          <p:cNvPr id="21" name="Image 0" descr="/home/claude/mpl/assets/logo_icon.png"/>
          <p:cNvPicPr/>
          <p:nvPr/>
        </p:nvPicPr>
        <p:blipFill>
          <a:blip r:embed="rId1"/>
          <a:stretch/>
        </p:blipFill>
        <p:spPr>
          <a:xfrm>
            <a:off x="640080" y="502920"/>
            <a:ext cx="401760" cy="482040"/>
          </a:xfrm>
          <a:prstGeom prst="rect">
            <a:avLst/>
          </a:prstGeom>
          <a:noFill/>
          <a:ln w="0">
            <a:noFill/>
          </a:ln>
        </p:spPr>
      </p:pic>
      <p:sp>
        <p:nvSpPr>
          <p:cNvPr id="22" name="Text 0"/>
          <p:cNvSpPr/>
          <p:nvPr/>
        </p:nvSpPr>
        <p:spPr>
          <a:xfrm>
            <a:off x="640080" y="1188720"/>
            <a:ext cx="5485680" cy="319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2DD4BF"/>
                </a:solidFill>
                <a:effectLst/>
                <a:uFillTx/>
                <a:latin typeface="Plus Jakarta Sans"/>
                <a:ea typeface="Plus Jakarta Sans"/>
              </a:rPr>
              <a:t>WH</a:t>
            </a:r>
            <a:r>
              <a:rPr lang="en-US" sz="1200" b="1" u="none" spc="201" strike="noStrike">
                <a:solidFill>
                  <a:srgbClr val="2DD4BF"/>
                </a:solidFill>
                <a:effectLst/>
                <a:uFillTx/>
                <a:latin typeface="Plus Jakarta Sans"/>
                <a:ea typeface="Plus Jakarta Sans"/>
              </a:rPr>
              <a:t>ERE </a:t>
            </a:r>
            <a:r>
              <a:rPr lang="en-US" sz="1200" b="1" u="none" spc="201" strike="noStrike">
                <a:solidFill>
                  <a:srgbClr val="2DD4BF"/>
                </a:solidFill>
                <a:effectLst/>
                <a:uFillTx/>
                <a:latin typeface="Plus Jakarta Sans"/>
                <a:ea typeface="Plus Jakarta Sans"/>
              </a:rPr>
              <a:t>THI</a:t>
            </a:r>
            <a:r>
              <a:rPr lang="en-US" sz="1200" b="1" u="none" spc="201" strike="noStrike">
                <a:solidFill>
                  <a:srgbClr val="2DD4BF"/>
                </a:solidFill>
                <a:effectLst/>
                <a:uFillTx/>
                <a:latin typeface="Plus Jakarta Sans"/>
                <a:ea typeface="Plus Jakarta Sans"/>
              </a:rPr>
              <a:t>S </a:t>
            </a:r>
            <a:r>
              <a:rPr lang="en-US" sz="1200" b="1" u="none" spc="201" strike="noStrike">
                <a:solidFill>
                  <a:srgbClr val="2DD4BF"/>
                </a:solidFill>
                <a:effectLst/>
                <a:uFillTx/>
                <a:latin typeface="Plus Jakarta Sans"/>
                <a:ea typeface="Plus Jakarta Sans"/>
              </a:rPr>
              <a:t>FIT</a:t>
            </a:r>
            <a:r>
              <a:rPr lang="en-US" sz="1200" b="1" u="none" spc="201" strike="noStrike">
                <a:solidFill>
                  <a:srgbClr val="2DD4BF"/>
                </a:solidFill>
                <a:effectLst/>
                <a:uFillTx/>
                <a:latin typeface="Plus Jakarta Sans"/>
                <a:ea typeface="Plus Jakarta Sans"/>
              </a:rPr>
              <a:t>S</a:t>
            </a:r>
            <a:endParaRPr lang="en-US" sz="1200" b="0" u="none" strike="noStrike">
              <a:solidFill>
                <a:srgbClr val="FFFFFF"/>
              </a:solidFill>
              <a:effectLst/>
              <a:uFillTx/>
              <a:latin typeface="Arial"/>
            </a:endParaRPr>
          </a:p>
        </p:txBody>
      </p:sp>
      <p:sp>
        <p:nvSpPr>
          <p:cNvPr id="23" name="Text 1"/>
          <p:cNvSpPr/>
          <p:nvPr/>
        </p:nvSpPr>
        <p:spPr>
          <a:xfrm>
            <a:off x="640080" y="1536120"/>
            <a:ext cx="10057680" cy="6393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000" b="1" u="none" strike="noStrike">
                <a:solidFill>
                  <a:srgbClr val="F1F5F9"/>
                </a:solidFill>
                <a:effectLst/>
                <a:uFillTx/>
                <a:latin typeface="Bricolage Grotesque"/>
                <a:ea typeface="Bricolage Grotesque"/>
              </a:rPr>
              <a:t>The AI &amp; ML Playground Roadmap</a:t>
            </a:r>
            <a:endParaRPr lang="en-US" sz="3000" b="0" u="none" strike="noStrike">
              <a:solidFill>
                <a:srgbClr val="FFFFFF"/>
              </a:solidFill>
              <a:effectLst/>
              <a:uFillTx/>
              <a:latin typeface="Arial"/>
            </a:endParaRPr>
          </a:p>
        </p:txBody>
      </p:sp>
      <p:sp>
        <p:nvSpPr>
          <p:cNvPr id="24" name="Shape 2"/>
          <p:cNvSpPr/>
          <p:nvPr/>
        </p:nvSpPr>
        <p:spPr>
          <a:xfrm>
            <a:off x="64008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 name="Text 3"/>
          <p:cNvSpPr/>
          <p:nvPr/>
        </p:nvSpPr>
        <p:spPr>
          <a:xfrm>
            <a:off x="68580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Python</a:t>
            </a:r>
            <a:endParaRPr lang="en-US" sz="950" b="0" u="none" strike="noStrike">
              <a:solidFill>
                <a:srgbClr val="FFFFFF"/>
              </a:solidFill>
              <a:effectLst/>
              <a:uFillTx/>
              <a:latin typeface="Arial"/>
            </a:endParaRPr>
          </a:p>
        </p:txBody>
      </p:sp>
      <p:sp>
        <p:nvSpPr>
          <p:cNvPr id="26" name="Text 4"/>
          <p:cNvSpPr/>
          <p:nvPr/>
        </p:nvSpPr>
        <p:spPr>
          <a:xfrm>
            <a:off x="173520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27" name="Shape 5"/>
          <p:cNvSpPr/>
          <p:nvPr/>
        </p:nvSpPr>
        <p:spPr>
          <a:xfrm>
            <a:off x="186336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 name="Text 6"/>
          <p:cNvSpPr/>
          <p:nvPr/>
        </p:nvSpPr>
        <p:spPr>
          <a:xfrm>
            <a:off x="190908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Math for DS</a:t>
            </a:r>
            <a:endParaRPr lang="en-US" sz="950" b="0" u="none" strike="noStrike">
              <a:solidFill>
                <a:srgbClr val="FFFFFF"/>
              </a:solidFill>
              <a:effectLst/>
              <a:uFillTx/>
              <a:latin typeface="Arial"/>
            </a:endParaRPr>
          </a:p>
        </p:txBody>
      </p:sp>
      <p:sp>
        <p:nvSpPr>
          <p:cNvPr id="29" name="Text 7"/>
          <p:cNvSpPr/>
          <p:nvPr/>
        </p:nvSpPr>
        <p:spPr>
          <a:xfrm>
            <a:off x="295848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30" name="Shape 8"/>
          <p:cNvSpPr/>
          <p:nvPr/>
        </p:nvSpPr>
        <p:spPr>
          <a:xfrm>
            <a:off x="308664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 name="Text 9"/>
          <p:cNvSpPr/>
          <p:nvPr/>
        </p:nvSpPr>
        <p:spPr>
          <a:xfrm>
            <a:off x="313236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Git &amp; GitHub</a:t>
            </a:r>
            <a:endParaRPr lang="en-US" sz="950" b="0" u="none" strike="noStrike">
              <a:solidFill>
                <a:srgbClr val="FFFFFF"/>
              </a:solidFill>
              <a:effectLst/>
              <a:uFillTx/>
              <a:latin typeface="Arial"/>
            </a:endParaRPr>
          </a:p>
        </p:txBody>
      </p:sp>
      <p:sp>
        <p:nvSpPr>
          <p:cNvPr id="32" name="Text 10"/>
          <p:cNvSpPr/>
          <p:nvPr/>
        </p:nvSpPr>
        <p:spPr>
          <a:xfrm>
            <a:off x="418176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33" name="Shape 11"/>
          <p:cNvSpPr/>
          <p:nvPr/>
        </p:nvSpPr>
        <p:spPr>
          <a:xfrm>
            <a:off x="430992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 name="Text 12"/>
          <p:cNvSpPr/>
          <p:nvPr/>
        </p:nvSpPr>
        <p:spPr>
          <a:xfrm>
            <a:off x="435564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NumPy</a:t>
            </a:r>
            <a:endParaRPr lang="en-US" sz="950" b="0" u="none" strike="noStrike">
              <a:solidFill>
                <a:srgbClr val="FFFFFF"/>
              </a:solidFill>
              <a:effectLst/>
              <a:uFillTx/>
              <a:latin typeface="Arial"/>
            </a:endParaRPr>
          </a:p>
        </p:txBody>
      </p:sp>
      <p:sp>
        <p:nvSpPr>
          <p:cNvPr id="35" name="Text 13"/>
          <p:cNvSpPr/>
          <p:nvPr/>
        </p:nvSpPr>
        <p:spPr>
          <a:xfrm>
            <a:off x="540504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36" name="Shape 14"/>
          <p:cNvSpPr/>
          <p:nvPr/>
        </p:nvSpPr>
        <p:spPr>
          <a:xfrm>
            <a:off x="553320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 name="Text 15"/>
          <p:cNvSpPr/>
          <p:nvPr/>
        </p:nvSpPr>
        <p:spPr>
          <a:xfrm>
            <a:off x="557892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Pandas</a:t>
            </a:r>
            <a:endParaRPr lang="en-US" sz="950" b="0" u="none" strike="noStrike">
              <a:solidFill>
                <a:srgbClr val="FFFFFF"/>
              </a:solidFill>
              <a:effectLst/>
              <a:uFillTx/>
              <a:latin typeface="Arial"/>
            </a:endParaRPr>
          </a:p>
        </p:txBody>
      </p:sp>
      <p:sp>
        <p:nvSpPr>
          <p:cNvPr id="38" name="Text 16"/>
          <p:cNvSpPr/>
          <p:nvPr/>
        </p:nvSpPr>
        <p:spPr>
          <a:xfrm>
            <a:off x="662832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39" name="Shape 17"/>
          <p:cNvSpPr/>
          <p:nvPr/>
        </p:nvSpPr>
        <p:spPr>
          <a:xfrm>
            <a:off x="6756480" y="3977640"/>
            <a:ext cx="1094400" cy="867960"/>
          </a:xfrm>
          <a:prstGeom prst="roundRect">
            <a:avLst>
              <a:gd name="adj" fmla="val 8421"/>
            </a:avLst>
          </a:prstGeom>
          <a:solidFill>
            <a:srgbClr val="818CF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 name="Text 18"/>
          <p:cNvSpPr/>
          <p:nvPr/>
        </p:nvSpPr>
        <p:spPr>
          <a:xfrm>
            <a:off x="680220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0B0F17"/>
                </a:solidFill>
                <a:effectLst/>
                <a:uFillTx/>
                <a:latin typeface="Plus Jakarta Sans"/>
                <a:ea typeface="Plus Jakarta Sans"/>
              </a:rPr>
              <a:t>Matplotlib</a:t>
            </a:r>
            <a:endParaRPr lang="en-US" sz="950" b="0" u="none" strike="noStrike">
              <a:solidFill>
                <a:srgbClr val="FFFFFF"/>
              </a:solidFill>
              <a:effectLst/>
              <a:uFillTx/>
              <a:latin typeface="Arial"/>
            </a:endParaRPr>
          </a:p>
        </p:txBody>
      </p:sp>
      <p:sp>
        <p:nvSpPr>
          <p:cNvPr id="41" name="Text 19"/>
          <p:cNvSpPr/>
          <p:nvPr/>
        </p:nvSpPr>
        <p:spPr>
          <a:xfrm>
            <a:off x="785160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42" name="Shape 20"/>
          <p:cNvSpPr/>
          <p:nvPr/>
        </p:nvSpPr>
        <p:spPr>
          <a:xfrm>
            <a:off x="797976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 name="Text 21"/>
          <p:cNvSpPr/>
          <p:nvPr/>
        </p:nvSpPr>
        <p:spPr>
          <a:xfrm>
            <a:off x="802548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Seaborn</a:t>
            </a:r>
            <a:endParaRPr lang="en-US" sz="950" b="0" u="none" strike="noStrike">
              <a:solidFill>
                <a:srgbClr val="FFFFFF"/>
              </a:solidFill>
              <a:effectLst/>
              <a:uFillTx/>
              <a:latin typeface="Arial"/>
            </a:endParaRPr>
          </a:p>
        </p:txBody>
      </p:sp>
      <p:sp>
        <p:nvSpPr>
          <p:cNvPr id="44" name="Text 22"/>
          <p:cNvSpPr/>
          <p:nvPr/>
        </p:nvSpPr>
        <p:spPr>
          <a:xfrm>
            <a:off x="907488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45" name="Shape 23"/>
          <p:cNvSpPr/>
          <p:nvPr/>
        </p:nvSpPr>
        <p:spPr>
          <a:xfrm>
            <a:off x="920304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 name="Text 24"/>
          <p:cNvSpPr/>
          <p:nvPr/>
        </p:nvSpPr>
        <p:spPr>
          <a:xfrm>
            <a:off x="924876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Data Analytics</a:t>
            </a:r>
            <a:endParaRPr lang="en-US" sz="950" b="0" u="none" strike="noStrike">
              <a:solidFill>
                <a:srgbClr val="FFFFFF"/>
              </a:solidFill>
              <a:effectLst/>
              <a:uFillTx/>
              <a:latin typeface="Arial"/>
            </a:endParaRPr>
          </a:p>
        </p:txBody>
      </p:sp>
      <p:sp>
        <p:nvSpPr>
          <p:cNvPr id="47" name="Text 25"/>
          <p:cNvSpPr/>
          <p:nvPr/>
        </p:nvSpPr>
        <p:spPr>
          <a:xfrm>
            <a:off x="10298160" y="3977640"/>
            <a:ext cx="173160" cy="867960"/>
          </a:xfrm>
          <a:prstGeom prst="rect">
            <a:avLst/>
          </a:prstGeom>
          <a:noFill/>
          <a:ln w="0">
            <a:noFill/>
          </a:ln>
        </p:spPr>
        <p:style>
          <a:lnRef idx="0"/>
          <a:fillRef idx="0"/>
          <a:effectRef idx="0"/>
          <a:fontRef idx="minor"/>
        </p:style>
        <p:txBody>
          <a:bodyPr lIns="86760" tIns="45000" rIns="86760" bIns="45000" anchor="ctr">
            <a:noAutofit/>
          </a:bodyPr>
          <a:p>
            <a:pPr algn="ctr" defTabSz="914400">
              <a:lnSpc>
                <a:spcPct val="100000"/>
              </a:lnSpc>
              <a:tabLst>
                <a:tab pos="0" algn="l"/>
              </a:tabLst>
            </a:pPr>
            <a:r>
              <a:rPr lang="en-US" sz="1100" b="0" u="none" strike="noStrike">
                <a:solidFill>
                  <a:srgbClr val="94A3B8"/>
                </a:solidFill>
                <a:effectLst/>
                <a:uFillTx/>
                <a:latin typeface="Hanken Grotesk"/>
                <a:ea typeface="Hanken Grotesk"/>
              </a:rPr>
              <a:t>→</a:t>
            </a:r>
            <a:endParaRPr lang="en-US" sz="1100" b="0" u="none" strike="noStrike">
              <a:solidFill>
                <a:srgbClr val="FFFFFF"/>
              </a:solidFill>
              <a:effectLst/>
              <a:uFillTx/>
              <a:latin typeface="Arial"/>
            </a:endParaRPr>
          </a:p>
        </p:txBody>
      </p:sp>
      <p:sp>
        <p:nvSpPr>
          <p:cNvPr id="48" name="Shape 26"/>
          <p:cNvSpPr/>
          <p:nvPr/>
        </p:nvSpPr>
        <p:spPr>
          <a:xfrm>
            <a:off x="10426320" y="3977640"/>
            <a:ext cx="1094400" cy="867960"/>
          </a:xfrm>
          <a:prstGeom prst="roundRect">
            <a:avLst>
              <a:gd name="adj" fmla="val 8421"/>
            </a:avLst>
          </a:prstGeom>
          <a:solidFill>
            <a:srgbClr val="162032"/>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 name="Text 27"/>
          <p:cNvSpPr/>
          <p:nvPr/>
        </p:nvSpPr>
        <p:spPr>
          <a:xfrm>
            <a:off x="10472040" y="3977640"/>
            <a:ext cx="1002960" cy="867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1" u="none" strike="noStrike">
                <a:solidFill>
                  <a:srgbClr val="94A3B8"/>
                </a:solidFill>
                <a:effectLst/>
                <a:uFillTx/>
                <a:latin typeface="Plus Jakarta Sans"/>
                <a:ea typeface="Plus Jakarta Sans"/>
              </a:rPr>
              <a:t>Supervised ML</a:t>
            </a:r>
            <a:endParaRPr lang="en-US" sz="950" b="0" u="none" strike="noStrike">
              <a:solidFill>
                <a:srgbClr val="FFFFFF"/>
              </a:solidFill>
              <a:effectLst/>
              <a:uFillTx/>
              <a:latin typeface="Arial"/>
            </a:endParaRPr>
          </a:p>
        </p:txBody>
      </p:sp>
      <p:sp>
        <p:nvSpPr>
          <p:cNvPr id="50" name="Text 28"/>
          <p:cNvSpPr/>
          <p:nvPr/>
        </p:nvSpPr>
        <p:spPr>
          <a:xfrm>
            <a:off x="640080" y="5212080"/>
            <a:ext cx="102405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30000"/>
              </a:lnSpc>
              <a:tabLst>
                <a:tab pos="0" algn="l"/>
              </a:tabLst>
            </a:pPr>
            <a:r>
              <a:rPr lang="en-US" sz="1400" b="0" u="none" strike="noStrike">
                <a:solidFill>
                  <a:srgbClr val="94A3B8"/>
                </a:solidFill>
                <a:effectLst/>
                <a:uFillTx/>
                <a:latin typeface="Hanken Grotesk"/>
                <a:ea typeface="Hanken Grotesk"/>
              </a:rPr>
              <a:t>You are here — Matplotlib turns the clean arrays and DataFrames you built in NumPy and Pandas into visuals you can actually reason about, and it's the visualization language you'll keep using all the way through Machine Learning.</a:t>
            </a:r>
            <a:endParaRPr lang="en-US" sz="1400" b="0" u="none" strike="noStrike">
              <a:solidFill>
                <a:srgbClr val="FFFFFF"/>
              </a:solidFill>
              <a:effectLst/>
              <a:uFillTx/>
              <a:latin typeface="Arial"/>
            </a:endParaRPr>
          </a:p>
        </p:txBody>
      </p:sp>
      <p:sp>
        <p:nvSpPr>
          <p:cNvPr id="51" name="Text 2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02</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WHAT WE'RE COVERING</a:t>
            </a:r>
            <a:endParaRPr lang="en-US" sz="1100" b="0" u="none" strike="noStrike">
              <a:solidFill>
                <a:srgbClr val="000000"/>
              </a:solidFill>
              <a:effectLst/>
              <a:uFillTx/>
              <a:latin typeface="Arial"/>
            </a:endParaRPr>
          </a:p>
        </p:txBody>
      </p:sp>
      <p:sp>
        <p:nvSpPr>
          <p:cNvPr id="5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Today's Roadmap</a:t>
            </a:r>
            <a:endParaRPr lang="en-US" sz="2600" b="0" u="none" strike="noStrike">
              <a:solidFill>
                <a:srgbClr val="000000"/>
              </a:solidFill>
              <a:effectLst/>
              <a:uFillTx/>
              <a:latin typeface="Arial"/>
            </a:endParaRPr>
          </a:p>
        </p:txBody>
      </p:sp>
      <p:pic>
        <p:nvPicPr>
          <p:cNvPr id="5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5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56" name="Shape 3"/>
          <p:cNvSpPr/>
          <p:nvPr/>
        </p:nvSpPr>
        <p:spPr>
          <a:xfrm>
            <a:off x="548640" y="155448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 name="Text 4"/>
          <p:cNvSpPr/>
          <p:nvPr/>
        </p:nvSpPr>
        <p:spPr>
          <a:xfrm>
            <a:off x="713160" y="168264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01</a:t>
            </a:r>
            <a:endParaRPr lang="en-US" sz="2000" b="0" u="none" strike="noStrike">
              <a:solidFill>
                <a:srgbClr val="000000"/>
              </a:solidFill>
              <a:effectLst/>
              <a:uFillTx/>
              <a:latin typeface="Arial"/>
            </a:endParaRPr>
          </a:p>
        </p:txBody>
      </p:sp>
      <p:sp>
        <p:nvSpPr>
          <p:cNvPr id="58" name="Text 5"/>
          <p:cNvSpPr/>
          <p:nvPr/>
        </p:nvSpPr>
        <p:spPr>
          <a:xfrm>
            <a:off x="713160" y="210312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Foundations &amp; Terminology</a:t>
            </a:r>
            <a:endParaRPr lang="en-US" sz="1250" b="0" u="none" strike="noStrike">
              <a:solidFill>
                <a:srgbClr val="000000"/>
              </a:solidFill>
              <a:effectLst/>
              <a:uFillTx/>
              <a:latin typeface="Arial"/>
            </a:endParaRPr>
          </a:p>
        </p:txBody>
      </p:sp>
      <p:sp>
        <p:nvSpPr>
          <p:cNvPr id="59" name="Shape 6"/>
          <p:cNvSpPr/>
          <p:nvPr/>
        </p:nvSpPr>
        <p:spPr>
          <a:xfrm>
            <a:off x="4297680" y="155448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 name="Text 7"/>
          <p:cNvSpPr/>
          <p:nvPr/>
        </p:nvSpPr>
        <p:spPr>
          <a:xfrm>
            <a:off x="4462200" y="168264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02</a:t>
            </a:r>
            <a:endParaRPr lang="en-US" sz="2000" b="0" u="none" strike="noStrike">
              <a:solidFill>
                <a:srgbClr val="000000"/>
              </a:solidFill>
              <a:effectLst/>
              <a:uFillTx/>
              <a:latin typeface="Arial"/>
            </a:endParaRPr>
          </a:p>
        </p:txBody>
      </p:sp>
      <p:sp>
        <p:nvSpPr>
          <p:cNvPr id="61" name="Text 8"/>
          <p:cNvSpPr/>
          <p:nvPr/>
        </p:nvSpPr>
        <p:spPr>
          <a:xfrm>
            <a:off x="4462200" y="210312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Getting Started</a:t>
            </a:r>
            <a:endParaRPr lang="en-US" sz="1250" b="0" u="none" strike="noStrike">
              <a:solidFill>
                <a:srgbClr val="000000"/>
              </a:solidFill>
              <a:effectLst/>
              <a:uFillTx/>
              <a:latin typeface="Arial"/>
            </a:endParaRPr>
          </a:p>
        </p:txBody>
      </p:sp>
      <p:sp>
        <p:nvSpPr>
          <p:cNvPr id="62" name="Shape 9"/>
          <p:cNvSpPr/>
          <p:nvPr/>
        </p:nvSpPr>
        <p:spPr>
          <a:xfrm>
            <a:off x="8046720" y="155448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 name="Text 10"/>
          <p:cNvSpPr/>
          <p:nvPr/>
        </p:nvSpPr>
        <p:spPr>
          <a:xfrm>
            <a:off x="8211240" y="168264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03</a:t>
            </a:r>
            <a:endParaRPr lang="en-US" sz="2000" b="0" u="none" strike="noStrike">
              <a:solidFill>
                <a:srgbClr val="000000"/>
              </a:solidFill>
              <a:effectLst/>
              <a:uFillTx/>
              <a:latin typeface="Arial"/>
            </a:endParaRPr>
          </a:p>
        </p:txBody>
      </p:sp>
      <p:sp>
        <p:nvSpPr>
          <p:cNvPr id="64" name="Text 11"/>
          <p:cNvSpPr/>
          <p:nvPr/>
        </p:nvSpPr>
        <p:spPr>
          <a:xfrm>
            <a:off x="8211240" y="210312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Pyplot &amp; Line Plots</a:t>
            </a:r>
            <a:endParaRPr lang="en-US" sz="1250" b="0" u="none" strike="noStrike">
              <a:solidFill>
                <a:srgbClr val="000000"/>
              </a:solidFill>
              <a:effectLst/>
              <a:uFillTx/>
              <a:latin typeface="Arial"/>
            </a:endParaRPr>
          </a:p>
        </p:txBody>
      </p:sp>
      <p:sp>
        <p:nvSpPr>
          <p:cNvPr id="65" name="Shape 12"/>
          <p:cNvSpPr/>
          <p:nvPr/>
        </p:nvSpPr>
        <p:spPr>
          <a:xfrm>
            <a:off x="548640" y="277992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 name="Text 13"/>
          <p:cNvSpPr/>
          <p:nvPr/>
        </p:nvSpPr>
        <p:spPr>
          <a:xfrm>
            <a:off x="713160" y="290772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04</a:t>
            </a:r>
            <a:endParaRPr lang="en-US" sz="2000" b="0" u="none" strike="noStrike">
              <a:solidFill>
                <a:srgbClr val="000000"/>
              </a:solidFill>
              <a:effectLst/>
              <a:uFillTx/>
              <a:latin typeface="Arial"/>
            </a:endParaRPr>
          </a:p>
        </p:txBody>
      </p:sp>
      <p:sp>
        <p:nvSpPr>
          <p:cNvPr id="67" name="Text 14"/>
          <p:cNvSpPr/>
          <p:nvPr/>
        </p:nvSpPr>
        <p:spPr>
          <a:xfrm>
            <a:off x="713160" y="332856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Bar, Pie, Histogram, Scatter</a:t>
            </a:r>
            <a:endParaRPr lang="en-US" sz="1250" b="0" u="none" strike="noStrike">
              <a:solidFill>
                <a:srgbClr val="000000"/>
              </a:solidFill>
              <a:effectLst/>
              <a:uFillTx/>
              <a:latin typeface="Arial"/>
            </a:endParaRPr>
          </a:p>
        </p:txBody>
      </p:sp>
      <p:sp>
        <p:nvSpPr>
          <p:cNvPr id="68" name="Shape 15"/>
          <p:cNvSpPr/>
          <p:nvPr/>
        </p:nvSpPr>
        <p:spPr>
          <a:xfrm>
            <a:off x="4297680" y="277992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 name="Text 16"/>
          <p:cNvSpPr/>
          <p:nvPr/>
        </p:nvSpPr>
        <p:spPr>
          <a:xfrm>
            <a:off x="4462200" y="290772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05</a:t>
            </a:r>
            <a:endParaRPr lang="en-US" sz="2000" b="0" u="none" strike="noStrike">
              <a:solidFill>
                <a:srgbClr val="000000"/>
              </a:solidFill>
              <a:effectLst/>
              <a:uFillTx/>
              <a:latin typeface="Arial"/>
            </a:endParaRPr>
          </a:p>
        </p:txBody>
      </p:sp>
      <p:sp>
        <p:nvSpPr>
          <p:cNvPr id="70" name="Text 17"/>
          <p:cNvSpPr/>
          <p:nvPr/>
        </p:nvSpPr>
        <p:spPr>
          <a:xfrm>
            <a:off x="4462200" y="332856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Subplots</a:t>
            </a:r>
            <a:endParaRPr lang="en-US" sz="1250" b="0" u="none" strike="noStrike">
              <a:solidFill>
                <a:srgbClr val="000000"/>
              </a:solidFill>
              <a:effectLst/>
              <a:uFillTx/>
              <a:latin typeface="Arial"/>
            </a:endParaRPr>
          </a:p>
        </p:txBody>
      </p:sp>
      <p:sp>
        <p:nvSpPr>
          <p:cNvPr id="71" name="Shape 18"/>
          <p:cNvSpPr/>
          <p:nvPr/>
        </p:nvSpPr>
        <p:spPr>
          <a:xfrm>
            <a:off x="8046720" y="277992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 name="Text 19"/>
          <p:cNvSpPr/>
          <p:nvPr/>
        </p:nvSpPr>
        <p:spPr>
          <a:xfrm>
            <a:off x="8211240" y="290772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06</a:t>
            </a:r>
            <a:endParaRPr lang="en-US" sz="2000" b="0" u="none" strike="noStrike">
              <a:solidFill>
                <a:srgbClr val="000000"/>
              </a:solidFill>
              <a:effectLst/>
              <a:uFillTx/>
              <a:latin typeface="Arial"/>
            </a:endParaRPr>
          </a:p>
        </p:txBody>
      </p:sp>
      <p:sp>
        <p:nvSpPr>
          <p:cNvPr id="73" name="Text 20"/>
          <p:cNvSpPr/>
          <p:nvPr/>
        </p:nvSpPr>
        <p:spPr>
          <a:xfrm>
            <a:off x="8211240" y="332856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The Object-Oriented API</a:t>
            </a:r>
            <a:endParaRPr lang="en-US" sz="1250" b="0" u="none" strike="noStrike">
              <a:solidFill>
                <a:srgbClr val="000000"/>
              </a:solidFill>
              <a:effectLst/>
              <a:uFillTx/>
              <a:latin typeface="Arial"/>
            </a:endParaRPr>
          </a:p>
        </p:txBody>
      </p:sp>
      <p:sp>
        <p:nvSpPr>
          <p:cNvPr id="74" name="Shape 21"/>
          <p:cNvSpPr/>
          <p:nvPr/>
        </p:nvSpPr>
        <p:spPr>
          <a:xfrm>
            <a:off x="548640" y="400500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5" name="Text 22"/>
          <p:cNvSpPr/>
          <p:nvPr/>
        </p:nvSpPr>
        <p:spPr>
          <a:xfrm>
            <a:off x="713160" y="413316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07</a:t>
            </a:r>
            <a:endParaRPr lang="en-US" sz="2000" b="0" u="none" strike="noStrike">
              <a:solidFill>
                <a:srgbClr val="000000"/>
              </a:solidFill>
              <a:effectLst/>
              <a:uFillTx/>
              <a:latin typeface="Arial"/>
            </a:endParaRPr>
          </a:p>
        </p:txBody>
      </p:sp>
      <p:sp>
        <p:nvSpPr>
          <p:cNvPr id="76" name="Text 23"/>
          <p:cNvSpPr/>
          <p:nvPr/>
        </p:nvSpPr>
        <p:spPr>
          <a:xfrm>
            <a:off x="713160" y="455364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Controlling the View</a:t>
            </a:r>
            <a:endParaRPr lang="en-US" sz="1250" b="0" u="none" strike="noStrike">
              <a:solidFill>
                <a:srgbClr val="000000"/>
              </a:solidFill>
              <a:effectLst/>
              <a:uFillTx/>
              <a:latin typeface="Arial"/>
            </a:endParaRPr>
          </a:p>
        </p:txBody>
      </p:sp>
      <p:sp>
        <p:nvSpPr>
          <p:cNvPr id="77" name="Shape 24"/>
          <p:cNvSpPr/>
          <p:nvPr/>
        </p:nvSpPr>
        <p:spPr>
          <a:xfrm>
            <a:off x="4297680" y="400500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 name="Text 25"/>
          <p:cNvSpPr/>
          <p:nvPr/>
        </p:nvSpPr>
        <p:spPr>
          <a:xfrm>
            <a:off x="4462200" y="413316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08</a:t>
            </a:r>
            <a:endParaRPr lang="en-US" sz="2000" b="0" u="none" strike="noStrike">
              <a:solidFill>
                <a:srgbClr val="000000"/>
              </a:solidFill>
              <a:effectLst/>
              <a:uFillTx/>
              <a:latin typeface="Arial"/>
            </a:endParaRPr>
          </a:p>
        </p:txBody>
      </p:sp>
      <p:sp>
        <p:nvSpPr>
          <p:cNvPr id="79" name="Text 26"/>
          <p:cNvSpPr/>
          <p:nvPr/>
        </p:nvSpPr>
        <p:spPr>
          <a:xfrm>
            <a:off x="4462200" y="455364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Color, Images &amp; Customization</a:t>
            </a:r>
            <a:endParaRPr lang="en-US" sz="1250" b="0" u="none" strike="noStrike">
              <a:solidFill>
                <a:srgbClr val="000000"/>
              </a:solidFill>
              <a:effectLst/>
              <a:uFillTx/>
              <a:latin typeface="Arial"/>
            </a:endParaRPr>
          </a:p>
        </p:txBody>
      </p:sp>
      <p:sp>
        <p:nvSpPr>
          <p:cNvPr id="80" name="Shape 27"/>
          <p:cNvSpPr/>
          <p:nvPr/>
        </p:nvSpPr>
        <p:spPr>
          <a:xfrm>
            <a:off x="8046720" y="400500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1" name="Text 28"/>
          <p:cNvSpPr/>
          <p:nvPr/>
        </p:nvSpPr>
        <p:spPr>
          <a:xfrm>
            <a:off x="8211240" y="413316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09</a:t>
            </a:r>
            <a:endParaRPr lang="en-US" sz="2000" b="0" u="none" strike="noStrike">
              <a:solidFill>
                <a:srgbClr val="000000"/>
              </a:solidFill>
              <a:effectLst/>
              <a:uFillTx/>
              <a:latin typeface="Arial"/>
            </a:endParaRPr>
          </a:p>
        </p:txBody>
      </p:sp>
      <p:sp>
        <p:nvSpPr>
          <p:cNvPr id="82" name="Text 29"/>
          <p:cNvSpPr/>
          <p:nvPr/>
        </p:nvSpPr>
        <p:spPr>
          <a:xfrm>
            <a:off x="8211240" y="455364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Text, Annotations &amp; Stats Plots</a:t>
            </a:r>
            <a:endParaRPr lang="en-US" sz="1250" b="0" u="none" strike="noStrike">
              <a:solidFill>
                <a:srgbClr val="000000"/>
              </a:solidFill>
              <a:effectLst/>
              <a:uFillTx/>
              <a:latin typeface="Arial"/>
            </a:endParaRPr>
          </a:p>
        </p:txBody>
      </p:sp>
      <p:sp>
        <p:nvSpPr>
          <p:cNvPr id="83" name="Shape 30"/>
          <p:cNvSpPr/>
          <p:nvPr/>
        </p:nvSpPr>
        <p:spPr>
          <a:xfrm>
            <a:off x="548640" y="523044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 name="Text 31"/>
          <p:cNvSpPr/>
          <p:nvPr/>
        </p:nvSpPr>
        <p:spPr>
          <a:xfrm>
            <a:off x="713160" y="535824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10</a:t>
            </a:r>
            <a:endParaRPr lang="en-US" sz="2000" b="0" u="none" strike="noStrike">
              <a:solidFill>
                <a:srgbClr val="000000"/>
              </a:solidFill>
              <a:effectLst/>
              <a:uFillTx/>
              <a:latin typeface="Arial"/>
            </a:endParaRPr>
          </a:p>
        </p:txBody>
      </p:sp>
      <p:sp>
        <p:nvSpPr>
          <p:cNvPr id="85" name="Text 32"/>
          <p:cNvSpPr/>
          <p:nvPr/>
        </p:nvSpPr>
        <p:spPr>
          <a:xfrm>
            <a:off x="713160" y="577908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Saving Figures</a:t>
            </a:r>
            <a:endParaRPr lang="en-US" sz="1250" b="0" u="none" strike="noStrike">
              <a:solidFill>
                <a:srgbClr val="000000"/>
              </a:solidFill>
              <a:effectLst/>
              <a:uFillTx/>
              <a:latin typeface="Arial"/>
            </a:endParaRPr>
          </a:p>
        </p:txBody>
      </p:sp>
      <p:sp>
        <p:nvSpPr>
          <p:cNvPr id="86" name="Shape 33"/>
          <p:cNvSpPr/>
          <p:nvPr/>
        </p:nvSpPr>
        <p:spPr>
          <a:xfrm>
            <a:off x="4297680" y="523044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 name="Text 34"/>
          <p:cNvSpPr/>
          <p:nvPr/>
        </p:nvSpPr>
        <p:spPr>
          <a:xfrm>
            <a:off x="4462200" y="535824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11</a:t>
            </a:r>
            <a:endParaRPr lang="en-US" sz="2000" b="0" u="none" strike="noStrike">
              <a:solidFill>
                <a:srgbClr val="000000"/>
              </a:solidFill>
              <a:effectLst/>
              <a:uFillTx/>
              <a:latin typeface="Arial"/>
            </a:endParaRPr>
          </a:p>
        </p:txBody>
      </p:sp>
      <p:sp>
        <p:nvSpPr>
          <p:cNvPr id="88" name="Text 35"/>
          <p:cNvSpPr/>
          <p:nvPr/>
        </p:nvSpPr>
        <p:spPr>
          <a:xfrm>
            <a:off x="4462200" y="577908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NumPy &amp; Pandas Integration</a:t>
            </a:r>
            <a:endParaRPr lang="en-US" sz="1250" b="0" u="none" strike="noStrike">
              <a:solidFill>
                <a:srgbClr val="000000"/>
              </a:solidFill>
              <a:effectLst/>
              <a:uFillTx/>
              <a:latin typeface="Arial"/>
            </a:endParaRPr>
          </a:p>
        </p:txBody>
      </p:sp>
      <p:sp>
        <p:nvSpPr>
          <p:cNvPr id="89" name="Shape 36"/>
          <p:cNvSpPr/>
          <p:nvPr/>
        </p:nvSpPr>
        <p:spPr>
          <a:xfrm>
            <a:off x="8046720" y="5230440"/>
            <a:ext cx="3611160" cy="1078200"/>
          </a:xfrm>
          <a:prstGeom prst="roundRect">
            <a:avLst>
              <a:gd name="adj" fmla="val 847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Text 37"/>
          <p:cNvSpPr/>
          <p:nvPr/>
        </p:nvSpPr>
        <p:spPr>
          <a:xfrm>
            <a:off x="8211240" y="5358240"/>
            <a:ext cx="822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000" b="1" u="none" strike="noStrike">
                <a:solidFill>
                  <a:srgbClr val="8C8AE0"/>
                </a:solidFill>
                <a:effectLst/>
                <a:uFillTx/>
                <a:latin typeface="Bricolage Grotesque"/>
                <a:ea typeface="Bricolage Grotesque"/>
              </a:rPr>
              <a:t>12</a:t>
            </a:r>
            <a:endParaRPr lang="en-US" sz="2000" b="0" u="none" strike="noStrike">
              <a:solidFill>
                <a:srgbClr val="000000"/>
              </a:solidFill>
              <a:effectLst/>
              <a:uFillTx/>
              <a:latin typeface="Arial"/>
            </a:endParaRPr>
          </a:p>
        </p:txBody>
      </p:sp>
      <p:sp>
        <p:nvSpPr>
          <p:cNvPr id="91" name="Text 38"/>
          <p:cNvSpPr/>
          <p:nvPr/>
        </p:nvSpPr>
        <p:spPr>
          <a:xfrm>
            <a:off x="8211240" y="5779080"/>
            <a:ext cx="3282120" cy="4564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1" u="none" strike="noStrike">
                <a:solidFill>
                  <a:srgbClr val="1B1B20"/>
                </a:solidFill>
                <a:effectLst/>
                <a:uFillTx/>
                <a:latin typeface="Hanken Grotesk"/>
                <a:ea typeface="Hanken Grotesk"/>
              </a:rPr>
              <a:t>Matplotlib for AI/ML</a:t>
            </a:r>
            <a:endParaRPr lang="en-US" sz="1250" b="0" u="none" strike="noStrike">
              <a:solidFill>
                <a:srgbClr val="000000"/>
              </a:solidFill>
              <a:effectLst/>
              <a:uFillTx/>
              <a:latin typeface="Arial"/>
            </a:endParaRPr>
          </a:p>
        </p:txBody>
      </p:sp>
      <p:sp>
        <p:nvSpPr>
          <p:cNvPr id="92" name="Text 3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93"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4"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5" name="Image 0" descr="/home/claude/mpl/assets/logo_icon.png"/>
          <p:cNvPicPr/>
          <p:nvPr/>
        </p:nvPicPr>
        <p:blipFill>
          <a:blip r:embed="rId1"/>
          <a:stretch/>
        </p:blipFill>
        <p:spPr>
          <a:xfrm>
            <a:off x="640080" y="548640"/>
            <a:ext cx="438120" cy="525960"/>
          </a:xfrm>
          <a:prstGeom prst="rect">
            <a:avLst/>
          </a:prstGeom>
          <a:noFill/>
          <a:ln w="0">
            <a:noFill/>
          </a:ln>
        </p:spPr>
      </p:pic>
      <p:sp>
        <p:nvSpPr>
          <p:cNvPr id="96"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 · FOUNDATIONS</a:t>
            </a:r>
            <a:endParaRPr lang="en-US" sz="1400" b="0" u="none" strike="noStrike">
              <a:solidFill>
                <a:srgbClr val="FFFFFF"/>
              </a:solidFill>
              <a:effectLst/>
              <a:uFillTx/>
              <a:latin typeface="Arial"/>
            </a:endParaRPr>
          </a:p>
        </p:txBody>
      </p:sp>
      <p:sp>
        <p:nvSpPr>
          <p:cNvPr id="97"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Foundations &amp; Terminology</a:t>
            </a:r>
            <a:endParaRPr lang="en-US" sz="4000" b="0" u="none" strike="noStrike">
              <a:solidFill>
                <a:srgbClr val="FFFFFF"/>
              </a:solidFill>
              <a:effectLst/>
              <a:uFillTx/>
              <a:latin typeface="Arial"/>
            </a:endParaRPr>
          </a:p>
        </p:txBody>
      </p:sp>
      <p:sp>
        <p:nvSpPr>
          <p:cNvPr id="98"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19 core terms — the shared vocabulary you'll use for every chart you ever build in Matplotlib.</a:t>
            </a:r>
            <a:endParaRPr lang="en-US" sz="1500" b="0" u="none" strike="noStrike">
              <a:solidFill>
                <a:srgbClr val="FFFFFF"/>
              </a:solidFill>
              <a:effectLst/>
              <a:uFillTx/>
              <a:latin typeface="Arial"/>
            </a:endParaRPr>
          </a:p>
        </p:txBody>
      </p:sp>
      <p:sp>
        <p:nvSpPr>
          <p:cNvPr id="99"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04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10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Terms 1–4 · Building Blocks of a Chart</a:t>
            </a:r>
            <a:endParaRPr lang="en-US" sz="2600" b="0" u="none" strike="noStrike">
              <a:solidFill>
                <a:srgbClr val="000000"/>
              </a:solidFill>
              <a:effectLst/>
              <a:uFillTx/>
              <a:latin typeface="Arial"/>
            </a:endParaRPr>
          </a:p>
        </p:txBody>
      </p:sp>
      <p:pic>
        <p:nvPicPr>
          <p:cNvPr id="10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4" name="Shape 3"/>
          <p:cNvSpPr/>
          <p:nvPr/>
        </p:nvSpPr>
        <p:spPr>
          <a:xfrm>
            <a:off x="5486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 name="Shape 4"/>
          <p:cNvSpPr/>
          <p:nvPr/>
        </p:nvSpPr>
        <p:spPr>
          <a:xfrm>
            <a:off x="7131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 name="Text 5"/>
          <p:cNvSpPr/>
          <p:nvPr/>
        </p:nvSpPr>
        <p:spPr>
          <a:xfrm>
            <a:off x="7131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a:t>
            </a:r>
            <a:endParaRPr lang="en-US" sz="1500" b="0" u="none" strike="noStrike">
              <a:solidFill>
                <a:srgbClr val="000000"/>
              </a:solidFill>
              <a:effectLst/>
              <a:uFillTx/>
              <a:latin typeface="Arial"/>
            </a:endParaRPr>
          </a:p>
        </p:txBody>
      </p:sp>
      <p:sp>
        <p:nvSpPr>
          <p:cNvPr id="107" name="Text 6"/>
          <p:cNvSpPr/>
          <p:nvPr/>
        </p:nvSpPr>
        <p:spPr>
          <a:xfrm>
            <a:off x="11887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Data Point</a:t>
            </a:r>
            <a:endParaRPr lang="en-US" sz="1400" b="0" u="none" strike="noStrike">
              <a:solidFill>
                <a:srgbClr val="000000"/>
              </a:solidFill>
              <a:effectLst/>
              <a:uFillTx/>
              <a:latin typeface="Arial"/>
            </a:endParaRPr>
          </a:p>
        </p:txBody>
      </p:sp>
      <p:sp>
        <p:nvSpPr>
          <p:cNvPr id="108" name="Text 7"/>
          <p:cNvSpPr/>
          <p:nvPr/>
        </p:nvSpPr>
        <p:spPr>
          <a:xfrm>
            <a:off x="7131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A single (x, y) value plotted on a chart — one observation from your dataset.</a:t>
            </a:r>
            <a:endParaRPr lang="en-US" sz="1050" b="0" u="none" strike="noStrike">
              <a:solidFill>
                <a:srgbClr val="000000"/>
              </a:solidFill>
              <a:effectLst/>
              <a:uFillTx/>
              <a:latin typeface="Arial"/>
            </a:endParaRPr>
          </a:p>
        </p:txBody>
      </p:sp>
      <p:sp>
        <p:nvSpPr>
          <p:cNvPr id="109" name="Shape 8"/>
          <p:cNvSpPr/>
          <p:nvPr/>
        </p:nvSpPr>
        <p:spPr>
          <a:xfrm>
            <a:off x="33717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Shape 9"/>
          <p:cNvSpPr/>
          <p:nvPr/>
        </p:nvSpPr>
        <p:spPr>
          <a:xfrm>
            <a:off x="35362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1" name="Text 10"/>
          <p:cNvSpPr/>
          <p:nvPr/>
        </p:nvSpPr>
        <p:spPr>
          <a:xfrm>
            <a:off x="35362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2</a:t>
            </a:r>
            <a:endParaRPr lang="en-US" sz="1500" b="0" u="none" strike="noStrike">
              <a:solidFill>
                <a:srgbClr val="000000"/>
              </a:solidFill>
              <a:effectLst/>
              <a:uFillTx/>
              <a:latin typeface="Arial"/>
            </a:endParaRPr>
          </a:p>
        </p:txBody>
      </p:sp>
      <p:sp>
        <p:nvSpPr>
          <p:cNvPr id="112" name="Text 11"/>
          <p:cNvSpPr/>
          <p:nvPr/>
        </p:nvSpPr>
        <p:spPr>
          <a:xfrm>
            <a:off x="40118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X-axis / Y-axis</a:t>
            </a:r>
            <a:endParaRPr lang="en-US" sz="1400" b="0" u="none" strike="noStrike">
              <a:solidFill>
                <a:srgbClr val="000000"/>
              </a:solidFill>
              <a:effectLst/>
              <a:uFillTx/>
              <a:latin typeface="Arial"/>
            </a:endParaRPr>
          </a:p>
        </p:txBody>
      </p:sp>
      <p:sp>
        <p:nvSpPr>
          <p:cNvPr id="113" name="Text 12"/>
          <p:cNvSpPr/>
          <p:nvPr/>
        </p:nvSpPr>
        <p:spPr>
          <a:xfrm>
            <a:off x="35362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horizontal (X) and vertical (Y) reference lines a chart is measured against.</a:t>
            </a:r>
            <a:endParaRPr lang="en-US" sz="1050" b="0" u="none" strike="noStrike">
              <a:solidFill>
                <a:srgbClr val="000000"/>
              </a:solidFill>
              <a:effectLst/>
              <a:uFillTx/>
              <a:latin typeface="Arial"/>
            </a:endParaRPr>
          </a:p>
        </p:txBody>
      </p:sp>
      <p:sp>
        <p:nvSpPr>
          <p:cNvPr id="114" name="Shape 13"/>
          <p:cNvSpPr/>
          <p:nvPr/>
        </p:nvSpPr>
        <p:spPr>
          <a:xfrm>
            <a:off x="61952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 name="Shape 14"/>
          <p:cNvSpPr/>
          <p:nvPr/>
        </p:nvSpPr>
        <p:spPr>
          <a:xfrm>
            <a:off x="63597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6" name="Text 15"/>
          <p:cNvSpPr/>
          <p:nvPr/>
        </p:nvSpPr>
        <p:spPr>
          <a:xfrm>
            <a:off x="63597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3</a:t>
            </a:r>
            <a:endParaRPr lang="en-US" sz="1500" b="0" u="none" strike="noStrike">
              <a:solidFill>
                <a:srgbClr val="000000"/>
              </a:solidFill>
              <a:effectLst/>
              <a:uFillTx/>
              <a:latin typeface="Arial"/>
            </a:endParaRPr>
          </a:p>
        </p:txBody>
      </p:sp>
      <p:sp>
        <p:nvSpPr>
          <p:cNvPr id="117" name="Text 16"/>
          <p:cNvSpPr/>
          <p:nvPr/>
        </p:nvSpPr>
        <p:spPr>
          <a:xfrm>
            <a:off x="68353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Figure</a:t>
            </a:r>
            <a:endParaRPr lang="en-US" sz="1400" b="0" u="none" strike="noStrike">
              <a:solidFill>
                <a:srgbClr val="000000"/>
              </a:solidFill>
              <a:effectLst/>
              <a:uFillTx/>
              <a:latin typeface="Arial"/>
            </a:endParaRPr>
          </a:p>
        </p:txBody>
      </p:sp>
      <p:sp>
        <p:nvSpPr>
          <p:cNvPr id="118" name="Text 17"/>
          <p:cNvSpPr/>
          <p:nvPr/>
        </p:nvSpPr>
        <p:spPr>
          <a:xfrm>
            <a:off x="63597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entire canvas or window that holds everything — like the picture frame.</a:t>
            </a:r>
            <a:endParaRPr lang="en-US" sz="1050" b="0" u="none" strike="noStrike">
              <a:solidFill>
                <a:srgbClr val="000000"/>
              </a:solidFill>
              <a:effectLst/>
              <a:uFillTx/>
              <a:latin typeface="Arial"/>
            </a:endParaRPr>
          </a:p>
        </p:txBody>
      </p:sp>
      <p:sp>
        <p:nvSpPr>
          <p:cNvPr id="119" name="Shape 18"/>
          <p:cNvSpPr/>
          <p:nvPr/>
        </p:nvSpPr>
        <p:spPr>
          <a:xfrm>
            <a:off x="90183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0" name="Shape 19"/>
          <p:cNvSpPr/>
          <p:nvPr/>
        </p:nvSpPr>
        <p:spPr>
          <a:xfrm>
            <a:off x="91828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1" name="Text 20"/>
          <p:cNvSpPr/>
          <p:nvPr/>
        </p:nvSpPr>
        <p:spPr>
          <a:xfrm>
            <a:off x="91828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4</a:t>
            </a:r>
            <a:endParaRPr lang="en-US" sz="1500" b="0" u="none" strike="noStrike">
              <a:solidFill>
                <a:srgbClr val="000000"/>
              </a:solidFill>
              <a:effectLst/>
              <a:uFillTx/>
              <a:latin typeface="Arial"/>
            </a:endParaRPr>
          </a:p>
        </p:txBody>
      </p:sp>
      <p:sp>
        <p:nvSpPr>
          <p:cNvPr id="122" name="Text 21"/>
          <p:cNvSpPr/>
          <p:nvPr/>
        </p:nvSpPr>
        <p:spPr>
          <a:xfrm>
            <a:off x="96584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Axes</a:t>
            </a:r>
            <a:endParaRPr lang="en-US" sz="1400" b="0" u="none" strike="noStrike">
              <a:solidFill>
                <a:srgbClr val="000000"/>
              </a:solidFill>
              <a:effectLst/>
              <a:uFillTx/>
              <a:latin typeface="Arial"/>
            </a:endParaRPr>
          </a:p>
        </p:txBody>
      </p:sp>
      <p:sp>
        <p:nvSpPr>
          <p:cNvPr id="123" name="Text 22"/>
          <p:cNvSpPr/>
          <p:nvPr/>
        </p:nvSpPr>
        <p:spPr>
          <a:xfrm>
            <a:off x="91828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One individual plot area inside a Figure — the thing you actually draw on.</a:t>
            </a:r>
            <a:endParaRPr lang="en-US" sz="1050" b="0" u="none" strike="noStrike">
              <a:solidFill>
                <a:srgbClr val="000000"/>
              </a:solidFill>
              <a:effectLst/>
              <a:uFillTx/>
              <a:latin typeface="Arial"/>
            </a:endParaRPr>
          </a:p>
        </p:txBody>
      </p:sp>
      <p:sp>
        <p:nvSpPr>
          <p:cNvPr id="124" name="Text 2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12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Terms 5–8 · Describing a Plot's Look</a:t>
            </a:r>
            <a:endParaRPr lang="en-US" sz="2600" b="0" u="none" strike="noStrike">
              <a:solidFill>
                <a:srgbClr val="000000"/>
              </a:solidFill>
              <a:effectLst/>
              <a:uFillTx/>
              <a:latin typeface="Arial"/>
            </a:endParaRPr>
          </a:p>
        </p:txBody>
      </p:sp>
      <p:pic>
        <p:nvPicPr>
          <p:cNvPr id="12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9" name="Shape 3"/>
          <p:cNvSpPr/>
          <p:nvPr/>
        </p:nvSpPr>
        <p:spPr>
          <a:xfrm>
            <a:off x="5486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0" name="Shape 4"/>
          <p:cNvSpPr/>
          <p:nvPr/>
        </p:nvSpPr>
        <p:spPr>
          <a:xfrm>
            <a:off x="7131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1" name="Text 5"/>
          <p:cNvSpPr/>
          <p:nvPr/>
        </p:nvSpPr>
        <p:spPr>
          <a:xfrm>
            <a:off x="7131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5</a:t>
            </a:r>
            <a:endParaRPr lang="en-US" sz="1500" b="0" u="none" strike="noStrike">
              <a:solidFill>
                <a:srgbClr val="000000"/>
              </a:solidFill>
              <a:effectLst/>
              <a:uFillTx/>
              <a:latin typeface="Arial"/>
            </a:endParaRPr>
          </a:p>
        </p:txBody>
      </p:sp>
      <p:sp>
        <p:nvSpPr>
          <p:cNvPr id="132" name="Text 6"/>
          <p:cNvSpPr/>
          <p:nvPr/>
        </p:nvSpPr>
        <p:spPr>
          <a:xfrm>
            <a:off x="11887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Plot</a:t>
            </a:r>
            <a:endParaRPr lang="en-US" sz="1400" b="0" u="none" strike="noStrike">
              <a:solidFill>
                <a:srgbClr val="000000"/>
              </a:solidFill>
              <a:effectLst/>
              <a:uFillTx/>
              <a:latin typeface="Arial"/>
            </a:endParaRPr>
          </a:p>
        </p:txBody>
      </p:sp>
      <p:sp>
        <p:nvSpPr>
          <p:cNvPr id="133" name="Text 7"/>
          <p:cNvSpPr/>
          <p:nvPr/>
        </p:nvSpPr>
        <p:spPr>
          <a:xfrm>
            <a:off x="7131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A visual representation of data — a line, bar, </a:t>
            </a:r>
            <a:r>
              <a:rPr lang="en-US" sz="1050" b="0" u="none" strike="noStrike">
                <a:solidFill>
                  <a:srgbClr val="474651"/>
                </a:solidFill>
                <a:effectLst/>
                <a:uFillTx/>
                <a:latin typeface="Hanken Grotesk"/>
                <a:ea typeface="Hanken Grotesk"/>
              </a:rPr>
              <a:t>scatter, etc. drawn on Axes.</a:t>
            </a:r>
            <a:endParaRPr lang="en-US" sz="1050" b="0" u="none" strike="noStrike">
              <a:solidFill>
                <a:srgbClr val="000000"/>
              </a:solidFill>
              <a:effectLst/>
              <a:uFillTx/>
              <a:latin typeface="Arial"/>
            </a:endParaRPr>
          </a:p>
        </p:txBody>
      </p:sp>
      <p:sp>
        <p:nvSpPr>
          <p:cNvPr id="134" name="Shape 8"/>
          <p:cNvSpPr/>
          <p:nvPr/>
        </p:nvSpPr>
        <p:spPr>
          <a:xfrm>
            <a:off x="33717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5" name="Shape 9"/>
          <p:cNvSpPr/>
          <p:nvPr/>
        </p:nvSpPr>
        <p:spPr>
          <a:xfrm>
            <a:off x="35362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6" name="Text 10"/>
          <p:cNvSpPr/>
          <p:nvPr/>
        </p:nvSpPr>
        <p:spPr>
          <a:xfrm>
            <a:off x="35362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6</a:t>
            </a:r>
            <a:endParaRPr lang="en-US" sz="1500" b="0" u="none" strike="noStrike">
              <a:solidFill>
                <a:srgbClr val="000000"/>
              </a:solidFill>
              <a:effectLst/>
              <a:uFillTx/>
              <a:latin typeface="Arial"/>
            </a:endParaRPr>
          </a:p>
        </p:txBody>
      </p:sp>
      <p:sp>
        <p:nvSpPr>
          <p:cNvPr id="137" name="Text 11"/>
          <p:cNvSpPr/>
          <p:nvPr/>
        </p:nvSpPr>
        <p:spPr>
          <a:xfrm>
            <a:off x="40118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Marker</a:t>
            </a:r>
            <a:endParaRPr lang="en-US" sz="1400" b="0" u="none" strike="noStrike">
              <a:solidFill>
                <a:srgbClr val="000000"/>
              </a:solidFill>
              <a:effectLst/>
              <a:uFillTx/>
              <a:latin typeface="Arial"/>
            </a:endParaRPr>
          </a:p>
        </p:txBody>
      </p:sp>
      <p:sp>
        <p:nvSpPr>
          <p:cNvPr id="138" name="Text 12"/>
          <p:cNvSpPr/>
          <p:nvPr/>
        </p:nvSpPr>
        <p:spPr>
          <a:xfrm>
            <a:off x="35362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symbol used for each data point — circle, triangle, x, and more.</a:t>
            </a:r>
            <a:endParaRPr lang="en-US" sz="1050" b="0" u="none" strike="noStrike">
              <a:solidFill>
                <a:srgbClr val="000000"/>
              </a:solidFill>
              <a:effectLst/>
              <a:uFillTx/>
              <a:latin typeface="Arial"/>
            </a:endParaRPr>
          </a:p>
        </p:txBody>
      </p:sp>
      <p:sp>
        <p:nvSpPr>
          <p:cNvPr id="139" name="Shape 13"/>
          <p:cNvSpPr/>
          <p:nvPr/>
        </p:nvSpPr>
        <p:spPr>
          <a:xfrm>
            <a:off x="61952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0" name="Shape 14"/>
          <p:cNvSpPr/>
          <p:nvPr/>
        </p:nvSpPr>
        <p:spPr>
          <a:xfrm>
            <a:off x="63597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1" name="Text 15"/>
          <p:cNvSpPr/>
          <p:nvPr/>
        </p:nvSpPr>
        <p:spPr>
          <a:xfrm>
            <a:off x="63597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7</a:t>
            </a:r>
            <a:endParaRPr lang="en-US" sz="1500" b="0" u="none" strike="noStrike">
              <a:solidFill>
                <a:srgbClr val="000000"/>
              </a:solidFill>
              <a:effectLst/>
              <a:uFillTx/>
              <a:latin typeface="Arial"/>
            </a:endParaRPr>
          </a:p>
        </p:txBody>
      </p:sp>
      <p:sp>
        <p:nvSpPr>
          <p:cNvPr id="142" name="Text 16"/>
          <p:cNvSpPr/>
          <p:nvPr/>
        </p:nvSpPr>
        <p:spPr>
          <a:xfrm>
            <a:off x="68353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Line Style</a:t>
            </a:r>
            <a:endParaRPr lang="en-US" sz="1400" b="0" u="none" strike="noStrike">
              <a:solidFill>
                <a:srgbClr val="000000"/>
              </a:solidFill>
              <a:effectLst/>
              <a:uFillTx/>
              <a:latin typeface="Arial"/>
            </a:endParaRPr>
          </a:p>
        </p:txBody>
      </p:sp>
      <p:sp>
        <p:nvSpPr>
          <p:cNvPr id="143" name="Text 17"/>
          <p:cNvSpPr/>
          <p:nvPr/>
        </p:nvSpPr>
        <p:spPr>
          <a:xfrm>
            <a:off x="63597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How a line looks — solid, dashed, dotted, dash-dot.</a:t>
            </a:r>
            <a:endParaRPr lang="en-US" sz="1050" b="0" u="none" strike="noStrike">
              <a:solidFill>
                <a:srgbClr val="000000"/>
              </a:solidFill>
              <a:effectLst/>
              <a:uFillTx/>
              <a:latin typeface="Arial"/>
            </a:endParaRPr>
          </a:p>
        </p:txBody>
      </p:sp>
      <p:sp>
        <p:nvSpPr>
          <p:cNvPr id="144" name="Shape 18"/>
          <p:cNvSpPr/>
          <p:nvPr/>
        </p:nvSpPr>
        <p:spPr>
          <a:xfrm>
            <a:off x="90183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5" name="Shape 19"/>
          <p:cNvSpPr/>
          <p:nvPr/>
        </p:nvSpPr>
        <p:spPr>
          <a:xfrm>
            <a:off x="91828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6" name="Text 20"/>
          <p:cNvSpPr/>
          <p:nvPr/>
        </p:nvSpPr>
        <p:spPr>
          <a:xfrm>
            <a:off x="91828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8</a:t>
            </a:r>
            <a:endParaRPr lang="en-US" sz="1500" b="0" u="none" strike="noStrike">
              <a:solidFill>
                <a:srgbClr val="000000"/>
              </a:solidFill>
              <a:effectLst/>
              <a:uFillTx/>
              <a:latin typeface="Arial"/>
            </a:endParaRPr>
          </a:p>
        </p:txBody>
      </p:sp>
      <p:sp>
        <p:nvSpPr>
          <p:cNvPr id="147" name="Text 21"/>
          <p:cNvSpPr/>
          <p:nvPr/>
        </p:nvSpPr>
        <p:spPr>
          <a:xfrm>
            <a:off x="96584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Color</a:t>
            </a:r>
            <a:endParaRPr lang="en-US" sz="1400" b="0" u="none" strike="noStrike">
              <a:solidFill>
                <a:srgbClr val="000000"/>
              </a:solidFill>
              <a:effectLst/>
              <a:uFillTx/>
              <a:latin typeface="Arial"/>
            </a:endParaRPr>
          </a:p>
        </p:txBody>
      </p:sp>
      <p:sp>
        <p:nvSpPr>
          <p:cNvPr id="148" name="Text 22"/>
          <p:cNvSpPr/>
          <p:nvPr/>
        </p:nvSpPr>
        <p:spPr>
          <a:xfrm>
            <a:off x="91828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visual color assigned to a line, bar, marker, or fill.</a:t>
            </a:r>
            <a:endParaRPr lang="en-US" sz="1050" b="0" u="none" strike="noStrike">
              <a:solidFill>
                <a:srgbClr val="000000"/>
              </a:solidFill>
              <a:effectLst/>
              <a:uFillTx/>
              <a:latin typeface="Arial"/>
            </a:endParaRPr>
          </a:p>
        </p:txBody>
      </p:sp>
      <p:sp>
        <p:nvSpPr>
          <p:cNvPr id="149" name="Text 2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5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15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Terms 9–12 · Labeling What You See</a:t>
            </a:r>
            <a:endParaRPr lang="en-US" sz="2600" b="0" u="none" strike="noStrike">
              <a:solidFill>
                <a:srgbClr val="000000"/>
              </a:solidFill>
              <a:effectLst/>
              <a:uFillTx/>
              <a:latin typeface="Arial"/>
            </a:endParaRPr>
          </a:p>
        </p:txBody>
      </p:sp>
      <p:pic>
        <p:nvPicPr>
          <p:cNvPr id="15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5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54" name="Shape 3"/>
          <p:cNvSpPr/>
          <p:nvPr/>
        </p:nvSpPr>
        <p:spPr>
          <a:xfrm>
            <a:off x="5486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5" name="Shape 4"/>
          <p:cNvSpPr/>
          <p:nvPr/>
        </p:nvSpPr>
        <p:spPr>
          <a:xfrm>
            <a:off x="7131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6" name="Text 5"/>
          <p:cNvSpPr/>
          <p:nvPr/>
        </p:nvSpPr>
        <p:spPr>
          <a:xfrm>
            <a:off x="7131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9</a:t>
            </a:r>
            <a:endParaRPr lang="en-US" sz="1500" b="0" u="none" strike="noStrike">
              <a:solidFill>
                <a:srgbClr val="000000"/>
              </a:solidFill>
              <a:effectLst/>
              <a:uFillTx/>
              <a:latin typeface="Arial"/>
            </a:endParaRPr>
          </a:p>
        </p:txBody>
      </p:sp>
      <p:sp>
        <p:nvSpPr>
          <p:cNvPr id="157" name="Text 6"/>
          <p:cNvSpPr/>
          <p:nvPr/>
        </p:nvSpPr>
        <p:spPr>
          <a:xfrm>
            <a:off x="11887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Legend</a:t>
            </a:r>
            <a:endParaRPr lang="en-US" sz="1400" b="0" u="none" strike="noStrike">
              <a:solidFill>
                <a:srgbClr val="000000"/>
              </a:solidFill>
              <a:effectLst/>
              <a:uFillTx/>
              <a:latin typeface="Arial"/>
            </a:endParaRPr>
          </a:p>
        </p:txBody>
      </p:sp>
      <p:sp>
        <p:nvSpPr>
          <p:cNvPr id="158" name="Text 7"/>
          <p:cNvSpPr/>
          <p:nvPr/>
        </p:nvSpPr>
        <p:spPr>
          <a:xfrm>
            <a:off x="7131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A key that maps colors/markers to what they represent.</a:t>
            </a:r>
            <a:endParaRPr lang="en-US" sz="1050" b="0" u="none" strike="noStrike">
              <a:solidFill>
                <a:srgbClr val="000000"/>
              </a:solidFill>
              <a:effectLst/>
              <a:uFillTx/>
              <a:latin typeface="Arial"/>
            </a:endParaRPr>
          </a:p>
        </p:txBody>
      </p:sp>
      <p:sp>
        <p:nvSpPr>
          <p:cNvPr id="159" name="Shape 8"/>
          <p:cNvSpPr/>
          <p:nvPr/>
        </p:nvSpPr>
        <p:spPr>
          <a:xfrm>
            <a:off x="33717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0" name="Shape 9"/>
          <p:cNvSpPr/>
          <p:nvPr/>
        </p:nvSpPr>
        <p:spPr>
          <a:xfrm>
            <a:off x="35362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1" name="Text 10"/>
          <p:cNvSpPr/>
          <p:nvPr/>
        </p:nvSpPr>
        <p:spPr>
          <a:xfrm>
            <a:off x="35362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10</a:t>
            </a:r>
            <a:endParaRPr lang="en-US" sz="1500" b="0" u="none" strike="noStrike">
              <a:solidFill>
                <a:srgbClr val="000000"/>
              </a:solidFill>
              <a:effectLst/>
              <a:uFillTx/>
              <a:latin typeface="Arial"/>
            </a:endParaRPr>
          </a:p>
        </p:txBody>
      </p:sp>
      <p:sp>
        <p:nvSpPr>
          <p:cNvPr id="162" name="Text 11"/>
          <p:cNvSpPr/>
          <p:nvPr/>
        </p:nvSpPr>
        <p:spPr>
          <a:xfrm>
            <a:off x="40118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Label</a:t>
            </a:r>
            <a:endParaRPr lang="en-US" sz="1400" b="0" u="none" strike="noStrike">
              <a:solidFill>
                <a:srgbClr val="000000"/>
              </a:solidFill>
              <a:effectLst/>
              <a:uFillTx/>
              <a:latin typeface="Arial"/>
            </a:endParaRPr>
          </a:p>
        </p:txBody>
      </p:sp>
      <p:sp>
        <p:nvSpPr>
          <p:cNvPr id="163" name="Text 12"/>
          <p:cNvSpPr/>
          <p:nvPr/>
        </p:nvSpPr>
        <p:spPr>
          <a:xfrm>
            <a:off x="35362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Text describing a data series, axis, or point.</a:t>
            </a:r>
            <a:endParaRPr lang="en-US" sz="1050" b="0" u="none" strike="noStrike">
              <a:solidFill>
                <a:srgbClr val="000000"/>
              </a:solidFill>
              <a:effectLst/>
              <a:uFillTx/>
              <a:latin typeface="Arial"/>
            </a:endParaRPr>
          </a:p>
        </p:txBody>
      </p:sp>
      <p:sp>
        <p:nvSpPr>
          <p:cNvPr id="164" name="Shape 13"/>
          <p:cNvSpPr/>
          <p:nvPr/>
        </p:nvSpPr>
        <p:spPr>
          <a:xfrm>
            <a:off x="61952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5" name="Shape 14"/>
          <p:cNvSpPr/>
          <p:nvPr/>
        </p:nvSpPr>
        <p:spPr>
          <a:xfrm>
            <a:off x="63597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6" name="Text 15"/>
          <p:cNvSpPr/>
          <p:nvPr/>
        </p:nvSpPr>
        <p:spPr>
          <a:xfrm>
            <a:off x="63597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11</a:t>
            </a:r>
            <a:endParaRPr lang="en-US" sz="1500" b="0" u="none" strike="noStrike">
              <a:solidFill>
                <a:srgbClr val="000000"/>
              </a:solidFill>
              <a:effectLst/>
              <a:uFillTx/>
              <a:latin typeface="Arial"/>
            </a:endParaRPr>
          </a:p>
        </p:txBody>
      </p:sp>
      <p:sp>
        <p:nvSpPr>
          <p:cNvPr id="167" name="Text 16"/>
          <p:cNvSpPr/>
          <p:nvPr/>
        </p:nvSpPr>
        <p:spPr>
          <a:xfrm>
            <a:off x="68353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Title</a:t>
            </a:r>
            <a:endParaRPr lang="en-US" sz="1400" b="0" u="none" strike="noStrike">
              <a:solidFill>
                <a:srgbClr val="000000"/>
              </a:solidFill>
              <a:effectLst/>
              <a:uFillTx/>
              <a:latin typeface="Arial"/>
            </a:endParaRPr>
          </a:p>
        </p:txBody>
      </p:sp>
      <p:sp>
        <p:nvSpPr>
          <p:cNvPr id="168" name="Text 17"/>
          <p:cNvSpPr/>
          <p:nvPr/>
        </p:nvSpPr>
        <p:spPr>
          <a:xfrm>
            <a:off x="63597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heading text that names the whole chart.</a:t>
            </a:r>
            <a:endParaRPr lang="en-US" sz="1050" b="0" u="none" strike="noStrike">
              <a:solidFill>
                <a:srgbClr val="000000"/>
              </a:solidFill>
              <a:effectLst/>
              <a:uFillTx/>
              <a:latin typeface="Arial"/>
            </a:endParaRPr>
          </a:p>
        </p:txBody>
      </p:sp>
      <p:sp>
        <p:nvSpPr>
          <p:cNvPr id="169" name="Shape 18"/>
          <p:cNvSpPr/>
          <p:nvPr/>
        </p:nvSpPr>
        <p:spPr>
          <a:xfrm>
            <a:off x="90183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0" name="Shape 19"/>
          <p:cNvSpPr/>
          <p:nvPr/>
        </p:nvSpPr>
        <p:spPr>
          <a:xfrm>
            <a:off x="91828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1" name="Text 20"/>
          <p:cNvSpPr/>
          <p:nvPr/>
        </p:nvSpPr>
        <p:spPr>
          <a:xfrm>
            <a:off x="91828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12</a:t>
            </a:r>
            <a:endParaRPr lang="en-US" sz="1500" b="0" u="none" strike="noStrike">
              <a:solidFill>
                <a:srgbClr val="000000"/>
              </a:solidFill>
              <a:effectLst/>
              <a:uFillTx/>
              <a:latin typeface="Arial"/>
            </a:endParaRPr>
          </a:p>
        </p:txBody>
      </p:sp>
      <p:sp>
        <p:nvSpPr>
          <p:cNvPr id="172" name="Text 21"/>
          <p:cNvSpPr/>
          <p:nvPr/>
        </p:nvSpPr>
        <p:spPr>
          <a:xfrm>
            <a:off x="96584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Grid</a:t>
            </a:r>
            <a:endParaRPr lang="en-US" sz="1400" b="0" u="none" strike="noStrike">
              <a:solidFill>
                <a:srgbClr val="000000"/>
              </a:solidFill>
              <a:effectLst/>
              <a:uFillTx/>
              <a:latin typeface="Arial"/>
            </a:endParaRPr>
          </a:p>
        </p:txBody>
      </p:sp>
      <p:sp>
        <p:nvSpPr>
          <p:cNvPr id="173" name="Text 22"/>
          <p:cNvSpPr/>
          <p:nvPr/>
        </p:nvSpPr>
        <p:spPr>
          <a:xfrm>
            <a:off x="91828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Light background lines that help read values across a chart.</a:t>
            </a:r>
            <a:endParaRPr lang="en-US" sz="1050" b="0" u="none" strike="noStrike">
              <a:solidFill>
                <a:srgbClr val="000000"/>
              </a:solidFill>
              <a:effectLst/>
              <a:uFillTx/>
              <a:latin typeface="Arial"/>
            </a:endParaRPr>
          </a:p>
        </p:txBody>
      </p:sp>
      <p:sp>
        <p:nvSpPr>
          <p:cNvPr id="174" name="Text 2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7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17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Terms 13–16 · The Language of Code</a:t>
            </a:r>
            <a:endParaRPr lang="en-US" sz="2600" b="0" u="none" strike="noStrike">
              <a:solidFill>
                <a:srgbClr val="000000"/>
              </a:solidFill>
              <a:effectLst/>
              <a:uFillTx/>
              <a:latin typeface="Arial"/>
            </a:endParaRPr>
          </a:p>
        </p:txBody>
      </p:sp>
      <p:pic>
        <p:nvPicPr>
          <p:cNvPr id="17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7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79" name="Shape 3"/>
          <p:cNvSpPr/>
          <p:nvPr/>
        </p:nvSpPr>
        <p:spPr>
          <a:xfrm>
            <a:off x="5486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0" name="Shape 4"/>
          <p:cNvSpPr/>
          <p:nvPr/>
        </p:nvSpPr>
        <p:spPr>
          <a:xfrm>
            <a:off x="7131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1" name="Text 5"/>
          <p:cNvSpPr/>
          <p:nvPr/>
        </p:nvSpPr>
        <p:spPr>
          <a:xfrm>
            <a:off x="7131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13</a:t>
            </a:r>
            <a:endParaRPr lang="en-US" sz="1500" b="0" u="none" strike="noStrike">
              <a:solidFill>
                <a:srgbClr val="000000"/>
              </a:solidFill>
              <a:effectLst/>
              <a:uFillTx/>
              <a:latin typeface="Arial"/>
            </a:endParaRPr>
          </a:p>
        </p:txBody>
      </p:sp>
      <p:sp>
        <p:nvSpPr>
          <p:cNvPr id="182" name="Text 6"/>
          <p:cNvSpPr/>
          <p:nvPr/>
        </p:nvSpPr>
        <p:spPr>
          <a:xfrm>
            <a:off x="11887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Function</a:t>
            </a:r>
            <a:endParaRPr lang="en-US" sz="1400" b="0" u="none" strike="noStrike">
              <a:solidFill>
                <a:srgbClr val="000000"/>
              </a:solidFill>
              <a:effectLst/>
              <a:uFillTx/>
              <a:latin typeface="Arial"/>
            </a:endParaRPr>
          </a:p>
        </p:txBody>
      </p:sp>
      <p:sp>
        <p:nvSpPr>
          <p:cNvPr id="183" name="Text 7"/>
          <p:cNvSpPr/>
          <p:nvPr/>
        </p:nvSpPr>
        <p:spPr>
          <a:xfrm>
            <a:off x="7131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A reusable block of code that performs a task, e.g. plt.plot().</a:t>
            </a:r>
            <a:endParaRPr lang="en-US" sz="1050" b="0" u="none" strike="noStrike">
              <a:solidFill>
                <a:srgbClr val="000000"/>
              </a:solidFill>
              <a:effectLst/>
              <a:uFillTx/>
              <a:latin typeface="Arial"/>
            </a:endParaRPr>
          </a:p>
        </p:txBody>
      </p:sp>
      <p:sp>
        <p:nvSpPr>
          <p:cNvPr id="184" name="Shape 8"/>
          <p:cNvSpPr/>
          <p:nvPr/>
        </p:nvSpPr>
        <p:spPr>
          <a:xfrm>
            <a:off x="33717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5" name="Shape 9"/>
          <p:cNvSpPr/>
          <p:nvPr/>
        </p:nvSpPr>
        <p:spPr>
          <a:xfrm>
            <a:off x="35362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6" name="Text 10"/>
          <p:cNvSpPr/>
          <p:nvPr/>
        </p:nvSpPr>
        <p:spPr>
          <a:xfrm>
            <a:off x="35362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14</a:t>
            </a:r>
            <a:endParaRPr lang="en-US" sz="1500" b="0" u="none" strike="noStrike">
              <a:solidFill>
                <a:srgbClr val="000000"/>
              </a:solidFill>
              <a:effectLst/>
              <a:uFillTx/>
              <a:latin typeface="Arial"/>
            </a:endParaRPr>
          </a:p>
        </p:txBody>
      </p:sp>
      <p:sp>
        <p:nvSpPr>
          <p:cNvPr id="187" name="Text 11"/>
          <p:cNvSpPr/>
          <p:nvPr/>
        </p:nvSpPr>
        <p:spPr>
          <a:xfrm>
            <a:off x="40118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Method</a:t>
            </a:r>
            <a:endParaRPr lang="en-US" sz="1400" b="0" u="none" strike="noStrike">
              <a:solidFill>
                <a:srgbClr val="000000"/>
              </a:solidFill>
              <a:effectLst/>
              <a:uFillTx/>
              <a:latin typeface="Arial"/>
            </a:endParaRPr>
          </a:p>
        </p:txBody>
      </p:sp>
      <p:sp>
        <p:nvSpPr>
          <p:cNvPr id="188" name="Text 12"/>
          <p:cNvSpPr/>
          <p:nvPr/>
        </p:nvSpPr>
        <p:spPr>
          <a:xfrm>
            <a:off x="35362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A function that belongs to an object, e.g. ax.plot().</a:t>
            </a:r>
            <a:endParaRPr lang="en-US" sz="1050" b="0" u="none" strike="noStrike">
              <a:solidFill>
                <a:srgbClr val="000000"/>
              </a:solidFill>
              <a:effectLst/>
              <a:uFillTx/>
              <a:latin typeface="Arial"/>
            </a:endParaRPr>
          </a:p>
        </p:txBody>
      </p:sp>
      <p:sp>
        <p:nvSpPr>
          <p:cNvPr id="189" name="Shape 13"/>
          <p:cNvSpPr/>
          <p:nvPr/>
        </p:nvSpPr>
        <p:spPr>
          <a:xfrm>
            <a:off x="619524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0" name="Shape 14"/>
          <p:cNvSpPr/>
          <p:nvPr/>
        </p:nvSpPr>
        <p:spPr>
          <a:xfrm>
            <a:off x="63597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1" name="Text 15"/>
          <p:cNvSpPr/>
          <p:nvPr/>
        </p:nvSpPr>
        <p:spPr>
          <a:xfrm>
            <a:off x="63597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15</a:t>
            </a:r>
            <a:endParaRPr lang="en-US" sz="1500" b="0" u="none" strike="noStrike">
              <a:solidFill>
                <a:srgbClr val="000000"/>
              </a:solidFill>
              <a:effectLst/>
              <a:uFillTx/>
              <a:latin typeface="Arial"/>
            </a:endParaRPr>
          </a:p>
        </p:txBody>
      </p:sp>
      <p:sp>
        <p:nvSpPr>
          <p:cNvPr id="192" name="Text 16"/>
          <p:cNvSpPr/>
          <p:nvPr/>
        </p:nvSpPr>
        <p:spPr>
          <a:xfrm>
            <a:off x="683532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Parameters</a:t>
            </a:r>
            <a:endParaRPr lang="en-US" sz="1400" b="0" u="none" strike="noStrike">
              <a:solidFill>
                <a:srgbClr val="000000"/>
              </a:solidFill>
              <a:effectLst/>
              <a:uFillTx/>
              <a:latin typeface="Arial"/>
            </a:endParaRPr>
          </a:p>
        </p:txBody>
      </p:sp>
      <p:sp>
        <p:nvSpPr>
          <p:cNvPr id="193" name="Text 17"/>
          <p:cNvSpPr/>
          <p:nvPr/>
        </p:nvSpPr>
        <p:spPr>
          <a:xfrm>
            <a:off x="635976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inputs a function/method accepts, e.g. x, y in plt.plot(x, y).</a:t>
            </a:r>
            <a:endParaRPr lang="en-US" sz="1050" b="0" u="none" strike="noStrike">
              <a:solidFill>
                <a:srgbClr val="000000"/>
              </a:solidFill>
              <a:effectLst/>
              <a:uFillTx/>
              <a:latin typeface="Arial"/>
            </a:endParaRPr>
          </a:p>
        </p:txBody>
      </p:sp>
      <p:sp>
        <p:nvSpPr>
          <p:cNvPr id="194" name="Shape 18"/>
          <p:cNvSpPr/>
          <p:nvPr/>
        </p:nvSpPr>
        <p:spPr>
          <a:xfrm>
            <a:off x="9018360" y="1600200"/>
            <a:ext cx="2639520" cy="4205520"/>
          </a:xfrm>
          <a:prstGeom prst="roundRect">
            <a:avLst>
              <a:gd name="adj" fmla="val 346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5" name="Shape 19"/>
          <p:cNvSpPr/>
          <p:nvPr/>
        </p:nvSpPr>
        <p:spPr>
          <a:xfrm>
            <a:off x="91828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6" name="Text 20"/>
          <p:cNvSpPr/>
          <p:nvPr/>
        </p:nvSpPr>
        <p:spPr>
          <a:xfrm>
            <a:off x="91828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16</a:t>
            </a:r>
            <a:endParaRPr lang="en-US" sz="1500" b="0" u="none" strike="noStrike">
              <a:solidFill>
                <a:srgbClr val="000000"/>
              </a:solidFill>
              <a:effectLst/>
              <a:uFillTx/>
              <a:latin typeface="Arial"/>
            </a:endParaRPr>
          </a:p>
        </p:txBody>
      </p:sp>
      <p:sp>
        <p:nvSpPr>
          <p:cNvPr id="197" name="Text 21"/>
          <p:cNvSpPr/>
          <p:nvPr/>
        </p:nvSpPr>
        <p:spPr>
          <a:xfrm>
            <a:off x="9658440" y="1746360"/>
            <a:ext cx="181656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Keyword Arguments</a:t>
            </a:r>
            <a:endParaRPr lang="en-US" sz="1400" b="0" u="none" strike="noStrike">
              <a:solidFill>
                <a:srgbClr val="000000"/>
              </a:solidFill>
              <a:effectLst/>
              <a:uFillTx/>
              <a:latin typeface="Arial"/>
            </a:endParaRPr>
          </a:p>
        </p:txBody>
      </p:sp>
      <p:sp>
        <p:nvSpPr>
          <p:cNvPr id="198" name="Text 22"/>
          <p:cNvSpPr/>
          <p:nvPr/>
        </p:nvSpPr>
        <p:spPr>
          <a:xfrm>
            <a:off x="9182880" y="2221920"/>
            <a:ext cx="231048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Named parameters passed as name=value, e.g. color="red".</a:t>
            </a:r>
            <a:endParaRPr lang="en-US" sz="1050" b="0" u="none" strike="noStrike">
              <a:solidFill>
                <a:srgbClr val="000000"/>
              </a:solidFill>
              <a:effectLst/>
              <a:uFillTx/>
              <a:latin typeface="Arial"/>
            </a:endParaRPr>
          </a:p>
        </p:txBody>
      </p:sp>
      <p:sp>
        <p:nvSpPr>
          <p:cNvPr id="199" name="Text 2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20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20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Terms 17–19 · Structure, Quality &amp; Rendering</a:t>
            </a:r>
            <a:endParaRPr lang="en-US" sz="2600" b="0" u="none" strike="noStrike">
              <a:solidFill>
                <a:srgbClr val="000000"/>
              </a:solidFill>
              <a:effectLst/>
              <a:uFillTx/>
              <a:latin typeface="Arial"/>
            </a:endParaRPr>
          </a:p>
        </p:txBody>
      </p:sp>
      <p:pic>
        <p:nvPicPr>
          <p:cNvPr id="20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20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204" name="Shape 3"/>
          <p:cNvSpPr/>
          <p:nvPr/>
        </p:nvSpPr>
        <p:spPr>
          <a:xfrm>
            <a:off x="548640" y="1600200"/>
            <a:ext cx="3580560" cy="4205520"/>
          </a:xfrm>
          <a:prstGeom prst="roundRect">
            <a:avLst>
              <a:gd name="adj" fmla="val 255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5" name="Shape 4"/>
          <p:cNvSpPr/>
          <p:nvPr/>
        </p:nvSpPr>
        <p:spPr>
          <a:xfrm>
            <a:off x="71316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6" name="Text 5"/>
          <p:cNvSpPr/>
          <p:nvPr/>
        </p:nvSpPr>
        <p:spPr>
          <a:xfrm>
            <a:off x="71316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17</a:t>
            </a:r>
            <a:endParaRPr lang="en-US" sz="1500" b="0" u="none" strike="noStrike">
              <a:solidFill>
                <a:srgbClr val="000000"/>
              </a:solidFill>
              <a:effectLst/>
              <a:uFillTx/>
              <a:latin typeface="Arial"/>
            </a:endParaRPr>
          </a:p>
        </p:txBody>
      </p:sp>
      <p:sp>
        <p:nvSpPr>
          <p:cNvPr id="207" name="Text 6"/>
          <p:cNvSpPr/>
          <p:nvPr/>
        </p:nvSpPr>
        <p:spPr>
          <a:xfrm>
            <a:off x="1188720" y="1746360"/>
            <a:ext cx="275760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Object-Oriented API</a:t>
            </a:r>
            <a:endParaRPr lang="en-US" sz="1400" b="0" u="none" strike="noStrike">
              <a:solidFill>
                <a:srgbClr val="000000"/>
              </a:solidFill>
              <a:effectLst/>
              <a:uFillTx/>
              <a:latin typeface="Arial"/>
            </a:endParaRPr>
          </a:p>
        </p:txBody>
      </p:sp>
      <p:sp>
        <p:nvSpPr>
          <p:cNvPr id="208" name="Text 7"/>
          <p:cNvSpPr/>
          <p:nvPr/>
        </p:nvSpPr>
        <p:spPr>
          <a:xfrm>
            <a:off x="713160" y="2221920"/>
            <a:ext cx="325152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Building a chart via explicit fig and ax objects: ax.plot(), ax.set_title().</a:t>
            </a:r>
            <a:endParaRPr lang="en-US" sz="1050" b="0" u="none" strike="noStrike">
              <a:solidFill>
                <a:srgbClr val="000000"/>
              </a:solidFill>
              <a:effectLst/>
              <a:uFillTx/>
              <a:latin typeface="Arial"/>
            </a:endParaRPr>
          </a:p>
        </p:txBody>
      </p:sp>
      <p:sp>
        <p:nvSpPr>
          <p:cNvPr id="209" name="Shape 8"/>
          <p:cNvSpPr/>
          <p:nvPr/>
        </p:nvSpPr>
        <p:spPr>
          <a:xfrm>
            <a:off x="4312800" y="1600200"/>
            <a:ext cx="3580560" cy="4205520"/>
          </a:xfrm>
          <a:prstGeom prst="roundRect">
            <a:avLst>
              <a:gd name="adj" fmla="val 255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0" name="Shape 9"/>
          <p:cNvSpPr/>
          <p:nvPr/>
        </p:nvSpPr>
        <p:spPr>
          <a:xfrm>
            <a:off x="447768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1" name="Text 10"/>
          <p:cNvSpPr/>
          <p:nvPr/>
        </p:nvSpPr>
        <p:spPr>
          <a:xfrm>
            <a:off x="447768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18</a:t>
            </a:r>
            <a:endParaRPr lang="en-US" sz="1500" b="0" u="none" strike="noStrike">
              <a:solidFill>
                <a:srgbClr val="000000"/>
              </a:solidFill>
              <a:effectLst/>
              <a:uFillTx/>
              <a:latin typeface="Arial"/>
            </a:endParaRPr>
          </a:p>
        </p:txBody>
      </p:sp>
      <p:sp>
        <p:nvSpPr>
          <p:cNvPr id="212" name="Text 11"/>
          <p:cNvSpPr/>
          <p:nvPr/>
        </p:nvSpPr>
        <p:spPr>
          <a:xfrm>
            <a:off x="4952880" y="1746360"/>
            <a:ext cx="275760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DPI</a:t>
            </a:r>
            <a:endParaRPr lang="en-US" sz="1400" b="0" u="none" strike="noStrike">
              <a:solidFill>
                <a:srgbClr val="000000"/>
              </a:solidFill>
              <a:effectLst/>
              <a:uFillTx/>
              <a:latin typeface="Arial"/>
            </a:endParaRPr>
          </a:p>
        </p:txBody>
      </p:sp>
      <p:sp>
        <p:nvSpPr>
          <p:cNvPr id="213" name="Text 12"/>
          <p:cNvSpPr/>
          <p:nvPr/>
        </p:nvSpPr>
        <p:spPr>
          <a:xfrm>
            <a:off x="4477680" y="2221920"/>
            <a:ext cx="325152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Dots Per Inch — controls the resolution/sharpness of a saved or displayed figure.</a:t>
            </a:r>
            <a:endParaRPr lang="en-US" sz="1050" b="0" u="none" strike="noStrike">
              <a:solidFill>
                <a:srgbClr val="000000"/>
              </a:solidFill>
              <a:effectLst/>
              <a:uFillTx/>
              <a:latin typeface="Arial"/>
            </a:endParaRPr>
          </a:p>
        </p:txBody>
      </p:sp>
      <p:sp>
        <p:nvSpPr>
          <p:cNvPr id="214" name="Shape 13"/>
          <p:cNvSpPr/>
          <p:nvPr/>
        </p:nvSpPr>
        <p:spPr>
          <a:xfrm>
            <a:off x="8077320" y="1600200"/>
            <a:ext cx="3580560" cy="4205520"/>
          </a:xfrm>
          <a:prstGeom prst="roundRect">
            <a:avLst>
              <a:gd name="adj" fmla="val 255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5" name="Shape 14"/>
          <p:cNvSpPr/>
          <p:nvPr/>
        </p:nvSpPr>
        <p:spPr>
          <a:xfrm>
            <a:off x="8241840" y="1764720"/>
            <a:ext cx="383400" cy="38340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6" name="Text 15"/>
          <p:cNvSpPr/>
          <p:nvPr/>
        </p:nvSpPr>
        <p:spPr>
          <a:xfrm>
            <a:off x="8241840" y="1764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231F71"/>
                </a:solidFill>
                <a:effectLst/>
                <a:uFillTx/>
                <a:latin typeface="Bricolage Grotesque"/>
                <a:ea typeface="Bricolage Grotesque"/>
              </a:rPr>
              <a:t>19</a:t>
            </a:r>
            <a:endParaRPr lang="en-US" sz="1500" b="0" u="none" strike="noStrike">
              <a:solidFill>
                <a:srgbClr val="000000"/>
              </a:solidFill>
              <a:effectLst/>
              <a:uFillTx/>
              <a:latin typeface="Arial"/>
            </a:endParaRPr>
          </a:p>
        </p:txBody>
      </p:sp>
      <p:sp>
        <p:nvSpPr>
          <p:cNvPr id="217" name="Text 16"/>
          <p:cNvSpPr/>
          <p:nvPr/>
        </p:nvSpPr>
        <p:spPr>
          <a:xfrm>
            <a:off x="8717400" y="1746360"/>
            <a:ext cx="2757600" cy="41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Backend</a:t>
            </a:r>
            <a:endParaRPr lang="en-US" sz="1400" b="0" u="none" strike="noStrike">
              <a:solidFill>
                <a:srgbClr val="000000"/>
              </a:solidFill>
              <a:effectLst/>
              <a:uFillTx/>
              <a:latin typeface="Arial"/>
            </a:endParaRPr>
          </a:p>
        </p:txBody>
      </p:sp>
      <p:sp>
        <p:nvSpPr>
          <p:cNvPr id="218" name="Text 17"/>
          <p:cNvSpPr/>
          <p:nvPr/>
        </p:nvSpPr>
        <p:spPr>
          <a:xfrm>
            <a:off x="8241840" y="2221920"/>
            <a:ext cx="3251520" cy="3455640"/>
          </a:xfrm>
          <a:prstGeom prst="rect">
            <a:avLst/>
          </a:prstGeom>
          <a:noFill/>
          <a:ln w="0">
            <a:noFill/>
          </a:ln>
        </p:spPr>
        <p:style>
          <a:lnRef idx="0"/>
          <a:fillRef idx="0"/>
          <a:effectRef idx="0"/>
          <a:fontRef idx="minor"/>
        </p:style>
        <p:txBody>
          <a:bodyPr lIns="90000" tIns="45000" rIns="90000" bIns="45000" anchor="t">
            <a:noAutofit/>
          </a:bodyPr>
          <a:p>
            <a:pPr defTabSz="914400">
              <a:lnSpc>
                <a:spcPct val="112000"/>
              </a:lnSpc>
              <a:tabLst>
                <a:tab pos="0" algn="l"/>
              </a:tabLst>
            </a:pPr>
            <a:r>
              <a:rPr lang="en-US" sz="1050" b="0" u="none" strike="noStrike">
                <a:solidFill>
                  <a:srgbClr val="474651"/>
                </a:solidFill>
                <a:effectLst/>
                <a:uFillTx/>
                <a:latin typeface="Hanken Grotesk"/>
                <a:ea typeface="Hanken Grotesk"/>
              </a:rPr>
              <a:t>The system Matplotlib uses to render or display a figure (screen, file, notebook).</a:t>
            </a:r>
            <a:endParaRPr lang="en-US" sz="1050" b="0" u="none" strike="noStrike">
              <a:solidFill>
                <a:srgbClr val="000000"/>
              </a:solidFill>
              <a:effectLst/>
              <a:uFillTx/>
              <a:latin typeface="Arial"/>
            </a:endParaRPr>
          </a:p>
        </p:txBody>
      </p:sp>
      <p:sp>
        <p:nvSpPr>
          <p:cNvPr id="219"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09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22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22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Figure vs. Axes — Visualized</a:t>
            </a:r>
            <a:endParaRPr lang="en-US" sz="2600" b="0" u="none" strike="noStrike">
              <a:solidFill>
                <a:srgbClr val="000000"/>
              </a:solidFill>
              <a:effectLst/>
              <a:uFillTx/>
              <a:latin typeface="Arial"/>
            </a:endParaRPr>
          </a:p>
        </p:txBody>
      </p:sp>
      <p:pic>
        <p:nvPicPr>
          <p:cNvPr id="22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22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224" name="Shape 3"/>
          <p:cNvSpPr/>
          <p:nvPr/>
        </p:nvSpPr>
        <p:spPr>
          <a:xfrm>
            <a:off x="822960" y="1554480"/>
            <a:ext cx="5760000" cy="4205520"/>
          </a:xfrm>
          <a:prstGeom prst="roundRect">
            <a:avLst>
              <a:gd name="adj" fmla="val 3043"/>
            </a:avLst>
          </a:prstGeom>
          <a:solidFill>
            <a:srgbClr val="F0ECF4"/>
          </a:solidFill>
          <a:ln w="19050">
            <a:solidFill>
              <a:srgbClr val="5755A7"/>
            </a:solidFill>
            <a:prstDash val="dash"/>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5" name="Text 4"/>
          <p:cNvSpPr/>
          <p:nvPr/>
        </p:nvSpPr>
        <p:spPr>
          <a:xfrm>
            <a:off x="1005840" y="1664280"/>
            <a:ext cx="1828080" cy="319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5755A7"/>
                </a:solidFill>
                <a:effectLst/>
                <a:uFillTx/>
                <a:latin typeface="Bricolage Grotesque"/>
                <a:ea typeface="Bricolage Grotesque"/>
              </a:rPr>
              <a:t>Figure</a:t>
            </a:r>
            <a:endParaRPr lang="en-US" sz="1300" b="0" u="none" strike="noStrike">
              <a:solidFill>
                <a:srgbClr val="000000"/>
              </a:solidFill>
              <a:effectLst/>
              <a:uFillTx/>
              <a:latin typeface="Arial"/>
            </a:endParaRPr>
          </a:p>
        </p:txBody>
      </p:sp>
      <p:sp>
        <p:nvSpPr>
          <p:cNvPr id="226" name="Shape 5"/>
          <p:cNvSpPr/>
          <p:nvPr/>
        </p:nvSpPr>
        <p:spPr>
          <a:xfrm>
            <a:off x="1280160" y="2194560"/>
            <a:ext cx="4845600" cy="3199680"/>
          </a:xfrm>
          <a:prstGeom prst="roundRect">
            <a:avLst>
              <a:gd name="adj" fmla="val 1714"/>
            </a:avLst>
          </a:prstGeom>
          <a:solidFill>
            <a:srgbClr val="FFFFFF"/>
          </a:solidFill>
          <a:ln w="12700">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7" name="Text 6"/>
          <p:cNvSpPr/>
          <p:nvPr/>
        </p:nvSpPr>
        <p:spPr>
          <a:xfrm>
            <a:off x="1417320" y="2267640"/>
            <a:ext cx="18280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trike="noStrike">
                <a:solidFill>
                  <a:srgbClr val="BE185D"/>
                </a:solidFill>
                <a:effectLst/>
                <a:uFillTx/>
                <a:latin typeface="Bricolage Grotesque"/>
                <a:ea typeface="Bricolage Grotesque"/>
              </a:rPr>
              <a:t>Axes</a:t>
            </a:r>
            <a:endParaRPr lang="en-US" sz="1200" b="0" u="none" strike="noStrike">
              <a:solidFill>
                <a:srgbClr val="000000"/>
              </a:solidFill>
              <a:effectLst/>
              <a:uFillTx/>
              <a:latin typeface="Arial"/>
            </a:endParaRPr>
          </a:p>
        </p:txBody>
      </p:sp>
      <p:sp>
        <p:nvSpPr>
          <p:cNvPr id="228" name="Shape 7"/>
          <p:cNvSpPr/>
          <p:nvPr/>
        </p:nvSpPr>
        <p:spPr>
          <a:xfrm>
            <a:off x="1645920" y="4937760"/>
            <a:ext cx="4114800" cy="360"/>
          </a:xfrm>
          <a:prstGeom prst="line">
            <a:avLst/>
          </a:prstGeom>
          <a:ln w="19050">
            <a:solidFill>
              <a:srgbClr val="47465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29" name="Shape 8"/>
          <p:cNvSpPr/>
          <p:nvPr/>
        </p:nvSpPr>
        <p:spPr>
          <a:xfrm>
            <a:off x="1645920" y="2651760"/>
            <a:ext cx="360" cy="2286000"/>
          </a:xfrm>
          <a:prstGeom prst="line">
            <a:avLst/>
          </a:prstGeom>
          <a:ln w="19050">
            <a:solidFill>
              <a:srgbClr val="474651"/>
            </a:solidFill>
            <a:roun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230" name="Text 9"/>
          <p:cNvSpPr/>
          <p:nvPr/>
        </p:nvSpPr>
        <p:spPr>
          <a:xfrm>
            <a:off x="5120640" y="5010840"/>
            <a:ext cx="9136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Hanken Grotesk"/>
                <a:ea typeface="Hanken Grotesk"/>
              </a:rPr>
              <a:t>X-axis</a:t>
            </a:r>
            <a:endParaRPr lang="en-US" sz="900" b="0" u="none" strike="noStrike">
              <a:solidFill>
                <a:srgbClr val="000000"/>
              </a:solidFill>
              <a:effectLst/>
              <a:uFillTx/>
              <a:latin typeface="Arial"/>
            </a:endParaRPr>
          </a:p>
        </p:txBody>
      </p:sp>
      <p:sp>
        <p:nvSpPr>
          <p:cNvPr id="231" name="Text 10"/>
          <p:cNvSpPr/>
          <p:nvPr/>
        </p:nvSpPr>
        <p:spPr>
          <a:xfrm>
            <a:off x="1371600" y="2651760"/>
            <a:ext cx="54792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Hanken Grotesk"/>
                <a:ea typeface="Hanken Grotesk"/>
              </a:rPr>
              <a:t>Y-axis</a:t>
            </a:r>
            <a:endParaRPr lang="en-US" sz="900" b="0" u="none" strike="noStrike">
              <a:solidFill>
                <a:srgbClr val="000000"/>
              </a:solidFill>
              <a:effectLst/>
              <a:uFillTx/>
              <a:latin typeface="Arial"/>
            </a:endParaRPr>
          </a:p>
        </p:txBody>
      </p:sp>
      <p:pic>
        <p:nvPicPr>
          <p:cNvPr id="232" name="Image 1" descr="/home/claude/mpl/charts/subplots_two.png"/>
          <p:cNvPicPr/>
          <p:nvPr/>
        </p:nvPicPr>
        <p:blipFill>
          <a:blip r:embed="rId2"/>
          <a:stretch/>
        </p:blipFill>
        <p:spPr>
          <a:xfrm>
            <a:off x="2103120" y="2971800"/>
            <a:ext cx="3382560" cy="1645200"/>
          </a:xfrm>
          <a:prstGeom prst="rect">
            <a:avLst/>
          </a:prstGeom>
          <a:noFill/>
          <a:ln w="0">
            <a:noFill/>
          </a:ln>
        </p:spPr>
      </p:pic>
      <p:sp>
        <p:nvSpPr>
          <p:cNvPr id="233" name="Text 11"/>
          <p:cNvSpPr/>
          <p:nvPr/>
        </p:nvSpPr>
        <p:spPr>
          <a:xfrm>
            <a:off x="6903720" y="1691640"/>
            <a:ext cx="4571280" cy="39312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A Figure is the whole canvas — the entire window or image file.</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An Axes is one plot area living inside that Figure — it holds the actual X-axis, Y-axis, title, legend, and data.</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One Figure can contain many Axes (this is exactly what Subplots are, covered in Part 8).</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Every plt.plot(), plt.title(), etc. call quietly targets "the current Axes" of "the current Figure."</a:t>
            </a:r>
            <a:endParaRPr lang="en-US" sz="1300" b="0" u="none" strike="noStrike">
              <a:solidFill>
                <a:srgbClr val="000000"/>
              </a:solidFill>
              <a:effectLst/>
              <a:uFillTx/>
              <a:latin typeface="Arial"/>
            </a:endParaRPr>
          </a:p>
        </p:txBody>
      </p:sp>
      <p:sp>
        <p:nvSpPr>
          <p:cNvPr id="234" name="Text 1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235"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6"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237"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 · TERMINOLOGY</a:t>
            </a:r>
            <a:endParaRPr lang="en-US" sz="1100" b="0" u="none" strike="noStrike">
              <a:solidFill>
                <a:srgbClr val="000000"/>
              </a:solidFill>
              <a:effectLst/>
              <a:uFillTx/>
              <a:latin typeface="Arial"/>
            </a:endParaRPr>
          </a:p>
        </p:txBody>
      </p:sp>
      <p:sp>
        <p:nvSpPr>
          <p:cNvPr id="238"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Foundations &amp; Terminology</a:t>
            </a:r>
            <a:endParaRPr lang="en-US" sz="2300" b="0" u="none" strike="noStrike">
              <a:solidFill>
                <a:srgbClr val="000000"/>
              </a:solidFill>
              <a:effectLst/>
              <a:uFillTx/>
              <a:latin typeface="Arial"/>
            </a:endParaRPr>
          </a:p>
        </p:txBody>
      </p:sp>
      <p:sp>
        <p:nvSpPr>
          <p:cNvPr id="239"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240"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1"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2"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243"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In your own words, explain the difference between a Figure and an Axes.</a:t>
            </a:r>
            <a:endParaRPr lang="en-US" sz="1300" b="0" u="none" strike="noStrike">
              <a:solidFill>
                <a:srgbClr val="000000"/>
              </a:solidFill>
              <a:effectLst/>
              <a:uFillTx/>
              <a:latin typeface="Arial"/>
            </a:endParaRPr>
          </a:p>
        </p:txBody>
      </p:sp>
      <p:sp>
        <p:nvSpPr>
          <p:cNvPr id="244"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5"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6"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247"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Sketch a simple chart on paper and label its title, legend, X-axis, and Y-axis.</a:t>
            </a:r>
            <a:endParaRPr lang="en-US" sz="1300" b="0" u="none" strike="noStrike">
              <a:solidFill>
                <a:srgbClr val="000000"/>
              </a:solidFill>
              <a:effectLst/>
              <a:uFillTx/>
              <a:latin typeface="Arial"/>
            </a:endParaRPr>
          </a:p>
        </p:txBody>
      </p:sp>
      <p:sp>
        <p:nvSpPr>
          <p:cNvPr id="248"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9"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0"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251"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Explain the difference between a function and a method, using plt.plot() and ax.plot() as your examples.</a:t>
            </a:r>
            <a:endParaRPr lang="en-US" sz="1300" b="0" u="none" strike="noStrike">
              <a:solidFill>
                <a:srgbClr val="000000"/>
              </a:solidFill>
              <a:effectLst/>
              <a:uFillTx/>
              <a:latin typeface="Arial"/>
            </a:endParaRPr>
          </a:p>
        </p:txBody>
      </p:sp>
      <p:sp>
        <p:nvSpPr>
          <p:cNvPr id="252"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4"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255"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List two keyword arguments you'd expect plt.plot() to accept, and what each one controls.</a:t>
            </a:r>
            <a:endParaRPr lang="en-US" sz="1300" b="0" u="none" strike="noStrike">
              <a:solidFill>
                <a:srgbClr val="000000"/>
              </a:solidFill>
              <a:effectLst/>
              <a:uFillTx/>
              <a:latin typeface="Arial"/>
            </a:endParaRPr>
          </a:p>
        </p:txBody>
      </p:sp>
      <p:pic>
        <p:nvPicPr>
          <p:cNvPr id="25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257"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258"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259"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0"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61" name="Image 0" descr="/home/claude/mpl/assets/logo_icon.png"/>
          <p:cNvPicPr/>
          <p:nvPr/>
        </p:nvPicPr>
        <p:blipFill>
          <a:blip r:embed="rId1"/>
          <a:stretch/>
        </p:blipFill>
        <p:spPr>
          <a:xfrm>
            <a:off x="640080" y="548640"/>
            <a:ext cx="438120" cy="525960"/>
          </a:xfrm>
          <a:prstGeom prst="rect">
            <a:avLst/>
          </a:prstGeom>
          <a:noFill/>
          <a:ln w="0">
            <a:noFill/>
          </a:ln>
        </p:spPr>
      </p:pic>
      <p:sp>
        <p:nvSpPr>
          <p:cNvPr id="262"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2 · GETTING STARTED</a:t>
            </a:r>
            <a:endParaRPr lang="en-US" sz="1400" b="0" u="none" strike="noStrike">
              <a:solidFill>
                <a:srgbClr val="FFFFFF"/>
              </a:solidFill>
              <a:effectLst/>
              <a:uFillTx/>
              <a:latin typeface="Arial"/>
            </a:endParaRPr>
          </a:p>
        </p:txBody>
      </p:sp>
      <p:sp>
        <p:nvSpPr>
          <p:cNvPr id="263"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Getting Started with Matplotlib</a:t>
            </a:r>
            <a:endParaRPr lang="en-US" sz="4000" b="0" u="none" strike="noStrike">
              <a:solidFill>
                <a:srgbClr val="FFFFFF"/>
              </a:solidFill>
              <a:effectLst/>
              <a:uFillTx/>
              <a:latin typeface="Arial"/>
            </a:endParaRPr>
          </a:p>
        </p:txBody>
      </p:sp>
      <p:sp>
        <p:nvSpPr>
          <p:cNvPr id="264"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Installing, importing, and understanding the basic workflow before you plot anything.</a:t>
            </a:r>
            <a:endParaRPr lang="en-US" sz="1500" b="0" u="none" strike="noStrike">
              <a:solidFill>
                <a:srgbClr val="FFFFFF"/>
              </a:solidFill>
              <a:effectLst/>
              <a:uFillTx/>
              <a:latin typeface="Arial"/>
            </a:endParaRPr>
          </a:p>
        </p:txBody>
      </p:sp>
      <p:sp>
        <p:nvSpPr>
          <p:cNvPr id="265"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12</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26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2 · GETTING STARTED</a:t>
            </a:r>
            <a:endParaRPr lang="en-US" sz="1100" b="0" u="none" strike="noStrike">
              <a:solidFill>
                <a:srgbClr val="000000"/>
              </a:solidFill>
              <a:effectLst/>
              <a:uFillTx/>
              <a:latin typeface="Arial"/>
            </a:endParaRPr>
          </a:p>
        </p:txBody>
      </p:sp>
      <p:sp>
        <p:nvSpPr>
          <p:cNvPr id="26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Installing &amp; Importing Matplotlib</a:t>
            </a:r>
            <a:endParaRPr lang="en-US" sz="2600" b="0" u="none" strike="noStrike">
              <a:solidFill>
                <a:srgbClr val="000000"/>
              </a:solidFill>
              <a:effectLst/>
              <a:uFillTx/>
              <a:latin typeface="Arial"/>
            </a:endParaRPr>
          </a:p>
        </p:txBody>
      </p:sp>
      <p:pic>
        <p:nvPicPr>
          <p:cNvPr id="26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26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270" name="Text 3"/>
          <p:cNvSpPr/>
          <p:nvPr/>
        </p:nvSpPr>
        <p:spPr>
          <a:xfrm>
            <a:off x="548640" y="1691640"/>
            <a:ext cx="5485680" cy="39312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800" b="0" u="none" strike="noStrike">
                <a:solidFill>
                  <a:srgbClr val="1B1B20"/>
                </a:solidFill>
                <a:effectLst/>
                <a:uFillTx/>
                <a:latin typeface="Hanken Grotesk"/>
                <a:ea typeface="Hanken Grotesk"/>
              </a:rPr>
              <a:t>Install once per environment: </a:t>
            </a:r>
            <a:r>
              <a:rPr lang="en-US" sz="1800" b="1" u="none" strike="noStrike">
                <a:solidFill>
                  <a:srgbClr val="1B1B20"/>
                </a:solidFill>
                <a:effectLst/>
                <a:uFillTx/>
                <a:latin typeface="Hanken Grotesk"/>
                <a:ea typeface="Hanken Grotesk"/>
              </a:rPr>
              <a:t>pip install matplotlib</a:t>
            </a:r>
            <a:r>
              <a:rPr lang="en-US" sz="1800" b="0" u="none" strike="noStrike">
                <a:solidFill>
                  <a:srgbClr val="1B1B20"/>
                </a:solidFill>
                <a:effectLst/>
                <a:uFillTx/>
                <a:latin typeface="Hanken Grotesk"/>
                <a:ea typeface="Hanken Grotesk"/>
              </a:rPr>
              <a:t> OR </a:t>
            </a:r>
            <a:r>
              <a:rPr lang="en-US" sz="1800" b="1" u="none" strike="noStrike">
                <a:solidFill>
                  <a:srgbClr val="1B1B20"/>
                </a:solidFill>
                <a:effectLst/>
                <a:uFillTx/>
                <a:latin typeface="Hanken Grotesk"/>
                <a:ea typeface="Hanken Grotesk"/>
              </a:rPr>
              <a:t>conda install matplotlib</a:t>
            </a:r>
            <a:endParaRPr lang="en-US" sz="18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800" b="0" u="none" strike="noStrike">
                <a:solidFill>
                  <a:srgbClr val="1B1B20"/>
                </a:solidFill>
                <a:effectLst/>
                <a:uFillTx/>
                <a:latin typeface="Hanken Grotesk"/>
                <a:ea typeface="Hanken Grotesk"/>
              </a:rPr>
              <a:t>The pyplot module is the part we use most — it's imported with a standard alias, plt.</a:t>
            </a:r>
            <a:endParaRPr lang="en-US" sz="18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800" b="0" u="none" strike="noStrike">
                <a:solidFill>
                  <a:srgbClr val="1B1B20"/>
                </a:solidFill>
                <a:effectLst/>
                <a:uFillTx/>
                <a:latin typeface="Hanken Grotesk"/>
                <a:ea typeface="Hanken Grotesk"/>
              </a:rPr>
              <a:t>plt.show() renders the current Figure — in scripts it opens a window; in Jupyter it displays inline.</a:t>
            </a:r>
            <a:endParaRPr lang="en-US" sz="18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800" b="0" u="none" strike="noStrike">
                <a:solidFill>
                  <a:srgbClr val="1B1B20"/>
                </a:solidFill>
                <a:effectLst/>
                <a:uFillTx/>
                <a:latin typeface="Hanken Grotesk"/>
                <a:ea typeface="Hanken Grotesk"/>
              </a:rPr>
              <a:t>Nothing appears on screen until show() is called (in most environments) — building the plot and displaying it are two separate steps.</a:t>
            </a:r>
            <a:endParaRPr lang="en-US" sz="1800" b="0" u="none" strike="noStrike">
              <a:solidFill>
                <a:srgbClr val="000000"/>
              </a:solidFill>
              <a:effectLst/>
              <a:uFillTx/>
              <a:latin typeface="Arial"/>
            </a:endParaRPr>
          </a:p>
        </p:txBody>
      </p:sp>
      <p:sp>
        <p:nvSpPr>
          <p:cNvPr id="271" name="Shape 4"/>
          <p:cNvSpPr/>
          <p:nvPr/>
        </p:nvSpPr>
        <p:spPr>
          <a:xfrm>
            <a:off x="6309360" y="1691640"/>
            <a:ext cx="5348520" cy="2742480"/>
          </a:xfrm>
          <a:prstGeom prst="roundRect">
            <a:avLst>
              <a:gd name="adj" fmla="val 4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2" name="Shape 5"/>
          <p:cNvSpPr/>
          <p:nvPr/>
        </p:nvSpPr>
        <p:spPr>
          <a:xfrm>
            <a:off x="647388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273" name="Shape 6"/>
          <p:cNvSpPr/>
          <p:nvPr/>
        </p:nvSpPr>
        <p:spPr>
          <a:xfrm>
            <a:off x="667512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274" name="Shape 7"/>
          <p:cNvSpPr/>
          <p:nvPr/>
        </p:nvSpPr>
        <p:spPr>
          <a:xfrm>
            <a:off x="687636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275" name="Text 8"/>
          <p:cNvSpPr/>
          <p:nvPr/>
        </p:nvSpPr>
        <p:spPr>
          <a:xfrm>
            <a:off x="6510600" y="2075760"/>
            <a:ext cx="4946040" cy="2212200"/>
          </a:xfrm>
          <a:prstGeom prst="rect">
            <a:avLst/>
          </a:prstGeom>
          <a:noFill/>
          <a:ln w="0">
            <a:noFill/>
          </a:ln>
        </p:spPr>
        <p:style>
          <a:lnRef idx="0"/>
          <a:fillRef idx="0"/>
          <a:effectRef idx="0"/>
          <a:fontRef idx="minor"/>
        </p:style>
        <p:txBody>
          <a:bodyPr lIns="90000" tIns="45000" rIns="90000" bIns="45000" anchor="t">
            <a:noAutofit/>
          </a:bodyPr>
          <a:p>
            <a:pPr>
              <a:lnSpc>
                <a:spcPct val="100000"/>
              </a:lnSpc>
            </a:pPr>
            <a:r>
              <a:rPr lang="en-US" sz="1150" b="0" u="none" strike="noStrike">
                <a:solidFill>
                  <a:srgbClr val="94A3B8"/>
                </a:solidFill>
                <a:effectLst/>
                <a:uFillTx/>
                <a:latin typeface="Cantarell"/>
                <a:ea typeface="Cantarell"/>
              </a:rPr>
              <a:t># one-time install (terminal)</a:t>
            </a:r>
            <a:endParaRPr lang="en-US" sz="1150" b="0" u="none" strike="noStrike">
              <a:solidFill>
                <a:srgbClr val="000000"/>
              </a:solidFill>
              <a:effectLst/>
              <a:uFillTx/>
              <a:latin typeface="Arial"/>
            </a:endParaRPr>
          </a:p>
          <a:p>
            <a:pPr>
              <a:lnSpc>
                <a:spcPct val="100000"/>
              </a:lnSpc>
            </a:pPr>
            <a:r>
              <a:rPr lang="en-US" sz="1150" b="0" u="none" strike="noStrike">
                <a:solidFill>
                  <a:srgbClr val="2DD4BF"/>
                </a:solidFill>
                <a:effectLst/>
                <a:uFillTx/>
                <a:latin typeface="Cantarell"/>
                <a:ea typeface="Cantarell"/>
              </a:rPr>
              <a:t>pip install matplotlib OR conda install matplotlib</a:t>
            </a:r>
            <a:endParaRPr lang="en-US" sz="1150" b="0" u="none" strike="noStrike">
              <a:solidFill>
                <a:srgbClr val="000000"/>
              </a:solidFill>
              <a:effectLst/>
              <a:uFillTx/>
              <a:latin typeface="Arial"/>
            </a:endParaRPr>
          </a:p>
          <a:p>
            <a:pPr>
              <a:lnSpc>
                <a:spcPct val="100000"/>
              </a:lnSpc>
            </a:pPr>
            <a:endParaRPr lang="en-US" sz="1150" b="0" u="none" strike="noStrike">
              <a:solidFill>
                <a:srgbClr val="000000"/>
              </a:solidFill>
              <a:effectLst/>
              <a:uFillTx/>
              <a:latin typeface="Arial"/>
            </a:endParaRPr>
          </a:p>
          <a:p>
            <a:pPr>
              <a:lnSpc>
                <a:spcPct val="100000"/>
              </a:lnSpc>
            </a:pPr>
            <a:r>
              <a:rPr lang="en-US" sz="1150" b="0" u="none" strike="noStrike">
                <a:solidFill>
                  <a:srgbClr val="94A3B8"/>
                </a:solidFill>
                <a:effectLst/>
                <a:uFillTx/>
                <a:latin typeface="Cantarell"/>
                <a:ea typeface="Cantarell"/>
              </a:rPr>
              <a:t># every notebook / script</a:t>
            </a:r>
            <a:endParaRPr lang="en-US" sz="1150" b="0" u="none" strike="noStrike">
              <a:solidFill>
                <a:srgbClr val="000000"/>
              </a:solidFill>
              <a:effectLst/>
              <a:uFillTx/>
              <a:latin typeface="Arial"/>
            </a:endParaRPr>
          </a:p>
          <a:p>
            <a:pPr>
              <a:lnSpc>
                <a:spcPct val="100000"/>
              </a:lnSpc>
            </a:pPr>
            <a:r>
              <a:rPr lang="en-US" sz="1150" b="0" u="none" strike="noStrike">
                <a:solidFill>
                  <a:srgbClr val="818CF8"/>
                </a:solidFill>
                <a:effectLst/>
                <a:uFillTx/>
                <a:latin typeface="Cantarell"/>
                <a:ea typeface="Cantarell"/>
              </a:rPr>
              <a:t>import matplotlib.pyplot as plt</a:t>
            </a:r>
            <a:endParaRPr lang="en-US" sz="1150" b="0" u="none" strike="noStrike">
              <a:solidFill>
                <a:srgbClr val="000000"/>
              </a:solidFill>
              <a:effectLst/>
              <a:uFillTx/>
              <a:latin typeface="Arial"/>
            </a:endParaRPr>
          </a:p>
          <a:p>
            <a:pPr>
              <a:lnSpc>
                <a:spcPct val="100000"/>
              </a:lnSpc>
            </a:pPr>
            <a:endParaRPr lang="en-US" sz="1150" b="0" u="none" strike="noStrike">
              <a:solidFill>
                <a:srgbClr val="000000"/>
              </a:solidFill>
              <a:effectLst/>
              <a:uFillTx/>
              <a:latin typeface="Arial"/>
            </a:endParaRPr>
          </a:p>
          <a:p>
            <a:pPr>
              <a:lnSpc>
                <a:spcPct val="100000"/>
              </a:lnSpc>
            </a:pPr>
            <a:r>
              <a:rPr lang="en-US" sz="1150" b="0" u="none" strike="noStrike">
                <a:solidFill>
                  <a:srgbClr val="F1F5F9"/>
                </a:solidFill>
                <a:effectLst/>
                <a:uFillTx/>
                <a:latin typeface="Cantarell"/>
                <a:ea typeface="Cantarell"/>
              </a:rPr>
              <a:t>plt.plot([1, 2, 3], [4, 9, 16])</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plt.show()  </a:t>
            </a:r>
            <a:r>
              <a:rPr lang="en-US" sz="1150" b="0" u="none" strike="noStrike">
                <a:solidFill>
                  <a:srgbClr val="94A3B8"/>
                </a:solidFill>
                <a:effectLst/>
                <a:uFillTx/>
                <a:latin typeface="Cantarell"/>
                <a:ea typeface="Cantarell"/>
              </a:rPr>
              <a:t># render it!</a:t>
            </a:r>
            <a:endParaRPr lang="en-US" sz="1150" b="0" u="none" strike="noStrike">
              <a:solidFill>
                <a:srgbClr val="000000"/>
              </a:solidFill>
              <a:effectLst/>
              <a:uFillTx/>
              <a:latin typeface="Arial"/>
            </a:endParaRPr>
          </a:p>
        </p:txBody>
      </p:sp>
      <p:sp>
        <p:nvSpPr>
          <p:cNvPr id="276"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277"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2 · GETTING STARTED</a:t>
            </a:r>
            <a:endParaRPr lang="en-US" sz="1100" b="0" u="none" strike="noStrike">
              <a:solidFill>
                <a:srgbClr val="000000"/>
              </a:solidFill>
              <a:effectLst/>
              <a:uFillTx/>
              <a:latin typeface="Arial"/>
            </a:endParaRPr>
          </a:p>
        </p:txBody>
      </p:sp>
      <p:sp>
        <p:nvSpPr>
          <p:cNvPr id="278"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The Basic Matplotlib Workflow</a:t>
            </a:r>
            <a:endParaRPr lang="en-US" sz="2600" b="0" u="none" strike="noStrike">
              <a:solidFill>
                <a:srgbClr val="000000"/>
              </a:solidFill>
              <a:effectLst/>
              <a:uFillTx/>
              <a:latin typeface="Arial"/>
            </a:endParaRPr>
          </a:p>
        </p:txBody>
      </p:sp>
      <p:pic>
        <p:nvPicPr>
          <p:cNvPr id="279"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280"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281" name="Shape 3"/>
          <p:cNvSpPr/>
          <p:nvPr/>
        </p:nvSpPr>
        <p:spPr>
          <a:xfrm>
            <a:off x="548640" y="1737360"/>
            <a:ext cx="2605320" cy="2833920"/>
          </a:xfrm>
          <a:prstGeom prst="roundRect">
            <a:avLst>
              <a:gd name="adj" fmla="val 421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2" name="Text 4"/>
          <p:cNvSpPr/>
          <p:nvPr/>
        </p:nvSpPr>
        <p:spPr>
          <a:xfrm>
            <a:off x="731520" y="1920240"/>
            <a:ext cx="91368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000" b="1" u="none" strike="noStrike">
                <a:solidFill>
                  <a:srgbClr val="8C8AE0"/>
                </a:solidFill>
                <a:effectLst/>
                <a:uFillTx/>
                <a:latin typeface="Bricolage Grotesque"/>
                <a:ea typeface="Bricolage Grotesque"/>
              </a:rPr>
              <a:t>1</a:t>
            </a:r>
            <a:endParaRPr lang="en-US" sz="3000" b="0" u="none" strike="noStrike">
              <a:solidFill>
                <a:srgbClr val="000000"/>
              </a:solidFill>
              <a:effectLst/>
              <a:uFillTx/>
              <a:latin typeface="Arial"/>
            </a:endParaRPr>
          </a:p>
        </p:txBody>
      </p:sp>
      <p:sp>
        <p:nvSpPr>
          <p:cNvPr id="283" name="Text 5"/>
          <p:cNvSpPr/>
          <p:nvPr/>
        </p:nvSpPr>
        <p:spPr>
          <a:xfrm>
            <a:off x="731520" y="2606040"/>
            <a:ext cx="223956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Prepare data</a:t>
            </a:r>
            <a:endParaRPr lang="en-US" sz="1400" b="0" u="none" strike="noStrike">
              <a:solidFill>
                <a:srgbClr val="000000"/>
              </a:solidFill>
              <a:effectLst/>
              <a:uFillTx/>
              <a:latin typeface="Arial"/>
            </a:endParaRPr>
          </a:p>
        </p:txBody>
      </p:sp>
      <p:sp>
        <p:nvSpPr>
          <p:cNvPr id="284" name="Text 6"/>
          <p:cNvSpPr/>
          <p:nvPr/>
        </p:nvSpPr>
        <p:spPr>
          <a:xfrm>
            <a:off x="731520" y="3063240"/>
            <a:ext cx="2239560" cy="13708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100" b="0" u="none" strike="noStrike">
                <a:solidFill>
                  <a:srgbClr val="474651"/>
                </a:solidFill>
                <a:effectLst/>
                <a:uFillTx/>
                <a:latin typeface="Hanken Grotesk"/>
                <a:ea typeface="Hanken Grotesk"/>
              </a:rPr>
              <a:t>Lists, NumPy arrays, or Pandas columns for X and Y.</a:t>
            </a:r>
            <a:endParaRPr lang="en-US" sz="1100" b="0" u="none" strike="noStrike">
              <a:solidFill>
                <a:srgbClr val="000000"/>
              </a:solidFill>
              <a:effectLst/>
              <a:uFillTx/>
              <a:latin typeface="Arial"/>
            </a:endParaRPr>
          </a:p>
        </p:txBody>
      </p:sp>
      <p:sp>
        <p:nvSpPr>
          <p:cNvPr id="285" name="Text 7"/>
          <p:cNvSpPr/>
          <p:nvPr/>
        </p:nvSpPr>
        <p:spPr>
          <a:xfrm>
            <a:off x="3154680" y="1737360"/>
            <a:ext cx="182160" cy="2833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600" b="0" u="none" strike="noStrike">
                <a:solidFill>
                  <a:srgbClr val="5755A7"/>
                </a:solidFill>
                <a:effectLst/>
                <a:uFillTx/>
                <a:latin typeface="Calibri"/>
              </a:rPr>
              <a:t>→</a:t>
            </a:r>
            <a:endParaRPr lang="en-US" sz="1600" b="0" u="none" strike="noStrike">
              <a:solidFill>
                <a:srgbClr val="000000"/>
              </a:solidFill>
              <a:effectLst/>
              <a:uFillTx/>
              <a:latin typeface="Arial"/>
            </a:endParaRPr>
          </a:p>
        </p:txBody>
      </p:sp>
      <p:sp>
        <p:nvSpPr>
          <p:cNvPr id="286" name="Shape 8"/>
          <p:cNvSpPr/>
          <p:nvPr/>
        </p:nvSpPr>
        <p:spPr>
          <a:xfrm>
            <a:off x="3337560" y="1737360"/>
            <a:ext cx="2605320" cy="2833920"/>
          </a:xfrm>
          <a:prstGeom prst="roundRect">
            <a:avLst>
              <a:gd name="adj" fmla="val 4211"/>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7" name="Text 9"/>
          <p:cNvSpPr/>
          <p:nvPr/>
        </p:nvSpPr>
        <p:spPr>
          <a:xfrm>
            <a:off x="3520440" y="1920240"/>
            <a:ext cx="91368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000" b="1" u="none" strike="noStrike">
                <a:solidFill>
                  <a:srgbClr val="231F71"/>
                </a:solidFill>
                <a:effectLst/>
                <a:uFillTx/>
                <a:latin typeface="Bricolage Grotesque"/>
                <a:ea typeface="Bricolage Grotesque"/>
              </a:rPr>
              <a:t>2</a:t>
            </a:r>
            <a:endParaRPr lang="en-US" sz="3000" b="0" u="none" strike="noStrike">
              <a:solidFill>
                <a:srgbClr val="000000"/>
              </a:solidFill>
              <a:effectLst/>
              <a:uFillTx/>
              <a:latin typeface="Arial"/>
            </a:endParaRPr>
          </a:p>
        </p:txBody>
      </p:sp>
      <p:sp>
        <p:nvSpPr>
          <p:cNvPr id="288" name="Text 10"/>
          <p:cNvSpPr/>
          <p:nvPr/>
        </p:nvSpPr>
        <p:spPr>
          <a:xfrm>
            <a:off x="3520440" y="2606040"/>
            <a:ext cx="223956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231F71"/>
                </a:solidFill>
                <a:effectLst/>
                <a:uFillTx/>
                <a:latin typeface="Bricolage Grotesque"/>
                <a:ea typeface="Bricolage Grotesque"/>
              </a:rPr>
              <a:t>Create a Figure</a:t>
            </a:r>
            <a:endParaRPr lang="en-US" sz="1400" b="0" u="none" strike="noStrike">
              <a:solidFill>
                <a:srgbClr val="000000"/>
              </a:solidFill>
              <a:effectLst/>
              <a:uFillTx/>
              <a:latin typeface="Arial"/>
            </a:endParaRPr>
          </a:p>
        </p:txBody>
      </p:sp>
      <p:sp>
        <p:nvSpPr>
          <p:cNvPr id="289" name="Text 11"/>
          <p:cNvSpPr/>
          <p:nvPr/>
        </p:nvSpPr>
        <p:spPr>
          <a:xfrm>
            <a:off x="3520440" y="3063240"/>
            <a:ext cx="2239560" cy="13708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100" b="0" u="none" strike="noStrike">
                <a:solidFill>
                  <a:srgbClr val="231F71"/>
                </a:solidFill>
                <a:effectLst/>
                <a:uFillTx/>
                <a:latin typeface="Hanken Grotesk"/>
                <a:ea typeface="Hanken Grotesk"/>
              </a:rPr>
              <a:t>plt.figure() or plt.subplots() sets up the canvas.</a:t>
            </a:r>
            <a:endParaRPr lang="en-US" sz="1100" b="0" u="none" strike="noStrike">
              <a:solidFill>
                <a:srgbClr val="000000"/>
              </a:solidFill>
              <a:effectLst/>
              <a:uFillTx/>
              <a:latin typeface="Arial"/>
            </a:endParaRPr>
          </a:p>
        </p:txBody>
      </p:sp>
      <p:sp>
        <p:nvSpPr>
          <p:cNvPr id="290" name="Text 12"/>
          <p:cNvSpPr/>
          <p:nvPr/>
        </p:nvSpPr>
        <p:spPr>
          <a:xfrm>
            <a:off x="5943600" y="1737360"/>
            <a:ext cx="182160" cy="2833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600" b="0" u="none" strike="noStrike">
                <a:solidFill>
                  <a:srgbClr val="5755A7"/>
                </a:solidFill>
                <a:effectLst/>
                <a:uFillTx/>
                <a:latin typeface="Calibri"/>
              </a:rPr>
              <a:t>→</a:t>
            </a:r>
            <a:endParaRPr lang="en-US" sz="1600" b="0" u="none" strike="noStrike">
              <a:solidFill>
                <a:srgbClr val="000000"/>
              </a:solidFill>
              <a:effectLst/>
              <a:uFillTx/>
              <a:latin typeface="Arial"/>
            </a:endParaRPr>
          </a:p>
        </p:txBody>
      </p:sp>
      <p:sp>
        <p:nvSpPr>
          <p:cNvPr id="291" name="Shape 13"/>
          <p:cNvSpPr/>
          <p:nvPr/>
        </p:nvSpPr>
        <p:spPr>
          <a:xfrm>
            <a:off x="6126480" y="1737360"/>
            <a:ext cx="2605320" cy="2833920"/>
          </a:xfrm>
          <a:prstGeom prst="roundRect">
            <a:avLst>
              <a:gd name="adj" fmla="val 421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2" name="Text 14"/>
          <p:cNvSpPr/>
          <p:nvPr/>
        </p:nvSpPr>
        <p:spPr>
          <a:xfrm>
            <a:off x="6309360" y="1920240"/>
            <a:ext cx="91368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000" b="1" u="none" strike="noStrike">
                <a:solidFill>
                  <a:srgbClr val="8C8AE0"/>
                </a:solidFill>
                <a:effectLst/>
                <a:uFillTx/>
                <a:latin typeface="Bricolage Grotesque"/>
                <a:ea typeface="Bricolage Grotesque"/>
              </a:rPr>
              <a:t>3</a:t>
            </a:r>
            <a:endParaRPr lang="en-US" sz="3000" b="0" u="none" strike="noStrike">
              <a:solidFill>
                <a:srgbClr val="000000"/>
              </a:solidFill>
              <a:effectLst/>
              <a:uFillTx/>
              <a:latin typeface="Arial"/>
            </a:endParaRPr>
          </a:p>
        </p:txBody>
      </p:sp>
      <p:sp>
        <p:nvSpPr>
          <p:cNvPr id="293" name="Text 15"/>
          <p:cNvSpPr/>
          <p:nvPr/>
        </p:nvSpPr>
        <p:spPr>
          <a:xfrm>
            <a:off x="6309360" y="2606040"/>
            <a:ext cx="223956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Plot &amp; customize</a:t>
            </a:r>
            <a:endParaRPr lang="en-US" sz="1400" b="0" u="none" strike="noStrike">
              <a:solidFill>
                <a:srgbClr val="000000"/>
              </a:solidFill>
              <a:effectLst/>
              <a:uFillTx/>
              <a:latin typeface="Arial"/>
            </a:endParaRPr>
          </a:p>
        </p:txBody>
      </p:sp>
      <p:sp>
        <p:nvSpPr>
          <p:cNvPr id="294" name="Text 16"/>
          <p:cNvSpPr/>
          <p:nvPr/>
        </p:nvSpPr>
        <p:spPr>
          <a:xfrm>
            <a:off x="6309360" y="3063240"/>
            <a:ext cx="2239560" cy="13708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100" b="0" u="none" strike="noStrike">
                <a:solidFill>
                  <a:srgbClr val="474651"/>
                </a:solidFill>
                <a:effectLst/>
                <a:uFillTx/>
                <a:latin typeface="Hanken Grotesk"/>
                <a:ea typeface="Hanken Grotesk"/>
              </a:rPr>
              <a:t>plt.plot()/bar()/... then labels, title, legend, grid.</a:t>
            </a:r>
            <a:endParaRPr lang="en-US" sz="1100" b="0" u="none" strike="noStrike">
              <a:solidFill>
                <a:srgbClr val="000000"/>
              </a:solidFill>
              <a:effectLst/>
              <a:uFillTx/>
              <a:latin typeface="Arial"/>
            </a:endParaRPr>
          </a:p>
        </p:txBody>
      </p:sp>
      <p:sp>
        <p:nvSpPr>
          <p:cNvPr id="295" name="Text 17"/>
          <p:cNvSpPr/>
          <p:nvPr/>
        </p:nvSpPr>
        <p:spPr>
          <a:xfrm>
            <a:off x="8732520" y="1737360"/>
            <a:ext cx="182160" cy="2833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600" b="0" u="none" strike="noStrike">
                <a:solidFill>
                  <a:srgbClr val="5755A7"/>
                </a:solidFill>
                <a:effectLst/>
                <a:uFillTx/>
                <a:latin typeface="Calibri"/>
              </a:rPr>
              <a:t>→</a:t>
            </a:r>
            <a:endParaRPr lang="en-US" sz="1600" b="0" u="none" strike="noStrike">
              <a:solidFill>
                <a:srgbClr val="000000"/>
              </a:solidFill>
              <a:effectLst/>
              <a:uFillTx/>
              <a:latin typeface="Arial"/>
            </a:endParaRPr>
          </a:p>
        </p:txBody>
      </p:sp>
      <p:sp>
        <p:nvSpPr>
          <p:cNvPr id="296" name="Shape 18"/>
          <p:cNvSpPr/>
          <p:nvPr/>
        </p:nvSpPr>
        <p:spPr>
          <a:xfrm>
            <a:off x="8915400" y="1737360"/>
            <a:ext cx="2605320" cy="2833920"/>
          </a:xfrm>
          <a:prstGeom prst="roundRect">
            <a:avLst>
              <a:gd name="adj" fmla="val 4211"/>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7" name="Text 19"/>
          <p:cNvSpPr/>
          <p:nvPr/>
        </p:nvSpPr>
        <p:spPr>
          <a:xfrm>
            <a:off x="9098280" y="1920240"/>
            <a:ext cx="91368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000" b="1" u="none" strike="noStrike">
                <a:solidFill>
                  <a:srgbClr val="231F71"/>
                </a:solidFill>
                <a:effectLst/>
                <a:uFillTx/>
                <a:latin typeface="Bricolage Grotesque"/>
                <a:ea typeface="Bricolage Grotesque"/>
              </a:rPr>
              <a:t>4</a:t>
            </a:r>
            <a:endParaRPr lang="en-US" sz="3000" b="0" u="none" strike="noStrike">
              <a:solidFill>
                <a:srgbClr val="000000"/>
              </a:solidFill>
              <a:effectLst/>
              <a:uFillTx/>
              <a:latin typeface="Arial"/>
            </a:endParaRPr>
          </a:p>
        </p:txBody>
      </p:sp>
      <p:sp>
        <p:nvSpPr>
          <p:cNvPr id="298" name="Text 20"/>
          <p:cNvSpPr/>
          <p:nvPr/>
        </p:nvSpPr>
        <p:spPr>
          <a:xfrm>
            <a:off x="9098280" y="2606040"/>
            <a:ext cx="223956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231F71"/>
                </a:solidFill>
                <a:effectLst/>
                <a:uFillTx/>
                <a:latin typeface="Bricolage Grotesque"/>
                <a:ea typeface="Bricolage Grotesque"/>
              </a:rPr>
              <a:t>Show or save</a:t>
            </a:r>
            <a:endParaRPr lang="en-US" sz="1400" b="0" u="none" strike="noStrike">
              <a:solidFill>
                <a:srgbClr val="000000"/>
              </a:solidFill>
              <a:effectLst/>
              <a:uFillTx/>
              <a:latin typeface="Arial"/>
            </a:endParaRPr>
          </a:p>
        </p:txBody>
      </p:sp>
      <p:sp>
        <p:nvSpPr>
          <p:cNvPr id="299" name="Text 21"/>
          <p:cNvSpPr/>
          <p:nvPr/>
        </p:nvSpPr>
        <p:spPr>
          <a:xfrm>
            <a:off x="9098280" y="3063240"/>
            <a:ext cx="2239560" cy="13708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100" b="0" u="none" strike="noStrike">
                <a:solidFill>
                  <a:srgbClr val="231F71"/>
                </a:solidFill>
                <a:effectLst/>
                <a:uFillTx/>
                <a:latin typeface="Hanken Grotesk"/>
                <a:ea typeface="Hanken Grotesk"/>
              </a:rPr>
              <a:t>plt.show() to view, plt.savefig() to export.</a:t>
            </a:r>
            <a:endParaRPr lang="en-US" sz="1100" b="0" u="none" strike="noStrike">
              <a:solidFill>
                <a:srgbClr val="000000"/>
              </a:solidFill>
              <a:effectLst/>
              <a:uFillTx/>
              <a:latin typeface="Arial"/>
            </a:endParaRPr>
          </a:p>
        </p:txBody>
      </p:sp>
      <p:sp>
        <p:nvSpPr>
          <p:cNvPr id="300" name="Text 22"/>
          <p:cNvSpPr/>
          <p:nvPr/>
        </p:nvSpPr>
        <p:spPr>
          <a:xfrm>
            <a:off x="548640" y="4892040"/>
            <a:ext cx="11063520" cy="1005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30000"/>
              </a:lnSpc>
              <a:tabLst>
                <a:tab pos="0" algn="l"/>
              </a:tabLst>
            </a:pPr>
            <a:r>
              <a:rPr lang="en-US" sz="1300" b="0" u="none" strike="noStrike">
                <a:solidFill>
                  <a:srgbClr val="474651"/>
                </a:solidFill>
                <a:effectLst/>
                <a:uFillTx/>
                <a:latin typeface="Hanken Grotesk"/>
                <a:ea typeface="Hanken Grotesk"/>
              </a:rPr>
              <a:t>Two ways to build Figures: plt.figure() creates a blank canvas you plot onto with pyplot commands. plt.subplots() creates a Figure and one or more Axes at once, and hands them back to you — this is the door into the Object-Oriented API (Part 9).</a:t>
            </a:r>
            <a:endParaRPr lang="en-US" sz="1300" b="0" u="none" strike="noStrike">
              <a:solidFill>
                <a:srgbClr val="000000"/>
              </a:solidFill>
              <a:effectLst/>
              <a:uFillTx/>
              <a:latin typeface="Arial"/>
            </a:endParaRPr>
          </a:p>
        </p:txBody>
      </p:sp>
      <p:sp>
        <p:nvSpPr>
          <p:cNvPr id="301" name="Text 2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30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2 · GETTING STARTED</a:t>
            </a:r>
            <a:endParaRPr lang="en-US" sz="1100" b="0" u="none" strike="noStrike">
              <a:solidFill>
                <a:srgbClr val="000000"/>
              </a:solidFill>
              <a:effectLst/>
              <a:uFillTx/>
              <a:latin typeface="Arial"/>
            </a:endParaRPr>
          </a:p>
        </p:txBody>
      </p:sp>
      <p:sp>
        <p:nvSpPr>
          <p:cNvPr id="30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Two APIs, One Library</a:t>
            </a:r>
            <a:endParaRPr lang="en-US" sz="2600" b="0" u="none" strike="noStrike">
              <a:solidFill>
                <a:srgbClr val="000000"/>
              </a:solidFill>
              <a:effectLst/>
              <a:uFillTx/>
              <a:latin typeface="Arial"/>
            </a:endParaRPr>
          </a:p>
        </p:txBody>
      </p:sp>
      <p:pic>
        <p:nvPicPr>
          <p:cNvPr id="30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30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306" name="Shape 3"/>
          <p:cNvSpPr/>
          <p:nvPr/>
        </p:nvSpPr>
        <p:spPr>
          <a:xfrm>
            <a:off x="548640" y="1737360"/>
            <a:ext cx="5211360" cy="4022640"/>
          </a:xfrm>
          <a:prstGeom prst="roundRect">
            <a:avLst>
              <a:gd name="adj" fmla="val 2727"/>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7" name="Shape 4"/>
          <p:cNvSpPr/>
          <p:nvPr/>
        </p:nvSpPr>
        <p:spPr>
          <a:xfrm>
            <a:off x="777240" y="1965960"/>
            <a:ext cx="2742480" cy="29196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8" name="Text 5"/>
          <p:cNvSpPr/>
          <p:nvPr/>
        </p:nvSpPr>
        <p:spPr>
          <a:xfrm>
            <a:off x="777240" y="1965960"/>
            <a:ext cx="2742480" cy="291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002019"/>
                </a:solidFill>
                <a:effectLst/>
                <a:uFillTx/>
                <a:latin typeface="Plus Jakarta Sans"/>
                <a:ea typeface="Plus Jakarta Sans"/>
              </a:rPr>
              <a:t>PYPLOT / PROCEDURAL</a:t>
            </a:r>
            <a:endParaRPr lang="en-US" sz="1000" b="0" u="none" strike="noStrike">
              <a:solidFill>
                <a:srgbClr val="000000"/>
              </a:solidFill>
              <a:effectLst/>
              <a:uFillTx/>
              <a:latin typeface="Arial"/>
            </a:endParaRPr>
          </a:p>
        </p:txBody>
      </p:sp>
      <p:sp>
        <p:nvSpPr>
          <p:cNvPr id="309" name="Text 6"/>
          <p:cNvSpPr/>
          <p:nvPr/>
        </p:nvSpPr>
        <p:spPr>
          <a:xfrm>
            <a:off x="777240" y="2423160"/>
            <a:ext cx="4754160" cy="82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0" u="none" strike="noStrike">
                <a:solidFill>
                  <a:srgbClr val="474651"/>
                </a:solidFill>
                <a:effectLst/>
                <a:uFillTx/>
                <a:latin typeface="Hanken Grotesk"/>
                <a:ea typeface="Hanken Grotesk"/>
              </a:rPr>
              <a:t>Quick and direct. You call plt.___() functions and Matplotlib tracks "the current figure" for you.</a:t>
            </a:r>
            <a:endParaRPr lang="en-US" sz="1250" b="0" u="none" strike="noStrike">
              <a:solidFill>
                <a:srgbClr val="000000"/>
              </a:solidFill>
              <a:effectLst/>
              <a:uFillTx/>
              <a:latin typeface="Arial"/>
            </a:endParaRPr>
          </a:p>
        </p:txBody>
      </p:sp>
      <p:sp>
        <p:nvSpPr>
          <p:cNvPr id="310" name="Shape 7"/>
          <p:cNvSpPr/>
          <p:nvPr/>
        </p:nvSpPr>
        <p:spPr>
          <a:xfrm>
            <a:off x="777240" y="3337560"/>
            <a:ext cx="4754160" cy="2193840"/>
          </a:xfrm>
          <a:prstGeom prst="roundRect">
            <a:avLst>
              <a:gd name="adj" fmla="val 5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1" name="Shape 8"/>
          <p:cNvSpPr/>
          <p:nvPr/>
        </p:nvSpPr>
        <p:spPr>
          <a:xfrm>
            <a:off x="941760" y="348372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312" name="Shape 9"/>
          <p:cNvSpPr/>
          <p:nvPr/>
        </p:nvSpPr>
        <p:spPr>
          <a:xfrm>
            <a:off x="1143000" y="348372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13" name="Shape 10"/>
          <p:cNvSpPr/>
          <p:nvPr/>
        </p:nvSpPr>
        <p:spPr>
          <a:xfrm>
            <a:off x="1344240" y="348372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14" name="Text 11"/>
          <p:cNvSpPr/>
          <p:nvPr/>
        </p:nvSpPr>
        <p:spPr>
          <a:xfrm>
            <a:off x="978480" y="3721680"/>
            <a:ext cx="4351680" cy="16635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plt.plot(x, y)</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plt.title("Sales")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plt.xlabel("Month")</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plt.show()</a:t>
            </a:r>
            <a:endParaRPr lang="en-US" sz="1300" b="0" u="none" strike="noStrike">
              <a:solidFill>
                <a:srgbClr val="000000"/>
              </a:solidFill>
              <a:effectLst/>
              <a:uFillTx/>
              <a:latin typeface="Arial"/>
            </a:endParaRPr>
          </a:p>
        </p:txBody>
      </p:sp>
      <p:sp>
        <p:nvSpPr>
          <p:cNvPr id="315" name="Shape 12"/>
          <p:cNvSpPr/>
          <p:nvPr/>
        </p:nvSpPr>
        <p:spPr>
          <a:xfrm>
            <a:off x="6217920" y="1737360"/>
            <a:ext cx="5211360" cy="4022640"/>
          </a:xfrm>
          <a:prstGeom prst="roundRect">
            <a:avLst>
              <a:gd name="adj" fmla="val 2727"/>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6" name="Shape 13"/>
          <p:cNvSpPr/>
          <p:nvPr/>
        </p:nvSpPr>
        <p:spPr>
          <a:xfrm>
            <a:off x="6446520" y="1965960"/>
            <a:ext cx="2742480" cy="29196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7" name="Text 14"/>
          <p:cNvSpPr/>
          <p:nvPr/>
        </p:nvSpPr>
        <p:spPr>
          <a:xfrm>
            <a:off x="6446520" y="1965960"/>
            <a:ext cx="2742480" cy="291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231F71"/>
                </a:solidFill>
                <a:effectLst/>
                <a:uFillTx/>
                <a:latin typeface="Plus Jakarta Sans"/>
                <a:ea typeface="Plus Jakarta Sans"/>
              </a:rPr>
              <a:t>OBJECT-ORIENTED (OO)</a:t>
            </a:r>
            <a:endParaRPr lang="en-US" sz="1000" b="0" u="none" strike="noStrike">
              <a:solidFill>
                <a:srgbClr val="000000"/>
              </a:solidFill>
              <a:effectLst/>
              <a:uFillTx/>
              <a:latin typeface="Arial"/>
            </a:endParaRPr>
          </a:p>
        </p:txBody>
      </p:sp>
      <p:sp>
        <p:nvSpPr>
          <p:cNvPr id="318" name="Text 15"/>
          <p:cNvSpPr/>
          <p:nvPr/>
        </p:nvSpPr>
        <p:spPr>
          <a:xfrm>
            <a:off x="6446520" y="2423160"/>
            <a:ext cx="4754160" cy="82224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0" u="none" strike="noStrike">
                <a:solidFill>
                  <a:srgbClr val="474651"/>
                </a:solidFill>
                <a:effectLst/>
                <a:uFillTx/>
                <a:latin typeface="Hanken Grotesk"/>
                <a:ea typeface="Hanken Grotesk"/>
              </a:rPr>
              <a:t>Explicit and scalable. You hold onto fig and ax objects and call methods on them directly.</a:t>
            </a:r>
            <a:endParaRPr lang="en-US" sz="1250" b="0" u="none" strike="noStrike">
              <a:solidFill>
                <a:srgbClr val="000000"/>
              </a:solidFill>
              <a:effectLst/>
              <a:uFillTx/>
              <a:latin typeface="Arial"/>
            </a:endParaRPr>
          </a:p>
        </p:txBody>
      </p:sp>
      <p:sp>
        <p:nvSpPr>
          <p:cNvPr id="319" name="Shape 16"/>
          <p:cNvSpPr/>
          <p:nvPr/>
        </p:nvSpPr>
        <p:spPr>
          <a:xfrm>
            <a:off x="6446520" y="3337560"/>
            <a:ext cx="4754160" cy="2193840"/>
          </a:xfrm>
          <a:prstGeom prst="roundRect">
            <a:avLst>
              <a:gd name="adj" fmla="val 5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0" name="Shape 17"/>
          <p:cNvSpPr/>
          <p:nvPr/>
        </p:nvSpPr>
        <p:spPr>
          <a:xfrm>
            <a:off x="6611040" y="348372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321" name="Shape 18"/>
          <p:cNvSpPr/>
          <p:nvPr/>
        </p:nvSpPr>
        <p:spPr>
          <a:xfrm>
            <a:off x="6812280" y="348372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22" name="Shape 19"/>
          <p:cNvSpPr/>
          <p:nvPr/>
        </p:nvSpPr>
        <p:spPr>
          <a:xfrm>
            <a:off x="7013520" y="348372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23" name="Text 20"/>
          <p:cNvSpPr/>
          <p:nvPr/>
        </p:nvSpPr>
        <p:spPr>
          <a:xfrm>
            <a:off x="6647760" y="3721680"/>
            <a:ext cx="4351680" cy="16635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fig, ax = plt.subplots()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 y)</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ax.set_title("Sales")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ax.set_xlabel("Month")</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plt.show()</a:t>
            </a:r>
            <a:endParaRPr lang="en-US" sz="1300" b="0" u="none" strike="noStrike">
              <a:solidFill>
                <a:srgbClr val="000000"/>
              </a:solidFill>
              <a:effectLst/>
              <a:uFillTx/>
              <a:latin typeface="Arial"/>
            </a:endParaRPr>
          </a:p>
        </p:txBody>
      </p:sp>
      <p:sp>
        <p:nvSpPr>
          <p:cNvPr id="324" name="Text 21"/>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32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2 · GETTING STARTED</a:t>
            </a:r>
            <a:endParaRPr lang="en-US" sz="1100" b="0" u="none" strike="noStrike">
              <a:solidFill>
                <a:srgbClr val="000000"/>
              </a:solidFill>
              <a:effectLst/>
              <a:uFillTx/>
              <a:latin typeface="Arial"/>
            </a:endParaRPr>
          </a:p>
        </p:txBody>
      </p:sp>
      <p:sp>
        <p:nvSpPr>
          <p:cNvPr id="32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Your First Plot</a:t>
            </a:r>
            <a:endParaRPr lang="en-US" sz="2600" b="0" u="none" strike="noStrike">
              <a:solidFill>
                <a:srgbClr val="000000"/>
              </a:solidFill>
              <a:effectLst/>
              <a:uFillTx/>
              <a:latin typeface="Arial"/>
            </a:endParaRPr>
          </a:p>
        </p:txBody>
      </p:sp>
      <p:pic>
        <p:nvPicPr>
          <p:cNvPr id="32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32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329" name="Shape 3"/>
          <p:cNvSpPr/>
          <p:nvPr/>
        </p:nvSpPr>
        <p:spPr>
          <a:xfrm>
            <a:off x="548640" y="1691640"/>
            <a:ext cx="539424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0"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331"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32"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33" name="Text 7"/>
          <p:cNvSpPr/>
          <p:nvPr/>
        </p:nvSpPr>
        <p:spPr>
          <a:xfrm>
            <a:off x="749880" y="2075760"/>
            <a:ext cx="499176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500" b="0" u="none" strike="noStrike">
                <a:solidFill>
                  <a:srgbClr val="F1F5F9"/>
                </a:solidFill>
                <a:effectLst/>
                <a:uFillTx/>
                <a:latin typeface="Cantarell"/>
                <a:ea typeface="Cantarell"/>
              </a:rPr>
              <a:t>import matplotlib.pyplot as plt</a:t>
            </a:r>
            <a:endParaRPr lang="en-US" sz="1500" b="0" u="none" strike="noStrike">
              <a:solidFill>
                <a:srgbClr val="000000"/>
              </a:solidFill>
              <a:effectLst/>
              <a:uFillTx/>
              <a:latin typeface="Arial"/>
            </a:endParaRPr>
          </a:p>
          <a:p>
            <a:pPr defTabSz="914400">
              <a:lnSpc>
                <a:spcPct val="118000"/>
              </a:lnSpc>
              <a:tabLst>
                <a:tab pos="0" algn="l"/>
              </a:tabLst>
            </a:pP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x = [1, 2, 3, 4, 5]</a:t>
            </a: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y = [16, 40, 26, 50, 45]</a:t>
            </a:r>
            <a:endParaRPr lang="en-US" sz="1500" b="0" u="none" strike="noStrike">
              <a:solidFill>
                <a:srgbClr val="000000"/>
              </a:solidFill>
              <a:effectLst/>
              <a:uFillTx/>
              <a:latin typeface="Arial"/>
            </a:endParaRPr>
          </a:p>
          <a:p>
            <a:pPr defTabSz="914400">
              <a:lnSpc>
                <a:spcPct val="118000"/>
              </a:lnSpc>
              <a:tabLst>
                <a:tab pos="0" algn="l"/>
              </a:tabLst>
            </a:pP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plt.plot(x, y)</a:t>
            </a: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plt.show()</a:t>
            </a:r>
            <a:endParaRPr lang="en-US" sz="1500" b="0" u="none" strike="noStrike">
              <a:solidFill>
                <a:srgbClr val="000000"/>
              </a:solidFill>
              <a:effectLst/>
              <a:uFillTx/>
              <a:latin typeface="Arial"/>
            </a:endParaRPr>
          </a:p>
        </p:txBody>
      </p:sp>
      <p:sp>
        <p:nvSpPr>
          <p:cNvPr id="334" name="Shape 8"/>
          <p:cNvSpPr/>
          <p:nvPr/>
        </p:nvSpPr>
        <p:spPr>
          <a:xfrm>
            <a:off x="6172200" y="1691640"/>
            <a:ext cx="5485680" cy="3291120"/>
          </a:xfrm>
          <a:prstGeom prst="roundRect">
            <a:avLst>
              <a:gd name="adj" fmla="val 2778"/>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335" name="Image 1" descr="/home/claude/mpl/charts/line_sales.png"/>
          <p:cNvPicPr/>
          <p:nvPr/>
        </p:nvPicPr>
        <p:blipFill>
          <a:blip r:embed="rId2"/>
          <a:stretch/>
        </p:blipFill>
        <p:spPr>
          <a:xfrm>
            <a:off x="6282000" y="1801440"/>
            <a:ext cx="5266080" cy="3071520"/>
          </a:xfrm>
          <a:prstGeom prst="rect">
            <a:avLst/>
          </a:prstGeom>
          <a:noFill/>
          <a:ln w="0">
            <a:noFill/>
          </a:ln>
        </p:spPr>
      </p:pic>
      <p:sp>
        <p:nvSpPr>
          <p:cNvPr id="336" name="Text 9"/>
          <p:cNvSpPr/>
          <p:nvPr/>
        </p:nvSpPr>
        <p:spPr>
          <a:xfrm>
            <a:off x="6172200" y="5074920"/>
            <a:ext cx="548568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i="1" u="none" strike="noStrike">
                <a:solidFill>
                  <a:srgbClr val="474651"/>
                </a:solidFill>
                <a:effectLst/>
                <a:uFillTx/>
                <a:latin typeface="Hanken Grotesk"/>
                <a:ea typeface="Hanken Grotesk"/>
              </a:rPr>
              <a:t>Three lists become three visual ideas: position along X, height along Y, and the connecting line between them. Every chart you'll build starts from this same idea.</a:t>
            </a:r>
            <a:endParaRPr lang="en-US" sz="1200" b="0" u="none" strike="noStrike">
              <a:solidFill>
                <a:srgbClr val="000000"/>
              </a:solidFill>
              <a:effectLst/>
              <a:uFillTx/>
              <a:latin typeface="Arial"/>
            </a:endParaRPr>
          </a:p>
        </p:txBody>
      </p:sp>
      <p:sp>
        <p:nvSpPr>
          <p:cNvPr id="337"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338"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9"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340"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2 · GETTING STARTED</a:t>
            </a:r>
            <a:endParaRPr lang="en-US" sz="1100" b="0" u="none" strike="noStrike">
              <a:solidFill>
                <a:srgbClr val="000000"/>
              </a:solidFill>
              <a:effectLst/>
              <a:uFillTx/>
              <a:latin typeface="Arial"/>
            </a:endParaRPr>
          </a:p>
        </p:txBody>
      </p:sp>
      <p:sp>
        <p:nvSpPr>
          <p:cNvPr id="341"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Getting Started</a:t>
            </a:r>
            <a:endParaRPr lang="en-US" sz="2300" b="0" u="none" strike="noStrike">
              <a:solidFill>
                <a:srgbClr val="000000"/>
              </a:solidFill>
              <a:effectLst/>
              <a:uFillTx/>
              <a:latin typeface="Arial"/>
            </a:endParaRPr>
          </a:p>
        </p:txBody>
      </p:sp>
      <p:sp>
        <p:nvSpPr>
          <p:cNvPr id="342"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343"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4"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5"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346"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Import matplotlib.pyplot and plot any 5 numbers of your choice against their squares.</a:t>
            </a:r>
            <a:endParaRPr lang="en-US" sz="1300" b="0" u="none" strike="noStrike">
              <a:solidFill>
                <a:srgbClr val="000000"/>
              </a:solidFill>
              <a:effectLst/>
              <a:uFillTx/>
              <a:latin typeface="Arial"/>
            </a:endParaRPr>
          </a:p>
        </p:txBody>
      </p:sp>
      <p:sp>
        <p:nvSpPr>
          <p:cNvPr id="347"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8"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9"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350"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Create a Figure with plt.figure() and a separate one with plt.subplots() — compare what each gives you back.</a:t>
            </a:r>
            <a:endParaRPr lang="en-US" sz="1300" b="0" u="none" strike="noStrike">
              <a:solidFill>
                <a:srgbClr val="000000"/>
              </a:solidFill>
              <a:effectLst/>
              <a:uFillTx/>
              <a:latin typeface="Arial"/>
            </a:endParaRPr>
          </a:p>
        </p:txBody>
      </p:sp>
      <p:sp>
        <p:nvSpPr>
          <p:cNvPr id="351"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2"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3"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354"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Predict what happens if you remove plt.show() from a script, then test it and see if you were right.</a:t>
            </a:r>
            <a:endParaRPr lang="en-US" sz="1300" b="0" u="none" strike="noStrike">
              <a:solidFill>
                <a:srgbClr val="000000"/>
              </a:solidFill>
              <a:effectLst/>
              <a:uFillTx/>
              <a:latin typeface="Arial"/>
            </a:endParaRPr>
          </a:p>
        </p:txBody>
      </p:sp>
      <p:sp>
        <p:nvSpPr>
          <p:cNvPr id="355"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6"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7"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358"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Rewrite one pyplot-style plot using the Object-Oriented style, without looking back at the slides.</a:t>
            </a:r>
            <a:endParaRPr lang="en-US" sz="1300" b="0" u="none" strike="noStrike">
              <a:solidFill>
                <a:srgbClr val="000000"/>
              </a:solidFill>
              <a:effectLst/>
              <a:uFillTx/>
              <a:latin typeface="Arial"/>
            </a:endParaRPr>
          </a:p>
        </p:txBody>
      </p:sp>
      <p:pic>
        <p:nvPicPr>
          <p:cNvPr id="359"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360"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361"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362"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3"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64" name="Image 0" descr="/home/claude/mpl/assets/logo_icon.png"/>
          <p:cNvPicPr/>
          <p:nvPr/>
        </p:nvPicPr>
        <p:blipFill>
          <a:blip r:embed="rId1"/>
          <a:stretch/>
        </p:blipFill>
        <p:spPr>
          <a:xfrm>
            <a:off x="640080" y="548640"/>
            <a:ext cx="438120" cy="525960"/>
          </a:xfrm>
          <a:prstGeom prst="rect">
            <a:avLst/>
          </a:prstGeom>
          <a:noFill/>
          <a:ln w="0">
            <a:noFill/>
          </a:ln>
        </p:spPr>
      </p:pic>
      <p:sp>
        <p:nvSpPr>
          <p:cNvPr id="365"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3 · PYPLOT</a:t>
            </a:r>
            <a:endParaRPr lang="en-US" sz="1400" b="0" u="none" strike="noStrike">
              <a:solidFill>
                <a:srgbClr val="FFFFFF"/>
              </a:solidFill>
              <a:effectLst/>
              <a:uFillTx/>
              <a:latin typeface="Arial"/>
            </a:endParaRPr>
          </a:p>
        </p:txBody>
      </p:sp>
      <p:sp>
        <p:nvSpPr>
          <p:cNvPr id="366"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Pyplot &amp; Line Plots</a:t>
            </a:r>
            <a:endParaRPr lang="en-US" sz="4000" b="0" u="none" strike="noStrike">
              <a:solidFill>
                <a:srgbClr val="FFFFFF"/>
              </a:solidFill>
              <a:effectLst/>
              <a:uFillTx/>
              <a:latin typeface="Arial"/>
            </a:endParaRPr>
          </a:p>
        </p:txBody>
      </p:sp>
      <p:sp>
        <p:nvSpPr>
          <p:cNvPr id="367"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A deep, hands-on look at plt.plot() and everything that controls how a line chart looks and reads.</a:t>
            </a:r>
            <a:endParaRPr lang="en-US" sz="1500" b="0" u="none" strike="noStrike">
              <a:solidFill>
                <a:srgbClr val="FFFFFF"/>
              </a:solidFill>
              <a:effectLst/>
              <a:uFillTx/>
              <a:latin typeface="Arial"/>
            </a:endParaRPr>
          </a:p>
        </p:txBody>
      </p:sp>
      <p:sp>
        <p:nvSpPr>
          <p:cNvPr id="368"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18</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369"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370"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Anatomy of plt.plot()</a:t>
            </a:r>
            <a:endParaRPr lang="en-US" sz="2600" b="0" u="none" strike="noStrike">
              <a:solidFill>
                <a:srgbClr val="000000"/>
              </a:solidFill>
              <a:effectLst/>
              <a:uFillTx/>
              <a:latin typeface="Arial"/>
            </a:endParaRPr>
          </a:p>
        </p:txBody>
      </p:sp>
      <p:pic>
        <p:nvPicPr>
          <p:cNvPr id="37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372"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373" name="Shape 3"/>
          <p:cNvSpPr/>
          <p:nvPr/>
        </p:nvSpPr>
        <p:spPr>
          <a:xfrm>
            <a:off x="548640" y="1691640"/>
            <a:ext cx="484560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4"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375"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76"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77" name="Text 7"/>
          <p:cNvSpPr/>
          <p:nvPr/>
        </p:nvSpPr>
        <p:spPr>
          <a:xfrm>
            <a:off x="749880" y="2075760"/>
            <a:ext cx="4443120" cy="3492360"/>
          </a:xfrm>
          <a:prstGeom prst="rect">
            <a:avLst/>
          </a:prstGeom>
          <a:noFill/>
          <a:ln w="0">
            <a:noFill/>
          </a:ln>
        </p:spPr>
        <p:style>
          <a:lnRef idx="0"/>
          <a:fillRef idx="0"/>
          <a:effectRef idx="0"/>
          <a:fontRef idx="minor"/>
        </p:style>
        <p:txBody>
          <a:bodyPr lIns="90000" tIns="45000" rIns="90000" bIns="45000" anchor="t">
            <a:noAutofit/>
          </a:bodyPr>
          <a:p>
            <a:pPr>
              <a:lnSpc>
                <a:spcPct val="100000"/>
              </a:lnSpc>
            </a:pPr>
            <a:r>
              <a:rPr lang="en-US" sz="1350" b="0" u="none" strike="noStrike">
                <a:solidFill>
                  <a:srgbClr val="F1F5F9"/>
                </a:solidFill>
                <a:effectLst/>
                <a:uFillTx/>
                <a:latin typeface="Cantarell"/>
                <a:ea typeface="Cantarell"/>
              </a:rPr>
              <a:t>plt.plot(</a:t>
            </a:r>
            <a:endParaRPr lang="en-US" sz="1350" b="0" u="none" strike="noStrike">
              <a:solidFill>
                <a:srgbClr val="000000"/>
              </a:solidFill>
              <a:effectLst/>
              <a:uFillTx/>
              <a:latin typeface="Arial"/>
            </a:endParaRPr>
          </a:p>
          <a:p>
            <a:pPr>
              <a:lnSpc>
                <a:spcPct val="100000"/>
              </a:lnSpc>
            </a:pPr>
            <a:r>
              <a:rPr lang="en-US" sz="1350" b="0" u="none" strike="noStrike">
                <a:solidFill>
                  <a:srgbClr val="2DD4BF"/>
                </a:solidFill>
                <a:effectLst/>
                <a:uFillTx/>
                <a:latin typeface="Cantarell"/>
                <a:ea typeface="Cantarell"/>
              </a:rPr>
              <a:t>    x, y,</a:t>
            </a:r>
            <a:endParaRPr lang="en-US" sz="1350" b="0" u="none" strike="noStrike">
              <a:solidFill>
                <a:srgbClr val="000000"/>
              </a:solidFill>
              <a:effectLst/>
              <a:uFillTx/>
              <a:latin typeface="Arial"/>
            </a:endParaRPr>
          </a:p>
          <a:p>
            <a:pPr>
              <a:lnSpc>
                <a:spcPct val="100000"/>
              </a:lnSpc>
            </a:pPr>
            <a:r>
              <a:rPr lang="en-US" sz="1350" b="0" u="none" strike="noStrike">
                <a:solidFill>
                  <a:srgbClr val="F1F5F9"/>
                </a:solidFill>
                <a:effectLst/>
                <a:uFillTx/>
                <a:latin typeface="Cantarell"/>
                <a:ea typeface="Cantarell"/>
              </a:rPr>
              <a:t>    color=</a:t>
            </a:r>
            <a:r>
              <a:rPr lang="en-US" sz="1350" b="0" u="none" strike="noStrike">
                <a:solidFill>
                  <a:srgbClr val="F43F5E"/>
                </a:solidFill>
                <a:effectLst/>
                <a:uFillTx/>
                <a:latin typeface="Cantarell"/>
                <a:ea typeface="Cantarell"/>
              </a:rPr>
              <a:t>"color_name"</a:t>
            </a:r>
            <a:r>
              <a:rPr lang="en-US" sz="1350" b="0" u="none" strike="noStrike">
                <a:solidFill>
                  <a:srgbClr val="F1F5F9"/>
                </a:solidFill>
                <a:effectLst/>
                <a:uFillTx/>
                <a:latin typeface="Cantarell"/>
                <a:ea typeface="Cantarell"/>
              </a:rPr>
              <a:t>,</a:t>
            </a:r>
            <a:endParaRPr lang="en-US" sz="1350" b="0" u="none" strike="noStrike">
              <a:solidFill>
                <a:srgbClr val="000000"/>
              </a:solidFill>
              <a:effectLst/>
              <a:uFillTx/>
              <a:latin typeface="Arial"/>
            </a:endParaRPr>
          </a:p>
          <a:p>
            <a:pPr>
              <a:lnSpc>
                <a:spcPct val="100000"/>
              </a:lnSpc>
            </a:pPr>
            <a:r>
              <a:rPr lang="en-US" sz="1350" b="0" u="none" strike="noStrike">
                <a:solidFill>
                  <a:srgbClr val="F1F5F9"/>
                </a:solidFill>
                <a:effectLst/>
                <a:uFillTx/>
                <a:latin typeface="Cantarell"/>
                <a:ea typeface="Cantarell"/>
              </a:rPr>
              <a:t>    linestyle=</a:t>
            </a:r>
            <a:r>
              <a:rPr lang="en-US" sz="1350" b="0" u="none" strike="noStrike">
                <a:solidFill>
                  <a:srgbClr val="F43F5E"/>
                </a:solidFill>
                <a:effectLst/>
                <a:uFillTx/>
                <a:latin typeface="Cantarell"/>
                <a:ea typeface="Cantarell"/>
              </a:rPr>
              <a:t>"line_style"</a:t>
            </a:r>
            <a:r>
              <a:rPr lang="en-US" sz="1350" b="0" u="none" strike="noStrike">
                <a:solidFill>
                  <a:srgbClr val="F1F5F9"/>
                </a:solidFill>
                <a:effectLst/>
                <a:uFillTx/>
                <a:latin typeface="Cantarell"/>
                <a:ea typeface="Cantarell"/>
              </a:rPr>
              <a:t>,</a:t>
            </a:r>
            <a:endParaRPr lang="en-US" sz="1350" b="0" u="none" strike="noStrike">
              <a:solidFill>
                <a:srgbClr val="000000"/>
              </a:solidFill>
              <a:effectLst/>
              <a:uFillTx/>
              <a:latin typeface="Arial"/>
            </a:endParaRPr>
          </a:p>
          <a:p>
            <a:pPr>
              <a:lnSpc>
                <a:spcPct val="100000"/>
              </a:lnSpc>
            </a:pPr>
            <a:r>
              <a:rPr lang="en-US" sz="1350" b="0" u="none" strike="noStrike">
                <a:solidFill>
                  <a:srgbClr val="F1F5F9"/>
                </a:solidFill>
                <a:effectLst/>
                <a:uFillTx/>
                <a:latin typeface="Cantarell"/>
                <a:ea typeface="Cantarell"/>
              </a:rPr>
              <a:t>    linewidth=</a:t>
            </a:r>
            <a:r>
              <a:rPr lang="en-US" sz="1350" b="0" u="none" strike="noStrike">
                <a:solidFill>
                  <a:srgbClr val="F43F5E"/>
                </a:solidFill>
                <a:effectLst/>
                <a:uFillTx/>
                <a:latin typeface="Cantarell"/>
                <a:ea typeface="Cantarell"/>
              </a:rPr>
              <a:t>value</a:t>
            </a:r>
            <a:r>
              <a:rPr lang="en-US" sz="1350" b="0" u="none" strike="noStrike">
                <a:solidFill>
                  <a:srgbClr val="F1F5F9"/>
                </a:solidFill>
                <a:effectLst/>
                <a:uFillTx/>
                <a:latin typeface="Cantarell"/>
                <a:ea typeface="Cantarell"/>
              </a:rPr>
              <a:t>,</a:t>
            </a:r>
            <a:endParaRPr lang="en-US" sz="1350" b="0" u="none" strike="noStrike">
              <a:solidFill>
                <a:srgbClr val="000000"/>
              </a:solidFill>
              <a:effectLst/>
              <a:uFillTx/>
              <a:latin typeface="Arial"/>
            </a:endParaRPr>
          </a:p>
          <a:p>
            <a:pPr>
              <a:lnSpc>
                <a:spcPct val="100000"/>
              </a:lnSpc>
            </a:pPr>
            <a:r>
              <a:rPr lang="en-US" sz="1350" b="0" u="none" strike="noStrike">
                <a:solidFill>
                  <a:srgbClr val="F1F5F9"/>
                </a:solidFill>
                <a:effectLst/>
                <a:uFillTx/>
                <a:latin typeface="Cantarell"/>
                <a:ea typeface="Cantarell"/>
              </a:rPr>
              <a:t>    marker=</a:t>
            </a:r>
            <a:r>
              <a:rPr lang="en-US" sz="1350" b="0" u="none" strike="noStrike">
                <a:solidFill>
                  <a:srgbClr val="F43F5E"/>
                </a:solidFill>
                <a:effectLst/>
                <a:uFillTx/>
                <a:latin typeface="Cantarell"/>
                <a:ea typeface="Cantarell"/>
              </a:rPr>
              <a:t>"marker_style"</a:t>
            </a:r>
            <a:r>
              <a:rPr lang="en-US" sz="1350" b="0" u="none" strike="noStrike">
                <a:solidFill>
                  <a:srgbClr val="F1F5F9"/>
                </a:solidFill>
                <a:effectLst/>
                <a:uFillTx/>
                <a:latin typeface="Cantarell"/>
                <a:ea typeface="Cantarell"/>
              </a:rPr>
              <a:t>,</a:t>
            </a: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    label=</a:t>
            </a:r>
            <a:r>
              <a:rPr lang="en-US" sz="1350" b="0" u="none" strike="noStrike">
                <a:solidFill>
                  <a:srgbClr val="F43F5E"/>
                </a:solidFill>
                <a:effectLst/>
                <a:uFillTx/>
                <a:latin typeface="Cantarell"/>
                <a:ea typeface="Cantarell"/>
              </a:rPr>
              <a:t>"label_name"</a:t>
            </a: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a:t>
            </a:r>
            <a:endParaRPr lang="en-US" sz="1350" b="0" u="none" strike="noStrike">
              <a:solidFill>
                <a:srgbClr val="000000"/>
              </a:solidFill>
              <a:effectLst/>
              <a:uFillTx/>
              <a:latin typeface="Arial"/>
            </a:endParaRPr>
          </a:p>
        </p:txBody>
      </p:sp>
      <p:graphicFrame>
        <p:nvGraphicFramePr>
          <p:cNvPr id="378" name="Table 0"/>
          <p:cNvGraphicFramePr/>
          <p:nvPr/>
        </p:nvGraphicFramePr>
        <p:xfrm>
          <a:off x="5623560" y="1691640"/>
          <a:ext cx="6034320" cy="3931200"/>
        </p:xfrm>
        <a:graphic>
          <a:graphicData uri="http://schemas.openxmlformats.org/drawingml/2006/table">
            <a:tbl>
              <a:tblPr/>
              <a:tblGrid>
                <a:gridCol w="1931040"/>
                <a:gridCol w="4103640"/>
              </a:tblGrid>
              <a:tr h="5616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x, y</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The data being plotted — position and value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Line color — named color or hex code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linestyle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Solid, dashed, dotted, dash-dot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linewidth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Thickness of the line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Symbol drawn at each data point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 shown for this line in the legend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379"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38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38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Multiple Lines on One Chart</a:t>
            </a:r>
            <a:endParaRPr lang="en-US" sz="2600" b="0" u="none" strike="noStrike">
              <a:solidFill>
                <a:srgbClr val="000000"/>
              </a:solidFill>
              <a:effectLst/>
              <a:uFillTx/>
              <a:latin typeface="Arial"/>
            </a:endParaRPr>
          </a:p>
        </p:txBody>
      </p:sp>
      <p:pic>
        <p:nvPicPr>
          <p:cNvPr id="38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38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384"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5"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386"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87"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388"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50" b="0" u="none" strike="noStrike">
                <a:solidFill>
                  <a:srgbClr val="F1F5F9"/>
                </a:solidFill>
                <a:effectLst/>
                <a:uFillTx/>
                <a:latin typeface="Cantarell"/>
                <a:ea typeface="Cantarell"/>
              </a:rPr>
              <a:t>days = ["Monday", "Tuesday", "Wednesday",</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"Thursday", "Friday"]</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sales = [120, 150, 100, 180, 160]</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expenses = [80, 100, 90, 120, 110]</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plt.plot(days, sales, label="Sales")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plt.plot(days, expenses, label="Expenses")</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plt.title("Weekly Sales vs Expenses")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plt.xlabel("Weekdays")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plt.ylabel("Amount")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plt.legend()</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plt.show()</a:t>
            </a:r>
            <a:endParaRPr lang="en-US" sz="1250" b="0" u="none" strike="noStrike">
              <a:solidFill>
                <a:srgbClr val="000000"/>
              </a:solidFill>
              <a:effectLst/>
              <a:uFillTx/>
              <a:latin typeface="Arial"/>
            </a:endParaRPr>
          </a:p>
        </p:txBody>
      </p:sp>
      <p:sp>
        <p:nvSpPr>
          <p:cNvPr id="389" name="Shape 8"/>
          <p:cNvSpPr/>
          <p:nvPr/>
        </p:nvSpPr>
        <p:spPr>
          <a:xfrm>
            <a:off x="6172200" y="1691640"/>
            <a:ext cx="5485680" cy="3291120"/>
          </a:xfrm>
          <a:prstGeom prst="roundRect">
            <a:avLst>
              <a:gd name="adj" fmla="val 2778"/>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390" name="Image 1" descr="/home/claude/mpl/charts/line_sales.png"/>
          <p:cNvPicPr/>
          <p:nvPr/>
        </p:nvPicPr>
        <p:blipFill>
          <a:blip r:embed="rId2"/>
          <a:stretch/>
        </p:blipFill>
        <p:spPr>
          <a:xfrm>
            <a:off x="6282000" y="1801440"/>
            <a:ext cx="5266080" cy="2907000"/>
          </a:xfrm>
          <a:prstGeom prst="rect">
            <a:avLst/>
          </a:prstGeom>
          <a:noFill/>
          <a:ln w="0">
            <a:noFill/>
          </a:ln>
        </p:spPr>
      </p:pic>
      <p:sp>
        <p:nvSpPr>
          <p:cNvPr id="391" name="Text 9"/>
          <p:cNvSpPr/>
          <p:nvPr/>
        </p:nvSpPr>
        <p:spPr>
          <a:xfrm>
            <a:off x="6172200" y="4709160"/>
            <a:ext cx="548568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Two series, one Axes, one legend.</a:t>
            </a:r>
            <a:endParaRPr lang="en-US" sz="950" b="0" u="none" strike="noStrike">
              <a:solidFill>
                <a:srgbClr val="000000"/>
              </a:solidFill>
              <a:effectLst/>
              <a:uFillTx/>
              <a:latin typeface="Arial"/>
            </a:endParaRPr>
          </a:p>
        </p:txBody>
      </p:sp>
      <p:sp>
        <p:nvSpPr>
          <p:cNvPr id="392" name="Text 10"/>
          <p:cNvSpPr/>
          <p:nvPr/>
        </p:nvSpPr>
        <p:spPr>
          <a:xfrm>
            <a:off x="6172200" y="4983480"/>
            <a:ext cx="5485680" cy="8222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001"/>
              </a:spcAft>
              <a:buClr>
                <a:srgbClr val="1B1B20"/>
              </a:buClr>
              <a:buFont typeface="Symbol" charset="2"/>
              <a:buChar char=""/>
            </a:pPr>
            <a:r>
              <a:rPr lang="en-US" sz="1200" b="0" u="none" strike="noStrike">
                <a:solidFill>
                  <a:srgbClr val="1B1B20"/>
                </a:solidFill>
                <a:effectLst/>
                <a:uFillTx/>
                <a:latin typeface="Hanken Grotesk"/>
                <a:ea typeface="Hanken Grotesk"/>
              </a:rPr>
              <a:t>Calling plt.plot() twice draws two lines on the same Axes.</a:t>
            </a:r>
            <a:endParaRPr lang="en-US" sz="1200" b="0" u="none" strike="noStrike">
              <a:solidFill>
                <a:srgbClr val="000000"/>
              </a:solidFill>
              <a:effectLst/>
              <a:uFillTx/>
              <a:latin typeface="Arial"/>
            </a:endParaRPr>
          </a:p>
          <a:p>
            <a:pPr marL="228600" indent="-228600" defTabSz="914400">
              <a:lnSpc>
                <a:spcPct val="100000"/>
              </a:lnSpc>
              <a:spcAft>
                <a:spcPts val="1001"/>
              </a:spcAft>
              <a:buClr>
                <a:srgbClr val="1B1B20"/>
              </a:buClr>
              <a:buFont typeface="Symbol" charset="2"/>
              <a:buChar char=""/>
            </a:pPr>
            <a:r>
              <a:rPr lang="en-US" sz="1200" b="0" u="none" strike="noStrike">
                <a:solidFill>
                  <a:srgbClr val="1B1B20"/>
                </a:solidFill>
                <a:effectLst/>
                <a:uFillTx/>
                <a:latin typeface="Hanken Grotesk"/>
                <a:ea typeface="Hanken Grotesk"/>
              </a:rPr>
              <a:t>Each label= becomes an entry once you call plt.legend().</a:t>
            </a:r>
            <a:endParaRPr lang="en-US" sz="1200" b="0" u="none" strike="noStrike">
              <a:solidFill>
                <a:srgbClr val="000000"/>
              </a:solidFill>
              <a:effectLst/>
              <a:uFillTx/>
              <a:latin typeface="Arial"/>
            </a:endParaRPr>
          </a:p>
        </p:txBody>
      </p:sp>
      <p:sp>
        <p:nvSpPr>
          <p:cNvPr id="393" name="Text 11"/>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394"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395"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Color &amp; Line Style Options</a:t>
            </a:r>
            <a:endParaRPr lang="en-US" sz="2600" b="0" u="none" strike="noStrike">
              <a:solidFill>
                <a:srgbClr val="000000"/>
              </a:solidFill>
              <a:effectLst/>
              <a:uFillTx/>
              <a:latin typeface="Arial"/>
            </a:endParaRPr>
          </a:p>
        </p:txBody>
      </p:sp>
      <p:pic>
        <p:nvPicPr>
          <p:cNvPr id="39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397"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398" name="Table 0"/>
          <p:cNvGraphicFramePr/>
          <p:nvPr/>
        </p:nvGraphicFramePr>
        <p:xfrm>
          <a:off x="548640" y="1691640"/>
          <a:ext cx="5577120" cy="4021920"/>
        </p:xfrm>
        <a:graphic>
          <a:graphicData uri="http://schemas.openxmlformats.org/drawingml/2006/table">
            <a:tbl>
              <a:tblPr/>
              <a:tblGrid>
                <a:gridCol w="1784880"/>
                <a:gridCol w="3792600"/>
              </a:tblGrid>
              <a:tr h="57456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"red", "blue", "green"...</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Named colors — the simplest way to set 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"#5755A7"</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Hex codes — for precise, brand-exact colors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Solid line (the default)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Dashed line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Dotted line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Dash-dot line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399" name="Text 3"/>
          <p:cNvSpPr/>
          <p:nvPr/>
        </p:nvSpPr>
        <p:spPr>
          <a:xfrm>
            <a:off x="6446520" y="1691640"/>
            <a:ext cx="5211360" cy="39312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350" b="0" u="none" strike="noStrike">
                <a:solidFill>
                  <a:srgbClr val="1B1B20"/>
                </a:solidFill>
                <a:effectLst/>
                <a:uFillTx/>
                <a:latin typeface="Hanken Grotesk"/>
                <a:ea typeface="Hanken Grotesk"/>
              </a:rPr>
              <a:t>color= accepts a named color ("red") or a hex string ("#BE185D") — both work identically.</a:t>
            </a:r>
            <a:endParaRPr lang="en-US" sz="13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350" b="0" u="none" strike="noStrike">
                <a:solidFill>
                  <a:srgbClr val="1B1B20"/>
                </a:solidFill>
                <a:effectLst/>
                <a:uFillTx/>
                <a:latin typeface="Hanken Grotesk"/>
                <a:ea typeface="Hanken Grotesk"/>
              </a:rPr>
              <a:t>linestyle= changes how the connecting line looks without touching the data at all.</a:t>
            </a:r>
            <a:endParaRPr lang="en-US" sz="13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350" b="0" u="none" strike="noStrike">
                <a:solidFill>
                  <a:srgbClr val="1B1B20"/>
                </a:solidFill>
                <a:effectLst/>
                <a:uFillTx/>
                <a:latin typeface="Hanken Grotesk"/>
                <a:ea typeface="Hanken Grotesk"/>
              </a:rPr>
              <a:t>These two parameters alone are often enough to tell two lines apart at a glance — even before a legend.</a:t>
            </a:r>
            <a:endParaRPr lang="en-US" sz="1350" b="0" u="none" strike="noStrike">
              <a:solidFill>
                <a:srgbClr val="000000"/>
              </a:solidFill>
              <a:effectLst/>
              <a:uFillTx/>
              <a:latin typeface="Arial"/>
            </a:endParaRPr>
          </a:p>
        </p:txBody>
      </p:sp>
      <p:sp>
        <p:nvSpPr>
          <p:cNvPr id="400" name="Text 4"/>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01"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02"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Markers &amp; Line Width</a:t>
            </a:r>
            <a:endParaRPr lang="en-US" sz="2600" b="0" u="none" strike="noStrike">
              <a:solidFill>
                <a:srgbClr val="000000"/>
              </a:solidFill>
              <a:effectLst/>
              <a:uFillTx/>
              <a:latin typeface="Arial"/>
            </a:endParaRPr>
          </a:p>
        </p:txBody>
      </p:sp>
      <p:pic>
        <p:nvPicPr>
          <p:cNvPr id="403"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04"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405" name="Table 0"/>
          <p:cNvGraphicFramePr/>
          <p:nvPr/>
        </p:nvGraphicFramePr>
        <p:xfrm>
          <a:off x="548640" y="1691640"/>
          <a:ext cx="5577120" cy="4021920"/>
        </p:xfrm>
        <a:graphic>
          <a:graphicData uri="http://schemas.openxmlformats.org/drawingml/2006/table">
            <a:tbl>
              <a:tblPr/>
              <a:tblGrid>
                <a:gridCol w="1784880"/>
                <a:gridCol w="3792600"/>
              </a:tblGrid>
              <a:tr h="57456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"o"</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Circle 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"x"</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X 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Triangle 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Square 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markersize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Controls how big each marker is drawn</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linewidth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Controls how thick the connecting line is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406" name="Shape 3"/>
          <p:cNvSpPr/>
          <p:nvPr/>
        </p:nvSpPr>
        <p:spPr>
          <a:xfrm>
            <a:off x="6446520" y="1691640"/>
            <a:ext cx="5211360" cy="3931200"/>
          </a:xfrm>
          <a:prstGeom prst="roundRect">
            <a:avLst>
              <a:gd name="adj" fmla="val 279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7" name="Shape 4"/>
          <p:cNvSpPr/>
          <p:nvPr/>
        </p:nvSpPr>
        <p:spPr>
          <a:xfrm>
            <a:off x="661104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08" name="Shape 5"/>
          <p:cNvSpPr/>
          <p:nvPr/>
        </p:nvSpPr>
        <p:spPr>
          <a:xfrm>
            <a:off x="681228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09" name="Shape 6"/>
          <p:cNvSpPr/>
          <p:nvPr/>
        </p:nvSpPr>
        <p:spPr>
          <a:xfrm>
            <a:off x="701352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10" name="Text 7"/>
          <p:cNvSpPr/>
          <p:nvPr/>
        </p:nvSpPr>
        <p:spPr>
          <a:xfrm>
            <a:off x="6647760" y="2075760"/>
            <a:ext cx="4808880" cy="340092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plt.plot(</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x, y,</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color="red",</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linestyle=":",</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linewidth=2,</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marker="o",</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label="Sales"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a:t>
            </a:r>
            <a:endParaRPr lang="en-US" sz="1400" b="0" u="none" strike="noStrike">
              <a:solidFill>
                <a:srgbClr val="000000"/>
              </a:solidFill>
              <a:effectLst/>
              <a:uFillTx/>
              <a:latin typeface="Arial"/>
            </a:endParaRPr>
          </a:p>
        </p:txBody>
      </p:sp>
      <p:sp>
        <p:nvSpPr>
          <p:cNvPr id="411"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1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1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Marker Styling — Face, Edge &amp; Size</a:t>
            </a:r>
            <a:endParaRPr lang="en-US" sz="2600" b="0" u="none" strike="noStrike">
              <a:solidFill>
                <a:srgbClr val="000000"/>
              </a:solidFill>
              <a:effectLst/>
              <a:uFillTx/>
              <a:latin typeface="Arial"/>
            </a:endParaRPr>
          </a:p>
        </p:txBody>
      </p:sp>
      <p:pic>
        <p:nvPicPr>
          <p:cNvPr id="41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1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416" name="Table 0"/>
          <p:cNvGraphicFramePr/>
          <p:nvPr/>
        </p:nvGraphicFramePr>
        <p:xfrm>
          <a:off x="548640" y="1691640"/>
          <a:ext cx="5577120" cy="4021920"/>
        </p:xfrm>
        <a:graphic>
          <a:graphicData uri="http://schemas.openxmlformats.org/drawingml/2006/table">
            <a:tbl>
              <a:tblPr/>
              <a:tblGrid>
                <a:gridCol w="1784880"/>
                <a:gridCol w="3792600"/>
              </a:tblGrid>
              <a:tr h="57456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markersize (ms)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Size of the marker symbol, in points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markerfacecolor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Fill color inside the 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markeredgecolor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Color of the marker’s outline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markeredgewidth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Thickness of that outline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Symbol: o s * + x D ^ v &lt; &gt; p h . 1–4</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745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lw / ls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Shorthand for linewidth / linestyle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417" name="Shape 3"/>
          <p:cNvSpPr/>
          <p:nvPr/>
        </p:nvSpPr>
        <p:spPr>
          <a:xfrm>
            <a:off x="6446520" y="1691640"/>
            <a:ext cx="5211360" cy="3931200"/>
          </a:xfrm>
          <a:prstGeom prst="roundRect">
            <a:avLst>
              <a:gd name="adj" fmla="val 279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8" name="Shape 4"/>
          <p:cNvSpPr/>
          <p:nvPr/>
        </p:nvSpPr>
        <p:spPr>
          <a:xfrm>
            <a:off x="661104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19" name="Shape 5"/>
          <p:cNvSpPr/>
          <p:nvPr/>
        </p:nvSpPr>
        <p:spPr>
          <a:xfrm>
            <a:off x="681228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20" name="Shape 6"/>
          <p:cNvSpPr/>
          <p:nvPr/>
        </p:nvSpPr>
        <p:spPr>
          <a:xfrm>
            <a:off x="701352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21" name="Text 7"/>
          <p:cNvSpPr/>
          <p:nvPr/>
        </p:nvSpPr>
        <p:spPr>
          <a:xfrm>
            <a:off x="6647760" y="2075760"/>
            <a:ext cx="4808880" cy="340092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plt.plot(</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x, y,</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color="purple", lw=1, ls="-",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marker="s",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markersize=8,</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markerfacecolor="yellow",</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markeredgecolor="green",</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markeredgewidth=3,</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a:t>
            </a:r>
            <a:endParaRPr lang="en-US" sz="1400" b="0" u="none" strike="noStrike">
              <a:solidFill>
                <a:srgbClr val="000000"/>
              </a:solidFill>
              <a:effectLst/>
              <a:uFillTx/>
              <a:latin typeface="Arial"/>
            </a:endParaRPr>
          </a:p>
        </p:txBody>
      </p:sp>
      <p:sp>
        <p:nvSpPr>
          <p:cNvPr id="422"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23"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24"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Dashes, Draw Styles &amp; the Marker Catalog</a:t>
            </a:r>
            <a:endParaRPr lang="en-US" sz="2600" b="0" u="none" strike="noStrike">
              <a:solidFill>
                <a:srgbClr val="000000"/>
              </a:solidFill>
              <a:effectLst/>
              <a:uFillTx/>
              <a:latin typeface="Arial"/>
            </a:endParaRPr>
          </a:p>
        </p:txBody>
      </p:sp>
      <p:pic>
        <p:nvPicPr>
          <p:cNvPr id="425"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26"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427"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8"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29"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30"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31"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line, = ax.plot(x, y, color="black", lw=1.5)</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line.set_dashes([5, 50, 15, 50])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draw 5pt, skip 50, draw 15, skip 50...</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 y, drawstyle="steps-post")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staircase line</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 y, ls="-.", marker="D")</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markers: + o * s , . 1 2 3 4 D ^ v &lt; &gt; x p h</a:t>
            </a:r>
            <a:endParaRPr lang="en-US" sz="1300" b="0" u="none" strike="noStrike">
              <a:solidFill>
                <a:srgbClr val="000000"/>
              </a:solidFill>
              <a:effectLst/>
              <a:uFillTx/>
              <a:latin typeface="Arial"/>
            </a:endParaRPr>
          </a:p>
        </p:txBody>
      </p:sp>
      <p:sp>
        <p:nvSpPr>
          <p:cNvPr id="432" name="Text 8"/>
          <p:cNvSpPr/>
          <p:nvPr/>
        </p:nvSpPr>
        <p:spPr>
          <a:xfrm>
            <a:off x="6309360" y="1691640"/>
            <a:ext cx="53485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Four built-in line styles: "-" solid, "--" dashed, "-." dash-dot, ":" dotted. ls and lw are shorthand for linestyle and linewidth.</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For a custom pattern, grab the Line2D object (note the comma in line, = ax.plot(...)) and call set_dashes([on, off, on, off, ...]) — values are in points.</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"steps" is not a valid linestyle in current Matplotlib; use drawstyle="steps-post" (or "steps-pre", "steps-mid") for a staircase.</a:t>
            </a:r>
            <a:endParaRPr lang="en-US" sz="1300" b="0" u="none" strike="noStrike">
              <a:solidFill>
                <a:srgbClr val="000000"/>
              </a:solidFill>
              <a:effectLst/>
              <a:uFillTx/>
              <a:latin typeface="Arial"/>
            </a:endParaRPr>
          </a:p>
        </p:txBody>
      </p:sp>
      <p:sp>
        <p:nvSpPr>
          <p:cNvPr id="433"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34"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35"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Everything at Once — 16 Styled Lines</a:t>
            </a:r>
            <a:endParaRPr lang="en-US" sz="2600" b="0" u="none" strike="noStrike">
              <a:solidFill>
                <a:srgbClr val="000000"/>
              </a:solidFill>
              <a:effectLst/>
              <a:uFillTx/>
              <a:latin typeface="Arial"/>
            </a:endParaRPr>
          </a:p>
        </p:txBody>
      </p:sp>
      <p:pic>
        <p:nvPicPr>
          <p:cNvPr id="43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37"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438"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9"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40"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41"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42"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fig, ax = plt.subplots(figsize=(12, 6))</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ax.plot(xaxis, xaxis*1, color="red", lw=0.25)</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ax.plot(xaxis, xaxis*5, color="green",</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lw=3, ls="-.")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ax.plot(xaxis, xaxis*10, color="blue",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lw=3, ls="--", marker="o")</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ax.plot(xaxis, xaxis*16, color="purple",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lw=1, marker="s", markersize=8,</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markerfacecolor="yellow",</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markeredgewidth=3,</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markeredgecolor="green")</a:t>
            </a:r>
            <a:endParaRPr lang="en-US" sz="1300" b="0" u="none" strike="noStrike">
              <a:solidFill>
                <a:srgbClr val="000000"/>
              </a:solidFill>
              <a:effectLst/>
              <a:uFillTx/>
              <a:latin typeface="Arial"/>
            </a:endParaRPr>
          </a:p>
        </p:txBody>
      </p:sp>
      <p:sp>
        <p:nvSpPr>
          <p:cNvPr id="443" name="Text 8"/>
          <p:cNvSpPr/>
          <p:nvPr/>
        </p:nvSpPr>
        <p:spPr>
          <a:xfrm>
            <a:off x="6309360" y="4475880"/>
            <a:ext cx="5348520" cy="1421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Real output of the notebook’s 16-line demo: widths, line styles, markers and marker colors on a single Axes.</a:t>
            </a:r>
            <a:endParaRPr lang="en-US" sz="1300" b="0" u="none" strike="noStrike">
              <a:solidFill>
                <a:srgbClr val="000000"/>
              </a:solidFill>
              <a:effectLst/>
              <a:uFillTx/>
              <a:latin typeface="Arial"/>
            </a:endParaRPr>
          </a:p>
        </p:txBody>
      </p:sp>
      <p:sp>
        <p:nvSpPr>
          <p:cNvPr id="444"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25</a:t>
            </a:r>
            <a:endParaRPr lang="en-US" sz="900" b="0" u="none" strike="noStrike">
              <a:solidFill>
                <a:srgbClr val="000000"/>
              </a:solidFill>
              <a:effectLst/>
              <a:uFillTx/>
              <a:latin typeface="Arial"/>
            </a:endParaRPr>
          </a:p>
        </p:txBody>
      </p:sp>
      <p:pic>
        <p:nvPicPr>
          <p:cNvPr id="445" name="Picture 1018" descr="lines16.png"/>
          <p:cNvPicPr/>
          <p:nvPr/>
        </p:nvPicPr>
        <p:blipFill>
          <a:blip r:embed="rId2"/>
          <a:stretch/>
        </p:blipFill>
        <p:spPr>
          <a:xfrm>
            <a:off x="6309360" y="1691640"/>
            <a:ext cx="5348880" cy="2674440"/>
          </a:xfrm>
          <a:prstGeom prst="rect">
            <a:avLst/>
          </a:prstGeom>
          <a:noFill/>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4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4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Putting It All Together</a:t>
            </a:r>
            <a:endParaRPr lang="en-US" sz="2600" b="0" u="none" strike="noStrike">
              <a:solidFill>
                <a:srgbClr val="000000"/>
              </a:solidFill>
              <a:effectLst/>
              <a:uFillTx/>
              <a:latin typeface="Arial"/>
            </a:endParaRPr>
          </a:p>
        </p:txBody>
      </p:sp>
      <p:pic>
        <p:nvPicPr>
          <p:cNvPr id="44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4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450"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1"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52"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53"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54"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150" b="0" u="none" strike="noStrike">
                <a:solidFill>
                  <a:srgbClr val="F1F5F9"/>
                </a:solidFill>
                <a:effectLst/>
                <a:uFillTx/>
                <a:latin typeface="Cantarell"/>
                <a:ea typeface="Cantarell"/>
              </a:rPr>
              <a:t>plt.plot(months, sales, color="red",</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linestyle=":", linewidth=2,</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marker="o", label="Sales")</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plt.plot(months, expenses, color="blue",</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linestyle=":", linewidth=2,</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marker="o", label="Expenses")</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plt.title("Monthly Sales and Expenses")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plt.xlabel("Quarters")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plt.ylabel("Amount")</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plt.legend(loc="lower right")</a:t>
            </a:r>
            <a:endParaRPr lang="en-US" sz="1150" b="0" u="none" strike="noStrike">
              <a:solidFill>
                <a:srgbClr val="000000"/>
              </a:solidFill>
              <a:effectLst/>
              <a:uFillTx/>
              <a:latin typeface="Arial"/>
            </a:endParaRPr>
          </a:p>
        </p:txBody>
      </p:sp>
      <p:sp>
        <p:nvSpPr>
          <p:cNvPr id="455" name="Shape 8"/>
          <p:cNvSpPr/>
          <p:nvPr/>
        </p:nvSpPr>
        <p:spPr>
          <a:xfrm>
            <a:off x="6172200" y="1691640"/>
            <a:ext cx="5485680" cy="3565440"/>
          </a:xfrm>
          <a:prstGeom prst="roundRect">
            <a:avLst>
              <a:gd name="adj" fmla="val 2564"/>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456" name="Image 1" descr="/home/claude/mpl/charts/line_sales.png"/>
          <p:cNvPicPr/>
          <p:nvPr/>
        </p:nvPicPr>
        <p:blipFill>
          <a:blip r:embed="rId2"/>
          <a:stretch/>
        </p:blipFill>
        <p:spPr>
          <a:xfrm>
            <a:off x="6282000" y="1801440"/>
            <a:ext cx="5266080" cy="3181320"/>
          </a:xfrm>
          <a:prstGeom prst="rect">
            <a:avLst/>
          </a:prstGeom>
          <a:noFill/>
          <a:ln w="0">
            <a:noFill/>
          </a:ln>
        </p:spPr>
      </p:pic>
      <p:sp>
        <p:nvSpPr>
          <p:cNvPr id="457" name="Text 9"/>
          <p:cNvSpPr/>
          <p:nvPr/>
        </p:nvSpPr>
        <p:spPr>
          <a:xfrm>
            <a:off x="6172200" y="4983480"/>
            <a:ext cx="548568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color + linestyle + marker + label, combined.</a:t>
            </a:r>
            <a:endParaRPr lang="en-US" sz="950" b="0" u="none" strike="noStrike">
              <a:solidFill>
                <a:srgbClr val="000000"/>
              </a:solidFill>
              <a:effectLst/>
              <a:uFillTx/>
              <a:latin typeface="Arial"/>
            </a:endParaRPr>
          </a:p>
        </p:txBody>
      </p:sp>
      <p:sp>
        <p:nvSpPr>
          <p:cNvPr id="458"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59"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60"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Titles, Labels &amp; Legend Placement</a:t>
            </a:r>
            <a:endParaRPr lang="en-US" sz="2600" b="0" u="none" strike="noStrike">
              <a:solidFill>
                <a:srgbClr val="000000"/>
              </a:solidFill>
              <a:effectLst/>
              <a:uFillTx/>
              <a:latin typeface="Arial"/>
            </a:endParaRPr>
          </a:p>
        </p:txBody>
      </p:sp>
      <p:pic>
        <p:nvPicPr>
          <p:cNvPr id="46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62"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463" name="Table 0"/>
          <p:cNvGraphicFramePr/>
          <p:nvPr/>
        </p:nvGraphicFramePr>
        <p:xfrm>
          <a:off x="548640" y="1691640"/>
          <a:ext cx="11109240" cy="3913200"/>
        </p:xfrm>
        <a:graphic>
          <a:graphicData uri="http://schemas.openxmlformats.org/drawingml/2006/table">
            <a:tbl>
              <a:tblPr/>
              <a:tblGrid>
                <a:gridCol w="3555000"/>
                <a:gridCol w="7554600"/>
              </a:tblGrid>
              <a:tr h="5616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plt.title("...")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Sets the chart's overall title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plt.xlabel("...")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Names what the X-axis represents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plt.ylabel("...")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Names what the Y-axis represents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43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plt.legend()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Draws the legend using each 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plt.legend(loc="upper left")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Places the legend in a specific corner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plt.legend(loc="best")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Lets Matplotlib pick the least crowded spot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464"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6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6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Styling Text — fontsize, fontweight, pad</a:t>
            </a:r>
            <a:endParaRPr lang="en-US" sz="2600" b="0" u="none" strike="noStrike">
              <a:solidFill>
                <a:srgbClr val="000000"/>
              </a:solidFill>
              <a:effectLst/>
              <a:uFillTx/>
              <a:latin typeface="Arial"/>
            </a:endParaRPr>
          </a:p>
        </p:txBody>
      </p:sp>
      <p:pic>
        <p:nvPicPr>
          <p:cNvPr id="46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6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469"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0"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71"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72"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73"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plt.title(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"Product Sale Comparison",</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fontweight="bold",</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fontsize=14,</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pad=15,</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color="#3A3C3A",</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plt.xlabel("Product", color="#333333")</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plt.ylabel("Sales", color="#333333")</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plt.tight_layout()</a:t>
            </a:r>
            <a:endParaRPr lang="en-US" sz="1300" b="0" u="none" strike="noStrike">
              <a:solidFill>
                <a:srgbClr val="000000"/>
              </a:solidFill>
              <a:effectLst/>
              <a:uFillTx/>
              <a:latin typeface="Arial"/>
            </a:endParaRPr>
          </a:p>
        </p:txBody>
      </p:sp>
      <p:sp>
        <p:nvSpPr>
          <p:cNvPr id="474" name="Text 8"/>
          <p:cNvSpPr/>
          <p:nvPr/>
        </p:nvSpPr>
        <p:spPr>
          <a:xfrm>
            <a:off x="6309360" y="1691640"/>
            <a:ext cx="53485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Text functions — title(), xlabel(), ylabel() — accept style arguments: fontsize, fontweight ("bold"), and color (a name or hex code).</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pad= adds space (in points) between the title and the plot, so a bold title doesn’t crowd the top edge.</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tight_layout() adjusts spacing so labels and titles don’t overlap or get cut off — call it just before show() or savefig().</a:t>
            </a:r>
            <a:endParaRPr lang="en-US" sz="1300" b="0" u="none" strike="noStrike">
              <a:solidFill>
                <a:srgbClr val="000000"/>
              </a:solidFill>
              <a:effectLst/>
              <a:uFillTx/>
              <a:latin typeface="Arial"/>
            </a:endParaRPr>
          </a:p>
        </p:txBody>
      </p:sp>
      <p:sp>
        <p:nvSpPr>
          <p:cNvPr id="475"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7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7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Controlling Ticks: xticks() &amp; yticks()</a:t>
            </a:r>
            <a:endParaRPr lang="en-US" sz="2600" b="0" u="none" strike="noStrike">
              <a:solidFill>
                <a:srgbClr val="000000"/>
              </a:solidFill>
              <a:effectLst/>
              <a:uFillTx/>
              <a:latin typeface="Arial"/>
            </a:endParaRPr>
          </a:p>
        </p:txBody>
      </p:sp>
      <p:pic>
        <p:nvPicPr>
          <p:cNvPr id="47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7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480" name="Shape 3"/>
          <p:cNvSpPr/>
          <p:nvPr/>
        </p:nvSpPr>
        <p:spPr>
          <a:xfrm>
            <a:off x="548640" y="1691640"/>
            <a:ext cx="5211360" cy="3931200"/>
          </a:xfrm>
          <a:prstGeom prst="roundRect">
            <a:avLst>
              <a:gd name="adj" fmla="val 279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1"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82"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83"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484" name="Text 7"/>
          <p:cNvSpPr/>
          <p:nvPr/>
        </p:nvSpPr>
        <p:spPr>
          <a:xfrm>
            <a:off x="749880" y="2075760"/>
            <a:ext cx="4808880" cy="340092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plt.xticks(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[0, 3, 6, 9],</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["Q1", "Q2", "Q3", "Q4"]</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plt.yticks(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[50, 150, 250, 350],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["50-150", "150-250",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"250-350", "350+"]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p:txBody>
      </p:sp>
      <p:sp>
        <p:nvSpPr>
          <p:cNvPr id="485" name="Text 8"/>
          <p:cNvSpPr/>
          <p:nvPr/>
        </p:nvSpPr>
        <p:spPr>
          <a:xfrm>
            <a:off x="6035040" y="1691640"/>
            <a:ext cx="5622840" cy="39312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By default, ticks are placed automatically at even, readable intervals.</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Pass a list of positions plus a list of custom labels to relabel any tick — great for grouping 12 months into 4 quarters.</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The position list and label list must be the same length, matched one-to-one.</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Useful for renaming raw values into ranges or categories readers understand instantly.</a:t>
            </a:r>
            <a:endParaRPr lang="en-US" sz="1300" b="0" u="none" strike="noStrike">
              <a:solidFill>
                <a:srgbClr val="000000"/>
              </a:solidFill>
              <a:effectLst/>
              <a:uFillTx/>
              <a:latin typeface="Arial"/>
            </a:endParaRPr>
          </a:p>
        </p:txBody>
      </p:sp>
      <p:sp>
        <p:nvSpPr>
          <p:cNvPr id="486"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29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87"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88"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The Grid — plt.grid()</a:t>
            </a:r>
            <a:endParaRPr lang="en-US" sz="2600" b="0" u="none" strike="noStrike">
              <a:solidFill>
                <a:srgbClr val="000000"/>
              </a:solidFill>
              <a:effectLst/>
              <a:uFillTx/>
              <a:latin typeface="Arial"/>
            </a:endParaRPr>
          </a:p>
        </p:txBody>
      </p:sp>
      <p:pic>
        <p:nvPicPr>
          <p:cNvPr id="489"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90"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491" name="Table 0"/>
          <p:cNvGraphicFramePr/>
          <p:nvPr/>
        </p:nvGraphicFramePr>
        <p:xfrm>
          <a:off x="548640" y="1691640"/>
          <a:ext cx="11109240" cy="3931200"/>
        </p:xfrm>
        <a:graphic>
          <a:graphicData uri="http://schemas.openxmlformats.org/drawingml/2006/table">
            <a:tbl>
              <a:tblPr/>
              <a:tblGrid>
                <a:gridCol w="3555000"/>
                <a:gridCol w="7554600"/>
              </a:tblGrid>
              <a:tr h="5616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plt.grid()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Turns the grid on (default style)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plt.grid(False)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Turns the grid off</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axis="x" / "y" / "both"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Show only vertical, only horizontal, or both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linestyle=":"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Style of the grid lines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linewidth=0.5</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Thickness of the grid lines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alpha=0.5</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Transparency of the grid lines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492"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493"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494"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Setting the Range: plt.ylim()</a:t>
            </a:r>
            <a:endParaRPr lang="en-US" sz="2600" b="0" u="none" strike="noStrike">
              <a:solidFill>
                <a:srgbClr val="000000"/>
              </a:solidFill>
              <a:effectLst/>
              <a:uFillTx/>
              <a:latin typeface="Arial"/>
            </a:endParaRPr>
          </a:p>
        </p:txBody>
      </p:sp>
      <p:pic>
        <p:nvPicPr>
          <p:cNvPr id="495"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496"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497" name="Shape 3"/>
          <p:cNvSpPr/>
          <p:nvPr/>
        </p:nvSpPr>
        <p:spPr>
          <a:xfrm>
            <a:off x="548640" y="1691640"/>
            <a:ext cx="5211360" cy="2010960"/>
          </a:xfrm>
          <a:prstGeom prst="roundRect">
            <a:avLst>
              <a:gd name="adj" fmla="val 5455"/>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8"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499"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00"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01" name="Text 7"/>
          <p:cNvSpPr/>
          <p:nvPr/>
        </p:nvSpPr>
        <p:spPr>
          <a:xfrm>
            <a:off x="749880" y="2075760"/>
            <a:ext cx="4808880" cy="148068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plt.ylim(0, 350)</a:t>
            </a:r>
            <a:endParaRPr lang="en-US" sz="1400" b="0" u="none" strike="noStrike">
              <a:solidFill>
                <a:srgbClr val="000000"/>
              </a:solidFill>
              <a:effectLst/>
              <a:uFillTx/>
              <a:latin typeface="Arial"/>
            </a:endParaRPr>
          </a:p>
          <a:p>
            <a:pPr defTabSz="914400">
              <a:lnSpc>
                <a:spcPct val="118000"/>
              </a:lnSpc>
              <a:tabLst>
                <a:tab pos="0" algn="l"/>
              </a:tabLst>
            </a:pP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also available:</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plt.xlim(min_val, max_val)</a:t>
            </a:r>
            <a:endParaRPr lang="en-US" sz="1400" b="0" u="none" strike="noStrike">
              <a:solidFill>
                <a:srgbClr val="000000"/>
              </a:solidFill>
              <a:effectLst/>
              <a:uFillTx/>
              <a:latin typeface="Arial"/>
            </a:endParaRPr>
          </a:p>
        </p:txBody>
      </p:sp>
      <p:sp>
        <p:nvSpPr>
          <p:cNvPr id="502" name="Text 8"/>
          <p:cNvSpPr/>
          <p:nvPr/>
        </p:nvSpPr>
        <p:spPr>
          <a:xfrm>
            <a:off x="548640" y="3886200"/>
            <a:ext cx="5211360" cy="182808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plt.ylim(min, max) fixes the visible Y-axis range instead of letting Matplotlib auto-scale it.</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Useful for keeping axis ranges consistent when comparing several charts side by side.</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plt.xlim() does the same thing for the X-axis.</a:t>
            </a:r>
            <a:endParaRPr lang="en-US" sz="1300" b="0" u="none" strike="noStrike">
              <a:solidFill>
                <a:srgbClr val="000000"/>
              </a:solidFill>
              <a:effectLst/>
              <a:uFillTx/>
              <a:latin typeface="Arial"/>
            </a:endParaRPr>
          </a:p>
        </p:txBody>
      </p:sp>
      <p:sp>
        <p:nvSpPr>
          <p:cNvPr id="503" name="Shape 9"/>
          <p:cNvSpPr/>
          <p:nvPr/>
        </p:nvSpPr>
        <p:spPr>
          <a:xfrm>
            <a:off x="6035040" y="1691640"/>
            <a:ext cx="562284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04" name="Image 1" descr="/home/claude/mpl/charts/line_sales.png"/>
          <p:cNvPicPr/>
          <p:nvPr/>
        </p:nvPicPr>
        <p:blipFill>
          <a:blip r:embed="rId2"/>
          <a:stretch/>
        </p:blipFill>
        <p:spPr>
          <a:xfrm>
            <a:off x="6144840" y="1801440"/>
            <a:ext cx="5403240" cy="3638520"/>
          </a:xfrm>
          <a:prstGeom prst="rect">
            <a:avLst/>
          </a:prstGeom>
          <a:noFill/>
          <a:ln w="0">
            <a:noFill/>
          </a:ln>
        </p:spPr>
      </p:pic>
      <p:sp>
        <p:nvSpPr>
          <p:cNvPr id="505" name="Text 10"/>
          <p:cNvSpPr/>
          <p:nvPr/>
        </p:nvSpPr>
        <p:spPr>
          <a:xfrm>
            <a:off x="6035040" y="5440680"/>
            <a:ext cx="562284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ylim(0, 350) keeps the chart's scale predictable.</a:t>
            </a:r>
            <a:endParaRPr lang="en-US" sz="950" b="0" u="none" strike="noStrike">
              <a:solidFill>
                <a:srgbClr val="000000"/>
              </a:solidFill>
              <a:effectLst/>
              <a:uFillTx/>
              <a:latin typeface="Arial"/>
            </a:endParaRPr>
          </a:p>
        </p:txBody>
      </p:sp>
      <p:sp>
        <p:nvSpPr>
          <p:cNvPr id="506" name="Text 11"/>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07"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8"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509"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3 · PYPLOT</a:t>
            </a:r>
            <a:endParaRPr lang="en-US" sz="1100" b="0" u="none" strike="noStrike">
              <a:solidFill>
                <a:srgbClr val="000000"/>
              </a:solidFill>
              <a:effectLst/>
              <a:uFillTx/>
              <a:latin typeface="Arial"/>
            </a:endParaRPr>
          </a:p>
        </p:txBody>
      </p:sp>
      <p:sp>
        <p:nvSpPr>
          <p:cNvPr id="510"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Pyplot &amp; Line Plots</a:t>
            </a:r>
            <a:endParaRPr lang="en-US" sz="2300" b="0" u="none" strike="noStrike">
              <a:solidFill>
                <a:srgbClr val="000000"/>
              </a:solidFill>
              <a:effectLst/>
              <a:uFillTx/>
              <a:latin typeface="Arial"/>
            </a:endParaRPr>
          </a:p>
        </p:txBody>
      </p:sp>
      <p:sp>
        <p:nvSpPr>
          <p:cNvPr id="511"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512"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3"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4"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515"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Plot monthly expenses vs. income as two lines, then restyle one with a dashed line, square markers, a yellow marker face, and a thick green marker edge.</a:t>
            </a:r>
            <a:endParaRPr lang="en-US" sz="1300" b="0" u="none" strike="noStrike">
              <a:solidFill>
                <a:srgbClr val="000000"/>
              </a:solidFill>
              <a:effectLst/>
              <a:uFillTx/>
              <a:latin typeface="Arial"/>
            </a:endParaRPr>
          </a:p>
        </p:txBody>
      </p:sp>
      <p:sp>
        <p:nvSpPr>
          <p:cNvPr id="516"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7"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8"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519"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Add a legend, title, and axis labels to the chart above.</a:t>
            </a:r>
            <a:endParaRPr lang="en-US" sz="1300" b="0" u="none" strike="noStrike">
              <a:solidFill>
                <a:srgbClr val="000000"/>
              </a:solidFill>
              <a:effectLst/>
              <a:uFillTx/>
              <a:latin typeface="Arial"/>
            </a:endParaRPr>
          </a:p>
        </p:txBody>
      </p:sp>
      <p:sp>
        <p:nvSpPr>
          <p:cNvPr id="520"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1"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2"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523"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Relabel your X-axis ticks to show quarters instead of individual months.</a:t>
            </a:r>
            <a:endParaRPr lang="en-US" sz="1300" b="0" u="none" strike="noStrike">
              <a:solidFill>
                <a:srgbClr val="000000"/>
              </a:solidFill>
              <a:effectLst/>
              <a:uFillTx/>
              <a:latin typeface="Arial"/>
            </a:endParaRPr>
          </a:p>
        </p:txBody>
      </p:sp>
      <p:sp>
        <p:nvSpPr>
          <p:cNvPr id="524"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5"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6"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527"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Fix the Y-axis range with plt.ylim() so two related charts stay visually comparable.</a:t>
            </a:r>
            <a:endParaRPr lang="en-US" sz="1300" b="0" u="none" strike="noStrike">
              <a:solidFill>
                <a:srgbClr val="000000"/>
              </a:solidFill>
              <a:effectLst/>
              <a:uFillTx/>
              <a:latin typeface="Arial"/>
            </a:endParaRPr>
          </a:p>
        </p:txBody>
      </p:sp>
      <p:pic>
        <p:nvPicPr>
          <p:cNvPr id="52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529"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530"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531"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2"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33" name="Image 0" descr="/home/claude/mpl/assets/logo_icon.png"/>
          <p:cNvPicPr/>
          <p:nvPr/>
        </p:nvPicPr>
        <p:blipFill>
          <a:blip r:embed="rId1"/>
          <a:stretch/>
        </p:blipFill>
        <p:spPr>
          <a:xfrm>
            <a:off x="640080" y="548640"/>
            <a:ext cx="438120" cy="525960"/>
          </a:xfrm>
          <a:prstGeom prst="rect">
            <a:avLst/>
          </a:prstGeom>
          <a:noFill/>
          <a:ln w="0">
            <a:noFill/>
          </a:ln>
        </p:spPr>
      </p:pic>
      <p:sp>
        <p:nvSpPr>
          <p:cNvPr id="534"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4 · BAR CHARTS</a:t>
            </a:r>
            <a:endParaRPr lang="en-US" sz="1400" b="0" u="none" strike="noStrike">
              <a:solidFill>
                <a:srgbClr val="FFFFFF"/>
              </a:solidFill>
              <a:effectLst/>
              <a:uFillTx/>
              <a:latin typeface="Arial"/>
            </a:endParaRPr>
          </a:p>
        </p:txBody>
      </p:sp>
      <p:sp>
        <p:nvSpPr>
          <p:cNvPr id="535"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Bar Charts</a:t>
            </a:r>
            <a:endParaRPr lang="en-US" sz="4000" b="0" u="none" strike="noStrike">
              <a:solidFill>
                <a:srgbClr val="FFFFFF"/>
              </a:solidFill>
              <a:effectLst/>
              <a:uFillTx/>
              <a:latin typeface="Arial"/>
            </a:endParaRPr>
          </a:p>
        </p:txBody>
      </p:sp>
      <p:sp>
        <p:nvSpPr>
          <p:cNvPr id="536"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Comparing categories side by side with plt.bar() and plt.barh().</a:t>
            </a:r>
            <a:endParaRPr lang="en-US" sz="1500" b="0" u="none" strike="noStrike">
              <a:solidFill>
                <a:srgbClr val="FFFFFF"/>
              </a:solidFill>
              <a:effectLst/>
              <a:uFillTx/>
              <a:latin typeface="Arial"/>
            </a:endParaRPr>
          </a:p>
        </p:txBody>
      </p:sp>
      <p:sp>
        <p:nvSpPr>
          <p:cNvPr id="537"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33</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38"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4 · BAR CHARTS</a:t>
            </a:r>
            <a:endParaRPr lang="en-US" sz="1100" b="0" u="none" strike="noStrike">
              <a:solidFill>
                <a:srgbClr val="000000"/>
              </a:solidFill>
              <a:effectLst/>
              <a:uFillTx/>
              <a:latin typeface="Arial"/>
            </a:endParaRPr>
          </a:p>
        </p:txBody>
      </p:sp>
      <p:sp>
        <p:nvSpPr>
          <p:cNvPr id="539"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Anatomy of plt.bar()</a:t>
            </a:r>
            <a:endParaRPr lang="en-US" sz="2600" b="0" u="none" strike="noStrike">
              <a:solidFill>
                <a:srgbClr val="000000"/>
              </a:solidFill>
              <a:effectLst/>
              <a:uFillTx/>
              <a:latin typeface="Arial"/>
            </a:endParaRPr>
          </a:p>
        </p:txBody>
      </p:sp>
      <p:pic>
        <p:nvPicPr>
          <p:cNvPr id="54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541"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542" name="Shape 3"/>
          <p:cNvSpPr/>
          <p:nvPr/>
        </p:nvSpPr>
        <p:spPr>
          <a:xfrm>
            <a:off x="548640" y="1691640"/>
            <a:ext cx="5028480" cy="3382560"/>
          </a:xfrm>
          <a:prstGeom prst="roundRect">
            <a:avLst>
              <a:gd name="adj" fmla="val 3243"/>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3"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544"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45"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46" name="Text 7"/>
          <p:cNvSpPr/>
          <p:nvPr/>
        </p:nvSpPr>
        <p:spPr>
          <a:xfrm>
            <a:off x="749880" y="2075760"/>
            <a:ext cx="4626000" cy="285228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plt.bar(</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x,        # category positions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height,   # bar values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color="color_name",</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width=value,</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label="label_name"</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a:t>
            </a:r>
            <a:endParaRPr lang="en-US" sz="1400" b="0" u="none" strike="noStrike">
              <a:solidFill>
                <a:srgbClr val="000000"/>
              </a:solidFill>
              <a:effectLst/>
              <a:uFillTx/>
              <a:latin typeface="Arial"/>
            </a:endParaRPr>
          </a:p>
        </p:txBody>
      </p:sp>
      <p:graphicFrame>
        <p:nvGraphicFramePr>
          <p:cNvPr id="547" name="Table 0"/>
          <p:cNvGraphicFramePr/>
          <p:nvPr/>
        </p:nvGraphicFramePr>
        <p:xfrm>
          <a:off x="5806440" y="1691640"/>
          <a:ext cx="5851440" cy="3382560"/>
        </p:xfrm>
        <a:graphic>
          <a:graphicData uri="http://schemas.openxmlformats.org/drawingml/2006/table">
            <a:tbl>
              <a:tblPr/>
              <a:tblGrid>
                <a:gridCol w="1872360"/>
                <a:gridCol w="3979440"/>
              </a:tblGrid>
              <a:tr h="56376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637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x</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Category names or positions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37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height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Values represented by each bar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37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Bar fill 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37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width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How wide each bar is drawn</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37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 used in the legend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548"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49"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4 </a:t>
            </a:r>
            <a:r>
              <a:rPr lang="en-US" sz="1100" b="1" u="none" spc="201" strike="noStrike">
                <a:solidFill>
                  <a:srgbClr val="5755A7"/>
                </a:solidFill>
                <a:effectLst/>
                <a:uFillTx/>
                <a:latin typeface="Plus Jakarta Sans"/>
                <a:ea typeface="Plus Jakarta Sans"/>
              </a:rPr>
              <a:t>· BAR </a:t>
            </a:r>
            <a:r>
              <a:rPr lang="en-US" sz="1100" b="1" u="none" spc="201" strike="noStrike">
                <a:solidFill>
                  <a:srgbClr val="5755A7"/>
                </a:solidFill>
                <a:effectLst/>
                <a:uFillTx/>
                <a:latin typeface="Plus Jakarta Sans"/>
                <a:ea typeface="Plus Jakarta Sans"/>
              </a:rPr>
              <a:t>CHART</a:t>
            </a:r>
            <a:r>
              <a:rPr lang="en-US" sz="1100" b="1" u="none" spc="201" strike="noStrike">
                <a:solidFill>
                  <a:srgbClr val="5755A7"/>
                </a:solidFill>
                <a:effectLst/>
                <a:uFillTx/>
                <a:latin typeface="Plus Jakarta Sans"/>
                <a:ea typeface="Plus Jakarta Sans"/>
              </a:rPr>
              <a:t>S</a:t>
            </a:r>
            <a:endParaRPr lang="en-US" sz="1100" b="0" u="none" strike="noStrike">
              <a:solidFill>
                <a:srgbClr val="000000"/>
              </a:solidFill>
              <a:effectLst/>
              <a:uFillTx/>
              <a:latin typeface="Arial"/>
            </a:endParaRPr>
          </a:p>
        </p:txBody>
      </p:sp>
      <p:sp>
        <p:nvSpPr>
          <p:cNvPr id="550"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Grouped Bars — Comparing Two Series</a:t>
            </a:r>
            <a:endParaRPr lang="en-US" sz="2600" b="0" u="none" strike="noStrike">
              <a:solidFill>
                <a:srgbClr val="000000"/>
              </a:solidFill>
              <a:effectLst/>
              <a:uFillTx/>
              <a:latin typeface="Arial"/>
            </a:endParaRPr>
          </a:p>
        </p:txBody>
      </p:sp>
      <p:pic>
        <p:nvPicPr>
          <p:cNvPr id="55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552"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553" name="Shape 3"/>
          <p:cNvSpPr/>
          <p:nvPr/>
        </p:nvSpPr>
        <p:spPr>
          <a:xfrm>
            <a:off x="548640" y="1691640"/>
            <a:ext cx="539424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54"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555"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56"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57" name="Text 7"/>
          <p:cNvSpPr/>
          <p:nvPr/>
        </p:nvSpPr>
        <p:spPr>
          <a:xfrm>
            <a:off x="749880" y="2075760"/>
            <a:ext cx="499176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00" b="0" u="none" strike="noStrike">
                <a:solidFill>
                  <a:srgbClr val="F1F5F9"/>
                </a:solidFill>
                <a:effectLst/>
                <a:uFillTx/>
                <a:latin typeface="Cantarell"/>
                <a:ea typeface="Cantarell"/>
              </a:rPr>
              <a:t>x = np.arange(len(products))</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width = 0.4</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plt.bar(x - width/2, sales_2026,</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width=width, color="orange",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label="Sales 2026")</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plt.bar(x + width/2, sales_2025,</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width=width, color="blue",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label="Sales 2025")</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plt.xticks(x, products)</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plt.legend()</a:t>
            </a:r>
            <a:endParaRPr lang="en-US" sz="1200" b="0" u="none" strike="noStrike">
              <a:solidFill>
                <a:srgbClr val="000000"/>
              </a:solidFill>
              <a:effectLst/>
              <a:uFillTx/>
              <a:latin typeface="Arial"/>
            </a:endParaRPr>
          </a:p>
        </p:txBody>
      </p:sp>
      <p:sp>
        <p:nvSpPr>
          <p:cNvPr id="558" name="Shape 8"/>
          <p:cNvSpPr/>
          <p:nvPr/>
        </p:nvSpPr>
        <p:spPr>
          <a:xfrm>
            <a:off x="6172200" y="1691640"/>
            <a:ext cx="5485680" cy="3291120"/>
          </a:xfrm>
          <a:prstGeom prst="roundRect">
            <a:avLst>
              <a:gd name="adj" fmla="val 2778"/>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59" name="Image 1" descr="/home/claude/mpl/charts/bar_grouped.png"/>
          <p:cNvPicPr/>
          <p:nvPr/>
        </p:nvPicPr>
        <p:blipFill>
          <a:blip r:embed="rId2"/>
          <a:stretch/>
        </p:blipFill>
        <p:spPr>
          <a:xfrm>
            <a:off x="6282000" y="1801440"/>
            <a:ext cx="5266080" cy="3071520"/>
          </a:xfrm>
          <a:prstGeom prst="rect">
            <a:avLst/>
          </a:prstGeom>
          <a:noFill/>
          <a:ln w="0">
            <a:noFill/>
          </a:ln>
        </p:spPr>
      </p:pic>
      <p:sp>
        <p:nvSpPr>
          <p:cNvPr id="560" name="Text 9"/>
          <p:cNvSpPr/>
          <p:nvPr/>
        </p:nvSpPr>
        <p:spPr>
          <a:xfrm>
            <a:off x="6172200" y="5074920"/>
            <a:ext cx="548568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50" b="0" i="1" u="none" strike="noStrike">
                <a:solidFill>
                  <a:srgbClr val="474651"/>
                </a:solidFill>
                <a:effectLst/>
                <a:uFillTx/>
                <a:latin typeface="Hanken Grotesk"/>
                <a:ea typeface="Hanken Grotesk"/>
              </a:rPr>
              <a:t>np.arange() gives evenly spaced positions; shifting each series by ± width/2 sits the two bars side by side instead of stacking on top of each other.</a:t>
            </a:r>
            <a:endParaRPr lang="en-US" sz="1150" b="0" u="none" strike="noStrike">
              <a:solidFill>
                <a:srgbClr val="000000"/>
              </a:solidFill>
              <a:effectLst/>
              <a:uFillTx/>
              <a:latin typeface="Arial"/>
            </a:endParaRPr>
          </a:p>
        </p:txBody>
      </p:sp>
      <p:sp>
        <p:nvSpPr>
          <p:cNvPr id="561"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6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4 · BAR CHARTS</a:t>
            </a:r>
            <a:endParaRPr lang="en-US" sz="1100" b="0" u="none" strike="noStrike">
              <a:solidFill>
                <a:srgbClr val="000000"/>
              </a:solidFill>
              <a:effectLst/>
              <a:uFillTx/>
              <a:latin typeface="Arial"/>
            </a:endParaRPr>
          </a:p>
        </p:txBody>
      </p:sp>
      <p:sp>
        <p:nvSpPr>
          <p:cNvPr id="56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Horizontal Bars — plt.barh()</a:t>
            </a:r>
            <a:endParaRPr lang="en-US" sz="2600" b="0" u="none" strike="noStrike">
              <a:solidFill>
                <a:srgbClr val="000000"/>
              </a:solidFill>
              <a:effectLst/>
              <a:uFillTx/>
              <a:latin typeface="Arial"/>
            </a:endParaRPr>
          </a:p>
        </p:txBody>
      </p:sp>
      <p:pic>
        <p:nvPicPr>
          <p:cNvPr id="56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56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566" name="Shape 3"/>
          <p:cNvSpPr/>
          <p:nvPr/>
        </p:nvSpPr>
        <p:spPr>
          <a:xfrm>
            <a:off x="548640" y="1691640"/>
            <a:ext cx="5211360" cy="2742480"/>
          </a:xfrm>
          <a:prstGeom prst="roundRect">
            <a:avLst>
              <a:gd name="adj" fmla="val 4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56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6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570" name="Text 7"/>
          <p:cNvSpPr/>
          <p:nvPr/>
        </p:nvSpPr>
        <p:spPr>
          <a:xfrm>
            <a:off x="749880" y="2075760"/>
            <a:ext cx="4808880" cy="221220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plt.barh(</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languages,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repositories,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color="teal"</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a:t>
            </a:r>
            <a:endParaRPr lang="en-US" sz="1400" b="0" u="none" strike="noStrike">
              <a:solidFill>
                <a:srgbClr val="000000"/>
              </a:solidFill>
              <a:effectLst/>
              <a:uFillTx/>
              <a:latin typeface="Arial"/>
            </a:endParaRPr>
          </a:p>
          <a:p>
            <a:pPr defTabSz="914400">
              <a:lnSpc>
                <a:spcPct val="118000"/>
              </a:lnSpc>
              <a:tabLst>
                <a:tab pos="0" algn="l"/>
              </a:tabLst>
            </a:pP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plt.xlabel("Repositories")</a:t>
            </a:r>
            <a:endParaRPr lang="en-US" sz="1400" b="0" u="none" strike="noStrike">
              <a:solidFill>
                <a:srgbClr val="000000"/>
              </a:solidFill>
              <a:effectLst/>
              <a:uFillTx/>
              <a:latin typeface="Arial"/>
            </a:endParaRPr>
          </a:p>
        </p:txBody>
      </p:sp>
      <p:sp>
        <p:nvSpPr>
          <p:cNvPr id="571" name="Text 8"/>
          <p:cNvSpPr/>
          <p:nvPr/>
        </p:nvSpPr>
        <p:spPr>
          <a:xfrm>
            <a:off x="548640" y="4617720"/>
            <a:ext cx="5211360" cy="137088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plt.barh() flips the orientation — categories run down the Y-axis instead of across the X-axis.</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Ideal when category names are long, or when you have many categories to list.</a:t>
            </a:r>
            <a:endParaRPr lang="en-US" sz="1300" b="0" u="none" strike="noStrike">
              <a:solidFill>
                <a:srgbClr val="000000"/>
              </a:solidFill>
              <a:effectLst/>
              <a:uFillTx/>
              <a:latin typeface="Arial"/>
            </a:endParaRPr>
          </a:p>
        </p:txBody>
      </p:sp>
      <p:sp>
        <p:nvSpPr>
          <p:cNvPr id="572" name="Shape 9"/>
          <p:cNvSpPr/>
          <p:nvPr/>
        </p:nvSpPr>
        <p:spPr>
          <a:xfrm>
            <a:off x="6035040" y="1691640"/>
            <a:ext cx="5622840" cy="4251240"/>
          </a:xfrm>
          <a:prstGeom prst="roundRect">
            <a:avLst>
              <a:gd name="adj" fmla="val 215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73" name="Image 1" descr="/home/claude/mpl/charts/bar_horizontal.png"/>
          <p:cNvPicPr/>
          <p:nvPr/>
        </p:nvPicPr>
        <p:blipFill>
          <a:blip r:embed="rId2"/>
          <a:stretch/>
        </p:blipFill>
        <p:spPr>
          <a:xfrm>
            <a:off x="6144840" y="1801440"/>
            <a:ext cx="5403240" cy="4031640"/>
          </a:xfrm>
          <a:prstGeom prst="rect">
            <a:avLst/>
          </a:prstGeom>
          <a:noFill/>
          <a:ln w="0">
            <a:noFill/>
          </a:ln>
        </p:spPr>
      </p:pic>
      <p:sp>
        <p:nvSpPr>
          <p:cNvPr id="574"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7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4 · BAR CHARTS</a:t>
            </a:r>
            <a:endParaRPr lang="en-US" sz="1100" b="0" u="none" strike="noStrike">
              <a:solidFill>
                <a:srgbClr val="000000"/>
              </a:solidFill>
              <a:effectLst/>
              <a:uFillTx/>
              <a:latin typeface="Arial"/>
            </a:endParaRPr>
          </a:p>
        </p:txBody>
      </p:sp>
      <p:sp>
        <p:nvSpPr>
          <p:cNvPr id="57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Quick Reference</a:t>
            </a:r>
            <a:endParaRPr lang="en-US" sz="2600" b="0" u="none" strike="noStrike">
              <a:solidFill>
                <a:srgbClr val="000000"/>
              </a:solidFill>
              <a:effectLst/>
              <a:uFillTx/>
              <a:latin typeface="Arial"/>
            </a:endParaRPr>
          </a:p>
        </p:txBody>
      </p:sp>
      <p:pic>
        <p:nvPicPr>
          <p:cNvPr id="57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57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579" name="Table 0"/>
          <p:cNvGraphicFramePr/>
          <p:nvPr/>
        </p:nvGraphicFramePr>
        <p:xfrm>
          <a:off x="548640" y="1691640"/>
          <a:ext cx="11109240" cy="3566160"/>
        </p:xfrm>
        <a:graphic>
          <a:graphicData uri="http://schemas.openxmlformats.org/drawingml/2006/table">
            <a:tbl>
              <a:tblPr/>
              <a:tblGrid>
                <a:gridCol w="3555000"/>
                <a:gridCol w="7554600"/>
              </a:tblGrid>
              <a:tr h="59436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943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plt.bar(x, height)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Vertical bars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943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plt.barh(y, width)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Horizontal bars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943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width=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Controls bar thickness (vertical bars)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943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x ± width/2</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The trick for placing grouped bars side by side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9436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color=[list]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Assign a different color per bar or series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580"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581"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82"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583"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4 · BAR CHARTS</a:t>
            </a:r>
            <a:endParaRPr lang="en-US" sz="1100" b="0" u="none" strike="noStrike">
              <a:solidFill>
                <a:srgbClr val="000000"/>
              </a:solidFill>
              <a:effectLst/>
              <a:uFillTx/>
              <a:latin typeface="Arial"/>
            </a:endParaRPr>
          </a:p>
        </p:txBody>
      </p:sp>
      <p:sp>
        <p:nvSpPr>
          <p:cNvPr id="584"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Bar Charts</a:t>
            </a:r>
            <a:endParaRPr lang="en-US" sz="2300" b="0" u="none" strike="noStrike">
              <a:solidFill>
                <a:srgbClr val="000000"/>
              </a:solidFill>
              <a:effectLst/>
              <a:uFillTx/>
              <a:latin typeface="Arial"/>
            </a:endParaRPr>
          </a:p>
        </p:txBody>
      </p:sp>
      <p:sp>
        <p:nvSpPr>
          <p:cNvPr id="585"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586"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7"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8"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589"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Plot the number of hours you studied each day this week as a bar chart.</a:t>
            </a:r>
            <a:endParaRPr lang="en-US" sz="1300" b="0" u="none" strike="noStrike">
              <a:solidFill>
                <a:srgbClr val="000000"/>
              </a:solidFill>
              <a:effectLst/>
              <a:uFillTx/>
              <a:latin typeface="Arial"/>
            </a:endParaRPr>
          </a:p>
        </p:txBody>
      </p:sp>
      <p:sp>
        <p:nvSpPr>
          <p:cNvPr id="590"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1"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2"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593"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Turn it into a grouped bar chart comparing this week vs. last week.</a:t>
            </a:r>
            <a:endParaRPr lang="en-US" sz="1300" b="0" u="none" strike="noStrike">
              <a:solidFill>
                <a:srgbClr val="000000"/>
              </a:solidFill>
              <a:effectLst/>
              <a:uFillTx/>
              <a:latin typeface="Arial"/>
            </a:endParaRPr>
          </a:p>
        </p:txBody>
      </p:sp>
      <p:sp>
        <p:nvSpPr>
          <p:cNvPr id="594"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5"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6"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597"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Convert your chart to horizontal bars using plt.barh().</a:t>
            </a:r>
            <a:endParaRPr lang="en-US" sz="1300" b="0" u="none" strike="noStrike">
              <a:solidFill>
                <a:srgbClr val="000000"/>
              </a:solidFill>
              <a:effectLst/>
              <a:uFillTx/>
              <a:latin typeface="Arial"/>
            </a:endParaRPr>
          </a:p>
        </p:txBody>
      </p:sp>
      <p:sp>
        <p:nvSpPr>
          <p:cNvPr id="598"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9"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0"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601"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Give each bar a distinct color and a label so a legend makes sense.</a:t>
            </a:r>
            <a:endParaRPr lang="en-US" sz="1300" b="0" u="none" strike="noStrike">
              <a:solidFill>
                <a:srgbClr val="000000"/>
              </a:solidFill>
              <a:effectLst/>
              <a:uFillTx/>
              <a:latin typeface="Arial"/>
            </a:endParaRPr>
          </a:p>
        </p:txBody>
      </p:sp>
      <p:pic>
        <p:nvPicPr>
          <p:cNvPr id="60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03"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04"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38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605"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6"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07" name="Image 0" descr="/home/claude/mpl/assets/logo_icon.png"/>
          <p:cNvPicPr/>
          <p:nvPr/>
        </p:nvPicPr>
        <p:blipFill>
          <a:blip r:embed="rId1"/>
          <a:stretch/>
        </p:blipFill>
        <p:spPr>
          <a:xfrm>
            <a:off x="640080" y="548640"/>
            <a:ext cx="438120" cy="525960"/>
          </a:xfrm>
          <a:prstGeom prst="rect">
            <a:avLst/>
          </a:prstGeom>
          <a:noFill/>
          <a:ln w="0">
            <a:noFill/>
          </a:ln>
        </p:spPr>
      </p:pic>
      <p:sp>
        <p:nvSpPr>
          <p:cNvPr id="608"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5 · PIE CHARTS</a:t>
            </a:r>
            <a:endParaRPr lang="en-US" sz="1400" b="0" u="none" strike="noStrike">
              <a:solidFill>
                <a:srgbClr val="FFFFFF"/>
              </a:solidFill>
              <a:effectLst/>
              <a:uFillTx/>
              <a:latin typeface="Arial"/>
            </a:endParaRPr>
          </a:p>
        </p:txBody>
      </p:sp>
      <p:sp>
        <p:nvSpPr>
          <p:cNvPr id="609"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Pie Charts</a:t>
            </a:r>
            <a:endParaRPr lang="en-US" sz="4000" b="0" u="none" strike="noStrike">
              <a:solidFill>
                <a:srgbClr val="FFFFFF"/>
              </a:solidFill>
              <a:effectLst/>
              <a:uFillTx/>
              <a:latin typeface="Arial"/>
            </a:endParaRPr>
          </a:p>
        </p:txBody>
      </p:sp>
      <p:sp>
        <p:nvSpPr>
          <p:cNvPr id="610"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Showing how a whole splits into parts with plt.pie().</a:t>
            </a:r>
            <a:endParaRPr lang="en-US" sz="1500" b="0" u="none" strike="noStrike">
              <a:solidFill>
                <a:srgbClr val="FFFFFF"/>
              </a:solidFill>
              <a:effectLst/>
              <a:uFillTx/>
              <a:latin typeface="Arial"/>
            </a:endParaRPr>
          </a:p>
        </p:txBody>
      </p:sp>
      <p:sp>
        <p:nvSpPr>
          <p:cNvPr id="611"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39</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1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5 · PIE CHARTS</a:t>
            </a:r>
            <a:endParaRPr lang="en-US" sz="1100" b="0" u="none" strike="noStrike">
              <a:solidFill>
                <a:srgbClr val="000000"/>
              </a:solidFill>
              <a:effectLst/>
              <a:uFillTx/>
              <a:latin typeface="Arial"/>
            </a:endParaRPr>
          </a:p>
        </p:txBody>
      </p:sp>
      <p:sp>
        <p:nvSpPr>
          <p:cNvPr id="61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Anatomy of plt.pie()</a:t>
            </a:r>
            <a:endParaRPr lang="en-US" sz="2600" b="0" u="none" strike="noStrike">
              <a:solidFill>
                <a:srgbClr val="000000"/>
              </a:solidFill>
              <a:effectLst/>
              <a:uFillTx/>
              <a:latin typeface="Arial"/>
            </a:endParaRPr>
          </a:p>
        </p:txBody>
      </p:sp>
      <p:pic>
        <p:nvPicPr>
          <p:cNvPr id="61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1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16" name="Shape 3"/>
          <p:cNvSpPr/>
          <p:nvPr/>
        </p:nvSpPr>
        <p:spPr>
          <a:xfrm>
            <a:off x="548640" y="1691640"/>
            <a:ext cx="4937040" cy="3931200"/>
          </a:xfrm>
          <a:prstGeom prst="roundRect">
            <a:avLst>
              <a:gd name="adj" fmla="val 279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1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61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1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20" name="Text 7"/>
          <p:cNvSpPr/>
          <p:nvPr/>
        </p:nvSpPr>
        <p:spPr>
          <a:xfrm>
            <a:off x="749880" y="2075760"/>
            <a:ext cx="4534560" cy="340092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50" b="0" u="none" strike="noStrike">
                <a:solidFill>
                  <a:srgbClr val="F1F5F9"/>
                </a:solidFill>
                <a:effectLst/>
                <a:uFillTx/>
                <a:latin typeface="Cantarell"/>
                <a:ea typeface="Cantarell"/>
              </a:rPr>
              <a:t>plt.pie(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values,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labels=labels_list,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colors=color_list,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autopct="%1.1f%%",</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startangle=90,</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    explode=(0.05,0,0,0)</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t>
            </a:r>
            <a:endParaRPr lang="en-US" sz="1250" b="0" u="none" strike="noStrike">
              <a:solidFill>
                <a:srgbClr val="000000"/>
              </a:solidFill>
              <a:effectLst/>
              <a:uFillTx/>
              <a:latin typeface="Arial"/>
            </a:endParaRPr>
          </a:p>
        </p:txBody>
      </p:sp>
      <p:graphicFrame>
        <p:nvGraphicFramePr>
          <p:cNvPr id="621" name="Table 0"/>
          <p:cNvGraphicFramePr/>
          <p:nvPr/>
        </p:nvGraphicFramePr>
        <p:xfrm>
          <a:off x="5715000" y="1691640"/>
          <a:ext cx="5942880" cy="3931200"/>
        </p:xfrm>
        <a:graphic>
          <a:graphicData uri="http://schemas.openxmlformats.org/drawingml/2006/table">
            <a:tbl>
              <a:tblPr/>
              <a:tblGrid>
                <a:gridCol w="1901880"/>
                <a:gridCol w="4041360"/>
              </a:tblGrid>
              <a:tr h="5616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values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Numerical values behind each slice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labels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Names shown for each slice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colors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Colors for each slice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autopct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Displays each slice's percentage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startangle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Rotates where the first slice begins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explode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Pulls a slice outward to highlight it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622"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23"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5 · PIE CHARTS</a:t>
            </a:r>
            <a:endParaRPr lang="en-US" sz="1100" b="0" u="none" strike="noStrike">
              <a:solidFill>
                <a:srgbClr val="000000"/>
              </a:solidFill>
              <a:effectLst/>
              <a:uFillTx/>
              <a:latin typeface="Arial"/>
            </a:endParaRPr>
          </a:p>
        </p:txBody>
      </p:sp>
      <p:sp>
        <p:nvSpPr>
          <p:cNvPr id="624"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Revenue Share by Region</a:t>
            </a:r>
            <a:endParaRPr lang="en-US" sz="2600" b="0" u="none" strike="noStrike">
              <a:solidFill>
                <a:srgbClr val="000000"/>
              </a:solidFill>
              <a:effectLst/>
              <a:uFillTx/>
              <a:latin typeface="Arial"/>
            </a:endParaRPr>
          </a:p>
        </p:txBody>
      </p:sp>
      <p:pic>
        <p:nvPicPr>
          <p:cNvPr id="625"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26"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27" name="Shape 3"/>
          <p:cNvSpPr/>
          <p:nvPr/>
        </p:nvSpPr>
        <p:spPr>
          <a:xfrm>
            <a:off x="548640" y="1691640"/>
            <a:ext cx="521136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8"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629"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30"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31" name="Text 7"/>
          <p:cNvSpPr/>
          <p:nvPr/>
        </p:nvSpPr>
        <p:spPr>
          <a:xfrm>
            <a:off x="749880" y="2075760"/>
            <a:ext cx="480888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00" b="0" u="none" strike="noStrike">
                <a:solidFill>
                  <a:srgbClr val="F1F5F9"/>
                </a:solidFill>
                <a:effectLst/>
                <a:uFillTx/>
                <a:latin typeface="Cantarell"/>
                <a:ea typeface="Cantarell"/>
              </a:rPr>
              <a:t>regions = ["North", "South",</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"East", "West"]</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revenue = [3000, 2000, 1500, 1000]</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plt.pie(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revenue,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labels=regions,</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autopct="%1.1f%%",</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colors=["teal", "skyblue",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"lightgreen", "coral"]</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plt.show()</a:t>
            </a:r>
            <a:endParaRPr lang="en-US" sz="1200" b="0" u="none" strike="noStrike">
              <a:solidFill>
                <a:srgbClr val="000000"/>
              </a:solidFill>
              <a:effectLst/>
              <a:uFillTx/>
              <a:latin typeface="Arial"/>
            </a:endParaRPr>
          </a:p>
        </p:txBody>
      </p:sp>
      <p:sp>
        <p:nvSpPr>
          <p:cNvPr id="632" name="Shape 8"/>
          <p:cNvSpPr/>
          <p:nvPr/>
        </p:nvSpPr>
        <p:spPr>
          <a:xfrm>
            <a:off x="6035040" y="1691640"/>
            <a:ext cx="562284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33" name="Image 1" descr="/home/claude/mpl/charts/pie_revenue.png"/>
          <p:cNvPicPr/>
          <p:nvPr/>
        </p:nvPicPr>
        <p:blipFill>
          <a:blip r:embed="rId2"/>
          <a:stretch/>
        </p:blipFill>
        <p:spPr>
          <a:xfrm>
            <a:off x="6144840" y="1801440"/>
            <a:ext cx="5403240" cy="3803040"/>
          </a:xfrm>
          <a:prstGeom prst="rect">
            <a:avLst/>
          </a:prstGeom>
          <a:noFill/>
          <a:ln w="0">
            <a:noFill/>
          </a:ln>
        </p:spPr>
      </p:pic>
      <p:sp>
        <p:nvSpPr>
          <p:cNvPr id="634"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3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5 · PIE CHARTS</a:t>
            </a:r>
            <a:endParaRPr lang="en-US" sz="1100" b="0" u="none" strike="noStrike">
              <a:solidFill>
                <a:srgbClr val="000000"/>
              </a:solidFill>
              <a:effectLst/>
              <a:uFillTx/>
              <a:latin typeface="Arial"/>
            </a:endParaRPr>
          </a:p>
        </p:txBody>
      </p:sp>
      <p:sp>
        <p:nvSpPr>
          <p:cNvPr id="63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When to Use — and Avoid — Pie Charts</a:t>
            </a:r>
            <a:endParaRPr lang="en-US" sz="2600" b="0" u="none" strike="noStrike">
              <a:solidFill>
                <a:srgbClr val="000000"/>
              </a:solidFill>
              <a:effectLst/>
              <a:uFillTx/>
              <a:latin typeface="Arial"/>
            </a:endParaRPr>
          </a:p>
        </p:txBody>
      </p:sp>
      <p:pic>
        <p:nvPicPr>
          <p:cNvPr id="63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3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39" name="Shape 3"/>
          <p:cNvSpPr/>
          <p:nvPr/>
        </p:nvSpPr>
        <p:spPr>
          <a:xfrm>
            <a:off x="548640" y="1737360"/>
            <a:ext cx="5302800" cy="3931200"/>
          </a:xfrm>
          <a:prstGeom prst="roundRect">
            <a:avLst>
              <a:gd name="adj" fmla="val 2791"/>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0" name="Text 4"/>
          <p:cNvSpPr/>
          <p:nvPr/>
        </p:nvSpPr>
        <p:spPr>
          <a:xfrm>
            <a:off x="777240" y="1920240"/>
            <a:ext cx="484560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002019"/>
                </a:solidFill>
                <a:effectLst/>
                <a:uFillTx/>
                <a:latin typeface="Bricolage Grotesque"/>
                <a:ea typeface="Bricolage Grotesque"/>
              </a:rPr>
              <a:t>✓  Good fit</a:t>
            </a:r>
            <a:endParaRPr lang="en-US" sz="1500" b="0" u="none" strike="noStrike">
              <a:solidFill>
                <a:srgbClr val="000000"/>
              </a:solidFill>
              <a:effectLst/>
              <a:uFillTx/>
              <a:latin typeface="Arial"/>
            </a:endParaRPr>
          </a:p>
        </p:txBody>
      </p:sp>
      <p:sp>
        <p:nvSpPr>
          <p:cNvPr id="641" name="Text 5"/>
          <p:cNvSpPr/>
          <p:nvPr/>
        </p:nvSpPr>
        <p:spPr>
          <a:xfrm>
            <a:off x="777240" y="2423160"/>
            <a:ext cx="4845600" cy="31082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199"/>
              </a:spcAft>
              <a:buClr>
                <a:srgbClr val="002019"/>
              </a:buClr>
              <a:buFont typeface="Symbol" charset="2"/>
              <a:buChar char=""/>
            </a:pPr>
            <a:r>
              <a:rPr lang="en-US" sz="1300" b="0" u="none" strike="noStrike">
                <a:solidFill>
                  <a:srgbClr val="002019"/>
                </a:solidFill>
                <a:effectLst/>
                <a:uFillTx/>
                <a:latin typeface="Hanken Grotesk"/>
                <a:ea typeface="Hanken Grotesk"/>
              </a:rPr>
              <a:t>A few categories (2–5)</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002019"/>
              </a:buClr>
              <a:buFont typeface="Symbol" charset="2"/>
              <a:buChar char=""/>
            </a:pPr>
            <a:r>
              <a:rPr lang="en-US" sz="1300" b="0" u="none" strike="noStrike">
                <a:solidFill>
                  <a:srgbClr val="002019"/>
                </a:solidFill>
                <a:effectLst/>
                <a:uFillTx/>
                <a:latin typeface="Hanken Grotesk"/>
                <a:ea typeface="Hanken Grotesk"/>
              </a:rPr>
              <a:t>Parts clearly add up to one whole</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002019"/>
              </a:buClr>
              <a:buFont typeface="Symbol" charset="2"/>
              <a:buChar char=""/>
            </a:pPr>
            <a:r>
              <a:rPr lang="en-US" sz="1300" b="0" u="none" strike="noStrike">
                <a:solidFill>
                  <a:srgbClr val="002019"/>
                </a:solidFill>
                <a:effectLst/>
                <a:uFillTx/>
                <a:latin typeface="Hanken Grotesk"/>
                <a:ea typeface="Hanken Grotesk"/>
              </a:rPr>
              <a:t>You want a quick "share of total" impression, not precise comparison</a:t>
            </a:r>
            <a:endParaRPr lang="en-US" sz="1300" b="0" u="none" strike="noStrike">
              <a:solidFill>
                <a:srgbClr val="000000"/>
              </a:solidFill>
              <a:effectLst/>
              <a:uFillTx/>
              <a:latin typeface="Arial"/>
            </a:endParaRPr>
          </a:p>
        </p:txBody>
      </p:sp>
      <p:sp>
        <p:nvSpPr>
          <p:cNvPr id="642" name="Shape 6"/>
          <p:cNvSpPr/>
          <p:nvPr/>
        </p:nvSpPr>
        <p:spPr>
          <a:xfrm>
            <a:off x="6309360" y="1737360"/>
            <a:ext cx="5302800" cy="3931200"/>
          </a:xfrm>
          <a:prstGeom prst="roundRect">
            <a:avLst>
              <a:gd name="adj" fmla="val 2791"/>
            </a:avLst>
          </a:prstGeom>
          <a:solidFill>
            <a:srgbClr val="E07AB4"/>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3" name="Text 7"/>
          <p:cNvSpPr/>
          <p:nvPr/>
        </p:nvSpPr>
        <p:spPr>
          <a:xfrm>
            <a:off x="6537960" y="1920240"/>
            <a:ext cx="484560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2F0523"/>
                </a:solidFill>
                <a:effectLst/>
                <a:uFillTx/>
                <a:latin typeface="Bricolage Grotesque"/>
                <a:ea typeface="Bricolage Grotesque"/>
              </a:rPr>
              <a:t>✕  Avoid it</a:t>
            </a:r>
            <a:endParaRPr lang="en-US" sz="1500" b="0" u="none" strike="noStrike">
              <a:solidFill>
                <a:srgbClr val="000000"/>
              </a:solidFill>
              <a:effectLst/>
              <a:uFillTx/>
              <a:latin typeface="Arial"/>
            </a:endParaRPr>
          </a:p>
        </p:txBody>
      </p:sp>
      <p:sp>
        <p:nvSpPr>
          <p:cNvPr id="644" name="Text 8"/>
          <p:cNvSpPr/>
          <p:nvPr/>
        </p:nvSpPr>
        <p:spPr>
          <a:xfrm>
            <a:off x="6537960" y="2423160"/>
            <a:ext cx="4845600" cy="31082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199"/>
              </a:spcAft>
              <a:buClr>
                <a:srgbClr val="2F0523"/>
              </a:buClr>
              <a:buFont typeface="Symbol" charset="2"/>
              <a:buChar char=""/>
            </a:pPr>
            <a:r>
              <a:rPr lang="en-US" sz="1300" b="0" u="none" strike="noStrike">
                <a:solidFill>
                  <a:srgbClr val="2F0523"/>
                </a:solidFill>
                <a:effectLst/>
                <a:uFillTx/>
                <a:latin typeface="Hanken Grotesk"/>
                <a:ea typeface="Hanken Grotesk"/>
              </a:rPr>
              <a:t>Many categories (8+) — slices become unreadable</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2F0523"/>
              </a:buClr>
              <a:buFont typeface="Symbol" charset="2"/>
              <a:buChar char=""/>
            </a:pPr>
            <a:r>
              <a:rPr lang="en-US" sz="1300" b="0" u="none" strike="noStrike">
                <a:solidFill>
                  <a:srgbClr val="2F0523"/>
                </a:solidFill>
                <a:effectLst/>
                <a:uFillTx/>
                <a:latin typeface="Hanken Grotesk"/>
                <a:ea typeface="Hanken Grotesk"/>
              </a:rPr>
              <a:t>Values are close together — humans compare angles poorly</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2F0523"/>
              </a:buClr>
              <a:buFont typeface="Symbol" charset="2"/>
              <a:buChar char=""/>
            </a:pPr>
            <a:r>
              <a:rPr lang="en-US" sz="1300" b="0" u="none" strike="noStrike">
                <a:solidFill>
                  <a:srgbClr val="2F0523"/>
                </a:solidFill>
                <a:effectLst/>
                <a:uFillTx/>
                <a:latin typeface="Hanken Grotesk"/>
                <a:ea typeface="Hanken Grotesk"/>
              </a:rPr>
              <a:t>You need to track change over time — use a line chart instead</a:t>
            </a:r>
            <a:endParaRPr lang="en-US" sz="1300" b="0" u="none" strike="noStrike">
              <a:solidFill>
                <a:srgbClr val="000000"/>
              </a:solidFill>
              <a:effectLst/>
              <a:uFillTx/>
              <a:latin typeface="Arial"/>
            </a:endParaRPr>
          </a:p>
        </p:txBody>
      </p:sp>
      <p:sp>
        <p:nvSpPr>
          <p:cNvPr id="645"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46"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7"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648"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5 · PIE CHARTS</a:t>
            </a:r>
            <a:endParaRPr lang="en-US" sz="1100" b="0" u="none" strike="noStrike">
              <a:solidFill>
                <a:srgbClr val="000000"/>
              </a:solidFill>
              <a:effectLst/>
              <a:uFillTx/>
              <a:latin typeface="Arial"/>
            </a:endParaRPr>
          </a:p>
        </p:txBody>
      </p:sp>
      <p:sp>
        <p:nvSpPr>
          <p:cNvPr id="649"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Pie Charts</a:t>
            </a:r>
            <a:endParaRPr lang="en-US" sz="2300" b="0" u="none" strike="noStrike">
              <a:solidFill>
                <a:srgbClr val="000000"/>
              </a:solidFill>
              <a:effectLst/>
              <a:uFillTx/>
              <a:latin typeface="Arial"/>
            </a:endParaRPr>
          </a:p>
        </p:txBody>
      </p:sp>
      <p:sp>
        <p:nvSpPr>
          <p:cNvPr id="650"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651"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2"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3"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654"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Build a pie chart showing how you'd split a 24-hour day into categories (sleep, work, study, etc.).</a:t>
            </a:r>
            <a:endParaRPr lang="en-US" sz="1300" b="0" u="none" strike="noStrike">
              <a:solidFill>
                <a:srgbClr val="000000"/>
              </a:solidFill>
              <a:effectLst/>
              <a:uFillTx/>
              <a:latin typeface="Arial"/>
            </a:endParaRPr>
          </a:p>
        </p:txBody>
      </p:sp>
      <p:sp>
        <p:nvSpPr>
          <p:cNvPr id="655"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6"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7"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658"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Add autopct to show percentages, and explode your largest slice.</a:t>
            </a:r>
            <a:endParaRPr lang="en-US" sz="1300" b="0" u="none" strike="noStrike">
              <a:solidFill>
                <a:srgbClr val="000000"/>
              </a:solidFill>
              <a:effectLst/>
              <a:uFillTx/>
              <a:latin typeface="Arial"/>
            </a:endParaRPr>
          </a:p>
        </p:txBody>
      </p:sp>
      <p:sp>
        <p:nvSpPr>
          <p:cNvPr id="659"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0"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1"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662"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Re-plot the same data as a bar chart, and decide which one communicates it better — and why.</a:t>
            </a:r>
            <a:endParaRPr lang="en-US" sz="1300" b="0" u="none" strike="noStrike">
              <a:solidFill>
                <a:srgbClr val="000000"/>
              </a:solidFill>
              <a:effectLst/>
              <a:uFillTx/>
              <a:latin typeface="Arial"/>
            </a:endParaRPr>
          </a:p>
        </p:txBody>
      </p:sp>
      <p:pic>
        <p:nvPicPr>
          <p:cNvPr id="663"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64"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65"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666"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67"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68" name="Image 0" descr="/home/claude/mpl/assets/logo_icon.png"/>
          <p:cNvPicPr/>
          <p:nvPr/>
        </p:nvPicPr>
        <p:blipFill>
          <a:blip r:embed="rId1"/>
          <a:stretch/>
        </p:blipFill>
        <p:spPr>
          <a:xfrm>
            <a:off x="640080" y="548640"/>
            <a:ext cx="438120" cy="525960"/>
          </a:xfrm>
          <a:prstGeom prst="rect">
            <a:avLst/>
          </a:prstGeom>
          <a:noFill/>
          <a:ln w="0">
            <a:noFill/>
          </a:ln>
        </p:spPr>
      </p:pic>
      <p:sp>
        <p:nvSpPr>
          <p:cNvPr id="669"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6 · HISTOGRAMS</a:t>
            </a:r>
            <a:endParaRPr lang="en-US" sz="1400" b="0" u="none" strike="noStrike">
              <a:solidFill>
                <a:srgbClr val="FFFFFF"/>
              </a:solidFill>
              <a:effectLst/>
              <a:uFillTx/>
              <a:latin typeface="Arial"/>
            </a:endParaRPr>
          </a:p>
        </p:txBody>
      </p:sp>
      <p:sp>
        <p:nvSpPr>
          <p:cNvPr id="670"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Histograms</a:t>
            </a:r>
            <a:endParaRPr lang="en-US" sz="4000" b="0" u="none" strike="noStrike">
              <a:solidFill>
                <a:srgbClr val="FFFFFF"/>
              </a:solidFill>
              <a:effectLst/>
              <a:uFillTx/>
              <a:latin typeface="Arial"/>
            </a:endParaRPr>
          </a:p>
        </p:txBody>
      </p:sp>
      <p:sp>
        <p:nvSpPr>
          <p:cNvPr id="671"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Understanding how a numerical variable is distributed with plt.hist().</a:t>
            </a:r>
            <a:endParaRPr lang="en-US" sz="1500" b="0" u="none" strike="noStrike">
              <a:solidFill>
                <a:srgbClr val="FFFFFF"/>
              </a:solidFill>
              <a:effectLst/>
              <a:uFillTx/>
              <a:latin typeface="Arial"/>
            </a:endParaRPr>
          </a:p>
        </p:txBody>
      </p:sp>
      <p:sp>
        <p:nvSpPr>
          <p:cNvPr id="672"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44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73"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6 · HISTOGRAMS</a:t>
            </a:r>
            <a:endParaRPr lang="en-US" sz="1100" b="0" u="none" strike="noStrike">
              <a:solidFill>
                <a:srgbClr val="000000"/>
              </a:solidFill>
              <a:effectLst/>
              <a:uFillTx/>
              <a:latin typeface="Arial"/>
            </a:endParaRPr>
          </a:p>
        </p:txBody>
      </p:sp>
      <p:sp>
        <p:nvSpPr>
          <p:cNvPr id="674"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Anatomy of plt.hist()</a:t>
            </a:r>
            <a:endParaRPr lang="en-US" sz="2600" b="0" u="none" strike="noStrike">
              <a:solidFill>
                <a:srgbClr val="000000"/>
              </a:solidFill>
              <a:effectLst/>
              <a:uFillTx/>
              <a:latin typeface="Arial"/>
            </a:endParaRPr>
          </a:p>
        </p:txBody>
      </p:sp>
      <p:pic>
        <p:nvPicPr>
          <p:cNvPr id="675"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76"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77" name="Shape 3"/>
          <p:cNvSpPr/>
          <p:nvPr/>
        </p:nvSpPr>
        <p:spPr>
          <a:xfrm>
            <a:off x="548640" y="1691640"/>
            <a:ext cx="5211360" cy="2742480"/>
          </a:xfrm>
          <a:prstGeom prst="roundRect">
            <a:avLst>
              <a:gd name="adj" fmla="val 4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8"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679"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80"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81" name="Text 7"/>
          <p:cNvSpPr/>
          <p:nvPr/>
        </p:nvSpPr>
        <p:spPr>
          <a:xfrm>
            <a:off x="749880" y="2075760"/>
            <a:ext cx="4808880" cy="221220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plt.hist(</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data,</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bins=number_of_bins,</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color="color_name",</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edgecolor="black"</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a:t>
            </a:r>
            <a:endParaRPr lang="en-US" sz="1400" b="0" u="none" strike="noStrike">
              <a:solidFill>
                <a:srgbClr val="000000"/>
              </a:solidFill>
              <a:effectLst/>
              <a:uFillTx/>
              <a:latin typeface="Arial"/>
            </a:endParaRPr>
          </a:p>
        </p:txBody>
      </p:sp>
      <p:graphicFrame>
        <p:nvGraphicFramePr>
          <p:cNvPr id="682" name="Table 0"/>
          <p:cNvGraphicFramePr/>
          <p:nvPr/>
        </p:nvGraphicFramePr>
        <p:xfrm>
          <a:off x="6035040" y="1691640"/>
          <a:ext cx="5622840" cy="2743200"/>
        </p:xfrm>
        <a:graphic>
          <a:graphicData uri="http://schemas.openxmlformats.org/drawingml/2006/table">
            <a:tbl>
              <a:tblPr/>
              <a:tblGrid>
                <a:gridCol w="1799280"/>
                <a:gridCol w="3823920"/>
              </a:tblGrid>
              <a:tr h="54864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data</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Numerical data to distribute into bins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bins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Number of intervals/groups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Fill color of the bars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edgecolor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Border color of each bar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683"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84"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6 · HISTOGRAMS</a:t>
            </a:r>
            <a:endParaRPr lang="en-US" sz="1100" b="0" u="none" strike="noStrike">
              <a:solidFill>
                <a:srgbClr val="000000"/>
              </a:solidFill>
              <a:effectLst/>
              <a:uFillTx/>
              <a:latin typeface="Arial"/>
            </a:endParaRPr>
          </a:p>
        </p:txBody>
      </p:sp>
      <p:sp>
        <p:nvSpPr>
          <p:cNvPr id="685"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Score Distribution</a:t>
            </a:r>
            <a:endParaRPr lang="en-US" sz="2600" b="0" u="none" strike="noStrike">
              <a:solidFill>
                <a:srgbClr val="000000"/>
              </a:solidFill>
              <a:effectLst/>
              <a:uFillTx/>
              <a:latin typeface="Arial"/>
            </a:endParaRPr>
          </a:p>
        </p:txBody>
      </p:sp>
      <p:pic>
        <p:nvPicPr>
          <p:cNvPr id="68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87"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688" name="Shape 3"/>
          <p:cNvSpPr/>
          <p:nvPr/>
        </p:nvSpPr>
        <p:spPr>
          <a:xfrm>
            <a:off x="548640" y="1691640"/>
            <a:ext cx="539424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89"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690"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91"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692" name="Text 7"/>
          <p:cNvSpPr/>
          <p:nvPr/>
        </p:nvSpPr>
        <p:spPr>
          <a:xfrm>
            <a:off x="749880" y="2075760"/>
            <a:ext cx="499176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00" b="0" u="none" strike="noStrike">
                <a:solidFill>
                  <a:srgbClr val="F1F5F9"/>
                </a:solidFill>
                <a:effectLst/>
                <a:uFillTx/>
                <a:latin typeface="Cantarell"/>
                <a:ea typeface="Cantarell"/>
              </a:rPr>
              <a:t>scores = [45, 52, 58, 61, 63, 67, 69,</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70, 72, 74, 75, 77, 79, 81,</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83, 85, 87, 89, 92, 95]</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plt.hist(scores, bins=5,</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color="orange", edgecolor="black")</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plt.xlabel("Scores")</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plt.ylabel("Number of Students")</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plt.title("Score Distribution")</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plt.show()</a:t>
            </a:r>
            <a:endParaRPr lang="en-US" sz="1200" b="0" u="none" strike="noStrike">
              <a:solidFill>
                <a:srgbClr val="000000"/>
              </a:solidFill>
              <a:effectLst/>
              <a:uFillTx/>
              <a:latin typeface="Arial"/>
            </a:endParaRPr>
          </a:p>
        </p:txBody>
      </p:sp>
      <p:sp>
        <p:nvSpPr>
          <p:cNvPr id="693" name="Shape 8"/>
          <p:cNvSpPr/>
          <p:nvPr/>
        </p:nvSpPr>
        <p:spPr>
          <a:xfrm>
            <a:off x="6172200" y="1691640"/>
            <a:ext cx="548568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94" name="Image 1" descr="/home/claude/mpl/charts/hist_scores.png"/>
          <p:cNvPicPr/>
          <p:nvPr/>
        </p:nvPicPr>
        <p:blipFill>
          <a:blip r:embed="rId2"/>
          <a:stretch/>
        </p:blipFill>
        <p:spPr>
          <a:xfrm>
            <a:off x="6282000" y="1801440"/>
            <a:ext cx="5266080" cy="3803040"/>
          </a:xfrm>
          <a:prstGeom prst="rect">
            <a:avLst/>
          </a:prstGeom>
          <a:noFill/>
          <a:ln w="0">
            <a:noFill/>
          </a:ln>
        </p:spPr>
      </p:pic>
      <p:sp>
        <p:nvSpPr>
          <p:cNvPr id="695"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69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6 · HISTOGRAMS</a:t>
            </a:r>
            <a:endParaRPr lang="en-US" sz="1100" b="0" u="none" strike="noStrike">
              <a:solidFill>
                <a:srgbClr val="000000"/>
              </a:solidFill>
              <a:effectLst/>
              <a:uFillTx/>
              <a:latin typeface="Arial"/>
            </a:endParaRPr>
          </a:p>
        </p:txBody>
      </p:sp>
      <p:sp>
        <p:nvSpPr>
          <p:cNvPr id="69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Understanding Bins, and Histogram vs. Bar Chart</a:t>
            </a:r>
            <a:endParaRPr lang="en-US" sz="2600" b="0" u="none" strike="noStrike">
              <a:solidFill>
                <a:srgbClr val="000000"/>
              </a:solidFill>
              <a:effectLst/>
              <a:uFillTx/>
              <a:latin typeface="Arial"/>
            </a:endParaRPr>
          </a:p>
        </p:txBody>
      </p:sp>
      <p:pic>
        <p:nvPicPr>
          <p:cNvPr id="69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69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700" name="Text 3"/>
          <p:cNvSpPr/>
          <p:nvPr/>
        </p:nvSpPr>
        <p:spPr>
          <a:xfrm>
            <a:off x="548640" y="1691640"/>
            <a:ext cx="5394240" cy="182808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199"/>
              </a:spcAft>
              <a:buClr>
                <a:srgbClr val="1B1B20"/>
              </a:buClr>
              <a:buFont typeface="Symbol" charset="2"/>
              <a:buChar char=""/>
            </a:pPr>
            <a:r>
              <a:rPr lang="en-US" sz="1350" b="0" u="none" strike="noStrike">
                <a:solidFill>
                  <a:srgbClr val="1B1B20"/>
                </a:solidFill>
                <a:effectLst/>
                <a:uFillTx/>
                <a:latin typeface="Hanken Grotesk"/>
                <a:ea typeface="Hanken Grotesk"/>
              </a:rPr>
              <a:t>A bin is a range of values — bins=5 splits the data into 5 equal-width ranges and counts how many values fall in each.</a:t>
            </a:r>
            <a:endParaRPr lang="en-US" sz="1350" b="0" u="none" strike="noStrike">
              <a:solidFill>
                <a:srgbClr val="000000"/>
              </a:solidFill>
              <a:effectLst/>
              <a:uFillTx/>
              <a:latin typeface="Arial"/>
            </a:endParaRPr>
          </a:p>
          <a:p>
            <a:pPr marL="228600" indent="-228600" defTabSz="914400">
              <a:lnSpc>
                <a:spcPct val="100000"/>
              </a:lnSpc>
              <a:spcAft>
                <a:spcPts val="1199"/>
              </a:spcAft>
              <a:buClr>
                <a:srgbClr val="1B1B20"/>
              </a:buClr>
              <a:buFont typeface="Symbol" charset="2"/>
              <a:buChar char=""/>
            </a:pPr>
            <a:r>
              <a:rPr lang="en-US" sz="1350" b="0" u="none" strike="noStrike">
                <a:solidFill>
                  <a:srgbClr val="1B1B20"/>
                </a:solidFill>
                <a:effectLst/>
                <a:uFillTx/>
                <a:latin typeface="Hanken Grotesk"/>
                <a:ea typeface="Hanken Grotesk"/>
              </a:rPr>
              <a:t>Fewer bins = smoother, more general shape. More bins = finer detail, but noisier.</a:t>
            </a:r>
            <a:endParaRPr lang="en-US" sz="1350" b="0" u="none" strike="noStrike">
              <a:solidFill>
                <a:srgbClr val="000000"/>
              </a:solidFill>
              <a:effectLst/>
              <a:uFillTx/>
              <a:latin typeface="Arial"/>
            </a:endParaRPr>
          </a:p>
        </p:txBody>
      </p:sp>
      <p:sp>
        <p:nvSpPr>
          <p:cNvPr id="701" name="Shape 4"/>
          <p:cNvSpPr/>
          <p:nvPr/>
        </p:nvSpPr>
        <p:spPr>
          <a:xfrm>
            <a:off x="548640" y="3703320"/>
            <a:ext cx="5394240" cy="1965240"/>
          </a:xfrm>
          <a:prstGeom prst="roundRect">
            <a:avLst>
              <a:gd name="adj" fmla="val 465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2" name="Text 5"/>
          <p:cNvSpPr/>
          <p:nvPr/>
        </p:nvSpPr>
        <p:spPr>
          <a:xfrm>
            <a:off x="731520" y="3840480"/>
            <a:ext cx="5028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B1B20"/>
                </a:solidFill>
                <a:effectLst/>
                <a:uFillTx/>
                <a:latin typeface="Bricolage Grotesque"/>
                <a:ea typeface="Bricolage Grotesque"/>
              </a:rPr>
              <a:t>Histogram</a:t>
            </a:r>
            <a:endParaRPr lang="en-US" sz="1400" b="0" u="none" strike="noStrike">
              <a:solidFill>
                <a:srgbClr val="000000"/>
              </a:solidFill>
              <a:effectLst/>
              <a:uFillTx/>
              <a:latin typeface="Arial"/>
            </a:endParaRPr>
          </a:p>
        </p:txBody>
      </p:sp>
      <p:sp>
        <p:nvSpPr>
          <p:cNvPr id="703" name="Text 6"/>
          <p:cNvSpPr/>
          <p:nvPr/>
        </p:nvSpPr>
        <p:spPr>
          <a:xfrm>
            <a:off x="731520" y="4251960"/>
            <a:ext cx="5028480" cy="1279440"/>
          </a:xfrm>
          <a:prstGeom prst="rect">
            <a:avLst/>
          </a:prstGeom>
          <a:noFill/>
          <a:ln w="0">
            <a:noFill/>
          </a:ln>
        </p:spPr>
        <p:style>
          <a:lnRef idx="0"/>
          <a:fillRef idx="0"/>
          <a:effectRef idx="0"/>
          <a:fontRef idx="minor"/>
        </p:style>
        <p:txBody>
          <a:bodyPr lIns="90000" tIns="45000" rIns="90000" bIns="45000" anchor="t">
            <a:noAutofit/>
          </a:bodyPr>
          <a:p>
            <a:pPr defTabSz="914400">
              <a:lnSpc>
                <a:spcPct val="120000"/>
              </a:lnSpc>
              <a:tabLst>
                <a:tab pos="0" algn="l"/>
              </a:tabLst>
            </a:pPr>
            <a:r>
              <a:rPr lang="en-US" sz="1150" b="0" u="none" strike="noStrike">
                <a:solidFill>
                  <a:srgbClr val="1B1B20"/>
                </a:solidFill>
                <a:effectLst/>
                <a:uFillTx/>
                <a:latin typeface="Hanken Grotesk"/>
                <a:ea typeface="Hanken Grotesk"/>
              </a:rPr>
              <a:t>Numerical data grouped into ranges. Bars touch — the X-axis is continuous.</a:t>
            </a:r>
            <a:endParaRPr lang="en-US" sz="1150" b="0" u="none" strike="noStrike">
              <a:solidFill>
                <a:srgbClr val="000000"/>
              </a:solidFill>
              <a:effectLst/>
              <a:uFillTx/>
              <a:latin typeface="Arial"/>
            </a:endParaRPr>
          </a:p>
        </p:txBody>
      </p:sp>
      <p:sp>
        <p:nvSpPr>
          <p:cNvPr id="704" name="Shape 7"/>
          <p:cNvSpPr/>
          <p:nvPr/>
        </p:nvSpPr>
        <p:spPr>
          <a:xfrm>
            <a:off x="6126480" y="3703320"/>
            <a:ext cx="5394240" cy="1965240"/>
          </a:xfrm>
          <a:prstGeom prst="roundRect">
            <a:avLst>
              <a:gd name="adj" fmla="val 4651"/>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05" name="Text 8"/>
          <p:cNvSpPr/>
          <p:nvPr/>
        </p:nvSpPr>
        <p:spPr>
          <a:xfrm>
            <a:off x="6309360" y="3840480"/>
            <a:ext cx="5028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231F71"/>
                </a:solidFill>
                <a:effectLst/>
                <a:uFillTx/>
                <a:latin typeface="Bricolage Grotesque"/>
                <a:ea typeface="Bricolage Grotesque"/>
              </a:rPr>
              <a:t>Bar Chart</a:t>
            </a:r>
            <a:endParaRPr lang="en-US" sz="1400" b="0" u="none" strike="noStrike">
              <a:solidFill>
                <a:srgbClr val="000000"/>
              </a:solidFill>
              <a:effectLst/>
              <a:uFillTx/>
              <a:latin typeface="Arial"/>
            </a:endParaRPr>
          </a:p>
        </p:txBody>
      </p:sp>
      <p:sp>
        <p:nvSpPr>
          <p:cNvPr id="706" name="Text 9"/>
          <p:cNvSpPr/>
          <p:nvPr/>
        </p:nvSpPr>
        <p:spPr>
          <a:xfrm>
            <a:off x="6309360" y="4251960"/>
            <a:ext cx="5028480" cy="1279440"/>
          </a:xfrm>
          <a:prstGeom prst="rect">
            <a:avLst/>
          </a:prstGeom>
          <a:noFill/>
          <a:ln w="0">
            <a:noFill/>
          </a:ln>
        </p:spPr>
        <p:style>
          <a:lnRef idx="0"/>
          <a:fillRef idx="0"/>
          <a:effectRef idx="0"/>
          <a:fontRef idx="minor"/>
        </p:style>
        <p:txBody>
          <a:bodyPr lIns="90000" tIns="45000" rIns="90000" bIns="45000" anchor="t">
            <a:noAutofit/>
          </a:bodyPr>
          <a:p>
            <a:pPr defTabSz="914400">
              <a:lnSpc>
                <a:spcPct val="120000"/>
              </a:lnSpc>
              <a:tabLst>
                <a:tab pos="0" algn="l"/>
              </a:tabLst>
            </a:pPr>
            <a:r>
              <a:rPr lang="en-US" sz="1150" b="0" u="none" strike="noStrike">
                <a:solidFill>
                  <a:srgbClr val="231F71"/>
                </a:solidFill>
                <a:effectLst/>
                <a:uFillTx/>
                <a:latin typeface="Hanken Grotesk"/>
                <a:ea typeface="Hanken Grotesk"/>
              </a:rPr>
              <a:t>Distinct categories, each with its own value. Bars are separated — the X-axis is categorical.</a:t>
            </a:r>
            <a:endParaRPr lang="en-US" sz="1150" b="0" u="none" strike="noStrike">
              <a:solidFill>
                <a:srgbClr val="000000"/>
              </a:solidFill>
              <a:effectLst/>
              <a:uFillTx/>
              <a:latin typeface="Arial"/>
            </a:endParaRPr>
          </a:p>
        </p:txBody>
      </p:sp>
      <p:sp>
        <p:nvSpPr>
          <p:cNvPr id="707" name="Shape 10"/>
          <p:cNvSpPr/>
          <p:nvPr/>
        </p:nvSpPr>
        <p:spPr>
          <a:xfrm>
            <a:off x="6172200" y="1691640"/>
            <a:ext cx="5485680" cy="1828080"/>
          </a:xfrm>
          <a:prstGeom prst="roundRect">
            <a:avLst>
              <a:gd name="adj" fmla="val 500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08" name="Image 1" descr="/home/claude/mpl/charts/hist_scores.png"/>
          <p:cNvPicPr/>
          <p:nvPr/>
        </p:nvPicPr>
        <p:blipFill>
          <a:blip r:embed="rId2"/>
          <a:stretch/>
        </p:blipFill>
        <p:spPr>
          <a:xfrm>
            <a:off x="6282000" y="1801440"/>
            <a:ext cx="5266080" cy="1608480"/>
          </a:xfrm>
          <a:prstGeom prst="rect">
            <a:avLst/>
          </a:prstGeom>
          <a:noFill/>
          <a:ln w="0">
            <a:noFill/>
          </a:ln>
        </p:spPr>
      </p:pic>
      <p:sp>
        <p:nvSpPr>
          <p:cNvPr id="709" name="Text 11"/>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710"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11"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712"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6 · HISTOGRAMS</a:t>
            </a:r>
            <a:endParaRPr lang="en-US" sz="1100" b="0" u="none" strike="noStrike">
              <a:solidFill>
                <a:srgbClr val="000000"/>
              </a:solidFill>
              <a:effectLst/>
              <a:uFillTx/>
              <a:latin typeface="Arial"/>
            </a:endParaRPr>
          </a:p>
        </p:txBody>
      </p:sp>
      <p:sp>
        <p:nvSpPr>
          <p:cNvPr id="713"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Histograms</a:t>
            </a:r>
            <a:endParaRPr lang="en-US" sz="2300" b="0" u="none" strike="noStrike">
              <a:solidFill>
                <a:srgbClr val="000000"/>
              </a:solidFill>
              <a:effectLst/>
              <a:uFillTx/>
              <a:latin typeface="Arial"/>
            </a:endParaRPr>
          </a:p>
        </p:txBody>
      </p:sp>
      <p:sp>
        <p:nvSpPr>
          <p:cNvPr id="714"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715"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6"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7"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718"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Invent 20 numbers (e.g. quiz scores) and plot a histogram with 5 bins.</a:t>
            </a:r>
            <a:endParaRPr lang="en-US" sz="1300" b="0" u="none" strike="noStrike">
              <a:solidFill>
                <a:srgbClr val="000000"/>
              </a:solidFill>
              <a:effectLst/>
              <a:uFillTx/>
              <a:latin typeface="Arial"/>
            </a:endParaRPr>
          </a:p>
        </p:txBody>
      </p:sp>
      <p:sp>
        <p:nvSpPr>
          <p:cNvPr id="719"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0"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1"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722"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Re-plot the same data with 10 bins and compare what changes.</a:t>
            </a:r>
            <a:endParaRPr lang="en-US" sz="1300" b="0" u="none" strike="noStrike">
              <a:solidFill>
                <a:srgbClr val="000000"/>
              </a:solidFill>
              <a:effectLst/>
              <a:uFillTx/>
              <a:latin typeface="Arial"/>
            </a:endParaRPr>
          </a:p>
        </p:txBody>
      </p:sp>
      <p:sp>
        <p:nvSpPr>
          <p:cNvPr id="723"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4"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5"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726"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Add edgecolor so individual bars are easier to tell apart.</a:t>
            </a:r>
            <a:endParaRPr lang="en-US" sz="1300" b="0" u="none" strike="noStrike">
              <a:solidFill>
                <a:srgbClr val="000000"/>
              </a:solidFill>
              <a:effectLst/>
              <a:uFillTx/>
              <a:latin typeface="Arial"/>
            </a:endParaRPr>
          </a:p>
        </p:txBody>
      </p:sp>
      <p:sp>
        <p:nvSpPr>
          <p:cNvPr id="727"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8"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9"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730"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Explain, in one sentence, why this data couldn't be shown as a regular bar chart.</a:t>
            </a:r>
            <a:endParaRPr lang="en-US" sz="1300" b="0" u="none" strike="noStrike">
              <a:solidFill>
                <a:srgbClr val="000000"/>
              </a:solidFill>
              <a:effectLst/>
              <a:uFillTx/>
              <a:latin typeface="Arial"/>
            </a:endParaRPr>
          </a:p>
        </p:txBody>
      </p:sp>
      <p:pic>
        <p:nvPicPr>
          <p:cNvPr id="73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732"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733"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48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734"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35"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36" name="Image 0" descr="/home/claude/mpl/assets/logo_icon.png"/>
          <p:cNvPicPr/>
          <p:nvPr/>
        </p:nvPicPr>
        <p:blipFill>
          <a:blip r:embed="rId1"/>
          <a:stretch/>
        </p:blipFill>
        <p:spPr>
          <a:xfrm>
            <a:off x="640080" y="548640"/>
            <a:ext cx="438120" cy="525960"/>
          </a:xfrm>
          <a:prstGeom prst="rect">
            <a:avLst/>
          </a:prstGeom>
          <a:noFill/>
          <a:ln w="0">
            <a:noFill/>
          </a:ln>
        </p:spPr>
      </p:pic>
      <p:sp>
        <p:nvSpPr>
          <p:cNvPr id="737"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7 · SCATTER PLOTS</a:t>
            </a:r>
            <a:endParaRPr lang="en-US" sz="1400" b="0" u="none" strike="noStrike">
              <a:solidFill>
                <a:srgbClr val="FFFFFF"/>
              </a:solidFill>
              <a:effectLst/>
              <a:uFillTx/>
              <a:latin typeface="Arial"/>
            </a:endParaRPr>
          </a:p>
        </p:txBody>
      </p:sp>
      <p:sp>
        <p:nvSpPr>
          <p:cNvPr id="738"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Scatter Plots</a:t>
            </a:r>
            <a:endParaRPr lang="en-US" sz="4000" b="0" u="none" strike="noStrike">
              <a:solidFill>
                <a:srgbClr val="FFFFFF"/>
              </a:solidFill>
              <a:effectLst/>
              <a:uFillTx/>
              <a:latin typeface="Arial"/>
            </a:endParaRPr>
          </a:p>
        </p:txBody>
      </p:sp>
      <p:sp>
        <p:nvSpPr>
          <p:cNvPr id="739"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Seeing the relationship between two numerical variables with plt.scatter().</a:t>
            </a:r>
            <a:endParaRPr lang="en-US" sz="1500" b="0" u="none" strike="noStrike">
              <a:solidFill>
                <a:srgbClr val="FFFFFF"/>
              </a:solidFill>
              <a:effectLst/>
              <a:uFillTx/>
              <a:latin typeface="Arial"/>
            </a:endParaRPr>
          </a:p>
        </p:txBody>
      </p:sp>
      <p:sp>
        <p:nvSpPr>
          <p:cNvPr id="740"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49</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741"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7 · SCATTER PLOTS</a:t>
            </a:r>
            <a:endParaRPr lang="en-US" sz="1100" b="0" u="none" strike="noStrike">
              <a:solidFill>
                <a:srgbClr val="000000"/>
              </a:solidFill>
              <a:effectLst/>
              <a:uFillTx/>
              <a:latin typeface="Arial"/>
            </a:endParaRPr>
          </a:p>
        </p:txBody>
      </p:sp>
      <p:sp>
        <p:nvSpPr>
          <p:cNvPr id="742"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Anatomy of plt.scatter()</a:t>
            </a:r>
            <a:endParaRPr lang="en-US" sz="2600" b="0" u="none" strike="noStrike">
              <a:solidFill>
                <a:srgbClr val="000000"/>
              </a:solidFill>
              <a:effectLst/>
              <a:uFillTx/>
              <a:latin typeface="Arial"/>
            </a:endParaRPr>
          </a:p>
        </p:txBody>
      </p:sp>
      <p:pic>
        <p:nvPicPr>
          <p:cNvPr id="743"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744"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745" name="Shape 3"/>
          <p:cNvSpPr/>
          <p:nvPr/>
        </p:nvSpPr>
        <p:spPr>
          <a:xfrm>
            <a:off x="548640" y="1691640"/>
            <a:ext cx="4937040" cy="3931200"/>
          </a:xfrm>
          <a:prstGeom prst="roundRect">
            <a:avLst>
              <a:gd name="adj" fmla="val 279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46"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747"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748"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749" name="Text 7"/>
          <p:cNvSpPr/>
          <p:nvPr/>
        </p:nvSpPr>
        <p:spPr>
          <a:xfrm>
            <a:off x="749880" y="2075760"/>
            <a:ext cx="4534560" cy="340092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plt.scatter(</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x, y,</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color="color_name",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marker="style",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s=size,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alpha=transparency,</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label="label_name"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p:txBody>
      </p:sp>
      <p:graphicFrame>
        <p:nvGraphicFramePr>
          <p:cNvPr id="750" name="Table 0"/>
          <p:cNvGraphicFramePr/>
          <p:nvPr/>
        </p:nvGraphicFramePr>
        <p:xfrm>
          <a:off x="5715000" y="1691640"/>
          <a:ext cx="5942880" cy="3931200"/>
        </p:xfrm>
        <a:graphic>
          <a:graphicData uri="http://schemas.openxmlformats.org/drawingml/2006/table">
            <a:tbl>
              <a:tblPr/>
              <a:tblGrid>
                <a:gridCol w="1901880"/>
                <a:gridCol w="4041360"/>
              </a:tblGrid>
              <a:tr h="5616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x, y</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Data for the X-axis and Y-axis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color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Color of the points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marker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Shape/style of the points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Size of each point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alpha</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Transparency (0 = invisible, 1 = solid)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616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 used in the legend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751"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75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7 · SCATTER PLOTS</a:t>
            </a:r>
            <a:endParaRPr lang="en-US" sz="1100" b="0" u="none" strike="noStrike">
              <a:solidFill>
                <a:srgbClr val="000000"/>
              </a:solidFill>
              <a:effectLst/>
              <a:uFillTx/>
              <a:latin typeface="Arial"/>
            </a:endParaRPr>
          </a:p>
        </p:txBody>
      </p:sp>
      <p:sp>
        <p:nvSpPr>
          <p:cNvPr id="75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Study Hours vs. Exam Scores</a:t>
            </a:r>
            <a:endParaRPr lang="en-US" sz="2600" b="0" u="none" strike="noStrike">
              <a:solidFill>
                <a:srgbClr val="000000"/>
              </a:solidFill>
              <a:effectLst/>
              <a:uFillTx/>
              <a:latin typeface="Arial"/>
            </a:endParaRPr>
          </a:p>
        </p:txBody>
      </p:sp>
      <p:pic>
        <p:nvPicPr>
          <p:cNvPr id="75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75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756"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5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75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75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760"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150" b="0" u="none" strike="noStrike">
                <a:solidFill>
                  <a:srgbClr val="F1F5F9"/>
                </a:solidFill>
                <a:effectLst/>
                <a:uFillTx/>
                <a:latin typeface="Cantarell"/>
                <a:ea typeface="Cantarell"/>
              </a:rPr>
              <a:t>plt.scatter(hours_studied, exam_scores,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color="green", marker="^",</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label="Hours Studied vs Exam Scores")</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plt.scatter(social_media_hours,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social_media_scores,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color="red", marker="x",</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label="Social Media vs Exam Scores")</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plt.xlabel("Hours")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plt.ylabel("Exam Scores")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plt.legend(loc="best")</a:t>
            </a:r>
            <a:endParaRPr lang="en-US" sz="1150" b="0" u="none" strike="noStrike">
              <a:solidFill>
                <a:srgbClr val="000000"/>
              </a:solidFill>
              <a:effectLst/>
              <a:uFillTx/>
              <a:latin typeface="Arial"/>
            </a:endParaRPr>
          </a:p>
        </p:txBody>
      </p:sp>
      <p:sp>
        <p:nvSpPr>
          <p:cNvPr id="761" name="Shape 8"/>
          <p:cNvSpPr/>
          <p:nvPr/>
        </p:nvSpPr>
        <p:spPr>
          <a:xfrm>
            <a:off x="6263640" y="1691640"/>
            <a:ext cx="539424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62" name="Image 1" descr="/home/claude/mpl/charts/scatter_study.png"/>
          <p:cNvPicPr/>
          <p:nvPr/>
        </p:nvPicPr>
        <p:blipFill>
          <a:blip r:embed="rId2"/>
          <a:stretch/>
        </p:blipFill>
        <p:spPr>
          <a:xfrm>
            <a:off x="6373440" y="1801440"/>
            <a:ext cx="5174640" cy="3803040"/>
          </a:xfrm>
          <a:prstGeom prst="rect">
            <a:avLst/>
          </a:prstGeom>
          <a:noFill/>
          <a:ln w="0">
            <a:noFill/>
          </a:ln>
        </p:spPr>
      </p:pic>
      <p:sp>
        <p:nvSpPr>
          <p:cNvPr id="763"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764"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7 · SCATTER PLOTS</a:t>
            </a:r>
            <a:endParaRPr lang="en-US" sz="1100" b="0" u="none" strike="noStrike">
              <a:solidFill>
                <a:srgbClr val="000000"/>
              </a:solidFill>
              <a:effectLst/>
              <a:uFillTx/>
              <a:latin typeface="Arial"/>
            </a:endParaRPr>
          </a:p>
        </p:txBody>
      </p:sp>
      <p:sp>
        <p:nvSpPr>
          <p:cNvPr id="765"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Reading Relationships Visually</a:t>
            </a:r>
            <a:endParaRPr lang="en-US" sz="2600" b="0" u="none" strike="noStrike">
              <a:solidFill>
                <a:srgbClr val="000000"/>
              </a:solidFill>
              <a:effectLst/>
              <a:uFillTx/>
              <a:latin typeface="Arial"/>
            </a:endParaRPr>
          </a:p>
        </p:txBody>
      </p:sp>
      <p:pic>
        <p:nvPicPr>
          <p:cNvPr id="76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767"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768" name="Shape 3"/>
          <p:cNvSpPr/>
          <p:nvPr/>
        </p:nvSpPr>
        <p:spPr>
          <a:xfrm>
            <a:off x="548640" y="1737360"/>
            <a:ext cx="3611160" cy="3565440"/>
          </a:xfrm>
          <a:prstGeom prst="roundRect">
            <a:avLst>
              <a:gd name="adj" fmla="val 3077"/>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9" name="Text 4"/>
          <p:cNvSpPr/>
          <p:nvPr/>
        </p:nvSpPr>
        <p:spPr>
          <a:xfrm>
            <a:off x="731520" y="1920240"/>
            <a:ext cx="324540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5755A7"/>
                </a:solidFill>
                <a:effectLst/>
                <a:uFillTx/>
                <a:latin typeface="Bricolage Grotesque"/>
                <a:ea typeface="Bricolage Grotesque"/>
              </a:rPr>
              <a:t>Positive correlation</a:t>
            </a:r>
            <a:endParaRPr lang="en-US" sz="1400" b="0" u="none" strike="noStrike">
              <a:solidFill>
                <a:srgbClr val="000000"/>
              </a:solidFill>
              <a:effectLst/>
              <a:uFillTx/>
              <a:latin typeface="Arial"/>
            </a:endParaRPr>
          </a:p>
        </p:txBody>
      </p:sp>
      <p:sp>
        <p:nvSpPr>
          <p:cNvPr id="770" name="Text 5"/>
          <p:cNvSpPr/>
          <p:nvPr/>
        </p:nvSpPr>
        <p:spPr>
          <a:xfrm>
            <a:off x="731520" y="2514600"/>
            <a:ext cx="3245400" cy="2651040"/>
          </a:xfrm>
          <a:prstGeom prst="rect">
            <a:avLst/>
          </a:prstGeom>
          <a:noFill/>
          <a:ln w="0">
            <a:noFill/>
          </a:ln>
        </p:spPr>
        <p:style>
          <a:lnRef idx="0"/>
          <a:fillRef idx="0"/>
          <a:effectRef idx="0"/>
          <a:fontRef idx="minor"/>
        </p:style>
        <p:txBody>
          <a:bodyPr lIns="90000" tIns="45000" rIns="90000" bIns="45000" anchor="t">
            <a:noAutofit/>
          </a:bodyPr>
          <a:p>
            <a:pPr defTabSz="914400">
              <a:lnSpc>
                <a:spcPct val="125000"/>
              </a:lnSpc>
              <a:tabLst>
                <a:tab pos="0" algn="l"/>
              </a:tabLst>
            </a:pPr>
            <a:r>
              <a:rPr lang="en-US" sz="1200" b="0" u="none" strike="noStrike">
                <a:solidFill>
                  <a:srgbClr val="474651"/>
                </a:solidFill>
                <a:effectLst/>
                <a:uFillTx/>
                <a:latin typeface="Hanken Grotesk"/>
                <a:ea typeface="Hanken Grotesk"/>
              </a:rPr>
              <a:t>As X increases, Y tends to increase too — points trend up and to the right.</a:t>
            </a:r>
            <a:endParaRPr lang="en-US" sz="1200" b="0" u="none" strike="noStrike">
              <a:solidFill>
                <a:srgbClr val="000000"/>
              </a:solidFill>
              <a:effectLst/>
              <a:uFillTx/>
              <a:latin typeface="Arial"/>
            </a:endParaRPr>
          </a:p>
        </p:txBody>
      </p:sp>
      <p:sp>
        <p:nvSpPr>
          <p:cNvPr id="771" name="Shape 6"/>
          <p:cNvSpPr/>
          <p:nvPr/>
        </p:nvSpPr>
        <p:spPr>
          <a:xfrm>
            <a:off x="4297680" y="1737360"/>
            <a:ext cx="3611160" cy="3565440"/>
          </a:xfrm>
          <a:prstGeom prst="roundRect">
            <a:avLst>
              <a:gd name="adj" fmla="val 3077"/>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2" name="Text 7"/>
          <p:cNvSpPr/>
          <p:nvPr/>
        </p:nvSpPr>
        <p:spPr>
          <a:xfrm>
            <a:off x="4480560" y="1920240"/>
            <a:ext cx="324540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5755A7"/>
                </a:solidFill>
                <a:effectLst/>
                <a:uFillTx/>
                <a:latin typeface="Bricolage Grotesque"/>
                <a:ea typeface="Bricolage Grotesque"/>
              </a:rPr>
              <a:t>Negative correlation</a:t>
            </a:r>
            <a:endParaRPr lang="en-US" sz="1400" b="0" u="none" strike="noStrike">
              <a:solidFill>
                <a:srgbClr val="000000"/>
              </a:solidFill>
              <a:effectLst/>
              <a:uFillTx/>
              <a:latin typeface="Arial"/>
            </a:endParaRPr>
          </a:p>
        </p:txBody>
      </p:sp>
      <p:sp>
        <p:nvSpPr>
          <p:cNvPr id="773" name="Text 8"/>
          <p:cNvSpPr/>
          <p:nvPr/>
        </p:nvSpPr>
        <p:spPr>
          <a:xfrm>
            <a:off x="4480560" y="2514600"/>
            <a:ext cx="3245400" cy="2651040"/>
          </a:xfrm>
          <a:prstGeom prst="rect">
            <a:avLst/>
          </a:prstGeom>
          <a:noFill/>
          <a:ln w="0">
            <a:noFill/>
          </a:ln>
        </p:spPr>
        <p:style>
          <a:lnRef idx="0"/>
          <a:fillRef idx="0"/>
          <a:effectRef idx="0"/>
          <a:fontRef idx="minor"/>
        </p:style>
        <p:txBody>
          <a:bodyPr lIns="90000" tIns="45000" rIns="90000" bIns="45000" anchor="t">
            <a:noAutofit/>
          </a:bodyPr>
          <a:p>
            <a:pPr defTabSz="914400">
              <a:lnSpc>
                <a:spcPct val="125000"/>
              </a:lnSpc>
              <a:tabLst>
                <a:tab pos="0" algn="l"/>
              </a:tabLst>
            </a:pPr>
            <a:r>
              <a:rPr lang="en-US" sz="1200" b="0" u="none" strike="noStrike">
                <a:solidFill>
                  <a:srgbClr val="474651"/>
                </a:solidFill>
                <a:effectLst/>
                <a:uFillTx/>
                <a:latin typeface="Hanken Grotesk"/>
                <a:ea typeface="Hanken Grotesk"/>
              </a:rPr>
              <a:t>As X increases, Y tends to decrease — points trend down and to the right.</a:t>
            </a:r>
            <a:endParaRPr lang="en-US" sz="1200" b="0" u="none" strike="noStrike">
              <a:solidFill>
                <a:srgbClr val="000000"/>
              </a:solidFill>
              <a:effectLst/>
              <a:uFillTx/>
              <a:latin typeface="Arial"/>
            </a:endParaRPr>
          </a:p>
        </p:txBody>
      </p:sp>
      <p:sp>
        <p:nvSpPr>
          <p:cNvPr id="774" name="Shape 9"/>
          <p:cNvSpPr/>
          <p:nvPr/>
        </p:nvSpPr>
        <p:spPr>
          <a:xfrm>
            <a:off x="8046720" y="1737360"/>
            <a:ext cx="3611160" cy="3565440"/>
          </a:xfrm>
          <a:prstGeom prst="roundRect">
            <a:avLst>
              <a:gd name="adj" fmla="val 3077"/>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5" name="Text 10"/>
          <p:cNvSpPr/>
          <p:nvPr/>
        </p:nvSpPr>
        <p:spPr>
          <a:xfrm>
            <a:off x="8229600" y="1920240"/>
            <a:ext cx="324540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5755A7"/>
                </a:solidFill>
                <a:effectLst/>
                <a:uFillTx/>
                <a:latin typeface="Bricolage Grotesque"/>
                <a:ea typeface="Bricolage Grotesque"/>
              </a:rPr>
              <a:t>No clear correlation</a:t>
            </a:r>
            <a:endParaRPr lang="en-US" sz="1400" b="0" u="none" strike="noStrike">
              <a:solidFill>
                <a:srgbClr val="000000"/>
              </a:solidFill>
              <a:effectLst/>
              <a:uFillTx/>
              <a:latin typeface="Arial"/>
            </a:endParaRPr>
          </a:p>
        </p:txBody>
      </p:sp>
      <p:sp>
        <p:nvSpPr>
          <p:cNvPr id="776" name="Text 11"/>
          <p:cNvSpPr/>
          <p:nvPr/>
        </p:nvSpPr>
        <p:spPr>
          <a:xfrm>
            <a:off x="8229600" y="2514600"/>
            <a:ext cx="3245400" cy="2651040"/>
          </a:xfrm>
          <a:prstGeom prst="rect">
            <a:avLst/>
          </a:prstGeom>
          <a:noFill/>
          <a:ln w="0">
            <a:noFill/>
          </a:ln>
        </p:spPr>
        <p:style>
          <a:lnRef idx="0"/>
          <a:fillRef idx="0"/>
          <a:effectRef idx="0"/>
          <a:fontRef idx="minor"/>
        </p:style>
        <p:txBody>
          <a:bodyPr lIns="90000" tIns="45000" rIns="90000" bIns="45000" anchor="t">
            <a:noAutofit/>
          </a:bodyPr>
          <a:p>
            <a:pPr defTabSz="914400">
              <a:lnSpc>
                <a:spcPct val="125000"/>
              </a:lnSpc>
              <a:tabLst>
                <a:tab pos="0" algn="l"/>
              </a:tabLst>
            </a:pPr>
            <a:r>
              <a:rPr lang="en-US" sz="1200" b="0" u="none" strike="noStrike">
                <a:solidFill>
                  <a:srgbClr val="474651"/>
                </a:solidFill>
                <a:effectLst/>
                <a:uFillTx/>
                <a:latin typeface="Hanken Grotesk"/>
                <a:ea typeface="Hanken Grotesk"/>
              </a:rPr>
              <a:t>Points scatter with no visible pattern — X doesn't predict Y.</a:t>
            </a:r>
            <a:endParaRPr lang="en-US" sz="1200" b="0" u="none" strike="noStrike">
              <a:solidFill>
                <a:srgbClr val="000000"/>
              </a:solidFill>
              <a:effectLst/>
              <a:uFillTx/>
              <a:latin typeface="Arial"/>
            </a:endParaRPr>
          </a:p>
        </p:txBody>
      </p:sp>
      <p:sp>
        <p:nvSpPr>
          <p:cNvPr id="777" name="Text 12"/>
          <p:cNvSpPr/>
          <p:nvPr/>
        </p:nvSpPr>
        <p:spPr>
          <a:xfrm>
            <a:off x="548640" y="5486400"/>
            <a:ext cx="11109240" cy="547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474651"/>
                </a:solidFill>
                <a:effectLst/>
                <a:uFillTx/>
                <a:latin typeface="Hanken Grotesk"/>
                <a:ea typeface="Hanken Grotesk"/>
              </a:rPr>
              <a:t>This is exactly the kind of visual reasoning you'll use constantly in EDA (Exploratory Data Analysis) and when checking relationships between features before training a model.</a:t>
            </a:r>
            <a:endParaRPr lang="en-US" sz="1250" b="0" u="none" strike="noStrike">
              <a:solidFill>
                <a:srgbClr val="000000"/>
              </a:solidFill>
              <a:effectLst/>
              <a:uFillTx/>
              <a:latin typeface="Arial"/>
            </a:endParaRPr>
          </a:p>
        </p:txBody>
      </p:sp>
      <p:sp>
        <p:nvSpPr>
          <p:cNvPr id="778" name="Text 1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779"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80"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781"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7 · SCATTER PLOTS</a:t>
            </a:r>
            <a:endParaRPr lang="en-US" sz="1100" b="0" u="none" strike="noStrike">
              <a:solidFill>
                <a:srgbClr val="000000"/>
              </a:solidFill>
              <a:effectLst/>
              <a:uFillTx/>
              <a:latin typeface="Arial"/>
            </a:endParaRPr>
          </a:p>
        </p:txBody>
      </p:sp>
      <p:sp>
        <p:nvSpPr>
          <p:cNvPr id="782"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Scatter Plots</a:t>
            </a:r>
            <a:endParaRPr lang="en-US" sz="2300" b="0" u="none" strike="noStrike">
              <a:solidFill>
                <a:srgbClr val="000000"/>
              </a:solidFill>
              <a:effectLst/>
              <a:uFillTx/>
              <a:latin typeface="Arial"/>
            </a:endParaRPr>
          </a:p>
        </p:txBody>
      </p:sp>
      <p:sp>
        <p:nvSpPr>
          <p:cNvPr id="783"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784"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5"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6"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787"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Plot hours of sleep vs. focus level (invent 10 data points) as a scatter plot.</a:t>
            </a:r>
            <a:endParaRPr lang="en-US" sz="1300" b="0" u="none" strike="noStrike">
              <a:solidFill>
                <a:srgbClr val="000000"/>
              </a:solidFill>
              <a:effectLst/>
              <a:uFillTx/>
              <a:latin typeface="Arial"/>
            </a:endParaRPr>
          </a:p>
        </p:txBody>
      </p:sp>
      <p:sp>
        <p:nvSpPr>
          <p:cNvPr id="788"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9"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0"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791"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Adjust alpha and s until overlapping points become easy to read.</a:t>
            </a:r>
            <a:endParaRPr lang="en-US" sz="1300" b="0" u="none" strike="noStrike">
              <a:solidFill>
                <a:srgbClr val="000000"/>
              </a:solidFill>
              <a:effectLst/>
              <a:uFillTx/>
              <a:latin typeface="Arial"/>
            </a:endParaRPr>
          </a:p>
        </p:txBody>
      </p:sp>
      <p:sp>
        <p:nvSpPr>
          <p:cNvPr id="792"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3"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4"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795"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Add a second dataset to the same chart using a different marker and color.</a:t>
            </a:r>
            <a:endParaRPr lang="en-US" sz="1300" b="0" u="none" strike="noStrike">
              <a:solidFill>
                <a:srgbClr val="000000"/>
              </a:solidFill>
              <a:effectLst/>
              <a:uFillTx/>
              <a:latin typeface="Arial"/>
            </a:endParaRPr>
          </a:p>
        </p:txBody>
      </p:sp>
      <p:sp>
        <p:nvSpPr>
          <p:cNvPr id="796"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7"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8"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799"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Decide whether your data shows positive, negative, or no correlation — and say why.</a:t>
            </a:r>
            <a:endParaRPr lang="en-US" sz="1300" b="0" u="none" strike="noStrike">
              <a:solidFill>
                <a:srgbClr val="000000"/>
              </a:solidFill>
              <a:effectLst/>
              <a:uFillTx/>
              <a:latin typeface="Arial"/>
            </a:endParaRPr>
          </a:p>
        </p:txBody>
      </p:sp>
      <p:pic>
        <p:nvPicPr>
          <p:cNvPr id="80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01"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802"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803"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4"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05" name="Image 0" descr="/home/claude/mpl/assets/logo_icon.png"/>
          <p:cNvPicPr/>
          <p:nvPr/>
        </p:nvPicPr>
        <p:blipFill>
          <a:blip r:embed="rId1"/>
          <a:stretch/>
        </p:blipFill>
        <p:spPr>
          <a:xfrm>
            <a:off x="640080" y="548640"/>
            <a:ext cx="438120" cy="525960"/>
          </a:xfrm>
          <a:prstGeom prst="rect">
            <a:avLst/>
          </a:prstGeom>
          <a:noFill/>
          <a:ln w="0">
            <a:noFill/>
          </a:ln>
        </p:spPr>
      </p:pic>
      <p:sp>
        <p:nvSpPr>
          <p:cNvPr id="806"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8 · SUBPLOTS</a:t>
            </a:r>
            <a:endParaRPr lang="en-US" sz="1400" b="0" u="none" strike="noStrike">
              <a:solidFill>
                <a:srgbClr val="FFFFFF"/>
              </a:solidFill>
              <a:effectLst/>
              <a:uFillTx/>
              <a:latin typeface="Arial"/>
            </a:endParaRPr>
          </a:p>
        </p:txBody>
      </p:sp>
      <p:sp>
        <p:nvSpPr>
          <p:cNvPr id="807"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Subplots</a:t>
            </a:r>
            <a:endParaRPr lang="en-US" sz="4000" b="0" u="none" strike="noStrike">
              <a:solidFill>
                <a:srgbClr val="FFFFFF"/>
              </a:solidFill>
              <a:effectLst/>
              <a:uFillTx/>
              <a:latin typeface="Arial"/>
            </a:endParaRPr>
          </a:p>
        </p:txBody>
      </p:sp>
      <p:sp>
        <p:nvSpPr>
          <p:cNvPr id="808"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One Figure, several Axes — building multi-panel charts side by side.</a:t>
            </a:r>
            <a:endParaRPr lang="en-US" sz="1500" b="0" u="none" strike="noStrike">
              <a:solidFill>
                <a:srgbClr val="FFFFFF"/>
              </a:solidFill>
              <a:effectLst/>
              <a:uFillTx/>
              <a:latin typeface="Arial"/>
            </a:endParaRPr>
          </a:p>
        </p:txBody>
      </p:sp>
      <p:sp>
        <p:nvSpPr>
          <p:cNvPr id="809"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54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81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8 · SUBPLOTS</a:t>
            </a:r>
            <a:endParaRPr lang="en-US" sz="1100" b="0" u="none" strike="noStrike">
              <a:solidFill>
                <a:srgbClr val="000000"/>
              </a:solidFill>
              <a:effectLst/>
              <a:uFillTx/>
              <a:latin typeface="Arial"/>
            </a:endParaRPr>
          </a:p>
        </p:txBody>
      </p:sp>
      <p:sp>
        <p:nvSpPr>
          <p:cNvPr id="81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One Figure, Many Axes</a:t>
            </a:r>
            <a:endParaRPr lang="en-US" sz="2600" b="0" u="none" strike="noStrike">
              <a:solidFill>
                <a:srgbClr val="000000"/>
              </a:solidFill>
              <a:effectLst/>
              <a:uFillTx/>
              <a:latin typeface="Arial"/>
            </a:endParaRPr>
          </a:p>
        </p:txBody>
      </p:sp>
      <p:pic>
        <p:nvPicPr>
          <p:cNvPr id="81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1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814" name="Shape 3"/>
          <p:cNvSpPr/>
          <p:nvPr/>
        </p:nvSpPr>
        <p:spPr>
          <a:xfrm>
            <a:off x="548640" y="1691640"/>
            <a:ext cx="6034320" cy="3931200"/>
          </a:xfrm>
          <a:prstGeom prst="roundRect">
            <a:avLst>
              <a:gd name="adj" fmla="val 2326"/>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815" name="Image 1" descr="/home/claude/mpl/charts/subplots_two.png"/>
          <p:cNvPicPr/>
          <p:nvPr/>
        </p:nvPicPr>
        <p:blipFill>
          <a:blip r:embed="rId2"/>
          <a:stretch/>
        </p:blipFill>
        <p:spPr>
          <a:xfrm>
            <a:off x="658440" y="1801440"/>
            <a:ext cx="5814720" cy="3547080"/>
          </a:xfrm>
          <a:prstGeom prst="rect">
            <a:avLst/>
          </a:prstGeom>
          <a:noFill/>
          <a:ln w="0">
            <a:noFill/>
          </a:ln>
        </p:spPr>
      </p:pic>
      <p:sp>
        <p:nvSpPr>
          <p:cNvPr id="816" name="Text 4"/>
          <p:cNvSpPr/>
          <p:nvPr/>
        </p:nvSpPr>
        <p:spPr>
          <a:xfrm>
            <a:off x="548640" y="5349240"/>
            <a:ext cx="603432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One Figure holding two Axes, side by side.</a:t>
            </a:r>
            <a:endParaRPr lang="en-US" sz="950" b="0" u="none" strike="noStrike">
              <a:solidFill>
                <a:srgbClr val="000000"/>
              </a:solidFill>
              <a:effectLst/>
              <a:uFillTx/>
              <a:latin typeface="Arial"/>
            </a:endParaRPr>
          </a:p>
        </p:txBody>
      </p:sp>
      <p:sp>
        <p:nvSpPr>
          <p:cNvPr id="817" name="Text 5"/>
          <p:cNvSpPr/>
          <p:nvPr/>
        </p:nvSpPr>
        <p:spPr>
          <a:xfrm>
            <a:off x="6903720" y="1691640"/>
            <a:ext cx="4754160" cy="39312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A subplot is simply an additional Axes placed inside the same Figure.</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You choose a grid of rows × columns, and each Axes gets its own position in that grid.</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Every Axes still has its own title, labels, legend, and grid — they just share one Figure/canvas.</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This is where the Figure vs. Axes distinction from Part 1 becomes genuinely useful.</a:t>
            </a:r>
            <a:endParaRPr lang="en-US" sz="1300" b="0" u="none" strike="noStrike">
              <a:solidFill>
                <a:srgbClr val="000000"/>
              </a:solidFill>
              <a:effectLst/>
              <a:uFillTx/>
              <a:latin typeface="Arial"/>
            </a:endParaRPr>
          </a:p>
        </p:txBody>
      </p:sp>
      <p:sp>
        <p:nvSpPr>
          <p:cNvPr id="818" name="Text 6"/>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819"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8 · SUBPLOTS</a:t>
            </a:r>
            <a:endParaRPr lang="en-US" sz="1100" b="0" u="none" strike="noStrike">
              <a:solidFill>
                <a:srgbClr val="000000"/>
              </a:solidFill>
              <a:effectLst/>
              <a:uFillTx/>
              <a:latin typeface="Arial"/>
            </a:endParaRPr>
          </a:p>
        </p:txBody>
      </p:sp>
      <p:sp>
        <p:nvSpPr>
          <p:cNvPr id="820"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plt.subplot() — The Classic Way</a:t>
            </a:r>
            <a:endParaRPr lang="en-US" sz="2600" b="0" u="none" strike="noStrike">
              <a:solidFill>
                <a:srgbClr val="000000"/>
              </a:solidFill>
              <a:effectLst/>
              <a:uFillTx/>
              <a:latin typeface="Arial"/>
            </a:endParaRPr>
          </a:p>
        </p:txBody>
      </p:sp>
      <p:pic>
        <p:nvPicPr>
          <p:cNvPr id="82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22"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823"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4"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825"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826"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827"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150" b="0" u="none" strike="noStrike">
                <a:solidFill>
                  <a:srgbClr val="F1F5F9"/>
                </a:solidFill>
                <a:effectLst/>
                <a:uFillTx/>
                <a:latin typeface="Cantarell"/>
                <a:ea typeface="Cantarell"/>
              </a:rPr>
              <a:t>plt.subplot(nrows, ncols, index)</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index is 1-based, not 0-based</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plt.subplot(1, 2, 1)</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plt.plot(x, repositories, marker="o")</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plt.title("Programming Languages")</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plt.subplot(1, 2, 2)</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plt.bar(x, repositories)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plt.title("Repositories by Language")</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plt.show()</a:t>
            </a:r>
            <a:endParaRPr lang="en-US" sz="1150" b="0" u="none" strike="noStrike">
              <a:solidFill>
                <a:srgbClr val="000000"/>
              </a:solidFill>
              <a:effectLst/>
              <a:uFillTx/>
              <a:latin typeface="Arial"/>
            </a:endParaRPr>
          </a:p>
        </p:txBody>
      </p:sp>
      <p:sp>
        <p:nvSpPr>
          <p:cNvPr id="828" name="Shape 8"/>
          <p:cNvSpPr/>
          <p:nvPr/>
        </p:nvSpPr>
        <p:spPr>
          <a:xfrm>
            <a:off x="6172200" y="1691640"/>
            <a:ext cx="5485680" cy="3291120"/>
          </a:xfrm>
          <a:prstGeom prst="roundRect">
            <a:avLst>
              <a:gd name="adj" fmla="val 2778"/>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829" name="Image 1" descr="/home/claude/mpl/charts/subplots_two.png"/>
          <p:cNvPicPr/>
          <p:nvPr/>
        </p:nvPicPr>
        <p:blipFill>
          <a:blip r:embed="rId2"/>
          <a:stretch/>
        </p:blipFill>
        <p:spPr>
          <a:xfrm>
            <a:off x="6282000" y="1801440"/>
            <a:ext cx="5266080" cy="3071520"/>
          </a:xfrm>
          <a:prstGeom prst="rect">
            <a:avLst/>
          </a:prstGeom>
          <a:noFill/>
          <a:ln w="0">
            <a:noFill/>
          </a:ln>
        </p:spPr>
      </p:pic>
      <p:sp>
        <p:nvSpPr>
          <p:cNvPr id="830" name="Text 9"/>
          <p:cNvSpPr/>
          <p:nvPr/>
        </p:nvSpPr>
        <p:spPr>
          <a:xfrm>
            <a:off x="6172200" y="5074920"/>
            <a:ext cx="5485680" cy="6393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50" b="0" i="1" u="none" strike="noStrike">
                <a:solidFill>
                  <a:srgbClr val="474651"/>
                </a:solidFill>
                <a:effectLst/>
                <a:uFillTx/>
                <a:latin typeface="Hanken Grotesk"/>
                <a:ea typeface="Hanken Grotesk"/>
              </a:rPr>
              <a:t>Each plt.subplot(...) call selects a new active Axes — commands after it apply to that panel only.</a:t>
            </a:r>
            <a:endParaRPr lang="en-US" sz="1150" b="0" u="none" strike="noStrike">
              <a:solidFill>
                <a:srgbClr val="000000"/>
              </a:solidFill>
              <a:effectLst/>
              <a:uFillTx/>
              <a:latin typeface="Arial"/>
            </a:endParaRPr>
          </a:p>
        </p:txBody>
      </p:sp>
      <p:sp>
        <p:nvSpPr>
          <p:cNvPr id="831"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83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8 · SUBPLOTS</a:t>
            </a:r>
            <a:endParaRPr lang="en-US" sz="1100" b="0" u="none" strike="noStrike">
              <a:solidFill>
                <a:srgbClr val="000000"/>
              </a:solidFill>
              <a:effectLst/>
              <a:uFillTx/>
              <a:latin typeface="Arial"/>
            </a:endParaRPr>
          </a:p>
        </p:txBody>
      </p:sp>
      <p:sp>
        <p:nvSpPr>
          <p:cNvPr id="83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plt.subplots() — The Modern Way</a:t>
            </a:r>
            <a:endParaRPr lang="en-US" sz="2600" b="0" u="none" strike="noStrike">
              <a:solidFill>
                <a:srgbClr val="000000"/>
              </a:solidFill>
              <a:effectLst/>
              <a:uFillTx/>
              <a:latin typeface="Arial"/>
            </a:endParaRPr>
          </a:p>
        </p:txBody>
      </p:sp>
      <p:pic>
        <p:nvPicPr>
          <p:cNvPr id="83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3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836"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83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83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840"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150" b="0" u="none" strike="noStrike">
                <a:solidFill>
                  <a:srgbClr val="F1F5F9"/>
                </a:solidFill>
                <a:effectLst/>
                <a:uFillTx/>
                <a:latin typeface="Cantarell"/>
                <a:ea typeface="Cantarell"/>
              </a:rPr>
              <a:t>fig, ax = plt.subplots(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1, 2,</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figsize=(10, 5)</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ax[0].plot(x, repositories, marker="o")</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ax[0].set_title("Line Graph")</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ax[1].bar(x, repositories)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ax[1].set_title("Bar Chart")</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plt.tight_layout()</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plt.show()</a:t>
            </a:r>
            <a:endParaRPr lang="en-US" sz="1150" b="0" u="none" strike="noStrike">
              <a:solidFill>
                <a:srgbClr val="000000"/>
              </a:solidFill>
              <a:effectLst/>
              <a:uFillTx/>
              <a:latin typeface="Arial"/>
            </a:endParaRPr>
          </a:p>
        </p:txBody>
      </p:sp>
      <p:sp>
        <p:nvSpPr>
          <p:cNvPr id="841" name="Shape 8"/>
          <p:cNvSpPr/>
          <p:nvPr/>
        </p:nvSpPr>
        <p:spPr>
          <a:xfrm>
            <a:off x="6172200" y="1691640"/>
            <a:ext cx="5485680" cy="3291120"/>
          </a:xfrm>
          <a:prstGeom prst="roundRect">
            <a:avLst>
              <a:gd name="adj" fmla="val 2778"/>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842" name="Image 1" descr="/home/claude/mpl/charts/subplots_two.png"/>
          <p:cNvPicPr/>
          <p:nvPr/>
        </p:nvPicPr>
        <p:blipFill>
          <a:blip r:embed="rId2"/>
          <a:stretch/>
        </p:blipFill>
        <p:spPr>
          <a:xfrm>
            <a:off x="6282000" y="1801440"/>
            <a:ext cx="5266080" cy="3071520"/>
          </a:xfrm>
          <a:prstGeom prst="rect">
            <a:avLst/>
          </a:prstGeom>
          <a:noFill/>
          <a:ln w="0">
            <a:noFill/>
          </a:ln>
        </p:spPr>
      </p:pic>
      <p:sp>
        <p:nvSpPr>
          <p:cNvPr id="843" name="Text 9"/>
          <p:cNvSpPr/>
          <p:nvPr/>
        </p:nvSpPr>
        <p:spPr>
          <a:xfrm>
            <a:off x="6172200" y="5074920"/>
            <a:ext cx="548568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50" b="0" i="1" u="none" strike="noStrike">
                <a:solidFill>
                  <a:srgbClr val="474651"/>
                </a:solidFill>
                <a:effectLst/>
                <a:uFillTx/>
                <a:latin typeface="Hanken Grotesk"/>
                <a:ea typeface="Hanken Grotesk"/>
              </a:rPr>
              <a:t>fig, ax = plt.subplots(...) hands back the Figure and an array of Axes in one line — the foundation of the Object-Oriented API (Part 9).</a:t>
            </a:r>
            <a:endParaRPr lang="en-US" sz="1150" b="0" u="none" strike="noStrike">
              <a:solidFill>
                <a:srgbClr val="000000"/>
              </a:solidFill>
              <a:effectLst/>
              <a:uFillTx/>
              <a:latin typeface="Arial"/>
            </a:endParaRPr>
          </a:p>
        </p:txBody>
      </p:sp>
      <p:sp>
        <p:nvSpPr>
          <p:cNvPr id="844"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84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8 · SUBPLOTS</a:t>
            </a:r>
            <a:endParaRPr lang="en-US" sz="1100" b="0" u="none" strike="noStrike">
              <a:solidFill>
                <a:srgbClr val="000000"/>
              </a:solidFill>
              <a:effectLst/>
              <a:uFillTx/>
              <a:latin typeface="Arial"/>
            </a:endParaRPr>
          </a:p>
        </p:txBody>
      </p:sp>
      <p:sp>
        <p:nvSpPr>
          <p:cNvPr id="84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Quick Reference: Sizing &amp; Layout</a:t>
            </a:r>
            <a:endParaRPr lang="en-US" sz="2600" b="0" u="none" strike="noStrike">
              <a:solidFill>
                <a:srgbClr val="000000"/>
              </a:solidFill>
              <a:effectLst/>
              <a:uFillTx/>
              <a:latin typeface="Arial"/>
            </a:endParaRPr>
          </a:p>
        </p:txBody>
      </p:sp>
      <p:pic>
        <p:nvPicPr>
          <p:cNvPr id="84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4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849" name="Table 0"/>
          <p:cNvGraphicFramePr/>
          <p:nvPr/>
        </p:nvGraphicFramePr>
        <p:xfrm>
          <a:off x="548640" y="1691640"/>
          <a:ext cx="11109240" cy="3931200"/>
        </p:xfrm>
        <a:graphic>
          <a:graphicData uri="http://schemas.openxmlformats.org/drawingml/2006/table">
            <a:tbl>
              <a:tblPr/>
              <a:tblGrid>
                <a:gridCol w="3555000"/>
                <a:gridCol w="7554600"/>
              </a:tblGrid>
              <a:tr h="6552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figsize=(w, h)</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Sets the Figure's width and height, in inches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plt.tight_layout()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Automatically fixes spacing so titles/labels don't overlap</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sharex=True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All Axes in a grid share one X-axis scale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sharey=True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All Axes in a grid share one Y-axis scale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fig, ax = plt.subplots(rows, cols)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Creates a Figure and a grid of Axes together</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850"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851"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52"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853"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8 · SUBPLOTS</a:t>
            </a:r>
            <a:endParaRPr lang="en-US" sz="1100" b="0" u="none" strike="noStrike">
              <a:solidFill>
                <a:srgbClr val="000000"/>
              </a:solidFill>
              <a:effectLst/>
              <a:uFillTx/>
              <a:latin typeface="Arial"/>
            </a:endParaRPr>
          </a:p>
        </p:txBody>
      </p:sp>
      <p:sp>
        <p:nvSpPr>
          <p:cNvPr id="854"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Subplots</a:t>
            </a:r>
            <a:endParaRPr lang="en-US" sz="2300" b="0" u="none" strike="noStrike">
              <a:solidFill>
                <a:srgbClr val="000000"/>
              </a:solidFill>
              <a:effectLst/>
              <a:uFillTx/>
              <a:latin typeface="Arial"/>
            </a:endParaRPr>
          </a:p>
        </p:txBody>
      </p:sp>
      <p:sp>
        <p:nvSpPr>
          <p:cNvPr id="855"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856"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7"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8"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859"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Create a 1×2 subplot grid with plt.subplots() showing a line chart and a bar chart of the same data.</a:t>
            </a:r>
            <a:endParaRPr lang="en-US" sz="1300" b="0" u="none" strike="noStrike">
              <a:solidFill>
                <a:srgbClr val="000000"/>
              </a:solidFill>
              <a:effectLst/>
              <a:uFillTx/>
              <a:latin typeface="Arial"/>
            </a:endParaRPr>
          </a:p>
        </p:txBody>
      </p:sp>
      <p:sp>
        <p:nvSpPr>
          <p:cNvPr id="860"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1"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2"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863"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Add one shared title for the whole Figure using fig.suptitle().</a:t>
            </a:r>
            <a:endParaRPr lang="en-US" sz="1300" b="0" u="none" strike="noStrike">
              <a:solidFill>
                <a:srgbClr val="000000"/>
              </a:solidFill>
              <a:effectLst/>
              <a:uFillTx/>
              <a:latin typeface="Arial"/>
            </a:endParaRPr>
          </a:p>
        </p:txBody>
      </p:sp>
      <p:sp>
        <p:nvSpPr>
          <p:cNvPr id="864"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5"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6"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867"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Call plt.tight_layout() and observe exactly what it changes.</a:t>
            </a:r>
            <a:endParaRPr lang="en-US" sz="1300" b="0" u="none" strike="noStrike">
              <a:solidFill>
                <a:srgbClr val="000000"/>
              </a:solidFill>
              <a:effectLst/>
              <a:uFillTx/>
              <a:latin typeface="Arial"/>
            </a:endParaRPr>
          </a:p>
        </p:txBody>
      </p:sp>
      <p:sp>
        <p:nvSpPr>
          <p:cNvPr id="868" name="Shape 17"/>
          <p:cNvSpPr/>
          <p:nvPr/>
        </p:nvSpPr>
        <p:spPr>
          <a:xfrm>
            <a:off x="548640" y="48736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9" name="Shape 18"/>
          <p:cNvSpPr/>
          <p:nvPr/>
        </p:nvSpPr>
        <p:spPr>
          <a:xfrm>
            <a:off x="731520" y="51206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0" name="Text 19"/>
          <p:cNvSpPr/>
          <p:nvPr/>
        </p:nvSpPr>
        <p:spPr>
          <a:xfrm>
            <a:off x="731520" y="51206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4</a:t>
            </a:r>
            <a:endParaRPr lang="en-US" sz="1300" b="0" u="none" strike="noStrike">
              <a:solidFill>
                <a:srgbClr val="000000"/>
              </a:solidFill>
              <a:effectLst/>
              <a:uFillTx/>
              <a:latin typeface="Arial"/>
            </a:endParaRPr>
          </a:p>
        </p:txBody>
      </p:sp>
      <p:sp>
        <p:nvSpPr>
          <p:cNvPr id="871" name="Text 20"/>
          <p:cNvSpPr/>
          <p:nvPr/>
        </p:nvSpPr>
        <p:spPr>
          <a:xfrm>
            <a:off x="1234440" y="48736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Rebuild the same layout using the older plt.subplot() approach instead.</a:t>
            </a:r>
            <a:endParaRPr lang="en-US" sz="1300" b="0" u="none" strike="noStrike">
              <a:solidFill>
                <a:srgbClr val="000000"/>
              </a:solidFill>
              <a:effectLst/>
              <a:uFillTx/>
              <a:latin typeface="Arial"/>
            </a:endParaRPr>
          </a:p>
        </p:txBody>
      </p:sp>
      <p:pic>
        <p:nvPicPr>
          <p:cNvPr id="87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73" name="Text 21"/>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874" name="Text 22"/>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59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875"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76"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77" name="Image 0" descr="/home/claude/mpl/assets/logo_icon.png"/>
          <p:cNvPicPr/>
          <p:nvPr/>
        </p:nvPicPr>
        <p:blipFill>
          <a:blip r:embed="rId1"/>
          <a:stretch/>
        </p:blipFill>
        <p:spPr>
          <a:xfrm>
            <a:off x="640080" y="548640"/>
            <a:ext cx="438120" cy="525960"/>
          </a:xfrm>
          <a:prstGeom prst="rect">
            <a:avLst/>
          </a:prstGeom>
          <a:noFill/>
          <a:ln w="0">
            <a:noFill/>
          </a:ln>
        </p:spPr>
      </p:pic>
      <p:sp>
        <p:nvSpPr>
          <p:cNvPr id="878"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9 · OBJECT-ORIENTED API</a:t>
            </a:r>
            <a:endParaRPr lang="en-US" sz="1400" b="0" u="none" strike="noStrike">
              <a:solidFill>
                <a:srgbClr val="FFFFFF"/>
              </a:solidFill>
              <a:effectLst/>
              <a:uFillTx/>
              <a:latin typeface="Arial"/>
            </a:endParaRPr>
          </a:p>
        </p:txBody>
      </p:sp>
      <p:sp>
        <p:nvSpPr>
          <p:cNvPr id="879"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The Object-Oriented API</a:t>
            </a:r>
            <a:endParaRPr lang="en-US" sz="4000" b="0" u="none" strike="noStrike">
              <a:solidFill>
                <a:srgbClr val="FFFFFF"/>
              </a:solidFill>
              <a:effectLst/>
              <a:uFillTx/>
              <a:latin typeface="Arial"/>
            </a:endParaRPr>
          </a:p>
        </p:txBody>
      </p:sp>
      <p:sp>
        <p:nvSpPr>
          <p:cNvPr id="880"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The same charts, built by talking to fig and ax directly — the pattern behind every real Matplotlib project.</a:t>
            </a:r>
            <a:endParaRPr lang="en-US" sz="1500" b="0" u="none" strike="noStrike">
              <a:solidFill>
                <a:srgbClr val="FFFFFF"/>
              </a:solidFill>
              <a:effectLst/>
              <a:uFillTx/>
              <a:latin typeface="Arial"/>
            </a:endParaRPr>
          </a:p>
        </p:txBody>
      </p:sp>
      <p:sp>
        <p:nvSpPr>
          <p:cNvPr id="881"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60</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88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9 · OO API</a:t>
            </a:r>
            <a:endParaRPr lang="en-US" sz="1100" b="0" u="none" strike="noStrike">
              <a:solidFill>
                <a:srgbClr val="000000"/>
              </a:solidFill>
              <a:effectLst/>
              <a:uFillTx/>
              <a:latin typeface="Arial"/>
            </a:endParaRPr>
          </a:p>
        </p:txBody>
      </p:sp>
      <p:sp>
        <p:nvSpPr>
          <p:cNvPr id="88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Pyplot vs. Object-Oriented — Side by Side</a:t>
            </a:r>
            <a:endParaRPr lang="en-US" sz="2600" b="0" u="none" strike="noStrike">
              <a:solidFill>
                <a:srgbClr val="000000"/>
              </a:solidFill>
              <a:effectLst/>
              <a:uFillTx/>
              <a:latin typeface="Arial"/>
            </a:endParaRPr>
          </a:p>
        </p:txBody>
      </p:sp>
      <p:pic>
        <p:nvPicPr>
          <p:cNvPr id="88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88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886" name="Shape 3"/>
          <p:cNvSpPr/>
          <p:nvPr/>
        </p:nvSpPr>
        <p:spPr>
          <a:xfrm>
            <a:off x="548640" y="1691640"/>
            <a:ext cx="5211360" cy="3931200"/>
          </a:xfrm>
          <a:prstGeom prst="roundRect">
            <a:avLst>
              <a:gd name="adj" fmla="val 279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7" name="Shape 4"/>
          <p:cNvSpPr/>
          <p:nvPr/>
        </p:nvSpPr>
        <p:spPr>
          <a:xfrm>
            <a:off x="777240" y="1892880"/>
            <a:ext cx="1462320" cy="29196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8" name="Text 5"/>
          <p:cNvSpPr/>
          <p:nvPr/>
        </p:nvSpPr>
        <p:spPr>
          <a:xfrm>
            <a:off x="777240" y="1892880"/>
            <a:ext cx="1462320" cy="291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002019"/>
                </a:solidFill>
                <a:effectLst/>
                <a:uFillTx/>
                <a:latin typeface="Plus Jakarta Sans"/>
                <a:ea typeface="Plus Jakarta Sans"/>
              </a:rPr>
              <a:t>PYPLOT</a:t>
            </a:r>
            <a:endParaRPr lang="en-US" sz="1000" b="0" u="none" strike="noStrike">
              <a:solidFill>
                <a:srgbClr val="000000"/>
              </a:solidFill>
              <a:effectLst/>
              <a:uFillTx/>
              <a:latin typeface="Arial"/>
            </a:endParaRPr>
          </a:p>
        </p:txBody>
      </p:sp>
      <p:sp>
        <p:nvSpPr>
          <p:cNvPr id="889" name="Shape 6"/>
          <p:cNvSpPr/>
          <p:nvPr/>
        </p:nvSpPr>
        <p:spPr>
          <a:xfrm>
            <a:off x="777240" y="2468880"/>
            <a:ext cx="4754160" cy="1553760"/>
          </a:xfrm>
          <a:prstGeom prst="roundRect">
            <a:avLst>
              <a:gd name="adj" fmla="val 7059"/>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0" name="Shape 7"/>
          <p:cNvSpPr/>
          <p:nvPr/>
        </p:nvSpPr>
        <p:spPr>
          <a:xfrm>
            <a:off x="941760" y="261504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891" name="Shape 8"/>
          <p:cNvSpPr/>
          <p:nvPr/>
        </p:nvSpPr>
        <p:spPr>
          <a:xfrm>
            <a:off x="1143000" y="261504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892" name="Shape 9"/>
          <p:cNvSpPr/>
          <p:nvPr/>
        </p:nvSpPr>
        <p:spPr>
          <a:xfrm>
            <a:off x="1344240" y="261504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893" name="Text 10"/>
          <p:cNvSpPr/>
          <p:nvPr/>
        </p:nvSpPr>
        <p:spPr>
          <a:xfrm>
            <a:off x="978480" y="2853000"/>
            <a:ext cx="4351680" cy="102348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500" b="0" u="none" strike="noStrike">
                <a:solidFill>
                  <a:srgbClr val="F1F5F9"/>
                </a:solidFill>
                <a:effectLst/>
                <a:uFillTx/>
                <a:latin typeface="Cantarell"/>
                <a:ea typeface="Cantarell"/>
              </a:rPr>
              <a:t>plt.plot(x, y)</a:t>
            </a: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plt.title("Sales")</a:t>
            </a: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plt.legend()</a:t>
            </a:r>
            <a:endParaRPr lang="en-US" sz="1500" b="0" u="none" strike="noStrike">
              <a:solidFill>
                <a:srgbClr val="000000"/>
              </a:solidFill>
              <a:effectLst/>
              <a:uFillTx/>
              <a:latin typeface="Arial"/>
            </a:endParaRPr>
          </a:p>
        </p:txBody>
      </p:sp>
      <p:sp>
        <p:nvSpPr>
          <p:cNvPr id="894" name="Text 11"/>
          <p:cNvSpPr/>
          <p:nvPr/>
        </p:nvSpPr>
        <p:spPr>
          <a:xfrm>
            <a:off x="777240" y="4206240"/>
            <a:ext cx="4754160" cy="1188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0" u="none" strike="noStrike">
                <a:solidFill>
                  <a:srgbClr val="474651"/>
                </a:solidFill>
                <a:effectLst/>
                <a:uFillTx/>
                <a:latin typeface="Hanken Grotesk"/>
                <a:ea typeface="Hanken Grotesk"/>
              </a:rPr>
              <a:t>Implicit — Matplotlib tracks the "current" figure and axes behind the scenes.</a:t>
            </a:r>
            <a:endParaRPr lang="en-US" sz="1250" b="0" u="none" strike="noStrike">
              <a:solidFill>
                <a:srgbClr val="000000"/>
              </a:solidFill>
              <a:effectLst/>
              <a:uFillTx/>
              <a:latin typeface="Arial"/>
            </a:endParaRPr>
          </a:p>
        </p:txBody>
      </p:sp>
      <p:sp>
        <p:nvSpPr>
          <p:cNvPr id="895" name="Shape 12"/>
          <p:cNvSpPr/>
          <p:nvPr/>
        </p:nvSpPr>
        <p:spPr>
          <a:xfrm>
            <a:off x="6217920" y="1691640"/>
            <a:ext cx="5211360" cy="3931200"/>
          </a:xfrm>
          <a:prstGeom prst="roundRect">
            <a:avLst>
              <a:gd name="adj" fmla="val 279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6" name="Shape 13"/>
          <p:cNvSpPr/>
          <p:nvPr/>
        </p:nvSpPr>
        <p:spPr>
          <a:xfrm>
            <a:off x="6446520" y="1892880"/>
            <a:ext cx="1828080" cy="29196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7" name="Text 14"/>
          <p:cNvSpPr/>
          <p:nvPr/>
        </p:nvSpPr>
        <p:spPr>
          <a:xfrm>
            <a:off x="6446520" y="1892880"/>
            <a:ext cx="1828080" cy="291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231F71"/>
                </a:solidFill>
                <a:effectLst/>
                <a:uFillTx/>
                <a:latin typeface="Plus Jakarta Sans"/>
                <a:ea typeface="Plus Jakarta Sans"/>
              </a:rPr>
              <a:t>OBJECT-ORIENTED</a:t>
            </a:r>
            <a:endParaRPr lang="en-US" sz="1000" b="0" u="none" strike="noStrike">
              <a:solidFill>
                <a:srgbClr val="000000"/>
              </a:solidFill>
              <a:effectLst/>
              <a:uFillTx/>
              <a:latin typeface="Arial"/>
            </a:endParaRPr>
          </a:p>
        </p:txBody>
      </p:sp>
      <p:sp>
        <p:nvSpPr>
          <p:cNvPr id="898" name="Shape 15"/>
          <p:cNvSpPr/>
          <p:nvPr/>
        </p:nvSpPr>
        <p:spPr>
          <a:xfrm>
            <a:off x="6446520" y="2468880"/>
            <a:ext cx="4754160" cy="1553760"/>
          </a:xfrm>
          <a:prstGeom prst="roundRect">
            <a:avLst>
              <a:gd name="adj" fmla="val 7059"/>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9" name="Shape 16"/>
          <p:cNvSpPr/>
          <p:nvPr/>
        </p:nvSpPr>
        <p:spPr>
          <a:xfrm>
            <a:off x="6611040" y="261504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900" name="Shape 17"/>
          <p:cNvSpPr/>
          <p:nvPr/>
        </p:nvSpPr>
        <p:spPr>
          <a:xfrm>
            <a:off x="6812280" y="261504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901" name="Shape 18"/>
          <p:cNvSpPr/>
          <p:nvPr/>
        </p:nvSpPr>
        <p:spPr>
          <a:xfrm>
            <a:off x="7013520" y="261504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902" name="Text 19"/>
          <p:cNvSpPr/>
          <p:nvPr/>
        </p:nvSpPr>
        <p:spPr>
          <a:xfrm>
            <a:off x="6647760" y="2853000"/>
            <a:ext cx="4351680" cy="102348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500" b="0" u="none" strike="noStrike">
                <a:solidFill>
                  <a:srgbClr val="F1F5F9"/>
                </a:solidFill>
                <a:effectLst/>
                <a:uFillTx/>
                <a:latin typeface="Cantarell"/>
                <a:ea typeface="Cantarell"/>
              </a:rPr>
              <a:t>a</a:t>
            </a:r>
            <a:r>
              <a:rPr lang="en-US" sz="1500" b="0" u="none" strike="noStrike">
                <a:solidFill>
                  <a:srgbClr val="F1F5F9"/>
                </a:solidFill>
                <a:effectLst/>
                <a:uFillTx/>
                <a:latin typeface="Cantarell"/>
                <a:ea typeface="Cantarell"/>
              </a:rPr>
              <a:t>x.</a:t>
            </a:r>
            <a:r>
              <a:rPr lang="en-US" sz="1500" b="0" u="none" strike="noStrike">
                <a:solidFill>
                  <a:srgbClr val="F1F5F9"/>
                </a:solidFill>
                <a:effectLst/>
                <a:uFillTx/>
                <a:latin typeface="Cantarell"/>
                <a:ea typeface="Cantarell"/>
              </a:rPr>
              <a:t>pl</a:t>
            </a:r>
            <a:r>
              <a:rPr lang="en-US" sz="1500" b="0" u="none" strike="noStrike">
                <a:solidFill>
                  <a:srgbClr val="F1F5F9"/>
                </a:solidFill>
                <a:effectLst/>
                <a:uFillTx/>
                <a:latin typeface="Cantarell"/>
                <a:ea typeface="Cantarell"/>
              </a:rPr>
              <a:t>o</a:t>
            </a:r>
            <a:r>
              <a:rPr lang="en-US" sz="1500" b="0" u="none" strike="noStrike">
                <a:solidFill>
                  <a:srgbClr val="F1F5F9"/>
                </a:solidFill>
                <a:effectLst/>
                <a:uFillTx/>
                <a:latin typeface="Cantarell"/>
                <a:ea typeface="Cantarell"/>
              </a:rPr>
              <a:t>t(</a:t>
            </a:r>
            <a:r>
              <a:rPr lang="en-US" sz="1500" b="0" u="none" strike="noStrike">
                <a:solidFill>
                  <a:srgbClr val="F1F5F9"/>
                </a:solidFill>
                <a:effectLst/>
                <a:uFillTx/>
                <a:latin typeface="Cantarell"/>
                <a:ea typeface="Cantarell"/>
              </a:rPr>
              <a:t>x, </a:t>
            </a:r>
            <a:r>
              <a:rPr lang="en-US" sz="1500" b="0" u="none" strike="noStrike">
                <a:solidFill>
                  <a:srgbClr val="F1F5F9"/>
                </a:solidFill>
                <a:effectLst/>
                <a:uFillTx/>
                <a:latin typeface="Cantarell"/>
                <a:ea typeface="Cantarell"/>
              </a:rPr>
              <a:t>y)</a:t>
            </a: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a</a:t>
            </a:r>
            <a:r>
              <a:rPr lang="en-US" sz="1500" b="0" u="none" strike="noStrike">
                <a:solidFill>
                  <a:srgbClr val="F1F5F9"/>
                </a:solidFill>
                <a:effectLst/>
                <a:uFillTx/>
                <a:latin typeface="Cantarell"/>
                <a:ea typeface="Cantarell"/>
              </a:rPr>
              <a:t>x.</a:t>
            </a:r>
            <a:r>
              <a:rPr lang="en-US" sz="1500" b="0" u="none" strike="noStrike">
                <a:solidFill>
                  <a:srgbClr val="F1F5F9"/>
                </a:solidFill>
                <a:effectLst/>
                <a:uFillTx/>
                <a:latin typeface="Cantarell"/>
                <a:ea typeface="Cantarell"/>
              </a:rPr>
              <a:t>s</a:t>
            </a:r>
            <a:r>
              <a:rPr lang="en-US" sz="1500" b="0" u="none" strike="noStrike">
                <a:solidFill>
                  <a:srgbClr val="F1F5F9"/>
                </a:solidFill>
                <a:effectLst/>
                <a:uFillTx/>
                <a:latin typeface="Cantarell"/>
                <a:ea typeface="Cantarell"/>
              </a:rPr>
              <a:t>e</a:t>
            </a:r>
            <a:r>
              <a:rPr lang="en-US" sz="1500" b="0" u="none" strike="noStrike">
                <a:solidFill>
                  <a:srgbClr val="F1F5F9"/>
                </a:solidFill>
                <a:effectLst/>
                <a:uFillTx/>
                <a:latin typeface="Cantarell"/>
                <a:ea typeface="Cantarell"/>
              </a:rPr>
              <a:t>t_</a:t>
            </a:r>
            <a:r>
              <a:rPr lang="en-US" sz="1500" b="0" u="none" strike="noStrike">
                <a:solidFill>
                  <a:srgbClr val="F1F5F9"/>
                </a:solidFill>
                <a:effectLst/>
                <a:uFillTx/>
                <a:latin typeface="Cantarell"/>
                <a:ea typeface="Cantarell"/>
              </a:rPr>
              <a:t>ti</a:t>
            </a:r>
            <a:r>
              <a:rPr lang="en-US" sz="1500" b="0" u="none" strike="noStrike">
                <a:solidFill>
                  <a:srgbClr val="F1F5F9"/>
                </a:solidFill>
                <a:effectLst/>
                <a:uFillTx/>
                <a:latin typeface="Cantarell"/>
                <a:ea typeface="Cantarell"/>
              </a:rPr>
              <a:t>tl</a:t>
            </a:r>
            <a:r>
              <a:rPr lang="en-US" sz="1500" b="0" u="none" strike="noStrike">
                <a:solidFill>
                  <a:srgbClr val="F1F5F9"/>
                </a:solidFill>
                <a:effectLst/>
                <a:uFillTx/>
                <a:latin typeface="Cantarell"/>
                <a:ea typeface="Cantarell"/>
              </a:rPr>
              <a:t>e(</a:t>
            </a:r>
            <a:r>
              <a:rPr lang="en-US" sz="1500" b="0" u="none" strike="noStrike">
                <a:solidFill>
                  <a:srgbClr val="F1F5F9"/>
                </a:solidFill>
                <a:effectLst/>
                <a:uFillTx/>
                <a:latin typeface="Cantarell"/>
                <a:ea typeface="Cantarell"/>
              </a:rPr>
              <a:t>"</a:t>
            </a:r>
            <a:r>
              <a:rPr lang="en-US" sz="1500" b="0" u="none" strike="noStrike">
                <a:solidFill>
                  <a:srgbClr val="F1F5F9"/>
                </a:solidFill>
                <a:effectLst/>
                <a:uFillTx/>
                <a:latin typeface="Cantarell"/>
                <a:ea typeface="Cantarell"/>
              </a:rPr>
              <a:t>S</a:t>
            </a:r>
            <a:r>
              <a:rPr lang="en-US" sz="1500" b="0" u="none" strike="noStrike">
                <a:solidFill>
                  <a:srgbClr val="F1F5F9"/>
                </a:solidFill>
                <a:effectLst/>
                <a:uFillTx/>
                <a:latin typeface="Cantarell"/>
                <a:ea typeface="Cantarell"/>
              </a:rPr>
              <a:t>al</a:t>
            </a:r>
            <a:r>
              <a:rPr lang="en-US" sz="1500" b="0" u="none" strike="noStrike">
                <a:solidFill>
                  <a:srgbClr val="F1F5F9"/>
                </a:solidFill>
                <a:effectLst/>
                <a:uFillTx/>
                <a:latin typeface="Cantarell"/>
                <a:ea typeface="Cantarell"/>
              </a:rPr>
              <a:t>e</a:t>
            </a:r>
            <a:r>
              <a:rPr lang="en-US" sz="1500" b="0" u="none" strike="noStrike">
                <a:solidFill>
                  <a:srgbClr val="F1F5F9"/>
                </a:solidFill>
                <a:effectLst/>
                <a:uFillTx/>
                <a:latin typeface="Cantarell"/>
                <a:ea typeface="Cantarell"/>
              </a:rPr>
              <a:t>s</a:t>
            </a:r>
            <a:r>
              <a:rPr lang="en-US" sz="1500" b="0" u="none" strike="noStrike">
                <a:solidFill>
                  <a:srgbClr val="F1F5F9"/>
                </a:solidFill>
                <a:effectLst/>
                <a:uFillTx/>
                <a:latin typeface="Cantarell"/>
                <a:ea typeface="Cantarell"/>
              </a:rPr>
              <a:t>")</a:t>
            </a:r>
            <a:endParaRPr lang="en-US" sz="1500" b="0" u="none" strike="noStrike">
              <a:solidFill>
                <a:srgbClr val="000000"/>
              </a:solidFill>
              <a:effectLst/>
              <a:uFillTx/>
              <a:latin typeface="Arial"/>
            </a:endParaRPr>
          </a:p>
          <a:p>
            <a:pPr defTabSz="914400">
              <a:lnSpc>
                <a:spcPct val="118000"/>
              </a:lnSpc>
              <a:tabLst>
                <a:tab pos="0" algn="l"/>
              </a:tabLst>
            </a:pPr>
            <a:r>
              <a:rPr lang="en-US" sz="1500" b="0" u="none" strike="noStrike">
                <a:solidFill>
                  <a:srgbClr val="F1F5F9"/>
                </a:solidFill>
                <a:effectLst/>
                <a:uFillTx/>
                <a:latin typeface="Cantarell"/>
                <a:ea typeface="Cantarell"/>
              </a:rPr>
              <a:t>a</a:t>
            </a:r>
            <a:r>
              <a:rPr lang="en-US" sz="1500" b="0" u="none" strike="noStrike">
                <a:solidFill>
                  <a:srgbClr val="F1F5F9"/>
                </a:solidFill>
                <a:effectLst/>
                <a:uFillTx/>
                <a:latin typeface="Cantarell"/>
                <a:ea typeface="Cantarell"/>
              </a:rPr>
              <a:t>x.</a:t>
            </a:r>
            <a:r>
              <a:rPr lang="en-US" sz="1500" b="0" u="none" strike="noStrike">
                <a:solidFill>
                  <a:srgbClr val="F1F5F9"/>
                </a:solidFill>
                <a:effectLst/>
                <a:uFillTx/>
                <a:latin typeface="Cantarell"/>
                <a:ea typeface="Cantarell"/>
              </a:rPr>
              <a:t>le</a:t>
            </a:r>
            <a:r>
              <a:rPr lang="en-US" sz="1500" b="0" u="none" strike="noStrike">
                <a:solidFill>
                  <a:srgbClr val="F1F5F9"/>
                </a:solidFill>
                <a:effectLst/>
                <a:uFillTx/>
                <a:latin typeface="Cantarell"/>
                <a:ea typeface="Cantarell"/>
              </a:rPr>
              <a:t>g</a:t>
            </a:r>
            <a:r>
              <a:rPr lang="en-US" sz="1500" b="0" u="none" strike="noStrike">
                <a:solidFill>
                  <a:srgbClr val="F1F5F9"/>
                </a:solidFill>
                <a:effectLst/>
                <a:uFillTx/>
                <a:latin typeface="Cantarell"/>
                <a:ea typeface="Cantarell"/>
              </a:rPr>
              <a:t>e</a:t>
            </a:r>
            <a:r>
              <a:rPr lang="en-US" sz="1500" b="0" u="none" strike="noStrike">
                <a:solidFill>
                  <a:srgbClr val="F1F5F9"/>
                </a:solidFill>
                <a:effectLst/>
                <a:uFillTx/>
                <a:latin typeface="Cantarell"/>
                <a:ea typeface="Cantarell"/>
              </a:rPr>
              <a:t>n</a:t>
            </a:r>
            <a:r>
              <a:rPr lang="en-US" sz="1500" b="0" u="none" strike="noStrike">
                <a:solidFill>
                  <a:srgbClr val="F1F5F9"/>
                </a:solidFill>
                <a:effectLst/>
                <a:uFillTx/>
                <a:latin typeface="Cantarell"/>
                <a:ea typeface="Cantarell"/>
              </a:rPr>
              <a:t>d(</a:t>
            </a:r>
            <a:r>
              <a:rPr lang="en-US" sz="1500" b="0" u="none" strike="noStrike">
                <a:solidFill>
                  <a:srgbClr val="F1F5F9"/>
                </a:solidFill>
                <a:effectLst/>
                <a:uFillTx/>
                <a:latin typeface="Cantarell"/>
                <a:ea typeface="Cantarell"/>
              </a:rPr>
              <a:t>)</a:t>
            </a:r>
            <a:endParaRPr lang="en-US" sz="1500" b="0" u="none" strike="noStrike">
              <a:solidFill>
                <a:srgbClr val="000000"/>
              </a:solidFill>
              <a:effectLst/>
              <a:uFillTx/>
              <a:latin typeface="Arial"/>
            </a:endParaRPr>
          </a:p>
        </p:txBody>
      </p:sp>
      <p:sp>
        <p:nvSpPr>
          <p:cNvPr id="903" name="Text 20"/>
          <p:cNvSpPr/>
          <p:nvPr/>
        </p:nvSpPr>
        <p:spPr>
          <a:xfrm>
            <a:off x="6446520" y="4206240"/>
            <a:ext cx="4754160" cy="118800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1250" b="0" u="none" strike="noStrike">
                <a:solidFill>
                  <a:srgbClr val="474651"/>
                </a:solidFill>
                <a:effectLst/>
                <a:uFillTx/>
                <a:latin typeface="Hanken Grotesk"/>
                <a:ea typeface="Hanken Grotesk"/>
              </a:rPr>
              <a:t>Explicit — you name exactly which Axes you're drawing on, every time.</a:t>
            </a:r>
            <a:endParaRPr lang="en-US" sz="1250" b="0" u="none" strike="noStrike">
              <a:solidFill>
                <a:srgbClr val="000000"/>
              </a:solidFill>
              <a:effectLst/>
              <a:uFillTx/>
              <a:latin typeface="Arial"/>
            </a:endParaRPr>
          </a:p>
        </p:txBody>
      </p:sp>
      <p:sp>
        <p:nvSpPr>
          <p:cNvPr id="904" name="Text 21"/>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0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9 · OO API</a:t>
            </a:r>
            <a:endParaRPr lang="en-US" sz="1100" b="0" u="none" strike="noStrike">
              <a:solidFill>
                <a:srgbClr val="000000"/>
              </a:solidFill>
              <a:effectLst/>
              <a:uFillTx/>
              <a:latin typeface="Arial"/>
            </a:endParaRPr>
          </a:p>
        </p:txBody>
      </p:sp>
      <p:sp>
        <p:nvSpPr>
          <p:cNvPr id="90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Meet fig and ax</a:t>
            </a:r>
            <a:endParaRPr lang="en-US" sz="2600" b="0" u="none" strike="noStrike">
              <a:solidFill>
                <a:srgbClr val="000000"/>
              </a:solidFill>
              <a:effectLst/>
              <a:uFillTx/>
              <a:latin typeface="Arial"/>
            </a:endParaRPr>
          </a:p>
        </p:txBody>
      </p:sp>
      <p:pic>
        <p:nvPicPr>
          <p:cNvPr id="90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0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909" name="Text 3"/>
          <p:cNvSpPr/>
          <p:nvPr/>
        </p:nvSpPr>
        <p:spPr>
          <a:xfrm>
            <a:off x="548640" y="1737360"/>
            <a:ext cx="5851440" cy="39312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400" b="0" u="none" strike="noStrike">
                <a:solidFill>
                  <a:srgbClr val="1B1B20"/>
                </a:solidFill>
                <a:effectLst/>
                <a:uFillTx/>
                <a:latin typeface="Hanken Grotesk"/>
                <a:ea typeface="Hanken Grotesk"/>
              </a:rPr>
              <a:t>fig, ax = plt.subplots() creates both objects in one line.</a:t>
            </a:r>
            <a:endParaRPr lang="en-US" sz="14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400" b="0" u="none" strike="noStrike">
                <a:solidFill>
                  <a:srgbClr val="1B1B20"/>
                </a:solidFill>
                <a:effectLst/>
                <a:uFillTx/>
                <a:latin typeface="Hanken Grotesk"/>
                <a:ea typeface="Hanken Grotesk"/>
              </a:rPr>
              <a:t>fig is the whole canvas — used for figure-level things like size and saving.</a:t>
            </a:r>
            <a:endParaRPr lang="en-US" sz="14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400" b="0" u="none" strike="noStrike">
                <a:solidFill>
                  <a:srgbClr val="1B1B20"/>
                </a:solidFill>
                <a:effectLst/>
                <a:uFillTx/>
                <a:latin typeface="Hanken Grotesk"/>
                <a:ea typeface="Hanken Grotesk"/>
              </a:rPr>
              <a:t>ax is the individual plotting surface — used for everything you draw and label.</a:t>
            </a:r>
            <a:endParaRPr lang="en-US" sz="14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400" b="0" u="none" strike="noStrike">
                <a:solidFill>
                  <a:srgbClr val="1B1B20"/>
                </a:solidFill>
                <a:effectLst/>
                <a:uFillTx/>
                <a:latin typeface="Hanken Grotesk"/>
                <a:ea typeface="Hanken Grotesk"/>
              </a:rPr>
              <a:t>With multiple subplots, ax becomes a list/array — ax[0], ax[1], and so on.</a:t>
            </a:r>
            <a:endParaRPr lang="en-US" sz="14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400" b="0" u="none" strike="noStrike">
                <a:solidFill>
                  <a:srgbClr val="1B1B20"/>
                </a:solidFill>
                <a:effectLst/>
                <a:uFillTx/>
                <a:latin typeface="Hanken Grotesk"/>
                <a:ea typeface="Hanken Grotesk"/>
              </a:rPr>
              <a:t>Holding onto ax explicitly is what makes it possible to build reusable plotting functions later.</a:t>
            </a:r>
            <a:endParaRPr lang="en-US" sz="1400" b="0" u="none" strike="noStrike">
              <a:solidFill>
                <a:srgbClr val="000000"/>
              </a:solidFill>
              <a:effectLst/>
              <a:uFillTx/>
              <a:latin typeface="Arial"/>
            </a:endParaRPr>
          </a:p>
        </p:txBody>
      </p:sp>
      <p:sp>
        <p:nvSpPr>
          <p:cNvPr id="910" name="Shape 4"/>
          <p:cNvSpPr/>
          <p:nvPr/>
        </p:nvSpPr>
        <p:spPr>
          <a:xfrm>
            <a:off x="6675120" y="1737360"/>
            <a:ext cx="4982760" cy="3931200"/>
          </a:xfrm>
          <a:prstGeom prst="roundRect">
            <a:avLst>
              <a:gd name="adj" fmla="val 279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1" name="Shape 5"/>
          <p:cNvSpPr/>
          <p:nvPr/>
        </p:nvSpPr>
        <p:spPr>
          <a:xfrm>
            <a:off x="6839640" y="188352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912" name="Shape 6"/>
          <p:cNvSpPr/>
          <p:nvPr/>
        </p:nvSpPr>
        <p:spPr>
          <a:xfrm>
            <a:off x="7040880" y="188352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913" name="Shape 7"/>
          <p:cNvSpPr/>
          <p:nvPr/>
        </p:nvSpPr>
        <p:spPr>
          <a:xfrm>
            <a:off x="7242120" y="188352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914" name="Text 8"/>
          <p:cNvSpPr/>
          <p:nvPr/>
        </p:nvSpPr>
        <p:spPr>
          <a:xfrm>
            <a:off x="6876360" y="2121480"/>
            <a:ext cx="4580280" cy="340092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50" b="0" u="none" strike="noStrike">
                <a:solidFill>
                  <a:srgbClr val="F1F5F9"/>
                </a:solidFill>
                <a:effectLst/>
                <a:uFillTx/>
                <a:latin typeface="Cantarell"/>
                <a:ea typeface="Cantarell"/>
              </a:rPr>
              <a:t>fig, ax = plt.subplots(figsize=(6, 4))</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ax.plot(x, y, color="#5755A7")</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ax.set_title("Revenue Over Time")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ax.set_xlabel("Month")</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ax.set_ylabel("Revenue")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ax.legend()</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ax.grid(alpha=0.3)</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F1F5F9"/>
                </a:solidFill>
                <a:effectLst/>
                <a:uFillTx/>
                <a:latin typeface="Cantarell"/>
                <a:ea typeface="Cantarell"/>
              </a:rPr>
              <a:t>fig.savefig("revenue.png")</a:t>
            </a:r>
            <a:endParaRPr lang="en-US" sz="1250" b="0" u="none" strike="noStrike">
              <a:solidFill>
                <a:srgbClr val="000000"/>
              </a:solidFill>
              <a:effectLst/>
              <a:uFillTx/>
              <a:latin typeface="Arial"/>
            </a:endParaRPr>
          </a:p>
        </p:txBody>
      </p:sp>
      <p:sp>
        <p:nvSpPr>
          <p:cNvPr id="915"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1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9 · OO API</a:t>
            </a:r>
            <a:endParaRPr lang="en-US" sz="1100" b="0" u="none" strike="noStrike">
              <a:solidFill>
                <a:srgbClr val="000000"/>
              </a:solidFill>
              <a:effectLst/>
              <a:uFillTx/>
              <a:latin typeface="Arial"/>
            </a:endParaRPr>
          </a:p>
        </p:txBody>
      </p:sp>
      <p:sp>
        <p:nvSpPr>
          <p:cNvPr id="91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Axe</a:t>
            </a:r>
            <a:r>
              <a:rPr lang="en-US" sz="2600" b="1" u="none" spc="-31" strike="noStrike">
                <a:solidFill>
                  <a:srgbClr val="1B1B20"/>
                </a:solidFill>
                <a:effectLst/>
                <a:uFillTx/>
                <a:latin typeface="Bricolage Grotesque"/>
                <a:ea typeface="Bricolage Grotesque"/>
              </a:rPr>
              <a:t>s by </a:t>
            </a:r>
            <a:r>
              <a:rPr lang="en-US" sz="2600" b="1" u="none" spc="-31" strike="noStrike">
                <a:solidFill>
                  <a:srgbClr val="1B1B20"/>
                </a:solidFill>
                <a:effectLst/>
                <a:uFillTx/>
                <a:latin typeface="Bricolage Grotesque"/>
                <a:ea typeface="Bricolage Grotesque"/>
              </a:rPr>
              <a:t>Ha</a:t>
            </a:r>
            <a:r>
              <a:rPr lang="en-US" sz="2600" b="1" u="none" spc="-31" strike="noStrike">
                <a:solidFill>
                  <a:srgbClr val="1B1B20"/>
                </a:solidFill>
                <a:effectLst/>
                <a:uFillTx/>
                <a:latin typeface="Bricolage Grotesque"/>
                <a:ea typeface="Bricolage Grotesque"/>
              </a:rPr>
              <a:t>nd </a:t>
            </a:r>
            <a:r>
              <a:rPr lang="en-US" sz="2600" b="1" u="none" spc="-31" strike="noStrike">
                <a:solidFill>
                  <a:srgbClr val="1B1B20"/>
                </a:solidFill>
                <a:effectLst/>
                <a:uFillTx/>
                <a:latin typeface="Bricolage Grotesque"/>
                <a:ea typeface="Bricolage Grotesque"/>
              </a:rPr>
              <a:t>— </a:t>
            </a:r>
            <a:r>
              <a:rPr lang="en-US" sz="2600" b="1" u="none" spc="-31" strike="noStrike">
                <a:solidFill>
                  <a:srgbClr val="1B1B20"/>
                </a:solidFill>
                <a:effectLst/>
                <a:uFillTx/>
                <a:latin typeface="Bricolage Grotesque"/>
                <a:ea typeface="Bricolage Grotesque"/>
              </a:rPr>
              <a:t>fig.</a:t>
            </a:r>
            <a:r>
              <a:rPr lang="en-US" sz="2600" b="1" u="none" spc="-31" strike="noStrike">
                <a:solidFill>
                  <a:srgbClr val="1B1B20"/>
                </a:solidFill>
                <a:effectLst/>
                <a:uFillTx/>
                <a:latin typeface="Bricolage Grotesque"/>
                <a:ea typeface="Bricolage Grotesque"/>
              </a:rPr>
              <a:t>add</a:t>
            </a:r>
            <a:r>
              <a:rPr lang="en-US" sz="2600" b="1" u="none" spc="-31" strike="noStrike">
                <a:solidFill>
                  <a:srgbClr val="1B1B20"/>
                </a:solidFill>
                <a:effectLst/>
                <a:uFillTx/>
                <a:latin typeface="Bricolage Grotesque"/>
                <a:ea typeface="Bricolage Grotesque"/>
              </a:rPr>
              <a:t>_ax</a:t>
            </a:r>
            <a:r>
              <a:rPr lang="en-US" sz="2600" b="1" u="none" spc="-31" strike="noStrike">
                <a:solidFill>
                  <a:srgbClr val="1B1B20"/>
                </a:solidFill>
                <a:effectLst/>
                <a:uFillTx/>
                <a:latin typeface="Bricolage Grotesque"/>
                <a:ea typeface="Bricolage Grotesque"/>
              </a:rPr>
              <a:t>es() </a:t>
            </a:r>
            <a:r>
              <a:rPr lang="en-US" sz="2600" b="1" u="none" spc="-31" strike="noStrike">
                <a:solidFill>
                  <a:srgbClr val="1B1B20"/>
                </a:solidFill>
                <a:effectLst/>
                <a:uFillTx/>
                <a:latin typeface="Bricolage Grotesque"/>
                <a:ea typeface="Bricolage Grotesque"/>
              </a:rPr>
              <a:t>&amp; </a:t>
            </a:r>
            <a:r>
              <a:rPr lang="en-US" sz="2600" b="1" u="none" spc="-31" strike="noStrike">
                <a:solidFill>
                  <a:srgbClr val="1B1B20"/>
                </a:solidFill>
                <a:effectLst/>
                <a:uFillTx/>
                <a:latin typeface="Bricolage Grotesque"/>
                <a:ea typeface="Bricolage Grotesque"/>
              </a:rPr>
              <a:t>Ins</a:t>
            </a:r>
            <a:r>
              <a:rPr lang="en-US" sz="2600" b="1" u="none" spc="-31" strike="noStrike">
                <a:solidFill>
                  <a:srgbClr val="1B1B20"/>
                </a:solidFill>
                <a:effectLst/>
                <a:uFillTx/>
                <a:latin typeface="Bricolage Grotesque"/>
                <a:ea typeface="Bricolage Grotesque"/>
              </a:rPr>
              <a:t>ets</a:t>
            </a:r>
            <a:endParaRPr lang="en-US" sz="2600" b="0" u="none" strike="noStrike">
              <a:solidFill>
                <a:srgbClr val="000000"/>
              </a:solidFill>
              <a:effectLst/>
              <a:uFillTx/>
              <a:latin typeface="Arial"/>
            </a:endParaRPr>
          </a:p>
        </p:txBody>
      </p:sp>
      <p:pic>
        <p:nvPicPr>
          <p:cNvPr id="91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1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a:t>
            </a:r>
            <a:r>
              <a:rPr lang="en-US" sz="900" b="0" u="none" strike="noStrike">
                <a:solidFill>
                  <a:srgbClr val="474651"/>
                </a:solidFill>
                <a:effectLst/>
                <a:uFillTx/>
                <a:latin typeface="Plus Jakarta Sans"/>
                <a:ea typeface="Plus Jakarta Sans"/>
              </a:rPr>
              <a:t>de</a:t>
            </a:r>
            <a:r>
              <a:rPr lang="en-US" sz="900" b="0" u="none" strike="noStrike">
                <a:solidFill>
                  <a:srgbClr val="474651"/>
                </a:solidFill>
                <a:effectLst/>
                <a:uFillTx/>
                <a:latin typeface="Plus Jakarta Sans"/>
                <a:ea typeface="Plus Jakarta Sans"/>
              </a:rPr>
              <a:t>ByP</a:t>
            </a:r>
            <a:r>
              <a:rPr lang="en-US" sz="900" b="0" u="none" strike="noStrike">
                <a:solidFill>
                  <a:srgbClr val="474651"/>
                </a:solidFill>
                <a:effectLst/>
                <a:uFillTx/>
                <a:latin typeface="Plus Jakarta Sans"/>
                <a:ea typeface="Plus Jakarta Sans"/>
              </a:rPr>
              <a:t>axt</a:t>
            </a:r>
            <a:r>
              <a:rPr lang="en-US" sz="900" b="0" u="none" strike="noStrike">
                <a:solidFill>
                  <a:srgbClr val="474651"/>
                </a:solidFill>
                <a:effectLst/>
                <a:uFillTx/>
                <a:latin typeface="Plus Jakarta Sans"/>
                <a:ea typeface="Plus Jakarta Sans"/>
              </a:rPr>
              <a:t>o  ·  </a:t>
            </a:r>
            <a:r>
              <a:rPr lang="en-US" sz="900" b="0" u="none" strike="noStrike">
                <a:solidFill>
                  <a:srgbClr val="474651"/>
                </a:solidFill>
                <a:effectLst/>
                <a:uFillTx/>
                <a:latin typeface="Plus Jakarta Sans"/>
                <a:ea typeface="Plus Jakarta Sans"/>
              </a:rPr>
              <a:t>AI </a:t>
            </a:r>
            <a:r>
              <a:rPr lang="en-US" sz="900" b="0" u="none" strike="noStrike">
                <a:solidFill>
                  <a:srgbClr val="474651"/>
                </a:solidFill>
                <a:effectLst/>
                <a:uFillTx/>
                <a:latin typeface="Plus Jakarta Sans"/>
                <a:ea typeface="Plus Jakarta Sans"/>
              </a:rPr>
              <a:t>&amp; </a:t>
            </a:r>
            <a:r>
              <a:rPr lang="en-US" sz="900" b="0" u="none" strike="noStrike">
                <a:solidFill>
                  <a:srgbClr val="474651"/>
                </a:solidFill>
                <a:effectLst/>
                <a:uFillTx/>
                <a:latin typeface="Plus Jakarta Sans"/>
                <a:ea typeface="Plus Jakarta Sans"/>
              </a:rPr>
              <a:t>ML </a:t>
            </a:r>
            <a:r>
              <a:rPr lang="en-US" sz="900" b="0" u="none" strike="noStrike">
                <a:solidFill>
                  <a:srgbClr val="474651"/>
                </a:solidFill>
                <a:effectLst/>
                <a:uFillTx/>
                <a:latin typeface="Plus Jakarta Sans"/>
                <a:ea typeface="Plus Jakarta Sans"/>
              </a:rPr>
              <a:t>Pla</a:t>
            </a:r>
            <a:r>
              <a:rPr lang="en-US" sz="900" b="0" u="none" strike="noStrike">
                <a:solidFill>
                  <a:srgbClr val="474651"/>
                </a:solidFill>
                <a:effectLst/>
                <a:uFillTx/>
                <a:latin typeface="Plus Jakarta Sans"/>
                <a:ea typeface="Plus Jakarta Sans"/>
              </a:rPr>
              <a:t>ygr</a:t>
            </a:r>
            <a:r>
              <a:rPr lang="en-US" sz="900" b="0" u="none" strike="noStrike">
                <a:solidFill>
                  <a:srgbClr val="474651"/>
                </a:solidFill>
                <a:effectLst/>
                <a:uFillTx/>
                <a:latin typeface="Plus Jakarta Sans"/>
                <a:ea typeface="Plus Jakarta Sans"/>
              </a:rPr>
              <a:t>ou</a:t>
            </a:r>
            <a:r>
              <a:rPr lang="en-US" sz="900" b="0" u="none" strike="noStrike">
                <a:solidFill>
                  <a:srgbClr val="474651"/>
                </a:solidFill>
                <a:effectLst/>
                <a:uFillTx/>
                <a:latin typeface="Plus Jakarta Sans"/>
                <a:ea typeface="Plus Jakarta Sans"/>
              </a:rPr>
              <a:t>nd  </a:t>
            </a:r>
            <a:r>
              <a:rPr lang="en-US" sz="900" b="0" u="none" strike="noStrike">
                <a:solidFill>
                  <a:srgbClr val="474651"/>
                </a:solidFill>
                <a:effectLst/>
                <a:uFillTx/>
                <a:latin typeface="Plus Jakarta Sans"/>
                <a:ea typeface="Plus Jakarta Sans"/>
              </a:rPr>
              <a:t>·  </a:t>
            </a:r>
            <a:r>
              <a:rPr lang="en-US" sz="900" b="0" u="none" strike="noStrike">
                <a:solidFill>
                  <a:srgbClr val="474651"/>
                </a:solidFill>
                <a:effectLst/>
                <a:uFillTx/>
                <a:latin typeface="Plus Jakarta Sans"/>
                <a:ea typeface="Plus Jakarta Sans"/>
              </a:rPr>
              <a:t>Haf</a:t>
            </a:r>
            <a:r>
              <a:rPr lang="en-US" sz="900" b="0" u="none" strike="noStrike">
                <a:solidFill>
                  <a:srgbClr val="474651"/>
                </a:solidFill>
                <a:effectLst/>
                <a:uFillTx/>
                <a:latin typeface="Plus Jakarta Sans"/>
                <a:ea typeface="Plus Jakarta Sans"/>
              </a:rPr>
              <a:t>iz </a:t>
            </a:r>
            <a:r>
              <a:rPr lang="en-US" sz="900" b="0" u="none" strike="noStrike">
                <a:solidFill>
                  <a:srgbClr val="474651"/>
                </a:solidFill>
                <a:effectLst/>
                <a:uFillTx/>
                <a:latin typeface="Plus Jakarta Sans"/>
                <a:ea typeface="Plus Jakarta Sans"/>
              </a:rPr>
              <a:t>Wa</a:t>
            </a:r>
            <a:r>
              <a:rPr lang="en-US" sz="900" b="0" u="none" strike="noStrike">
                <a:solidFill>
                  <a:srgbClr val="474651"/>
                </a:solidFill>
                <a:effectLst/>
                <a:uFillTx/>
                <a:latin typeface="Plus Jakarta Sans"/>
                <a:ea typeface="Plus Jakarta Sans"/>
              </a:rPr>
              <a:t>see</a:t>
            </a:r>
            <a:r>
              <a:rPr lang="en-US" sz="900" b="0" u="none" strike="noStrike">
                <a:solidFill>
                  <a:srgbClr val="474651"/>
                </a:solidFill>
                <a:effectLst/>
                <a:uFillTx/>
                <a:latin typeface="Plus Jakarta Sans"/>
                <a:ea typeface="Plus Jakarta Sans"/>
              </a:rPr>
              <a:t>m </a:t>
            </a:r>
            <a:r>
              <a:rPr lang="en-US" sz="900" b="0" u="none" strike="noStrike">
                <a:solidFill>
                  <a:srgbClr val="474651"/>
                </a:solidFill>
                <a:effectLst/>
                <a:uFillTx/>
                <a:latin typeface="Plus Jakarta Sans"/>
                <a:ea typeface="Plus Jakarta Sans"/>
              </a:rPr>
              <a:t>Ah</a:t>
            </a:r>
            <a:r>
              <a:rPr lang="en-US" sz="900" b="0" u="none" strike="noStrike">
                <a:solidFill>
                  <a:srgbClr val="474651"/>
                </a:solidFill>
                <a:effectLst/>
                <a:uFillTx/>
                <a:latin typeface="Plus Jakarta Sans"/>
                <a:ea typeface="Plus Jakarta Sans"/>
              </a:rPr>
              <a:t>me</a:t>
            </a:r>
            <a:r>
              <a:rPr lang="en-US" sz="900" b="0" u="none" strike="noStrike">
                <a:solidFill>
                  <a:srgbClr val="474651"/>
                </a:solidFill>
                <a:effectLst/>
                <a:uFillTx/>
                <a:latin typeface="Plus Jakarta Sans"/>
                <a:ea typeface="Plus Jakarta Sans"/>
              </a:rPr>
              <a:t>d </a:t>
            </a:r>
            <a:r>
              <a:rPr lang="en-US" sz="900" b="0" u="none" strike="noStrike">
                <a:solidFill>
                  <a:srgbClr val="474651"/>
                </a:solidFill>
                <a:effectLst/>
                <a:uFillTx/>
                <a:latin typeface="Plus Jakarta Sans"/>
                <a:ea typeface="Plus Jakarta Sans"/>
              </a:rPr>
              <a:t>(Pa</a:t>
            </a:r>
            <a:r>
              <a:rPr lang="en-US" sz="900" b="0" u="none" strike="noStrike">
                <a:solidFill>
                  <a:srgbClr val="474651"/>
                </a:solidFill>
                <a:effectLst/>
                <a:uFillTx/>
                <a:latin typeface="Plus Jakarta Sans"/>
                <a:ea typeface="Plus Jakarta Sans"/>
              </a:rPr>
              <a:t>xto</a:t>
            </a:r>
            <a:r>
              <a:rPr lang="en-US" sz="900" b="0" u="none" strike="noStrike">
                <a:solidFill>
                  <a:srgbClr val="474651"/>
                </a:solidFill>
                <a:effectLst/>
                <a:uFillTx/>
                <a:latin typeface="Plus Jakarta Sans"/>
                <a:ea typeface="Plus Jakarta Sans"/>
              </a:rPr>
              <a:t>)</a:t>
            </a:r>
            <a:endParaRPr lang="en-US" sz="900" b="0" u="none" strike="noStrike">
              <a:solidFill>
                <a:srgbClr val="000000"/>
              </a:solidFill>
              <a:effectLst/>
              <a:uFillTx/>
              <a:latin typeface="Arial"/>
            </a:endParaRPr>
          </a:p>
        </p:txBody>
      </p:sp>
      <p:sp>
        <p:nvSpPr>
          <p:cNvPr id="920"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1"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922"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923"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924"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fig = plt.figure(figsize=(20, 8))</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main = fig.add_axes([0.1, 0.1, 0.8, 0.8])</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main.plot(x, y)</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inset = fig.add_axes([0.3, 0.3, 0.5, 0.5])</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inset.plot(a, b)</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[left, bottom, width, height]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each one a fraction (0-1) of the Figure</a:t>
            </a:r>
            <a:endParaRPr lang="en-US" sz="1300" b="0" u="none" strike="noStrike">
              <a:solidFill>
                <a:srgbClr val="000000"/>
              </a:solidFill>
              <a:effectLst/>
              <a:uFillTx/>
              <a:latin typeface="Arial"/>
            </a:endParaRPr>
          </a:p>
        </p:txBody>
      </p:sp>
      <p:sp>
        <p:nvSpPr>
          <p:cNvPr id="925" name="Text 8"/>
          <p:cNvSpPr/>
          <p:nvPr/>
        </p:nvSpPr>
        <p:spPr>
          <a:xfrm>
            <a:off x="6309360" y="3940920"/>
            <a:ext cx="5348520" cy="19566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add_axes([left, bottom, width, height]) places an Axes anywhere using fractions of the Figure — overlap two for an inset.</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Careful: figsize=(20, 8) at dpi=1000 is a 20,000 × 8,000 px canvas. Keep dpi low while experimenting.</a:t>
            </a:r>
            <a:endParaRPr lang="en-US" sz="1300" b="0" u="none" strike="noStrike">
              <a:solidFill>
                <a:srgbClr val="000000"/>
              </a:solidFill>
              <a:effectLst/>
              <a:uFillTx/>
              <a:latin typeface="Arial"/>
            </a:endParaRPr>
          </a:p>
        </p:txBody>
      </p:sp>
      <p:sp>
        <p:nvSpPr>
          <p:cNvPr id="926"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63</a:t>
            </a:r>
            <a:endParaRPr lang="en-US" sz="900" b="0" u="none" strike="noStrike">
              <a:solidFill>
                <a:srgbClr val="000000"/>
              </a:solidFill>
              <a:effectLst/>
              <a:uFillTx/>
              <a:latin typeface="Arial"/>
            </a:endParaRPr>
          </a:p>
        </p:txBody>
      </p:sp>
      <p:pic>
        <p:nvPicPr>
          <p:cNvPr id="927" name="Picture 1018" descr="First_Plot_Saved.png"/>
          <p:cNvPicPr/>
          <p:nvPr/>
        </p:nvPicPr>
        <p:blipFill>
          <a:blip r:embed="rId2"/>
          <a:stretch/>
        </p:blipFill>
        <p:spPr>
          <a:xfrm>
            <a:off x="6309360" y="1691640"/>
            <a:ext cx="5348880" cy="2139480"/>
          </a:xfrm>
          <a:prstGeom prst="rect">
            <a:avLst/>
          </a:prstGeom>
          <a:noFill/>
          <a:ln w="0">
            <a:noFill/>
          </a:ln>
        </p:spPr>
      </p:pic>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28"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9 · OO API</a:t>
            </a:r>
            <a:endParaRPr lang="en-US" sz="1100" b="0" u="none" strike="noStrike">
              <a:solidFill>
                <a:srgbClr val="000000"/>
              </a:solidFill>
              <a:effectLst/>
              <a:uFillTx/>
              <a:latin typeface="Arial"/>
            </a:endParaRPr>
          </a:p>
        </p:txBody>
      </p:sp>
      <p:sp>
        <p:nvSpPr>
          <p:cNvPr id="929"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Object-Oriented Method Reference</a:t>
            </a:r>
            <a:endParaRPr lang="en-US" sz="2600" b="0" u="none" strike="noStrike">
              <a:solidFill>
                <a:srgbClr val="000000"/>
              </a:solidFill>
              <a:effectLst/>
              <a:uFillTx/>
              <a:latin typeface="Arial"/>
            </a:endParaRPr>
          </a:p>
        </p:txBody>
      </p:sp>
      <p:pic>
        <p:nvPicPr>
          <p:cNvPr id="93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31"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932" name="Table 0"/>
          <p:cNvGraphicFramePr/>
          <p:nvPr/>
        </p:nvGraphicFramePr>
        <p:xfrm>
          <a:off x="548640" y="1691640"/>
          <a:ext cx="11109240" cy="4112640"/>
        </p:xfrm>
        <a:graphic>
          <a:graphicData uri="http://schemas.openxmlformats.org/drawingml/2006/table">
            <a:tbl>
              <a:tblPr/>
              <a:tblGrid>
                <a:gridCol w="3555000"/>
                <a:gridCol w="7554600"/>
              </a:tblGrid>
              <a:tr h="51408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ax.plot(x, y)</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Draw a line plot on this Axes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ax.bar(x, height)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Draw a bar chart on this Axes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ax.scatter(x, y)</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Draw a scatter plot on this Axes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ax.set_title("...")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Set this Axes' title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ax.set_xlabel("...") / set_ylabel("...")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Set this Axes' axis labels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ax.legend()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Draw the legend for this Axes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1408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ax.grid()</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Toggle the grid for this Axes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933"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34"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9 · OO API</a:t>
            </a:r>
            <a:endParaRPr lang="en-US" sz="1100" b="0" u="none" strike="noStrike">
              <a:solidFill>
                <a:srgbClr val="000000"/>
              </a:solidFill>
              <a:effectLst/>
              <a:uFillTx/>
              <a:latin typeface="Arial"/>
            </a:endParaRPr>
          </a:p>
        </p:txBody>
      </p:sp>
      <p:sp>
        <p:nvSpPr>
          <p:cNvPr id="935"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Why the OO API Matters for Real Projects</a:t>
            </a:r>
            <a:endParaRPr lang="en-US" sz="2600" b="0" u="none" strike="noStrike">
              <a:solidFill>
                <a:srgbClr val="000000"/>
              </a:solidFill>
              <a:effectLst/>
              <a:uFillTx/>
              <a:latin typeface="Arial"/>
            </a:endParaRPr>
          </a:p>
        </p:txBody>
      </p:sp>
      <p:pic>
        <p:nvPicPr>
          <p:cNvPr id="93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37"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t>
            </a:r>
            <a:r>
              <a:rPr lang="en-US" sz="900" b="0" u="none" strike="noStrike">
                <a:solidFill>
                  <a:srgbClr val="474651"/>
                </a:solidFill>
                <a:effectLst/>
                <a:uFillTx/>
                <a:latin typeface="Plus Jakarta Sans"/>
                <a:ea typeface="Plus Jakarta Sans"/>
              </a:rPr>
              <a:t>Ahmed (Paxto)</a:t>
            </a:r>
            <a:endParaRPr lang="en-US" sz="900" b="0" u="none" strike="noStrike">
              <a:solidFill>
                <a:srgbClr val="000000"/>
              </a:solidFill>
              <a:effectLst/>
              <a:uFillTx/>
              <a:latin typeface="Arial"/>
            </a:endParaRPr>
          </a:p>
        </p:txBody>
      </p:sp>
      <p:sp>
        <p:nvSpPr>
          <p:cNvPr id="938" name="Text 3"/>
          <p:cNvSpPr/>
          <p:nvPr/>
        </p:nvSpPr>
        <p:spPr>
          <a:xfrm>
            <a:off x="548640" y="1737360"/>
            <a:ext cx="1110924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Multi-panel dashboards need it — you must address ax[0], ax[1] individually; pyplot's "current axes" idea breaks down fast.</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It's easier to wrap in a reusable function — e.g. def plot_metric(ax, data): ... that any script can call.</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It's the style used throughout Pandas' .plot(ax=...), Seaborn, and most production ML reporting code.</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Bottom line: pyplot is great for quick, single charts. The OO API is what you'll actually reach for in Data Analytics and ML projects.</a:t>
            </a:r>
            <a:endParaRPr lang="en-US" sz="1500" b="0" u="none" strike="noStrike">
              <a:solidFill>
                <a:srgbClr val="000000"/>
              </a:solidFill>
              <a:effectLst/>
              <a:uFillTx/>
              <a:latin typeface="Arial"/>
            </a:endParaRPr>
          </a:p>
        </p:txBody>
      </p:sp>
      <p:sp>
        <p:nvSpPr>
          <p:cNvPr id="939" name="Text 4"/>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40"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41"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942"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9 · OO API</a:t>
            </a:r>
            <a:endParaRPr lang="en-US" sz="1100" b="0" u="none" strike="noStrike">
              <a:solidFill>
                <a:srgbClr val="000000"/>
              </a:solidFill>
              <a:effectLst/>
              <a:uFillTx/>
              <a:latin typeface="Arial"/>
            </a:endParaRPr>
          </a:p>
        </p:txBody>
      </p:sp>
      <p:sp>
        <p:nvSpPr>
          <p:cNvPr id="943"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The Object-Oriented API</a:t>
            </a:r>
            <a:endParaRPr lang="en-US" sz="2300" b="0" u="none" strike="noStrike">
              <a:solidFill>
                <a:srgbClr val="000000"/>
              </a:solidFill>
              <a:effectLst/>
              <a:uFillTx/>
              <a:latin typeface="Arial"/>
            </a:endParaRPr>
          </a:p>
        </p:txBody>
      </p:sp>
      <p:sp>
        <p:nvSpPr>
          <p:cNvPr id="944"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945"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6"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7"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948"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Rewrite any earlier pyplot chart using fig, ax = plt.subplots() and ax. methods only.</a:t>
            </a:r>
            <a:endParaRPr lang="en-US" sz="1300" b="0" u="none" strike="noStrike">
              <a:solidFill>
                <a:srgbClr val="000000"/>
              </a:solidFill>
              <a:effectLst/>
              <a:uFillTx/>
              <a:latin typeface="Arial"/>
            </a:endParaRPr>
          </a:p>
        </p:txBody>
      </p:sp>
      <p:sp>
        <p:nvSpPr>
          <p:cNvPr id="949"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0"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1"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952"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Write a small function def plot_line(ax, x, y, title): that plots onto whichever Axes it's given.</a:t>
            </a:r>
            <a:endParaRPr lang="en-US" sz="1300" b="0" u="none" strike="noStrike">
              <a:solidFill>
                <a:srgbClr val="000000"/>
              </a:solidFill>
              <a:effectLst/>
              <a:uFillTx/>
              <a:latin typeface="Arial"/>
            </a:endParaRPr>
          </a:p>
        </p:txBody>
      </p:sp>
      <p:sp>
        <p:nvSpPr>
          <p:cNvPr id="953"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4"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5"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956"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Use fig.add_axes() to build a main Axes plus a smaller inset Axes on top, and say what the four numbers mean.</a:t>
            </a:r>
            <a:endParaRPr lang="en-US" sz="1300" b="0" u="none" strike="noStrike">
              <a:solidFill>
                <a:srgbClr val="000000"/>
              </a:solidFill>
              <a:effectLst/>
              <a:uFillTx/>
              <a:latin typeface="Arial"/>
            </a:endParaRPr>
          </a:p>
        </p:txBody>
      </p:sp>
      <p:pic>
        <p:nvPicPr>
          <p:cNvPr id="95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58"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959"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960"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1"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62" name="Image 0" descr="/home/claude/mpl/assets/logo_icon.png"/>
          <p:cNvPicPr/>
          <p:nvPr/>
        </p:nvPicPr>
        <p:blipFill>
          <a:blip r:embed="rId1"/>
          <a:stretch/>
        </p:blipFill>
        <p:spPr>
          <a:xfrm>
            <a:off x="640080" y="548640"/>
            <a:ext cx="438120" cy="525960"/>
          </a:xfrm>
          <a:prstGeom prst="rect">
            <a:avLst/>
          </a:prstGeom>
          <a:noFill/>
          <a:ln w="0">
            <a:noFill/>
          </a:ln>
        </p:spPr>
      </p:pic>
      <p:sp>
        <p:nvSpPr>
          <p:cNvPr id="963"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10 · CONTROLLING THE VIEW</a:t>
            </a:r>
            <a:endParaRPr lang="en-US" sz="1400" b="0" u="none" strike="noStrike">
              <a:solidFill>
                <a:srgbClr val="FFFFFF"/>
              </a:solidFill>
              <a:effectLst/>
              <a:uFillTx/>
              <a:latin typeface="Arial"/>
            </a:endParaRPr>
          </a:p>
        </p:txBody>
      </p:sp>
      <p:sp>
        <p:nvSpPr>
          <p:cNvPr id="964"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Controlling the View</a:t>
            </a:r>
            <a:endParaRPr lang="en-US" sz="4000" b="0" u="none" strike="noStrike">
              <a:solidFill>
                <a:srgbClr val="FFFFFF"/>
              </a:solidFill>
              <a:effectLst/>
              <a:uFillTx/>
              <a:latin typeface="Arial"/>
            </a:endParaRPr>
          </a:p>
        </p:txBody>
      </p:sp>
      <p:sp>
        <p:nvSpPr>
          <p:cNvPr id="965"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Fine-tuning axis ranges, ticks, figure size, and resolution.</a:t>
            </a:r>
            <a:endParaRPr lang="en-US" sz="1500" b="0" u="none" strike="noStrike">
              <a:solidFill>
                <a:srgbClr val="FFFFFF"/>
              </a:solidFill>
              <a:effectLst/>
              <a:uFillTx/>
              <a:latin typeface="Arial"/>
            </a:endParaRPr>
          </a:p>
        </p:txBody>
      </p:sp>
      <p:sp>
        <p:nvSpPr>
          <p:cNvPr id="966"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67</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67"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10 · CONTROLLING THE VIEW</a:t>
            </a:r>
            <a:endParaRPr lang="en-US" sz="1100" b="0" u="none" strike="noStrike">
              <a:solidFill>
                <a:srgbClr val="000000"/>
              </a:solidFill>
              <a:effectLst/>
              <a:uFillTx/>
              <a:latin typeface="Arial"/>
            </a:endParaRPr>
          </a:p>
        </p:txBody>
      </p:sp>
      <p:sp>
        <p:nvSpPr>
          <p:cNvPr id="968"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Limits &amp; Tick Reference</a:t>
            </a:r>
            <a:endParaRPr lang="en-US" sz="2600" b="0" u="none" strike="noStrike">
              <a:solidFill>
                <a:srgbClr val="000000"/>
              </a:solidFill>
              <a:effectLst/>
              <a:uFillTx/>
              <a:latin typeface="Arial"/>
            </a:endParaRPr>
          </a:p>
        </p:txBody>
      </p:sp>
      <p:pic>
        <p:nvPicPr>
          <p:cNvPr id="969"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70"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971" name="Table 0"/>
          <p:cNvGraphicFramePr/>
          <p:nvPr/>
        </p:nvGraphicFramePr>
        <p:xfrm>
          <a:off x="548640" y="1691640"/>
          <a:ext cx="11109240" cy="3931200"/>
        </p:xfrm>
        <a:graphic>
          <a:graphicData uri="http://schemas.openxmlformats.org/drawingml/2006/table">
            <a:tbl>
              <a:tblPr/>
              <a:tblGrid>
                <a:gridCol w="3555000"/>
                <a:gridCol w="7554600"/>
              </a:tblGrid>
              <a:tr h="6552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plt.xlim(min, max) / plt.ylim(min, max)</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Fix the visible axis range (pyplot)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ax.set_xlim(min, max) / ax.set_ylim(min, max)</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Fix the visible axis range (OO API)</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plt.xticks(positions, labels)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Set custom tick positions and labels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plt.xticks(rotation=45)</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Rotate tick labels — useful for long category names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ha="right"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Aligns rotated labels neatly against their tick</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972"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73"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10 · CONTROLLING THE VIEW</a:t>
            </a:r>
            <a:endParaRPr lang="en-US" sz="1100" b="0" u="none" strike="noStrike">
              <a:solidFill>
                <a:srgbClr val="000000"/>
              </a:solidFill>
              <a:effectLst/>
              <a:uFillTx/>
              <a:latin typeface="Arial"/>
            </a:endParaRPr>
          </a:p>
        </p:txBody>
      </p:sp>
      <p:sp>
        <p:nvSpPr>
          <p:cNvPr id="974"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figsize &amp; DPI</a:t>
            </a:r>
            <a:endParaRPr lang="en-US" sz="2600" b="0" u="none" strike="noStrike">
              <a:solidFill>
                <a:srgbClr val="000000"/>
              </a:solidFill>
              <a:effectLst/>
              <a:uFillTx/>
              <a:latin typeface="Arial"/>
            </a:endParaRPr>
          </a:p>
        </p:txBody>
      </p:sp>
      <p:pic>
        <p:nvPicPr>
          <p:cNvPr id="975"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76"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977" name="Text 3"/>
          <p:cNvSpPr/>
          <p:nvPr/>
        </p:nvSpPr>
        <p:spPr>
          <a:xfrm>
            <a:off x="548640" y="1737360"/>
            <a:ext cx="1110924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figsize=(width, height) sets the Figure's size in inches — e.g. (10, 5) for a wide chart.</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DPI (Dots Per Inch) controls sharpness — higher DPI means a crisper image, especially once saved or printed.</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On-screen, a moderate DPI (100) is plenty. For reports or print, 200–300 DPI looks noticeably sharper.</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Bigger figsize + higher DPI = a larger file: (20, 8) at dpi=1000 is a 20,000 × 8,000 px canvas, so match it to where the chart will be viewed.</a:t>
            </a:r>
            <a:endParaRPr lang="en-US" sz="1500" b="0" u="none" strike="noStrike">
              <a:solidFill>
                <a:srgbClr val="000000"/>
              </a:solidFill>
              <a:effectLst/>
              <a:uFillTx/>
              <a:latin typeface="Arial"/>
            </a:endParaRPr>
          </a:p>
        </p:txBody>
      </p:sp>
      <p:sp>
        <p:nvSpPr>
          <p:cNvPr id="978" name="Text 4"/>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69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979"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0"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981"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10 · CONTROLLING THE VIEW</a:t>
            </a:r>
            <a:endParaRPr lang="en-US" sz="1100" b="0" u="none" strike="noStrike">
              <a:solidFill>
                <a:srgbClr val="000000"/>
              </a:solidFill>
              <a:effectLst/>
              <a:uFillTx/>
              <a:latin typeface="Arial"/>
            </a:endParaRPr>
          </a:p>
        </p:txBody>
      </p:sp>
      <p:sp>
        <p:nvSpPr>
          <p:cNvPr id="982"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Controlling the View</a:t>
            </a:r>
            <a:endParaRPr lang="en-US" sz="2300" b="0" u="none" strike="noStrike">
              <a:solidFill>
                <a:srgbClr val="000000"/>
              </a:solidFill>
              <a:effectLst/>
              <a:uFillTx/>
              <a:latin typeface="Arial"/>
            </a:endParaRPr>
          </a:p>
        </p:txBody>
      </p:sp>
      <p:sp>
        <p:nvSpPr>
          <p:cNvPr id="983"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984"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5"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6"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987"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Take any chart from earlier and fix its X and Y limits with set_xlim()/set_ylim().</a:t>
            </a:r>
            <a:endParaRPr lang="en-US" sz="1300" b="0" u="none" strike="noStrike">
              <a:solidFill>
                <a:srgbClr val="000000"/>
              </a:solidFill>
              <a:effectLst/>
              <a:uFillTx/>
              <a:latin typeface="Arial"/>
            </a:endParaRPr>
          </a:p>
        </p:txBody>
      </p:sp>
      <p:sp>
        <p:nvSpPr>
          <p:cNvPr id="988"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9"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0"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991"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Rotate your X tick labels by 45 degrees so long labels stop overlapping.</a:t>
            </a:r>
            <a:endParaRPr lang="en-US" sz="1300" b="0" u="none" strike="noStrike">
              <a:solidFill>
                <a:srgbClr val="000000"/>
              </a:solidFill>
              <a:effectLst/>
              <a:uFillTx/>
              <a:latin typeface="Arial"/>
            </a:endParaRPr>
          </a:p>
        </p:txBody>
      </p:sp>
      <p:sp>
        <p:nvSpPr>
          <p:cNvPr id="992"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3"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4"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995"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Resize your Figure with figsize=(10, 4) and compare it side by side with the default size.</a:t>
            </a:r>
            <a:endParaRPr lang="en-US" sz="1300" b="0" u="none" strike="noStrike">
              <a:solidFill>
                <a:srgbClr val="000000"/>
              </a:solidFill>
              <a:effectLst/>
              <a:uFillTx/>
              <a:latin typeface="Arial"/>
            </a:endParaRPr>
          </a:p>
        </p:txBody>
      </p:sp>
      <p:pic>
        <p:nvPicPr>
          <p:cNvPr id="99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997"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998"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999"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0"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01" name="Image 0" descr="/home/claude/mpl/assets/logo_icon.png"/>
          <p:cNvPicPr/>
          <p:nvPr/>
        </p:nvPicPr>
        <p:blipFill>
          <a:blip r:embed="rId1"/>
          <a:stretch/>
        </p:blipFill>
        <p:spPr>
          <a:xfrm>
            <a:off x="640080" y="548640"/>
            <a:ext cx="438120" cy="525960"/>
          </a:xfrm>
          <a:prstGeom prst="rect">
            <a:avLst/>
          </a:prstGeom>
          <a:noFill/>
          <a:ln w="0">
            <a:noFill/>
          </a:ln>
        </p:spPr>
      </p:pic>
      <p:sp>
        <p:nvSpPr>
          <p:cNvPr id="1002"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11 · COLOR &amp; CUSTOMIZATION</a:t>
            </a:r>
            <a:endParaRPr lang="en-US" sz="1400" b="0" u="none" strike="noStrike">
              <a:solidFill>
                <a:srgbClr val="FFFFFF"/>
              </a:solidFill>
              <a:effectLst/>
              <a:uFillTx/>
              <a:latin typeface="Arial"/>
            </a:endParaRPr>
          </a:p>
        </p:txBody>
      </p:sp>
      <p:sp>
        <p:nvSpPr>
          <p:cNvPr id="1003"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Color &amp; Visual Customization</a:t>
            </a:r>
            <a:endParaRPr lang="en-US" sz="4000" b="0" u="none" strike="noStrike">
              <a:solidFill>
                <a:srgbClr val="FFFFFF"/>
              </a:solidFill>
              <a:effectLst/>
              <a:uFillTx/>
              <a:latin typeface="Arial"/>
            </a:endParaRPr>
          </a:p>
        </p:txBody>
      </p:sp>
      <p:sp>
        <p:nvSpPr>
          <p:cNvPr id="1004"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Named colors, hex, RGBA, and colormaps — how Matplotlib thinks about color.</a:t>
            </a:r>
            <a:endParaRPr lang="en-US" sz="1500" b="0" u="none" strike="noStrike">
              <a:solidFill>
                <a:srgbClr val="FFFFFF"/>
              </a:solidFill>
              <a:effectLst/>
              <a:uFillTx/>
              <a:latin typeface="Arial"/>
            </a:endParaRPr>
          </a:p>
        </p:txBody>
      </p:sp>
      <p:sp>
        <p:nvSpPr>
          <p:cNvPr id="1005"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71</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0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11 · COLOR &amp; CUSTOMIZATION</a:t>
            </a:r>
            <a:endParaRPr lang="en-US" sz="1100" b="0" u="none" strike="noStrike">
              <a:solidFill>
                <a:srgbClr val="000000"/>
              </a:solidFill>
              <a:effectLst/>
              <a:uFillTx/>
              <a:latin typeface="Arial"/>
            </a:endParaRPr>
          </a:p>
        </p:txBody>
      </p:sp>
      <p:sp>
        <p:nvSpPr>
          <p:cNvPr id="100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Four Ways to Specify Color</a:t>
            </a:r>
            <a:endParaRPr lang="en-US" sz="2600" b="0" u="none" strike="noStrike">
              <a:solidFill>
                <a:srgbClr val="000000"/>
              </a:solidFill>
              <a:effectLst/>
              <a:uFillTx/>
              <a:latin typeface="Arial"/>
            </a:endParaRPr>
          </a:p>
        </p:txBody>
      </p:sp>
      <p:pic>
        <p:nvPicPr>
          <p:cNvPr id="100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0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graphicFrame>
        <p:nvGraphicFramePr>
          <p:cNvPr id="1010" name="Table 0"/>
          <p:cNvGraphicFramePr/>
          <p:nvPr/>
        </p:nvGraphicFramePr>
        <p:xfrm>
          <a:off x="548640" y="1691640"/>
          <a:ext cx="11109240" cy="3931200"/>
        </p:xfrm>
        <a:graphic>
          <a:graphicData uri="http://schemas.openxmlformats.org/drawingml/2006/table">
            <a:tbl>
              <a:tblPr/>
              <a:tblGrid>
                <a:gridCol w="3555000"/>
                <a:gridCol w="7554600"/>
              </a:tblGrid>
              <a:tr h="65520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"teal"</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Named color — simplest, ~150 names built in</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"#5755A7"</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Hex code — precise, brand-exact colors</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(0.34, 0.34, 0.65)</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RGB tuple — red, green, blue, each 0 to 1</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(0.34, 0.34, 0.65, 0.5)</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RGBA — RGB plus alpha (transparency)</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65520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alpha=0.5</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A separate parameter for transparency on any plot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1011" name="Text 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1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11 · COLOR &amp; CUSTOMIZATION</a:t>
            </a:r>
            <a:endParaRPr lang="en-US" sz="1100" b="0" u="none" strike="noStrike">
              <a:solidFill>
                <a:srgbClr val="000000"/>
              </a:solidFill>
              <a:effectLst/>
              <a:uFillTx/>
              <a:latin typeface="Arial"/>
            </a:endParaRPr>
          </a:p>
        </p:txBody>
      </p:sp>
      <p:sp>
        <p:nvSpPr>
          <p:cNvPr id="101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Colormaps — Encoding a Third Variable</a:t>
            </a:r>
            <a:endParaRPr lang="en-US" sz="2600" b="0" u="none" strike="noStrike">
              <a:solidFill>
                <a:srgbClr val="000000"/>
              </a:solidFill>
              <a:effectLst/>
              <a:uFillTx/>
              <a:latin typeface="Arial"/>
            </a:endParaRPr>
          </a:p>
        </p:txBody>
      </p:sp>
      <p:pic>
        <p:nvPicPr>
          <p:cNvPr id="101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1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16" name="Shape 3"/>
          <p:cNvSpPr/>
          <p:nvPr/>
        </p:nvSpPr>
        <p:spPr>
          <a:xfrm>
            <a:off x="548640" y="1691640"/>
            <a:ext cx="5119920" cy="2742480"/>
          </a:xfrm>
          <a:prstGeom prst="roundRect">
            <a:avLst>
              <a:gd name="adj" fmla="val 4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1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01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1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20" name="Text 7"/>
          <p:cNvSpPr/>
          <p:nvPr/>
        </p:nvSpPr>
        <p:spPr>
          <a:xfrm>
            <a:off x="749880" y="2075760"/>
            <a:ext cx="4717440" cy="221220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sc = plt.scatter(</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feature_a, feature_b,</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c=combined_score,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cmap="viridis",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alpha=0.85</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plt.colorbar(sc, label="Score")</a:t>
            </a:r>
            <a:endParaRPr lang="en-US" sz="1300" b="0" u="none" strike="noStrike">
              <a:solidFill>
                <a:srgbClr val="000000"/>
              </a:solidFill>
              <a:effectLst/>
              <a:uFillTx/>
              <a:latin typeface="Arial"/>
            </a:endParaRPr>
          </a:p>
        </p:txBody>
      </p:sp>
      <p:sp>
        <p:nvSpPr>
          <p:cNvPr id="1021" name="Text 8"/>
          <p:cNvSpPr/>
          <p:nvPr/>
        </p:nvSpPr>
        <p:spPr>
          <a:xfrm>
            <a:off x="548640" y="4572000"/>
            <a:ext cx="5119920" cy="210240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799"/>
              </a:spcAft>
              <a:buClr>
                <a:srgbClr val="1B1B20"/>
              </a:buClr>
              <a:buFont typeface="Symbol" charset="2"/>
              <a:buChar char=""/>
            </a:pPr>
            <a:r>
              <a:rPr lang="en-US" sz="1150" b="0" u="none" strike="noStrike">
                <a:solidFill>
                  <a:srgbClr val="1B1B20"/>
                </a:solidFill>
                <a:effectLst/>
                <a:uFillTx/>
                <a:latin typeface="Hanken Grotesk"/>
                <a:ea typeface="Hanken Grotesk"/>
              </a:rPr>
              <a:t>cmap= colors points/bars by a numeric value instead of a fixed color — a colormap.</a:t>
            </a:r>
            <a:endParaRPr lang="en-US" sz="1150" b="0" u="none" strike="noStrike">
              <a:solidFill>
                <a:srgbClr val="000000"/>
              </a:solidFill>
              <a:effectLst/>
              <a:uFillTx/>
              <a:latin typeface="Arial"/>
            </a:endParaRPr>
          </a:p>
          <a:p>
            <a:pPr marL="228600" indent="-228600" defTabSz="914400">
              <a:lnSpc>
                <a:spcPct val="100000"/>
              </a:lnSpc>
              <a:spcAft>
                <a:spcPts val="799"/>
              </a:spcAft>
              <a:buClr>
                <a:srgbClr val="1B1B20"/>
              </a:buClr>
              <a:buFont typeface="Symbol" charset="2"/>
              <a:buChar char=""/>
            </a:pPr>
            <a:r>
              <a:rPr lang="en-US" sz="1150" b="0" u="none" strike="noStrike">
                <a:solidFill>
                  <a:srgbClr val="1B1B20"/>
                </a:solidFill>
                <a:effectLst/>
                <a:uFillTx/>
                <a:latin typeface="Hanken Grotesk"/>
                <a:ea typeface="Hanken Grotesk"/>
              </a:rPr>
              <a:t>Sequential colormaps (viridis, Blues) go light→dark for one-directional data, like counts.</a:t>
            </a:r>
            <a:endParaRPr lang="en-US" sz="1150" b="0" u="none" strike="noStrike">
              <a:solidFill>
                <a:srgbClr val="000000"/>
              </a:solidFill>
              <a:effectLst/>
              <a:uFillTx/>
              <a:latin typeface="Arial"/>
            </a:endParaRPr>
          </a:p>
          <a:p>
            <a:pPr marL="228600" indent="-228600" defTabSz="914400">
              <a:lnSpc>
                <a:spcPct val="100000"/>
              </a:lnSpc>
              <a:spcAft>
                <a:spcPts val="799"/>
              </a:spcAft>
              <a:buClr>
                <a:srgbClr val="1B1B20"/>
              </a:buClr>
              <a:buFont typeface="Symbol" charset="2"/>
              <a:buChar char=""/>
            </a:pPr>
            <a:r>
              <a:rPr lang="en-US" sz="1150" b="0" u="none" strike="noStrike">
                <a:solidFill>
                  <a:srgbClr val="1B1B20"/>
                </a:solidFill>
                <a:effectLst/>
                <a:uFillTx/>
                <a:latin typeface="Hanken Grotesk"/>
                <a:ea typeface="Hanken Grotesk"/>
              </a:rPr>
              <a:t>Diverging colormaps (coolwarm, RdBu) go color→neutral→color — great for data centered on zero, like error or change.</a:t>
            </a:r>
            <a:endParaRPr lang="en-US" sz="1150" b="0" u="none" strike="noStrike">
              <a:solidFill>
                <a:srgbClr val="000000"/>
              </a:solidFill>
              <a:effectLst/>
              <a:uFillTx/>
              <a:latin typeface="Arial"/>
            </a:endParaRPr>
          </a:p>
          <a:p>
            <a:pPr marL="228600" indent="-228600" defTabSz="914400">
              <a:lnSpc>
                <a:spcPct val="100000"/>
              </a:lnSpc>
              <a:spcAft>
                <a:spcPts val="799"/>
              </a:spcAft>
              <a:buClr>
                <a:srgbClr val="1B1B20"/>
              </a:buClr>
              <a:buFont typeface="Symbol" charset="2"/>
              <a:buChar char=""/>
            </a:pPr>
            <a:r>
              <a:rPr lang="en-US" sz="1150" b="0" u="none" strike="noStrike">
                <a:solidFill>
                  <a:srgbClr val="1B1B20"/>
                </a:solidFill>
                <a:effectLst/>
                <a:uFillTx/>
                <a:latin typeface="Hanken Grotesk"/>
                <a:ea typeface="Hanken Grotesk"/>
              </a:rPr>
              <a:t>plt.colorbar() adds the legend strip explaining what each color means.</a:t>
            </a:r>
            <a:endParaRPr lang="en-US" sz="1150" b="0" u="none" strike="noStrike">
              <a:solidFill>
                <a:srgbClr val="000000"/>
              </a:solidFill>
              <a:effectLst/>
              <a:uFillTx/>
              <a:latin typeface="Arial"/>
            </a:endParaRPr>
          </a:p>
        </p:txBody>
      </p:sp>
      <p:sp>
        <p:nvSpPr>
          <p:cNvPr id="1022" name="Shape 9"/>
          <p:cNvSpPr/>
          <p:nvPr/>
        </p:nvSpPr>
        <p:spPr>
          <a:xfrm>
            <a:off x="5989320" y="1691640"/>
            <a:ext cx="5668560" cy="4982760"/>
          </a:xfrm>
          <a:prstGeom prst="roundRect">
            <a:avLst>
              <a:gd name="adj" fmla="val 183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023" name="Image 1" descr="/home/claude/mpl/charts/colormap_scatter.png"/>
          <p:cNvPicPr/>
          <p:nvPr/>
        </p:nvPicPr>
        <p:blipFill>
          <a:blip r:embed="rId2"/>
          <a:stretch/>
        </p:blipFill>
        <p:spPr>
          <a:xfrm>
            <a:off x="6099120" y="1801440"/>
            <a:ext cx="5448960" cy="4763160"/>
          </a:xfrm>
          <a:prstGeom prst="rect">
            <a:avLst/>
          </a:prstGeom>
          <a:noFill/>
          <a:ln w="0">
            <a:noFill/>
          </a:ln>
        </p:spPr>
      </p:pic>
      <p:sp>
        <p:nvSpPr>
          <p:cNvPr id="1024"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25"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11 · COLOR &amp; CUSTOMIZATION</a:t>
            </a:r>
            <a:endParaRPr lang="en-US" sz="1100" b="0" u="none" strike="noStrike">
              <a:solidFill>
                <a:srgbClr val="000000"/>
              </a:solidFill>
              <a:effectLst/>
              <a:uFillTx/>
              <a:latin typeface="Arial"/>
            </a:endParaRPr>
          </a:p>
        </p:txBody>
      </p:sp>
      <p:sp>
        <p:nvSpPr>
          <p:cNvPr id="1026"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Showing Images — imread &amp; imshow</a:t>
            </a:r>
            <a:endParaRPr lang="en-US" sz="2600" b="0" u="none" strike="noStrike">
              <a:solidFill>
                <a:srgbClr val="000000"/>
              </a:solidFill>
              <a:effectLst/>
              <a:uFillTx/>
              <a:latin typeface="Arial"/>
            </a:endParaRPr>
          </a:p>
        </p:txBody>
      </p:sp>
      <p:pic>
        <p:nvPicPr>
          <p:cNvPr id="1027"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28"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29"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30"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031"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32"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33"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import matplotlib.image as mpimg</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img = mpimg.imread("./flower.jpg")</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img.shape   # (4465, 8000, 3)</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img.dtype   # uint8  (0-255)</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plt.imshow(img)</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plt.axis("off")</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plt.show()</a:t>
            </a:r>
            <a:endParaRPr lang="en-US" sz="1300" b="0" u="none" strike="noStrike">
              <a:solidFill>
                <a:srgbClr val="000000"/>
              </a:solidFill>
              <a:effectLst/>
              <a:uFillTx/>
              <a:latin typeface="Arial"/>
            </a:endParaRPr>
          </a:p>
        </p:txBody>
      </p:sp>
      <p:sp>
        <p:nvSpPr>
          <p:cNvPr id="1034" name="Text 8"/>
          <p:cNvSpPr/>
          <p:nvPr/>
        </p:nvSpPr>
        <p:spPr>
          <a:xfrm>
            <a:off x="6309360" y="4047840"/>
            <a:ext cx="5348520" cy="184968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imread() returns a plain NumPy array in RGB order (OpenCV uses BGR). JPEGs load as uint8 0–255; PNGs as float 0–1.</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imshow() draws the pixels; axis("off") hides the ticks so the photo stands alone.</a:t>
            </a:r>
            <a:endParaRPr lang="en-US" sz="1300" b="0" u="none" strike="noStrike">
              <a:solidFill>
                <a:srgbClr val="000000"/>
              </a:solidFill>
              <a:effectLst/>
              <a:uFillTx/>
              <a:latin typeface="Arial"/>
            </a:endParaRPr>
          </a:p>
        </p:txBody>
      </p:sp>
      <p:sp>
        <p:nvSpPr>
          <p:cNvPr id="1035"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74</a:t>
            </a:r>
            <a:endParaRPr lang="en-US" sz="900" b="0" u="none" strike="noStrike">
              <a:solidFill>
                <a:srgbClr val="000000"/>
              </a:solidFill>
              <a:effectLst/>
              <a:uFillTx/>
              <a:latin typeface="Arial"/>
            </a:endParaRPr>
          </a:p>
        </p:txBody>
      </p:sp>
      <p:pic>
        <p:nvPicPr>
          <p:cNvPr id="1036" name="Picture 1018" descr="flower_small.jpg"/>
          <p:cNvPicPr/>
          <p:nvPr/>
        </p:nvPicPr>
        <p:blipFill>
          <a:blip r:embed="rId2"/>
          <a:stretch/>
        </p:blipFill>
        <p:spPr>
          <a:xfrm>
            <a:off x="6309360" y="1691640"/>
            <a:ext cx="4023000" cy="2246040"/>
          </a:xfrm>
          <a:prstGeom prst="rect">
            <a:avLst/>
          </a:prstGeom>
          <a:noFill/>
          <a:ln w="0">
            <a:noFill/>
          </a:ln>
        </p:spPr>
      </p:pic>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37"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11 · COLOR &amp; CUSTOMIZATION</a:t>
            </a:r>
            <a:endParaRPr lang="en-US" sz="1100" b="0" u="none" strike="noStrike">
              <a:solidFill>
                <a:srgbClr val="000000"/>
              </a:solidFill>
              <a:effectLst/>
              <a:uFillTx/>
              <a:latin typeface="Arial"/>
            </a:endParaRPr>
          </a:p>
        </p:txBody>
      </p:sp>
      <p:sp>
        <p:nvSpPr>
          <p:cNvPr id="1038"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Cropping &amp; Channels with Slicing</a:t>
            </a:r>
            <a:endParaRPr lang="en-US" sz="2600" b="0" u="none" strike="noStrike">
              <a:solidFill>
                <a:srgbClr val="000000"/>
              </a:solidFill>
              <a:effectLst/>
              <a:uFillTx/>
              <a:latin typeface="Arial"/>
            </a:endParaRPr>
          </a:p>
        </p:txBody>
      </p:sp>
      <p:pic>
        <p:nvPicPr>
          <p:cNvPr id="1039"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40"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41"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42"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043"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44"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45"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crop = img[1000:3500, 2000:6000]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plt.imshow(crop)</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red = img[:, :, 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plt.imshow(red, cmap="gray")</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notebook crop: img[50:200, 100:300]</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 a 150 x 200 corner (bottom-right panel)</a:t>
            </a:r>
            <a:endParaRPr lang="en-US" sz="1300" b="0" u="none" strike="noStrike">
              <a:solidFill>
                <a:srgbClr val="000000"/>
              </a:solidFill>
              <a:effectLst/>
              <a:uFillTx/>
              <a:latin typeface="Arial"/>
            </a:endParaRPr>
          </a:p>
        </p:txBody>
      </p:sp>
      <p:sp>
        <p:nvSpPr>
          <p:cNvPr id="1046" name="Text 8"/>
          <p:cNvSpPr/>
          <p:nvPr/>
        </p:nvSpPr>
        <p:spPr>
          <a:xfrm>
            <a:off x="6309360" y="4453200"/>
            <a:ext cx="5348520" cy="144432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Slicing is NumPy slicing: img[rows, columns]. The notebook’s img[50:200, 100:300] is only a 150 × 200 corner — pick bounds from img.shape.</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One channel is 2D, so add cmap="gray" or Matplotlib falls back to viridis.</a:t>
            </a:r>
            <a:endParaRPr lang="en-US" sz="1300" b="0" u="none" strike="noStrike">
              <a:solidFill>
                <a:srgbClr val="000000"/>
              </a:solidFill>
              <a:effectLst/>
              <a:uFillTx/>
              <a:latin typeface="Arial"/>
            </a:endParaRPr>
          </a:p>
        </p:txBody>
      </p:sp>
      <p:sp>
        <p:nvSpPr>
          <p:cNvPr id="1047"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75</a:t>
            </a:r>
            <a:endParaRPr lang="en-US" sz="900" b="0" u="none" strike="noStrike">
              <a:solidFill>
                <a:srgbClr val="000000"/>
              </a:solidFill>
              <a:effectLst/>
              <a:uFillTx/>
              <a:latin typeface="Arial"/>
            </a:endParaRPr>
          </a:p>
        </p:txBody>
      </p:sp>
      <p:pic>
        <p:nvPicPr>
          <p:cNvPr id="1048" name="Picture 1018" descr="flower_slices.png"/>
          <p:cNvPicPr/>
          <p:nvPr/>
        </p:nvPicPr>
        <p:blipFill>
          <a:blip r:embed="rId2"/>
          <a:stretch/>
        </p:blipFill>
        <p:spPr>
          <a:xfrm>
            <a:off x="6309360" y="1691640"/>
            <a:ext cx="4937400" cy="2651400"/>
          </a:xfrm>
          <a:prstGeom prst="rect">
            <a:avLst/>
          </a:prstGeom>
          <a:noFill/>
          <a:ln w="0">
            <a:noFill/>
          </a:ln>
        </p:spPr>
      </p:pic>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49"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0"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1051"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11 · COLOR &amp; CUSTOMIZATION</a:t>
            </a:r>
            <a:endParaRPr lang="en-US" sz="1100" b="0" u="none" strike="noStrike">
              <a:solidFill>
                <a:srgbClr val="000000"/>
              </a:solidFill>
              <a:effectLst/>
              <a:uFillTx/>
              <a:latin typeface="Arial"/>
            </a:endParaRPr>
          </a:p>
        </p:txBody>
      </p:sp>
      <p:sp>
        <p:nvSpPr>
          <p:cNvPr id="1052"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Color &amp; Visual Customization</a:t>
            </a:r>
            <a:endParaRPr lang="en-US" sz="2300" b="0" u="none" strike="noStrike">
              <a:solidFill>
                <a:srgbClr val="000000"/>
              </a:solidFill>
              <a:effectLst/>
              <a:uFillTx/>
              <a:latin typeface="Arial"/>
            </a:endParaRPr>
          </a:p>
        </p:txBody>
      </p:sp>
      <p:sp>
        <p:nvSpPr>
          <p:cNvPr id="1053"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1054"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5"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6"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1057"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Recreate one earlier chart using a hex </a:t>
            </a:r>
            <a:r>
              <a:rPr lang="en-US" sz="1300" b="0" u="none" strike="noStrike">
                <a:solidFill>
                  <a:srgbClr val="1B1B20"/>
                </a:solidFill>
                <a:effectLst/>
                <a:uFillTx/>
                <a:latin typeface="Hanken Grotesk"/>
                <a:ea typeface="Hanken Grotesk"/>
              </a:rPr>
              <a:t>color instead of a named color.</a:t>
            </a:r>
            <a:endParaRPr lang="en-US" sz="1300" b="0" u="none" strike="noStrike">
              <a:solidFill>
                <a:srgbClr val="000000"/>
              </a:solidFill>
              <a:effectLst/>
              <a:uFillTx/>
              <a:latin typeface="Arial"/>
            </a:endParaRPr>
          </a:p>
        </p:txBody>
      </p:sp>
      <p:sp>
        <p:nvSpPr>
          <p:cNvPr id="1058"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9"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0"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1061"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Build a scatter plot where color represents a third variable, using cmap=.</a:t>
            </a:r>
            <a:endParaRPr lang="en-US" sz="1300" b="0" u="none" strike="noStrike">
              <a:solidFill>
                <a:srgbClr val="000000"/>
              </a:solidFill>
              <a:effectLst/>
              <a:uFillTx/>
              <a:latin typeface="Arial"/>
            </a:endParaRPr>
          </a:p>
        </p:txBody>
      </p:sp>
      <p:sp>
        <p:nvSpPr>
          <p:cNvPr id="1062"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3"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4"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1065"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Load an image with mpimg.imread(), show it with imshow() and axis("off"), crop it with slicing, and display one channel with cmap="gray".</a:t>
            </a:r>
            <a:endParaRPr lang="en-US" sz="1300" b="0" u="none" strike="noStrike">
              <a:solidFill>
                <a:srgbClr val="000000"/>
              </a:solidFill>
              <a:effectLst/>
              <a:uFillTx/>
              <a:latin typeface="Arial"/>
            </a:endParaRPr>
          </a:p>
        </p:txBody>
      </p:sp>
      <p:pic>
        <p:nvPicPr>
          <p:cNvPr id="1066"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67"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68"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069"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70"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71" name="Image 0" descr="/home/claude/mpl/assets/logo_icon.png"/>
          <p:cNvPicPr/>
          <p:nvPr/>
        </p:nvPicPr>
        <p:blipFill>
          <a:blip r:embed="rId1"/>
          <a:stretch/>
        </p:blipFill>
        <p:spPr>
          <a:xfrm>
            <a:off x="640080" y="548640"/>
            <a:ext cx="438120" cy="525960"/>
          </a:xfrm>
          <a:prstGeom prst="rect">
            <a:avLst/>
          </a:prstGeom>
          <a:noFill/>
          <a:ln w="0">
            <a:noFill/>
          </a:ln>
        </p:spPr>
      </p:pic>
      <p:sp>
        <p:nvSpPr>
          <p:cNvPr id="1072"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12 · TEXT &amp; ANNOTATIONS</a:t>
            </a:r>
            <a:endParaRPr lang="en-US" sz="1400" b="0" u="none" strike="noStrike">
              <a:solidFill>
                <a:srgbClr val="FFFFFF"/>
              </a:solidFill>
              <a:effectLst/>
              <a:uFillTx/>
              <a:latin typeface="Arial"/>
            </a:endParaRPr>
          </a:p>
        </p:txBody>
      </p:sp>
      <p:sp>
        <p:nvSpPr>
          <p:cNvPr id="1073"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Text &amp; Annotations</a:t>
            </a:r>
            <a:endParaRPr lang="en-US" sz="4000" b="0" u="none" strike="noStrike">
              <a:solidFill>
                <a:srgbClr val="FFFFFF"/>
              </a:solidFill>
              <a:effectLst/>
              <a:uFillTx/>
              <a:latin typeface="Arial"/>
            </a:endParaRPr>
          </a:p>
        </p:txBody>
      </p:sp>
      <p:sp>
        <p:nvSpPr>
          <p:cNvPr id="1074"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Calling out the moments in your data that matter most.</a:t>
            </a:r>
            <a:endParaRPr lang="en-US" sz="1500" b="0" u="none" strike="noStrike">
              <a:solidFill>
                <a:srgbClr val="FFFFFF"/>
              </a:solidFill>
              <a:effectLst/>
              <a:uFillTx/>
              <a:latin typeface="Arial"/>
            </a:endParaRPr>
          </a:p>
        </p:txBody>
      </p:sp>
      <p:sp>
        <p:nvSpPr>
          <p:cNvPr id="1075"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77</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76"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12 · TEXT &amp; ANNOTATIONS</a:t>
            </a:r>
            <a:endParaRPr lang="en-US" sz="1100" b="0" u="none" strike="noStrike">
              <a:solidFill>
                <a:srgbClr val="000000"/>
              </a:solidFill>
              <a:effectLst/>
              <a:uFillTx/>
              <a:latin typeface="Arial"/>
            </a:endParaRPr>
          </a:p>
        </p:txBody>
      </p:sp>
      <p:sp>
        <p:nvSpPr>
          <p:cNvPr id="1077"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plt.text() &amp; plt.annotate()</a:t>
            </a:r>
            <a:endParaRPr lang="en-US" sz="2600" b="0" u="none" strike="noStrike">
              <a:solidFill>
                <a:srgbClr val="000000"/>
              </a:solidFill>
              <a:effectLst/>
              <a:uFillTx/>
              <a:latin typeface="Arial"/>
            </a:endParaRPr>
          </a:p>
        </p:txBody>
      </p:sp>
      <p:pic>
        <p:nvPicPr>
          <p:cNvPr id="107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79"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80" name="Shape 3"/>
          <p:cNvSpPr/>
          <p:nvPr/>
        </p:nvSpPr>
        <p:spPr>
          <a:xfrm>
            <a:off x="548640" y="1691640"/>
            <a:ext cx="539424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81"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082"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83"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84" name="Text 7"/>
          <p:cNvSpPr/>
          <p:nvPr/>
        </p:nvSpPr>
        <p:spPr>
          <a:xfrm>
            <a:off x="749880" y="2075760"/>
            <a:ext cx="499176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00" b="0" u="none" strike="noStrike">
                <a:solidFill>
                  <a:srgbClr val="F1F5F9"/>
                </a:solidFill>
                <a:effectLst/>
                <a:uFillTx/>
                <a:latin typeface="Cantarell"/>
                <a:ea typeface="Cantarell"/>
              </a:rPr>
              <a:t>plt.text(</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x, y, "Training run #4",</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fontsize=10, style="italic"</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plt.annotate(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"Peak value",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xy=(peak_x, peak_y),</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xytext=(peak_x-3, peak_y+10),</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arrowprops=dict(arrowstyle="-&gt;")</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a:t>
            </a:r>
            <a:endParaRPr lang="en-US" sz="1200" b="0" u="none" strike="noStrike">
              <a:solidFill>
                <a:srgbClr val="000000"/>
              </a:solidFill>
              <a:effectLst/>
              <a:uFillTx/>
              <a:latin typeface="Arial"/>
            </a:endParaRPr>
          </a:p>
        </p:txBody>
      </p:sp>
      <p:sp>
        <p:nvSpPr>
          <p:cNvPr id="1085" name="Shape 8"/>
          <p:cNvSpPr/>
          <p:nvPr/>
        </p:nvSpPr>
        <p:spPr>
          <a:xfrm>
            <a:off x="6172200" y="1691640"/>
            <a:ext cx="5485680" cy="3291120"/>
          </a:xfrm>
          <a:prstGeom prst="roundRect">
            <a:avLst>
              <a:gd name="adj" fmla="val 2778"/>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086" name="Image 1" descr="/home/claude/mpl/charts/annotation_demo.png"/>
          <p:cNvPicPr/>
          <p:nvPr/>
        </p:nvPicPr>
        <p:blipFill>
          <a:blip r:embed="rId2"/>
          <a:stretch/>
        </p:blipFill>
        <p:spPr>
          <a:xfrm>
            <a:off x="6282000" y="1801440"/>
            <a:ext cx="5266080" cy="3071520"/>
          </a:xfrm>
          <a:prstGeom prst="rect">
            <a:avLst/>
          </a:prstGeom>
          <a:noFill/>
          <a:ln w="0">
            <a:noFill/>
          </a:ln>
        </p:spPr>
      </p:pic>
      <p:sp>
        <p:nvSpPr>
          <p:cNvPr id="1087" name="Text 9"/>
          <p:cNvSpPr/>
          <p:nvPr/>
        </p:nvSpPr>
        <p:spPr>
          <a:xfrm>
            <a:off x="6172200" y="5074920"/>
            <a:ext cx="5485680" cy="8222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001"/>
              </a:spcAft>
              <a:buClr>
                <a:srgbClr val="1B1B20"/>
              </a:buClr>
              <a:buFont typeface="Symbol" charset="2"/>
              <a:buChar char=""/>
            </a:pPr>
            <a:r>
              <a:rPr lang="en-US" sz="1150" b="0" u="none" strike="noStrike">
                <a:solidFill>
                  <a:srgbClr val="1B1B20"/>
                </a:solidFill>
                <a:effectLst/>
                <a:uFillTx/>
                <a:latin typeface="Hanken Grotesk"/>
                <a:ea typeface="Hanken Grotesk"/>
              </a:rPr>
              <a:t>plt.text() places plain text at a coordinate.</a:t>
            </a:r>
            <a:endParaRPr lang="en-US" sz="1150" b="0" u="none" strike="noStrike">
              <a:solidFill>
                <a:srgbClr val="000000"/>
              </a:solidFill>
              <a:effectLst/>
              <a:uFillTx/>
              <a:latin typeface="Arial"/>
            </a:endParaRPr>
          </a:p>
          <a:p>
            <a:pPr marL="228600" indent="-228600" defTabSz="914400">
              <a:lnSpc>
                <a:spcPct val="100000"/>
              </a:lnSpc>
              <a:spcAft>
                <a:spcPts val="1001"/>
              </a:spcAft>
              <a:buClr>
                <a:srgbClr val="1B1B20"/>
              </a:buClr>
              <a:buFont typeface="Symbol" charset="2"/>
              <a:buChar char=""/>
            </a:pPr>
            <a:r>
              <a:rPr lang="en-US" sz="1150" b="0" u="none" strike="noStrike">
                <a:solidFill>
                  <a:srgbClr val="1B1B20"/>
                </a:solidFill>
                <a:effectLst/>
                <a:uFillTx/>
                <a:latin typeface="Hanken Grotesk"/>
                <a:ea typeface="Hanken Grotesk"/>
              </a:rPr>
              <a:t>plt.annotate() adds text with a pointing arrow — great for calling out a peak, a threshold, or an outlier.</a:t>
            </a:r>
            <a:endParaRPr lang="en-US" sz="1150" b="0" u="none" strike="noStrike">
              <a:solidFill>
                <a:srgbClr val="000000"/>
              </a:solidFill>
              <a:effectLst/>
              <a:uFillTx/>
              <a:latin typeface="Arial"/>
            </a:endParaRPr>
          </a:p>
        </p:txBody>
      </p:sp>
      <p:sp>
        <p:nvSpPr>
          <p:cNvPr id="1088"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089"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12 · TEXT &amp; ANNOTATIONS</a:t>
            </a:r>
            <a:endParaRPr lang="en-US" sz="1100" b="0" u="none" strike="noStrike">
              <a:solidFill>
                <a:srgbClr val="000000"/>
              </a:solidFill>
              <a:effectLst/>
              <a:uFillTx/>
              <a:latin typeface="Arial"/>
            </a:endParaRPr>
          </a:p>
        </p:txBody>
      </p:sp>
      <p:sp>
        <p:nvSpPr>
          <p:cNvPr id="1090"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Sha</a:t>
            </a:r>
            <a:r>
              <a:rPr lang="en-US" sz="2600" b="1" u="none" spc="-31" strike="noStrike">
                <a:solidFill>
                  <a:srgbClr val="1B1B20"/>
                </a:solidFill>
                <a:effectLst/>
                <a:uFillTx/>
                <a:latin typeface="Bricolage Grotesque"/>
                <a:ea typeface="Bricolage Grotesque"/>
              </a:rPr>
              <a:t>pes </a:t>
            </a:r>
            <a:r>
              <a:rPr lang="en-US" sz="2600" b="1" u="none" spc="-31" strike="noStrike">
                <a:solidFill>
                  <a:srgbClr val="1B1B20"/>
                </a:solidFill>
                <a:effectLst/>
                <a:uFillTx/>
                <a:latin typeface="Bricolage Grotesque"/>
                <a:ea typeface="Bricolage Grotesque"/>
              </a:rPr>
              <a:t>on </a:t>
            </a:r>
            <a:r>
              <a:rPr lang="en-US" sz="2600" b="1" u="none" spc="-31" strike="noStrike">
                <a:solidFill>
                  <a:srgbClr val="1B1B20"/>
                </a:solidFill>
                <a:effectLst/>
                <a:uFillTx/>
                <a:latin typeface="Bricolage Grotesque"/>
                <a:ea typeface="Bricolage Grotesque"/>
              </a:rPr>
              <a:t>a </a:t>
            </a:r>
            <a:r>
              <a:rPr lang="en-US" sz="2600" b="1" u="none" spc="-31" strike="noStrike">
                <a:solidFill>
                  <a:srgbClr val="1B1B20"/>
                </a:solidFill>
                <a:effectLst/>
                <a:uFillTx/>
                <a:latin typeface="Bricolage Grotesque"/>
                <a:ea typeface="Bricolage Grotesque"/>
              </a:rPr>
              <a:t>Cha</a:t>
            </a:r>
            <a:r>
              <a:rPr lang="en-US" sz="2600" b="1" u="none" spc="-31" strike="noStrike">
                <a:solidFill>
                  <a:srgbClr val="1B1B20"/>
                </a:solidFill>
                <a:effectLst/>
                <a:uFillTx/>
                <a:latin typeface="Bricolage Grotesque"/>
                <a:ea typeface="Bricolage Grotesque"/>
              </a:rPr>
              <a:t>rt </a:t>
            </a:r>
            <a:r>
              <a:rPr lang="en-US" sz="2600" b="1" u="none" spc="-31" strike="noStrike">
                <a:solidFill>
                  <a:srgbClr val="1B1B20"/>
                </a:solidFill>
                <a:effectLst/>
                <a:uFillTx/>
                <a:latin typeface="Bricolage Grotesque"/>
                <a:ea typeface="Bricolage Grotesque"/>
              </a:rPr>
              <a:t>— </a:t>
            </a:r>
            <a:r>
              <a:rPr lang="en-US" sz="2600" b="1" u="none" spc="-31" strike="noStrike">
                <a:solidFill>
                  <a:srgbClr val="1B1B20"/>
                </a:solidFill>
                <a:effectLst/>
                <a:uFillTx/>
                <a:latin typeface="Bricolage Grotesque"/>
                <a:ea typeface="Bricolage Grotesque"/>
              </a:rPr>
              <a:t>ma</a:t>
            </a:r>
            <a:r>
              <a:rPr lang="en-US" sz="2600" b="1" u="none" spc="-31" strike="noStrike">
                <a:solidFill>
                  <a:srgbClr val="1B1B20"/>
                </a:solidFill>
                <a:effectLst/>
                <a:uFillTx/>
                <a:latin typeface="Bricolage Grotesque"/>
                <a:ea typeface="Bricolage Grotesque"/>
              </a:rPr>
              <a:t>tpl</a:t>
            </a:r>
            <a:r>
              <a:rPr lang="en-US" sz="2600" b="1" u="none" spc="-31" strike="noStrike">
                <a:solidFill>
                  <a:srgbClr val="1B1B20"/>
                </a:solidFill>
                <a:effectLst/>
                <a:uFillTx/>
                <a:latin typeface="Bricolage Grotesque"/>
                <a:ea typeface="Bricolage Grotesque"/>
              </a:rPr>
              <a:t>otli</a:t>
            </a:r>
            <a:r>
              <a:rPr lang="en-US" sz="2600" b="1" u="none" spc="-31" strike="noStrike">
                <a:solidFill>
                  <a:srgbClr val="1B1B20"/>
                </a:solidFill>
                <a:effectLst/>
                <a:uFillTx/>
                <a:latin typeface="Bricolage Grotesque"/>
                <a:ea typeface="Bricolage Grotesque"/>
              </a:rPr>
              <a:t>b.p</a:t>
            </a:r>
            <a:r>
              <a:rPr lang="en-US" sz="2600" b="1" u="none" spc="-31" strike="noStrike">
                <a:solidFill>
                  <a:srgbClr val="1B1B20"/>
                </a:solidFill>
                <a:effectLst/>
                <a:uFillTx/>
                <a:latin typeface="Bricolage Grotesque"/>
                <a:ea typeface="Bricolage Grotesque"/>
              </a:rPr>
              <a:t>atc</a:t>
            </a:r>
            <a:r>
              <a:rPr lang="en-US" sz="2600" b="1" u="none" spc="-31" strike="noStrike">
                <a:solidFill>
                  <a:srgbClr val="1B1B20"/>
                </a:solidFill>
                <a:effectLst/>
                <a:uFillTx/>
                <a:latin typeface="Bricolage Grotesque"/>
                <a:ea typeface="Bricolage Grotesque"/>
              </a:rPr>
              <a:t>hes</a:t>
            </a:r>
            <a:endParaRPr lang="en-US" sz="2600" b="0" u="none" strike="noStrike">
              <a:solidFill>
                <a:srgbClr val="000000"/>
              </a:solidFill>
              <a:effectLst/>
              <a:uFillTx/>
              <a:latin typeface="Arial"/>
            </a:endParaRPr>
          </a:p>
        </p:txBody>
      </p:sp>
      <p:pic>
        <p:nvPicPr>
          <p:cNvPr id="109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092"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093"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4"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095"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96"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097"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from matplotlib.patches import Circle</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fig, ax = plt.subplots()</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ax.plot(x, y)</a:t>
            </a:r>
            <a:endParaRPr lang="en-US" sz="1300" b="0" u="none" strike="noStrike">
              <a:solidFill>
                <a:srgbClr val="000000"/>
              </a:solidFill>
              <a:effectLst/>
              <a:uFillTx/>
              <a:latin typeface="Arial"/>
            </a:endParaRPr>
          </a:p>
          <a:p>
            <a:pPr defTabSz="914400">
              <a:lnSpc>
                <a:spcPct val="118000"/>
              </a:lnSpc>
              <a:tabLst>
                <a:tab pos="0" algn="l"/>
              </a:tabLst>
            </a:pP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highlight = Circle(</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(5, 20), radius=1.5,</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color="orange", alpha=0.3</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ax.add_patch(highlight)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plt.show()</a:t>
            </a:r>
            <a:endParaRPr lang="en-US" sz="1300" b="0" u="none" strike="noStrike">
              <a:solidFill>
                <a:srgbClr val="000000"/>
              </a:solidFill>
              <a:effectLst/>
              <a:uFillTx/>
              <a:latin typeface="Arial"/>
            </a:endParaRPr>
          </a:p>
        </p:txBody>
      </p:sp>
      <p:sp>
        <p:nvSpPr>
          <p:cNvPr id="1098" name="Text 8"/>
          <p:cNvSpPr/>
          <p:nvPr/>
        </p:nvSpPr>
        <p:spPr>
          <a:xfrm>
            <a:off x="6309360" y="1691640"/>
            <a:ext cx="53485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matplotlib.patches holds ready-made shapes — Circle, Rectangle, Arrow, Polygon, and more.</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A patch works like any other Artist: create it, then hand it to an Axes with ax.add_patch(patch).</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Most useful for highlighting a region, building a custom legend swatch, or drawing simple diagrams — like the Figure vs. Axes diagram back in Part 1.</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You won't reach for these in everyday charts, but recognizing the pattern helps when reading other people's Matplotlib code.</a:t>
            </a:r>
            <a:endParaRPr lang="en-US" sz="1300" b="0" u="none" strike="noStrike">
              <a:solidFill>
                <a:srgbClr val="000000"/>
              </a:solidFill>
              <a:effectLst/>
              <a:uFillTx/>
              <a:latin typeface="Arial"/>
            </a:endParaRPr>
          </a:p>
        </p:txBody>
      </p:sp>
      <p:sp>
        <p:nvSpPr>
          <p:cNvPr id="1099"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79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10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12 · TEXT &amp; ANNOTATIONS</a:t>
            </a:r>
            <a:endParaRPr lang="en-US" sz="1100" b="0" u="none" strike="noStrike">
              <a:solidFill>
                <a:srgbClr val="000000"/>
              </a:solidFill>
              <a:effectLst/>
              <a:uFillTx/>
              <a:latin typeface="Arial"/>
            </a:endParaRPr>
          </a:p>
        </p:txBody>
      </p:sp>
      <p:sp>
        <p:nvSpPr>
          <p:cNvPr id="110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 Peek at Animation — matplotlib.animation</a:t>
            </a:r>
            <a:endParaRPr lang="en-US" sz="2600" b="0" u="none" strike="noStrike">
              <a:solidFill>
                <a:srgbClr val="000000"/>
              </a:solidFill>
              <a:effectLst/>
              <a:uFillTx/>
              <a:latin typeface="Arial"/>
            </a:endParaRPr>
          </a:p>
        </p:txBody>
      </p:sp>
      <p:pic>
        <p:nvPicPr>
          <p:cNvPr id="110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10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104"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05"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106"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107"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108"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00" b="0" u="none" strike="noStrike">
                <a:solidFill>
                  <a:srgbClr val="F1F5F9"/>
                </a:solidFill>
                <a:effectLst/>
                <a:uFillTx/>
                <a:latin typeface="Cantarell"/>
                <a:ea typeface="Cantarell"/>
              </a:rPr>
              <a:t>from matplotlib.animation import FuncAnimation</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fig, ax = plt.subplots()</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line, = ax.plot(x, y[:1])</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def update(frame):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line.set_ydata(y[:frame])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return line,</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anim = FuncAnimation(</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fig, update, frames=len(y)</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plt.show()</a:t>
            </a:r>
            <a:endParaRPr lang="en-US" sz="1200" b="0" u="none" strike="noStrike">
              <a:solidFill>
                <a:srgbClr val="000000"/>
              </a:solidFill>
              <a:effectLst/>
              <a:uFillTx/>
              <a:latin typeface="Arial"/>
            </a:endParaRPr>
          </a:p>
        </p:txBody>
      </p:sp>
      <p:sp>
        <p:nvSpPr>
          <p:cNvPr id="1109" name="Text 8"/>
          <p:cNvSpPr/>
          <p:nvPr/>
        </p:nvSpPr>
        <p:spPr>
          <a:xfrm>
            <a:off x="6309360" y="1691640"/>
            <a:ext cx="53485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matplotlib.animation redraws a Figure frame by frame — useful for showing a process over time, like training progress or a simulation.</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FuncAnimation is the core tool: you write one update() function, and Matplotlib calls it once per frame.</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This is a genuinely advanced topic — full animation programming is outside this module's scope. For now, just know it exists and what it's for.</a:t>
            </a:r>
            <a:endParaRPr lang="en-US" sz="1300" b="0" u="none" strike="noStrike">
              <a:solidFill>
                <a:srgbClr val="000000"/>
              </a:solidFill>
              <a:effectLst/>
              <a:uFillTx/>
              <a:latin typeface="Arial"/>
            </a:endParaRPr>
          </a:p>
          <a:p>
            <a:pPr marL="228600" indent="-228600" defTabSz="914400">
              <a:lnSpc>
                <a:spcPct val="100000"/>
              </a:lnSpc>
              <a:spcAft>
                <a:spcPts val="1301"/>
              </a:spcAft>
              <a:buClr>
                <a:srgbClr val="1B1B20"/>
              </a:buClr>
              <a:buFont typeface="Symbol" charset="2"/>
              <a:buChar char=""/>
            </a:pPr>
            <a:r>
              <a:rPr lang="en-US" sz="1300" b="0" u="none" strike="noStrike">
                <a:solidFill>
                  <a:srgbClr val="1B1B20"/>
                </a:solidFill>
                <a:effectLst/>
                <a:uFillTx/>
                <a:latin typeface="Hanken Grotesk"/>
                <a:ea typeface="Hanken Grotesk"/>
              </a:rPr>
              <a:t>Curious? matplotlib.org has interactive animation examples worth exploring on your own time.</a:t>
            </a:r>
            <a:endParaRPr lang="en-US" sz="1300" b="0" u="none" strike="noStrike">
              <a:solidFill>
                <a:srgbClr val="000000"/>
              </a:solidFill>
              <a:effectLst/>
              <a:uFillTx/>
              <a:latin typeface="Arial"/>
            </a:endParaRPr>
          </a:p>
        </p:txBody>
      </p:sp>
      <p:sp>
        <p:nvSpPr>
          <p:cNvPr id="1110"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80</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111"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12"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1113"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12 · TEXT &amp; ANNOTATIONS</a:t>
            </a:r>
            <a:endParaRPr lang="en-US" sz="1100" b="0" u="none" strike="noStrike">
              <a:solidFill>
                <a:srgbClr val="000000"/>
              </a:solidFill>
              <a:effectLst/>
              <a:uFillTx/>
              <a:latin typeface="Arial"/>
            </a:endParaRPr>
          </a:p>
        </p:txBody>
      </p:sp>
      <p:sp>
        <p:nvSpPr>
          <p:cNvPr id="1114"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Text, Annotations &amp; Shapes</a:t>
            </a:r>
            <a:endParaRPr lang="en-US" sz="2300" b="0" u="none" strike="noStrike">
              <a:solidFill>
                <a:srgbClr val="000000"/>
              </a:solidFill>
              <a:effectLst/>
              <a:uFillTx/>
              <a:latin typeface="Arial"/>
            </a:endParaRPr>
          </a:p>
        </p:txBody>
      </p:sp>
      <p:sp>
        <p:nvSpPr>
          <p:cNvPr id="1115"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1116"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7"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8"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1119"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Use plt.annotate() to point an arrow at the highest value in a line chart.</a:t>
            </a:r>
            <a:endParaRPr lang="en-US" sz="1300" b="0" u="none" strike="noStrike">
              <a:solidFill>
                <a:srgbClr val="000000"/>
              </a:solidFill>
              <a:effectLst/>
              <a:uFillTx/>
              <a:latin typeface="Arial"/>
            </a:endParaRPr>
          </a:p>
        </p:txBody>
      </p:sp>
      <p:sp>
        <p:nvSpPr>
          <p:cNvPr id="1120"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1"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2"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1123"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Add plt.text() somewhere on the chart to label a specific observation in plain words.</a:t>
            </a:r>
            <a:endParaRPr lang="en-US" sz="1300" b="0" u="none" strike="noStrike">
              <a:solidFill>
                <a:srgbClr val="000000"/>
              </a:solidFill>
              <a:effectLst/>
              <a:uFillTx/>
              <a:latin typeface="Arial"/>
            </a:endParaRPr>
          </a:p>
        </p:txBody>
      </p:sp>
      <p:sp>
        <p:nvSpPr>
          <p:cNvPr id="1124"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5"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6"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1127"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Draw a Circle or Rectangle patch to highlight one region of an existing chart.</a:t>
            </a:r>
            <a:endParaRPr lang="en-US" sz="1300" b="0" u="none" strike="noStrike">
              <a:solidFill>
                <a:srgbClr val="000000"/>
              </a:solidFill>
              <a:effectLst/>
              <a:uFillTx/>
              <a:latin typeface="Arial"/>
            </a:endParaRPr>
          </a:p>
        </p:txBody>
      </p:sp>
      <p:pic>
        <p:nvPicPr>
          <p:cNvPr id="1128"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129"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130"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131"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32"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33" name="Image 0" descr="/home/claude/mpl/assets/logo_icon.png"/>
          <p:cNvPicPr/>
          <p:nvPr/>
        </p:nvPicPr>
        <p:blipFill>
          <a:blip r:embed="rId1"/>
          <a:stretch/>
        </p:blipFill>
        <p:spPr>
          <a:xfrm>
            <a:off x="640080" y="548640"/>
            <a:ext cx="438120" cy="525960"/>
          </a:xfrm>
          <a:prstGeom prst="rect">
            <a:avLst/>
          </a:prstGeom>
          <a:noFill/>
          <a:ln w="0">
            <a:noFill/>
          </a:ln>
        </p:spPr>
      </p:pic>
      <p:sp>
        <p:nvSpPr>
          <p:cNvPr id="1134"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13 · STATISTICAL VISUALIZATION</a:t>
            </a:r>
            <a:endParaRPr lang="en-US" sz="1400" b="0" u="none" strike="noStrike">
              <a:solidFill>
                <a:srgbClr val="FFFFFF"/>
              </a:solidFill>
              <a:effectLst/>
              <a:uFillTx/>
              <a:latin typeface="Arial"/>
            </a:endParaRPr>
          </a:p>
        </p:txBody>
      </p:sp>
      <p:sp>
        <p:nvSpPr>
          <p:cNvPr id="1135"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Statistical Visualization</a:t>
            </a:r>
            <a:endParaRPr lang="en-US" sz="4000" b="0" u="none" strike="noStrike">
              <a:solidFill>
                <a:srgbClr val="FFFFFF"/>
              </a:solidFill>
              <a:effectLst/>
              <a:uFillTx/>
              <a:latin typeface="Arial"/>
            </a:endParaRPr>
          </a:p>
        </p:txBody>
      </p:sp>
      <p:sp>
        <p:nvSpPr>
          <p:cNvPr id="1136"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Box plots — reading spread, center, and outliers at a glance.</a:t>
            </a:r>
            <a:endParaRPr lang="en-US" sz="1500" b="0" u="none" strike="noStrike">
              <a:solidFill>
                <a:srgbClr val="FFFFFF"/>
              </a:solidFill>
              <a:effectLst/>
              <a:uFillTx/>
              <a:latin typeface="Arial"/>
            </a:endParaRPr>
          </a:p>
        </p:txBody>
      </p:sp>
      <p:sp>
        <p:nvSpPr>
          <p:cNvPr id="1137"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82</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138"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13 · STATISTICAL VISUALIZATION</a:t>
            </a:r>
            <a:endParaRPr lang="en-US" sz="1100" b="0" u="none" strike="noStrike">
              <a:solidFill>
                <a:srgbClr val="000000"/>
              </a:solidFill>
              <a:effectLst/>
              <a:uFillTx/>
              <a:latin typeface="Arial"/>
            </a:endParaRPr>
          </a:p>
        </p:txBody>
      </p:sp>
      <p:sp>
        <p:nvSpPr>
          <p:cNvPr id="1139"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plt.boxplot() — Median, Quartiles &amp; Outliers</a:t>
            </a:r>
            <a:endParaRPr lang="en-US" sz="2600" b="0" u="none" strike="noStrike">
              <a:solidFill>
                <a:srgbClr val="000000"/>
              </a:solidFill>
              <a:effectLst/>
              <a:uFillTx/>
              <a:latin typeface="Arial"/>
            </a:endParaRPr>
          </a:p>
        </p:txBody>
      </p:sp>
      <p:pic>
        <p:nvPicPr>
          <p:cNvPr id="114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141"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142" name="Shape 3"/>
          <p:cNvSpPr/>
          <p:nvPr/>
        </p:nvSpPr>
        <p:spPr>
          <a:xfrm>
            <a:off x="548640" y="1691640"/>
            <a:ext cx="5119920" cy="2010960"/>
          </a:xfrm>
          <a:prstGeom prst="roundRect">
            <a:avLst>
              <a:gd name="adj" fmla="val 5455"/>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43"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144"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145"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146" name="Text 7"/>
          <p:cNvSpPr/>
          <p:nvPr/>
        </p:nvSpPr>
        <p:spPr>
          <a:xfrm>
            <a:off x="749880" y="2075760"/>
            <a:ext cx="4717440" cy="148068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00" b="0" u="none" strike="noStrike">
                <a:solidFill>
                  <a:srgbClr val="F1F5F9"/>
                </a:solidFill>
                <a:effectLst/>
                <a:uFillTx/>
                <a:latin typeface="Cantarell"/>
                <a:ea typeface="Cantarell"/>
              </a:rPr>
              <a:t>plt.boxplot(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[model_a, model_b, model_c],</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    labels=["Model A","Model B","Model C"]</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a:t>
            </a:r>
            <a:endParaRPr lang="en-US" sz="1300" b="0" u="none" strike="noStrike">
              <a:solidFill>
                <a:srgbClr val="000000"/>
              </a:solidFill>
              <a:effectLst/>
              <a:uFillTx/>
              <a:latin typeface="Arial"/>
            </a:endParaRPr>
          </a:p>
          <a:p>
            <a:pPr defTabSz="914400">
              <a:lnSpc>
                <a:spcPct val="118000"/>
              </a:lnSpc>
              <a:tabLst>
                <a:tab pos="0" algn="l"/>
              </a:tabLst>
            </a:pPr>
            <a:r>
              <a:rPr lang="en-US" sz="1300" b="0" u="none" strike="noStrike">
                <a:solidFill>
                  <a:srgbClr val="F1F5F9"/>
                </a:solidFill>
                <a:effectLst/>
                <a:uFillTx/>
                <a:latin typeface="Cantarell"/>
                <a:ea typeface="Cantarell"/>
              </a:rPr>
              <a:t>plt.ylabel("Accuracy (%)")</a:t>
            </a:r>
            <a:endParaRPr lang="en-US" sz="1300" b="0" u="none" strike="noStrike">
              <a:solidFill>
                <a:srgbClr val="000000"/>
              </a:solidFill>
              <a:effectLst/>
              <a:uFillTx/>
              <a:latin typeface="Arial"/>
            </a:endParaRPr>
          </a:p>
        </p:txBody>
      </p:sp>
      <p:sp>
        <p:nvSpPr>
          <p:cNvPr id="1147" name="Text 8"/>
          <p:cNvSpPr/>
          <p:nvPr/>
        </p:nvSpPr>
        <p:spPr>
          <a:xfrm>
            <a:off x="548640" y="3886200"/>
            <a:ext cx="5119920" cy="182808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001"/>
              </a:spcAft>
              <a:buClr>
                <a:srgbClr val="1B1B20"/>
              </a:buClr>
              <a:buFont typeface="Symbol" charset="2"/>
              <a:buChar char=""/>
            </a:pPr>
            <a:r>
              <a:rPr lang="en-US" sz="1250" b="0" u="none" strike="noStrike">
                <a:solidFill>
                  <a:srgbClr val="1B1B20"/>
                </a:solidFill>
                <a:effectLst/>
                <a:uFillTx/>
                <a:latin typeface="Hanken Grotesk"/>
                <a:ea typeface="Hanken Grotesk"/>
              </a:rPr>
              <a:t>The box spans the middle 50% of the data (25th to 75th percentile).</a:t>
            </a:r>
            <a:endParaRPr lang="en-US" sz="1250" b="0" u="none" strike="noStrike">
              <a:solidFill>
                <a:srgbClr val="000000"/>
              </a:solidFill>
              <a:effectLst/>
              <a:uFillTx/>
              <a:latin typeface="Arial"/>
            </a:endParaRPr>
          </a:p>
          <a:p>
            <a:pPr marL="228600" indent="-228600" defTabSz="914400">
              <a:lnSpc>
                <a:spcPct val="100000"/>
              </a:lnSpc>
              <a:spcAft>
                <a:spcPts val="1001"/>
              </a:spcAft>
              <a:buClr>
                <a:srgbClr val="1B1B20"/>
              </a:buClr>
              <a:buFont typeface="Symbol" charset="2"/>
              <a:buChar char=""/>
            </a:pPr>
            <a:r>
              <a:rPr lang="en-US" sz="1250" b="0" u="none" strike="noStrike">
                <a:solidFill>
                  <a:srgbClr val="1B1B20"/>
                </a:solidFill>
                <a:effectLst/>
                <a:uFillTx/>
                <a:latin typeface="Hanken Grotesk"/>
                <a:ea typeface="Hanken Grotesk"/>
              </a:rPr>
              <a:t>The line inside the box is the median.</a:t>
            </a:r>
            <a:endParaRPr lang="en-US" sz="1250" b="0" u="none" strike="noStrike">
              <a:solidFill>
                <a:srgbClr val="000000"/>
              </a:solidFill>
              <a:effectLst/>
              <a:uFillTx/>
              <a:latin typeface="Arial"/>
            </a:endParaRPr>
          </a:p>
          <a:p>
            <a:pPr marL="228600" indent="-228600" defTabSz="914400">
              <a:lnSpc>
                <a:spcPct val="100000"/>
              </a:lnSpc>
              <a:spcAft>
                <a:spcPts val="1001"/>
              </a:spcAft>
              <a:buClr>
                <a:srgbClr val="1B1B20"/>
              </a:buClr>
              <a:buFont typeface="Symbol" charset="2"/>
              <a:buChar char=""/>
            </a:pPr>
            <a:r>
              <a:rPr lang="en-US" sz="1250" b="0" u="none" strike="noStrike">
                <a:solidFill>
                  <a:srgbClr val="1B1B20"/>
                </a:solidFill>
                <a:effectLst/>
                <a:uFillTx/>
                <a:latin typeface="Hanken Grotesk"/>
                <a:ea typeface="Hanken Grotesk"/>
              </a:rPr>
              <a:t>Whiskers extend to the typical range; dots beyond them are outliers.</a:t>
            </a:r>
            <a:endParaRPr lang="en-US" sz="1250" b="0" u="none" strike="noStrike">
              <a:solidFill>
                <a:srgbClr val="000000"/>
              </a:solidFill>
              <a:effectLst/>
              <a:uFillTx/>
              <a:latin typeface="Arial"/>
            </a:endParaRPr>
          </a:p>
        </p:txBody>
      </p:sp>
      <p:sp>
        <p:nvSpPr>
          <p:cNvPr id="1148" name="Shape 9"/>
          <p:cNvSpPr/>
          <p:nvPr/>
        </p:nvSpPr>
        <p:spPr>
          <a:xfrm>
            <a:off x="5852160" y="1691640"/>
            <a:ext cx="5805720" cy="4982760"/>
          </a:xfrm>
          <a:prstGeom prst="roundRect">
            <a:avLst>
              <a:gd name="adj" fmla="val 1835"/>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149" name="Image 1" descr="/home/claude/mpl/charts/boxplot_models.png"/>
          <p:cNvPicPr/>
          <p:nvPr/>
        </p:nvPicPr>
        <p:blipFill>
          <a:blip r:embed="rId2"/>
          <a:stretch/>
        </p:blipFill>
        <p:spPr>
          <a:xfrm>
            <a:off x="5961960" y="1801440"/>
            <a:ext cx="5586120" cy="4763160"/>
          </a:xfrm>
          <a:prstGeom prst="rect">
            <a:avLst/>
          </a:prstGeom>
          <a:noFill/>
          <a:ln w="0">
            <a:noFill/>
          </a:ln>
        </p:spPr>
      </p:pic>
      <p:sp>
        <p:nvSpPr>
          <p:cNvPr id="1150"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151"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13 · STATISTICAL VISUALIZATION</a:t>
            </a:r>
            <a:endParaRPr lang="en-US" sz="1100" b="0" u="none" strike="noStrike">
              <a:solidFill>
                <a:srgbClr val="000000"/>
              </a:solidFill>
              <a:effectLst/>
              <a:uFillTx/>
              <a:latin typeface="Arial"/>
            </a:endParaRPr>
          </a:p>
        </p:txBody>
      </p:sp>
      <p:sp>
        <p:nvSpPr>
          <p:cNvPr id="1152"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Box Plot vs. Histogram</a:t>
            </a:r>
            <a:endParaRPr lang="en-US" sz="2600" b="0" u="none" strike="noStrike">
              <a:solidFill>
                <a:srgbClr val="000000"/>
              </a:solidFill>
              <a:effectLst/>
              <a:uFillTx/>
              <a:latin typeface="Arial"/>
            </a:endParaRPr>
          </a:p>
        </p:txBody>
      </p:sp>
      <p:pic>
        <p:nvPicPr>
          <p:cNvPr id="1153"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154"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155" name="Shape 3"/>
          <p:cNvSpPr/>
          <p:nvPr/>
        </p:nvSpPr>
        <p:spPr>
          <a:xfrm>
            <a:off x="548640" y="1737360"/>
            <a:ext cx="5394240" cy="3931200"/>
          </a:xfrm>
          <a:prstGeom prst="roundRect">
            <a:avLst>
              <a:gd name="adj" fmla="val 279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6" name="Text 4"/>
          <p:cNvSpPr/>
          <p:nvPr/>
        </p:nvSpPr>
        <p:spPr>
          <a:xfrm>
            <a:off x="777240" y="1938600"/>
            <a:ext cx="49370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700" b="1" u="none" strike="noStrike">
                <a:solidFill>
                  <a:srgbClr val="5755A7"/>
                </a:solidFill>
                <a:effectLst/>
                <a:uFillTx/>
                <a:latin typeface="Bricolage Grotesque"/>
                <a:ea typeface="Bricolage Grotesque"/>
              </a:rPr>
              <a:t>Histogram</a:t>
            </a:r>
            <a:endParaRPr lang="en-US" sz="1700" b="0" u="none" strike="noStrike">
              <a:solidFill>
                <a:srgbClr val="000000"/>
              </a:solidFill>
              <a:effectLst/>
              <a:uFillTx/>
              <a:latin typeface="Arial"/>
            </a:endParaRPr>
          </a:p>
        </p:txBody>
      </p:sp>
      <p:sp>
        <p:nvSpPr>
          <p:cNvPr id="1157" name="Text 5"/>
          <p:cNvSpPr/>
          <p:nvPr/>
        </p:nvSpPr>
        <p:spPr>
          <a:xfrm>
            <a:off x="777240" y="2514600"/>
            <a:ext cx="4937040" cy="3016800"/>
          </a:xfrm>
          <a:prstGeom prst="rect">
            <a:avLst/>
          </a:prstGeom>
          <a:noFill/>
          <a:ln w="0">
            <a:noFill/>
          </a:ln>
        </p:spPr>
        <p:style>
          <a:lnRef idx="0"/>
          <a:fillRef idx="0"/>
          <a:effectRef idx="0"/>
          <a:fontRef idx="minor"/>
        </p:style>
        <p:txBody>
          <a:bodyPr lIns="90000" tIns="45000" rIns="90000" bIns="45000" anchor="t">
            <a:noAutofit/>
          </a:bodyPr>
          <a:p>
            <a:pPr defTabSz="914400">
              <a:lnSpc>
                <a:spcPct val="130000"/>
              </a:lnSpc>
              <a:tabLst>
                <a:tab pos="0" algn="l"/>
              </a:tabLst>
            </a:pPr>
            <a:r>
              <a:rPr lang="en-US" sz="1300" b="0" u="none" strike="noStrike">
                <a:solidFill>
                  <a:srgbClr val="474651"/>
                </a:solidFill>
                <a:effectLst/>
                <a:uFillTx/>
                <a:latin typeface="Hanken Grotesk"/>
                <a:ea typeface="Hanken Grotesk"/>
              </a:rPr>
              <a:t>Shows the full shape of a distribution — how values spread across ranges. Best for understanding one variable in depth.</a:t>
            </a:r>
            <a:endParaRPr lang="en-US" sz="1300" b="0" u="none" strike="noStrike">
              <a:solidFill>
                <a:srgbClr val="000000"/>
              </a:solidFill>
              <a:effectLst/>
              <a:uFillTx/>
              <a:latin typeface="Arial"/>
            </a:endParaRPr>
          </a:p>
        </p:txBody>
      </p:sp>
      <p:sp>
        <p:nvSpPr>
          <p:cNvPr id="1158" name="Shape 6"/>
          <p:cNvSpPr/>
          <p:nvPr/>
        </p:nvSpPr>
        <p:spPr>
          <a:xfrm>
            <a:off x="6263640" y="1737360"/>
            <a:ext cx="5394240" cy="3931200"/>
          </a:xfrm>
          <a:prstGeom prst="roundRect">
            <a:avLst>
              <a:gd name="adj" fmla="val 2791"/>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9" name="Text 7"/>
          <p:cNvSpPr/>
          <p:nvPr/>
        </p:nvSpPr>
        <p:spPr>
          <a:xfrm>
            <a:off x="6492240" y="1938600"/>
            <a:ext cx="49370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700" b="1" u="none" strike="noStrike">
                <a:solidFill>
                  <a:srgbClr val="5755A7"/>
                </a:solidFill>
                <a:effectLst/>
                <a:uFillTx/>
                <a:latin typeface="Bricolage Grotesque"/>
                <a:ea typeface="Bricolage Grotesque"/>
              </a:rPr>
              <a:t>Box Plot</a:t>
            </a:r>
            <a:endParaRPr lang="en-US" sz="1700" b="0" u="none" strike="noStrike">
              <a:solidFill>
                <a:srgbClr val="000000"/>
              </a:solidFill>
              <a:effectLst/>
              <a:uFillTx/>
              <a:latin typeface="Arial"/>
            </a:endParaRPr>
          </a:p>
        </p:txBody>
      </p:sp>
      <p:sp>
        <p:nvSpPr>
          <p:cNvPr id="1160" name="Text 8"/>
          <p:cNvSpPr/>
          <p:nvPr/>
        </p:nvSpPr>
        <p:spPr>
          <a:xfrm>
            <a:off x="6492240" y="2514600"/>
            <a:ext cx="4937040" cy="3016800"/>
          </a:xfrm>
          <a:prstGeom prst="rect">
            <a:avLst/>
          </a:prstGeom>
          <a:noFill/>
          <a:ln w="0">
            <a:noFill/>
          </a:ln>
        </p:spPr>
        <p:style>
          <a:lnRef idx="0"/>
          <a:fillRef idx="0"/>
          <a:effectRef idx="0"/>
          <a:fontRef idx="minor"/>
        </p:style>
        <p:txBody>
          <a:bodyPr lIns="90000" tIns="45000" rIns="90000" bIns="45000" anchor="t">
            <a:noAutofit/>
          </a:bodyPr>
          <a:p>
            <a:pPr defTabSz="914400">
              <a:lnSpc>
                <a:spcPct val="130000"/>
              </a:lnSpc>
              <a:tabLst>
                <a:tab pos="0" algn="l"/>
              </a:tabLst>
            </a:pPr>
            <a:r>
              <a:rPr lang="en-US" sz="1300" b="0" u="none" strike="noStrike">
                <a:solidFill>
                  <a:srgbClr val="474651"/>
                </a:solidFill>
                <a:effectLst/>
                <a:uFillTx/>
                <a:latin typeface="Hanken Grotesk"/>
                <a:ea typeface="Hanken Grotesk"/>
              </a:rPr>
              <a:t>Compresses a distribution into 5 key numbers. Best for comparing spread and outliers across several groups at once.</a:t>
            </a:r>
            <a:endParaRPr lang="en-US" sz="1300" b="0" u="none" strike="noStrike">
              <a:solidFill>
                <a:srgbClr val="000000"/>
              </a:solidFill>
              <a:effectLst/>
              <a:uFillTx/>
              <a:latin typeface="Arial"/>
            </a:endParaRPr>
          </a:p>
        </p:txBody>
      </p:sp>
      <p:sp>
        <p:nvSpPr>
          <p:cNvPr id="1161" name="Text 9"/>
          <p:cNvSpPr/>
          <p:nvPr/>
        </p:nvSpPr>
        <p:spPr>
          <a:xfrm>
            <a:off x="548640" y="5806440"/>
            <a:ext cx="1110924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i="1" u="none" strike="noStrike">
                <a:solidFill>
                  <a:srgbClr val="474651"/>
                </a:solidFill>
                <a:effectLst/>
                <a:uFillTx/>
                <a:latin typeface="Hanken Grotesk"/>
                <a:ea typeface="Hanken Grotesk"/>
              </a:rPr>
              <a:t>In EDA, it's common to start with a histogram to understand one feature, then switch to box plots to compare that feature across categories or classes.</a:t>
            </a:r>
            <a:endParaRPr lang="en-US" sz="1200" b="0" u="none" strike="noStrike">
              <a:solidFill>
                <a:srgbClr val="000000"/>
              </a:solidFill>
              <a:effectLst/>
              <a:uFillTx/>
              <a:latin typeface="Arial"/>
            </a:endParaRPr>
          </a:p>
        </p:txBody>
      </p:sp>
      <p:sp>
        <p:nvSpPr>
          <p:cNvPr id="1162" name="Text 10"/>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163"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64"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1165"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13 · STATISTICAL VISUALIZATION</a:t>
            </a:r>
            <a:endParaRPr lang="en-US" sz="1100" b="0" u="none" strike="noStrike">
              <a:solidFill>
                <a:srgbClr val="000000"/>
              </a:solidFill>
              <a:effectLst/>
              <a:uFillTx/>
              <a:latin typeface="Arial"/>
            </a:endParaRPr>
          </a:p>
        </p:txBody>
      </p:sp>
      <p:sp>
        <p:nvSpPr>
          <p:cNvPr id="1166"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Statistical Visualization</a:t>
            </a:r>
            <a:endParaRPr lang="en-US" sz="2300" b="0" u="none" strike="noStrike">
              <a:solidFill>
                <a:srgbClr val="000000"/>
              </a:solidFill>
              <a:effectLst/>
              <a:uFillTx/>
              <a:latin typeface="Arial"/>
            </a:endParaRPr>
          </a:p>
        </p:txBody>
      </p:sp>
      <p:sp>
        <p:nvSpPr>
          <p:cNvPr id="1167"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1168"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9"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0"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1171"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Build a box plot comparing three groups of numbers you invent.</a:t>
            </a:r>
            <a:endParaRPr lang="en-US" sz="1300" b="0" u="none" strike="noStrike">
              <a:solidFill>
                <a:srgbClr val="000000"/>
              </a:solidFill>
              <a:effectLst/>
              <a:uFillTx/>
              <a:latin typeface="Arial"/>
            </a:endParaRPr>
          </a:p>
        </p:txBody>
      </p:sp>
      <p:sp>
        <p:nvSpPr>
          <p:cNvPr id="1172"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3"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4"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1175"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Identify, just by looking at it, which group has the most outliers.</a:t>
            </a:r>
            <a:endParaRPr lang="en-US" sz="1300" b="0" u="none" strike="noStrike">
              <a:solidFill>
                <a:srgbClr val="000000"/>
              </a:solidFill>
              <a:effectLst/>
              <a:uFillTx/>
              <a:latin typeface="Arial"/>
            </a:endParaRPr>
          </a:p>
        </p:txBody>
      </p:sp>
      <p:sp>
        <p:nvSpPr>
          <p:cNvPr id="1176"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7"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8"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1179"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Plot the same data as a histogram, one group at a time, and compare the two views.</a:t>
            </a:r>
            <a:endParaRPr lang="en-US" sz="1300" b="0" u="none" strike="noStrike">
              <a:solidFill>
                <a:srgbClr val="000000"/>
              </a:solidFill>
              <a:effectLst/>
              <a:uFillTx/>
              <a:latin typeface="Arial"/>
            </a:endParaRPr>
          </a:p>
        </p:txBody>
      </p:sp>
      <p:pic>
        <p:nvPicPr>
          <p:cNvPr id="118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181"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182"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183"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84"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85" name="Image 0" descr="/home/claude/mpl/assets/logo_icon.png"/>
          <p:cNvPicPr/>
          <p:nvPr/>
        </p:nvPicPr>
        <p:blipFill>
          <a:blip r:embed="rId1"/>
          <a:stretch/>
        </p:blipFill>
        <p:spPr>
          <a:xfrm>
            <a:off x="640080" y="548640"/>
            <a:ext cx="438120" cy="525960"/>
          </a:xfrm>
          <a:prstGeom prst="rect">
            <a:avLst/>
          </a:prstGeom>
          <a:noFill/>
          <a:ln w="0">
            <a:noFill/>
          </a:ln>
        </p:spPr>
      </p:pic>
      <p:sp>
        <p:nvSpPr>
          <p:cNvPr id="1186"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14 · SAVING FIGURES</a:t>
            </a:r>
            <a:endParaRPr lang="en-US" sz="1400" b="0" u="none" strike="noStrike">
              <a:solidFill>
                <a:srgbClr val="FFFFFF"/>
              </a:solidFill>
              <a:effectLst/>
              <a:uFillTx/>
              <a:latin typeface="Arial"/>
            </a:endParaRPr>
          </a:p>
        </p:txBody>
      </p:sp>
      <p:sp>
        <p:nvSpPr>
          <p:cNvPr id="1187"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Saving Figures</a:t>
            </a:r>
            <a:endParaRPr lang="en-US" sz="4000" b="0" u="none" strike="noStrike">
              <a:solidFill>
                <a:srgbClr val="FFFFFF"/>
              </a:solidFill>
              <a:effectLst/>
              <a:uFillTx/>
              <a:latin typeface="Arial"/>
            </a:endParaRPr>
          </a:p>
        </p:txBody>
      </p:sp>
      <p:sp>
        <p:nvSpPr>
          <p:cNvPr id="1188"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Turning a plot into a file you can share, embed, or print — with plt.savefig().</a:t>
            </a:r>
            <a:endParaRPr lang="en-US" sz="1500" b="0" u="none" strike="noStrike">
              <a:solidFill>
                <a:srgbClr val="FFFFFF"/>
              </a:solidFill>
              <a:effectLst/>
              <a:uFillTx/>
              <a:latin typeface="Arial"/>
            </a:endParaRPr>
          </a:p>
        </p:txBody>
      </p:sp>
      <p:sp>
        <p:nvSpPr>
          <p:cNvPr id="1189"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86</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19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14 · SAVING FIGURES</a:t>
            </a:r>
            <a:endParaRPr lang="en-US" sz="1100" b="0" u="none" strike="noStrike">
              <a:solidFill>
                <a:srgbClr val="000000"/>
              </a:solidFill>
              <a:effectLst/>
              <a:uFillTx/>
              <a:latin typeface="Arial"/>
            </a:endParaRPr>
          </a:p>
        </p:txBody>
      </p:sp>
      <p:sp>
        <p:nvSpPr>
          <p:cNvPr id="119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Anatomy of plt.savefig()</a:t>
            </a:r>
            <a:endParaRPr lang="en-US" sz="2600" b="0" u="none" strike="noStrike">
              <a:solidFill>
                <a:srgbClr val="000000"/>
              </a:solidFill>
              <a:effectLst/>
              <a:uFillTx/>
              <a:latin typeface="Arial"/>
            </a:endParaRPr>
          </a:p>
        </p:txBody>
      </p:sp>
      <p:pic>
        <p:nvPicPr>
          <p:cNvPr id="119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19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194" name="Shape 3"/>
          <p:cNvSpPr/>
          <p:nvPr/>
        </p:nvSpPr>
        <p:spPr>
          <a:xfrm>
            <a:off x="548640" y="1691640"/>
            <a:ext cx="5028480" cy="2193840"/>
          </a:xfrm>
          <a:prstGeom prst="roundRect">
            <a:avLst>
              <a:gd name="adj" fmla="val 5000"/>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95"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196"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197"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198" name="Text 7"/>
          <p:cNvSpPr/>
          <p:nvPr/>
        </p:nvSpPr>
        <p:spPr>
          <a:xfrm>
            <a:off x="749880" y="2075760"/>
            <a:ext cx="4626000" cy="16635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400" b="0" u="none" strike="noStrike">
                <a:solidFill>
                  <a:srgbClr val="F1F5F9"/>
                </a:solidFill>
                <a:effectLst/>
                <a:uFillTx/>
                <a:latin typeface="Cantarell"/>
                <a:ea typeface="Cantarell"/>
              </a:rPr>
              <a:t>plt.savefig(</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"filename.png",</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dpi=300,</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    bbox_inches="tight"</a:t>
            </a:r>
            <a:endParaRPr lang="en-US" sz="1400" b="0" u="none" strike="noStrike">
              <a:solidFill>
                <a:srgbClr val="000000"/>
              </a:solidFill>
              <a:effectLst/>
              <a:uFillTx/>
              <a:latin typeface="Arial"/>
            </a:endParaRPr>
          </a:p>
          <a:p>
            <a:pPr defTabSz="914400">
              <a:lnSpc>
                <a:spcPct val="118000"/>
              </a:lnSpc>
              <a:tabLst>
                <a:tab pos="0" algn="l"/>
              </a:tabLst>
            </a:pPr>
            <a:r>
              <a:rPr lang="en-US" sz="1400" b="0" u="none" strike="noStrike">
                <a:solidFill>
                  <a:srgbClr val="F1F5F9"/>
                </a:solidFill>
                <a:effectLst/>
                <a:uFillTx/>
                <a:latin typeface="Cantarell"/>
                <a:ea typeface="Cantarell"/>
              </a:rPr>
              <a:t>)</a:t>
            </a:r>
            <a:endParaRPr lang="en-US" sz="1400" b="0" u="none" strike="noStrike">
              <a:solidFill>
                <a:srgbClr val="000000"/>
              </a:solidFill>
              <a:effectLst/>
              <a:uFillTx/>
              <a:latin typeface="Arial"/>
            </a:endParaRPr>
          </a:p>
        </p:txBody>
      </p:sp>
      <p:graphicFrame>
        <p:nvGraphicFramePr>
          <p:cNvPr id="1199" name="Table 0"/>
          <p:cNvGraphicFramePr/>
          <p:nvPr/>
        </p:nvGraphicFramePr>
        <p:xfrm>
          <a:off x="5806440" y="1691640"/>
          <a:ext cx="5851440" cy="2194560"/>
        </p:xfrm>
        <a:graphic>
          <a:graphicData uri="http://schemas.openxmlformats.org/drawingml/2006/table">
            <a:tbl>
              <a:tblPr/>
              <a:tblGrid>
                <a:gridCol w="1872360"/>
                <a:gridCol w="3979440"/>
              </a:tblGrid>
              <a:tr h="548640">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Parameter</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c>
                  <a:txBody>
                    <a:bodyPr lIns="101520" tIns="50760" rIns="101520" bIns="50760" anchor="ctr">
                      <a:noAutofit/>
                    </a:bodyPr>
                    <a:p>
                      <a:pPr defTabSz="914400">
                        <a:lnSpc>
                          <a:spcPct val="100000"/>
                        </a:lnSpc>
                        <a:tabLst>
                          <a:tab pos="0" algn="l"/>
                        </a:tabLst>
                      </a:pPr>
                      <a:r>
                        <a:rPr lang="en-US" sz="1100" b="1" u="none" strike="noStrike">
                          <a:solidFill>
                            <a:srgbClr val="FFFFFF"/>
                          </a:solidFill>
                          <a:effectLst/>
                          <a:uFillTx/>
                          <a:latin typeface="Plus Jakarta Sans"/>
                          <a:ea typeface="Plus Jakarta Sans"/>
                        </a:rPr>
                        <a:t>Meaning</a:t>
                      </a:r>
                      <a:endParaRPr lang="en-US" sz="1100" b="0" u="none" strike="noStrike">
                        <a:solidFill>
                          <a:srgbClr val="FFFFFF"/>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5755A7"/>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"filename.png" / .jpg / .pdf / .svg</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Output format — set by the file extension</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dpi</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Resolution — higher = sharper, larger file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r h="548640">
                <a:tc>
                  <a:txBody>
                    <a:bodyPr lIns="101520" tIns="50760" rIns="101520" bIns="50760" anchor="ctr">
                      <a:noAutofit/>
                    </a:bodyPr>
                    <a:p>
                      <a:pPr defTabSz="914400">
                        <a:lnSpc>
                          <a:spcPct val="100000"/>
                        </a:lnSpc>
                        <a:tabLst>
                          <a:tab pos="0" algn="l"/>
                        </a:tabLst>
                      </a:pPr>
                      <a:r>
                        <a:rPr lang="en-US" sz="1200" b="1" u="none" strike="noStrike">
                          <a:solidFill>
                            <a:srgbClr val="5755A7"/>
                          </a:solidFill>
                          <a:effectLst/>
                          <a:uFillTx/>
                          <a:latin typeface="Cantarell"/>
                          <a:ea typeface="Cantarell"/>
                        </a:rPr>
                        <a:t>bbox_inches="tight"</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c>
                  <a:txBody>
                    <a:bodyPr lIns="101520" tIns="50760" rIns="101520" bIns="50760" anchor="ctr">
                      <a:noAutofit/>
                    </a:bodyPr>
                    <a:p>
                      <a:pPr defTabSz="914400">
                        <a:lnSpc>
                          <a:spcPct val="100000"/>
                        </a:lnSpc>
                        <a:tabLst>
                          <a:tab pos="0" algn="l"/>
                        </a:tabLst>
                      </a:pPr>
                      <a:r>
                        <a:rPr lang="en-US" sz="1200" b="0" u="none" strike="noStrike">
                          <a:solidFill>
                            <a:srgbClr val="1B1B20"/>
                          </a:solidFill>
                          <a:effectLst/>
                          <a:uFillTx/>
                          <a:latin typeface="Hanken Grotesk"/>
                          <a:ea typeface="Hanken Grotesk"/>
                        </a:rPr>
                        <a:t>Trims extra whitespace around the figure</a:t>
                      </a:r>
                      <a:endParaRPr lang="en-US" sz="1200" b="0" u="none" strike="noStrike">
                        <a:solidFill>
                          <a:srgbClr val="000000"/>
                        </a:solidFill>
                        <a:effectLst/>
                        <a:uFillTx/>
                        <a:latin typeface="Arial"/>
                      </a:endParaRPr>
                    </a:p>
                  </a:txBody>
                  <a:tcPr anchor="ctr" marL="101520" marR="101520" marT="50760" marB="50760">
                    <a:lnL w="9360">
                      <a:solidFill>
                        <a:srgbClr val="C8C5D3"/>
                      </a:solidFill>
                      <a:prstDash val="solid"/>
                    </a:lnL>
                    <a:lnR w="9360">
                      <a:solidFill>
                        <a:srgbClr val="C8C5D3"/>
                      </a:solidFill>
                      <a:prstDash val="solid"/>
                    </a:lnR>
                    <a:lnT w="9360">
                      <a:solidFill>
                        <a:srgbClr val="C8C5D3"/>
                      </a:solidFill>
                      <a:prstDash val="solid"/>
                    </a:lnT>
                    <a:lnB w="9360">
                      <a:solidFill>
                        <a:srgbClr val="C8C5D3"/>
                      </a:solidFill>
                      <a:prstDash val="solid"/>
                    </a:lnB>
                    <a:solidFill>
                      <a:srgbClr val="FFFFFF"/>
                    </a:solidFill>
                  </a:tcPr>
                </a:tc>
              </a:tr>
            </a:tbl>
          </a:graphicData>
        </a:graphic>
      </p:graphicFrame>
      <p:sp>
        <p:nvSpPr>
          <p:cNvPr id="1200" name="Text 8"/>
          <p:cNvSpPr/>
          <p:nvPr/>
        </p:nvSpPr>
        <p:spPr>
          <a:xfrm>
            <a:off x="548640" y="4160520"/>
            <a:ext cx="11063520" cy="1736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799"/>
              </a:spcAft>
              <a:buClr>
                <a:srgbClr val="1B1B20"/>
              </a:buClr>
              <a:buFont typeface="Symbol" charset="2"/>
              <a:buChar char=""/>
            </a:pPr>
            <a:r>
              <a:rPr lang="en-US" sz="1300" b="0" u="none" strike="noStrike">
                <a:solidFill>
                  <a:srgbClr val="1B1B20"/>
                </a:solidFill>
                <a:effectLst/>
                <a:uFillTx/>
                <a:latin typeface="Hanken Grotesk"/>
                <a:ea typeface="Hanken Grotesk"/>
              </a:rPr>
              <a:t>PNG — best default for slides, docs, and the web (supports transparency).</a:t>
            </a:r>
            <a:endParaRPr lang="en-US" sz="1300" b="0" u="none" strike="noStrike">
              <a:solidFill>
                <a:srgbClr val="000000"/>
              </a:solidFill>
              <a:effectLst/>
              <a:uFillTx/>
              <a:latin typeface="Arial"/>
            </a:endParaRPr>
          </a:p>
          <a:p>
            <a:pPr marL="228600" indent="-228600" defTabSz="914400">
              <a:lnSpc>
                <a:spcPct val="100000"/>
              </a:lnSpc>
              <a:spcAft>
                <a:spcPts val="799"/>
              </a:spcAft>
              <a:buClr>
                <a:srgbClr val="1B1B20"/>
              </a:buClr>
              <a:buFont typeface="Symbol" charset="2"/>
              <a:buChar char=""/>
            </a:pPr>
            <a:r>
              <a:rPr lang="en-US" sz="1300" b="0" u="none" strike="noStrike">
                <a:solidFill>
                  <a:srgbClr val="1B1B20"/>
                </a:solidFill>
                <a:effectLst/>
                <a:uFillTx/>
                <a:latin typeface="Hanken Grotesk"/>
                <a:ea typeface="Hanken Grotesk"/>
              </a:rPr>
              <a:t>JPG — smaller file size, no transparency; fine for photos, not ideal for charts with text.</a:t>
            </a:r>
            <a:endParaRPr lang="en-US" sz="1300" b="0" u="none" strike="noStrike">
              <a:solidFill>
                <a:srgbClr val="000000"/>
              </a:solidFill>
              <a:effectLst/>
              <a:uFillTx/>
              <a:latin typeface="Arial"/>
            </a:endParaRPr>
          </a:p>
          <a:p>
            <a:pPr marL="228600" indent="-228600" defTabSz="914400">
              <a:lnSpc>
                <a:spcPct val="100000"/>
              </a:lnSpc>
              <a:spcAft>
                <a:spcPts val="799"/>
              </a:spcAft>
              <a:buClr>
                <a:srgbClr val="1B1B20"/>
              </a:buClr>
              <a:buFont typeface="Symbol" charset="2"/>
              <a:buChar char=""/>
            </a:pPr>
            <a:r>
              <a:rPr lang="en-US" sz="1300" b="0" u="none" strike="noStrike">
                <a:solidFill>
                  <a:srgbClr val="1B1B20"/>
                </a:solidFill>
                <a:effectLst/>
                <a:uFillTx/>
                <a:latin typeface="Hanken Grotesk"/>
                <a:ea typeface="Hanken Grotesk"/>
              </a:rPr>
              <a:t>PDF / SVG — vector formats that stay crisp at any zoom level; great for print and papers.</a:t>
            </a:r>
            <a:endParaRPr lang="en-US" sz="1300" b="0" u="none" strike="noStrike">
              <a:solidFill>
                <a:srgbClr val="000000"/>
              </a:solidFill>
              <a:effectLst/>
              <a:uFillTx/>
              <a:latin typeface="Arial"/>
            </a:endParaRPr>
          </a:p>
          <a:p>
            <a:pPr marL="228600" indent="-228600" defTabSz="914400">
              <a:lnSpc>
                <a:spcPct val="100000"/>
              </a:lnSpc>
              <a:spcAft>
                <a:spcPts val="799"/>
              </a:spcAft>
              <a:buClr>
                <a:srgbClr val="1B1B20"/>
              </a:buClr>
              <a:buFont typeface="Symbol" charset="2"/>
              <a:buChar char=""/>
            </a:pPr>
            <a:r>
              <a:rPr lang="en-US" sz="1300" b="0" u="none" strike="noStrike">
                <a:solidFill>
                  <a:srgbClr val="1B1B20"/>
                </a:solidFill>
                <a:effectLst/>
                <a:uFillTx/>
                <a:latin typeface="Hanken Grotesk"/>
                <a:ea typeface="Hanken Grotesk"/>
              </a:rPr>
              <a:t>Always call savefig() before plt.show() — some backends clear the figure after showing it.</a:t>
            </a:r>
            <a:endParaRPr lang="en-US" sz="1300" b="0" u="none" strike="noStrike">
              <a:solidFill>
                <a:srgbClr val="000000"/>
              </a:solidFill>
              <a:effectLst/>
              <a:uFillTx/>
              <a:latin typeface="Arial"/>
            </a:endParaRPr>
          </a:p>
        </p:txBody>
      </p:sp>
      <p:sp>
        <p:nvSpPr>
          <p:cNvPr id="1201"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0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14 · SAVING FIGURES</a:t>
            </a:r>
            <a:endParaRPr lang="en-US" sz="1100" b="0" u="none" strike="noStrike">
              <a:solidFill>
                <a:srgbClr val="000000"/>
              </a:solidFill>
              <a:effectLst/>
              <a:uFillTx/>
              <a:latin typeface="Arial"/>
            </a:endParaRPr>
          </a:p>
        </p:txBody>
      </p:sp>
      <p:sp>
        <p:nvSpPr>
          <p:cNvPr id="120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Saving a High-Quality Chart</a:t>
            </a:r>
            <a:endParaRPr lang="en-US" sz="2600" b="0" u="none" strike="noStrike">
              <a:solidFill>
                <a:srgbClr val="000000"/>
              </a:solidFill>
              <a:effectLst/>
              <a:uFillTx/>
              <a:latin typeface="Arial"/>
            </a:endParaRPr>
          </a:p>
        </p:txBody>
      </p:sp>
      <p:pic>
        <p:nvPicPr>
          <p:cNvPr id="120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0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06"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0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20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20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210"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150" b="0" u="none" strike="noStrike">
                <a:solidFill>
                  <a:srgbClr val="F1F5F9"/>
                </a:solidFill>
                <a:effectLst/>
                <a:uFillTx/>
                <a:latin typeface="Cantarell"/>
                <a:ea typeface="Cantarell"/>
              </a:rPr>
              <a:t>plt.plot(x1, repositories, color="red",</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linewidth=3, linestyle=":", marker="o")</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plt.title("Programming Languages")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plt.xticks(x1, languages,</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rotation=45, ha="right")</a:t>
            </a:r>
            <a:endParaRPr lang="en-US" sz="1150" b="0" u="none" strike="noStrike">
              <a:solidFill>
                <a:srgbClr val="000000"/>
              </a:solidFill>
              <a:effectLst/>
              <a:uFillTx/>
              <a:latin typeface="Arial"/>
            </a:endParaRPr>
          </a:p>
          <a:p>
            <a:pPr defTabSz="914400">
              <a:lnSpc>
                <a:spcPct val="118000"/>
              </a:lnSpc>
              <a:tabLst>
                <a:tab pos="0" algn="l"/>
              </a:tabLst>
            </a:pP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plt.tight_layout()</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plt.savefig(</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"./outputs/languages_chart.png",</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dpi=300,</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    bbox_inches="tight"</a:t>
            </a:r>
            <a:endParaRPr lang="en-US" sz="1150" b="0" u="none" strike="noStrike">
              <a:solidFill>
                <a:srgbClr val="000000"/>
              </a:solidFill>
              <a:effectLst/>
              <a:uFillTx/>
              <a:latin typeface="Arial"/>
            </a:endParaRPr>
          </a:p>
          <a:p>
            <a:pPr defTabSz="914400">
              <a:lnSpc>
                <a:spcPct val="118000"/>
              </a:lnSpc>
              <a:tabLst>
                <a:tab pos="0" algn="l"/>
              </a:tabLst>
            </a:pPr>
            <a:r>
              <a:rPr lang="en-US" sz="1150" b="0" u="none" strike="noStrike">
                <a:solidFill>
                  <a:srgbClr val="F1F5F9"/>
                </a:solidFill>
                <a:effectLst/>
                <a:uFillTx/>
                <a:latin typeface="Cantarell"/>
                <a:ea typeface="Cantarell"/>
              </a:rPr>
              <a:t>)</a:t>
            </a:r>
            <a:endParaRPr lang="en-US" sz="1150" b="0" u="none" strike="noStrike">
              <a:solidFill>
                <a:srgbClr val="000000"/>
              </a:solidFill>
              <a:effectLst/>
              <a:uFillTx/>
              <a:latin typeface="Arial"/>
            </a:endParaRPr>
          </a:p>
        </p:txBody>
      </p:sp>
      <p:sp>
        <p:nvSpPr>
          <p:cNvPr id="1211" name="Shape 8"/>
          <p:cNvSpPr/>
          <p:nvPr/>
        </p:nvSpPr>
        <p:spPr>
          <a:xfrm>
            <a:off x="6172200" y="1691640"/>
            <a:ext cx="548568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212" name="Image 1" descr="/home/claude/mpl/charts/saved_fig_example.png"/>
          <p:cNvPicPr/>
          <p:nvPr/>
        </p:nvPicPr>
        <p:blipFill>
          <a:blip r:embed="rId2"/>
          <a:stretch/>
        </p:blipFill>
        <p:spPr>
          <a:xfrm>
            <a:off x="6282000" y="1801440"/>
            <a:ext cx="5266080" cy="3803040"/>
          </a:xfrm>
          <a:prstGeom prst="rect">
            <a:avLst/>
          </a:prstGeom>
          <a:noFill/>
          <a:ln w="0">
            <a:noFill/>
          </a:ln>
        </p:spPr>
      </p:pic>
      <p:sp>
        <p:nvSpPr>
          <p:cNvPr id="1213"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14"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15"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1216"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14 · SAVING FIGURES</a:t>
            </a:r>
            <a:endParaRPr lang="en-US" sz="1100" b="0" u="none" strike="noStrike">
              <a:solidFill>
                <a:srgbClr val="000000"/>
              </a:solidFill>
              <a:effectLst/>
              <a:uFillTx/>
              <a:latin typeface="Arial"/>
            </a:endParaRPr>
          </a:p>
        </p:txBody>
      </p:sp>
      <p:sp>
        <p:nvSpPr>
          <p:cNvPr id="1217"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Saving Figures</a:t>
            </a:r>
            <a:endParaRPr lang="en-US" sz="2300" b="0" u="none" strike="noStrike">
              <a:solidFill>
                <a:srgbClr val="000000"/>
              </a:solidFill>
              <a:effectLst/>
              <a:uFillTx/>
              <a:latin typeface="Arial"/>
            </a:endParaRPr>
          </a:p>
        </p:txBody>
      </p:sp>
      <p:sp>
        <p:nvSpPr>
          <p:cNvPr id="1218"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1219"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0"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1"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1222"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Save any chart from this module as a PNG at 300 DPI.</a:t>
            </a:r>
            <a:endParaRPr lang="en-US" sz="1300" b="0" u="none" strike="noStrike">
              <a:solidFill>
                <a:srgbClr val="000000"/>
              </a:solidFill>
              <a:effectLst/>
              <a:uFillTx/>
              <a:latin typeface="Arial"/>
            </a:endParaRPr>
          </a:p>
        </p:txBody>
      </p:sp>
      <p:sp>
        <p:nvSpPr>
          <p:cNvPr id="1223"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4"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5"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1226"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Save the same chart again with bbox_inches="tight" and compare the two files.</a:t>
            </a:r>
            <a:endParaRPr lang="en-US" sz="1300" b="0" u="none" strike="noStrike">
              <a:solidFill>
                <a:srgbClr val="000000"/>
              </a:solidFill>
              <a:effectLst/>
              <a:uFillTx/>
              <a:latin typeface="Arial"/>
            </a:endParaRPr>
          </a:p>
        </p:txBody>
      </p:sp>
      <p:sp>
        <p:nvSpPr>
          <p:cNvPr id="1227"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8"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9"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1230"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Save one chart as a PDF and note what's different about opening it.</a:t>
            </a:r>
            <a:endParaRPr lang="en-US" sz="1300" b="0" u="none" strike="noStrike">
              <a:solidFill>
                <a:srgbClr val="000000"/>
              </a:solidFill>
              <a:effectLst/>
              <a:uFillTx/>
              <a:latin typeface="Arial"/>
            </a:endParaRPr>
          </a:p>
        </p:txBody>
      </p:sp>
      <p:pic>
        <p:nvPicPr>
          <p:cNvPr id="123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32"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33"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89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234"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5"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236" name="Image 0" descr="/home/claude/mpl/assets/logo_icon.png"/>
          <p:cNvPicPr/>
          <p:nvPr/>
        </p:nvPicPr>
        <p:blipFill>
          <a:blip r:embed="rId1"/>
          <a:stretch/>
        </p:blipFill>
        <p:spPr>
          <a:xfrm>
            <a:off x="640080" y="548640"/>
            <a:ext cx="438120" cy="525960"/>
          </a:xfrm>
          <a:prstGeom prst="rect">
            <a:avLst/>
          </a:prstGeom>
          <a:noFill/>
          <a:ln w="0">
            <a:noFill/>
          </a:ln>
        </p:spPr>
      </p:pic>
      <p:sp>
        <p:nvSpPr>
          <p:cNvPr id="1237"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15 · NUMPY &amp; PANDAS INTEGRATION</a:t>
            </a:r>
            <a:endParaRPr lang="en-US" sz="1400" b="0" u="none" strike="noStrike">
              <a:solidFill>
                <a:srgbClr val="FFFFFF"/>
              </a:solidFill>
              <a:effectLst/>
              <a:uFillTx/>
              <a:latin typeface="Arial"/>
            </a:endParaRPr>
          </a:p>
        </p:txBody>
      </p:sp>
      <p:sp>
        <p:nvSpPr>
          <p:cNvPr id="1238"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Matplotlib with NumPy &amp; Pandas</a:t>
            </a:r>
            <a:endParaRPr lang="en-US" sz="4000" b="0" u="none" strike="noStrike">
              <a:solidFill>
                <a:srgbClr val="FFFFFF"/>
              </a:solidFill>
              <a:effectLst/>
              <a:uFillTx/>
              <a:latin typeface="Arial"/>
            </a:endParaRPr>
          </a:p>
        </p:txBody>
      </p:sp>
      <p:sp>
        <p:nvSpPr>
          <p:cNvPr id="1239"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Why this module comes after NumPy and Pandas — plotting the data you already know how to build.</a:t>
            </a:r>
            <a:endParaRPr lang="en-US" sz="1500" b="0" u="none" strike="noStrike">
              <a:solidFill>
                <a:srgbClr val="FFFFFF"/>
              </a:solidFill>
              <a:effectLst/>
              <a:uFillTx/>
              <a:latin typeface="Arial"/>
            </a:endParaRPr>
          </a:p>
        </p:txBody>
      </p:sp>
      <p:sp>
        <p:nvSpPr>
          <p:cNvPr id="1240"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90</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41"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15 · NUMPY &amp; PANDAS</a:t>
            </a:r>
            <a:endParaRPr lang="en-US" sz="1100" b="0" u="none" strike="noStrike">
              <a:solidFill>
                <a:srgbClr val="000000"/>
              </a:solidFill>
              <a:effectLst/>
              <a:uFillTx/>
              <a:latin typeface="Arial"/>
            </a:endParaRPr>
          </a:p>
        </p:txBody>
      </p:sp>
      <p:sp>
        <p:nvSpPr>
          <p:cNvPr id="1242"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From NumPy Arrays to Plots</a:t>
            </a:r>
            <a:endParaRPr lang="en-US" sz="2600" b="0" u="none" strike="noStrike">
              <a:solidFill>
                <a:srgbClr val="000000"/>
              </a:solidFill>
              <a:effectLst/>
              <a:uFillTx/>
              <a:latin typeface="Arial"/>
            </a:endParaRPr>
          </a:p>
        </p:txBody>
      </p:sp>
      <p:pic>
        <p:nvPicPr>
          <p:cNvPr id="1243"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44"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45" name="Shape 3"/>
          <p:cNvSpPr/>
          <p:nvPr/>
        </p:nvSpPr>
        <p:spPr>
          <a:xfrm>
            <a:off x="548640" y="1691640"/>
            <a:ext cx="5394240" cy="2833920"/>
          </a:xfrm>
          <a:prstGeom prst="roundRect">
            <a:avLst>
              <a:gd name="adj" fmla="val 3871"/>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46"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247"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248"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249" name="Text 7"/>
          <p:cNvSpPr/>
          <p:nvPr/>
        </p:nvSpPr>
        <p:spPr>
          <a:xfrm>
            <a:off x="749880" y="2075760"/>
            <a:ext cx="4991760" cy="230364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350" b="0" u="none" strike="noStrike">
                <a:solidFill>
                  <a:srgbClr val="F1F5F9"/>
                </a:solidFill>
                <a:effectLst/>
                <a:uFillTx/>
                <a:latin typeface="Cantarell"/>
                <a:ea typeface="Cantarell"/>
              </a:rPr>
              <a:t>import numpy as np</a:t>
            </a:r>
            <a:endParaRPr lang="en-US" sz="1350" b="0" u="none" strike="noStrike">
              <a:solidFill>
                <a:srgbClr val="000000"/>
              </a:solidFill>
              <a:effectLst/>
              <a:uFillTx/>
              <a:latin typeface="Arial"/>
            </a:endParaRPr>
          </a:p>
          <a:p>
            <a:pPr defTabSz="914400">
              <a:lnSpc>
                <a:spcPct val="118000"/>
              </a:lnSpc>
              <a:tabLst>
                <a:tab pos="0" algn="l"/>
              </a:tabLst>
            </a:pP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x = np.linspace(0, 10, 100)</a:t>
            </a: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y = np.sin(x)</a:t>
            </a:r>
            <a:endParaRPr lang="en-US" sz="1350" b="0" u="none" strike="noStrike">
              <a:solidFill>
                <a:srgbClr val="000000"/>
              </a:solidFill>
              <a:effectLst/>
              <a:uFillTx/>
              <a:latin typeface="Arial"/>
            </a:endParaRPr>
          </a:p>
          <a:p>
            <a:pPr defTabSz="914400">
              <a:lnSpc>
                <a:spcPct val="118000"/>
              </a:lnSpc>
              <a:tabLst>
                <a:tab pos="0" algn="l"/>
              </a:tabLst>
            </a:pP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plt.plot(x, y, color="#5755A7")</a:t>
            </a: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plt.title("A NumPy-Generated Curve")</a:t>
            </a:r>
            <a:endParaRPr lang="en-US" sz="1350" b="0" u="none" strike="noStrike">
              <a:solidFill>
                <a:srgbClr val="000000"/>
              </a:solidFill>
              <a:effectLst/>
              <a:uFillTx/>
              <a:latin typeface="Arial"/>
            </a:endParaRPr>
          </a:p>
          <a:p>
            <a:pPr defTabSz="914400">
              <a:lnSpc>
                <a:spcPct val="118000"/>
              </a:lnSpc>
              <a:tabLst>
                <a:tab pos="0" algn="l"/>
              </a:tabLst>
            </a:pPr>
            <a:r>
              <a:rPr lang="en-US" sz="1350" b="0" u="none" strike="noStrike">
                <a:solidFill>
                  <a:srgbClr val="F1F5F9"/>
                </a:solidFill>
                <a:effectLst/>
                <a:uFillTx/>
                <a:latin typeface="Cantarell"/>
                <a:ea typeface="Cantarell"/>
              </a:rPr>
              <a:t>plt.show()</a:t>
            </a:r>
            <a:endParaRPr lang="en-US" sz="1350" b="0" u="none" strike="noStrike">
              <a:solidFill>
                <a:srgbClr val="000000"/>
              </a:solidFill>
              <a:effectLst/>
              <a:uFillTx/>
              <a:latin typeface="Arial"/>
            </a:endParaRPr>
          </a:p>
        </p:txBody>
      </p:sp>
      <p:sp>
        <p:nvSpPr>
          <p:cNvPr id="1250" name="Text 8"/>
          <p:cNvSpPr/>
          <p:nvPr/>
        </p:nvSpPr>
        <p:spPr>
          <a:xfrm>
            <a:off x="6172200" y="1691640"/>
            <a:ext cx="5394240" cy="283392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plt.plot(), scatter(), bar() all accept NumPy arrays exactly like plain lists.</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np.arange() and np.linspace() are the two most common ways to generate smooth X values for a curve.</a:t>
            </a:r>
            <a:endParaRPr lang="en-US" sz="1300" b="0" u="none" strike="noStrike">
              <a:solidFill>
                <a:srgbClr val="000000"/>
              </a:solidFill>
              <a:effectLst/>
              <a:uFillTx/>
              <a:latin typeface="Arial"/>
            </a:endParaRPr>
          </a:p>
          <a:p>
            <a:pPr marL="228600" indent="-228600" defTabSz="914400">
              <a:lnSpc>
                <a:spcPct val="100000"/>
              </a:lnSpc>
              <a:spcAft>
                <a:spcPts val="1199"/>
              </a:spcAft>
              <a:buClr>
                <a:srgbClr val="1B1B20"/>
              </a:buClr>
              <a:buFont typeface="Symbol" charset="2"/>
              <a:buChar char=""/>
            </a:pPr>
            <a:r>
              <a:rPr lang="en-US" sz="1300" b="0" u="none" strike="noStrike">
                <a:solidFill>
                  <a:srgbClr val="1B1B20"/>
                </a:solidFill>
                <a:effectLst/>
                <a:uFillTx/>
                <a:latin typeface="Hanken Grotesk"/>
                <a:ea typeface="Hanken Grotesk"/>
              </a:rPr>
              <a:t>You already used np.arange() for bar positioning in Part 4 — same array, new purpose.</a:t>
            </a:r>
            <a:endParaRPr lang="en-US" sz="1300" b="0" u="none" strike="noStrike">
              <a:solidFill>
                <a:srgbClr val="000000"/>
              </a:solidFill>
              <a:effectLst/>
              <a:uFillTx/>
              <a:latin typeface="Arial"/>
            </a:endParaRPr>
          </a:p>
        </p:txBody>
      </p:sp>
      <p:sp>
        <p:nvSpPr>
          <p:cNvPr id="1251"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52"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15 · NUMPY &amp; PANDAS</a:t>
            </a:r>
            <a:endParaRPr lang="en-US" sz="1100" b="0" u="none" strike="noStrike">
              <a:solidFill>
                <a:srgbClr val="000000"/>
              </a:solidFill>
              <a:effectLst/>
              <a:uFillTx/>
              <a:latin typeface="Arial"/>
            </a:endParaRPr>
          </a:p>
        </p:txBody>
      </p:sp>
      <p:sp>
        <p:nvSpPr>
          <p:cNvPr id="1253"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Plotting Pandas Series &amp; DataFrames</a:t>
            </a:r>
            <a:endParaRPr lang="en-US" sz="2600" b="0" u="none" strike="noStrike">
              <a:solidFill>
                <a:srgbClr val="000000"/>
              </a:solidFill>
              <a:effectLst/>
              <a:uFillTx/>
              <a:latin typeface="Arial"/>
            </a:endParaRPr>
          </a:p>
        </p:txBody>
      </p:sp>
      <p:pic>
        <p:nvPicPr>
          <p:cNvPr id="1254"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55"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56" name="Shape 3"/>
          <p:cNvSpPr/>
          <p:nvPr/>
        </p:nvSpPr>
        <p:spPr>
          <a:xfrm>
            <a:off x="548640" y="1691640"/>
            <a:ext cx="5485680" cy="4022640"/>
          </a:xfrm>
          <a:prstGeom prst="roundRect">
            <a:avLst>
              <a:gd name="adj" fmla="val 2727"/>
            </a:avLst>
          </a:prstGeom>
          <a:solidFill>
            <a:srgbClr val="0E1420"/>
          </a:solidFill>
          <a:ln w="9525">
            <a:solidFill>
              <a:srgbClr val="1E293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57" name="Shape 4"/>
          <p:cNvSpPr/>
          <p:nvPr/>
        </p:nvSpPr>
        <p:spPr>
          <a:xfrm>
            <a:off x="713160" y="1837800"/>
            <a:ext cx="99720" cy="99720"/>
          </a:xfrm>
          <a:prstGeom prst="ellipse">
            <a:avLst/>
          </a:prstGeom>
          <a:solidFill>
            <a:srgbClr val="F43F5E"/>
          </a:solidFill>
          <a:ln w="0">
            <a:noFill/>
          </a:ln>
        </p:spPr>
        <p:style>
          <a:lnRef idx="0"/>
          <a:fillRef idx="0"/>
          <a:effectRef idx="0"/>
          <a:fontRef idx="minor"/>
        </p:style>
        <p:txBody>
          <a:bodyPr lIns="50040" tIns="26280" rIns="50040" bIns="26280" anchor="t">
            <a:noAutofit/>
          </a:bodyPr>
          <a:p>
            <a:endParaRPr lang="en-US" sz="1800" b="0" u="none" strike="noStrike">
              <a:solidFill>
                <a:srgbClr val="FFFFFF"/>
              </a:solidFill>
              <a:effectLst/>
              <a:uFillTx/>
              <a:latin typeface="Arial"/>
            </a:endParaRPr>
          </a:p>
        </p:txBody>
      </p:sp>
      <p:sp>
        <p:nvSpPr>
          <p:cNvPr id="1258" name="Shape 5"/>
          <p:cNvSpPr/>
          <p:nvPr/>
        </p:nvSpPr>
        <p:spPr>
          <a:xfrm>
            <a:off x="914400" y="1837800"/>
            <a:ext cx="99720" cy="99720"/>
          </a:xfrm>
          <a:prstGeom prst="ellipse">
            <a:avLst/>
          </a:prstGeom>
          <a:solidFill>
            <a:srgbClr val="F9C6FE"/>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259" name="Shape 6"/>
          <p:cNvSpPr/>
          <p:nvPr/>
        </p:nvSpPr>
        <p:spPr>
          <a:xfrm>
            <a:off x="1115640" y="1837800"/>
            <a:ext cx="99720" cy="99720"/>
          </a:xfrm>
          <a:prstGeom prst="ellipse">
            <a:avLst/>
          </a:prstGeom>
          <a:solidFill>
            <a:srgbClr val="2DD4BF"/>
          </a:solidFill>
          <a:ln w="0">
            <a:noFill/>
          </a:ln>
        </p:spPr>
        <p:style>
          <a:lnRef idx="0"/>
          <a:fillRef idx="0"/>
          <a:effectRef idx="0"/>
          <a:fontRef idx="minor"/>
        </p:style>
        <p:txBody>
          <a:bodyPr lIns="50040" tIns="26280" rIns="50040" bIns="26280" anchor="t">
            <a:noAutofit/>
          </a:bodyPr>
          <a:p>
            <a:endParaRPr lang="en-US" sz="1800" b="0" u="none" strike="noStrike">
              <a:solidFill>
                <a:srgbClr val="000000"/>
              </a:solidFill>
              <a:effectLst/>
              <a:uFillTx/>
              <a:latin typeface="Arial"/>
            </a:endParaRPr>
          </a:p>
        </p:txBody>
      </p:sp>
      <p:sp>
        <p:nvSpPr>
          <p:cNvPr id="1260" name="Text 7"/>
          <p:cNvSpPr/>
          <p:nvPr/>
        </p:nvSpPr>
        <p:spPr>
          <a:xfrm>
            <a:off x="749880" y="2075760"/>
            <a:ext cx="5083200" cy="3492360"/>
          </a:xfrm>
          <a:prstGeom prst="rect">
            <a:avLst/>
          </a:prstGeom>
          <a:noFill/>
          <a:ln w="0">
            <a:noFill/>
          </a:ln>
        </p:spPr>
        <p:style>
          <a:lnRef idx="0"/>
          <a:fillRef idx="0"/>
          <a:effectRef idx="0"/>
          <a:fontRef idx="minor"/>
        </p:style>
        <p:txBody>
          <a:bodyPr lIns="90000" tIns="45000" rIns="90000" bIns="45000" anchor="t">
            <a:noAutofit/>
          </a:bodyPr>
          <a:p>
            <a:pPr defTabSz="914400">
              <a:lnSpc>
                <a:spcPct val="118000"/>
              </a:lnSpc>
              <a:tabLst>
                <a:tab pos="0" algn="l"/>
              </a:tabLst>
            </a:pPr>
            <a:r>
              <a:rPr lang="en-US" sz="1200" b="0" u="none" strike="noStrike">
                <a:solidFill>
                  <a:srgbClr val="F1F5F9"/>
                </a:solidFill>
                <a:effectLst/>
                <a:uFillTx/>
                <a:latin typeface="Cantarell"/>
                <a:ea typeface="Cantarell"/>
              </a:rPr>
              <a:t>import pandas as pd</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df = pd.read_csv("sales.csv")</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Plot one column directly</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plt.plot(df["month"], df["revenue"])</a:t>
            </a:r>
            <a:endParaRPr lang="en-US" sz="1200" b="0" u="none" strike="noStrike">
              <a:solidFill>
                <a:srgbClr val="000000"/>
              </a:solidFill>
              <a:effectLst/>
              <a:uFillTx/>
              <a:latin typeface="Arial"/>
            </a:endParaRPr>
          </a:p>
          <a:p>
            <a:pPr defTabSz="914400">
              <a:lnSpc>
                <a:spcPct val="118000"/>
              </a:lnSpc>
              <a:tabLst>
                <a:tab pos="0" algn="l"/>
              </a:tabLst>
            </a:pP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 Pandas' own shortcut</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df["revenue"].plot(kind="line")</a:t>
            </a:r>
            <a:endParaRPr lang="en-US" sz="1200" b="0" u="none" strike="noStrike">
              <a:solidFill>
                <a:srgbClr val="000000"/>
              </a:solidFill>
              <a:effectLst/>
              <a:uFillTx/>
              <a:latin typeface="Arial"/>
            </a:endParaRPr>
          </a:p>
          <a:p>
            <a:pPr defTabSz="914400">
              <a:lnSpc>
                <a:spcPct val="118000"/>
              </a:lnSpc>
              <a:tabLst>
                <a:tab pos="0" algn="l"/>
              </a:tabLst>
            </a:pPr>
            <a:r>
              <a:rPr lang="en-US" sz="1200" b="0" u="none" strike="noStrike">
                <a:solidFill>
                  <a:srgbClr val="F1F5F9"/>
                </a:solidFill>
                <a:effectLst/>
                <a:uFillTx/>
                <a:latin typeface="Cantarell"/>
                <a:ea typeface="Cantarell"/>
              </a:rPr>
              <a:t>df.plot(x="month", y="revenue", kind="bar")</a:t>
            </a:r>
            <a:endParaRPr lang="en-US" sz="1200" b="0" u="none" strike="noStrike">
              <a:solidFill>
                <a:srgbClr val="000000"/>
              </a:solidFill>
              <a:effectLst/>
              <a:uFillTx/>
              <a:latin typeface="Arial"/>
            </a:endParaRPr>
          </a:p>
        </p:txBody>
      </p:sp>
      <p:sp>
        <p:nvSpPr>
          <p:cNvPr id="1261" name="Text 8"/>
          <p:cNvSpPr/>
          <p:nvPr/>
        </p:nvSpPr>
        <p:spPr>
          <a:xfrm>
            <a:off x="6309360" y="1691640"/>
            <a:ext cx="53485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350" b="0" u="none" strike="noStrike">
                <a:solidFill>
                  <a:srgbClr val="1B1B20"/>
                </a:solidFill>
                <a:effectLst/>
                <a:uFillTx/>
                <a:latin typeface="Hanken Grotesk"/>
                <a:ea typeface="Hanken Grotesk"/>
              </a:rPr>
              <a:t>A Pandas Series or DataFrame column can be passed straight into plt.plot() — no conversion needed.</a:t>
            </a:r>
            <a:endParaRPr lang="en-US" sz="135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50" b="0" u="none" strike="noStrike">
                <a:solidFill>
                  <a:srgbClr val="1B1B20"/>
                </a:solidFill>
                <a:effectLst/>
                <a:uFillTx/>
                <a:latin typeface="Hanken Grotesk"/>
                <a:ea typeface="Hanken Grotesk"/>
              </a:rPr>
              <a:t>Pandas also ships its own .plot() method, built on top of Matplotlib, for one-line quick charts.</a:t>
            </a:r>
            <a:endParaRPr lang="en-US" sz="135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50" b="0" u="none" strike="noStrike">
                <a:solidFill>
                  <a:srgbClr val="1B1B20"/>
                </a:solidFill>
                <a:effectLst/>
                <a:uFillTx/>
                <a:latin typeface="Hanken Grotesk"/>
                <a:ea typeface="Hanken Grotesk"/>
              </a:rPr>
              <a:t>This is exactly the bridge from cleaned data (Pandas) to visual insight (Matplotlib) — the core of EDA.</a:t>
            </a:r>
            <a:endParaRPr lang="en-US" sz="1350" b="0" u="none" strike="noStrike">
              <a:solidFill>
                <a:srgbClr val="000000"/>
              </a:solidFill>
              <a:effectLst/>
              <a:uFillTx/>
              <a:latin typeface="Arial"/>
            </a:endParaRPr>
          </a:p>
        </p:txBody>
      </p:sp>
      <p:sp>
        <p:nvSpPr>
          <p:cNvPr id="1262" name="Text 9"/>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63" name="Shape 0"/>
          <p:cNvSpPr/>
          <p:nvPr/>
        </p:nvSpPr>
        <p:spPr>
          <a:xfrm>
            <a:off x="548640" y="502920"/>
            <a:ext cx="566280" cy="566280"/>
          </a:xfrm>
          <a:prstGeom prst="roundRect">
            <a:avLst>
              <a:gd name="adj" fmla="val 50000"/>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64" name="Text 1"/>
          <p:cNvSpPr/>
          <p:nvPr/>
        </p:nvSpPr>
        <p:spPr>
          <a:xfrm>
            <a:off x="548640" y="502920"/>
            <a:ext cx="566280" cy="5662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0" u="none" strike="noStrike">
                <a:solidFill>
                  <a:srgbClr val="231F71"/>
                </a:solidFill>
                <a:effectLst/>
                <a:uFillTx/>
                <a:latin typeface="Hanken Grotesk"/>
                <a:ea typeface="Hanken Grotesk"/>
              </a:rPr>
              <a:t>◎</a:t>
            </a:r>
            <a:endParaRPr lang="en-US" sz="2000" b="0" u="none" strike="noStrike">
              <a:solidFill>
                <a:srgbClr val="000000"/>
              </a:solidFill>
              <a:effectLst/>
              <a:uFillTx/>
              <a:latin typeface="Arial"/>
            </a:endParaRPr>
          </a:p>
        </p:txBody>
      </p:sp>
      <p:sp>
        <p:nvSpPr>
          <p:cNvPr id="1265" name="Text 2"/>
          <p:cNvSpPr/>
          <p:nvPr/>
        </p:nvSpPr>
        <p:spPr>
          <a:xfrm>
            <a:off x="1261800" y="502920"/>
            <a:ext cx="8228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15 · NUMPY &amp; PANDAS</a:t>
            </a:r>
            <a:endParaRPr lang="en-US" sz="1100" b="0" u="none" strike="noStrike">
              <a:solidFill>
                <a:srgbClr val="000000"/>
              </a:solidFill>
              <a:effectLst/>
              <a:uFillTx/>
              <a:latin typeface="Arial"/>
            </a:endParaRPr>
          </a:p>
        </p:txBody>
      </p:sp>
      <p:sp>
        <p:nvSpPr>
          <p:cNvPr id="1266" name="Text 3"/>
          <p:cNvSpPr/>
          <p:nvPr/>
        </p:nvSpPr>
        <p:spPr>
          <a:xfrm>
            <a:off x="1261800" y="777240"/>
            <a:ext cx="9600480" cy="5022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300" b="1" u="none" strike="noStrike">
                <a:solidFill>
                  <a:srgbClr val="1B1B20"/>
                </a:solidFill>
                <a:effectLst/>
                <a:uFillTx/>
                <a:latin typeface="Bricolage Grotesque"/>
                <a:ea typeface="Bricolage Grotesque"/>
              </a:rPr>
              <a:t>Practice Set — Matplotlib with NumPy &amp; Pandas</a:t>
            </a:r>
            <a:endParaRPr lang="en-US" sz="2300" b="0" u="none" strike="noStrike">
              <a:solidFill>
                <a:srgbClr val="000000"/>
              </a:solidFill>
              <a:effectLst/>
              <a:uFillTx/>
              <a:latin typeface="Arial"/>
            </a:endParaRPr>
          </a:p>
        </p:txBody>
      </p:sp>
      <p:sp>
        <p:nvSpPr>
          <p:cNvPr id="1267" name="Text 4"/>
          <p:cNvSpPr/>
          <p:nvPr/>
        </p:nvSpPr>
        <p:spPr>
          <a:xfrm>
            <a:off x="548640" y="1417320"/>
            <a:ext cx="105148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474651"/>
                </a:solidFill>
                <a:effectLst/>
                <a:uFillTx/>
                <a:latin typeface="Hanken Grotesk"/>
                <a:ea typeface="Hanken Grotesk"/>
              </a:rPr>
              <a:t>Try these yourself first — no code shown, that's the point.</a:t>
            </a:r>
            <a:endParaRPr lang="en-US" sz="1300" b="0" u="none" strike="noStrike">
              <a:solidFill>
                <a:srgbClr val="000000"/>
              </a:solidFill>
              <a:effectLst/>
              <a:uFillTx/>
              <a:latin typeface="Arial"/>
            </a:endParaRPr>
          </a:p>
        </p:txBody>
      </p:sp>
      <p:sp>
        <p:nvSpPr>
          <p:cNvPr id="1268" name="Shape 5"/>
          <p:cNvSpPr/>
          <p:nvPr/>
        </p:nvSpPr>
        <p:spPr>
          <a:xfrm>
            <a:off x="548640" y="19659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9" name="Shape 6"/>
          <p:cNvSpPr/>
          <p:nvPr/>
        </p:nvSpPr>
        <p:spPr>
          <a:xfrm>
            <a:off x="731520" y="22129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0" name="Text 7"/>
          <p:cNvSpPr/>
          <p:nvPr/>
        </p:nvSpPr>
        <p:spPr>
          <a:xfrm>
            <a:off x="731520" y="22129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1</a:t>
            </a:r>
            <a:endParaRPr lang="en-US" sz="1300" b="0" u="none" strike="noStrike">
              <a:solidFill>
                <a:srgbClr val="000000"/>
              </a:solidFill>
              <a:effectLst/>
              <a:uFillTx/>
              <a:latin typeface="Arial"/>
            </a:endParaRPr>
          </a:p>
        </p:txBody>
      </p:sp>
      <p:sp>
        <p:nvSpPr>
          <p:cNvPr id="1271" name="Text 8"/>
          <p:cNvSpPr/>
          <p:nvPr/>
        </p:nvSpPr>
        <p:spPr>
          <a:xfrm>
            <a:off x="1234440" y="19659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Generate 50 points with np.linspace() and plot a smooth curve using them.</a:t>
            </a:r>
            <a:endParaRPr lang="en-US" sz="1300" b="0" u="none" strike="noStrike">
              <a:solidFill>
                <a:srgbClr val="000000"/>
              </a:solidFill>
              <a:effectLst/>
              <a:uFillTx/>
              <a:latin typeface="Arial"/>
            </a:endParaRPr>
          </a:p>
        </p:txBody>
      </p:sp>
      <p:sp>
        <p:nvSpPr>
          <p:cNvPr id="1272" name="Shape 9"/>
          <p:cNvSpPr/>
          <p:nvPr/>
        </p:nvSpPr>
        <p:spPr>
          <a:xfrm>
            <a:off x="548640" y="293508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3" name="Shape 10"/>
          <p:cNvSpPr/>
          <p:nvPr/>
        </p:nvSpPr>
        <p:spPr>
          <a:xfrm>
            <a:off x="731520" y="318204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4" name="Text 11"/>
          <p:cNvSpPr/>
          <p:nvPr/>
        </p:nvSpPr>
        <p:spPr>
          <a:xfrm>
            <a:off x="731520" y="318204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2</a:t>
            </a:r>
            <a:endParaRPr lang="en-US" sz="1300" b="0" u="none" strike="noStrike">
              <a:solidFill>
                <a:srgbClr val="000000"/>
              </a:solidFill>
              <a:effectLst/>
              <a:uFillTx/>
              <a:latin typeface="Arial"/>
            </a:endParaRPr>
          </a:p>
        </p:txBody>
      </p:sp>
      <p:sp>
        <p:nvSpPr>
          <p:cNvPr id="1275" name="Text 12"/>
          <p:cNvSpPr/>
          <p:nvPr/>
        </p:nvSpPr>
        <p:spPr>
          <a:xfrm>
            <a:off x="1234440" y="293508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Load any small CSV (or make one up) into Pandas and plot one column directly with plt.plot().</a:t>
            </a:r>
            <a:endParaRPr lang="en-US" sz="1300" b="0" u="none" strike="noStrike">
              <a:solidFill>
                <a:srgbClr val="000000"/>
              </a:solidFill>
              <a:effectLst/>
              <a:uFillTx/>
              <a:latin typeface="Arial"/>
            </a:endParaRPr>
          </a:p>
        </p:txBody>
      </p:sp>
      <p:sp>
        <p:nvSpPr>
          <p:cNvPr id="1276" name="Shape 13"/>
          <p:cNvSpPr/>
          <p:nvPr/>
        </p:nvSpPr>
        <p:spPr>
          <a:xfrm>
            <a:off x="548640" y="3904560"/>
            <a:ext cx="11063520" cy="840600"/>
          </a:xfrm>
          <a:prstGeom prst="roundRect">
            <a:avLst>
              <a:gd name="adj" fmla="val 10870"/>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7" name="Shape 14"/>
          <p:cNvSpPr/>
          <p:nvPr/>
        </p:nvSpPr>
        <p:spPr>
          <a:xfrm>
            <a:off x="731520" y="4151520"/>
            <a:ext cx="346680" cy="346680"/>
          </a:xfrm>
          <a:prstGeom prst="roundRect">
            <a:avLst>
              <a:gd name="adj" fmla="val 50000"/>
            </a:avLst>
          </a:prstGeom>
          <a:solidFill>
            <a:srgbClr val="BBEDDC"/>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8" name="Text 15"/>
          <p:cNvSpPr/>
          <p:nvPr/>
        </p:nvSpPr>
        <p:spPr>
          <a:xfrm>
            <a:off x="731520" y="4151520"/>
            <a:ext cx="346680" cy="346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02019"/>
                </a:solidFill>
                <a:effectLst/>
                <a:uFillTx/>
                <a:latin typeface="Bricolage Grotesque"/>
                <a:ea typeface="Bricolage Grotesque"/>
              </a:rPr>
              <a:t>3</a:t>
            </a:r>
            <a:endParaRPr lang="en-US" sz="1300" b="0" u="none" strike="noStrike">
              <a:solidFill>
                <a:srgbClr val="000000"/>
              </a:solidFill>
              <a:effectLst/>
              <a:uFillTx/>
              <a:latin typeface="Arial"/>
            </a:endParaRPr>
          </a:p>
        </p:txBody>
      </p:sp>
      <p:sp>
        <p:nvSpPr>
          <p:cNvPr id="1279" name="Text 16"/>
          <p:cNvSpPr/>
          <p:nvPr/>
        </p:nvSpPr>
        <p:spPr>
          <a:xfrm>
            <a:off x="1234440" y="3904560"/>
            <a:ext cx="1014912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15000"/>
              </a:lnSpc>
              <a:tabLst>
                <a:tab pos="0" algn="l"/>
              </a:tabLst>
            </a:pPr>
            <a:r>
              <a:rPr lang="en-US" sz="1300" b="0" u="none" strike="noStrike">
                <a:solidFill>
                  <a:srgbClr val="1B1B20"/>
                </a:solidFill>
                <a:effectLst/>
                <a:uFillTx/>
                <a:latin typeface="Hanken Grotesk"/>
                <a:ea typeface="Hanken Grotesk"/>
              </a:rPr>
              <a:t>Use Pandas' own df.plot() shortcut on the same data and compare the result.</a:t>
            </a:r>
            <a:endParaRPr lang="en-US" sz="1300" b="0" u="none" strike="noStrike">
              <a:solidFill>
                <a:srgbClr val="000000"/>
              </a:solidFill>
              <a:effectLst/>
              <a:uFillTx/>
              <a:latin typeface="Arial"/>
            </a:endParaRPr>
          </a:p>
        </p:txBody>
      </p:sp>
      <p:pic>
        <p:nvPicPr>
          <p:cNvPr id="128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81" name="Text 17"/>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82" name="Text 1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283"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84"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285" name="Image 0" descr="/home/claude/mpl/assets/logo_icon.png"/>
          <p:cNvPicPr/>
          <p:nvPr/>
        </p:nvPicPr>
        <p:blipFill>
          <a:blip r:embed="rId1"/>
          <a:stretch/>
        </p:blipFill>
        <p:spPr>
          <a:xfrm>
            <a:off x="640080" y="548640"/>
            <a:ext cx="438120" cy="525960"/>
          </a:xfrm>
          <a:prstGeom prst="rect">
            <a:avLst/>
          </a:prstGeom>
          <a:noFill/>
          <a:ln w="0">
            <a:noFill/>
          </a:ln>
        </p:spPr>
      </p:pic>
      <p:sp>
        <p:nvSpPr>
          <p:cNvPr id="1286"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16 · MATPLOTLIB FOR AI, ML &amp; DATA SCIENCE</a:t>
            </a:r>
            <a:endParaRPr lang="en-US" sz="1400" b="0" u="none" strike="noStrike">
              <a:solidFill>
                <a:srgbClr val="FFFFFF"/>
              </a:solidFill>
              <a:effectLst/>
              <a:uFillTx/>
              <a:latin typeface="Arial"/>
            </a:endParaRPr>
          </a:p>
        </p:txBody>
      </p:sp>
      <p:sp>
        <p:nvSpPr>
          <p:cNvPr id="1287"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Matplotlib for AI, ML &amp; Data Science</a:t>
            </a:r>
            <a:endParaRPr lang="en-US" sz="4000" b="0" u="none" strike="noStrike">
              <a:solidFill>
                <a:srgbClr val="FFFFFF"/>
              </a:solidFill>
              <a:effectLst/>
              <a:uFillTx/>
              <a:latin typeface="Arial"/>
            </a:endParaRPr>
          </a:p>
        </p:txBody>
      </p:sp>
      <p:sp>
        <p:nvSpPr>
          <p:cNvPr id="1288"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Why you're really learning this — the visualization jobs that show up in every ML project.</a:t>
            </a:r>
            <a:endParaRPr lang="en-US" sz="1500" b="0" u="none" strike="noStrike">
              <a:solidFill>
                <a:srgbClr val="FFFFFF"/>
              </a:solidFill>
              <a:effectLst/>
              <a:uFillTx/>
              <a:latin typeface="Arial"/>
            </a:endParaRPr>
          </a:p>
        </p:txBody>
      </p:sp>
      <p:sp>
        <p:nvSpPr>
          <p:cNvPr id="1289"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94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9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16 · MATPLOTLIB FOR AI/ML</a:t>
            </a:r>
            <a:endParaRPr lang="en-US" sz="1100" b="0" u="none" strike="noStrike">
              <a:solidFill>
                <a:srgbClr val="000000"/>
              </a:solidFill>
              <a:effectLst/>
              <a:uFillTx/>
              <a:latin typeface="Arial"/>
            </a:endParaRPr>
          </a:p>
        </p:txBody>
      </p:sp>
      <p:sp>
        <p:nvSpPr>
          <p:cNvPr id="129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Understanding Your Data First</a:t>
            </a:r>
            <a:endParaRPr lang="en-US" sz="2600" b="0" u="none" strike="noStrike">
              <a:solidFill>
                <a:srgbClr val="000000"/>
              </a:solidFill>
              <a:effectLst/>
              <a:uFillTx/>
              <a:latin typeface="Arial"/>
            </a:endParaRPr>
          </a:p>
        </p:txBody>
      </p:sp>
      <p:pic>
        <p:nvPicPr>
          <p:cNvPr id="129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29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294" name="Shape 3"/>
          <p:cNvSpPr/>
          <p:nvPr/>
        </p:nvSpPr>
        <p:spPr>
          <a:xfrm>
            <a:off x="548640" y="1691640"/>
            <a:ext cx="640008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295" name="Image 1" descr="/home/claude/mpl/charts/feature_class_combo.png"/>
          <p:cNvPicPr/>
          <p:nvPr/>
        </p:nvPicPr>
        <p:blipFill>
          <a:blip r:embed="rId2"/>
          <a:stretch/>
        </p:blipFill>
        <p:spPr>
          <a:xfrm>
            <a:off x="658440" y="1801440"/>
            <a:ext cx="6180480" cy="3638520"/>
          </a:xfrm>
          <a:prstGeom prst="rect">
            <a:avLst/>
          </a:prstGeom>
          <a:noFill/>
          <a:ln w="0">
            <a:noFill/>
          </a:ln>
        </p:spPr>
      </p:pic>
      <p:sp>
        <p:nvSpPr>
          <p:cNvPr id="1296" name="Text 4"/>
          <p:cNvSpPr/>
          <p:nvPr/>
        </p:nvSpPr>
        <p:spPr>
          <a:xfrm>
            <a:off x="548640" y="5440680"/>
            <a:ext cx="640008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Feature distribution (left) and class balance (right).</a:t>
            </a:r>
            <a:endParaRPr lang="en-US" sz="950" b="0" u="none" strike="noStrike">
              <a:solidFill>
                <a:srgbClr val="000000"/>
              </a:solidFill>
              <a:effectLst/>
              <a:uFillTx/>
              <a:latin typeface="Arial"/>
            </a:endParaRPr>
          </a:p>
        </p:txBody>
      </p:sp>
      <p:sp>
        <p:nvSpPr>
          <p:cNvPr id="1297" name="Text 5"/>
          <p:cNvSpPr/>
          <p:nvPr/>
        </p:nvSpPr>
        <p:spPr>
          <a:xfrm>
            <a:off x="7223760" y="1691640"/>
            <a:ext cx="44341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Feature distributions — a histogram reveals skew, scale, and unexpected values before you train anything.</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Class distributions — a bar chart shows whether your dataset is balanced or dominated by one class.</a:t>
            </a:r>
            <a:endParaRPr lang="en-US" sz="130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00" b="0" u="none" strike="noStrike">
                <a:solidFill>
                  <a:srgbClr val="1B1B20"/>
                </a:solidFill>
                <a:effectLst/>
                <a:uFillTx/>
                <a:latin typeface="Hanken Grotesk"/>
                <a:ea typeface="Hanken Grotesk"/>
              </a:rPr>
              <a:t>This is always step one in a real ML workflow, before any modeling begins.</a:t>
            </a:r>
            <a:endParaRPr lang="en-US" sz="1300" b="0" u="none" strike="noStrike">
              <a:solidFill>
                <a:srgbClr val="000000"/>
              </a:solidFill>
              <a:effectLst/>
              <a:uFillTx/>
              <a:latin typeface="Arial"/>
            </a:endParaRPr>
          </a:p>
        </p:txBody>
      </p:sp>
      <p:sp>
        <p:nvSpPr>
          <p:cNvPr id="1298" name="Text 6"/>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95</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299"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16 · MATPLOTLIB FOR AI/ML</a:t>
            </a:r>
            <a:endParaRPr lang="en-US" sz="1100" b="0" u="none" strike="noStrike">
              <a:solidFill>
                <a:srgbClr val="000000"/>
              </a:solidFill>
              <a:effectLst/>
              <a:uFillTx/>
              <a:latin typeface="Arial"/>
            </a:endParaRPr>
          </a:p>
        </p:txBody>
      </p:sp>
      <p:sp>
        <p:nvSpPr>
          <p:cNvPr id="1300"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Spotting Relationships &amp; Outliers</a:t>
            </a:r>
            <a:endParaRPr lang="en-US" sz="2600" b="0" u="none" strike="noStrike">
              <a:solidFill>
                <a:srgbClr val="000000"/>
              </a:solidFill>
              <a:effectLst/>
              <a:uFillTx/>
              <a:latin typeface="Arial"/>
            </a:endParaRPr>
          </a:p>
        </p:txBody>
      </p:sp>
      <p:pic>
        <p:nvPicPr>
          <p:cNvPr id="1301"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02"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03" name="Shape 3"/>
          <p:cNvSpPr/>
          <p:nvPr/>
        </p:nvSpPr>
        <p:spPr>
          <a:xfrm>
            <a:off x="548640" y="1691640"/>
            <a:ext cx="5668560" cy="4205520"/>
          </a:xfrm>
          <a:prstGeom prst="roundRect">
            <a:avLst>
              <a:gd name="adj" fmla="val 2174"/>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304" name="Image 1" descr="/home/claude/mpl/charts/colormap_scatter.png"/>
          <p:cNvPicPr/>
          <p:nvPr/>
        </p:nvPicPr>
        <p:blipFill>
          <a:blip r:embed="rId2"/>
          <a:stretch/>
        </p:blipFill>
        <p:spPr>
          <a:xfrm>
            <a:off x="658440" y="1801440"/>
            <a:ext cx="5448960" cy="3821400"/>
          </a:xfrm>
          <a:prstGeom prst="rect">
            <a:avLst/>
          </a:prstGeom>
          <a:noFill/>
          <a:ln w="0">
            <a:noFill/>
          </a:ln>
        </p:spPr>
      </p:pic>
      <p:sp>
        <p:nvSpPr>
          <p:cNvPr id="1305" name="Text 4"/>
          <p:cNvSpPr/>
          <p:nvPr/>
        </p:nvSpPr>
        <p:spPr>
          <a:xfrm>
            <a:off x="548640" y="5623560"/>
            <a:ext cx="566856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Feature relationships, colored by a third variable.</a:t>
            </a:r>
            <a:endParaRPr lang="en-US" sz="950" b="0" u="none" strike="noStrike">
              <a:solidFill>
                <a:srgbClr val="000000"/>
              </a:solidFill>
              <a:effectLst/>
              <a:uFillTx/>
              <a:latin typeface="Arial"/>
            </a:endParaRPr>
          </a:p>
        </p:txBody>
      </p:sp>
      <p:sp>
        <p:nvSpPr>
          <p:cNvPr id="1306" name="Text 5"/>
          <p:cNvSpPr/>
          <p:nvPr/>
        </p:nvSpPr>
        <p:spPr>
          <a:xfrm>
            <a:off x="6355080" y="1691640"/>
            <a:ext cx="5302800" cy="420552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400" b="0" u="none" strike="noStrike">
                <a:solidFill>
                  <a:srgbClr val="1B1B20"/>
                </a:solidFill>
                <a:effectLst/>
                <a:uFillTx/>
                <a:latin typeface="Hanken Grotesk"/>
                <a:ea typeface="Hanken Grotesk"/>
              </a:rPr>
              <a:t>Scatter plots reveal how two features relate — a key step before choosing a model.</a:t>
            </a:r>
            <a:endParaRPr lang="en-US" sz="14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00" b="0" u="none" strike="noStrike">
                <a:solidFill>
                  <a:srgbClr val="1B1B20"/>
                </a:solidFill>
                <a:effectLst/>
                <a:uFillTx/>
                <a:latin typeface="Hanken Grotesk"/>
                <a:ea typeface="Hanken Grotesk"/>
              </a:rPr>
              <a:t>Points far from the main cluster are candidate outliers, worth inspecting before training.</a:t>
            </a:r>
            <a:endParaRPr lang="en-US" sz="14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00" b="0" u="none" strike="noStrike">
                <a:solidFill>
                  <a:srgbClr val="1B1B20"/>
                </a:solidFill>
                <a:effectLst/>
                <a:uFillTx/>
                <a:latin typeface="Hanken Grotesk"/>
                <a:ea typeface="Hanken Grotesk"/>
              </a:rPr>
              <a:t>A colormap can encode a third variable (like the target) directly into the same chart.</a:t>
            </a:r>
            <a:endParaRPr lang="en-US" sz="1400" b="0" u="none" strike="noStrike">
              <a:solidFill>
                <a:srgbClr val="000000"/>
              </a:solidFill>
              <a:effectLst/>
              <a:uFillTx/>
              <a:latin typeface="Arial"/>
            </a:endParaRPr>
          </a:p>
        </p:txBody>
      </p:sp>
      <p:sp>
        <p:nvSpPr>
          <p:cNvPr id="1307" name="Text 6"/>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96</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308"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16 · MATPLOTLIB FOR AI/ML</a:t>
            </a:r>
            <a:endParaRPr lang="en-US" sz="1100" b="0" u="none" strike="noStrike">
              <a:solidFill>
                <a:srgbClr val="000000"/>
              </a:solidFill>
              <a:effectLst/>
              <a:uFillTx/>
              <a:latin typeface="Arial"/>
            </a:endParaRPr>
          </a:p>
        </p:txBody>
      </p:sp>
      <p:sp>
        <p:nvSpPr>
          <p:cNvPr id="1309"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Evaluating a Model — Training Curves</a:t>
            </a:r>
            <a:endParaRPr lang="en-US" sz="2600" b="0" u="none" strike="noStrike">
              <a:solidFill>
                <a:srgbClr val="000000"/>
              </a:solidFill>
              <a:effectLst/>
              <a:uFillTx/>
              <a:latin typeface="Arial"/>
            </a:endParaRPr>
          </a:p>
        </p:txBody>
      </p:sp>
      <p:pic>
        <p:nvPicPr>
          <p:cNvPr id="131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11"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12" name="Shape 3"/>
          <p:cNvSpPr/>
          <p:nvPr/>
        </p:nvSpPr>
        <p:spPr>
          <a:xfrm>
            <a:off x="548640" y="1691640"/>
            <a:ext cx="5668560" cy="4022640"/>
          </a:xfrm>
          <a:prstGeom prst="roundRect">
            <a:avLst>
              <a:gd name="adj" fmla="val 2273"/>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313" name="Image 1" descr="/home/claude/mpl/charts/train_val_curve.png"/>
          <p:cNvPicPr/>
          <p:nvPr/>
        </p:nvPicPr>
        <p:blipFill>
          <a:blip r:embed="rId2"/>
          <a:stretch/>
        </p:blipFill>
        <p:spPr>
          <a:xfrm>
            <a:off x="658440" y="1801440"/>
            <a:ext cx="5448960" cy="3638520"/>
          </a:xfrm>
          <a:prstGeom prst="rect">
            <a:avLst/>
          </a:prstGeom>
          <a:noFill/>
          <a:ln w="0">
            <a:noFill/>
          </a:ln>
        </p:spPr>
      </p:pic>
      <p:sp>
        <p:nvSpPr>
          <p:cNvPr id="1314" name="Text 4"/>
          <p:cNvSpPr/>
          <p:nvPr/>
        </p:nvSpPr>
        <p:spPr>
          <a:xfrm>
            <a:off x="548640" y="5440680"/>
            <a:ext cx="566856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Training vs. validation loss, over time.</a:t>
            </a:r>
            <a:endParaRPr lang="en-US" sz="950" b="0" u="none" strike="noStrike">
              <a:solidFill>
                <a:srgbClr val="000000"/>
              </a:solidFill>
              <a:effectLst/>
              <a:uFillTx/>
              <a:latin typeface="Arial"/>
            </a:endParaRPr>
          </a:p>
        </p:txBody>
      </p:sp>
      <p:sp>
        <p:nvSpPr>
          <p:cNvPr id="1315" name="Text 5"/>
          <p:cNvSpPr/>
          <p:nvPr/>
        </p:nvSpPr>
        <p:spPr>
          <a:xfrm>
            <a:off x="6355080" y="1691640"/>
            <a:ext cx="530280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400"/>
              </a:spcAft>
              <a:buClr>
                <a:srgbClr val="1B1B20"/>
              </a:buClr>
              <a:buFont typeface="Symbol" charset="2"/>
              <a:buChar char=""/>
            </a:pPr>
            <a:r>
              <a:rPr lang="en-US" sz="1350" b="0" u="none" strike="noStrike">
                <a:solidFill>
                  <a:srgbClr val="1B1B20"/>
                </a:solidFill>
                <a:effectLst/>
                <a:uFillTx/>
                <a:latin typeface="Hanken Grotesk"/>
                <a:ea typeface="Hanken Grotesk"/>
              </a:rPr>
              <a:t>A training/validation curve plots a metric (loss, accuracy) per epoch for both sets.</a:t>
            </a:r>
            <a:endParaRPr lang="en-US" sz="135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50" b="0" u="none" strike="noStrike">
                <a:solidFill>
                  <a:srgbClr val="1B1B20"/>
                </a:solidFill>
                <a:effectLst/>
                <a:uFillTx/>
                <a:latin typeface="Hanken Grotesk"/>
                <a:ea typeface="Hanken Grotesk"/>
              </a:rPr>
              <a:t>If validation loss rises while training loss keeps falling, that's a classic overfitting signal — and it's only visible because you plotted it.</a:t>
            </a:r>
            <a:endParaRPr lang="en-US" sz="1350" b="0" u="none" strike="noStrike">
              <a:solidFill>
                <a:srgbClr val="000000"/>
              </a:solidFill>
              <a:effectLst/>
              <a:uFillTx/>
              <a:latin typeface="Arial"/>
            </a:endParaRPr>
          </a:p>
          <a:p>
            <a:pPr marL="228600" indent="-228600" defTabSz="914400">
              <a:lnSpc>
                <a:spcPct val="100000"/>
              </a:lnSpc>
              <a:spcAft>
                <a:spcPts val="1400"/>
              </a:spcAft>
              <a:buClr>
                <a:srgbClr val="1B1B20"/>
              </a:buClr>
              <a:buFont typeface="Symbol" charset="2"/>
              <a:buChar char=""/>
            </a:pPr>
            <a:r>
              <a:rPr lang="en-US" sz="1350" b="0" u="none" strike="noStrike">
                <a:solidFill>
                  <a:srgbClr val="1B1B20"/>
                </a:solidFill>
                <a:effectLst/>
                <a:uFillTx/>
                <a:latin typeface="Hanken Grotesk"/>
                <a:ea typeface="Hanken Grotesk"/>
              </a:rPr>
              <a:t>This single line chart is one of the most-viewed charts in any ML project.</a:t>
            </a:r>
            <a:endParaRPr lang="en-US" sz="1350" b="0" u="none" strike="noStrike">
              <a:solidFill>
                <a:srgbClr val="000000"/>
              </a:solidFill>
              <a:effectLst/>
              <a:uFillTx/>
              <a:latin typeface="Arial"/>
            </a:endParaRPr>
          </a:p>
        </p:txBody>
      </p:sp>
      <p:sp>
        <p:nvSpPr>
          <p:cNvPr id="1316" name="Text 6"/>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317"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16 · MATPLOTLIB FOR AI/ML</a:t>
            </a:r>
            <a:endParaRPr lang="en-US" sz="1100" b="0" u="none" strike="noStrike">
              <a:solidFill>
                <a:srgbClr val="000000"/>
              </a:solidFill>
              <a:effectLst/>
              <a:uFillTx/>
              <a:latin typeface="Arial"/>
            </a:endParaRPr>
          </a:p>
        </p:txBody>
      </p:sp>
      <p:sp>
        <p:nvSpPr>
          <p:cNvPr id="1318"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Evaluating a Model — Predictions &amp; Comparison</a:t>
            </a:r>
            <a:endParaRPr lang="en-US" sz="2600" b="0" u="none" strike="noStrike">
              <a:solidFill>
                <a:srgbClr val="000000"/>
              </a:solidFill>
              <a:effectLst/>
              <a:uFillTx/>
              <a:latin typeface="Arial"/>
            </a:endParaRPr>
          </a:p>
        </p:txBody>
      </p:sp>
      <p:pic>
        <p:nvPicPr>
          <p:cNvPr id="1319"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20"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21" name="Shape 3"/>
          <p:cNvSpPr/>
          <p:nvPr/>
        </p:nvSpPr>
        <p:spPr>
          <a:xfrm>
            <a:off x="548640" y="1691640"/>
            <a:ext cx="5394240" cy="4205520"/>
          </a:xfrm>
          <a:prstGeom prst="roundRect">
            <a:avLst>
              <a:gd name="adj" fmla="val 2174"/>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322" name="Image 1" descr="/home/claude/mpl/charts/actual_vs_pred.png"/>
          <p:cNvPicPr/>
          <p:nvPr/>
        </p:nvPicPr>
        <p:blipFill>
          <a:blip r:embed="rId2"/>
          <a:stretch/>
        </p:blipFill>
        <p:spPr>
          <a:xfrm>
            <a:off x="658440" y="1801440"/>
            <a:ext cx="5174640" cy="3821400"/>
          </a:xfrm>
          <a:prstGeom prst="rect">
            <a:avLst/>
          </a:prstGeom>
          <a:noFill/>
          <a:ln w="0">
            <a:noFill/>
          </a:ln>
        </p:spPr>
      </p:pic>
      <p:sp>
        <p:nvSpPr>
          <p:cNvPr id="1323" name="Text 4"/>
          <p:cNvSpPr/>
          <p:nvPr/>
        </p:nvSpPr>
        <p:spPr>
          <a:xfrm>
            <a:off x="548640" y="5623560"/>
            <a:ext cx="539424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Actual vs. predicted — the closer to the diagonal, the better.</a:t>
            </a:r>
            <a:endParaRPr lang="en-US" sz="950" b="0" u="none" strike="noStrike">
              <a:solidFill>
                <a:srgbClr val="000000"/>
              </a:solidFill>
              <a:effectLst/>
              <a:uFillTx/>
              <a:latin typeface="Arial"/>
            </a:endParaRPr>
          </a:p>
        </p:txBody>
      </p:sp>
      <p:sp>
        <p:nvSpPr>
          <p:cNvPr id="1324" name="Shape 5"/>
          <p:cNvSpPr/>
          <p:nvPr/>
        </p:nvSpPr>
        <p:spPr>
          <a:xfrm>
            <a:off x="6080760" y="1691640"/>
            <a:ext cx="5577120" cy="4205520"/>
          </a:xfrm>
          <a:prstGeom prst="roundRect">
            <a:avLst>
              <a:gd name="adj" fmla="val 2174"/>
            </a:avLst>
          </a:prstGeom>
          <a:solidFill>
            <a:srgbClr val="FFFFFF"/>
          </a:solidFill>
          <a:ln w="9525">
            <a:solidFill>
              <a:srgbClr val="C8C5D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325" name="Image 2" descr="/home/claude/mpl/charts/boxplot_models.png"/>
          <p:cNvPicPr/>
          <p:nvPr/>
        </p:nvPicPr>
        <p:blipFill>
          <a:blip r:embed="rId3"/>
          <a:stretch/>
        </p:blipFill>
        <p:spPr>
          <a:xfrm>
            <a:off x="6190560" y="1801440"/>
            <a:ext cx="5357520" cy="3821400"/>
          </a:xfrm>
          <a:prstGeom prst="rect">
            <a:avLst/>
          </a:prstGeom>
          <a:noFill/>
          <a:ln w="0">
            <a:noFill/>
          </a:ln>
        </p:spPr>
      </p:pic>
      <p:sp>
        <p:nvSpPr>
          <p:cNvPr id="1326" name="Text 6"/>
          <p:cNvSpPr/>
          <p:nvPr/>
        </p:nvSpPr>
        <p:spPr>
          <a:xfrm>
            <a:off x="6080760" y="5623560"/>
            <a:ext cx="557712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474651"/>
                </a:solidFill>
                <a:effectLst/>
                <a:uFillTx/>
                <a:latin typeface="Plus Jakarta Sans"/>
                <a:ea typeface="Plus Jakarta Sans"/>
              </a:rPr>
              <a:t>Comparing accuracy across several models.</a:t>
            </a:r>
            <a:endParaRPr lang="en-US" sz="950" b="0" u="none" strike="noStrike">
              <a:solidFill>
                <a:srgbClr val="000000"/>
              </a:solidFill>
              <a:effectLst/>
              <a:uFillTx/>
              <a:latin typeface="Arial"/>
            </a:endParaRPr>
          </a:p>
        </p:txBody>
      </p:sp>
      <p:sp>
        <p:nvSpPr>
          <p:cNvPr id="1327" name="Text 7"/>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98</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328"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16 · MATPLOTLIB FOR AI/ML</a:t>
            </a:r>
            <a:endParaRPr lang="en-US" sz="1100" b="0" u="none" strike="noStrike">
              <a:solidFill>
                <a:srgbClr val="000000"/>
              </a:solidFill>
              <a:effectLst/>
              <a:uFillTx/>
              <a:latin typeface="Arial"/>
            </a:endParaRPr>
          </a:p>
        </p:txBody>
      </p:sp>
      <p:sp>
        <p:nvSpPr>
          <p:cNvPr id="1329"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The Confusion Matrix — Basic Concept</a:t>
            </a:r>
            <a:endParaRPr lang="en-US" sz="2600" b="0" u="none" strike="noStrike">
              <a:solidFill>
                <a:srgbClr val="000000"/>
              </a:solidFill>
              <a:effectLst/>
              <a:uFillTx/>
              <a:latin typeface="Arial"/>
            </a:endParaRPr>
          </a:p>
        </p:txBody>
      </p:sp>
      <p:pic>
        <p:nvPicPr>
          <p:cNvPr id="1330"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31"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32" name="Text 3"/>
          <p:cNvSpPr/>
          <p:nvPr/>
        </p:nvSpPr>
        <p:spPr>
          <a:xfrm>
            <a:off x="548640" y="1737360"/>
            <a:ext cx="6491520" cy="402264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For classification models, a confusion matrix is a grid showing predicted class vs. actual class.</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The diagonal cells are correct predictions — everything off the diagonal is a mistake worth understanding.</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In Matplotlib, this is typically drawn as a color-coded grid: plt.imshow(matrix, cmap="Blues") with the counts written into each cell using plt.text().</a:t>
            </a:r>
            <a:endParaRPr lang="en-US" sz="150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500" b="0" u="none" strike="noStrike">
                <a:solidFill>
                  <a:srgbClr val="1B1B20"/>
                </a:solidFill>
                <a:effectLst/>
                <a:uFillTx/>
                <a:latin typeface="Hanken Grotesk"/>
                <a:ea typeface="Hanken Grotesk"/>
              </a:rPr>
              <a:t>You'll build these for real once you reach Supervised Machine Learning — for now, just recognize the shape and purpose.</a:t>
            </a:r>
            <a:endParaRPr lang="en-US" sz="1500" b="0" u="none" strike="noStrike">
              <a:solidFill>
                <a:srgbClr val="000000"/>
              </a:solidFill>
              <a:effectLst/>
              <a:uFillTx/>
              <a:latin typeface="Arial"/>
            </a:endParaRPr>
          </a:p>
        </p:txBody>
      </p:sp>
      <p:sp>
        <p:nvSpPr>
          <p:cNvPr id="1333" name="Shape 4"/>
          <p:cNvSpPr/>
          <p:nvPr/>
        </p:nvSpPr>
        <p:spPr>
          <a:xfrm>
            <a:off x="7406640" y="1828800"/>
            <a:ext cx="1736640" cy="1736640"/>
          </a:xfrm>
          <a:prstGeom prst="rect">
            <a:avLst/>
          </a:prstGeom>
          <a:solidFill>
            <a:srgbClr val="8C8AE0"/>
          </a:solidFill>
          <a:ln w="254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34" name="Text 5"/>
          <p:cNvSpPr/>
          <p:nvPr/>
        </p:nvSpPr>
        <p:spPr>
          <a:xfrm>
            <a:off x="7406640" y="1828800"/>
            <a:ext cx="1736640" cy="173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000" b="1" u="none" strike="noStrike">
                <a:solidFill>
                  <a:srgbClr val="1B1B20"/>
                </a:solidFill>
                <a:effectLst/>
                <a:uFillTx/>
                <a:latin typeface="Bricolage Grotesque"/>
                <a:ea typeface="Bricolage Grotesque"/>
              </a:rPr>
              <a:t>42</a:t>
            </a:r>
            <a:endParaRPr lang="en-US" sz="3000" b="0" u="none" strike="noStrike">
              <a:solidFill>
                <a:srgbClr val="000000"/>
              </a:solidFill>
              <a:effectLst/>
              <a:uFillTx/>
              <a:latin typeface="Arial"/>
            </a:endParaRPr>
          </a:p>
        </p:txBody>
      </p:sp>
      <p:sp>
        <p:nvSpPr>
          <p:cNvPr id="1335" name="Shape 6"/>
          <p:cNvSpPr/>
          <p:nvPr/>
        </p:nvSpPr>
        <p:spPr>
          <a:xfrm>
            <a:off x="9144000" y="1828800"/>
            <a:ext cx="1736640" cy="1736640"/>
          </a:xfrm>
          <a:prstGeom prst="rect">
            <a:avLst/>
          </a:prstGeom>
          <a:solidFill>
            <a:srgbClr val="F0ECF4"/>
          </a:solidFill>
          <a:ln w="254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6" name="Text 7"/>
          <p:cNvSpPr/>
          <p:nvPr/>
        </p:nvSpPr>
        <p:spPr>
          <a:xfrm>
            <a:off x="9144000" y="1828800"/>
            <a:ext cx="1736640" cy="173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000" b="1" u="none" strike="noStrike">
                <a:solidFill>
                  <a:srgbClr val="1B1B20"/>
                </a:solidFill>
                <a:effectLst/>
                <a:uFillTx/>
                <a:latin typeface="Bricolage Grotesque"/>
                <a:ea typeface="Bricolage Grotesque"/>
              </a:rPr>
              <a:t>3</a:t>
            </a:r>
            <a:endParaRPr lang="en-US" sz="3000" b="0" u="none" strike="noStrike">
              <a:solidFill>
                <a:srgbClr val="000000"/>
              </a:solidFill>
              <a:effectLst/>
              <a:uFillTx/>
              <a:latin typeface="Arial"/>
            </a:endParaRPr>
          </a:p>
        </p:txBody>
      </p:sp>
      <p:sp>
        <p:nvSpPr>
          <p:cNvPr id="1337" name="Shape 8"/>
          <p:cNvSpPr/>
          <p:nvPr/>
        </p:nvSpPr>
        <p:spPr>
          <a:xfrm>
            <a:off x="7406640" y="3566160"/>
            <a:ext cx="1736640" cy="1736640"/>
          </a:xfrm>
          <a:prstGeom prst="rect">
            <a:avLst/>
          </a:prstGeom>
          <a:solidFill>
            <a:srgbClr val="F0ECF4"/>
          </a:solidFill>
          <a:ln w="254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8" name="Text 9"/>
          <p:cNvSpPr/>
          <p:nvPr/>
        </p:nvSpPr>
        <p:spPr>
          <a:xfrm>
            <a:off x="7406640" y="3566160"/>
            <a:ext cx="1736640" cy="173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000" b="1" u="none" strike="noStrike">
                <a:solidFill>
                  <a:srgbClr val="1B1B20"/>
                </a:solidFill>
                <a:effectLst/>
                <a:uFillTx/>
                <a:latin typeface="Bricolage Grotesque"/>
                <a:ea typeface="Bricolage Grotesque"/>
              </a:rPr>
              <a:t>2</a:t>
            </a:r>
            <a:endParaRPr lang="en-US" sz="3000" b="0" u="none" strike="noStrike">
              <a:solidFill>
                <a:srgbClr val="000000"/>
              </a:solidFill>
              <a:effectLst/>
              <a:uFillTx/>
              <a:latin typeface="Arial"/>
            </a:endParaRPr>
          </a:p>
        </p:txBody>
      </p:sp>
      <p:sp>
        <p:nvSpPr>
          <p:cNvPr id="1339" name="Shape 10"/>
          <p:cNvSpPr/>
          <p:nvPr/>
        </p:nvSpPr>
        <p:spPr>
          <a:xfrm>
            <a:off x="9144000" y="3566160"/>
            <a:ext cx="1736640" cy="1736640"/>
          </a:xfrm>
          <a:prstGeom prst="rect">
            <a:avLst/>
          </a:prstGeom>
          <a:solidFill>
            <a:srgbClr val="8C8AE0"/>
          </a:solidFill>
          <a:ln w="254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0" name="Text 11"/>
          <p:cNvSpPr/>
          <p:nvPr/>
        </p:nvSpPr>
        <p:spPr>
          <a:xfrm>
            <a:off x="9144000" y="3566160"/>
            <a:ext cx="1736640" cy="173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000" b="1" u="none" strike="noStrike">
                <a:solidFill>
                  <a:srgbClr val="1B1B20"/>
                </a:solidFill>
                <a:effectLst/>
                <a:uFillTx/>
                <a:latin typeface="Bricolage Grotesque"/>
                <a:ea typeface="Bricolage Grotesque"/>
              </a:rPr>
              <a:t>38</a:t>
            </a:r>
            <a:endParaRPr lang="en-US" sz="3000" b="0" u="none" strike="noStrike">
              <a:solidFill>
                <a:srgbClr val="000000"/>
              </a:solidFill>
              <a:effectLst/>
              <a:uFillTx/>
              <a:latin typeface="Arial"/>
            </a:endParaRPr>
          </a:p>
        </p:txBody>
      </p:sp>
      <p:sp>
        <p:nvSpPr>
          <p:cNvPr id="1341" name="Text 12"/>
          <p:cNvSpPr/>
          <p:nvPr/>
        </p:nvSpPr>
        <p:spPr>
          <a:xfrm>
            <a:off x="7406640" y="1508760"/>
            <a:ext cx="3474000" cy="2736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474651"/>
                </a:solidFill>
                <a:effectLst/>
                <a:uFillTx/>
                <a:latin typeface="Plus Jakarta Sans"/>
                <a:ea typeface="Plus Jakarta Sans"/>
              </a:rPr>
              <a:t>Predicted →</a:t>
            </a:r>
            <a:endParaRPr lang="en-US" sz="1000" b="0" u="none" strike="noStrike">
              <a:solidFill>
                <a:srgbClr val="000000"/>
              </a:solidFill>
              <a:effectLst/>
              <a:uFillTx/>
              <a:latin typeface="Arial"/>
            </a:endParaRPr>
          </a:p>
        </p:txBody>
      </p:sp>
      <p:sp>
        <p:nvSpPr>
          <p:cNvPr id="1342" name="Text 13"/>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99</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343" name="Shape 0"/>
          <p:cNvSpPr/>
          <p:nvPr/>
        </p:nvSpPr>
        <p:spPr>
          <a:xfrm>
            <a:off x="9692640" y="-1463040"/>
            <a:ext cx="3839760" cy="38397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4" name="Shape 1"/>
          <p:cNvSpPr/>
          <p:nvPr/>
        </p:nvSpPr>
        <p:spPr>
          <a:xfrm>
            <a:off x="-1280160" y="4754880"/>
            <a:ext cx="3108240" cy="3108240"/>
          </a:xfrm>
          <a:prstGeom prst="ellipse">
            <a:avLst/>
          </a:prstGeom>
          <a:solidFill>
            <a:srgbClr val="11362E">
              <a:alpha val="5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345" name="Image 0" descr="/home/claude/mpl/assets/logo_icon.png"/>
          <p:cNvPicPr/>
          <p:nvPr/>
        </p:nvPicPr>
        <p:blipFill>
          <a:blip r:embed="rId1"/>
          <a:stretch/>
        </p:blipFill>
        <p:spPr>
          <a:xfrm>
            <a:off x="640080" y="548640"/>
            <a:ext cx="438120" cy="525960"/>
          </a:xfrm>
          <a:prstGeom prst="rect">
            <a:avLst/>
          </a:prstGeom>
          <a:noFill/>
          <a:ln w="0">
            <a:noFill/>
          </a:ln>
        </p:spPr>
      </p:pic>
      <p:sp>
        <p:nvSpPr>
          <p:cNvPr id="1346" name="Text 2"/>
          <p:cNvSpPr/>
          <p:nvPr/>
        </p:nvSpPr>
        <p:spPr>
          <a:xfrm>
            <a:off x="640080" y="2331720"/>
            <a:ext cx="914328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pc="300" strike="noStrike">
                <a:solidFill>
                  <a:srgbClr val="2DD4BF"/>
                </a:solidFill>
                <a:effectLst/>
                <a:uFillTx/>
                <a:latin typeface="Plus Jakarta Sans"/>
                <a:ea typeface="Plus Jakarta Sans"/>
              </a:rPr>
              <a:t>PART 17 · MINI PROJECTS</a:t>
            </a:r>
            <a:endParaRPr lang="en-US" sz="1400" b="0" u="none" strike="noStrike">
              <a:solidFill>
                <a:srgbClr val="FFFFFF"/>
              </a:solidFill>
              <a:effectLst/>
              <a:uFillTx/>
              <a:latin typeface="Arial"/>
            </a:endParaRPr>
          </a:p>
        </p:txBody>
      </p:sp>
      <p:sp>
        <p:nvSpPr>
          <p:cNvPr id="1347" name="Text 3"/>
          <p:cNvSpPr/>
          <p:nvPr/>
        </p:nvSpPr>
        <p:spPr>
          <a:xfrm>
            <a:off x="640080" y="2743200"/>
            <a:ext cx="1033200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4000" b="1" u="none" spc="-51" strike="noStrike">
                <a:solidFill>
                  <a:srgbClr val="F1F5F9"/>
                </a:solidFill>
                <a:effectLst/>
                <a:uFillTx/>
                <a:latin typeface="Bricolage Grotesque"/>
                <a:ea typeface="Bricolage Grotesque"/>
              </a:rPr>
              <a:t>Put It All Together</a:t>
            </a:r>
            <a:endParaRPr lang="en-US" sz="4000" b="0" u="none" strike="noStrike">
              <a:solidFill>
                <a:srgbClr val="FFFFFF"/>
              </a:solidFill>
              <a:effectLst/>
              <a:uFillTx/>
              <a:latin typeface="Arial"/>
            </a:endParaRPr>
          </a:p>
        </p:txBody>
      </p:sp>
      <p:sp>
        <p:nvSpPr>
          <p:cNvPr id="1348" name="Text 4"/>
          <p:cNvSpPr/>
          <p:nvPr/>
        </p:nvSpPr>
        <p:spPr>
          <a:xfrm>
            <a:off x="640080" y="3977640"/>
            <a:ext cx="93261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0" u="none" strike="noStrike">
                <a:solidFill>
                  <a:srgbClr val="94A3B8"/>
                </a:solidFill>
                <a:effectLst/>
                <a:uFillTx/>
                <a:latin typeface="Hanken Grotesk"/>
                <a:ea typeface="Hanken Grotesk"/>
              </a:rPr>
              <a:t>Three small projects combining everything from Foundations to AI/ML visualization — built end to end, using the Object-Oriented API.</a:t>
            </a:r>
            <a:endParaRPr lang="en-US" sz="1500" b="0" u="none" strike="noStrike">
              <a:solidFill>
                <a:srgbClr val="FFFFFF"/>
              </a:solidFill>
              <a:effectLst/>
              <a:uFillTx/>
              <a:latin typeface="Arial"/>
            </a:endParaRPr>
          </a:p>
        </p:txBody>
      </p:sp>
      <p:sp>
        <p:nvSpPr>
          <p:cNvPr id="1349"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94A3B8"/>
                </a:solidFill>
                <a:effectLst/>
                <a:uFillTx/>
                <a:latin typeface="Plus Jakarta Sans"/>
                <a:ea typeface="Plus Jakarta Sans"/>
              </a:rPr>
              <a:t>100</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35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17 · MINI PROJECTS</a:t>
            </a:r>
            <a:endParaRPr lang="en-US" sz="1100" b="0" u="none" strike="noStrike">
              <a:solidFill>
                <a:srgbClr val="000000"/>
              </a:solidFill>
              <a:effectLst/>
              <a:uFillTx/>
              <a:latin typeface="Arial"/>
            </a:endParaRPr>
          </a:p>
        </p:txBody>
      </p:sp>
      <p:sp>
        <p:nvSpPr>
          <p:cNvPr id="135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Mini Project 1: Sales &amp; Expenses Report</a:t>
            </a:r>
            <a:endParaRPr lang="en-US" sz="2600" b="0" u="none" strike="noStrike">
              <a:solidFill>
                <a:srgbClr val="000000"/>
              </a:solidFill>
              <a:effectLst/>
              <a:uFillTx/>
              <a:latin typeface="Arial"/>
            </a:endParaRPr>
          </a:p>
        </p:txBody>
      </p:sp>
      <p:pic>
        <p:nvPicPr>
          <p:cNvPr id="135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5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54" name="Shape 3"/>
          <p:cNvSpPr/>
          <p:nvPr/>
        </p:nvSpPr>
        <p:spPr>
          <a:xfrm>
            <a:off x="548640" y="1737360"/>
            <a:ext cx="3062520" cy="3976920"/>
          </a:xfrm>
          <a:prstGeom prst="roundRect">
            <a:avLst>
              <a:gd name="adj" fmla="val 4179"/>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55" name="Shape 4"/>
          <p:cNvSpPr/>
          <p:nvPr/>
        </p:nvSpPr>
        <p:spPr>
          <a:xfrm>
            <a:off x="1577520" y="2194560"/>
            <a:ext cx="1005120" cy="1005120"/>
          </a:xfrm>
          <a:prstGeom prst="ellipse">
            <a:avLst/>
          </a:prstGeom>
          <a:solidFill>
            <a:srgbClr val="231F71">
              <a:alpha val="2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56" name="Text 5"/>
          <p:cNvSpPr/>
          <p:nvPr/>
        </p:nvSpPr>
        <p:spPr>
          <a:xfrm>
            <a:off x="1577520" y="2194560"/>
            <a:ext cx="1005120" cy="1005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4200" b="1" u="none" strike="noStrike">
                <a:solidFill>
                  <a:srgbClr val="231F71"/>
                </a:solidFill>
                <a:effectLst/>
                <a:uFillTx/>
                <a:latin typeface="Bricolage Grotesque"/>
                <a:ea typeface="Bricolage Grotesque"/>
              </a:rPr>
              <a:t>1</a:t>
            </a:r>
            <a:endParaRPr lang="en-US" sz="4200" b="0" u="none" strike="noStrike">
              <a:solidFill>
                <a:srgbClr val="000000"/>
              </a:solidFill>
              <a:effectLst/>
              <a:uFillTx/>
              <a:latin typeface="Arial"/>
            </a:endParaRPr>
          </a:p>
        </p:txBody>
      </p:sp>
      <p:sp>
        <p:nvSpPr>
          <p:cNvPr id="1357" name="Text 6"/>
          <p:cNvSpPr/>
          <p:nvPr/>
        </p:nvSpPr>
        <p:spPr>
          <a:xfrm>
            <a:off x="777240" y="4663440"/>
            <a:ext cx="2605320" cy="822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20000"/>
              </a:lnSpc>
              <a:tabLst>
                <a:tab pos="0" algn="l"/>
              </a:tabLst>
            </a:pPr>
            <a:r>
              <a:rPr lang="en-US" sz="1300" b="1" u="none" strike="noStrike">
                <a:solidFill>
                  <a:srgbClr val="231F71"/>
                </a:solidFill>
                <a:effectLst/>
                <a:uFillTx/>
                <a:latin typeface="Plus Jakarta Sans"/>
                <a:ea typeface="Plus Jakarta Sans"/>
              </a:rPr>
              <a:t>Line + Bar,</a:t>
            </a:r>
            <a:endParaRPr lang="en-US" sz="1300" b="0" u="none" strike="noStrike">
              <a:solidFill>
                <a:srgbClr val="000000"/>
              </a:solidFill>
              <a:effectLst/>
              <a:uFillTx/>
              <a:latin typeface="Arial"/>
            </a:endParaRPr>
          </a:p>
          <a:p>
            <a:pPr algn="ctr" defTabSz="914400">
              <a:lnSpc>
                <a:spcPct val="120000"/>
              </a:lnSpc>
              <a:tabLst>
                <a:tab pos="0" algn="l"/>
              </a:tabLst>
            </a:pPr>
            <a:r>
              <a:rPr lang="en-US" sz="1300" b="1" u="none" strike="noStrike">
                <a:solidFill>
                  <a:srgbClr val="231F71"/>
                </a:solidFill>
                <a:effectLst/>
                <a:uFillTx/>
                <a:latin typeface="Plus Jakarta Sans"/>
                <a:ea typeface="Plus Jakarta Sans"/>
              </a:rPr>
              <a:t>combined</a:t>
            </a:r>
            <a:endParaRPr lang="en-US" sz="1300" b="0" u="none" strike="noStrike">
              <a:solidFill>
                <a:srgbClr val="000000"/>
              </a:solidFill>
              <a:effectLst/>
              <a:uFillTx/>
              <a:latin typeface="Arial"/>
            </a:endParaRPr>
          </a:p>
        </p:txBody>
      </p:sp>
      <p:sp>
        <p:nvSpPr>
          <p:cNvPr id="1358" name="Text 7"/>
          <p:cNvSpPr/>
          <p:nvPr/>
        </p:nvSpPr>
        <p:spPr>
          <a:xfrm>
            <a:off x="4069080" y="1783080"/>
            <a:ext cx="7588800" cy="397692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Build a 1×2 subplot: a line chart of monthly sales vs. expenses, and a bar chart of totals by quarter.</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Use the Object-Oriented API — fig, ax — throughout, not plt. shortcuts.</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Add a title, axis labels, and a legend to each panel.</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Save the final figure as a 300 DPI PNG with plt.savefig().</a:t>
            </a:r>
            <a:endParaRPr lang="en-US" sz="1450" b="0" u="none" strike="noStrike">
              <a:solidFill>
                <a:srgbClr val="000000"/>
              </a:solidFill>
              <a:effectLst/>
              <a:uFillTx/>
              <a:latin typeface="Arial"/>
            </a:endParaRPr>
          </a:p>
        </p:txBody>
      </p:sp>
      <p:sp>
        <p:nvSpPr>
          <p:cNvPr id="1359"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101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36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17 · MINI PROJECTS</a:t>
            </a:r>
            <a:endParaRPr lang="en-US" sz="1100" b="0" u="none" strike="noStrike">
              <a:solidFill>
                <a:srgbClr val="000000"/>
              </a:solidFill>
              <a:effectLst/>
              <a:uFillTx/>
              <a:latin typeface="Arial"/>
            </a:endParaRPr>
          </a:p>
        </p:txBody>
      </p:sp>
      <p:sp>
        <p:nvSpPr>
          <p:cNvPr id="136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Mini Project 2: Student Performance Dashboard</a:t>
            </a:r>
            <a:endParaRPr lang="en-US" sz="2600" b="0" u="none" strike="noStrike">
              <a:solidFill>
                <a:srgbClr val="000000"/>
              </a:solidFill>
              <a:effectLst/>
              <a:uFillTx/>
              <a:latin typeface="Arial"/>
            </a:endParaRPr>
          </a:p>
        </p:txBody>
      </p:sp>
      <p:pic>
        <p:nvPicPr>
          <p:cNvPr id="136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6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64" name="Shape 3"/>
          <p:cNvSpPr/>
          <p:nvPr/>
        </p:nvSpPr>
        <p:spPr>
          <a:xfrm>
            <a:off x="548640" y="1737360"/>
            <a:ext cx="3062520" cy="3976920"/>
          </a:xfrm>
          <a:prstGeom prst="roundRect">
            <a:avLst>
              <a:gd name="adj" fmla="val 4179"/>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65" name="Shape 4"/>
          <p:cNvSpPr/>
          <p:nvPr/>
        </p:nvSpPr>
        <p:spPr>
          <a:xfrm>
            <a:off x="1577520" y="2194560"/>
            <a:ext cx="1005120" cy="1005120"/>
          </a:xfrm>
          <a:prstGeom prst="ellipse">
            <a:avLst/>
          </a:prstGeom>
          <a:solidFill>
            <a:srgbClr val="231F71">
              <a:alpha val="2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66" name="Text 5"/>
          <p:cNvSpPr/>
          <p:nvPr/>
        </p:nvSpPr>
        <p:spPr>
          <a:xfrm>
            <a:off x="1577520" y="2194560"/>
            <a:ext cx="1005120" cy="1005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4200" b="1" u="none" strike="noStrike">
                <a:solidFill>
                  <a:srgbClr val="231F71"/>
                </a:solidFill>
                <a:effectLst/>
                <a:uFillTx/>
                <a:latin typeface="Bricolage Grotesque"/>
                <a:ea typeface="Bricolage Grotesque"/>
              </a:rPr>
              <a:t>2</a:t>
            </a:r>
            <a:endParaRPr lang="en-US" sz="4200" b="0" u="none" strike="noStrike">
              <a:solidFill>
                <a:srgbClr val="000000"/>
              </a:solidFill>
              <a:effectLst/>
              <a:uFillTx/>
              <a:latin typeface="Arial"/>
            </a:endParaRPr>
          </a:p>
        </p:txBody>
      </p:sp>
      <p:sp>
        <p:nvSpPr>
          <p:cNvPr id="1367" name="Text 6"/>
          <p:cNvSpPr/>
          <p:nvPr/>
        </p:nvSpPr>
        <p:spPr>
          <a:xfrm>
            <a:off x="777240" y="4663440"/>
            <a:ext cx="2605320" cy="822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20000"/>
              </a:lnSpc>
              <a:tabLst>
                <a:tab pos="0" algn="l"/>
              </a:tabLst>
            </a:pPr>
            <a:r>
              <a:rPr lang="en-US" sz="1300" b="1" u="none" strike="noStrike">
                <a:solidFill>
                  <a:srgbClr val="231F71"/>
                </a:solidFill>
                <a:effectLst/>
                <a:uFillTx/>
                <a:latin typeface="Plus Jakarta Sans"/>
                <a:ea typeface="Plus Jakarta Sans"/>
              </a:rPr>
              <a:t>Line + Bar +</a:t>
            </a:r>
            <a:endParaRPr lang="en-US" sz="1300" b="0" u="none" strike="noStrike">
              <a:solidFill>
                <a:srgbClr val="000000"/>
              </a:solidFill>
              <a:effectLst/>
              <a:uFillTx/>
              <a:latin typeface="Arial"/>
            </a:endParaRPr>
          </a:p>
          <a:p>
            <a:pPr algn="ctr" defTabSz="914400">
              <a:lnSpc>
                <a:spcPct val="120000"/>
              </a:lnSpc>
              <a:tabLst>
                <a:tab pos="0" algn="l"/>
              </a:tabLst>
            </a:pPr>
            <a:r>
              <a:rPr lang="en-US" sz="1300" b="1" u="none" strike="noStrike">
                <a:solidFill>
                  <a:srgbClr val="231F71"/>
                </a:solidFill>
                <a:effectLst/>
                <a:uFillTx/>
                <a:latin typeface="Plus Jakarta Sans"/>
                <a:ea typeface="Plus Jakarta Sans"/>
              </a:rPr>
              <a:t>Scatter + Histogram</a:t>
            </a:r>
            <a:endParaRPr lang="en-US" sz="1300" b="0" u="none" strike="noStrike">
              <a:solidFill>
                <a:srgbClr val="000000"/>
              </a:solidFill>
              <a:effectLst/>
              <a:uFillTx/>
              <a:latin typeface="Arial"/>
            </a:endParaRPr>
          </a:p>
        </p:txBody>
      </p:sp>
      <p:sp>
        <p:nvSpPr>
          <p:cNvPr id="1368" name="Text 7"/>
          <p:cNvSpPr/>
          <p:nvPr/>
        </p:nvSpPr>
        <p:spPr>
          <a:xfrm>
            <a:off x="4069080" y="1783080"/>
            <a:ext cx="7588800" cy="397692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Build a 2×2 grid: average score per subject (line), grade-band counts (bar), study hours vs. score colored by pass/fail (scatter), and score distribution (histogram).</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Call plt.tight_layout() so nothing overlaps between panels.</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Use plt.annotate() to call out the highest-scoring student on the scatter panel.</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Save with plt.savefig("dashboard.png", dpi=200, bbox_inches="tight").</a:t>
            </a:r>
            <a:endParaRPr lang="en-US" sz="1450" b="0" u="none" strike="noStrike">
              <a:solidFill>
                <a:srgbClr val="000000"/>
              </a:solidFill>
              <a:effectLst/>
              <a:uFillTx/>
              <a:latin typeface="Arial"/>
            </a:endParaRPr>
          </a:p>
        </p:txBody>
      </p:sp>
      <p:sp>
        <p:nvSpPr>
          <p:cNvPr id="1369"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102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8FF"/>
        </a:solidFill>
      </p:bgPr>
    </p:bg>
    <p:spTree>
      <p:nvGrpSpPr>
        <p:cNvPr id="1" name=""/>
        <p:cNvGrpSpPr/>
        <p:nvPr/>
      </p:nvGrpSpPr>
      <p:grpSpPr>
        <a:xfrm>
          <a:off x="0" y="0"/>
          <a:ext cx="0" cy="0"/>
          <a:chOff x="0" y="0"/>
          <a:chExt cx="0" cy="0"/>
        </a:xfrm>
      </p:grpSpPr>
      <p:sp>
        <p:nvSpPr>
          <p:cNvPr id="1370" name="Text 0"/>
          <p:cNvSpPr/>
          <p:nvPr/>
        </p:nvSpPr>
        <p:spPr>
          <a:xfrm>
            <a:off x="548640" y="384120"/>
            <a:ext cx="914328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201" strike="noStrike">
                <a:solidFill>
                  <a:srgbClr val="5755A7"/>
                </a:solidFill>
                <a:effectLst/>
                <a:uFillTx/>
                <a:latin typeface="Plus Jakarta Sans"/>
                <a:ea typeface="Plus Jakarta Sans"/>
              </a:rPr>
              <a:t>PART 17 · MINI PROJECTS</a:t>
            </a:r>
            <a:endParaRPr lang="en-US" sz="1100" b="0" u="none" strike="noStrike">
              <a:solidFill>
                <a:srgbClr val="000000"/>
              </a:solidFill>
              <a:effectLst/>
              <a:uFillTx/>
              <a:latin typeface="Arial"/>
            </a:endParaRPr>
          </a:p>
        </p:txBody>
      </p:sp>
      <p:sp>
        <p:nvSpPr>
          <p:cNvPr id="1371" name="Text 1"/>
          <p:cNvSpPr/>
          <p:nvPr/>
        </p:nvSpPr>
        <p:spPr>
          <a:xfrm>
            <a:off x="548640" y="658440"/>
            <a:ext cx="9691920" cy="685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pc="-31" strike="noStrike">
                <a:solidFill>
                  <a:srgbClr val="1B1B20"/>
                </a:solidFill>
                <a:effectLst/>
                <a:uFillTx/>
                <a:latin typeface="Bricolage Grotesque"/>
                <a:ea typeface="Bricolage Grotesque"/>
              </a:rPr>
              <a:t>Mini Project 3: Model Evaluation Snapshot</a:t>
            </a:r>
            <a:endParaRPr lang="en-US" sz="2600" b="0" u="none" strike="noStrike">
              <a:solidFill>
                <a:srgbClr val="000000"/>
              </a:solidFill>
              <a:effectLst/>
              <a:uFillTx/>
              <a:latin typeface="Arial"/>
            </a:endParaRPr>
          </a:p>
        </p:txBody>
      </p:sp>
      <p:pic>
        <p:nvPicPr>
          <p:cNvPr id="1372" name="Image 0" descr="/home/claude/mpl/assets/logo_icon.png"/>
          <p:cNvPicPr/>
          <p:nvPr/>
        </p:nvPicPr>
        <p:blipFill>
          <a:blip r:embed="rId1"/>
          <a:stretch/>
        </p:blipFill>
        <p:spPr>
          <a:xfrm>
            <a:off x="11323080" y="320040"/>
            <a:ext cx="383400" cy="460080"/>
          </a:xfrm>
          <a:prstGeom prst="rect">
            <a:avLst/>
          </a:prstGeom>
          <a:noFill/>
          <a:ln w="0">
            <a:noFill/>
          </a:ln>
        </p:spPr>
      </p:pic>
      <p:sp>
        <p:nvSpPr>
          <p:cNvPr id="1373" name="Text 2"/>
          <p:cNvSpPr/>
          <p:nvPr/>
        </p:nvSpPr>
        <p:spPr>
          <a:xfrm>
            <a:off x="457200" y="6473880"/>
            <a:ext cx="594288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474651"/>
                </a:solidFill>
                <a:effectLst/>
                <a:uFillTx/>
                <a:latin typeface="Plus Jakarta Sans"/>
                <a:ea typeface="Plus Jakarta Sans"/>
              </a:rPr>
              <a:t>CodeByPaxto  ·  AI &amp; ML Playground  ·  Hafiz Waseem Ahmed (Paxto)</a:t>
            </a:r>
            <a:endParaRPr lang="en-US" sz="900" b="0" u="none" strike="noStrike">
              <a:solidFill>
                <a:srgbClr val="000000"/>
              </a:solidFill>
              <a:effectLst/>
              <a:uFillTx/>
              <a:latin typeface="Arial"/>
            </a:endParaRPr>
          </a:p>
        </p:txBody>
      </p:sp>
      <p:sp>
        <p:nvSpPr>
          <p:cNvPr id="1374" name="Shape 3"/>
          <p:cNvSpPr/>
          <p:nvPr/>
        </p:nvSpPr>
        <p:spPr>
          <a:xfrm>
            <a:off x="548640" y="1737360"/>
            <a:ext cx="3062520" cy="3976920"/>
          </a:xfrm>
          <a:prstGeom prst="roundRect">
            <a:avLst>
              <a:gd name="adj" fmla="val 4179"/>
            </a:avLst>
          </a:prstGeom>
          <a:solidFill>
            <a:srgbClr val="8C8AE0"/>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75" name="Shape 4"/>
          <p:cNvSpPr/>
          <p:nvPr/>
        </p:nvSpPr>
        <p:spPr>
          <a:xfrm>
            <a:off x="1577520" y="2194560"/>
            <a:ext cx="1005120" cy="1005120"/>
          </a:xfrm>
          <a:prstGeom prst="ellipse">
            <a:avLst/>
          </a:prstGeom>
          <a:solidFill>
            <a:srgbClr val="231F71">
              <a:alpha val="2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76" name="Text 5"/>
          <p:cNvSpPr/>
          <p:nvPr/>
        </p:nvSpPr>
        <p:spPr>
          <a:xfrm>
            <a:off x="1577520" y="2194560"/>
            <a:ext cx="1005120" cy="1005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4200" b="1" u="none" strike="noStrike">
                <a:solidFill>
                  <a:srgbClr val="231F71"/>
                </a:solidFill>
                <a:effectLst/>
                <a:uFillTx/>
                <a:latin typeface="Bricolage Grotesque"/>
                <a:ea typeface="Bricolage Grotesque"/>
              </a:rPr>
              <a:t>3</a:t>
            </a:r>
            <a:endParaRPr lang="en-US" sz="4200" b="0" u="none" strike="noStrike">
              <a:solidFill>
                <a:srgbClr val="000000"/>
              </a:solidFill>
              <a:effectLst/>
              <a:uFillTx/>
              <a:latin typeface="Arial"/>
            </a:endParaRPr>
          </a:p>
        </p:txBody>
      </p:sp>
      <p:sp>
        <p:nvSpPr>
          <p:cNvPr id="1377" name="Text 6"/>
          <p:cNvSpPr/>
          <p:nvPr/>
        </p:nvSpPr>
        <p:spPr>
          <a:xfrm>
            <a:off x="777240" y="4663440"/>
            <a:ext cx="2605320" cy="822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20000"/>
              </a:lnSpc>
              <a:tabLst>
                <a:tab pos="0" algn="l"/>
              </a:tabLst>
            </a:pPr>
            <a:r>
              <a:rPr lang="en-US" sz="1300" b="1" u="none" strike="noStrike">
                <a:solidFill>
                  <a:srgbClr val="231F71"/>
                </a:solidFill>
                <a:effectLst/>
                <a:uFillTx/>
                <a:latin typeface="Plus Jakarta Sans"/>
                <a:ea typeface="Plus Jakarta Sans"/>
              </a:rPr>
              <a:t>Training curves +</a:t>
            </a:r>
            <a:endParaRPr lang="en-US" sz="1300" b="0" u="none" strike="noStrike">
              <a:solidFill>
                <a:srgbClr val="000000"/>
              </a:solidFill>
              <a:effectLst/>
              <a:uFillTx/>
              <a:latin typeface="Arial"/>
            </a:endParaRPr>
          </a:p>
          <a:p>
            <a:pPr algn="ctr" defTabSz="914400">
              <a:lnSpc>
                <a:spcPct val="120000"/>
              </a:lnSpc>
              <a:tabLst>
                <a:tab pos="0" algn="l"/>
              </a:tabLst>
            </a:pPr>
            <a:r>
              <a:rPr lang="en-US" sz="1300" b="1" u="none" strike="noStrike">
                <a:solidFill>
                  <a:srgbClr val="231F71"/>
                </a:solidFill>
                <a:effectLst/>
                <a:uFillTx/>
                <a:latin typeface="Plus Jakarta Sans"/>
                <a:ea typeface="Plus Jakarta Sans"/>
              </a:rPr>
              <a:t>Actual vs. Predicted</a:t>
            </a:r>
            <a:endParaRPr lang="en-US" sz="1300" b="0" u="none" strike="noStrike">
              <a:solidFill>
                <a:srgbClr val="000000"/>
              </a:solidFill>
              <a:effectLst/>
              <a:uFillTx/>
              <a:latin typeface="Arial"/>
            </a:endParaRPr>
          </a:p>
        </p:txBody>
      </p:sp>
      <p:sp>
        <p:nvSpPr>
          <p:cNvPr id="1378" name="Text 7"/>
          <p:cNvSpPr/>
          <p:nvPr/>
        </p:nvSpPr>
        <p:spPr>
          <a:xfrm>
            <a:off x="4069080" y="1783080"/>
            <a:ext cx="7588800" cy="3976920"/>
          </a:xfrm>
          <a:prstGeom prst="rect">
            <a:avLst/>
          </a:prstGeom>
          <a:noFill/>
          <a:ln w="0">
            <a:noFill/>
          </a:ln>
        </p:spPr>
        <p:style>
          <a:lnRef idx="0"/>
          <a:fillRef idx="0"/>
          <a:effectRef idx="0"/>
          <a:fontRef idx="minor"/>
        </p:style>
        <p:txBody>
          <a:bodyPr lIns="90000" tIns="45000" rIns="90000" bIns="45000" anchor="t">
            <a:noAutofit/>
          </a:bodyPr>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Plot training vs. validation loss curves across 20 epochs for a model (real or invented).</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Plot actual vs. predicted values with a diagonal reference line.</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Compare accuracy across 3 models using a box plot.</a:t>
            </a:r>
            <a:endParaRPr lang="en-US" sz="1450" b="0" u="none" strike="noStrike">
              <a:solidFill>
                <a:srgbClr val="000000"/>
              </a:solidFill>
              <a:effectLst/>
              <a:uFillTx/>
              <a:latin typeface="Arial"/>
            </a:endParaRPr>
          </a:p>
          <a:p>
            <a:pPr marL="228600" indent="-228600" defTabSz="914400">
              <a:lnSpc>
                <a:spcPct val="100000"/>
              </a:lnSpc>
              <a:spcAft>
                <a:spcPts val="1599"/>
              </a:spcAft>
              <a:buClr>
                <a:srgbClr val="1B1B20"/>
              </a:buClr>
              <a:buFont typeface="Symbol" charset="2"/>
              <a:buChar char=""/>
            </a:pPr>
            <a:r>
              <a:rPr lang="en-US" sz="1450" b="0" u="none" strike="noStrike">
                <a:solidFill>
                  <a:srgbClr val="1B1B20"/>
                </a:solidFill>
                <a:effectLst/>
                <a:uFillTx/>
                <a:latin typeface="Hanken Grotesk"/>
                <a:ea typeface="Hanken Grotesk"/>
              </a:rPr>
              <a:t>Combine all three panels into one Figure using plt.subplots().</a:t>
            </a:r>
            <a:endParaRPr lang="en-US" sz="1450" b="0" u="none" strike="noStrike">
              <a:solidFill>
                <a:srgbClr val="000000"/>
              </a:solidFill>
              <a:effectLst/>
              <a:uFillTx/>
              <a:latin typeface="Arial"/>
            </a:endParaRPr>
          </a:p>
        </p:txBody>
      </p:sp>
      <p:sp>
        <p:nvSpPr>
          <p:cNvPr id="1379" name="Text 8"/>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103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380" name="Shape 0"/>
          <p:cNvSpPr/>
          <p:nvPr/>
        </p:nvSpPr>
        <p:spPr>
          <a:xfrm>
            <a:off x="-1828800" y="-2103120"/>
            <a:ext cx="4754160" cy="475416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81" name="Shape 1"/>
          <p:cNvSpPr/>
          <p:nvPr/>
        </p:nvSpPr>
        <p:spPr>
          <a:xfrm>
            <a:off x="9326880" y="4206240"/>
            <a:ext cx="4205520" cy="4205520"/>
          </a:xfrm>
          <a:prstGeom prst="ellipse">
            <a:avLst/>
          </a:prstGeom>
          <a:solidFill>
            <a:srgbClr val="11362E">
              <a:alpha val="50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82" name="Shape 2"/>
          <p:cNvSpPr/>
          <p:nvPr/>
        </p:nvSpPr>
        <p:spPr>
          <a:xfrm>
            <a:off x="4907160" y="1051560"/>
            <a:ext cx="2376720" cy="54000"/>
          </a:xfrm>
          <a:prstGeom prst="roundRect">
            <a:avLst>
              <a:gd name="adj" fmla="val 50000"/>
            </a:avLst>
          </a:prstGeom>
          <a:solidFill>
            <a:srgbClr val="818CF8"/>
          </a:solidFill>
          <a:ln w="0">
            <a:noFill/>
          </a:ln>
        </p:spPr>
        <p:style>
          <a:lnRef idx="0"/>
          <a:fillRef idx="0"/>
          <a:effectRef idx="0"/>
          <a:fontRef idx="minor"/>
        </p:style>
        <p:txBody>
          <a:bodyPr lIns="90000" tIns="-6480" rIns="90000" bIns="-6480" anchor="t">
            <a:noAutofit/>
          </a:bodyPr>
          <a:p>
            <a:endParaRPr lang="en-US" sz="1800" b="0" u="none" strike="noStrike">
              <a:solidFill>
                <a:srgbClr val="FFFFFF"/>
              </a:solidFill>
              <a:effectLst/>
              <a:uFillTx/>
              <a:latin typeface="Arial"/>
            </a:endParaRPr>
          </a:p>
        </p:txBody>
      </p:sp>
      <p:sp>
        <p:nvSpPr>
          <p:cNvPr id="1383" name="Text 3"/>
          <p:cNvSpPr/>
          <p:nvPr/>
        </p:nvSpPr>
        <p:spPr>
          <a:xfrm>
            <a:off x="0" y="1234440"/>
            <a:ext cx="1219104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pc="300" strike="noStrike">
                <a:solidFill>
                  <a:srgbClr val="2DD4BF"/>
                </a:solidFill>
                <a:effectLst/>
                <a:uFillTx/>
                <a:latin typeface="Plus Jakarta Sans"/>
                <a:ea typeface="Plus Jakarta Sans"/>
              </a:rPr>
              <a:t>MODULE RECAP</a:t>
            </a:r>
            <a:endParaRPr lang="en-US" sz="1200" b="0" u="none" strike="noStrike">
              <a:solidFill>
                <a:srgbClr val="FFFFFF"/>
              </a:solidFill>
              <a:effectLst/>
              <a:uFillTx/>
              <a:latin typeface="Arial"/>
            </a:endParaRPr>
          </a:p>
        </p:txBody>
      </p:sp>
      <p:sp>
        <p:nvSpPr>
          <p:cNvPr id="1384" name="Text 4"/>
          <p:cNvSpPr/>
          <p:nvPr/>
        </p:nvSpPr>
        <p:spPr>
          <a:xfrm>
            <a:off x="1249560" y="1920240"/>
            <a:ext cx="9691920" cy="23767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25000"/>
              </a:lnSpc>
              <a:tabLst>
                <a:tab pos="0" algn="l"/>
              </a:tabLst>
            </a:pPr>
            <a:r>
              <a:rPr lang="en-US" sz="2700" b="1" u="none" strike="noStrike">
                <a:solidFill>
                  <a:srgbClr val="F1F5F9"/>
                </a:solidFill>
                <a:effectLst/>
                <a:uFillTx/>
                <a:latin typeface="Bricolage Grotesque"/>
                <a:ea typeface="Bricolage Grotesque"/>
              </a:rPr>
              <a:t>Matplotlib turns raw numbers into a picture you can actually reason about — and that same picture is what you'll lean on for every EDA, every model check, and every report from here forward.</a:t>
            </a:r>
            <a:endParaRPr lang="en-US" sz="2700" b="0" u="none" strike="noStrike">
              <a:solidFill>
                <a:srgbClr val="FFFFFF"/>
              </a:solidFill>
              <a:effectLst/>
              <a:uFillTx/>
              <a:latin typeface="Arial"/>
            </a:endParaRPr>
          </a:p>
        </p:txBody>
      </p:sp>
      <p:sp>
        <p:nvSpPr>
          <p:cNvPr id="1385" name="Text 5"/>
          <p:cNvSpPr/>
          <p:nvPr/>
        </p:nvSpPr>
        <p:spPr>
          <a:xfrm>
            <a:off x="0" y="4526280"/>
            <a:ext cx="1219104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i="1" u="none" strike="noStrike">
                <a:solidFill>
                  <a:srgbClr val="94A3B8"/>
                </a:solidFill>
                <a:effectLst/>
                <a:uFillTx/>
                <a:latin typeface="Hanken Grotesk"/>
                <a:ea typeface="Hanken Grotesk"/>
              </a:rPr>
              <a:t>Next up: Seaborn — statistical charts, built on everything you just learned.</a:t>
            </a:r>
            <a:endParaRPr lang="en-US" sz="1400" b="0" u="none" strike="noStrike">
              <a:solidFill>
                <a:srgbClr val="FFFFFF"/>
              </a:solidFill>
              <a:effectLst/>
              <a:uFillTx/>
              <a:latin typeface="Arial"/>
            </a:endParaRPr>
          </a:p>
        </p:txBody>
      </p:sp>
      <p:sp>
        <p:nvSpPr>
          <p:cNvPr id="1386" name="Text 6"/>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104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0F17"/>
        </a:solidFill>
      </p:bgPr>
    </p:bg>
    <p:spTree>
      <p:nvGrpSpPr>
        <p:cNvPr id="1" name=""/>
        <p:cNvGrpSpPr/>
        <p:nvPr/>
      </p:nvGrpSpPr>
      <p:grpSpPr>
        <a:xfrm>
          <a:off x="0" y="0"/>
          <a:ext cx="0" cy="0"/>
          <a:chOff x="0" y="0"/>
          <a:chExt cx="0" cy="0"/>
        </a:xfrm>
      </p:grpSpPr>
      <p:sp>
        <p:nvSpPr>
          <p:cNvPr id="1387" name="Shape 0"/>
          <p:cNvSpPr/>
          <p:nvPr/>
        </p:nvSpPr>
        <p:spPr>
          <a:xfrm>
            <a:off x="-1828800" y="-1828800"/>
            <a:ext cx="4571280" cy="4571280"/>
          </a:xfrm>
          <a:prstGeom prst="ellipse">
            <a:avLst/>
          </a:prstGeom>
          <a:solidFill>
            <a:srgbClr val="262758">
              <a:alpha val="45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88" name="Shape 1"/>
          <p:cNvSpPr/>
          <p:nvPr/>
        </p:nvSpPr>
        <p:spPr>
          <a:xfrm>
            <a:off x="9601200" y="4114800"/>
            <a:ext cx="4114080" cy="4114080"/>
          </a:xfrm>
          <a:prstGeom prst="ellipse">
            <a:avLst/>
          </a:prstGeom>
          <a:solidFill>
            <a:srgbClr val="4C112D">
              <a:alpha val="50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389" name="Image 0" descr="/home/claude/mpl/assets/logo_full.png"/>
          <p:cNvPicPr/>
          <p:nvPr/>
        </p:nvPicPr>
        <p:blipFill>
          <a:blip r:embed="rId1"/>
          <a:stretch/>
        </p:blipFill>
        <p:spPr>
          <a:xfrm>
            <a:off x="4632840" y="2286000"/>
            <a:ext cx="2925360" cy="950400"/>
          </a:xfrm>
          <a:prstGeom prst="rect">
            <a:avLst/>
          </a:prstGeom>
          <a:noFill/>
          <a:ln w="0">
            <a:noFill/>
          </a:ln>
        </p:spPr>
      </p:pic>
      <p:sp>
        <p:nvSpPr>
          <p:cNvPr id="1390" name="Text 3"/>
          <p:cNvSpPr/>
          <p:nvPr/>
        </p:nvSpPr>
        <p:spPr>
          <a:xfrm>
            <a:off x="0" y="3429000"/>
            <a:ext cx="12191040" cy="822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600" b="1" u="none" strike="noStrike">
                <a:solidFill>
                  <a:srgbClr val="F1F5F9"/>
                </a:solidFill>
                <a:effectLst/>
                <a:uFillTx/>
                <a:latin typeface="Bricolage Grotesque"/>
                <a:ea typeface="Bricolage Grotesque"/>
              </a:rPr>
              <a:t>Thank You</a:t>
            </a:r>
            <a:endParaRPr lang="en-US" sz="3600" b="0" u="none" strike="noStrike">
              <a:solidFill>
                <a:srgbClr val="FFFFFF"/>
              </a:solidFill>
              <a:effectLst/>
              <a:uFillTx/>
              <a:latin typeface="Arial"/>
            </a:endParaRPr>
          </a:p>
        </p:txBody>
      </p:sp>
      <p:sp>
        <p:nvSpPr>
          <p:cNvPr id="1391" name="Text 4"/>
          <p:cNvSpPr/>
          <p:nvPr/>
        </p:nvSpPr>
        <p:spPr>
          <a:xfrm>
            <a:off x="0" y="4160520"/>
            <a:ext cx="1219104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0" u="none" strike="noStrike">
                <a:solidFill>
                  <a:srgbClr val="94A3B8"/>
                </a:solidFill>
                <a:effectLst/>
                <a:uFillTx/>
                <a:latin typeface="Plus Jakarta Sans"/>
                <a:ea typeface="Plus Jakarta Sans"/>
              </a:rPr>
              <a:t>Matplotlib · AI &amp; ML Playground · CodeByPaxto</a:t>
            </a:r>
            <a:endParaRPr lang="en-US" sz="1300" b="0" u="none" strike="noStrike">
              <a:solidFill>
                <a:srgbClr val="FFFFFF"/>
              </a:solidFill>
              <a:effectLst/>
              <a:uFillTx/>
              <a:latin typeface="Arial"/>
            </a:endParaRPr>
          </a:p>
        </p:txBody>
      </p:sp>
      <p:sp>
        <p:nvSpPr>
          <p:cNvPr id="1392" name="Text 5"/>
          <p:cNvSpPr/>
          <p:nvPr/>
        </p:nvSpPr>
        <p:spPr>
          <a:xfrm>
            <a:off x="11505960" y="6473880"/>
            <a:ext cx="502200" cy="273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474651"/>
                </a:solidFill>
                <a:effectLst/>
                <a:uFillTx/>
                <a:latin typeface="Plus Jakarta Sans"/>
                <a:ea typeface="Plus Jakarta Sans"/>
              </a:rPr>
              <a:t>105</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16</TotalTime>
  <Application>LibreOffice/26.2.6.3$Linux_X86_64 LibreOffice_project/620$Build-3</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2026-09-23T02:05:21Z</dcterms:created>
  <dc:creator>PptxGenJS</dc:creator>
  <dc:description/>
  <dc:language>en-US</dc:language>
  <cp:lastModifiedBy/>
  <dcterms:modified xsi:type="dcterms:W3CDTF">2026-10-04T11:42:23Z</dcterms:modified>
  <cp:revision>14</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98</vt:i4>
  </property>
  <property fmtid="{D5CDD505-2E9C-101B-9397-08002B2CF9AE}" pid="3" name="PresentationFormat">
    <vt:lpwstr>On-screen Show (16:9)</vt:lpwstr>
  </property>
  <property fmtid="{D5CDD505-2E9C-101B-9397-08002B2CF9AE}" pid="4" name="Slides">
    <vt:i4>98</vt:i4>
  </property>
</Properties>
</file>