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354" r:id="rId103"/>
    <p:sldId id="355" r:id="rId104"/>
    <p:sldId id="356" r:id="rId105"/>
    <p:sldId id="278" r:id="rId26"/>
    <p:sldId id="279" r:id="rId27"/>
    <p:sldId id="357" r:id="rId106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58" r:id="rId107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59" r:id="rId108"/>
    <p:sldId id="360" r:id="rId109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2.xml"/><Relationship Id="rId52" Type="http://schemas.openxmlformats.org/officeDocument/2006/relationships/slide" Target="slides/slide53.xml"/><Relationship Id="rId53" Type="http://schemas.openxmlformats.org/officeDocument/2006/relationships/slide" Target="slides/slide54.xml"/><Relationship Id="rId54" Type="http://schemas.openxmlformats.org/officeDocument/2006/relationships/slide" Target="slides/slide55.xml"/><Relationship Id="rId55" Type="http://schemas.openxmlformats.org/officeDocument/2006/relationships/slide" Target="slides/slide56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4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slide" Target="slides/slide68.xml"/><Relationship Id="rId67" Type="http://schemas.openxmlformats.org/officeDocument/2006/relationships/slide" Target="slides/slide69.xml"/><Relationship Id="rId68" Type="http://schemas.openxmlformats.org/officeDocument/2006/relationships/slide" Target="slides/slide70.xml"/><Relationship Id="rId69" Type="http://schemas.openxmlformats.org/officeDocument/2006/relationships/slide" Target="slides/slide71.xml"/><Relationship Id="rId70" Type="http://schemas.openxmlformats.org/officeDocument/2006/relationships/slide" Target="slides/slide72.xml"/><Relationship Id="rId71" Type="http://schemas.openxmlformats.org/officeDocument/2006/relationships/slide" Target="slides/slide73.xml"/><Relationship Id="rId72" Type="http://schemas.openxmlformats.org/officeDocument/2006/relationships/slide" Target="slides/slide76.xml"/><Relationship Id="rId73" Type="http://schemas.openxmlformats.org/officeDocument/2006/relationships/slide" Target="slides/slide77.xml"/><Relationship Id="rId74" Type="http://schemas.openxmlformats.org/officeDocument/2006/relationships/slide" Target="slides/slide78.xml"/><Relationship Id="rId75" Type="http://schemas.openxmlformats.org/officeDocument/2006/relationships/slide" Target="slides/slide79.xml"/><Relationship Id="rId76" Type="http://schemas.openxmlformats.org/officeDocument/2006/relationships/slide" Target="slides/slide80.xml"/><Relationship Id="rId77" Type="http://schemas.openxmlformats.org/officeDocument/2006/relationships/slide" Target="slides/slide81.xml"/><Relationship Id="rId78" Type="http://schemas.openxmlformats.org/officeDocument/2006/relationships/slide" Target="slides/slide82.xml"/><Relationship Id="rId79" Type="http://schemas.openxmlformats.org/officeDocument/2006/relationships/slide" Target="slides/slide83.xml"/><Relationship Id="rId80" Type="http://schemas.openxmlformats.org/officeDocument/2006/relationships/slide" Target="slides/slide84.xml"/><Relationship Id="rId81" Type="http://schemas.openxmlformats.org/officeDocument/2006/relationships/slide" Target="slides/slide85.xml"/><Relationship Id="rId82" Type="http://schemas.openxmlformats.org/officeDocument/2006/relationships/slide" Target="slides/slide86.xml"/><Relationship Id="rId83" Type="http://schemas.openxmlformats.org/officeDocument/2006/relationships/slide" Target="slides/slide87.xml"/><Relationship Id="rId84" Type="http://schemas.openxmlformats.org/officeDocument/2006/relationships/slide" Target="slides/slide88.xml"/><Relationship Id="rId85" Type="http://schemas.openxmlformats.org/officeDocument/2006/relationships/slide" Target="slides/slide89.xml"/><Relationship Id="rId86" Type="http://schemas.openxmlformats.org/officeDocument/2006/relationships/slide" Target="slides/slide90.xml"/><Relationship Id="rId87" Type="http://schemas.openxmlformats.org/officeDocument/2006/relationships/slide" Target="slides/slide91.xml"/><Relationship Id="rId88" Type="http://schemas.openxmlformats.org/officeDocument/2006/relationships/slide" Target="slides/slide92.xml"/><Relationship Id="rId89" Type="http://schemas.openxmlformats.org/officeDocument/2006/relationships/slide" Target="slides/slide93.xml"/><Relationship Id="rId90" Type="http://schemas.openxmlformats.org/officeDocument/2006/relationships/slide" Target="slides/slide94.xml"/><Relationship Id="rId91" Type="http://schemas.openxmlformats.org/officeDocument/2006/relationships/slide" Target="slides/slide95.xml"/><Relationship Id="rId92" Type="http://schemas.openxmlformats.org/officeDocument/2006/relationships/slide" Target="slides/slide96.xml"/><Relationship Id="rId93" Type="http://schemas.openxmlformats.org/officeDocument/2006/relationships/slide" Target="slides/slide97.xml"/><Relationship Id="rId94" Type="http://schemas.openxmlformats.org/officeDocument/2006/relationships/slide" Target="slides/slide98.xml"/><Relationship Id="rId95" Type="http://schemas.openxmlformats.org/officeDocument/2006/relationships/slide" Target="slides/slide99.xml"/><Relationship Id="rId96" Type="http://schemas.openxmlformats.org/officeDocument/2006/relationships/slide" Target="slides/slide100.xml"/><Relationship Id="rId97" Type="http://schemas.openxmlformats.org/officeDocument/2006/relationships/slide" Target="slides/slide101.xml"/><Relationship Id="rId98" Type="http://schemas.openxmlformats.org/officeDocument/2006/relationships/slide" Target="slides/slide102.xml"/><Relationship Id="rId99" Type="http://schemas.openxmlformats.org/officeDocument/2006/relationships/slide" Target="slides/slide103.xml"/><Relationship Id="rId100" Type="http://schemas.openxmlformats.org/officeDocument/2006/relationships/slide" Target="slides/slide104.xml"/><Relationship Id="rId101" Type="http://schemas.openxmlformats.org/officeDocument/2006/relationships/slide" Target="slides/slide105.xml"/><Relationship Id="rId102" Type="http://schemas.openxmlformats.org/officeDocument/2006/relationships/presProps" Target="presProps.xml"/><Relationship Id="rId103" Type="http://schemas.openxmlformats.org/officeDocument/2006/relationships/slide" Target="slides/slide23.xml"/><Relationship Id="rId104" Type="http://schemas.openxmlformats.org/officeDocument/2006/relationships/slide" Target="slides/slide24.xml"/><Relationship Id="rId105" Type="http://schemas.openxmlformats.org/officeDocument/2006/relationships/slide" Target="slides/slide25.xml"/><Relationship Id="rId106" Type="http://schemas.openxmlformats.org/officeDocument/2006/relationships/slide" Target="slides/slide28.xml"/><Relationship Id="rId107" Type="http://schemas.openxmlformats.org/officeDocument/2006/relationships/slide" Target="slides/slide63.xml"/><Relationship Id="rId108" Type="http://schemas.openxmlformats.org/officeDocument/2006/relationships/slide" Target="slides/slide74.xml"/><Relationship Id="rId109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6A0D2AC-4E09-4429-BD2D-65F1D42226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036452-FD4E-41FA-994B-DCB6913AFE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94D7A4-DF38-489D-917C-78D753AAF6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A6A0DB-0CF5-4DCE-88CA-08C141E32B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2C70E6-5F06-4E38-8DBB-D75EFAD348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8273FE-268B-4D48-BA93-79ACD0F8C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89191-EFFD-407C-8FD3-03C9C1C6EE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B4D664-4CB6-44C4-BF2F-4F2F6B16EC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50A583-F47F-4ED2-BE8E-579A9103D3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9F1BB1-A4CF-4CA1-991A-9D5F78C42A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D612A-8980-47B1-A582-88036D3B9E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6033F-87DB-40D9-A536-A3486D6596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CF70C7-6889-4CA7-97E5-8F12AC635B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2142C8-70F0-42C1-B117-AC47E164B6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F8E440-BB1F-4621-AA95-0B80812BFF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F08F5-A265-4A86-A6D2-D70D4FCEB2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8FF706-64FB-4CA1-A0E4-4AF3C61288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D35671-BB5E-46DA-B7E9-B4D93254BC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B384D9-C970-4FF6-BFF2-A2BBEABE57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DCE54A-47E0-4DA6-9EEC-1D91AFB9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EDE1AC-E20C-4D3D-9ECE-168BB33542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F24747-EB0D-47F6-BC8A-E15B34E1D1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F214A6-5E51-4336-AD43-AA78543950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0D173F-DE77-4339-93A6-03BAFA9875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7F7B7D-1437-4266-BF73-9C10348822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204E6-7236-4960-A8A3-D853C67700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654FF-76D2-4A29-B54C-B90EF5F13A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FD8FC-705E-439A-A8C9-08A3370726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6FF2C2-ED6D-4589-A490-D94E57DB6A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80C57B-DFA0-45EC-8E52-B315C03078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089581-4863-4951-AAA6-B9AAD96A43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9A2D28-7EDA-4DB4-85E5-6A2BB7DEE5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750A65-B671-46ED-9BC1-5D6FA424B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1600F8-7E15-4AA3-B381-A9D6B7DF08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208F10-22F0-4019-9A31-1AA687BC1C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72902-86C6-4955-B6A3-DE0E842FF7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4A827D-8B77-4CC8-B0D4-23084596D6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1F5D0-658F-4158-BA59-9F8E1E46EA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468C7-60D6-4BB3-84EF-40BD4E0514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09EB5-75E6-4A50-AB5E-11D5799F33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AA46B9-30A8-4A6A-9E38-46722B6F4F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ADE4C5-51A7-42A3-9259-D0E8A5D514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60BFF-3677-44CD-B545-09030A047D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24AE03-86EA-4F49-956D-232995E51C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363749-7576-4685-B6F0-BED5DF999A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48A019-6F9D-4DA7-B6B3-15581518B8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DEBEF3-3E51-49C1-99ED-A2F85D815F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5B913-B429-496F-8D73-F24B50EE0F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C8AEEE-961D-48EB-A5B6-F1533A0ED4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5CBC34-2AD9-4049-AB8F-799C5F7D96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1B0EC2-8792-4994-A777-3B18AF5727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8C53C2-CAEE-4855-B1B2-AE19C88643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81D179-4447-4289-B117-F52E4AD7B0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B7BA07-3E52-4658-B717-64A37B727D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5EA33A-E9F4-4444-A1C9-B873F88642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39D09A-F54C-4C43-955B-4FA7769F2C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779DEF-BEA6-47D2-972F-E0C659FC09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8865E9-C5AD-4FBF-9389-BE270F124B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30F8F1-7A7C-4BC4-88CD-752AAD78E0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E82579-33D4-4848-A114-E081FC5A19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2C17D3-80A9-4A3D-ACD9-5D7F1B3E5C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72852-E2D9-41EE-BE7C-8CA151F148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727DE6-F36F-4CA9-9B41-ABFECCD126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CF0BD-BCEF-4EE6-A672-C6A608832F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C51C70-CCB8-41E7-A91A-240611BDF8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4EC76D-F415-4A53-AAED-707A51D44F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EE2FD1-9F6B-4A02-BF4E-3748FBA6FD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CE121-671D-49C3-8D7F-F60A8DD52D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D98E1E-96ED-4ED6-9D4C-A09B86BA4A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4AF99-32AB-41E3-93E3-4D56EBFB36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0820DB-1016-4D25-86C4-293759E687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1441F3-AFF7-48DE-8244-B155332027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051CD4-BAFF-461D-BF27-5BA1AD8C94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938472-162B-46E5-92CC-47C8633459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AF0C6-CFE9-43DB-91C8-BE5BBEC6DC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34EFF-06BC-4C75-8F48-3D9B7F773E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929A7D-E749-47D5-BD88-F82039494D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9DFE63-A35E-43D6-A5B4-AEC518866C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975276-A456-40AA-A2B1-717867FF2D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020CF-EDCF-4E4F-A398-23C1E5636D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EC2875-59DC-4D10-A6D9-C245E5D4FD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BAA903-CDC3-43DC-9045-C83C0AA1C6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45B850-0410-48FF-8C5E-8398E37454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B4F3C7-EEB6-4B2E-AB87-90E0B2B1E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CF5CE9-54DA-4543-BBA5-C6A127BFF8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E46FF3-E1C1-4735-940D-C7639C20FF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3A5575-E1D7-4CFC-B09C-931357EB96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DF9890-4892-4DAC-88C1-5510328B71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3A1D2-43EB-42B2-8830-216995FF6E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26807-CEA2-4636-B428-2C81E134E2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15DA9A-54B2-4DBF-8D5B-AA1F9400E1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D80BF2-F122-4500-9AE3-ED0226EB97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29229D-E785-40BC-810D-7CAC0CCCC4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3C8129-7D78-475F-88B1-3273579FC4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9D59CA-39D2-4879-8E7C-AC748DE3D7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8C43CF-0B65-4FA7-956C-AD808395E1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79263F-D900-470F-8B39-F52F32E8D4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38047-C73D-4FAA-961B-558E54C1D0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BD628-C5E7-4F21-B0A0-C525178686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8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9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4206240"/>
            <a:ext cx="4205880" cy="420588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mpl/assets/logo_full.png"/>
          <p:cNvPicPr/>
          <p:nvPr/>
        </p:nvPicPr>
        <p:blipFill>
          <a:blip r:embed="rId1"/>
          <a:stretch/>
        </p:blipFill>
        <p:spPr>
          <a:xfrm>
            <a:off x="685800" y="502920"/>
            <a:ext cx="2651400" cy="8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4"/>
          <p:cNvSpPr/>
          <p:nvPr/>
        </p:nvSpPr>
        <p:spPr>
          <a:xfrm>
            <a:off x="713160" y="2331720"/>
            <a:ext cx="402300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23317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AI &amp; ML PLAYGROUND  ·  MODULE 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8440" y="278892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416052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Turning numbers into pictures — the visualization foundation for Data Analytics and Machine Learning.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160" y="507492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51663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 xml:space="preserve">CodeByPaxto: The AI &amp; ML Playground  ·  Hafiz Waseem Ahmed (Paxto)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02920"/>
            <a:ext cx="40212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0"/>
          <p:cNvSpPr/>
          <p:nvPr/>
        </p:nvSpPr>
        <p:spPr>
          <a:xfrm>
            <a:off x="640080" y="11887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WHERE THIS FITS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40080" y="153612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AI &amp; ML Playground Roadmap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64008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8580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Python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173520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186336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190908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Math for 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295848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308664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313236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Git &amp; GitHub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18176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30992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35564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NumPy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540504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553320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557892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Pandas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662832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7"/>
          <p:cNvSpPr/>
          <p:nvPr/>
        </p:nvSpPr>
        <p:spPr>
          <a:xfrm>
            <a:off x="675648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680220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B0F17"/>
                </a:solidFill>
                <a:effectLst/>
                <a:uFillTx/>
                <a:latin typeface="Plus Jakarta Sans"/>
                <a:ea typeface="Plus Jakarta Sans"/>
              </a:rPr>
              <a:t>Matplotlib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785160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797976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802548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Seaborn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907488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920304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924876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Data Analytics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1029816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6"/>
          <p:cNvSpPr/>
          <p:nvPr/>
        </p:nvSpPr>
        <p:spPr>
          <a:xfrm>
            <a:off x="1042632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7"/>
          <p:cNvSpPr/>
          <p:nvPr/>
        </p:nvSpPr>
        <p:spPr>
          <a:xfrm>
            <a:off x="1047204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Supervised ML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8"/>
          <p:cNvSpPr/>
          <p:nvPr/>
        </p:nvSpPr>
        <p:spPr>
          <a:xfrm>
            <a:off x="640080" y="521208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You are here —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Matplotlib turns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clean arrays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and DataFrames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you built in NumPy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and Pandas into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visuals you can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actually reason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about, and it's the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visualization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language you'll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keep using all the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way through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Machine Learning.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WHAT WE'RE COVERING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Today's Roadmap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548640" y="155448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713160" y="16826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713160" y="210312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Foundations &amp; Terminology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4297680" y="155448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462200" y="16826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4462200" y="210312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Getting Started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8046720" y="155448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8211240" y="16826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8211240" y="210312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Pyplot &amp; Line 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548640" y="277992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713160" y="29077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713160" y="332856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Bar, Pie, Histogram, Scatter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4297680" y="277992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462200" y="29077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4462200" y="332856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Subplots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8046720" y="277992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8211240" y="29077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8211240" y="332856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Object-Oriented 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548640" y="400500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713160" y="41331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713160" y="455364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Controlling the View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4"/>
          <p:cNvSpPr/>
          <p:nvPr/>
        </p:nvSpPr>
        <p:spPr>
          <a:xfrm>
            <a:off x="4297680" y="400500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4462200" y="41331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4462200" y="455364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Color, Images &amp; Customization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8046720" y="400500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8211240" y="41331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9"/>
          <p:cNvSpPr/>
          <p:nvPr/>
        </p:nvSpPr>
        <p:spPr>
          <a:xfrm>
            <a:off x="8211240" y="455364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Text, Annotations &amp; Stats 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0"/>
          <p:cNvSpPr/>
          <p:nvPr/>
        </p:nvSpPr>
        <p:spPr>
          <a:xfrm>
            <a:off x="548640" y="523044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713160" y="53582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713160" y="577908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Saving Figures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3"/>
          <p:cNvSpPr/>
          <p:nvPr/>
        </p:nvSpPr>
        <p:spPr>
          <a:xfrm>
            <a:off x="4297680" y="523044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4"/>
          <p:cNvSpPr/>
          <p:nvPr/>
        </p:nvSpPr>
        <p:spPr>
          <a:xfrm>
            <a:off x="4462200" y="53582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5"/>
          <p:cNvSpPr/>
          <p:nvPr/>
        </p:nvSpPr>
        <p:spPr>
          <a:xfrm>
            <a:off x="4462200" y="577908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 &amp; Pandas Integration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6"/>
          <p:cNvSpPr/>
          <p:nvPr/>
        </p:nvSpPr>
        <p:spPr>
          <a:xfrm>
            <a:off x="8046720" y="523044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7"/>
          <p:cNvSpPr/>
          <p:nvPr/>
        </p:nvSpPr>
        <p:spPr>
          <a:xfrm>
            <a:off x="8211240" y="53582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8"/>
          <p:cNvSpPr/>
          <p:nvPr/>
        </p:nvSpPr>
        <p:spPr>
          <a:xfrm>
            <a:off x="8211240" y="577908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 for AI/ML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 · FOUNDATIONS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Foundations &amp; Terminology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19 core terms — the shared vocabulary you'll use for every chart you ever build in Matplotlib.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1–4 · Building Blocks of a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 Point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single (x, y) value plotted on a chart — one observation from your dataset.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X-axis / Y-axis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horizontal (X) and vertical (Y) reference lines a chart is measured against.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entire canvas or window that holds everything — like the picture frame.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Axes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One individual plot area inside a Figure — the thing you actually draw 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5–8 · Describing a Plot's Look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visual representation of data — a line, bar, scatter, etc. drawn on Axes.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Marker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symbol used for each data point — circle, triangle, x, and more.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Style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How a line looks — solid, dashed, dotted, dash-dot.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visual color assigned to a line, bar, marker, or fill.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9–12 · Labeling What You See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Legend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key that maps colors/markers to what they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represent.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Label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Text describing a data series, axis, or point.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Title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heading text that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names the whole chart.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Light background lines that help read values across a chart.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13–16 · The Language of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Functi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reusable block of code that performs a task, e.g. plt.plot().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Method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function that belongs to an object, e.g. ax.plot().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Parameters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inputs a function/method accepts, e.g. x, y in plt.plot(x, y).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Keyword Arguments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Named parameters passed as name=value, e.g. color="red".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17–19 · Structure, Quality &amp; Rendering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54864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118872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Object-Oriented API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71316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Building a chart via explicit fig and ax objects: ax.plot(), ax.set_title().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431280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44776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44776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495288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447768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Dots Per Inch — controls the resolution/sharpness of a saved or displayed figure.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807732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824184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824184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871740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Backend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824184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system Matplotlib uses to render or display a figure (screen, file, notebook).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 vs. Axes — Visualized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822960" y="1554480"/>
            <a:ext cx="5760360" cy="4205880"/>
          </a:xfrm>
          <a:prstGeom prst="roundRect">
            <a:avLst>
              <a:gd name="adj" fmla="val 3043"/>
            </a:avLst>
          </a:prstGeom>
          <a:solidFill>
            <a:srgbClr val="F0ECF4"/>
          </a:solidFill>
          <a:ln w="19050">
            <a:solidFill>
              <a:srgbClr val="5755A7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1005840" y="16642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Figure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1280160" y="2194560"/>
            <a:ext cx="484596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417320" y="22676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E185D"/>
                </a:solidFill>
                <a:effectLst/>
                <a:uFillTx/>
                <a:latin typeface="Bricolage Grotesque"/>
                <a:ea typeface="Bricolage Grotesque"/>
              </a:rPr>
              <a:t>Axes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1645920" y="4937760"/>
            <a:ext cx="4114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1645920" y="2651760"/>
            <a:ext cx="360" cy="22860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120640" y="50108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X-axis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371600" y="26517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2103120" y="2971800"/>
            <a:ext cx="3382920" cy="164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1"/>
          <p:cNvSpPr/>
          <p:nvPr/>
        </p:nvSpPr>
        <p:spPr>
          <a:xfrm>
            <a:off x="6903720" y="1691640"/>
            <a:ext cx="45716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Figure is the whole canvas — the entire window or image file.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Axes is one plot area living inside that Figure — it holds the actual X-axis, Y-axis, title, legend, and data.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Figure can contain many Axes (this is exactly what Subplots are, covered in Part 8).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plt.plot(), plt.title(), etc. call quietly targets "the current Axes" of "the current Figure."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Foundations &amp; Terminology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your own words, explain the difference between a Figure and an Axes.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Sketch a simple chart on paper and label its title, legend, X-axis, and Y-axis.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the difference between a function and a method, using plt.plot() and ax.plot() as your examples.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List two keyword arguments you'd expect plt.plot() to accept, and what each one controls.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Getting Started with Matplotlib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Installing,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importing, and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understanding the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basic workflow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before you plot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anything.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Installing &amp; Importing Matplotlib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548640" y="1691640"/>
            <a:ext cx="5486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Install once per environment: pip install matplotlib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pyplot module is the part we use most — it's imported with a standard alias, plt.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plt.show() renders the current Figure — in scripts it opens a window; in Jupyter it displays inline.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Nothing appears on screen until show() is called (in most environments) — building the plot and displaying it are two separate steps.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6309360" y="1691640"/>
            <a:ext cx="534888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647388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6"/>
          <p:cNvSpPr/>
          <p:nvPr/>
        </p:nvSpPr>
        <p:spPr>
          <a:xfrm>
            <a:off x="667512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7"/>
          <p:cNvSpPr/>
          <p:nvPr/>
        </p:nvSpPr>
        <p:spPr>
          <a:xfrm>
            <a:off x="687636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6510600" y="2075760"/>
            <a:ext cx="49464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one-time install (terminal)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2DD4BF"/>
                </a:solidFill>
                <a:effectLst/>
                <a:uFillTx/>
                <a:latin typeface="Cantarell"/>
                <a:ea typeface="Cantarell"/>
              </a:rPr>
              <a:t>pip install matplotlib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every notebook / script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818CF8"/>
                </a:solidFill>
                <a:effectLst/>
                <a:uFillTx/>
                <a:latin typeface="Cantarell"/>
                <a:ea typeface="Cantarell"/>
              </a:rPr>
              <a:t>import matplotlib.pyplot as plt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plt.plot([1, 2, 3], [4, 9, 16])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 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render it!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Basic Matplotlib Workflow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54864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73152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73152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Prepare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6"/>
          <p:cNvSpPr/>
          <p:nvPr/>
        </p:nvSpPr>
        <p:spPr>
          <a:xfrm>
            <a:off x="73152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Lists, NumPy arrays, or Pandas columns for X and 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3154680" y="1737360"/>
            <a:ext cx="182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333756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352044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352044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Create a Figure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352044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plt.figure() or plt.subplots() sets up the canvas.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2"/>
          <p:cNvSpPr/>
          <p:nvPr/>
        </p:nvSpPr>
        <p:spPr>
          <a:xfrm>
            <a:off x="5943600" y="1737360"/>
            <a:ext cx="182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3"/>
          <p:cNvSpPr/>
          <p:nvPr/>
        </p:nvSpPr>
        <p:spPr>
          <a:xfrm>
            <a:off x="612648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4"/>
          <p:cNvSpPr/>
          <p:nvPr/>
        </p:nvSpPr>
        <p:spPr>
          <a:xfrm>
            <a:off x="630936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630936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 &amp; customize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6"/>
          <p:cNvSpPr/>
          <p:nvPr/>
        </p:nvSpPr>
        <p:spPr>
          <a:xfrm>
            <a:off x="630936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plt.plot()/bar()/... then labels, title, legend, grid.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8732520" y="1737360"/>
            <a:ext cx="182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891540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909828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0"/>
          <p:cNvSpPr/>
          <p:nvPr/>
        </p:nvSpPr>
        <p:spPr>
          <a:xfrm>
            <a:off x="909828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Show or save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909828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plt.show() to view, plt.savefig() to export.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2"/>
          <p:cNvSpPr/>
          <p:nvPr/>
        </p:nvSpPr>
        <p:spPr>
          <a:xfrm>
            <a:off x="548640" y="4892040"/>
            <a:ext cx="11063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Two ways to build Figures: plt.figure() creates a blank canvas you plot onto with pyplot commands. plt.subplots() creates a Figure and one or more Axes at once, and hands them back to you — this is the door into the Object-Oriented API (Part 9).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APIs, One Library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548640" y="173736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777240" y="1965960"/>
            <a:ext cx="274284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777240" y="19659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PYPLOT / PROCEDURAL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777240" y="24231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Quick and direct. You call plt.___() functions and Matplotlib tracks "the current figure" for you.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777240" y="3337560"/>
            <a:ext cx="4754520" cy="2194200"/>
          </a:xfrm>
          <a:prstGeom prst="roundRect">
            <a:avLst>
              <a:gd name="adj" fmla="val 5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941760" y="348372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1143000" y="348372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1344240" y="348372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978480" y="3721680"/>
            <a:ext cx="43520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plt.title("Sales")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plt.xlabel("Month")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6217920" y="173736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6446520" y="1965960"/>
            <a:ext cx="2742840" cy="2923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6446520" y="19659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OBJECT-ORIENTED (OO)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5"/>
          <p:cNvSpPr/>
          <p:nvPr/>
        </p:nvSpPr>
        <p:spPr>
          <a:xfrm>
            <a:off x="6446520" y="24231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Explicit and scalable. You hold onto fig and ax objects and call methods on them directly.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6446520" y="3337560"/>
            <a:ext cx="4754520" cy="2194200"/>
          </a:xfrm>
          <a:prstGeom prst="roundRect">
            <a:avLst>
              <a:gd name="adj" fmla="val 5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6611040" y="348372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6812280" y="348372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9"/>
          <p:cNvSpPr/>
          <p:nvPr/>
        </p:nvSpPr>
        <p:spPr>
          <a:xfrm>
            <a:off x="7013520" y="348372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6647760" y="3721680"/>
            <a:ext cx="43520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fig, ax = plt.subplots()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ax.set_title("Sales")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ax.set_xlabel("Month")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24" name="Text 2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Your First Plot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matplotlib.pyplot as plt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[1, 2, 3, 4, 5]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y = [16, 40, 26, 50, 45]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34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9"/>
          <p:cNvSpPr/>
          <p:nvPr/>
        </p:nvSpPr>
        <p:spPr>
          <a:xfrm>
            <a:off x="6172200" y="507492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Three lists become three visual ideas: position along X, height along Y, and the connecting line between them. Every chart you'll build starts from this same idea.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Getting Started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Import matplotlib.pyplot and plot any 5 numbers of your choice against their squares.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a Figure with plt.figure() and a separate one with plt.subplots() — compare what each gives you back.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Predict what happens if you remove plt.show() from a script, then test it and see if you were right.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Rewrite one pyplot-style plot using the Object-Oriented style, without looking back at the slides.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Pyplot &amp; Line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deep, hands-on look at plt.plot() and everything that controls how a line chart looks and reads.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3"/>
          <p:cNvSpPr/>
          <p:nvPr/>
        </p:nvSpPr>
        <p:spPr>
          <a:xfrm>
            <a:off x="548640" y="1691640"/>
            <a:ext cx="484596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7"/>
          <p:cNvSpPr/>
          <p:nvPr/>
        </p:nvSpPr>
        <p:spPr>
          <a:xfrm>
            <a:off x="749880" y="2075760"/>
            <a:ext cx="444348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2DD4BF"/>
                </a:solidFill>
                <a:effectLst/>
                <a:uFillTx/>
                <a:latin typeface="Cantarell"/>
                <a:ea typeface="Cantarell"/>
              </a:rPr>
              <a:t>    x, y,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"color_name"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linestyle=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"line_style"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linewidth=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value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marker=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"marker_style"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"label_name"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378" name="Table 0"/>
          <p:cNvGraphicFramePr/>
          <p:nvPr/>
        </p:nvGraphicFramePr>
        <p:xfrm>
          <a:off x="5623560" y="1691640"/>
          <a:ext cx="6034680" cy="3931560"/>
        </p:xfrm>
        <a:graphic>
          <a:graphicData uri="http://schemas.openxmlformats.org/drawingml/2006/table">
            <a:tbl>
              <a:tblPr/>
              <a:tblGrid>
                <a:gridCol w="1931040"/>
                <a:gridCol w="410364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data being plotted — position and value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Line color — named color or hex code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linestyle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Solid, dashed, dotted, dash-dot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linewidth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Thickness of the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Symbol drawn at each data point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label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 shown for this line in the legend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9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Multiple Lines on One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days = ["Monday", "Tuesday", "Wednesday",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"Thursday", "Friday"]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sales = [120, 150, 100, 180, 160]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expenses = [80, 100, 90, 120, 110]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plt.plot(days, sales, label="Sales")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plt.plot(days, expenses, label="Expenses")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plt.title("Weekly Sales vs Expenses")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plt.xlabel("Weekdays")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plt.ylabel("Amount")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plt.legend()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89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290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9"/>
          <p:cNvSpPr/>
          <p:nvPr/>
        </p:nvSpPr>
        <p:spPr>
          <a:xfrm>
            <a:off x="6172200" y="4709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Two series, one Axes, one legend.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6172200" y="498348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Calling plt.plot() twice draws two lines on the same Axes.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Each label= becomes an entry once you call plt.legend().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Color &amp; Line Style Options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8" name="Table 0"/>
          <p:cNvGraphicFramePr/>
          <p:nvPr/>
        </p:nvGraphicFramePr>
        <p:xfrm>
          <a:off x="548640" y="1691640"/>
          <a:ext cx="5577480" cy="4023000"/>
        </p:xfrm>
        <a:graphic>
          <a:graphicData uri="http://schemas.openxmlformats.org/drawingml/2006/table">
            <a:tbl>
              <a:tblPr/>
              <a:tblGrid>
                <a:gridCol w="1784880"/>
                <a:gridCol w="3792600"/>
              </a:tblGrid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"red", "blue", "green"...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Named colors — the simplest way to set 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"#5755A7"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Hex codes — for precise, brand-exact colors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"-"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Solid line (the default)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"--"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Dashed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":"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Dotted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"-."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Dash-dot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9" name="Text 3"/>
          <p:cNvSpPr/>
          <p:nvPr/>
        </p:nvSpPr>
        <p:spPr>
          <a:xfrm>
            <a:off x="6446520" y="1691640"/>
            <a:ext cx="5211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color= accepts a named color ("red") or a hex string ("#BE185D") — both work identically.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linestyle= changes how the connecting line looks without touching the data at all.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These two parameters alone are often enough to tell two lines apart at a glance — even before a legend.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Markers &amp; Line Width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5" name="Table 0"/>
          <p:cNvGraphicFramePr/>
          <p:nvPr/>
        </p:nvGraphicFramePr>
        <p:xfrm>
          <a:off x="548640" y="1691640"/>
          <a:ext cx="5577480" cy="4023000"/>
        </p:xfrm>
        <a:graphic>
          <a:graphicData uri="http://schemas.openxmlformats.org/drawingml/2006/table">
            <a:tbl>
              <a:tblPr/>
              <a:tblGrid>
                <a:gridCol w="1784880"/>
                <a:gridCol w="3792600"/>
              </a:tblGrid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"o"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Circle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"x"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X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"^"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Triangle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"s"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Square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markersize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how big each marker is drawn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linewidth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how thick the connecting line 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6" name="Shape 3"/>
          <p:cNvSpPr/>
          <p:nvPr/>
        </p:nvSpPr>
        <p:spPr>
          <a:xfrm>
            <a:off x="644652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"/>
          <p:cNvSpPr/>
          <p:nvPr/>
        </p:nvSpPr>
        <p:spPr>
          <a:xfrm>
            <a:off x="661104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5"/>
          <p:cNvSpPr/>
          <p:nvPr/>
        </p:nvSpPr>
        <p:spPr>
          <a:xfrm>
            <a:off x="681228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701352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6647760" y="2075760"/>
            <a:ext cx="48092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x, y,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color="red",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linestyle=":",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linewidth=2,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marker="o",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label="Sales"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/>
      <p:sp>
        <p:nvSpPr>
          <p:cNvPr id="40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 xml:space="preserve"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 xml:space="preserve">Marker Styling — Face, Edge &amp; Size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/home/claude/mpl/assets/logo_icon.png"/>
          <p:cNvPicPr/>
          <p:nvPr/>
        </p:nvPicPr>
        <p:blipFill>
          <a:blip r:embed="rId2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5" name="Table 0"/>
          <p:cNvGraphicFramePr/>
          <p:nvPr/>
        </p:nvGraphicFramePr>
        <p:xfrm>
          <a:off x="548640" y="1691640"/>
          <a:ext cx="5577480" cy="4023000"/>
        </p:xfrm>
        <a:graphic>
          <a:graphicData uri="http://schemas.openxmlformats.org/drawingml/2006/table">
            <a:tbl>
              <a:tblPr/>
              <a:tblGrid>
                <a:gridCol w="1784880"/>
                <a:gridCol w="3792600"/>
              </a:tblGrid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markersize (ms)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Size of the marker symbol, in points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markerfacecolor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Fill color inside the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markeredgecolor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 of the marker’s outline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markeredgewidth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Thickness of that outline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Symbol: o s * + x D ^ v &lt; &gt; p h . 1–4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lw / 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Shorthand for linewidth / linestyle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6" name="Shape 3"/>
          <p:cNvSpPr/>
          <p:nvPr/>
        </p:nvSpPr>
        <p:spPr>
          <a:xfrm>
            <a:off x="644652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"/>
          <p:cNvSpPr/>
          <p:nvPr/>
        </p:nvSpPr>
        <p:spPr>
          <a:xfrm>
            <a:off x="661104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5"/>
          <p:cNvSpPr/>
          <p:nvPr/>
        </p:nvSpPr>
        <p:spPr>
          <a:xfrm>
            <a:off x="681228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701352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6647760" y="2075760"/>
            <a:ext cx="48092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x, y,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color="purple", lw=1, ls="-",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marker="s",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markersize=8,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markerfacecolor="yellow",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markeredgecolor="green",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markeredgewidth=3,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/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 xml:space="preserve"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 xml:space="preserve">Dashes, Draw Styles &amp; the Marker Catalog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2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line, = ax.plot(x, y, color="black", lw=1.5)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line.set_dashes([5, 50, 15, 50])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# draw 5pt, skip 50, draw 15, skip 50...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ax.plot(x, y, drawstyle="steps-post")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# staircase 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ax.plot(x, y, ls="-.", marker="D")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# markers: + o * s , . 1 2 3 4 D ^ v &lt; &gt; x p 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Four built-in line styles: "-" solid, "--" dashed, "-." dash-dot, ":" dotted. ls and lw are shorthand for linestyle and linewidth.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For a custom pattern, grab the Line2D object (note the comma in line, = ax.plot(...)) and call set_dashes([on, off, on, off, ...]) — values are in points.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"steps" is not a valid linestyle in current Matplotlib; use drawstyle="steps-post" (or "steps-pre", "steps-mid") for a staircase.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/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 xml:space="preserve"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 xml:space="preserve">Everything at Once — 16 Styled Lines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2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fig, ax = plt.subplots(figsize=(12, 6))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ax.plot(xaxis, xaxis*1, color="red", lw=0.25)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ax.plot(xaxis, xaxis*5, color="green",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    lw=3, ls="-.")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ax.plot(xaxis, xaxis*10, color="blue",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    lw=3, ls="--", marker="o")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ax.plot(xaxis, xaxis*16, color="purple",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    lw=1, marker="s", markersize=8,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    markerfacecolor="yellow",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    markeredgewidth=3,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    markeredgecolor="green")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4475988"/>
            <a:ext cx="5348880" cy="1421891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Real output of the notebook’s 16-line demo: widths, line styles, markers and marker colors on a single Axes.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9" name="Picture 1018" descr="lines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34924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Putting It All Together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plt.plot(months, sales, color="red",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linestyle=":", linewidth=2,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marker="o", label="Sales")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plt.plot(months, expenses, color="blue",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linestyle=":", linewidth=2,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marker="o", label="Expenses")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plt.title("Monthly Sales and Expenses")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plt.xlabel("Quarters")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plt.ylabel("Amount")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plt.legend(loc="lower right")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21" name="Shape 8"/>
          <p:cNvSpPr/>
          <p:nvPr/>
        </p:nvSpPr>
        <p:spPr>
          <a:xfrm>
            <a:off x="6172200" y="1691640"/>
            <a:ext cx="5486040" cy="3565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9"/>
          <p:cNvSpPr/>
          <p:nvPr/>
        </p:nvSpPr>
        <p:spPr>
          <a:xfrm>
            <a:off x="6172200" y="49834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color + linestyle + marker + label, combined.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Titles, Labels &amp; Legend Placement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9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plt.title("...")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the chart's overall title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plt.xlabel("...")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Names what the X-axis represents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plt.ylabel("...")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Names what the Y-axis represents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plt.legend()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Draws the legend using each label=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plt.legend(loc="upper left")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Places the legend in a specific corner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plt.legend(loc="best")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Lets Matplotlib pick the least crowded spot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0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/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 xml:space="preserve"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 xml:space="preserve">Styling Text — fontsize, fontweight, pad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2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plt.title(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"Product Sale Comparison",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fontweight="bold",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fontsize=14,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pad=15,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    color="#3A3C3A",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plt.xlabel("Product", color="#333333")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plt.ylabel("Sales", color="#333333")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plt.tight_layout()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Text functions — title(), xlabel(), ylabel() — accept style arguments: fontsize, fontweight ("bold"), and color (a name or hex code).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pad= adds space (in points) between the title and the plot, so a bold title doesn’t crowd the top edge.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tight_layout() adjusts spacing so labels and titles don’t overlap or get cut off — call it just before show() or savefig().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Controlling Ticks: xticks() &amp; yticks()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54864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7"/>
          <p:cNvSpPr/>
          <p:nvPr/>
        </p:nvSpPr>
        <p:spPr>
          <a:xfrm>
            <a:off x="749880" y="2075760"/>
            <a:ext cx="48092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plt.xticks(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[0, 3, 6, 9],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["Q1", "Q2", "Q3", "Q4"]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plt.yticks(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[50, 150, 250, 350],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["50-150", "150-250",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"250-350", "350+"]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40" name="Text 8"/>
          <p:cNvSpPr/>
          <p:nvPr/>
        </p:nvSpPr>
        <p:spPr>
          <a:xfrm>
            <a:off x="6035040" y="1691640"/>
            <a:ext cx="56232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default, ticks are placed automatically at even, readable intervals.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Pass a list of positions plus a list of custom labels to relabel any tick — great for grouping 12 months into 4 quarters.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position list and label list must be the same length, matched one-to-one.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for renaming raw values into ranges or categories readers understand instantly.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Grid — plt.grid()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6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plt.grid()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Turns the grid on (default style)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plt.grid(False)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Turns the grid off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axis="x" / "y" / "both"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Show only vertical, only horizontal, or both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linestyle=":"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Style of the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linewidth=0.5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Thickness of the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alpha=0.5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Transparency of the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7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Setting the Range: plt.ylim()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3"/>
          <p:cNvSpPr/>
          <p:nvPr/>
        </p:nvSpPr>
        <p:spPr>
          <a:xfrm>
            <a:off x="548640" y="1691640"/>
            <a:ext cx="5211720" cy="2011320"/>
          </a:xfrm>
          <a:prstGeom prst="roundRect">
            <a:avLst>
              <a:gd name="adj" fmla="val 545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7"/>
          <p:cNvSpPr/>
          <p:nvPr/>
        </p:nvSpPr>
        <p:spPr>
          <a:xfrm>
            <a:off x="749880" y="2075760"/>
            <a:ext cx="480924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plt.ylim(0, 350)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# also available: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plt.xlim(min_val, max_val)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57" name="Text 8"/>
          <p:cNvSpPr/>
          <p:nvPr/>
        </p:nvSpPr>
        <p:spPr>
          <a:xfrm>
            <a:off x="548640" y="3886200"/>
            <a:ext cx="5211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plt.ylim(min, max) fixes the visible Y-axis range instead of letting Matplotlib auto-scale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for keeping axis ranges consistent when comparing several charts side by side.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plt.xlim() does the same thing for the X-axis.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9"/>
          <p:cNvSpPr/>
          <p:nvPr/>
        </p:nvSpPr>
        <p:spPr>
          <a:xfrm>
            <a:off x="6035040" y="1691640"/>
            <a:ext cx="56232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10"/>
          <p:cNvSpPr/>
          <p:nvPr/>
        </p:nvSpPr>
        <p:spPr>
          <a:xfrm>
            <a:off x="6035040" y="544068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ylim(0, 350) keeps the chart's scale predictable.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Pyplot &amp; Line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Plot monthly expenses vs. income as two lines, then restyle one with a dashed line, square markers, a yellow marker face, and a thick green marker edge.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legend, title, and axis labels to the chart above.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Relabel your X-axis ticks to show quarters instead of individual months.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Fix the Y-axis range with plt.ylim() so two related charts stay visually comparable.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Bar Charts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Comparing categories side by side with plt.bar() and plt.barh().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33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plt.bar()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3"/>
          <p:cNvSpPr/>
          <p:nvPr/>
        </p:nvSpPr>
        <p:spPr>
          <a:xfrm>
            <a:off x="548640" y="1691640"/>
            <a:ext cx="5028840" cy="3382920"/>
          </a:xfrm>
          <a:prstGeom prst="roundRect">
            <a:avLst>
              <a:gd name="adj" fmla="val 3243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7"/>
          <p:cNvSpPr/>
          <p:nvPr/>
        </p:nvSpPr>
        <p:spPr>
          <a:xfrm>
            <a:off x="749880" y="2075760"/>
            <a:ext cx="4626360" cy="28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plt.bar(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x,        # category positions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height,   # bar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color="color_name",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width=value,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label="label_name"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502" name="Table 0"/>
          <p:cNvGraphicFramePr/>
          <p:nvPr/>
        </p:nvGraphicFramePr>
        <p:xfrm>
          <a:off x="5806440" y="1691640"/>
          <a:ext cx="5851800" cy="3382920"/>
        </p:xfrm>
        <a:graphic>
          <a:graphicData uri="http://schemas.openxmlformats.org/drawingml/2006/table">
            <a:tbl>
              <a:tblPr/>
              <a:tblGrid>
                <a:gridCol w="1872360"/>
                <a:gridCol w="3979440"/>
              </a:tblGrid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Category names or positions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height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Values represented by each bar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Bar fill 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How wide each bar is drawn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label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 used in the legend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3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Grouped Bars — Comparing Two Series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np.arange(len(products))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width = 0.4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plt.bar(x - width/2, sales_2026,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width=width, color="orange",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label="Sales 2026")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plt.bar(x + width/2, sales_2025,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width=width, color="blue",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label="Sales 2025")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plt.xticks(x, products)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plt.legend()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13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Image 1" descr="/home/claude/mpl/charts/bar_grouped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 9"/>
          <p:cNvSpPr/>
          <p:nvPr/>
        </p:nvSpPr>
        <p:spPr>
          <a:xfrm>
            <a:off x="6172200" y="507492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np.arange() gives evenly spaced positions; shifting each series by ± width/2 sits the two bars side by side instead of stacking on top of each other.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Horizontal Bars — plt.barh()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plt.barh(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languages,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repositories,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color="teal"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plt.xlabel("Repositories")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26" name="Text 8"/>
          <p:cNvSpPr/>
          <p:nvPr/>
        </p:nvSpPr>
        <p:spPr>
          <a:xfrm>
            <a:off x="548640" y="4617720"/>
            <a:ext cx="521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plt.barh() flips the orientation — categories run down the Y-axis instead of across the X-axis.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Ideal when category names are long, or when you have many categories to list.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9"/>
          <p:cNvSpPr/>
          <p:nvPr/>
        </p:nvSpPr>
        <p:spPr>
          <a:xfrm>
            <a:off x="6035040" y="1691640"/>
            <a:ext cx="5623200" cy="42516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8" name="Image 1" descr="/home/claude/mpl/charts/bar_horizontal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Quick Reference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4" name="Table 0"/>
          <p:cNvGraphicFramePr/>
          <p:nvPr/>
        </p:nvGraphicFramePr>
        <p:xfrm>
          <a:off x="548640" y="1691640"/>
          <a:ext cx="11109600" cy="35661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plt.bar(x, height)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Vertical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plt.barh(y, width)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Horizontal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width=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bar thickness (vertical bars)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x ± width/2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trick for placing grouped bars side by side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color=[list]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Assign a different color per bar or series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Bar Charts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the number of hours you studied each day this week as a bar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Turn it into a grouped bar chart comparing this week vs. last week.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your chart to horizontal bars using plt.barh().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Give each bar a distinct color and a label so a legend makes sense.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Pie Charts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Showing how a whole splits into parts with plt.pie().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39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plt.pie()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"/>
          <p:cNvSpPr/>
          <p:nvPr/>
        </p:nvSpPr>
        <p:spPr>
          <a:xfrm>
            <a:off x="548640" y="1691640"/>
            <a:ext cx="493740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7"/>
          <p:cNvSpPr/>
          <p:nvPr/>
        </p:nvSpPr>
        <p:spPr>
          <a:xfrm>
            <a:off x="749880" y="2075760"/>
            <a:ext cx="453492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plt.pie(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values,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labels=labels_list,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colors=color_list,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autopct="%1.1f%%",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startangle=90,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explode=(0.05,0,0,0)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576" name="Table 0"/>
          <p:cNvGraphicFramePr/>
          <p:nvPr/>
        </p:nvGraphicFramePr>
        <p:xfrm>
          <a:off x="5715000" y="1691640"/>
          <a:ext cx="5943240" cy="3931560"/>
        </p:xfrm>
        <a:graphic>
          <a:graphicData uri="http://schemas.openxmlformats.org/drawingml/2006/table">
            <a:tbl>
              <a:tblPr/>
              <a:tblGrid>
                <a:gridCol w="1901880"/>
                <a:gridCol w="404136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values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Numerical values behind each slice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Names shown for each slice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colors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Colors for each slice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autopct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Displays each slice's percentage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startangle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Rotates where the first slice begins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explode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Pulls a slice outward to highlight 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7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Revenue Share by Region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548640" y="169164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749880" y="2075760"/>
            <a:ext cx="480924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regions = ["North", "South",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"East", "West"]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revenue = [3000, 2000, 1500, 1000]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plt.pie(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revenue,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labels=regions,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autopct="%1.1f%%",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colors=["teal", "skyblue",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"lightgreen", "coral"]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87" name="Shape 8"/>
          <p:cNvSpPr/>
          <p:nvPr/>
        </p:nvSpPr>
        <p:spPr>
          <a:xfrm>
            <a:off x="6035040" y="1691640"/>
            <a:ext cx="56232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1" descr="/home/claude/mpl/charts/pie_revenue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When to Use — and Avoid — Pie Charts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548640" y="1737360"/>
            <a:ext cx="5303160" cy="3931560"/>
          </a:xfrm>
          <a:prstGeom prst="roundRect">
            <a:avLst>
              <a:gd name="adj" fmla="val 2791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777240" y="1920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✓  Good fit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777240" y="2423160"/>
            <a:ext cx="48459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few categories (2–5)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Parts clearly add up to one whole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You want a quick "share of total" impression, not precise comparison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6"/>
          <p:cNvSpPr/>
          <p:nvPr/>
        </p:nvSpPr>
        <p:spPr>
          <a:xfrm>
            <a:off x="6309360" y="1737360"/>
            <a:ext cx="5303160" cy="3931560"/>
          </a:xfrm>
          <a:prstGeom prst="roundRect">
            <a:avLst>
              <a:gd name="adj" fmla="val 2791"/>
            </a:avLst>
          </a:prstGeom>
          <a:solidFill>
            <a:srgbClr val="E07A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7"/>
          <p:cNvSpPr/>
          <p:nvPr/>
        </p:nvSpPr>
        <p:spPr>
          <a:xfrm>
            <a:off x="6537960" y="1920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0523"/>
                </a:solidFill>
                <a:effectLst/>
                <a:uFillTx/>
                <a:latin typeface="Bricolage Grotesque"/>
                <a:ea typeface="Bricolage Grotesque"/>
              </a:rPr>
              <a:t>✕  Avoid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6537960" y="2423160"/>
            <a:ext cx="48459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Many categories (8+) — slices become unreadable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Values are close together — humans compare angles poorly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You need to track change over time — use a line chart instead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Pie Charts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pie chart showing how you'd split a 24-hour day into categories (sleep, work, study, etc.).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autopct to show percentages, and explode your largest slice.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Re-plot the same data as a bar chart, and decide which one communicates it better — and why.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Hi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st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og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ra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Understanding how a numerical variable is distributed with plt.hist().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44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plt.hist()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plt.hist(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data,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bins=number_of_bins,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color="color_name",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edgecolor="black"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637" name="Table 0"/>
          <p:cNvGraphicFramePr/>
          <p:nvPr/>
        </p:nvGraphicFramePr>
        <p:xfrm>
          <a:off x="6035040" y="1691640"/>
          <a:ext cx="5623200" cy="2743200"/>
        </p:xfrm>
        <a:graphic>
          <a:graphicData uri="http://schemas.openxmlformats.org/drawingml/2006/table">
            <a:tbl>
              <a:tblPr/>
              <a:tblGrid>
                <a:gridCol w="1799280"/>
                <a:gridCol w="3823920"/>
              </a:tblGrid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Numerical data to distribute into bins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bins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Number of intervals/groups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Fill color of the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edgecolor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Border color of each bar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Score Distribution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scores = [45, 52, 58, 61, 63, 67, 69,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70, 72, 74, 75, 77, 79, 81,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83, 85, 87, 89, 92, 95]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plt.hist(scores, bins=5,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color="orange", edgecolor="black")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plt.xlabel("Scores")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plt.ylabel("Number of Students")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plt.title("Score Distribution")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648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9" name="Image 1" descr="/home/claude/mpl/charts/hist_scor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Understanding Bins, and Histogram vs. Bar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3"/>
          <p:cNvSpPr/>
          <p:nvPr/>
        </p:nvSpPr>
        <p:spPr>
          <a:xfrm>
            <a:off x="548640" y="1691640"/>
            <a:ext cx="5394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bin is a range of values — bins=5 splits the data into 5 equal-width ranges and counts how many values fall in each.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Fewer bins = smoother, more general shape. More bins = finer detail, but noisier.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4"/>
          <p:cNvSpPr/>
          <p:nvPr/>
        </p:nvSpPr>
        <p:spPr>
          <a:xfrm>
            <a:off x="548640" y="3703320"/>
            <a:ext cx="539460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5"/>
          <p:cNvSpPr/>
          <p:nvPr/>
        </p:nvSpPr>
        <p:spPr>
          <a:xfrm>
            <a:off x="731520" y="3840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Histogram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6"/>
          <p:cNvSpPr/>
          <p:nvPr/>
        </p:nvSpPr>
        <p:spPr>
          <a:xfrm>
            <a:off x="731520" y="425196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Numerical data grouped into ranges. Bars touch — the X-axis is continuous.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7"/>
          <p:cNvSpPr/>
          <p:nvPr/>
        </p:nvSpPr>
        <p:spPr>
          <a:xfrm>
            <a:off x="6126480" y="3703320"/>
            <a:ext cx="5394600" cy="1965600"/>
          </a:xfrm>
          <a:prstGeom prst="roundRect">
            <a:avLst>
              <a:gd name="adj" fmla="val 465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8"/>
          <p:cNvSpPr/>
          <p:nvPr/>
        </p:nvSpPr>
        <p:spPr>
          <a:xfrm>
            <a:off x="6309360" y="3840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Bar Chart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9"/>
          <p:cNvSpPr/>
          <p:nvPr/>
        </p:nvSpPr>
        <p:spPr>
          <a:xfrm>
            <a:off x="6309360" y="425196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Distinct categories, each with its own value. Bars are separated — the X-axis is categorical.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0"/>
          <p:cNvSpPr/>
          <p:nvPr/>
        </p:nvSpPr>
        <p:spPr>
          <a:xfrm>
            <a:off x="6172200" y="1691640"/>
            <a:ext cx="5486040" cy="1828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3" name="Image 1" descr="/home/claude/mpl/charts/hist_scor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16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4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Histograms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Invent 20 numbers (e.g. quiz scores) and plot a histogram with 5 bins.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Re-plot the same data with 10 bins and compare what changes.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edgecolor so individual bars are easier to tell apart.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in one sentence, why this data couldn't be shown as a regular bar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Scatter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Seeing the relationship between two numerical variables with plt.scatter().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49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plt.scatter()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3"/>
          <p:cNvSpPr/>
          <p:nvPr/>
        </p:nvSpPr>
        <p:spPr>
          <a:xfrm>
            <a:off x="548640" y="1691640"/>
            <a:ext cx="493740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7"/>
          <p:cNvSpPr/>
          <p:nvPr/>
        </p:nvSpPr>
        <p:spPr>
          <a:xfrm>
            <a:off x="749880" y="2075760"/>
            <a:ext cx="453492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plt.scatter(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x,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marker="style",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s=size,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alpha=transparency,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label="label_name"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705" name="Table 0"/>
          <p:cNvGraphicFramePr/>
          <p:nvPr/>
        </p:nvGraphicFramePr>
        <p:xfrm>
          <a:off x="5715000" y="1691640"/>
          <a:ext cx="5943240" cy="3931560"/>
        </p:xfrm>
        <a:graphic>
          <a:graphicData uri="http://schemas.openxmlformats.org/drawingml/2006/table">
            <a:tbl>
              <a:tblPr/>
              <a:tblGrid>
                <a:gridCol w="1901880"/>
                <a:gridCol w="404136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Data for the X-axis and Y-axis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 of the points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Shape/style of the points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Size of each point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alpha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Transparency (0 = invisible, 1 = solid)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label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 used in the legend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6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Study Hours vs. Exam Scores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plt.scatter(hours_studied, exam_scores,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color="green", marker="^",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label="Hours Studied vs Exam 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plt.scatter(social_media_hours,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social_media_scores,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color="red", marker="x",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label="Social Media vs Exam 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plt.xlabel("Hours")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plt.ylabel("Exam 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plt.legend(loc="best")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16" name="Shape 8"/>
          <p:cNvSpPr/>
          <p:nvPr/>
        </p:nvSpPr>
        <p:spPr>
          <a:xfrm>
            <a:off x="6263640" y="1691640"/>
            <a:ext cx="53946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7" name="Image 1" descr="/home/claude/mpl/charts/scatter_study.png"/>
          <p:cNvPicPr/>
          <p:nvPr/>
        </p:nvPicPr>
        <p:blipFill>
          <a:blip r:embed="rId2"/>
          <a:stretch/>
        </p:blipFill>
        <p:spPr>
          <a:xfrm>
            <a:off x="6373440" y="1801440"/>
            <a:ext cx="517500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Reading Relationships Visually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3"/>
          <p:cNvSpPr/>
          <p:nvPr/>
        </p:nvSpPr>
        <p:spPr>
          <a:xfrm>
            <a:off x="548640" y="1737360"/>
            <a:ext cx="361152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4"/>
          <p:cNvSpPr/>
          <p:nvPr/>
        </p:nvSpPr>
        <p:spPr>
          <a:xfrm>
            <a:off x="731520" y="1920240"/>
            <a:ext cx="3245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Positive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5"/>
          <p:cNvSpPr/>
          <p:nvPr/>
        </p:nvSpPr>
        <p:spPr>
          <a:xfrm>
            <a:off x="731520" y="2514600"/>
            <a:ext cx="32457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As X increases, Y tends to increase too — points trend up and to the right.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6"/>
          <p:cNvSpPr/>
          <p:nvPr/>
        </p:nvSpPr>
        <p:spPr>
          <a:xfrm>
            <a:off x="4297680" y="1737360"/>
            <a:ext cx="361152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7"/>
          <p:cNvSpPr/>
          <p:nvPr/>
        </p:nvSpPr>
        <p:spPr>
          <a:xfrm>
            <a:off x="4480560" y="1920240"/>
            <a:ext cx="3245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Negative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8"/>
          <p:cNvSpPr/>
          <p:nvPr/>
        </p:nvSpPr>
        <p:spPr>
          <a:xfrm>
            <a:off x="4480560" y="2514600"/>
            <a:ext cx="32457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As X increases, Y tends </a:t>
            </a: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to decrease — points </a:t>
            </a: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trend down and to the </a:t>
            </a: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right.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9"/>
          <p:cNvSpPr/>
          <p:nvPr/>
        </p:nvSpPr>
        <p:spPr>
          <a:xfrm>
            <a:off x="8046720" y="1737360"/>
            <a:ext cx="361152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0"/>
          <p:cNvSpPr/>
          <p:nvPr/>
        </p:nvSpPr>
        <p:spPr>
          <a:xfrm>
            <a:off x="8229600" y="1920240"/>
            <a:ext cx="3245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No clear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1"/>
          <p:cNvSpPr/>
          <p:nvPr/>
        </p:nvSpPr>
        <p:spPr>
          <a:xfrm>
            <a:off x="8229600" y="2514600"/>
            <a:ext cx="32457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Points scatter with no visible pattern — X doesn't predict 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2"/>
          <p:cNvSpPr/>
          <p:nvPr/>
        </p:nvSpPr>
        <p:spPr>
          <a:xfrm>
            <a:off x="548640" y="5486400"/>
            <a:ext cx="1110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This is exactly the kind of visual reasoning you'll use constantly in EDA (Exploratory Data Analysis) and when checking relationships between features before training a model.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Scatter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hours of sleep vs. focus level (invent 10 data points) as a scatter plot.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Adjust alpha and s until overlapping points become easy to read.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second dataset to the same chart using a different marker and color.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Decide whether your data shows positive, negative, or no correlation — and say why.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Subplots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Figure, several Axes — building multi-panel charts side by side.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54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One Figure, Many Axes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3"/>
          <p:cNvSpPr/>
          <p:nvPr/>
        </p:nvSpPr>
        <p:spPr>
          <a:xfrm>
            <a:off x="548640" y="1691640"/>
            <a:ext cx="6034680" cy="39315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0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658440" y="1801440"/>
            <a:ext cx="5815080" cy="35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Text 4"/>
          <p:cNvSpPr/>
          <p:nvPr/>
        </p:nvSpPr>
        <p:spPr>
          <a:xfrm>
            <a:off x="548640" y="534924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One Figure holding two Axes, side by side.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5"/>
          <p:cNvSpPr/>
          <p:nvPr/>
        </p:nvSpPr>
        <p:spPr>
          <a:xfrm>
            <a:off x="6903720" y="1691640"/>
            <a:ext cx="47545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subplot is simply an additional Axes placed inside the same Figure.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choose a grid of rows × columns, and each Axes gets its own position in that grid.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Axes still has its own title, labels, legend, and grid — they just share one Figure/canvas.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where the Figure vs. Axes distinction from Part 1 becomes genuinely useful.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plt.subplot() — The Classic Way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plt.subplot(nrows, ncols, index)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# index is 1-based, not 0-based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plt.subplot(1, 2, 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plt.plot(x, repositories, marker="o")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plt.title("Programming Languages")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plt.subplot(1, 2, 2)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plt.bar(x, repositories)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plt.title("Repositories by Language")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83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4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Text 9"/>
          <p:cNvSpPr/>
          <p:nvPr/>
        </p:nvSpPr>
        <p:spPr>
          <a:xfrm>
            <a:off x="6172200" y="507492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Each plt.subplot(...) call selects a new active Axes — commands after it apply to that panel only.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plt.subplots() — The Modern Way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fig, ax = plt.subplots(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1, 2,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figsize=(10, 5)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ax[0].plot(x, repositories, marker="o")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ax[0].set_title("Line Graph")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ax[1].bar(x, repositories)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ax[1].set_title("Bar Chart")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plt.tight_layout()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96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7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8" name="Text 9"/>
          <p:cNvSpPr/>
          <p:nvPr/>
        </p:nvSpPr>
        <p:spPr>
          <a:xfrm>
            <a:off x="6172200" y="507492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fig, ax = plt.subplots(...) hands back the Figure and an array of Axes in one line — the foundation of the Object-Oriented API (Part 9).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Quick Reference: Sizing &amp; Layout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04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figsize=(w, h)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the Figure's width and height, in inches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plt.tight_layout()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Automatically fixes spacing so titles/labels don't overlap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sharex=True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All Axes in a grid share one X-axis scale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sharey=True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All Axes in a grid share one Y-axis scale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fig, ax = plt.subplots(rows, cols)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Creates a Figure and a grid of Axes together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5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Subplots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a 1×2 subplot grid with plt.subplots() showing a line chart and a bar chart of the same data.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one shared title for the whole Figure using fig.suptitle().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plt.tight_layout() and observe exactly what it changes.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Rebuild the same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layout using the older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plt.subplot() approach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instead.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8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59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9 · OBJECT-ORIENTED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Object-Oriented API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same charts, built by talking to fig and ax directly — the pattern behind every real Matplotlib project.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60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Pyplot vs. Object-Oriented — Side by Side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3"/>
          <p:cNvSpPr/>
          <p:nvPr/>
        </p:nvSpPr>
        <p:spPr>
          <a:xfrm>
            <a:off x="54864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4"/>
          <p:cNvSpPr/>
          <p:nvPr/>
        </p:nvSpPr>
        <p:spPr>
          <a:xfrm>
            <a:off x="777240" y="1892880"/>
            <a:ext cx="146268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5"/>
          <p:cNvSpPr/>
          <p:nvPr/>
        </p:nvSpPr>
        <p:spPr>
          <a:xfrm>
            <a:off x="777240" y="1892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PYPLOT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6"/>
          <p:cNvSpPr/>
          <p:nvPr/>
        </p:nvSpPr>
        <p:spPr>
          <a:xfrm>
            <a:off x="777240" y="2468880"/>
            <a:ext cx="4754520" cy="1554120"/>
          </a:xfrm>
          <a:prstGeom prst="roundRect">
            <a:avLst>
              <a:gd name="adj" fmla="val 7059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7"/>
          <p:cNvSpPr/>
          <p:nvPr/>
        </p:nvSpPr>
        <p:spPr>
          <a:xfrm>
            <a:off x="941760" y="261504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8"/>
          <p:cNvSpPr/>
          <p:nvPr/>
        </p:nvSpPr>
        <p:spPr>
          <a:xfrm>
            <a:off x="1143000" y="261504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9"/>
          <p:cNvSpPr/>
          <p:nvPr/>
        </p:nvSpPr>
        <p:spPr>
          <a:xfrm>
            <a:off x="1344240" y="261504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0"/>
          <p:cNvSpPr/>
          <p:nvPr/>
        </p:nvSpPr>
        <p:spPr>
          <a:xfrm>
            <a:off x="978480" y="2853000"/>
            <a:ext cx="43520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1"/>
          <p:cNvSpPr/>
          <p:nvPr/>
        </p:nvSpPr>
        <p:spPr>
          <a:xfrm>
            <a:off x="777240" y="420624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Implicit — Matplotlib tracks the "current" figure and axes behind the scenes.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12"/>
          <p:cNvSpPr/>
          <p:nvPr/>
        </p:nvSpPr>
        <p:spPr>
          <a:xfrm>
            <a:off x="621792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13"/>
          <p:cNvSpPr/>
          <p:nvPr/>
        </p:nvSpPr>
        <p:spPr>
          <a:xfrm>
            <a:off x="6446520" y="1892880"/>
            <a:ext cx="1828440" cy="2923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14"/>
          <p:cNvSpPr/>
          <p:nvPr/>
        </p:nvSpPr>
        <p:spPr>
          <a:xfrm>
            <a:off x="6446520" y="189288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OBJECT-ORIENTED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15"/>
          <p:cNvSpPr/>
          <p:nvPr/>
        </p:nvSpPr>
        <p:spPr>
          <a:xfrm>
            <a:off x="6446520" y="2468880"/>
            <a:ext cx="4754520" cy="1554120"/>
          </a:xfrm>
          <a:prstGeom prst="roundRect">
            <a:avLst>
              <a:gd name="adj" fmla="val 7059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16"/>
          <p:cNvSpPr/>
          <p:nvPr/>
        </p:nvSpPr>
        <p:spPr>
          <a:xfrm>
            <a:off x="6611040" y="261504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17"/>
          <p:cNvSpPr/>
          <p:nvPr/>
        </p:nvSpPr>
        <p:spPr>
          <a:xfrm>
            <a:off x="6812280" y="261504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18"/>
          <p:cNvSpPr/>
          <p:nvPr/>
        </p:nvSpPr>
        <p:spPr>
          <a:xfrm>
            <a:off x="7013520" y="261504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19"/>
          <p:cNvSpPr/>
          <p:nvPr/>
        </p:nvSpPr>
        <p:spPr>
          <a:xfrm>
            <a:off x="6647760" y="2853000"/>
            <a:ext cx="43520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ax.set_title("Sales")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20"/>
          <p:cNvSpPr/>
          <p:nvPr/>
        </p:nvSpPr>
        <p:spPr>
          <a:xfrm>
            <a:off x="6446520" y="420624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Explicit — you name exactly which Axes you're drawing on, every time.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Meet fig and ax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3"/>
          <p:cNvSpPr/>
          <p:nvPr/>
        </p:nvSpPr>
        <p:spPr>
          <a:xfrm>
            <a:off x="548640" y="1737360"/>
            <a:ext cx="58518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fig, ax = plt.subplots() creates both objects in one 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 is the whole canvas — used for figure-level things like size and saving.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ax is the individual plotting surface — used for everything you draw and label.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With multiple subplots, ax becomes a list/array — ax[0], ax[1], and so 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Holding onto ax explicitly is what makes it possible to build reusable plotting functions later.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4"/>
          <p:cNvSpPr/>
          <p:nvPr/>
        </p:nvSpPr>
        <p:spPr>
          <a:xfrm>
            <a:off x="6675120" y="1737360"/>
            <a:ext cx="49831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5"/>
          <p:cNvSpPr/>
          <p:nvPr/>
        </p:nvSpPr>
        <p:spPr>
          <a:xfrm>
            <a:off x="6839640" y="188352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6"/>
          <p:cNvSpPr/>
          <p:nvPr/>
        </p:nvSpPr>
        <p:spPr>
          <a:xfrm>
            <a:off x="7040880" y="188352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7"/>
          <p:cNvSpPr/>
          <p:nvPr/>
        </p:nvSpPr>
        <p:spPr>
          <a:xfrm>
            <a:off x="7242120" y="188352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8"/>
          <p:cNvSpPr/>
          <p:nvPr/>
        </p:nvSpPr>
        <p:spPr>
          <a:xfrm>
            <a:off x="6876360" y="2121480"/>
            <a:ext cx="45806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fig, ax = plt.subplots(figsize=(6, 4))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ax.plot(x, y, color="#5755A7")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ax.set_title("Revenue Over Time")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ax.set_xlabel("Month")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ax.set_ylabel("Revenue")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ax.legend()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ax.grid(alpha=0.3)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fig.savefig("revenue.png")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/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 xml:space="preserve"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 xml:space="preserve">Axes by Hand — fig.add_axes() &amp; Insets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2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fig = plt.figure(figsize=(20, 8))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main = fig.add_axes([0.1, 0.1, 0.8, 0.8])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main.plot(x,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inset = fig.add_axes([0.3, 0.3, 0.5, 0.5])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inset.plot(a, b)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# [left, bottom, width, height]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# each one a fraction (0-1) of the Figure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3941063"/>
            <a:ext cx="5348880" cy="1956816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add_axes([left, bottom, width, height]) places an Axes anywhere using fractions of the Figure — overlap two for an inset.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Careful: figsize=(20, 8) at dpi=1000 is a 20,000 × 8,000 px canvas. Keep dpi low while experimenting.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9" name="Picture 1018" descr="First_Plot_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349240" cy="213969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Object-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Oriented 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Method 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Reference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5" name="Table 0"/>
          <p:cNvGraphicFramePr/>
          <p:nvPr/>
        </p:nvGraphicFramePr>
        <p:xfrm>
          <a:off x="548640" y="1691640"/>
          <a:ext cx="11109600" cy="411444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ax.plot(x, y)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a line plot on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ax.bar(x, height)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a bar chart on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ax.scatter(x, y)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a scatter plot on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ax.set_title("...")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 this Axes' title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ax.set_xlabel("...") / set_ylabel("...")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 this Axes' axis 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ax.legend()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the legend for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ax.grid()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Toggle the grid for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6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the OO API Matters for Real Projects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3"/>
          <p:cNvSpPr/>
          <p:nvPr/>
        </p:nvSpPr>
        <p:spPr>
          <a:xfrm>
            <a:off x="548640" y="1737360"/>
            <a:ext cx="11109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Multi-panel dashboards need it — you must address ax[0], ax[1] individually; pyplot's "current axes" idea breaks down fast.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It's easier to wrap in a reusable function — e.g. def plot_metric(ax, data): ... that any script can call.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It's the style used throughout Pandas' .plot(ax=...), Seaborn, and most production ML reporting code.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Bottom line: pyplot is great for quick, single charts. The OO API is what you'll actually reach for in Data Analytics and ML projects.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The Object-Oriented API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Rewrite any earlier pyplot chart using fig, ax = plt.subplots() and ax. methods only.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small function def plot_line(ax, x, y, title): that plots onto whichever Axes it's given.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Use fig.add_axes() to build a main Axes plus a smaller inset Axes on top, and say what the four numbers mean.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1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6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Controlling the View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Fine-tuning axis ranges, ticks, figure size, and resolution.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67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Limits &amp; Tick Reference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4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plt.xlim(min, max) / plt.ylim(min, max)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Fix the visible axis range (pyplot)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ax.set_xlim(min, max) / ax.set_ylim(min, max)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Fix the visible axis range (OO API)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plt.xticks(positions, labels)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 custom tick positions and 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plt.xticks(rotation=45)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Rotate tick labels — useful for long category names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ha="right"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Aligns rotated labels neatly against their tick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5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figsize &amp; DPI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3"/>
          <p:cNvSpPr/>
          <p:nvPr/>
        </p:nvSpPr>
        <p:spPr>
          <a:xfrm>
            <a:off x="548640" y="1737360"/>
            <a:ext cx="11109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figsize=(width,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height) sets the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Figure's size in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inches — e.g.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(10, 5) for a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wide chart.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DPI (Dots Per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Inch) controls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sharpness —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higher DPI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means a crisper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image,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especially once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saved or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printed.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On-screen, a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moderate DPI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(100) is plenty.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reports or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print, 200–300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DPI looks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noticeably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sharper.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Bigger figsize + higher DPI = a larger file: (20, 8) at dpi=1000 is a 20,000 × 8,000 px canvas, so match it to where the chart will be viewed.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69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Controlling the View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Take any chart from earlier and fix its X and Y limits with set_xlim()/set_ylim().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Rotate your X tick labels by 45 degrees so long labels stop overlapping.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Resize your Figure with figsize=(10, 4) and compare it side by side with the default size.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Color &amp; Visual Customization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Named colors, hex, RGBA, and colormaps — how Matplotlib thinks about color.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71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Four Ways to Specify Color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3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"teal"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Named color — simplest, ~150 names built in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"#5755A7"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Hex code — precise, brand-exact colors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(0.34, 0.34, 0.65)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RGB tuple — red, green, blue, each 0 to 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(0.34, 0.34, 0.65, 0.5)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RGBA — RGB plus alpha (transparency)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alpha=0.5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 separate parameter for transparency on any plot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4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Colormaps — Encoding a Third Variable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3"/>
          <p:cNvSpPr/>
          <p:nvPr/>
        </p:nvSpPr>
        <p:spPr>
          <a:xfrm>
            <a:off x="548640" y="1691640"/>
            <a:ext cx="512028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7"/>
          <p:cNvSpPr/>
          <p:nvPr/>
        </p:nvSpPr>
        <p:spPr>
          <a:xfrm>
            <a:off x="749880" y="2075760"/>
            <a:ext cx="4717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sc = plt.scatter(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feature_a,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feature_b,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c=combined_score,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cmap="viridis",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alpha=0.85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plt.colorbar(sc,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label="Score")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8"/>
          <p:cNvSpPr/>
          <p:nvPr/>
        </p:nvSpPr>
        <p:spPr>
          <a:xfrm>
            <a:off x="548640" y="4572000"/>
            <a:ext cx="5120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cmap= colors points/bars by a numeric value instead of a fixed color — a colormap.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Sequential colormaps (viridis, Blues) go light→dark for one-directional data, like counts.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Diverging colormaps (coolwarm, RdBu) go color→neutral→color — great for data centered on zero, like error or change.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plt.colorbar() adds the legend strip explaining what each color means.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9"/>
          <p:cNvSpPr/>
          <p:nvPr/>
        </p:nvSpPr>
        <p:spPr>
          <a:xfrm>
            <a:off x="5989320" y="1691640"/>
            <a:ext cx="5668920" cy="498312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6" name="Image 1" descr="/home/claude/mpl/charts/colormap_scatter.png"/>
          <p:cNvPicPr/>
          <p:nvPr/>
        </p:nvPicPr>
        <p:blipFill>
          <a:blip r:embed="rId2"/>
          <a:stretch/>
        </p:blipFill>
        <p:spPr>
          <a:xfrm>
            <a:off x="6099120" y="1801440"/>
            <a:ext cx="5449320" cy="476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7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/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 xml:space="preserve"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 xml:space="preserve">Showing Images — imread &amp; imshow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2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import matplotlib.image as mpimg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img = mpimg.imread("./flower.jpg")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img.shape   # (4465, 8000,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img.dtype   # uint8  (0-255)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plt.imshow(img)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plt.axis("off")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4047744"/>
            <a:ext cx="5348880" cy="1850136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imread() returns a plain NumPy array in RGB order (OpenCV uses BGR). JPEGs load as uint8 0–255; PNGs as float 0–1.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imshow() draws the pixels; axis("off") hides the ticks so the photo stands alone.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9" name="Picture 1018" descr="flower_sm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4023360" cy="224637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/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 xml:space="preserve"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 xml:space="preserve">Cropping &amp; Channels with Slicing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2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crop = img[1000:3500, 2000:6000]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plt.imshow(crop)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red = img[:, :, 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plt.imshow(red, cmap="gray")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# notebook crop: img[50:200, 100:300]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 xml:space="preserve"># = a 150 x 200 corner (bottom-right panel)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4453128"/>
            <a:ext cx="5348880" cy="144475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Slicing is NumPy slicing: img[rows, columns]. The notebook’s img[50:200, 100:300] is only a 150 × 200 corner — pick bounds from img.shape.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One channel is 2D, so add cmap="gray" or Matplotlib falls back to viridis.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9" name="Picture 1018" descr="flower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4937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Color &amp; Visual Customization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Recreate one earlier chart using a hex color instead of a named color.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scatter plot where color represents a third variable, using cmap=.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 xml:space="preserve">Load an image with mpimg.imread(), show it with imshow() and axis("off"), crop it with slicing, and display one channel with cmap="gray".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6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1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Text &amp; Annotations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Calling out the moments in your data that matter most.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77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plt.text() &amp; plt.annotate()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plt.text(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x, y, "Training run #4",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fontsize=10, style="italic"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plt.annotate(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"Peak value",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xy=(peak_x, peak_y),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xytext=(peak_x-3, peak_y+10),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arrowprops=dict(arrowstyle="-&gt;")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5" name="Image 1" descr="/home/claude/mpl/charts/annotation_demo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6" name="Text 9"/>
          <p:cNvSpPr/>
          <p:nvPr/>
        </p:nvSpPr>
        <p:spPr>
          <a:xfrm>
            <a:off x="6172200" y="507492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plt.text() places plain text at a coordinate.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plt.annotate() adds text with a pointing arrow — great for calling out a peak, a threshold, or an outlier.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Shapes on a Chart — matplotlib.patches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from matplotlib.patches import Circle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fig, ax = plt.subplots()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highlight = Circle(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(5, 20), radius=1.5,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color="orange", alpha=0.3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ax.add_patch(highlight)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matplotlib.patches holds ready-made shapes — Circle, Rectangle, Arrow, Polygon, and more.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patch works like any other Artist: create it, then hand it to an Axes with ax.add_patch(patch).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Most useful for highlighting a region, building a custom legend swatch, or drawing simple diagrams — like the Figure vs. Axes diagram back in Part 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won't reach for these in everyday charts, but recognizing the pattern helps when reading other people's Matplotlib code.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79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Peek at Animation — matplotlib.animation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from matplotlib.animation import FuncAnimation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fig, ax = plt.subplots()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line, = ax.plot(x, y[:1])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update(frame):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line.set_ydata(y[:frame])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line,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anim = FuncAnimation(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fig, update, frames=len(y)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matplotlib.animation redraws a Figure frame by frame — useful for showing a process over time, like training progress or a simulation.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FuncAnimation is the core tool: you write one update() function, and Matplotlib calls it once per frame.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a genuinely advanced topic — full animation programming is outside this module's scope. For now, just know it exists and what it's for.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Curious? matplotlib.org has interactive animation examples worth exploring on your own 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Text, Annotations &amp; Shapes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plt.annotate() to point an arrow at the highest value in a line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plt.text() somewhere on the chart to label a specific observation in plain words.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Draw a Circle or Rectangle patch to highlight one region of an existing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8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3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Statistical Visualization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Box plots — reading spread, center, and outliers at a glance.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82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plt.boxplot() — Median, Quartiles &amp; Outliers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3"/>
          <p:cNvSpPr/>
          <p:nvPr/>
        </p:nvSpPr>
        <p:spPr>
          <a:xfrm>
            <a:off x="548640" y="1691640"/>
            <a:ext cx="5120280" cy="2011320"/>
          </a:xfrm>
          <a:prstGeom prst="roundRect">
            <a:avLst>
              <a:gd name="adj" fmla="val 545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7"/>
          <p:cNvSpPr/>
          <p:nvPr/>
        </p:nvSpPr>
        <p:spPr>
          <a:xfrm>
            <a:off x="749880" y="2075760"/>
            <a:ext cx="471780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plt.boxplot(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[model_a, model_b, model_c],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labels=["Model A","Model B","Model C"]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plt.ylabel("Accuracy (%)")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 8"/>
          <p:cNvSpPr/>
          <p:nvPr/>
        </p:nvSpPr>
        <p:spPr>
          <a:xfrm>
            <a:off x="548640" y="3886200"/>
            <a:ext cx="5120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box spans the middle 50% of the data (25th to 75th percentile).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line inside the box is the median.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Whiskers extend to the typical range; dots beyond them are outliers.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9"/>
          <p:cNvSpPr/>
          <p:nvPr/>
        </p:nvSpPr>
        <p:spPr>
          <a:xfrm>
            <a:off x="5852160" y="1691640"/>
            <a:ext cx="5806080" cy="498312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8" name="Image 1" descr="/home/claude/mpl/charts/boxplot_models.png"/>
          <p:cNvPicPr/>
          <p:nvPr/>
        </p:nvPicPr>
        <p:blipFill>
          <a:blip r:embed="rId2"/>
          <a:stretch/>
        </p:blipFill>
        <p:spPr>
          <a:xfrm>
            <a:off x="5961960" y="1801440"/>
            <a:ext cx="5586480" cy="476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Box Plot vs. Histogram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3"/>
          <p:cNvSpPr/>
          <p:nvPr/>
        </p:nvSpPr>
        <p:spPr>
          <a:xfrm>
            <a:off x="548640" y="1737360"/>
            <a:ext cx="539460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4"/>
          <p:cNvSpPr/>
          <p:nvPr/>
        </p:nvSpPr>
        <p:spPr>
          <a:xfrm>
            <a:off x="777240" y="19386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Histogram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5"/>
          <p:cNvSpPr/>
          <p:nvPr/>
        </p:nvSpPr>
        <p:spPr>
          <a:xfrm>
            <a:off x="777240" y="2514600"/>
            <a:ext cx="49374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Shows the full shape of a distribution — how values spread across ranges. Best for understanding one variable in depth.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6"/>
          <p:cNvSpPr/>
          <p:nvPr/>
        </p:nvSpPr>
        <p:spPr>
          <a:xfrm>
            <a:off x="6263640" y="1737360"/>
            <a:ext cx="539460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Text 7"/>
          <p:cNvSpPr/>
          <p:nvPr/>
        </p:nvSpPr>
        <p:spPr>
          <a:xfrm>
            <a:off x="6492240" y="19386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Box Plot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8"/>
          <p:cNvSpPr/>
          <p:nvPr/>
        </p:nvSpPr>
        <p:spPr>
          <a:xfrm>
            <a:off x="6492240" y="2514600"/>
            <a:ext cx="49374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Compresses a distribution into 5 key numbers. Best for comparing spread and outliers across several groups at once.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9"/>
          <p:cNvSpPr/>
          <p:nvPr/>
        </p:nvSpPr>
        <p:spPr>
          <a:xfrm>
            <a:off x="548640" y="5806440"/>
            <a:ext cx="1110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In EDA, it's common to start with a histogram to understand one feature, then switch to box plots to compare that feature across categories or classes.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Statistical Visualization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box plot comparing three groups of numbers you invent.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Identify, just by looking at it, which group has the most outliers.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the same data as a histogram, one group at a time, and compare the two views.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0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14 · SAVING FIGURES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Saving Figures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Turning a plot into a file you can share, embed, or print — with plt.savefig().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86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14 · SAVING FIGURES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plt.savefig()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3"/>
          <p:cNvSpPr/>
          <p:nvPr/>
        </p:nvSpPr>
        <p:spPr>
          <a:xfrm>
            <a:off x="548640" y="1691640"/>
            <a:ext cx="5028840" cy="2194200"/>
          </a:xfrm>
          <a:prstGeom prst="roundRect">
            <a:avLst>
              <a:gd name="adj" fmla="val 5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 7"/>
          <p:cNvSpPr/>
          <p:nvPr/>
        </p:nvSpPr>
        <p:spPr>
          <a:xfrm>
            <a:off x="749880" y="2075760"/>
            <a:ext cx="462636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plt.savefig(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"filename.png",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dpi=300,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bbox_inches="tight"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8" name="Table 0"/>
          <p:cNvGraphicFramePr/>
          <p:nvPr/>
        </p:nvGraphicFramePr>
        <p:xfrm>
          <a:off x="5806440" y="1691640"/>
          <a:ext cx="5851800" cy="2194560"/>
        </p:xfrm>
        <a:graphic>
          <a:graphicData uri="http://schemas.openxmlformats.org/drawingml/2006/table">
            <a:tbl>
              <a:tblPr/>
              <a:tblGrid>
                <a:gridCol w="1872360"/>
                <a:gridCol w="3979440"/>
              </a:tblGrid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"filename.png" / .jpg / .pdf / .svg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Output format — set by the file extension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dpi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Resolution — higher = sharper, larger file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antarell"/>
                        </a:rPr>
                        <a:t>bbox_inches="tight"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Trims extra whitespace around the figure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9" name="Text 8"/>
          <p:cNvSpPr/>
          <p:nvPr/>
        </p:nvSpPr>
        <p:spPr>
          <a:xfrm>
            <a:off x="548640" y="4160520"/>
            <a:ext cx="110638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PNG — best default for slides, docs, and the web (supports transparency).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JPG — smaller file size, no transparency; fine for photos, not ideal for charts with text.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PDF / SVG — vector formats that stay crisp at any zoom level; great for print and papers.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Always call savefig() before plt.show() — some backends clear the figure after showing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14 · SAVING </a:t>
            </a: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FIGURES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Saving a High-Quality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plt.plot(x1, repositories, color="red",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linewidth=3, linestyle=":", marker="o")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plt.title("Programming Languages")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plt.xticks(x1, languages,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rotation=45, ha="right")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plt.tight_layout()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plt.savefig(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"./outputs/languages_chart.png",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dpi=300,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bbox_inches="tight"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1" name="Image 1" descr="/home/claude/mpl/charts/saved_fig_example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2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14 · SAVING FIGURES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Saving Figures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any chart from this module as a PNG at 300 DPI.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the same chart again with bbox_inches="tight" and compare the two files.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one chart as a PDF and note what's different about opening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1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89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6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15 · NUMPY &amp; PANDAS INTEGRATION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 with NumPy &amp; Pandas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Why this module comes after NumPy and Pandas — plotting the data you already know how to build.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90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15 · NUMPY &amp; PANDAS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From NumPy Arrays to Plots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3"/>
          <p:cNvSpPr/>
          <p:nvPr/>
        </p:nvSpPr>
        <p:spPr>
          <a:xfrm>
            <a:off x="548640" y="1691640"/>
            <a:ext cx="5394600" cy="2834280"/>
          </a:xfrm>
          <a:prstGeom prst="roundRect">
            <a:avLst>
              <a:gd name="adj" fmla="val 387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Text 7"/>
          <p:cNvSpPr/>
          <p:nvPr/>
        </p:nvSpPr>
        <p:spPr>
          <a:xfrm>
            <a:off x="749880" y="2075760"/>
            <a:ext cx="499212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np.linspace(0, 10, 100)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y = np.sin(x)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plt.plot(x, y, color="#5755A7")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plt.title("A NumPy-Generated Curve")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plt.show()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8"/>
          <p:cNvSpPr/>
          <p:nvPr/>
        </p:nvSpPr>
        <p:spPr>
          <a:xfrm>
            <a:off x="6172200" y="1691640"/>
            <a:ext cx="53946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plt.plot(), scatter(), bar() all accept NumPy arrays exactly like plain lists.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np.arange() and np.linspace() are the two most common ways to generate smooth X values for a curve.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already used np.arange() for bar positioning in Part 4 — same array, new purpose.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15 · NUMPY &amp; PANDAS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Plotting Pandas Series &amp; DataFrames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pandas as pd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df = pd.read_csv("sales.csv")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# Plot one column directly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plt.plot(df["month"], df["revenue"])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# Pandas' own shortcut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df["revenue"].plot(kind="line")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df.plot(x="month", y="revenue", kind="bar")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Pandas Series or DataFrame column can be passed straight into plt.plot() — no conversion needed.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Pandas also ships its own .plot() method, built on top of Matplotlib, for one-line quick charts.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the bridge from cleaned data (Pandas) to visual insight (Matplotlib) — the core of EDA.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15 · NUMPY &amp; PANDAS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Matplotlib with NumPy &amp; Pandas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Generate 50 points with np.linspace() and plot a smooth curve using them.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Load any small CSV (or make one up) into Pandas and plot one column directly with plt.plot().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Pandas' own df.plot() shortcut on the same data and compare the result.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0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16 · MATPLOTLIB FOR AI, ML &amp; DATA SCIENCE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 for AI, ML &amp; Data Science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Why you're really learning this — the visualization jobs that show up in every ML project.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94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Understanding Your Data First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3"/>
          <p:cNvSpPr/>
          <p:nvPr/>
        </p:nvSpPr>
        <p:spPr>
          <a:xfrm>
            <a:off x="548640" y="1691640"/>
            <a:ext cx="64004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4" name="Image 1" descr="/home/claude/mpl/charts/feature_class_combo.png"/>
          <p:cNvPicPr/>
          <p:nvPr/>
        </p:nvPicPr>
        <p:blipFill>
          <a:blip r:embed="rId2"/>
          <a:stretch/>
        </p:blipFill>
        <p:spPr>
          <a:xfrm>
            <a:off x="658440" y="1801440"/>
            <a:ext cx="618084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5" name="Text 4"/>
          <p:cNvSpPr/>
          <p:nvPr/>
        </p:nvSpPr>
        <p:spPr>
          <a:xfrm>
            <a:off x="548640" y="54406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Feature distribution (left) and class balance (right).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Text 5"/>
          <p:cNvSpPr/>
          <p:nvPr/>
        </p:nvSpPr>
        <p:spPr>
          <a:xfrm>
            <a:off x="7223760" y="1691640"/>
            <a:ext cx="44344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Feature distributions — a histogram reveals skew, scale, and unexpected values before you train anything.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Class distributions — a bar chart shows whether your dataset is balanced or dominated by one class.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always step one in a real ML workflow, before any modeling begins.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Spotting Relationships &amp; Outliers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3"/>
          <p:cNvSpPr/>
          <p:nvPr/>
        </p:nvSpPr>
        <p:spPr>
          <a:xfrm>
            <a:off x="548640" y="1691640"/>
            <a:ext cx="566892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3" name="Image 1" descr="/home/claude/mpl/charts/colormap_scatter.png"/>
          <p:cNvPicPr/>
          <p:nvPr/>
        </p:nvPicPr>
        <p:blipFill>
          <a:blip r:embed="rId2"/>
          <a:stretch/>
        </p:blipFill>
        <p:spPr>
          <a:xfrm>
            <a:off x="658440" y="1801440"/>
            <a:ext cx="5449320" cy="38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" name="Text 4"/>
          <p:cNvSpPr/>
          <p:nvPr/>
        </p:nvSpPr>
        <p:spPr>
          <a:xfrm>
            <a:off x="548640" y="562356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Feature relationships, colored by a third variable.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Text 5"/>
          <p:cNvSpPr/>
          <p:nvPr/>
        </p:nvSpPr>
        <p:spPr>
          <a:xfrm>
            <a:off x="6355080" y="1691640"/>
            <a:ext cx="530316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Scatter plots reveal how two features relate — a key step before choosing a model.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Points far from the main cluster are candidate outliers, worth inspecting before training.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colormap can encode a third variable (like the target) directly into the same chart.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Evaluating a Model — Training Curves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3"/>
          <p:cNvSpPr/>
          <p:nvPr/>
        </p:nvSpPr>
        <p:spPr>
          <a:xfrm>
            <a:off x="548640" y="1691640"/>
            <a:ext cx="566892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2" name="Image 1" descr="/home/claude/mpl/charts/train_val_curve.png"/>
          <p:cNvPicPr/>
          <p:nvPr/>
        </p:nvPicPr>
        <p:blipFill>
          <a:blip r:embed="rId2"/>
          <a:stretch/>
        </p:blipFill>
        <p:spPr>
          <a:xfrm>
            <a:off x="658440" y="1801440"/>
            <a:ext cx="544932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3" name="Text 4"/>
          <p:cNvSpPr/>
          <p:nvPr/>
        </p:nvSpPr>
        <p:spPr>
          <a:xfrm>
            <a:off x="548640" y="544068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Training vs. validation loss, over time.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Text 5"/>
          <p:cNvSpPr/>
          <p:nvPr/>
        </p:nvSpPr>
        <p:spPr>
          <a:xfrm>
            <a:off x="6355080" y="1691640"/>
            <a:ext cx="530316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training/validation curve plots a metric (loss, accuracy) per epoch for both sets.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validation loss rises while training loss keeps falling, that's a classic overfitting signal — and it's only visible because you plotted it.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single line chart is one of the most-viewed charts in any ML project.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Evaluating a Model — Predictions &amp; Comparison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3"/>
          <p:cNvSpPr/>
          <p:nvPr/>
        </p:nvSpPr>
        <p:spPr>
          <a:xfrm>
            <a:off x="548640" y="1691640"/>
            <a:ext cx="539460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1" name="Image 1" descr="/home/claude/mpl/charts/actual_vs_pred.png"/>
          <p:cNvPicPr/>
          <p:nvPr/>
        </p:nvPicPr>
        <p:blipFill>
          <a:blip r:embed="rId2"/>
          <a:stretch/>
        </p:blipFill>
        <p:spPr>
          <a:xfrm>
            <a:off x="658440" y="1801440"/>
            <a:ext cx="5175000" cy="38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2" name="Text 4"/>
          <p:cNvSpPr/>
          <p:nvPr/>
        </p:nvSpPr>
        <p:spPr>
          <a:xfrm>
            <a:off x="548640" y="5623560"/>
            <a:ext cx="539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Actual vs. predicted — the closer to the diagonal, the better.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5"/>
          <p:cNvSpPr/>
          <p:nvPr/>
        </p:nvSpPr>
        <p:spPr>
          <a:xfrm>
            <a:off x="6080760" y="1691640"/>
            <a:ext cx="557748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4" name="Image 2" descr="/home/claude/mpl/charts/boxplot_models.png"/>
          <p:cNvPicPr/>
          <p:nvPr/>
        </p:nvPicPr>
        <p:blipFill>
          <a:blip r:embed="rId3"/>
          <a:stretch/>
        </p:blipFill>
        <p:spPr>
          <a:xfrm>
            <a:off x="6190560" y="1801440"/>
            <a:ext cx="5357880" cy="38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5" name="Text 6"/>
          <p:cNvSpPr/>
          <p:nvPr/>
        </p:nvSpPr>
        <p:spPr>
          <a:xfrm>
            <a:off x="6080760" y="5623560"/>
            <a:ext cx="557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Comparing accuracy across several models.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Text 7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Confusion Matrix — Basic Concept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Text 3"/>
          <p:cNvSpPr/>
          <p:nvPr/>
        </p:nvSpPr>
        <p:spPr>
          <a:xfrm>
            <a:off x="548640" y="1737360"/>
            <a:ext cx="6491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classification models, a confusion matrix is a grid showing predicted class vs. actual class.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diagonal cells are correct predictions — everything off the diagonal is a mistake worth understanding.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Matplotlib, this is typically drawn as a color-coded grid: plt.imshow(matrix, cmap="Blues") with the counts written into each cell using plt.text().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You'll build these for real once you reach Supervised Machine Learning — for now, just recognize the shape and purpose.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4"/>
          <p:cNvSpPr/>
          <p:nvPr/>
        </p:nvSpPr>
        <p:spPr>
          <a:xfrm>
            <a:off x="7406640" y="1828800"/>
            <a:ext cx="1737000" cy="1737000"/>
          </a:xfrm>
          <a:prstGeom prst="rect">
            <a:avLst/>
          </a:prstGeom>
          <a:solidFill>
            <a:srgbClr val="8C8AE0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5"/>
          <p:cNvSpPr/>
          <p:nvPr/>
        </p:nvSpPr>
        <p:spPr>
          <a:xfrm>
            <a:off x="7406640" y="182880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42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Shape 6"/>
          <p:cNvSpPr/>
          <p:nvPr/>
        </p:nvSpPr>
        <p:spPr>
          <a:xfrm>
            <a:off x="9144000" y="1828800"/>
            <a:ext cx="1737000" cy="1737000"/>
          </a:xfrm>
          <a:prstGeom prst="rect">
            <a:avLst/>
          </a:prstGeom>
          <a:solidFill>
            <a:srgbClr val="F0ECF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Text 7"/>
          <p:cNvSpPr/>
          <p:nvPr/>
        </p:nvSpPr>
        <p:spPr>
          <a:xfrm>
            <a:off x="9144000" y="182880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8"/>
          <p:cNvSpPr/>
          <p:nvPr/>
        </p:nvSpPr>
        <p:spPr>
          <a:xfrm>
            <a:off x="7406640" y="3566160"/>
            <a:ext cx="1737000" cy="1737000"/>
          </a:xfrm>
          <a:prstGeom prst="rect">
            <a:avLst/>
          </a:prstGeom>
          <a:solidFill>
            <a:srgbClr val="F0ECF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9"/>
          <p:cNvSpPr/>
          <p:nvPr/>
        </p:nvSpPr>
        <p:spPr>
          <a:xfrm>
            <a:off x="7406640" y="35661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10"/>
          <p:cNvSpPr/>
          <p:nvPr/>
        </p:nvSpPr>
        <p:spPr>
          <a:xfrm>
            <a:off x="9144000" y="3566160"/>
            <a:ext cx="1737000" cy="1737000"/>
          </a:xfrm>
          <a:prstGeom prst="rect">
            <a:avLst/>
          </a:prstGeom>
          <a:solidFill>
            <a:srgbClr val="8C8AE0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Text 11"/>
          <p:cNvSpPr/>
          <p:nvPr/>
        </p:nvSpPr>
        <p:spPr>
          <a:xfrm>
            <a:off x="9144000" y="35661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 12"/>
          <p:cNvSpPr/>
          <p:nvPr/>
        </p:nvSpPr>
        <p:spPr>
          <a:xfrm>
            <a:off x="7406640" y="15087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Predicted →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1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99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Put It All Together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Three small projects combining everything from Foundations to AI/ML visualization — built end to end, using the Object-Oriented API.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 xml:space="preserve">100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1: Sales &amp; Expenses Report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Line + Bar,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combined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1×2 subplot: a line chart of monthly sales vs. expenses, and a bar chart of totals by quarter.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the Object-Oriented API — fig, ax — throughout, not plt. shortcuts.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title, axis labels, and a legend to each panel.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the final figure as a 300 DPI PNG with plt.savefig().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2: Student Performance Dashboard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4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Line + Bar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Scatter + Histogram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2×2 grid: average score per subject (line), grade-band counts (bar), study hours vs. score colored by pass/fail (scatter), and score distribution (histogram).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plt.tight_layout() so nothing overlaps between panels.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plt.annotate() to call out the highest-scoring student on the scatter panel.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with plt.savefig("dashboard.png", dpi=200, bbox_inches="tight").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3: Model Evaluation Snapshot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Training curves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Actual vs. Predicted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training vs. validation loss curves across 20 epochs for a model (real or invented).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actual vs. predicted values with a diagonal reference line.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accuracy across 3 models using a box plot.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Combine all three panels into one Figure using plt.subplots().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Shape 0"/>
          <p:cNvSpPr/>
          <p:nvPr/>
        </p:nvSpPr>
        <p:spPr>
          <a:xfrm>
            <a:off x="-1828800" y="-2103120"/>
            <a:ext cx="4754520" cy="47545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Shape 1"/>
          <p:cNvSpPr/>
          <p:nvPr/>
        </p:nvSpPr>
        <p:spPr>
          <a:xfrm>
            <a:off x="9326880" y="4206240"/>
            <a:ext cx="4205880" cy="4205880"/>
          </a:xfrm>
          <a:prstGeom prst="ellipse">
            <a:avLst/>
          </a:prstGeom>
          <a:solidFill>
            <a:srgbClr val="11362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Shape 2"/>
          <p:cNvSpPr/>
          <p:nvPr/>
        </p:nvSpPr>
        <p:spPr>
          <a:xfrm>
            <a:off x="4907160" y="1051560"/>
            <a:ext cx="2377080" cy="5436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Text 3"/>
          <p:cNvSpPr/>
          <p:nvPr/>
        </p:nvSpPr>
        <p:spPr>
          <a:xfrm>
            <a:off x="0" y="123444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MODULE RECAP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 4"/>
          <p:cNvSpPr/>
          <p:nvPr/>
        </p:nvSpPr>
        <p:spPr>
          <a:xfrm>
            <a:off x="1249560" y="1920240"/>
            <a:ext cx="96922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 turns raw numbers into a picture you can actually reason about — and that same picture is what you'll lean on for every EDA, every model check, and every report from here forward.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Text 5"/>
          <p:cNvSpPr/>
          <p:nvPr/>
        </p:nvSpPr>
        <p:spPr>
          <a:xfrm>
            <a:off x="0" y="45262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Next up: Seaborn — statistical charts, built on everything you just learned.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Shape 0"/>
          <p:cNvSpPr/>
          <p:nvPr/>
        </p:nvSpPr>
        <p:spPr>
          <a:xfrm>
            <a:off x="-1828800" y="-1828800"/>
            <a:ext cx="4571640" cy="45716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Shape 1"/>
          <p:cNvSpPr/>
          <p:nvPr/>
        </p:nvSpPr>
        <p:spPr>
          <a:xfrm>
            <a:off x="9601200" y="4114800"/>
            <a:ext cx="4114440" cy="4114440"/>
          </a:xfrm>
          <a:prstGeom prst="ellipse">
            <a:avLst/>
          </a:prstGeom>
          <a:solidFill>
            <a:srgbClr val="4C112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Shape 2"/>
          <p:cNvSpPr/>
          <p:nvPr/>
        </p:nvSpPr>
        <p:spPr>
          <a:xfrm>
            <a:off x="4495680" y="2167200"/>
            <a:ext cx="320004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9" name="Image 0" descr="/home/claude/mpl/assets/logo_full.png"/>
          <p:cNvPicPr/>
          <p:nvPr/>
        </p:nvPicPr>
        <p:blipFill>
          <a:blip r:embed="rId1"/>
          <a:stretch/>
        </p:blipFill>
        <p:spPr>
          <a:xfrm>
            <a:off x="4632840" y="2286000"/>
            <a:ext cx="2925720" cy="95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0" name="Text 3"/>
          <p:cNvSpPr/>
          <p:nvPr/>
        </p:nvSpPr>
        <p:spPr>
          <a:xfrm>
            <a:off x="0" y="3429000"/>
            <a:ext cx="1219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4"/>
          <p:cNvSpPr/>
          <p:nvPr/>
        </p:nvSpPr>
        <p:spPr>
          <a:xfrm>
            <a:off x="0" y="416052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Matplotlib · AI &amp; ML Playground · CodeByPaxto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 xml:space="preserve">105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2026-09-23T02:05:21Z</dcterms:created>
  <dc:creator>PptxGenJS</dc:creator>
  <dc:description/>
  <dc:language>en-US</dc:language>
  <cp:lastModifiedBy/>
  <dcterms:modified xsi:type="dcterms:W3CDTF">2026-09-24T16:57:15Z</dcterms:modified>
  <cp:revision>12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98</vt:i4>
  </property>
  <property fmtid="{D5CDD505-2E9C-101B-9397-08002B2CF9AE}" pid="3" name="PresentationFormat">
    <vt:lpwstr>On-screen Show (16:9)</vt:lpwstr>
  </property>
  <property fmtid="{D5CDD505-2E9C-101B-9397-08002B2CF9AE}" pid="4" name="Slides">
    <vt:i4>98</vt:i4>
  </property>
</Properties>
</file>