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2.xml" ContentType="application/vnd.openxmlformats-officedocument.presentationml.slide+xml"/>
  <Override PartName="/ppt/slides/slide40.xml" ContentType="application/vnd.openxmlformats-officedocument.presentationml.slide+xml"/>
  <Override PartName="/ppt/slides/slide38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9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52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56.xml" ContentType="application/vnd.openxmlformats-officedocument.presentationml.slide+xml"/>
  <Override PartName="/ppt/slides/slide50.xml" ContentType="application/vnd.openxmlformats-officedocument.presentationml.slide+xml"/>
  <Override PartName="/ppt/slides/slide24.xml" ContentType="application/vnd.openxmlformats-officedocument.presentationml.slide+xml"/>
  <Override PartName="/ppt/slides/slide5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43.xml" ContentType="application/vnd.openxmlformats-officedocument.presentationml.slide+xml"/>
  <Override PartName="/ppt/slides/slide94.xml" ContentType="application/vnd.openxmlformats-officedocument.presentationml.slide+xml"/>
  <Override PartName="/ppt/slides/slide62.xml" ContentType="application/vnd.openxmlformats-officedocument.presentationml.slide+xml"/>
  <Override PartName="/ppt/slides/slide48.xml" ContentType="application/vnd.openxmlformats-officedocument.presentationml.slide+xml"/>
  <Override PartName="/ppt/slides/slide93.xml" ContentType="application/vnd.openxmlformats-officedocument.presentationml.slide+xml"/>
  <Override PartName="/ppt/slides/slide63.xml" ContentType="application/vnd.openxmlformats-officedocument.presentationml.slide+xml"/>
  <Override PartName="/ppt/slides/slide67.xml" ContentType="application/vnd.openxmlformats-officedocument.presentationml.slide+xml"/>
  <Override PartName="/ppt/slides/slide92.xml" ContentType="application/vnd.openxmlformats-officedocument.presentationml.slide+xml"/>
  <Override PartName="/ppt/slides/slide37.xml" ContentType="application/vnd.openxmlformats-officedocument.presentationml.slide+xml"/>
  <Override PartName="/ppt/slides/slide69.xml" ContentType="application/vnd.openxmlformats-officedocument.presentationml.slide+xml"/>
  <Override PartName="/ppt/slides/slide49.xml" ContentType="application/vnd.openxmlformats-officedocument.presentationml.slide+xml"/>
  <Override PartName="/ppt/slides/slide75.xml" ContentType="application/vnd.openxmlformats-officedocument.presentationml.slide+xml"/>
  <Override PartName="/ppt/slides/slide85.xml" ContentType="application/vnd.openxmlformats-officedocument.presentationml.slide+xml"/>
  <Override PartName="/ppt/slides/slide72.xml" ContentType="application/vnd.openxmlformats-officedocument.presentationml.slide+xml"/>
  <Override PartName="/ppt/slides/slide95.xml" ContentType="application/vnd.openxmlformats-officedocument.presentationml.slide+xml"/>
  <Override PartName="/ppt/slides/slide84.xml" ContentType="application/vnd.openxmlformats-officedocument.presentationml.slide+xml"/>
  <Override PartName="/ppt/slides/slide8.xml" ContentType="application/vnd.openxmlformats-officedocument.presentationml.slide+xml"/>
  <Override PartName="/ppt/slides/slide89.xml" ContentType="application/vnd.openxmlformats-officedocument.presentationml.slide+xml"/>
  <Override PartName="/ppt/slides/slide60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87.xml" ContentType="application/vnd.openxmlformats-officedocument.presentationml.slide+xml"/>
  <Override PartName="/ppt/slides/slide29.xml" ContentType="application/vnd.openxmlformats-officedocument.presentationml.slide+xml"/>
  <Override PartName="/ppt/slides/slide41.xml" ContentType="application/vnd.openxmlformats-officedocument.presentationml.slide+xml"/>
  <Override PartName="/ppt/slides/slide23.xml" ContentType="application/vnd.openxmlformats-officedocument.presentationml.slide+xml"/>
  <Override PartName="/ppt/slides/slide98.xml" ContentType="application/vnd.openxmlformats-officedocument.presentationml.slide+xml"/>
  <Override PartName="/ppt/slides/slide78.xml" ContentType="application/vnd.openxmlformats-officedocument.presentationml.slide+xml"/>
  <Override PartName="/ppt/slides/slide51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6.xml" ContentType="application/vnd.openxmlformats-officedocument.presentationml.slide+xml"/>
  <Override PartName="/ppt/slides/slide66.xml" ContentType="application/vnd.openxmlformats-officedocument.presentationml.slide+xml"/>
  <Override PartName="/ppt/slides/slide2.xml" ContentType="application/vnd.openxmlformats-officedocument.presentationml.slide+xml"/>
  <Override PartName="/ppt/slides/slide71.xml" ContentType="application/vnd.openxmlformats-officedocument.presentationml.slide+xml"/>
  <Override PartName="/ppt/slides/slide86.xml" ContentType="application/vnd.openxmlformats-officedocument.presentationml.slide+xml"/>
  <Override PartName="/ppt/slides/slide76.xml" ContentType="application/vnd.openxmlformats-officedocument.presentationml.slide+xml"/>
  <Override PartName="/ppt/slides/slide21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65.xml" ContentType="application/vnd.openxmlformats-officedocument.presentationml.slide+xml"/>
  <Override PartName="/ppt/slides/slide58.xml" ContentType="application/vnd.openxmlformats-officedocument.presentationml.slide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slides/slide74.xml" ContentType="application/vnd.openxmlformats-officedocument.presentationml.slide+xml"/>
  <Override PartName="/ppt/slides/slide70.xml" ContentType="application/vnd.openxmlformats-officedocument.presentationml.slide+xml"/>
  <Override PartName="/ppt/slides/slide28.xml" ContentType="application/vnd.openxmlformats-officedocument.presentationml.slide+xml"/>
  <Override PartName="/ppt/slides/slide35.xml" ContentType="application/vnd.openxmlformats-officedocument.presentationml.slide+xml"/>
  <Override PartName="/ppt/slides/slide64.xml" ContentType="application/vnd.openxmlformats-officedocument.presentationml.slide+xml"/>
  <Override PartName="/ppt/slides/slide80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19.xml" ContentType="application/vnd.openxmlformats-officedocument.presentationml.slide+xml"/>
  <Override PartName="/ppt/slides/slide26.xml" ContentType="application/vnd.openxmlformats-officedocument.presentationml.slide+xml"/>
  <Override PartName="/ppt/slides/slide73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79.xml" ContentType="application/vnd.openxmlformats-officedocument.presentationml.slide+xml"/>
  <Override PartName="/ppt/slides/slide61.xml" ContentType="application/vnd.openxmlformats-officedocument.presentationml.slide+xml"/>
  <Override PartName="/ppt/slides/slide96.xml" ContentType="application/vnd.openxmlformats-officedocument.presentationml.slide+xml"/>
  <Override PartName="/ppt/slides/slide1.xml" ContentType="application/vnd.openxmlformats-officedocument.presentationml.slide+xml"/>
  <Override PartName="/ppt/slides/slide91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47.xml" ContentType="application/vnd.openxmlformats-officedocument.presentationml.slide+xml"/>
  <Override PartName="/ppt/slides/slide16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34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90.xml" ContentType="application/vnd.openxmlformats-officedocument.presentationml.slide+xml"/>
  <Override PartName="/ppt/slides/slide11.xml" ContentType="application/vnd.openxmlformats-officedocument.presentationml.slide+xml"/>
  <Override PartName="/ppt/slides/slide57.xml" ContentType="application/vnd.openxmlformats-officedocument.presentationml.slide+xml"/>
  <Override PartName="/ppt/slides/slide20.xml" ContentType="application/vnd.openxmlformats-officedocument.presentationml.slide+xml"/>
  <Override PartName="/ppt/slides/slide83.xml" ContentType="application/vnd.openxmlformats-officedocument.presentationml.slide+xml"/>
  <Override PartName="/ppt/notesSlides/notesSlide46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9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6A0D2AC-4E09-4429-BD2D-65F1D422268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68.xml.rels><?xml version="1.0" encoding="UTF-8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
</Relationships>
</file>

<file path=ppt/notesSlides/_rels/notesSlide69.xml.rels><?xml version="1.0" encoding="UTF-8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
</Relationships>
</file>

<file path=ppt/notesSlides/_rels/notesSlide70.xml.rels><?xml version="1.0" encoding="UTF-8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
</Relationships>
</file>

<file path=ppt/notesSlides/_rels/notesSlide71.xml.rels><?xml version="1.0" encoding="UTF-8"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
</Relationships>
</file>

<file path=ppt/notesSlides/_rels/notesSlide72.xml.rels><?xml version="1.0" encoding="UTF-8"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
</Relationships>
</file>

<file path=ppt/notesSlides/_rels/notesSlide73.xml.rels><?xml version="1.0" encoding="UTF-8"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
</Relationships>
</file>

<file path=ppt/notesSlides/_rels/notesSlide74.xml.rels><?xml version="1.0" encoding="UTF-8"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
</Relationships>
</file>

<file path=ppt/notesSlides/_rels/notesSlide75.xml.rels><?xml version="1.0" encoding="UTF-8"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
</Relationships>
</file>

<file path=ppt/notesSlides/_rels/notesSlide76.xml.rels><?xml version="1.0" encoding="UTF-8"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
</Relationships>
</file>

<file path=ppt/notesSlides/_rels/notesSlide77.xml.rels><?xml version="1.0" encoding="UTF-8"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
</Relationships>
</file>

<file path=ppt/notesSlides/_rels/notesSlide78.xml.rels><?xml version="1.0" encoding="UTF-8"?>
<Relationships xmlns="http://schemas.openxmlformats.org/package/2006/relationships"><Relationship Id="rId1" Type="http://schemas.openxmlformats.org/officeDocument/2006/relationships/slide" Target="../slides/slide78.xml"/><Relationship Id="rId2" Type="http://schemas.openxmlformats.org/officeDocument/2006/relationships/notesMaster" Target="../notesMasters/notesMaster1.xml"/>
</Relationships>
</file>

<file path=ppt/notesSlides/_rels/notesSlide79.xml.rels><?xml version="1.0" encoding="UTF-8"?>
<Relationships xmlns="http://schemas.openxmlformats.org/package/2006/relationships"><Relationship Id="rId1" Type="http://schemas.openxmlformats.org/officeDocument/2006/relationships/slide" Target="../slides/slide79.xml"/><Relationship Id="rId2" Type="http://schemas.openxmlformats.org/officeDocument/2006/relationships/notesMaster" Target="../notesMasters/notesMaster1.xml"/>
</Relationships>
</file>

<file path=ppt/notesSlides/_rels/notesSlide80.xml.rels><?xml version="1.0" encoding="UTF-8"?>
<Relationships xmlns="http://schemas.openxmlformats.org/package/2006/relationships"><Relationship Id="rId1" Type="http://schemas.openxmlformats.org/officeDocument/2006/relationships/slide" Target="../slides/slide80.xml"/><Relationship Id="rId2" Type="http://schemas.openxmlformats.org/officeDocument/2006/relationships/notesMaster" Target="../notesMasters/notesMaster1.xml"/>
</Relationships>
</file>

<file path=ppt/notesSlides/_rels/notesSlide81.xml.rels><?xml version="1.0" encoding="UTF-8"?>
<Relationships xmlns="http://schemas.openxmlformats.org/package/2006/relationships"><Relationship Id="rId1" Type="http://schemas.openxmlformats.org/officeDocument/2006/relationships/slide" Target="../slides/slide81.xml"/><Relationship Id="rId2" Type="http://schemas.openxmlformats.org/officeDocument/2006/relationships/notesMaster" Target="../notesMasters/notesMaster1.xml"/>
</Relationships>
</file>

<file path=ppt/notesSlides/_rels/notesSlide82.xml.rels><?xml version="1.0" encoding="UTF-8"?>
<Relationships xmlns="http://schemas.openxmlformats.org/package/2006/relationships"><Relationship Id="rId1" Type="http://schemas.openxmlformats.org/officeDocument/2006/relationships/slide" Target="../slides/slide82.xml"/><Relationship Id="rId2" Type="http://schemas.openxmlformats.org/officeDocument/2006/relationships/notesMaster" Target="../notesMasters/notesMaster1.xml"/>
</Relationships>
</file>

<file path=ppt/notesSlides/_rels/notesSlide83.xml.rels><?xml version="1.0" encoding="UTF-8"?>
<Relationships xmlns="http://schemas.openxmlformats.org/package/2006/relationships"><Relationship Id="rId1" Type="http://schemas.openxmlformats.org/officeDocument/2006/relationships/slide" Target="../slides/slide83.xml"/><Relationship Id="rId2" Type="http://schemas.openxmlformats.org/officeDocument/2006/relationships/notesMaster" Target="../notesMasters/notesMaster1.xml"/>
</Relationships>
</file>

<file path=ppt/notesSlides/_rels/notesSlide84.xml.rels><?xml version="1.0" encoding="UTF-8"?>
<Relationships xmlns="http://schemas.openxmlformats.org/package/2006/relationships"><Relationship Id="rId1" Type="http://schemas.openxmlformats.org/officeDocument/2006/relationships/slide" Target="../slides/slide84.xml"/><Relationship Id="rId2" Type="http://schemas.openxmlformats.org/officeDocument/2006/relationships/notesMaster" Target="../notesMasters/notesMaster1.xml"/>
</Relationships>
</file>

<file path=ppt/notesSlides/_rels/notesSlide85.xml.rels><?xml version="1.0" encoding="UTF-8"?>
<Relationships xmlns="http://schemas.openxmlformats.org/package/2006/relationships"><Relationship Id="rId1" Type="http://schemas.openxmlformats.org/officeDocument/2006/relationships/slide" Target="../slides/slide85.xml"/><Relationship Id="rId2" Type="http://schemas.openxmlformats.org/officeDocument/2006/relationships/notesMaster" Target="../notesMasters/notesMaster1.xml"/>
</Relationships>
</file>

<file path=ppt/notesSlides/_rels/notesSlide86.xml.rels><?xml version="1.0" encoding="UTF-8"?>
<Relationships xmlns="http://schemas.openxmlformats.org/package/2006/relationships"><Relationship Id="rId1" Type="http://schemas.openxmlformats.org/officeDocument/2006/relationships/slide" Target="../slides/slide86.xml"/><Relationship Id="rId2" Type="http://schemas.openxmlformats.org/officeDocument/2006/relationships/notesMaster" Target="../notesMasters/notesMaster1.xml"/>
</Relationships>
</file>

<file path=ppt/notesSlides/_rels/notesSlide87.xml.rels><?xml version="1.0" encoding="UTF-8"?>
<Relationships xmlns="http://schemas.openxmlformats.org/package/2006/relationships"><Relationship Id="rId1" Type="http://schemas.openxmlformats.org/officeDocument/2006/relationships/slide" Target="../slides/slide87.xml"/><Relationship Id="rId2" Type="http://schemas.openxmlformats.org/officeDocument/2006/relationships/notesMaster" Target="../notesMasters/notesMaster1.xml"/>
</Relationships>
</file>

<file path=ppt/notesSlides/_rels/notesSlide88.xml.rels><?xml version="1.0" encoding="UTF-8"?>
<Relationships xmlns="http://schemas.openxmlformats.org/package/2006/relationships"><Relationship Id="rId1" Type="http://schemas.openxmlformats.org/officeDocument/2006/relationships/slide" Target="../slides/slide88.xml"/><Relationship Id="rId2" Type="http://schemas.openxmlformats.org/officeDocument/2006/relationships/notesMaster" Target="../notesMasters/notesMaster1.xml"/>
</Relationships>
</file>

<file path=ppt/notesSlides/_rels/notesSlide89.xml.rels><?xml version="1.0" encoding="UTF-8"?>
<Relationships xmlns="http://schemas.openxmlformats.org/package/2006/relationships"><Relationship Id="rId1" Type="http://schemas.openxmlformats.org/officeDocument/2006/relationships/slide" Target="../slides/slide89.xml"/><Relationship Id="rId2" Type="http://schemas.openxmlformats.org/officeDocument/2006/relationships/notesMaster" Target="../notesMasters/notesMaster1.xml"/>
</Relationships>
</file>

<file path=ppt/notesSlides/_rels/notesSlide90.xml.rels><?xml version="1.0" encoding="UTF-8"?>
<Relationships xmlns="http://schemas.openxmlformats.org/package/2006/relationships"><Relationship Id="rId1" Type="http://schemas.openxmlformats.org/officeDocument/2006/relationships/slide" Target="../slides/slide90.xml"/><Relationship Id="rId2" Type="http://schemas.openxmlformats.org/officeDocument/2006/relationships/notesMaster" Target="../notesMasters/notesMaster1.xml"/>
</Relationships>
</file>

<file path=ppt/notesSlides/_rels/notesSlide91.xml.rels><?xml version="1.0" encoding="UTF-8"?>
<Relationships xmlns="http://schemas.openxmlformats.org/package/2006/relationships"><Relationship Id="rId1" Type="http://schemas.openxmlformats.org/officeDocument/2006/relationships/slide" Target="../slides/slide91.xml"/><Relationship Id="rId2" Type="http://schemas.openxmlformats.org/officeDocument/2006/relationships/notesMaster" Target="../notesMasters/notesMaster1.xml"/>
</Relationships>
</file>

<file path=ppt/notesSlides/_rels/notesSlide92.xml.rels><?xml version="1.0" encoding="UTF-8"?>
<Relationships xmlns="http://schemas.openxmlformats.org/package/2006/relationships"><Relationship Id="rId1" Type="http://schemas.openxmlformats.org/officeDocument/2006/relationships/slide" Target="../slides/slide92.xml"/><Relationship Id="rId2" Type="http://schemas.openxmlformats.org/officeDocument/2006/relationships/notesMaster" Target="../notesMasters/notesMaster1.xml"/>
</Relationships>
</file>

<file path=ppt/notesSlides/_rels/notesSlide93.xml.rels><?xml version="1.0" encoding="UTF-8"?>
<Relationships xmlns="http://schemas.openxmlformats.org/package/2006/relationships"><Relationship Id="rId1" Type="http://schemas.openxmlformats.org/officeDocument/2006/relationships/slide" Target="../slides/slide93.xml"/><Relationship Id="rId2" Type="http://schemas.openxmlformats.org/officeDocument/2006/relationships/notesMaster" Target="../notesMasters/notesMaster1.xml"/>
</Relationships>
</file>

<file path=ppt/notesSlides/_rels/notesSlide94.xml.rels><?xml version="1.0" encoding="UTF-8"?>
<Relationships xmlns="http://schemas.openxmlformats.org/package/2006/relationships"><Relationship Id="rId1" Type="http://schemas.openxmlformats.org/officeDocument/2006/relationships/slide" Target="../slides/slide94.xml"/><Relationship Id="rId2" Type="http://schemas.openxmlformats.org/officeDocument/2006/relationships/notesMaster" Target="../notesMasters/notesMaster1.xml"/>
</Relationships>
</file>

<file path=ppt/notesSlides/_rels/notesSlide95.xml.rels><?xml version="1.0" encoding="UTF-8"?>
<Relationships xmlns="http://schemas.openxmlformats.org/package/2006/relationships"><Relationship Id="rId1" Type="http://schemas.openxmlformats.org/officeDocument/2006/relationships/slide" Target="../slides/slide95.xml"/><Relationship Id="rId2" Type="http://schemas.openxmlformats.org/officeDocument/2006/relationships/notesMaster" Target="../notesMasters/notesMaster1.xml"/>
</Relationships>
</file>

<file path=ppt/notesSlides/_rels/notesSlide96.xml.rels><?xml version="1.0" encoding="UTF-8"?>
<Relationships xmlns="http://schemas.openxmlformats.org/package/2006/relationships"><Relationship Id="rId1" Type="http://schemas.openxmlformats.org/officeDocument/2006/relationships/slide" Target="../slides/slide96.xml"/><Relationship Id="rId2" Type="http://schemas.openxmlformats.org/officeDocument/2006/relationships/notesMaster" Target="../notesMasters/notesMaster1.xml"/>
</Relationships>
</file>

<file path=ppt/notesSlides/_rels/notesSlide97.xml.rels><?xml version="1.0" encoding="UTF-8"?>
<Relationships xmlns="http://schemas.openxmlformats.org/package/2006/relationships"><Relationship Id="rId1" Type="http://schemas.openxmlformats.org/officeDocument/2006/relationships/slide" Target="../slides/slide97.xml"/><Relationship Id="rId2" Type="http://schemas.openxmlformats.org/officeDocument/2006/relationships/notesMaster" Target="../notesMasters/notesMaster1.xml"/>
</Relationships>
</file>

<file path=ppt/notesSlides/_rels/notesSlide98.xml.rels><?xml version="1.0" encoding="UTF-8"?>
<Relationships xmlns="http://schemas.openxmlformats.org/package/2006/relationships"><Relationship Id="rId1" Type="http://schemas.openxmlformats.org/officeDocument/2006/relationships/slide" Target="../slides/slide9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036452-FD4E-41FA-994B-DCB6913AFE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94D7A4-DF38-489D-917C-78D753AAF6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A6A0DB-0CF5-4DCE-88CA-08C141E32B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2C70E6-5F06-4E38-8DBB-D75EFAD348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8273FE-268B-4D48-BA93-79ACD0F8C6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A89191-EFFD-407C-8FD3-03C9C1C6EE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B4D664-4CB6-44C4-BF2F-4F2F6B16EC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50A583-F47F-4ED2-BE8E-579A9103D3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9F1BB1-A4CF-4CA1-991A-9D5F78C42A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9D612A-8980-47B1-A582-88036D3B9E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86033F-87DB-40D9-A536-A3486D6596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CF70C7-6889-4CA7-97E5-8F12AC635B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2142C8-70F0-42C1-B117-AC47E164B6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F8E440-BB1F-4621-AA95-0B80812BFF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CF08F5-A265-4A86-A6D2-D70D4FCEB2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8FF706-64FB-4CA1-A0E4-4AF3C61288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D35671-BB5E-46DA-B7E9-B4D93254BC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B384D9-C970-4FF6-BFF2-A2BBEABE57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DCE54A-47E0-4DA6-9EEC-1D91AFB9BE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EDE1AC-E20C-4D3D-9ECE-168BB33542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F24747-EB0D-47F6-BC8A-E15B34E1D1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F214A6-5E51-4336-AD43-AA78543950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0D173F-DE77-4339-93A6-03BAFA9875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7F7B7D-1437-4266-BF73-9C10348822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3204E6-7236-4960-A8A3-D853C67700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0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9654FF-76D2-4A29-B54C-B90EF5F13A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3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FFD8FC-705E-439A-A8C9-08A3370726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6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6FF2C2-ED6D-4589-A490-D94E57DB6A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9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80C57B-DFA0-45EC-8E52-B315C03078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2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089581-4863-4951-AAA6-B9AAD96A43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5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9A2D28-7EDA-4DB4-85E5-6A2BB7DEE5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8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750A65-B671-46ED-9BC1-5D6FA424B3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1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1600F8-7E15-4AA3-B381-A9D6B7DF08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208F10-22F0-4019-9A31-1AA687BC1C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A72902-86C6-4955-B6A3-DE0E842FF7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4A827D-8B77-4CC8-B0D4-23084596D6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C1F5D0-658F-4158-BA59-9F8E1E46EA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4468C7-60D6-4BB3-84EF-40BD4E0514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9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A09EB5-75E6-4A50-AB5E-11D5799F33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2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AA46B9-30A8-4A6A-9E38-46722B6F4F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5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ADE4C5-51A7-42A3-9259-D0E8A5D514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8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660BFF-3677-44CD-B545-09030A047D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1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24AE03-86EA-4F49-956D-232995E51C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4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363749-7576-4685-B6F0-BED5DF999A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7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48A019-6F9D-4DA7-B6B3-15581518B85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0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DEBEF3-3E51-49C1-99ED-A2F85D815F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3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A5B913-B429-496F-8D73-F24B50EE0F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6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C8AEEE-961D-48EB-A5B6-F1533A0ED4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9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5CBC34-2AD9-4049-AB8F-799C5F7D963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2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1B0EC2-8792-4994-A777-3B18AF5727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5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8C53C2-CAEE-4855-B1B2-AE19C88643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8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81D179-4447-4289-B117-F52E4AD7B0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1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B7BA07-3E52-4658-B717-64A37B727D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4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5EA33A-E9F4-4444-A1C9-B873F88642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7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39D09A-F54C-4C43-955B-4FA7769F2C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0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779DEF-BEA6-47D2-972F-E0C659FC09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3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8865E9-C5AD-4FBF-9389-BE270F124B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6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30F8F1-7A7C-4BC4-88CD-752AAD78E0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9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E82579-33D4-4848-A114-E081FC5A19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2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2C17D3-80A9-4A3D-ACD9-5D7F1B3E5C3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5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D72852-E2D9-41EE-BE7C-8CA151F148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8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727DE6-F36F-4CA9-9B41-ABFECCD126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1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5CF0BD-BCEF-4EE6-A672-C6A608832F7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4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C51C70-CCB8-41E7-A91A-240611BDF8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7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4EC76D-F415-4A53-AAED-707A51D44F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0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EE2FD1-9F6B-4A02-BF4E-3748FBA6FD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3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6CE121-671D-49C3-8D7F-F60A8DD52D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6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D98E1E-96ED-4ED6-9D4C-A09B86BA4A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9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A4AF99-32AB-41E3-93E3-4D56EBFB36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2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0820DB-1016-4D25-86C4-293759E687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5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1441F3-AFF7-48DE-8244-B1553320275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8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051CD4-BAFF-461D-BF27-5BA1AD8C94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1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938472-162B-46E5-92CC-47C8633459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4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5AF0C6-CFE9-43DB-91C8-BE5BBEC6DC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7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334EFF-06BC-4C75-8F48-3D9B7F773E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0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929A7D-E749-47D5-BD88-F82039494D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3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9DFE63-A35E-43D6-A5B4-AEC518866C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6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975276-A456-40AA-A2B1-717867FF2D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9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8020CF-EDCF-4E4F-A398-23C1E5636D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2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EC2875-59DC-4D10-A6D9-C245E5D4FD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5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BAA903-CDC3-43DC-9045-C83C0AA1C65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8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45B850-0410-48FF-8C5E-8398E37454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1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B4F3C7-EEB6-4B2E-AB87-90E0B2B1E2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4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CF5CE9-54DA-4543-BBA5-C6A127BFF8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7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E46FF3-E1C1-4735-940D-C7639C20FF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0" name="PlaceHolder 3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3A5575-E1D7-4CFC-B09C-931357EB96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3" name="PlaceHolder 3"/>
          <p:cNvSpPr>
            <a:spLocks noGrp="1"/>
          </p:cNvSpPr>
          <p:nvPr>
            <p:ph type="sldNum" idx="9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DF9890-4892-4DAC-88C1-5510328B71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6" name="PlaceHolder 3"/>
          <p:cNvSpPr>
            <a:spLocks noGrp="1"/>
          </p:cNvSpPr>
          <p:nvPr>
            <p:ph type="sldNum" idx="9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C3A1D2-43EB-42B2-8830-216995FF6EC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9" name="PlaceHolder 3"/>
          <p:cNvSpPr>
            <a:spLocks noGrp="1"/>
          </p:cNvSpPr>
          <p:nvPr>
            <p:ph type="sldNum" idx="9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726807-CEA2-4636-B428-2C81E134E2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2" name="PlaceHolder 3"/>
          <p:cNvSpPr>
            <a:spLocks noGrp="1"/>
          </p:cNvSpPr>
          <p:nvPr>
            <p:ph type="sldNum" idx="9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15DA9A-54B2-4DBF-8D5B-AA1F9400E1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5" name="PlaceHolder 3"/>
          <p:cNvSpPr>
            <a:spLocks noGrp="1"/>
          </p:cNvSpPr>
          <p:nvPr>
            <p:ph type="sldNum" idx="9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D80BF2-F122-4500-9AE3-ED0226EB97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8" name="PlaceHolder 3"/>
          <p:cNvSpPr>
            <a:spLocks noGrp="1"/>
          </p:cNvSpPr>
          <p:nvPr>
            <p:ph type="sldNum" idx="9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29229D-E785-40BC-810D-7CAC0CCCC4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1" name="PlaceHolder 3"/>
          <p:cNvSpPr>
            <a:spLocks noGrp="1"/>
          </p:cNvSpPr>
          <p:nvPr>
            <p:ph type="sldNum" idx="9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3C8129-7D78-475F-88B1-3273579FC4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4" name="PlaceHolder 3"/>
          <p:cNvSpPr>
            <a:spLocks noGrp="1"/>
          </p:cNvSpPr>
          <p:nvPr>
            <p:ph type="sldNum" idx="9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9D59CA-39D2-4879-8E7C-AC748DE3D78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7" name="PlaceHolder 3"/>
          <p:cNvSpPr>
            <a:spLocks noGrp="1"/>
          </p:cNvSpPr>
          <p:nvPr>
            <p:ph type="sldNum" idx="9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8C43CF-0B65-4FA7-956C-AD808395E1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0" name="PlaceHolder 3"/>
          <p:cNvSpPr>
            <a:spLocks noGrp="1"/>
          </p:cNvSpPr>
          <p:nvPr>
            <p:ph type="sldNum" idx="9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79263F-D900-470F-8B39-F52F32E8D4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3" name="PlaceHolder 3"/>
          <p:cNvSpPr>
            <a:spLocks noGrp="1"/>
          </p:cNvSpPr>
          <p:nvPr>
            <p:ph type="sldNum" idx="10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A38047-C73D-4FAA-961B-558E54C1D0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6" name="PlaceHolder 3"/>
          <p:cNvSpPr>
            <a:spLocks noGrp="1"/>
          </p:cNvSpPr>
          <p:nvPr>
            <p:ph type="sldNum" idx="10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3BD628-C5E7-4F21-B0A0-C525178686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8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9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0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6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1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
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
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778240" y="-2194560"/>
            <a:ext cx="5486040" cy="548604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2011680" y="4206240"/>
            <a:ext cx="4205880" cy="420588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943600" y="5212080"/>
            <a:ext cx="1462680" cy="1462680"/>
          </a:xfrm>
          <a:prstGeom prst="ellipse">
            <a:avLst/>
          </a:prstGeom>
          <a:solidFill>
            <a:srgbClr val="4C112D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/home/claude/mpl/assets/logo_full.png"/>
          <p:cNvPicPr/>
          <p:nvPr/>
        </p:nvPicPr>
        <p:blipFill>
          <a:blip r:embed="rId1"/>
          <a:stretch/>
        </p:blipFill>
        <p:spPr>
          <a:xfrm>
            <a:off x="685800" y="502920"/>
            <a:ext cx="2651400" cy="86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Shape 4"/>
          <p:cNvSpPr/>
          <p:nvPr/>
        </p:nvSpPr>
        <p:spPr>
          <a:xfrm>
            <a:off x="713160" y="2331720"/>
            <a:ext cx="4023000" cy="292320"/>
          </a:xfrm>
          <a:prstGeom prst="roundRect">
            <a:avLst>
              <a:gd name="adj" fmla="val 50000"/>
            </a:avLst>
          </a:prstGeom>
          <a:solidFill>
            <a:srgbClr val="26275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713160" y="233172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0E7FF"/>
                </a:solidFill>
                <a:effectLst/>
                <a:uFillTx/>
                <a:latin typeface="Plus Jakarta Sans"/>
                <a:ea typeface="Plus Jakarta Sans"/>
              </a:rPr>
              <a:t>AI &amp; ML PLAYGROUND  ·  MODULE 06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658440" y="2788920"/>
            <a:ext cx="9600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0" b="1" u="none" spc="-99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Matplotlib</a:t>
            </a:r>
            <a:endParaRPr lang="en-US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713160" y="4160520"/>
            <a:ext cx="7863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Turning numbers into pictures — the visualization foundation for Data Analytics and Machine Learning.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713160" y="5074920"/>
            <a:ext cx="2926080" cy="360"/>
          </a:xfrm>
          <a:prstGeom prst="line">
            <a:avLst/>
          </a:prstGeom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713160" y="51663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by CodeByPaxto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02920"/>
            <a:ext cx="402120" cy="48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 0"/>
          <p:cNvSpPr/>
          <p:nvPr/>
        </p:nvSpPr>
        <p:spPr>
          <a:xfrm>
            <a:off x="640080" y="118872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WHERE THIS FITS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640080" y="153612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The AI &amp; ML Playground Roadmap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2"/>
          <p:cNvSpPr/>
          <p:nvPr/>
        </p:nvSpPr>
        <p:spPr>
          <a:xfrm>
            <a:off x="640080" y="3977640"/>
            <a:ext cx="1094760" cy="868320"/>
          </a:xfrm>
          <a:prstGeom prst="roundRect">
            <a:avLst>
              <a:gd name="adj" fmla="val 8421"/>
            </a:avLst>
          </a:prstGeom>
          <a:solidFill>
            <a:srgbClr val="162032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3"/>
          <p:cNvSpPr/>
          <p:nvPr/>
        </p:nvSpPr>
        <p:spPr>
          <a:xfrm>
            <a:off x="685800" y="3977640"/>
            <a:ext cx="100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Python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1735200" y="3977640"/>
            <a:ext cx="173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5"/>
          <p:cNvSpPr/>
          <p:nvPr/>
        </p:nvSpPr>
        <p:spPr>
          <a:xfrm>
            <a:off x="1863360" y="3977640"/>
            <a:ext cx="1094760" cy="868320"/>
          </a:xfrm>
          <a:prstGeom prst="roundRect">
            <a:avLst>
              <a:gd name="adj" fmla="val 8421"/>
            </a:avLst>
          </a:prstGeom>
          <a:solidFill>
            <a:srgbClr val="162032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1909080" y="3977640"/>
            <a:ext cx="100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Math for DS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2958480" y="3977640"/>
            <a:ext cx="173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8"/>
          <p:cNvSpPr/>
          <p:nvPr/>
        </p:nvSpPr>
        <p:spPr>
          <a:xfrm>
            <a:off x="3086640" y="3977640"/>
            <a:ext cx="1094760" cy="868320"/>
          </a:xfrm>
          <a:prstGeom prst="roundRect">
            <a:avLst>
              <a:gd name="adj" fmla="val 8421"/>
            </a:avLst>
          </a:prstGeom>
          <a:solidFill>
            <a:srgbClr val="162032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9"/>
          <p:cNvSpPr/>
          <p:nvPr/>
        </p:nvSpPr>
        <p:spPr>
          <a:xfrm>
            <a:off x="3132360" y="3977640"/>
            <a:ext cx="100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Git &amp; GitHub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4181760" y="3977640"/>
            <a:ext cx="173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1"/>
          <p:cNvSpPr/>
          <p:nvPr/>
        </p:nvSpPr>
        <p:spPr>
          <a:xfrm>
            <a:off x="4309920" y="3977640"/>
            <a:ext cx="1094760" cy="868320"/>
          </a:xfrm>
          <a:prstGeom prst="roundRect">
            <a:avLst>
              <a:gd name="adj" fmla="val 8421"/>
            </a:avLst>
          </a:prstGeom>
          <a:solidFill>
            <a:srgbClr val="162032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2"/>
          <p:cNvSpPr/>
          <p:nvPr/>
        </p:nvSpPr>
        <p:spPr>
          <a:xfrm>
            <a:off x="4355640" y="3977640"/>
            <a:ext cx="100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NumPy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3"/>
          <p:cNvSpPr/>
          <p:nvPr/>
        </p:nvSpPr>
        <p:spPr>
          <a:xfrm>
            <a:off x="5405040" y="3977640"/>
            <a:ext cx="173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4"/>
          <p:cNvSpPr/>
          <p:nvPr/>
        </p:nvSpPr>
        <p:spPr>
          <a:xfrm>
            <a:off x="5533200" y="3977640"/>
            <a:ext cx="1094760" cy="868320"/>
          </a:xfrm>
          <a:prstGeom prst="roundRect">
            <a:avLst>
              <a:gd name="adj" fmla="val 8421"/>
            </a:avLst>
          </a:prstGeom>
          <a:solidFill>
            <a:srgbClr val="162032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5"/>
          <p:cNvSpPr/>
          <p:nvPr/>
        </p:nvSpPr>
        <p:spPr>
          <a:xfrm>
            <a:off x="5578920" y="3977640"/>
            <a:ext cx="100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Pandas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6"/>
          <p:cNvSpPr/>
          <p:nvPr/>
        </p:nvSpPr>
        <p:spPr>
          <a:xfrm>
            <a:off x="6628320" y="3977640"/>
            <a:ext cx="173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7"/>
          <p:cNvSpPr/>
          <p:nvPr/>
        </p:nvSpPr>
        <p:spPr>
          <a:xfrm>
            <a:off x="6756480" y="3977640"/>
            <a:ext cx="1094760" cy="868320"/>
          </a:xfrm>
          <a:prstGeom prst="roundRect">
            <a:avLst>
              <a:gd name="adj" fmla="val 8421"/>
            </a:avLst>
          </a:prstGeom>
          <a:solidFill>
            <a:srgbClr val="818C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8"/>
          <p:cNvSpPr/>
          <p:nvPr/>
        </p:nvSpPr>
        <p:spPr>
          <a:xfrm>
            <a:off x="6802200" y="3977640"/>
            <a:ext cx="100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B0F17"/>
                </a:solidFill>
                <a:effectLst/>
                <a:uFillTx/>
                <a:latin typeface="Plus Jakarta Sans"/>
                <a:ea typeface="Plus Jakarta Sans"/>
              </a:rPr>
              <a:t>Matplotlib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9"/>
          <p:cNvSpPr/>
          <p:nvPr/>
        </p:nvSpPr>
        <p:spPr>
          <a:xfrm>
            <a:off x="7851600" y="3977640"/>
            <a:ext cx="173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0"/>
          <p:cNvSpPr/>
          <p:nvPr/>
        </p:nvSpPr>
        <p:spPr>
          <a:xfrm>
            <a:off x="7979760" y="3977640"/>
            <a:ext cx="1094760" cy="868320"/>
          </a:xfrm>
          <a:prstGeom prst="roundRect">
            <a:avLst>
              <a:gd name="adj" fmla="val 8421"/>
            </a:avLst>
          </a:prstGeom>
          <a:solidFill>
            <a:srgbClr val="162032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1"/>
          <p:cNvSpPr/>
          <p:nvPr/>
        </p:nvSpPr>
        <p:spPr>
          <a:xfrm>
            <a:off x="8025480" y="3977640"/>
            <a:ext cx="100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Seaborn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2"/>
          <p:cNvSpPr/>
          <p:nvPr/>
        </p:nvSpPr>
        <p:spPr>
          <a:xfrm>
            <a:off x="9074880" y="3977640"/>
            <a:ext cx="173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3"/>
          <p:cNvSpPr/>
          <p:nvPr/>
        </p:nvSpPr>
        <p:spPr>
          <a:xfrm>
            <a:off x="9203040" y="3977640"/>
            <a:ext cx="1094760" cy="868320"/>
          </a:xfrm>
          <a:prstGeom prst="roundRect">
            <a:avLst>
              <a:gd name="adj" fmla="val 8421"/>
            </a:avLst>
          </a:prstGeom>
          <a:solidFill>
            <a:srgbClr val="162032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4"/>
          <p:cNvSpPr/>
          <p:nvPr/>
        </p:nvSpPr>
        <p:spPr>
          <a:xfrm>
            <a:off x="9248760" y="3977640"/>
            <a:ext cx="100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Data Analytics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5"/>
          <p:cNvSpPr/>
          <p:nvPr/>
        </p:nvSpPr>
        <p:spPr>
          <a:xfrm>
            <a:off x="10298160" y="3977640"/>
            <a:ext cx="173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6"/>
          <p:cNvSpPr/>
          <p:nvPr/>
        </p:nvSpPr>
        <p:spPr>
          <a:xfrm>
            <a:off x="10426320" y="3977640"/>
            <a:ext cx="1094760" cy="868320"/>
          </a:xfrm>
          <a:prstGeom prst="roundRect">
            <a:avLst>
              <a:gd name="adj" fmla="val 8421"/>
            </a:avLst>
          </a:prstGeom>
          <a:solidFill>
            <a:srgbClr val="162032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7"/>
          <p:cNvSpPr/>
          <p:nvPr/>
        </p:nvSpPr>
        <p:spPr>
          <a:xfrm>
            <a:off x="10472040" y="3977640"/>
            <a:ext cx="100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Supervised ML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8"/>
          <p:cNvSpPr/>
          <p:nvPr/>
        </p:nvSpPr>
        <p:spPr>
          <a:xfrm>
            <a:off x="640080" y="5212080"/>
            <a:ext cx="10240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You are here —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Matplotlib turns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the clean arrays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and DataFrames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you built in NumPy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and Pandas into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visuals you can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actually reason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about, and it's the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visualization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language you'll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keep using all the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way through </a:t>
            </a: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Machine Learning.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WHAT WE'RE COVERING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Today's Roadmap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548640" y="1554480"/>
            <a:ext cx="3611520" cy="107856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713160" y="168264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713160" y="2103120"/>
            <a:ext cx="328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Foundations &amp; Terminology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6"/>
          <p:cNvSpPr/>
          <p:nvPr/>
        </p:nvSpPr>
        <p:spPr>
          <a:xfrm>
            <a:off x="4297680" y="1554480"/>
            <a:ext cx="3611520" cy="107856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4462200" y="168264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4462200" y="2103120"/>
            <a:ext cx="328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Getting Started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9"/>
          <p:cNvSpPr/>
          <p:nvPr/>
        </p:nvSpPr>
        <p:spPr>
          <a:xfrm>
            <a:off x="8046720" y="1554480"/>
            <a:ext cx="3611520" cy="107856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0"/>
          <p:cNvSpPr/>
          <p:nvPr/>
        </p:nvSpPr>
        <p:spPr>
          <a:xfrm>
            <a:off x="8211240" y="168264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1"/>
          <p:cNvSpPr/>
          <p:nvPr/>
        </p:nvSpPr>
        <p:spPr>
          <a:xfrm>
            <a:off x="8211240" y="2103120"/>
            <a:ext cx="328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Pyplot &amp; Line Plots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2"/>
          <p:cNvSpPr/>
          <p:nvPr/>
        </p:nvSpPr>
        <p:spPr>
          <a:xfrm>
            <a:off x="548640" y="2779920"/>
            <a:ext cx="3611520" cy="107856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3"/>
          <p:cNvSpPr/>
          <p:nvPr/>
        </p:nvSpPr>
        <p:spPr>
          <a:xfrm>
            <a:off x="713160" y="290772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4"/>
          <p:cNvSpPr/>
          <p:nvPr/>
        </p:nvSpPr>
        <p:spPr>
          <a:xfrm>
            <a:off x="713160" y="3328560"/>
            <a:ext cx="328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Bar, Pie, Histogram, Scatter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5"/>
          <p:cNvSpPr/>
          <p:nvPr/>
        </p:nvSpPr>
        <p:spPr>
          <a:xfrm>
            <a:off x="4297680" y="2779920"/>
            <a:ext cx="3611520" cy="107856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6"/>
          <p:cNvSpPr/>
          <p:nvPr/>
        </p:nvSpPr>
        <p:spPr>
          <a:xfrm>
            <a:off x="4462200" y="290772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7"/>
          <p:cNvSpPr/>
          <p:nvPr/>
        </p:nvSpPr>
        <p:spPr>
          <a:xfrm>
            <a:off x="4462200" y="3328560"/>
            <a:ext cx="328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Subplots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8"/>
          <p:cNvSpPr/>
          <p:nvPr/>
        </p:nvSpPr>
        <p:spPr>
          <a:xfrm>
            <a:off x="8046720" y="2779920"/>
            <a:ext cx="3611520" cy="107856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9"/>
          <p:cNvSpPr/>
          <p:nvPr/>
        </p:nvSpPr>
        <p:spPr>
          <a:xfrm>
            <a:off x="8211240" y="290772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0"/>
          <p:cNvSpPr/>
          <p:nvPr/>
        </p:nvSpPr>
        <p:spPr>
          <a:xfrm>
            <a:off x="8211240" y="3328560"/>
            <a:ext cx="328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Object-Oriented API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1"/>
          <p:cNvSpPr/>
          <p:nvPr/>
        </p:nvSpPr>
        <p:spPr>
          <a:xfrm>
            <a:off x="548640" y="4005000"/>
            <a:ext cx="3611520" cy="107856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2"/>
          <p:cNvSpPr/>
          <p:nvPr/>
        </p:nvSpPr>
        <p:spPr>
          <a:xfrm>
            <a:off x="713160" y="413316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07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3"/>
          <p:cNvSpPr/>
          <p:nvPr/>
        </p:nvSpPr>
        <p:spPr>
          <a:xfrm>
            <a:off x="713160" y="4553640"/>
            <a:ext cx="328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Controlling the View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4"/>
          <p:cNvSpPr/>
          <p:nvPr/>
        </p:nvSpPr>
        <p:spPr>
          <a:xfrm>
            <a:off x="4297680" y="4005000"/>
            <a:ext cx="3611520" cy="107856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5"/>
          <p:cNvSpPr/>
          <p:nvPr/>
        </p:nvSpPr>
        <p:spPr>
          <a:xfrm>
            <a:off x="4462200" y="413316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6"/>
          <p:cNvSpPr/>
          <p:nvPr/>
        </p:nvSpPr>
        <p:spPr>
          <a:xfrm>
            <a:off x="4462200" y="4553640"/>
            <a:ext cx="328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Color &amp; Customization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7"/>
          <p:cNvSpPr/>
          <p:nvPr/>
        </p:nvSpPr>
        <p:spPr>
          <a:xfrm>
            <a:off x="8046720" y="4005000"/>
            <a:ext cx="3611520" cy="107856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8"/>
          <p:cNvSpPr/>
          <p:nvPr/>
        </p:nvSpPr>
        <p:spPr>
          <a:xfrm>
            <a:off x="8211240" y="413316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09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9"/>
          <p:cNvSpPr/>
          <p:nvPr/>
        </p:nvSpPr>
        <p:spPr>
          <a:xfrm>
            <a:off x="8211240" y="4553640"/>
            <a:ext cx="328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Text, Annotations &amp; Stats Plots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30"/>
          <p:cNvSpPr/>
          <p:nvPr/>
        </p:nvSpPr>
        <p:spPr>
          <a:xfrm>
            <a:off x="548640" y="5230440"/>
            <a:ext cx="3611520" cy="107856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1"/>
          <p:cNvSpPr/>
          <p:nvPr/>
        </p:nvSpPr>
        <p:spPr>
          <a:xfrm>
            <a:off x="713160" y="535824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10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2"/>
          <p:cNvSpPr/>
          <p:nvPr/>
        </p:nvSpPr>
        <p:spPr>
          <a:xfrm>
            <a:off x="713160" y="5779080"/>
            <a:ext cx="328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Saving Figures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3"/>
          <p:cNvSpPr/>
          <p:nvPr/>
        </p:nvSpPr>
        <p:spPr>
          <a:xfrm>
            <a:off x="4297680" y="5230440"/>
            <a:ext cx="3611520" cy="107856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4"/>
          <p:cNvSpPr/>
          <p:nvPr/>
        </p:nvSpPr>
        <p:spPr>
          <a:xfrm>
            <a:off x="4462200" y="535824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11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35"/>
          <p:cNvSpPr/>
          <p:nvPr/>
        </p:nvSpPr>
        <p:spPr>
          <a:xfrm>
            <a:off x="4462200" y="5779080"/>
            <a:ext cx="328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NumPy &amp; Pandas Integration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36"/>
          <p:cNvSpPr/>
          <p:nvPr/>
        </p:nvSpPr>
        <p:spPr>
          <a:xfrm>
            <a:off x="8046720" y="5230440"/>
            <a:ext cx="3611520" cy="107856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7"/>
          <p:cNvSpPr/>
          <p:nvPr/>
        </p:nvSpPr>
        <p:spPr>
          <a:xfrm>
            <a:off x="8211240" y="535824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12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38"/>
          <p:cNvSpPr/>
          <p:nvPr/>
        </p:nvSpPr>
        <p:spPr>
          <a:xfrm>
            <a:off x="8211240" y="5779080"/>
            <a:ext cx="328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Matplotlib for AI/ML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 · FOUNDATIONS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Foundations &amp; Terminology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19 core terms — the shared vocabulary you'll use for every chart you ever build in Matplotlib.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 · 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Terms 1–4 · Building Blocks of a Chart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3"/>
          <p:cNvSpPr/>
          <p:nvPr/>
        </p:nvSpPr>
        <p:spPr>
          <a:xfrm>
            <a:off x="54864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4"/>
          <p:cNvSpPr/>
          <p:nvPr/>
        </p:nvSpPr>
        <p:spPr>
          <a:xfrm>
            <a:off x="71316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71316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118872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Data Point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71316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 single (x, y) value plotted on a chart — one observation from your dataset.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8"/>
          <p:cNvSpPr/>
          <p:nvPr/>
        </p:nvSpPr>
        <p:spPr>
          <a:xfrm>
            <a:off x="337176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9"/>
          <p:cNvSpPr/>
          <p:nvPr/>
        </p:nvSpPr>
        <p:spPr>
          <a:xfrm>
            <a:off x="353628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0"/>
          <p:cNvSpPr/>
          <p:nvPr/>
        </p:nvSpPr>
        <p:spPr>
          <a:xfrm>
            <a:off x="353628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401184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X-axis / Y-axis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2"/>
          <p:cNvSpPr/>
          <p:nvPr/>
        </p:nvSpPr>
        <p:spPr>
          <a:xfrm>
            <a:off x="353628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horizontal (X) and vertical (Y) reference lines a chart is measured against.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3"/>
          <p:cNvSpPr/>
          <p:nvPr/>
        </p:nvSpPr>
        <p:spPr>
          <a:xfrm>
            <a:off x="619524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4"/>
          <p:cNvSpPr/>
          <p:nvPr/>
        </p:nvSpPr>
        <p:spPr>
          <a:xfrm>
            <a:off x="635976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635976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6"/>
          <p:cNvSpPr/>
          <p:nvPr/>
        </p:nvSpPr>
        <p:spPr>
          <a:xfrm>
            <a:off x="683532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Figure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7"/>
          <p:cNvSpPr/>
          <p:nvPr/>
        </p:nvSpPr>
        <p:spPr>
          <a:xfrm>
            <a:off x="635976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entire canvas or window that holds everything — like the picture frame.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8"/>
          <p:cNvSpPr/>
          <p:nvPr/>
        </p:nvSpPr>
        <p:spPr>
          <a:xfrm>
            <a:off x="901836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9"/>
          <p:cNvSpPr/>
          <p:nvPr/>
        </p:nvSpPr>
        <p:spPr>
          <a:xfrm>
            <a:off x="918288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0"/>
          <p:cNvSpPr/>
          <p:nvPr/>
        </p:nvSpPr>
        <p:spPr>
          <a:xfrm>
            <a:off x="918288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1"/>
          <p:cNvSpPr/>
          <p:nvPr/>
        </p:nvSpPr>
        <p:spPr>
          <a:xfrm>
            <a:off x="965844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Axes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2"/>
          <p:cNvSpPr/>
          <p:nvPr/>
        </p:nvSpPr>
        <p:spPr>
          <a:xfrm>
            <a:off x="918288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One individual plot area inside a Figure — the thing you actually draw 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 · 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Terms 5–8 · Describing a Plot's Look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3"/>
          <p:cNvSpPr/>
          <p:nvPr/>
        </p:nvSpPr>
        <p:spPr>
          <a:xfrm>
            <a:off x="54864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4"/>
          <p:cNvSpPr/>
          <p:nvPr/>
        </p:nvSpPr>
        <p:spPr>
          <a:xfrm>
            <a:off x="71316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71316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6"/>
          <p:cNvSpPr/>
          <p:nvPr/>
        </p:nvSpPr>
        <p:spPr>
          <a:xfrm>
            <a:off x="118872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Plot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7"/>
          <p:cNvSpPr/>
          <p:nvPr/>
        </p:nvSpPr>
        <p:spPr>
          <a:xfrm>
            <a:off x="71316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 visual representation of data — a line, bar, scatter, etc. drawn on Axes.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8"/>
          <p:cNvSpPr/>
          <p:nvPr/>
        </p:nvSpPr>
        <p:spPr>
          <a:xfrm>
            <a:off x="337176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9"/>
          <p:cNvSpPr/>
          <p:nvPr/>
        </p:nvSpPr>
        <p:spPr>
          <a:xfrm>
            <a:off x="353628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0"/>
          <p:cNvSpPr/>
          <p:nvPr/>
        </p:nvSpPr>
        <p:spPr>
          <a:xfrm>
            <a:off x="353628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1"/>
          <p:cNvSpPr/>
          <p:nvPr/>
        </p:nvSpPr>
        <p:spPr>
          <a:xfrm>
            <a:off x="401184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Marker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2"/>
          <p:cNvSpPr/>
          <p:nvPr/>
        </p:nvSpPr>
        <p:spPr>
          <a:xfrm>
            <a:off x="353628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symbol used for each data point — circle, triangle, x, and more.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3"/>
          <p:cNvSpPr/>
          <p:nvPr/>
        </p:nvSpPr>
        <p:spPr>
          <a:xfrm>
            <a:off x="619524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4"/>
          <p:cNvSpPr/>
          <p:nvPr/>
        </p:nvSpPr>
        <p:spPr>
          <a:xfrm>
            <a:off x="635976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5"/>
          <p:cNvSpPr/>
          <p:nvPr/>
        </p:nvSpPr>
        <p:spPr>
          <a:xfrm>
            <a:off x="635976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7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6"/>
          <p:cNvSpPr/>
          <p:nvPr/>
        </p:nvSpPr>
        <p:spPr>
          <a:xfrm>
            <a:off x="683532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Line Style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7"/>
          <p:cNvSpPr/>
          <p:nvPr/>
        </p:nvSpPr>
        <p:spPr>
          <a:xfrm>
            <a:off x="635976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How a line looks — solid, dashed, dotted, dash-dot.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8"/>
          <p:cNvSpPr/>
          <p:nvPr/>
        </p:nvSpPr>
        <p:spPr>
          <a:xfrm>
            <a:off x="901836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9"/>
          <p:cNvSpPr/>
          <p:nvPr/>
        </p:nvSpPr>
        <p:spPr>
          <a:xfrm>
            <a:off x="918288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0"/>
          <p:cNvSpPr/>
          <p:nvPr/>
        </p:nvSpPr>
        <p:spPr>
          <a:xfrm>
            <a:off x="918288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8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1"/>
          <p:cNvSpPr/>
          <p:nvPr/>
        </p:nvSpPr>
        <p:spPr>
          <a:xfrm>
            <a:off x="965844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Color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2"/>
          <p:cNvSpPr/>
          <p:nvPr/>
        </p:nvSpPr>
        <p:spPr>
          <a:xfrm>
            <a:off x="918288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visual color assigned to a line, bar, marker, or fill.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 · 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Terms 9–12 · Labeling What You See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3"/>
          <p:cNvSpPr/>
          <p:nvPr/>
        </p:nvSpPr>
        <p:spPr>
          <a:xfrm>
            <a:off x="54864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4"/>
          <p:cNvSpPr/>
          <p:nvPr/>
        </p:nvSpPr>
        <p:spPr>
          <a:xfrm>
            <a:off x="71316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5"/>
          <p:cNvSpPr/>
          <p:nvPr/>
        </p:nvSpPr>
        <p:spPr>
          <a:xfrm>
            <a:off x="71316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9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6"/>
          <p:cNvSpPr/>
          <p:nvPr/>
        </p:nvSpPr>
        <p:spPr>
          <a:xfrm>
            <a:off x="118872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Legend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71316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 key that maps colors/markers to what they 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represent.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8"/>
          <p:cNvSpPr/>
          <p:nvPr/>
        </p:nvSpPr>
        <p:spPr>
          <a:xfrm>
            <a:off x="337176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9"/>
          <p:cNvSpPr/>
          <p:nvPr/>
        </p:nvSpPr>
        <p:spPr>
          <a:xfrm>
            <a:off x="353628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0"/>
          <p:cNvSpPr/>
          <p:nvPr/>
        </p:nvSpPr>
        <p:spPr>
          <a:xfrm>
            <a:off x="353628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1"/>
          <p:cNvSpPr/>
          <p:nvPr/>
        </p:nvSpPr>
        <p:spPr>
          <a:xfrm>
            <a:off x="401184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Label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2"/>
          <p:cNvSpPr/>
          <p:nvPr/>
        </p:nvSpPr>
        <p:spPr>
          <a:xfrm>
            <a:off x="353628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Text describing a data series, axis, or point.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3"/>
          <p:cNvSpPr/>
          <p:nvPr/>
        </p:nvSpPr>
        <p:spPr>
          <a:xfrm>
            <a:off x="619524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4"/>
          <p:cNvSpPr/>
          <p:nvPr/>
        </p:nvSpPr>
        <p:spPr>
          <a:xfrm>
            <a:off x="635976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5"/>
          <p:cNvSpPr/>
          <p:nvPr/>
        </p:nvSpPr>
        <p:spPr>
          <a:xfrm>
            <a:off x="635976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6"/>
          <p:cNvSpPr/>
          <p:nvPr/>
        </p:nvSpPr>
        <p:spPr>
          <a:xfrm>
            <a:off x="683532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Title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7"/>
          <p:cNvSpPr/>
          <p:nvPr/>
        </p:nvSpPr>
        <p:spPr>
          <a:xfrm>
            <a:off x="635976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heading text that 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names the whole chart.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8"/>
          <p:cNvSpPr/>
          <p:nvPr/>
        </p:nvSpPr>
        <p:spPr>
          <a:xfrm>
            <a:off x="901836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9"/>
          <p:cNvSpPr/>
          <p:nvPr/>
        </p:nvSpPr>
        <p:spPr>
          <a:xfrm>
            <a:off x="918288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0"/>
          <p:cNvSpPr/>
          <p:nvPr/>
        </p:nvSpPr>
        <p:spPr>
          <a:xfrm>
            <a:off x="918288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1"/>
          <p:cNvSpPr/>
          <p:nvPr/>
        </p:nvSpPr>
        <p:spPr>
          <a:xfrm>
            <a:off x="965844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Grid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2"/>
          <p:cNvSpPr/>
          <p:nvPr/>
        </p:nvSpPr>
        <p:spPr>
          <a:xfrm>
            <a:off x="918288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Light background lines that help read values across a chart.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 · 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Terms 13–16 · The Language of Code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7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3"/>
          <p:cNvSpPr/>
          <p:nvPr/>
        </p:nvSpPr>
        <p:spPr>
          <a:xfrm>
            <a:off x="54864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4"/>
          <p:cNvSpPr/>
          <p:nvPr/>
        </p:nvSpPr>
        <p:spPr>
          <a:xfrm>
            <a:off x="71316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5"/>
          <p:cNvSpPr/>
          <p:nvPr/>
        </p:nvSpPr>
        <p:spPr>
          <a:xfrm>
            <a:off x="71316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6"/>
          <p:cNvSpPr/>
          <p:nvPr/>
        </p:nvSpPr>
        <p:spPr>
          <a:xfrm>
            <a:off x="118872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Functi</a:t>
            </a: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7"/>
          <p:cNvSpPr/>
          <p:nvPr/>
        </p:nvSpPr>
        <p:spPr>
          <a:xfrm>
            <a:off x="71316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 reusable block of code that performs a task, e.g. plt.plot().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8"/>
          <p:cNvSpPr/>
          <p:nvPr/>
        </p:nvSpPr>
        <p:spPr>
          <a:xfrm>
            <a:off x="337176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9"/>
          <p:cNvSpPr/>
          <p:nvPr/>
        </p:nvSpPr>
        <p:spPr>
          <a:xfrm>
            <a:off x="353628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0"/>
          <p:cNvSpPr/>
          <p:nvPr/>
        </p:nvSpPr>
        <p:spPr>
          <a:xfrm>
            <a:off x="353628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1"/>
          <p:cNvSpPr/>
          <p:nvPr/>
        </p:nvSpPr>
        <p:spPr>
          <a:xfrm>
            <a:off x="401184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Method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2"/>
          <p:cNvSpPr/>
          <p:nvPr/>
        </p:nvSpPr>
        <p:spPr>
          <a:xfrm>
            <a:off x="353628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 function that belongs to an object, e.g. ax.plot().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3"/>
          <p:cNvSpPr/>
          <p:nvPr/>
        </p:nvSpPr>
        <p:spPr>
          <a:xfrm>
            <a:off x="619524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4"/>
          <p:cNvSpPr/>
          <p:nvPr/>
        </p:nvSpPr>
        <p:spPr>
          <a:xfrm>
            <a:off x="635976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5"/>
          <p:cNvSpPr/>
          <p:nvPr/>
        </p:nvSpPr>
        <p:spPr>
          <a:xfrm>
            <a:off x="635976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6"/>
          <p:cNvSpPr/>
          <p:nvPr/>
        </p:nvSpPr>
        <p:spPr>
          <a:xfrm>
            <a:off x="683532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Parameters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7"/>
          <p:cNvSpPr/>
          <p:nvPr/>
        </p:nvSpPr>
        <p:spPr>
          <a:xfrm>
            <a:off x="635976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inputs a function/method accepts, e.g. x, y in plt.plot(x, y).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8"/>
          <p:cNvSpPr/>
          <p:nvPr/>
        </p:nvSpPr>
        <p:spPr>
          <a:xfrm>
            <a:off x="901836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9"/>
          <p:cNvSpPr/>
          <p:nvPr/>
        </p:nvSpPr>
        <p:spPr>
          <a:xfrm>
            <a:off x="918288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0"/>
          <p:cNvSpPr/>
          <p:nvPr/>
        </p:nvSpPr>
        <p:spPr>
          <a:xfrm>
            <a:off x="918288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1"/>
          <p:cNvSpPr/>
          <p:nvPr/>
        </p:nvSpPr>
        <p:spPr>
          <a:xfrm>
            <a:off x="965844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Keyword Arguments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2"/>
          <p:cNvSpPr/>
          <p:nvPr/>
        </p:nvSpPr>
        <p:spPr>
          <a:xfrm>
            <a:off x="918288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Named parameters passed as name=value, e.g. color="red".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 · 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Terms 17–19 · Structure, Quality &amp; Rendering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3"/>
          <p:cNvSpPr/>
          <p:nvPr/>
        </p:nvSpPr>
        <p:spPr>
          <a:xfrm>
            <a:off x="548640" y="1600200"/>
            <a:ext cx="3580920" cy="42058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4"/>
          <p:cNvSpPr/>
          <p:nvPr/>
        </p:nvSpPr>
        <p:spPr>
          <a:xfrm>
            <a:off x="71316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5"/>
          <p:cNvSpPr/>
          <p:nvPr/>
        </p:nvSpPr>
        <p:spPr>
          <a:xfrm>
            <a:off x="71316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17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6"/>
          <p:cNvSpPr/>
          <p:nvPr/>
        </p:nvSpPr>
        <p:spPr>
          <a:xfrm>
            <a:off x="1188720" y="1746360"/>
            <a:ext cx="275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Object-Oriented API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7"/>
          <p:cNvSpPr/>
          <p:nvPr/>
        </p:nvSpPr>
        <p:spPr>
          <a:xfrm>
            <a:off x="713160" y="2221920"/>
            <a:ext cx="325188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Building a chart via explicit fig and ax objects: ax.plot(), ax.set_title().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8"/>
          <p:cNvSpPr/>
          <p:nvPr/>
        </p:nvSpPr>
        <p:spPr>
          <a:xfrm>
            <a:off x="4312800" y="1600200"/>
            <a:ext cx="3580920" cy="42058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9"/>
          <p:cNvSpPr/>
          <p:nvPr/>
        </p:nvSpPr>
        <p:spPr>
          <a:xfrm>
            <a:off x="447768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0"/>
          <p:cNvSpPr/>
          <p:nvPr/>
        </p:nvSpPr>
        <p:spPr>
          <a:xfrm>
            <a:off x="447768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18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1"/>
          <p:cNvSpPr/>
          <p:nvPr/>
        </p:nvSpPr>
        <p:spPr>
          <a:xfrm>
            <a:off x="4952880" y="1746360"/>
            <a:ext cx="275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DPI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2"/>
          <p:cNvSpPr/>
          <p:nvPr/>
        </p:nvSpPr>
        <p:spPr>
          <a:xfrm>
            <a:off x="4477680" y="2221920"/>
            <a:ext cx="325188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Dots Per Inch — controls the resolution/sharpness of a saved or displayed figure.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3"/>
          <p:cNvSpPr/>
          <p:nvPr/>
        </p:nvSpPr>
        <p:spPr>
          <a:xfrm>
            <a:off x="8077320" y="1600200"/>
            <a:ext cx="3580920" cy="42058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4"/>
          <p:cNvSpPr/>
          <p:nvPr/>
        </p:nvSpPr>
        <p:spPr>
          <a:xfrm>
            <a:off x="824184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5"/>
          <p:cNvSpPr/>
          <p:nvPr/>
        </p:nvSpPr>
        <p:spPr>
          <a:xfrm>
            <a:off x="824184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19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6"/>
          <p:cNvSpPr/>
          <p:nvPr/>
        </p:nvSpPr>
        <p:spPr>
          <a:xfrm>
            <a:off x="8717400" y="1746360"/>
            <a:ext cx="275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Backend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7"/>
          <p:cNvSpPr/>
          <p:nvPr/>
        </p:nvSpPr>
        <p:spPr>
          <a:xfrm>
            <a:off x="8241840" y="2221920"/>
            <a:ext cx="325188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system Matplotlib uses to render or display a figure (screen, file, notebook).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 · 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Figure vs. Axes — Visualized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3"/>
          <p:cNvSpPr/>
          <p:nvPr/>
        </p:nvSpPr>
        <p:spPr>
          <a:xfrm>
            <a:off x="822960" y="1554480"/>
            <a:ext cx="5760360" cy="4205880"/>
          </a:xfrm>
          <a:prstGeom prst="roundRect">
            <a:avLst>
              <a:gd name="adj" fmla="val 3043"/>
            </a:avLst>
          </a:prstGeom>
          <a:solidFill>
            <a:srgbClr val="F0ECF4"/>
          </a:solidFill>
          <a:ln w="19050">
            <a:solidFill>
              <a:srgbClr val="5755A7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4"/>
          <p:cNvSpPr/>
          <p:nvPr/>
        </p:nvSpPr>
        <p:spPr>
          <a:xfrm>
            <a:off x="1005840" y="166428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Figure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5"/>
          <p:cNvSpPr/>
          <p:nvPr/>
        </p:nvSpPr>
        <p:spPr>
          <a:xfrm>
            <a:off x="1280160" y="2194560"/>
            <a:ext cx="4845960" cy="320004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6"/>
          <p:cNvSpPr/>
          <p:nvPr/>
        </p:nvSpPr>
        <p:spPr>
          <a:xfrm>
            <a:off x="1417320" y="22676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E185D"/>
                </a:solidFill>
                <a:effectLst/>
                <a:uFillTx/>
                <a:latin typeface="Bricolage Grotesque"/>
                <a:ea typeface="Bricolage Grotesque"/>
              </a:rPr>
              <a:t>Axes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7"/>
          <p:cNvSpPr/>
          <p:nvPr/>
        </p:nvSpPr>
        <p:spPr>
          <a:xfrm>
            <a:off x="1645920" y="4937760"/>
            <a:ext cx="411480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8"/>
          <p:cNvSpPr/>
          <p:nvPr/>
        </p:nvSpPr>
        <p:spPr>
          <a:xfrm>
            <a:off x="1645920" y="2651760"/>
            <a:ext cx="360" cy="228600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9"/>
          <p:cNvSpPr/>
          <p:nvPr/>
        </p:nvSpPr>
        <p:spPr>
          <a:xfrm>
            <a:off x="5120640" y="50108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X-axis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0"/>
          <p:cNvSpPr/>
          <p:nvPr/>
        </p:nvSpPr>
        <p:spPr>
          <a:xfrm>
            <a:off x="1371600" y="26517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Y-axis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2" name="Image 1" descr="/home/claude/mpl/charts/subplots_two.png"/>
          <p:cNvPicPr/>
          <p:nvPr/>
        </p:nvPicPr>
        <p:blipFill>
          <a:blip r:embed="rId2"/>
          <a:stretch/>
        </p:blipFill>
        <p:spPr>
          <a:xfrm>
            <a:off x="2103120" y="2971800"/>
            <a:ext cx="3382920" cy="164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Text 11"/>
          <p:cNvSpPr/>
          <p:nvPr/>
        </p:nvSpPr>
        <p:spPr>
          <a:xfrm>
            <a:off x="6903720" y="1691640"/>
            <a:ext cx="45716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Figure is the whole canvas — the entire window or image file.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 Axes is one plot area living inside that Figure — it holds the actual X-axis, Y-axis, title, legend, and data.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One Figure can contain many Axes (this is exactly what Subplots are, covered in Part 5).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Every plt.plot(), plt.title(), etc. call quietly targets "the current Axes" of "the current Figure."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 · 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Foundations &amp; Terminology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 your own words, explain the difference between a Figure and an Axes.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Sketch a simple chart on paper and label its title, legend, X-axis, and Y-axis.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 the difference between a function and a method, using plt.plot() and ax.plot() as your examples.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7"/>
          <p:cNvSpPr/>
          <p:nvPr/>
        </p:nvSpPr>
        <p:spPr>
          <a:xfrm>
            <a:off x="548640" y="48736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8"/>
          <p:cNvSpPr/>
          <p:nvPr/>
        </p:nvSpPr>
        <p:spPr>
          <a:xfrm>
            <a:off x="731520" y="51206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9"/>
          <p:cNvSpPr/>
          <p:nvPr/>
        </p:nvSpPr>
        <p:spPr>
          <a:xfrm>
            <a:off x="731520" y="5120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0"/>
          <p:cNvSpPr/>
          <p:nvPr/>
        </p:nvSpPr>
        <p:spPr>
          <a:xfrm>
            <a:off x="1234440" y="48736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List two keyword arguments you'd expect plt.plot() to accept, and what each one controls.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6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" name="Text 2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1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2 · GETTING STARTED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Getting Started with Matplotlib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Installing, </a:t>
            </a: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importing, and </a:t>
            </a: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understanding the </a:t>
            </a: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basic workflow </a:t>
            </a: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before you plot </a:t>
            </a: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anything.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12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2 · GETTING STARTED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Installing &amp; Importing Matplotlib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8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3"/>
          <p:cNvSpPr/>
          <p:nvPr/>
        </p:nvSpPr>
        <p:spPr>
          <a:xfrm>
            <a:off x="548640" y="1691640"/>
            <a:ext cx="54860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Install once per environment: pip install matplotlib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pyplot module is the part we use most — it's imported with a standard alias, plt.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plt.show() renders the current Figure — in scripts it opens a window; in Jupyter it displays inline.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Nothing appears on screen until show() is called (in most environments) — building the plot and displaying it are two separate steps.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4"/>
          <p:cNvSpPr/>
          <p:nvPr/>
        </p:nvSpPr>
        <p:spPr>
          <a:xfrm>
            <a:off x="6309360" y="1691640"/>
            <a:ext cx="5348880" cy="2742840"/>
          </a:xfrm>
          <a:prstGeom prst="roundRect">
            <a:avLst>
              <a:gd name="adj" fmla="val 4000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5"/>
          <p:cNvSpPr/>
          <p:nvPr/>
        </p:nvSpPr>
        <p:spPr>
          <a:xfrm>
            <a:off x="647388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6"/>
          <p:cNvSpPr/>
          <p:nvPr/>
        </p:nvSpPr>
        <p:spPr>
          <a:xfrm>
            <a:off x="667512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7"/>
          <p:cNvSpPr/>
          <p:nvPr/>
        </p:nvSpPr>
        <p:spPr>
          <a:xfrm>
            <a:off x="687636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8"/>
          <p:cNvSpPr/>
          <p:nvPr/>
        </p:nvSpPr>
        <p:spPr>
          <a:xfrm>
            <a:off x="6510600" y="2075760"/>
            <a:ext cx="4946400" cy="22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one-time install (terminal)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r>
              <a:rPr lang="en-US" sz="1150" b="0" u="none" strike="noStrike">
                <a:solidFill>
                  <a:srgbClr val="2DD4BF"/>
                </a:solidFill>
                <a:effectLst/>
                <a:uFillTx/>
                <a:latin typeface="Cantarell"/>
                <a:ea typeface="Consolas"/>
              </a:rPr>
              <a:t>pip install matplotlib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every notebook / script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r>
              <a:rPr lang="en-US" sz="1150" b="0" u="none" strike="noStrike">
                <a:solidFill>
                  <a:srgbClr val="818CF8"/>
                </a:solidFill>
                <a:effectLst/>
                <a:uFillTx/>
                <a:latin typeface="Cantarell"/>
                <a:ea typeface="Consolas"/>
              </a:rPr>
              <a:t>import matplotlib.pyplot as plt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plt.plot([1, 2, 3], [4, 9, 16])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plt.show()  </a:t>
            </a: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render it!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76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2 · GETTING STARTED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Basic Matplotlib Workflow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3"/>
          <p:cNvSpPr/>
          <p:nvPr/>
        </p:nvSpPr>
        <p:spPr>
          <a:xfrm>
            <a:off x="548640" y="1737360"/>
            <a:ext cx="2605680" cy="28342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4"/>
          <p:cNvSpPr/>
          <p:nvPr/>
        </p:nvSpPr>
        <p:spPr>
          <a:xfrm>
            <a:off x="731520" y="1920240"/>
            <a:ext cx="914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5"/>
          <p:cNvSpPr/>
          <p:nvPr/>
        </p:nvSpPr>
        <p:spPr>
          <a:xfrm>
            <a:off x="731520" y="26060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Prepare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6"/>
          <p:cNvSpPr/>
          <p:nvPr/>
        </p:nvSpPr>
        <p:spPr>
          <a:xfrm>
            <a:off x="731520" y="3063240"/>
            <a:ext cx="2239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Lists, NumPy arrays, or Pandas columns for X and 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7"/>
          <p:cNvSpPr/>
          <p:nvPr/>
        </p:nvSpPr>
        <p:spPr>
          <a:xfrm>
            <a:off x="3154680" y="1737360"/>
            <a:ext cx="18252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755A7"/>
                </a:solidFill>
                <a:effectLst/>
                <a:uFillTx/>
                <a:latin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8"/>
          <p:cNvSpPr/>
          <p:nvPr/>
        </p:nvSpPr>
        <p:spPr>
          <a:xfrm>
            <a:off x="3337560" y="1737360"/>
            <a:ext cx="2605680" cy="2834280"/>
          </a:xfrm>
          <a:prstGeom prst="roundRect">
            <a:avLst>
              <a:gd name="adj" fmla="val 4211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9"/>
          <p:cNvSpPr/>
          <p:nvPr/>
        </p:nvSpPr>
        <p:spPr>
          <a:xfrm>
            <a:off x="3520440" y="1920240"/>
            <a:ext cx="914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0"/>
          <p:cNvSpPr/>
          <p:nvPr/>
        </p:nvSpPr>
        <p:spPr>
          <a:xfrm>
            <a:off x="3520440" y="26060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Create a Figure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1"/>
          <p:cNvSpPr/>
          <p:nvPr/>
        </p:nvSpPr>
        <p:spPr>
          <a:xfrm>
            <a:off x="3520440" y="3063240"/>
            <a:ext cx="2239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plt.figure() or plt.subplots() sets up the canvas.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2"/>
          <p:cNvSpPr/>
          <p:nvPr/>
        </p:nvSpPr>
        <p:spPr>
          <a:xfrm>
            <a:off x="5943600" y="1737360"/>
            <a:ext cx="18252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755A7"/>
                </a:solidFill>
                <a:effectLst/>
                <a:uFillTx/>
                <a:latin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3"/>
          <p:cNvSpPr/>
          <p:nvPr/>
        </p:nvSpPr>
        <p:spPr>
          <a:xfrm>
            <a:off x="6126480" y="1737360"/>
            <a:ext cx="2605680" cy="28342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4"/>
          <p:cNvSpPr/>
          <p:nvPr/>
        </p:nvSpPr>
        <p:spPr>
          <a:xfrm>
            <a:off x="6309360" y="1920240"/>
            <a:ext cx="914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5"/>
          <p:cNvSpPr/>
          <p:nvPr/>
        </p:nvSpPr>
        <p:spPr>
          <a:xfrm>
            <a:off x="6309360" y="26060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Plot &amp; customize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6"/>
          <p:cNvSpPr/>
          <p:nvPr/>
        </p:nvSpPr>
        <p:spPr>
          <a:xfrm>
            <a:off x="6309360" y="3063240"/>
            <a:ext cx="2239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plt.plot()/bar()/... then labels, title, legend, grid.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7"/>
          <p:cNvSpPr/>
          <p:nvPr/>
        </p:nvSpPr>
        <p:spPr>
          <a:xfrm>
            <a:off x="8732520" y="1737360"/>
            <a:ext cx="18252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755A7"/>
                </a:solidFill>
                <a:effectLst/>
                <a:uFillTx/>
                <a:latin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8"/>
          <p:cNvSpPr/>
          <p:nvPr/>
        </p:nvSpPr>
        <p:spPr>
          <a:xfrm>
            <a:off x="8915400" y="1737360"/>
            <a:ext cx="2605680" cy="2834280"/>
          </a:xfrm>
          <a:prstGeom prst="roundRect">
            <a:avLst>
              <a:gd name="adj" fmla="val 4211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9"/>
          <p:cNvSpPr/>
          <p:nvPr/>
        </p:nvSpPr>
        <p:spPr>
          <a:xfrm>
            <a:off x="9098280" y="1920240"/>
            <a:ext cx="914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0"/>
          <p:cNvSpPr/>
          <p:nvPr/>
        </p:nvSpPr>
        <p:spPr>
          <a:xfrm>
            <a:off x="9098280" y="2606040"/>
            <a:ext cx="223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Show or save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1"/>
          <p:cNvSpPr/>
          <p:nvPr/>
        </p:nvSpPr>
        <p:spPr>
          <a:xfrm>
            <a:off x="9098280" y="3063240"/>
            <a:ext cx="2239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plt.show() to view, plt.savefig() to export.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2"/>
          <p:cNvSpPr/>
          <p:nvPr/>
        </p:nvSpPr>
        <p:spPr>
          <a:xfrm>
            <a:off x="548640" y="4892040"/>
            <a:ext cx="110638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Two ways to build Figures: plt.figure() creates a blank canvas you plot onto with pyplot commands. plt.subplots() creates a Figure and one or more Axes at once, and hands them back to you — this is the door into the Object-Oriented API (Part 6).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2 · GETTING STARTED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Two APIs, One Library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4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3"/>
          <p:cNvSpPr/>
          <p:nvPr/>
        </p:nvSpPr>
        <p:spPr>
          <a:xfrm>
            <a:off x="548640" y="1737360"/>
            <a:ext cx="521172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4"/>
          <p:cNvSpPr/>
          <p:nvPr/>
        </p:nvSpPr>
        <p:spPr>
          <a:xfrm>
            <a:off x="777240" y="1965960"/>
            <a:ext cx="2742840" cy="2923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5"/>
          <p:cNvSpPr/>
          <p:nvPr/>
        </p:nvSpPr>
        <p:spPr>
          <a:xfrm>
            <a:off x="777240" y="196596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PYPLOT / PROCEDURAL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6"/>
          <p:cNvSpPr/>
          <p:nvPr/>
        </p:nvSpPr>
        <p:spPr>
          <a:xfrm>
            <a:off x="777240" y="2423160"/>
            <a:ext cx="4754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Quick and direct. You call plt.___() functions and Matplotlib tracks "the current figure" for you.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7"/>
          <p:cNvSpPr/>
          <p:nvPr/>
        </p:nvSpPr>
        <p:spPr>
          <a:xfrm>
            <a:off x="777240" y="3337560"/>
            <a:ext cx="4754520" cy="2194200"/>
          </a:xfrm>
          <a:prstGeom prst="roundRect">
            <a:avLst>
              <a:gd name="adj" fmla="val 5000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8"/>
          <p:cNvSpPr/>
          <p:nvPr/>
        </p:nvSpPr>
        <p:spPr>
          <a:xfrm>
            <a:off x="941760" y="348372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9"/>
          <p:cNvSpPr/>
          <p:nvPr/>
        </p:nvSpPr>
        <p:spPr>
          <a:xfrm>
            <a:off x="1143000" y="348372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0"/>
          <p:cNvSpPr/>
          <p:nvPr/>
        </p:nvSpPr>
        <p:spPr>
          <a:xfrm>
            <a:off x="1344240" y="348372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1"/>
          <p:cNvSpPr/>
          <p:nvPr/>
        </p:nvSpPr>
        <p:spPr>
          <a:xfrm>
            <a:off x="978480" y="3721680"/>
            <a:ext cx="4352040" cy="166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plt.plot(x, y)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plt.title("Sales")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plt.xlabel("Month")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plt.show()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15" name="Shape 12"/>
          <p:cNvSpPr/>
          <p:nvPr/>
        </p:nvSpPr>
        <p:spPr>
          <a:xfrm>
            <a:off x="6217920" y="1737360"/>
            <a:ext cx="521172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13"/>
          <p:cNvSpPr/>
          <p:nvPr/>
        </p:nvSpPr>
        <p:spPr>
          <a:xfrm>
            <a:off x="6446520" y="1965960"/>
            <a:ext cx="2742840" cy="29232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4"/>
          <p:cNvSpPr/>
          <p:nvPr/>
        </p:nvSpPr>
        <p:spPr>
          <a:xfrm>
            <a:off x="6446520" y="196596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31F71"/>
                </a:solidFill>
                <a:effectLst/>
                <a:uFillTx/>
                <a:latin typeface="Plus Jakarta Sans"/>
                <a:ea typeface="Plus Jakarta Sans"/>
              </a:rPr>
              <a:t>OBJECT-ORIENTED (OO)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5"/>
          <p:cNvSpPr/>
          <p:nvPr/>
        </p:nvSpPr>
        <p:spPr>
          <a:xfrm>
            <a:off x="6446520" y="2423160"/>
            <a:ext cx="4754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Explicit and scalable. You hold onto fig and ax objects and call methods on them directly.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16"/>
          <p:cNvSpPr/>
          <p:nvPr/>
        </p:nvSpPr>
        <p:spPr>
          <a:xfrm>
            <a:off x="6446520" y="3337560"/>
            <a:ext cx="4754520" cy="2194200"/>
          </a:xfrm>
          <a:prstGeom prst="roundRect">
            <a:avLst>
              <a:gd name="adj" fmla="val 5000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7"/>
          <p:cNvSpPr/>
          <p:nvPr/>
        </p:nvSpPr>
        <p:spPr>
          <a:xfrm>
            <a:off x="6611040" y="348372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8"/>
          <p:cNvSpPr/>
          <p:nvPr/>
        </p:nvSpPr>
        <p:spPr>
          <a:xfrm>
            <a:off x="6812280" y="348372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9"/>
          <p:cNvSpPr/>
          <p:nvPr/>
        </p:nvSpPr>
        <p:spPr>
          <a:xfrm>
            <a:off x="7013520" y="348372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0"/>
          <p:cNvSpPr/>
          <p:nvPr/>
        </p:nvSpPr>
        <p:spPr>
          <a:xfrm>
            <a:off x="6647760" y="3721680"/>
            <a:ext cx="4352040" cy="166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fig, ax = plt.subplots()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ax.plot(x, y)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ax.set_title("Sales")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ax.set_xlabel("Month")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plt.show()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24" name="Text 21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2 · GETTING STARTED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Your First Plot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7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8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3"/>
          <p:cNvSpPr/>
          <p:nvPr/>
        </p:nvSpPr>
        <p:spPr>
          <a:xfrm>
            <a:off x="548640" y="169164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7"/>
          <p:cNvSpPr/>
          <p:nvPr/>
        </p:nvSpPr>
        <p:spPr>
          <a:xfrm>
            <a:off x="749880" y="2075760"/>
            <a:ext cx="499212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matplotlib.pyplot as plt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x = [1, 2, 3, 4, 5]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y = [16, 40, 26, 50, 45]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plt.plot(x, y)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plt.show()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34" name="Shape 8"/>
          <p:cNvSpPr/>
          <p:nvPr/>
        </p:nvSpPr>
        <p:spPr>
          <a:xfrm>
            <a:off x="6172200" y="1691640"/>
            <a:ext cx="5486040" cy="3291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5" name="Image 1" descr="/home/claude/mpl/charts/line_sales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307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6" name="Text 9"/>
          <p:cNvSpPr/>
          <p:nvPr/>
        </p:nvSpPr>
        <p:spPr>
          <a:xfrm>
            <a:off x="6172200" y="5074920"/>
            <a:ext cx="5486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Three lists become three visual ideas: position along X, height along Y, and the connecting line between them. Every chart you'll build starts from this same idea.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2 · GETTING STARTED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Getting Started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Import matplotlib.pyplot and plot any 5 numbers of your choice against their squares.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Create a Figure with plt.figure() and a separate one with plt.subplots() — compare what each gives you back.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Predict what happens if you remove plt.show() from a script, then test it and see if you were right.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17"/>
          <p:cNvSpPr/>
          <p:nvPr/>
        </p:nvSpPr>
        <p:spPr>
          <a:xfrm>
            <a:off x="548640" y="48736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18"/>
          <p:cNvSpPr/>
          <p:nvPr/>
        </p:nvSpPr>
        <p:spPr>
          <a:xfrm>
            <a:off x="731520" y="51206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9"/>
          <p:cNvSpPr/>
          <p:nvPr/>
        </p:nvSpPr>
        <p:spPr>
          <a:xfrm>
            <a:off x="731520" y="5120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20"/>
          <p:cNvSpPr/>
          <p:nvPr/>
        </p:nvSpPr>
        <p:spPr>
          <a:xfrm>
            <a:off x="1234440" y="48736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Rewrite one pyplot-style plot using the Object-Oriented style, without looking back at the slides.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0" name="Text 2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2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4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5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3 · PYPLOT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Pyplot &amp; Line Plots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 deep, hands-on look at plt.plot() and everything that controls how a line chart looks and reads.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18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Anatomy of plt.plot()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1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2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3"/>
          <p:cNvSpPr/>
          <p:nvPr/>
        </p:nvSpPr>
        <p:spPr>
          <a:xfrm>
            <a:off x="548640" y="1691640"/>
            <a:ext cx="484596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7"/>
          <p:cNvSpPr/>
          <p:nvPr/>
        </p:nvSpPr>
        <p:spPr>
          <a:xfrm>
            <a:off x="749880" y="2075760"/>
            <a:ext cx="444348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plt.plot(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r>
              <a:rPr lang="en-US" sz="1350" b="0" u="none" strike="noStrike">
                <a:solidFill>
                  <a:srgbClr val="2DD4BF"/>
                </a:solidFill>
                <a:effectLst/>
                <a:uFillTx/>
                <a:latin typeface="Cantarell"/>
                <a:ea typeface="Consolas"/>
              </a:rPr>
              <a:t>    x, y,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color=</a:t>
            </a:r>
            <a:r>
              <a:rPr lang="en-US" sz="1350" b="0" u="none" strike="noStrike">
                <a:solidFill>
                  <a:srgbClr val="F43F5E"/>
                </a:solidFill>
                <a:effectLst/>
                <a:uFillTx/>
                <a:latin typeface="Cantarell"/>
                <a:ea typeface="Consolas"/>
              </a:rPr>
              <a:t>"color_name"</a:t>
            </a: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,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linestyle=</a:t>
            </a:r>
            <a:r>
              <a:rPr lang="en-US" sz="1350" b="0" u="none" strike="noStrike">
                <a:solidFill>
                  <a:srgbClr val="F43F5E"/>
                </a:solidFill>
                <a:effectLst/>
                <a:uFillTx/>
                <a:latin typeface="Cantarell"/>
                <a:ea typeface="Consolas"/>
              </a:rPr>
              <a:t>"line_style"</a:t>
            </a: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,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linewidth=</a:t>
            </a:r>
            <a:r>
              <a:rPr lang="en-US" sz="1350" b="0" u="none" strike="noStrike">
                <a:solidFill>
                  <a:srgbClr val="F43F5E"/>
                </a:solidFill>
                <a:effectLst/>
                <a:uFillTx/>
                <a:latin typeface="Cantarell"/>
                <a:ea typeface="Consolas"/>
              </a:rPr>
              <a:t>value</a:t>
            </a: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,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marker=</a:t>
            </a:r>
            <a:r>
              <a:rPr lang="en-US" sz="1350" b="0" u="none" strike="noStrike">
                <a:solidFill>
                  <a:srgbClr val="F43F5E"/>
                </a:solidFill>
                <a:effectLst/>
                <a:uFillTx/>
                <a:latin typeface="Cantarell"/>
                <a:ea typeface="Consolas"/>
              </a:rPr>
              <a:t>"marker_style"</a:t>
            </a: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,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label=</a:t>
            </a:r>
            <a:r>
              <a:rPr lang="en-US" sz="1350" b="0" u="none" strike="noStrike">
                <a:solidFill>
                  <a:srgbClr val="F43F5E"/>
                </a:solidFill>
                <a:effectLst/>
                <a:uFillTx/>
                <a:latin typeface="Cantarell"/>
                <a:ea typeface="Consolas"/>
              </a:rPr>
              <a:t>"label_name"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graphicFrame>
        <p:nvGraphicFramePr>
          <p:cNvPr id="378" name="Table 0"/>
          <p:cNvGraphicFramePr/>
          <p:nvPr/>
        </p:nvGraphicFramePr>
        <p:xfrm>
          <a:off x="5623560" y="1691640"/>
          <a:ext cx="6034680" cy="3931560"/>
        </p:xfrm>
        <a:graphic>
          <a:graphicData uri="http://schemas.openxmlformats.org/drawingml/2006/table">
            <a:tbl>
              <a:tblPr/>
              <a:tblGrid>
                <a:gridCol w="1931040"/>
                <a:gridCol w="4103640"/>
              </a:tblGrid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x, 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The data being plotted — position and value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color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Line color — named color or hex code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linestyle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Solid, dashed, dotted, dash-dot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linewidth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Thickness of the line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marker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Symbol drawn at each data point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label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Name shown for this line in the legend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9" name="Text 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Multiple Lines on One Chart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3"/>
          <p:cNvSpPr/>
          <p:nvPr/>
        </p:nvSpPr>
        <p:spPr>
          <a:xfrm>
            <a:off x="548640" y="169164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7"/>
          <p:cNvSpPr/>
          <p:nvPr/>
        </p:nvSpPr>
        <p:spPr>
          <a:xfrm>
            <a:off x="749880" y="2075760"/>
            <a:ext cx="508356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days = ["Monday", "Tuesday", "Wednesday",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    "Thursday", "Friday"]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sales = [120, 150, 100, 180, 160]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expenses = [80, 100, 90, 120, 110]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plt.plot(days, sales, label="Sales")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plt.plot(days, expenses, label="Expenses")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plt.title("Weekly Sales vs Expenses")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plt.xlabel("Weekdays")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plt.ylabel("Amount")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plt.legend()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plt.show()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89" name="Shape 8"/>
          <p:cNvSpPr/>
          <p:nvPr/>
        </p:nvSpPr>
        <p:spPr>
          <a:xfrm>
            <a:off x="6172200" y="1691640"/>
            <a:ext cx="5486040" cy="3291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0" name="Image 1" descr="/home/claude/mpl/charts/line_sales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290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1" name="Text 9"/>
          <p:cNvSpPr/>
          <p:nvPr/>
        </p:nvSpPr>
        <p:spPr>
          <a:xfrm>
            <a:off x="6172200" y="470916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Two series, one Axes, one legend.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0"/>
          <p:cNvSpPr/>
          <p:nvPr/>
        </p:nvSpPr>
        <p:spPr>
          <a:xfrm>
            <a:off x="6172200" y="4983480"/>
            <a:ext cx="5486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Calling plt.plot() twice draws two lines on the same Axes.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Each label= becomes an entry once you call plt.legend().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1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Color &amp; Line Style Options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6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7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98" name="Table 0"/>
          <p:cNvGraphicFramePr/>
          <p:nvPr/>
        </p:nvGraphicFramePr>
        <p:xfrm>
          <a:off x="548640" y="1691640"/>
          <a:ext cx="5577480" cy="4023000"/>
        </p:xfrm>
        <a:graphic>
          <a:graphicData uri="http://schemas.openxmlformats.org/drawingml/2006/table">
            <a:tbl>
              <a:tblPr/>
              <a:tblGrid>
                <a:gridCol w="1784880"/>
                <a:gridCol w="3792600"/>
              </a:tblGrid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"red", "blue", "green"...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Named colors — the simplest way to set color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"#5755A7"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Hex codes — for precise, brand-exact colors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"-"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Solid line (the default)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"--"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Dashed line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":"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Dotted line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"-."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Dash-dot line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9" name="Text 3"/>
          <p:cNvSpPr/>
          <p:nvPr/>
        </p:nvSpPr>
        <p:spPr>
          <a:xfrm>
            <a:off x="6446520" y="1691640"/>
            <a:ext cx="521172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color= accepts a named color ("red") or a hex string ("#BE185D") — both work identically.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linestyle= changes how the connecting line looks without touching the data at all.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These two parameters alone are often enough to tell two lines apart at a glance — even before a legend.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4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Markers &amp; Line Width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3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4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05" name="Table 0"/>
          <p:cNvGraphicFramePr/>
          <p:nvPr/>
        </p:nvGraphicFramePr>
        <p:xfrm>
          <a:off x="548640" y="1691640"/>
          <a:ext cx="5577480" cy="4023000"/>
        </p:xfrm>
        <a:graphic>
          <a:graphicData uri="http://schemas.openxmlformats.org/drawingml/2006/table">
            <a:tbl>
              <a:tblPr/>
              <a:tblGrid>
                <a:gridCol w="1784880"/>
                <a:gridCol w="3792600"/>
              </a:tblGrid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"o"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Circle marker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"x"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X marker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"^"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Triangle marker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"s"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Square marker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markersize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Controls how big each marker is drawn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4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linewidth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Controls how thick the connecting line is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6" name="Shape 3"/>
          <p:cNvSpPr/>
          <p:nvPr/>
        </p:nvSpPr>
        <p:spPr>
          <a:xfrm>
            <a:off x="6446520" y="1691640"/>
            <a:ext cx="5211720" cy="3931560"/>
          </a:xfrm>
          <a:prstGeom prst="roundRect">
            <a:avLst>
              <a:gd name="adj" fmla="val 2791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4"/>
          <p:cNvSpPr/>
          <p:nvPr/>
        </p:nvSpPr>
        <p:spPr>
          <a:xfrm>
            <a:off x="661104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5"/>
          <p:cNvSpPr/>
          <p:nvPr/>
        </p:nvSpPr>
        <p:spPr>
          <a:xfrm>
            <a:off x="681228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6"/>
          <p:cNvSpPr/>
          <p:nvPr/>
        </p:nvSpPr>
        <p:spPr>
          <a:xfrm>
            <a:off x="701352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7"/>
          <p:cNvSpPr/>
          <p:nvPr/>
        </p:nvSpPr>
        <p:spPr>
          <a:xfrm>
            <a:off x="6647760" y="2075760"/>
            <a:ext cx="4809240" cy="340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plt.plot(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x, y,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color="red",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linestyle=":",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linewidth=2,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marker="o",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label="Sales"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411" name="Text 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Putting It All Together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4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5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3"/>
          <p:cNvSpPr/>
          <p:nvPr/>
        </p:nvSpPr>
        <p:spPr>
          <a:xfrm>
            <a:off x="548640" y="169164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7"/>
          <p:cNvSpPr/>
          <p:nvPr/>
        </p:nvSpPr>
        <p:spPr>
          <a:xfrm>
            <a:off x="749880" y="2075760"/>
            <a:ext cx="508356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plt.plot(months, sales, color="red",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linestyle=":", linewidth=2,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marker="o", label="Sales")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plt.plot(months, expenses, color="blue",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linestyle=":", linewidth=2,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marker="o", label="Expenses")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plt.title("Monthly Sales and Expenses")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plt.xlabel("Quarters")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plt.ylabel("Amount")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plt.legend(loc="lower right")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421" name="Shape 8"/>
          <p:cNvSpPr/>
          <p:nvPr/>
        </p:nvSpPr>
        <p:spPr>
          <a:xfrm>
            <a:off x="6172200" y="1691640"/>
            <a:ext cx="5486040" cy="3565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2" name="Image 1" descr="/home/claude/mpl/charts/line_sales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318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3" name="Text 9"/>
          <p:cNvSpPr/>
          <p:nvPr/>
        </p:nvSpPr>
        <p:spPr>
          <a:xfrm>
            <a:off x="6172200" y="498348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color + linestyle + marker + label, combined.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Titles, Labels &amp; Legend Placement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7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8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 ·  AI &amp; ML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Playground  ·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29" name="Table 0"/>
          <p:cNvGraphicFramePr/>
          <p:nvPr/>
        </p:nvGraphicFramePr>
        <p:xfrm>
          <a:off x="548640" y="1691640"/>
          <a:ext cx="11109600" cy="3931560"/>
        </p:xfrm>
        <a:graphic>
          <a:graphicData uri="http://schemas.openxmlformats.org/drawingml/2006/table">
            <a:tbl>
              <a:tblPr/>
              <a:tblGrid>
                <a:gridCol w="3555000"/>
                <a:gridCol w="7554600"/>
              </a:tblGrid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plt.title("...")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Sets the chart's overall title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plt.xlabel("...")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Names what the X-axis represents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plt.ylabel("...")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Names what the Y-axis represents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3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plt.legend()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Draws the legend using each label=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plt.legend(loc="upper left")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Places the legend in a specific corner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plt.legend(loc="best")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Lets Matplotlib pick the least crowded spot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0" name="Text 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Controlling Ticks: xticks() &amp; yticks()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3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4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3"/>
          <p:cNvSpPr/>
          <p:nvPr/>
        </p:nvSpPr>
        <p:spPr>
          <a:xfrm>
            <a:off x="548640" y="1691640"/>
            <a:ext cx="5211720" cy="3931560"/>
          </a:xfrm>
          <a:prstGeom prst="roundRect">
            <a:avLst>
              <a:gd name="adj" fmla="val 2791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7"/>
          <p:cNvSpPr/>
          <p:nvPr/>
        </p:nvSpPr>
        <p:spPr>
          <a:xfrm>
            <a:off x="749880" y="2075760"/>
            <a:ext cx="4809240" cy="340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plt.xticks(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[0, 3, 6, 9],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["Q1", "Q2", "Q3", "Q4"]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plt.yticks(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[50, 150, 250, 350],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["50-150", "150-250",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 "250-350", "350+"]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440" name="Text 8"/>
          <p:cNvSpPr/>
          <p:nvPr/>
        </p:nvSpPr>
        <p:spPr>
          <a:xfrm>
            <a:off x="6035040" y="1691640"/>
            <a:ext cx="562320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By default, ticks are placed automatically at even, readable intervals.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Pass a list of positions plus a list of custom labels to relabel any tick — great for grouping 12 months into 4 quarters.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position list and label list must be the same length, matched one-to-one.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Useful for renaming raw values into ranges or categories readers understand instantly.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Grid — plt.grid()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4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5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46" name="Table 0"/>
          <p:cNvGraphicFramePr/>
          <p:nvPr/>
        </p:nvGraphicFramePr>
        <p:xfrm>
          <a:off x="548640" y="1691640"/>
          <a:ext cx="11109600" cy="3931560"/>
        </p:xfrm>
        <a:graphic>
          <a:graphicData uri="http://schemas.openxmlformats.org/drawingml/2006/table">
            <a:tbl>
              <a:tblPr/>
              <a:tblGrid>
                <a:gridCol w="3555000"/>
                <a:gridCol w="7554600"/>
              </a:tblGrid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plt.grid()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Turns the grid on (default style)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plt.grid(False)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Turns the grid off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axis="x" / "y" / "both"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Show only vertical, only horizontal, or both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linestyle=":"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Style of the grid lines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linewidth=0.5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Thickness of the grid lines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alpha=0.5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Transparency of the grid lines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7" name="Text 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Setting the Range: plt.ylim()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0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1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3"/>
          <p:cNvSpPr/>
          <p:nvPr/>
        </p:nvSpPr>
        <p:spPr>
          <a:xfrm>
            <a:off x="548640" y="1691640"/>
            <a:ext cx="5211720" cy="2011320"/>
          </a:xfrm>
          <a:prstGeom prst="roundRect">
            <a:avLst>
              <a:gd name="adj" fmla="val 5455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7"/>
          <p:cNvSpPr/>
          <p:nvPr/>
        </p:nvSpPr>
        <p:spPr>
          <a:xfrm>
            <a:off x="749880" y="2075760"/>
            <a:ext cx="4809240" cy="14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plt.ylim(0, 350)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# also available: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plt.xlim(min_val, max_val)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457" name="Text 8"/>
          <p:cNvSpPr/>
          <p:nvPr/>
        </p:nvSpPr>
        <p:spPr>
          <a:xfrm>
            <a:off x="548640" y="3886200"/>
            <a:ext cx="52117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plt.ylim(min, max) fixes the visible Y-axis range instead of letting Matplotlib auto-scale 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Useful for keeping axis ranges consistent when comparing several charts side by side.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plt.xlim() does the same thing for the X-axis.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9"/>
          <p:cNvSpPr/>
          <p:nvPr/>
        </p:nvSpPr>
        <p:spPr>
          <a:xfrm>
            <a:off x="6035040" y="1691640"/>
            <a:ext cx="5623200" cy="4023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9" name="Image 1" descr="/home/claude/mpl/charts/line_sales.png"/>
          <p:cNvPicPr/>
          <p:nvPr/>
        </p:nvPicPr>
        <p:blipFill>
          <a:blip r:embed="rId2"/>
          <a:stretch/>
        </p:blipFill>
        <p:spPr>
          <a:xfrm>
            <a:off x="6144840" y="1801440"/>
            <a:ext cx="5403600" cy="363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0" name="Text 10"/>
          <p:cNvSpPr/>
          <p:nvPr/>
        </p:nvSpPr>
        <p:spPr>
          <a:xfrm>
            <a:off x="6035040" y="544068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ylim(0, 350) keeps the chart's scale predictable.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11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Pyplot &amp; Line Plots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Plot your monthly expenses vs. income for 6 months with dotted lines and markers.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Add a legend, title, and axis labels to the chart above.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Relabel your X-axis ticks to show quarters instead of individual months.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17"/>
          <p:cNvSpPr/>
          <p:nvPr/>
        </p:nvSpPr>
        <p:spPr>
          <a:xfrm>
            <a:off x="548640" y="48736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18"/>
          <p:cNvSpPr/>
          <p:nvPr/>
        </p:nvSpPr>
        <p:spPr>
          <a:xfrm>
            <a:off x="731520" y="51206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19"/>
          <p:cNvSpPr/>
          <p:nvPr/>
        </p:nvSpPr>
        <p:spPr>
          <a:xfrm>
            <a:off x="731520" y="5120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20"/>
          <p:cNvSpPr/>
          <p:nvPr/>
        </p:nvSpPr>
        <p:spPr>
          <a:xfrm>
            <a:off x="1234440" y="48736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Fix the Y-axis range with plt.ylim() so two related charts stay visually comparable.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3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4" name="Text 2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2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8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9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4 · BAR CHARTS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Bar Charts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Comparing categories side by side with plt.bar() and plt.barh().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29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 · BAR CHARTS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Anatomy of plt.bar()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5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6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3"/>
          <p:cNvSpPr/>
          <p:nvPr/>
        </p:nvSpPr>
        <p:spPr>
          <a:xfrm>
            <a:off x="548640" y="1691640"/>
            <a:ext cx="5028840" cy="3382920"/>
          </a:xfrm>
          <a:prstGeom prst="roundRect">
            <a:avLst>
              <a:gd name="adj" fmla="val 3243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7"/>
          <p:cNvSpPr/>
          <p:nvPr/>
        </p:nvSpPr>
        <p:spPr>
          <a:xfrm>
            <a:off x="749880" y="2075760"/>
            <a:ext cx="4626360" cy="28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plt.bar(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x,        # category positions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height,   # bar values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color="color_name",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width=value,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label="label_name"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graphicFrame>
        <p:nvGraphicFramePr>
          <p:cNvPr id="502" name="Table 0"/>
          <p:cNvGraphicFramePr/>
          <p:nvPr/>
        </p:nvGraphicFramePr>
        <p:xfrm>
          <a:off x="5806440" y="1691640"/>
          <a:ext cx="5851800" cy="3382920"/>
        </p:xfrm>
        <a:graphic>
          <a:graphicData uri="http://schemas.openxmlformats.org/drawingml/2006/table">
            <a:tbl>
              <a:tblPr/>
              <a:tblGrid>
                <a:gridCol w="1872360"/>
                <a:gridCol w="3979440"/>
              </a:tblGrid>
              <a:tr h="5637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637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x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Category names or positions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height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Values represented by each bar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color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Bar fill color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width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How wide each bar is drawn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label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Name used in the legend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3" name="Text 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 · BAR CHARTS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Grouped Bars — Comparing Two Series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6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7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3"/>
          <p:cNvSpPr/>
          <p:nvPr/>
        </p:nvSpPr>
        <p:spPr>
          <a:xfrm>
            <a:off x="548640" y="169164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7"/>
          <p:cNvSpPr/>
          <p:nvPr/>
        </p:nvSpPr>
        <p:spPr>
          <a:xfrm>
            <a:off x="749880" y="2075760"/>
            <a:ext cx="499212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x = np.arange(len(products))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width = 0.4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plt.bar(x - width/2, sales_2026,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width=width, color="orange",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label="Sales 2026")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plt.bar(x + width/2, sales_2025,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width=width, color="blue",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label="Sales 2025")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plt.xticks(x, products)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plt.legend()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513" name="Shape 8"/>
          <p:cNvSpPr/>
          <p:nvPr/>
        </p:nvSpPr>
        <p:spPr>
          <a:xfrm>
            <a:off x="6172200" y="1691640"/>
            <a:ext cx="5486040" cy="3291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4" name="Image 1" descr="/home/claude/mpl/charts/bar_grouped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307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5" name="Text 9"/>
          <p:cNvSpPr/>
          <p:nvPr/>
        </p:nvSpPr>
        <p:spPr>
          <a:xfrm>
            <a:off x="6172200" y="5074920"/>
            <a:ext cx="5486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np.arange() gives evenly spaced positions; shifting each series by ± width/2 sits the two bars side by side instead of stacking on top of each other.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 · BAR CHARTS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Horizontal Bars — plt.barh()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0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3"/>
          <p:cNvSpPr/>
          <p:nvPr/>
        </p:nvSpPr>
        <p:spPr>
          <a:xfrm>
            <a:off x="548640" y="1691640"/>
            <a:ext cx="5211720" cy="2742840"/>
          </a:xfrm>
          <a:prstGeom prst="roundRect">
            <a:avLst>
              <a:gd name="adj" fmla="val 4000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7"/>
          <p:cNvSpPr/>
          <p:nvPr/>
        </p:nvSpPr>
        <p:spPr>
          <a:xfrm>
            <a:off x="749880" y="2075760"/>
            <a:ext cx="4809240" cy="22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plt.barh(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languages,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repositories,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color="teal"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plt.xlabel("Repositories")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526" name="Text 8"/>
          <p:cNvSpPr/>
          <p:nvPr/>
        </p:nvSpPr>
        <p:spPr>
          <a:xfrm>
            <a:off x="548640" y="4617720"/>
            <a:ext cx="52117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plt.barh() flips the orientation — categories run down the Y-axis instead of across the X-axis.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Ideal when category names are long, or when you have many categories to list.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9"/>
          <p:cNvSpPr/>
          <p:nvPr/>
        </p:nvSpPr>
        <p:spPr>
          <a:xfrm>
            <a:off x="6035040" y="1691640"/>
            <a:ext cx="5623200" cy="425160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8" name="Image 1" descr="/home/claude/mpl/charts/bar_horizontal.png"/>
          <p:cNvPicPr/>
          <p:nvPr/>
        </p:nvPicPr>
        <p:blipFill>
          <a:blip r:embed="rId2"/>
          <a:stretch/>
        </p:blipFill>
        <p:spPr>
          <a:xfrm>
            <a:off x="6144840" y="1801440"/>
            <a:ext cx="5403600" cy="403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9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 · BAR CHARTS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Quick Reference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34" name="Table 0"/>
          <p:cNvGraphicFramePr/>
          <p:nvPr/>
        </p:nvGraphicFramePr>
        <p:xfrm>
          <a:off x="548640" y="1691640"/>
          <a:ext cx="11109600" cy="3566160"/>
        </p:xfrm>
        <a:graphic>
          <a:graphicData uri="http://schemas.openxmlformats.org/drawingml/2006/table">
            <a:tbl>
              <a:tblPr/>
              <a:tblGrid>
                <a:gridCol w="3555000"/>
                <a:gridCol w="7554600"/>
              </a:tblGrid>
              <a:tr h="5943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943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plt.bar(x, height)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Vertical bars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plt.barh(y, width)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Horizontal bars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width=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Controls bar thickness (vertical bars)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x ± width/2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The trick for placing grouped bars side by side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color=[list]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Assign a different color per bar or series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5" name="Text 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 · BAR CHARTS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Bar Charts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Plot the number of hours you studied each day this week as a bar chart.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Turn it into a grouped bar chart comparing this week vs. last week.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Convert your chart to horizontal bars using plt.barh().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17"/>
          <p:cNvSpPr/>
          <p:nvPr/>
        </p:nvSpPr>
        <p:spPr>
          <a:xfrm>
            <a:off x="548640" y="48736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18"/>
          <p:cNvSpPr/>
          <p:nvPr/>
        </p:nvSpPr>
        <p:spPr>
          <a:xfrm>
            <a:off x="731520" y="51206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19"/>
          <p:cNvSpPr/>
          <p:nvPr/>
        </p:nvSpPr>
        <p:spPr>
          <a:xfrm>
            <a:off x="731520" y="5120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20"/>
          <p:cNvSpPr/>
          <p:nvPr/>
        </p:nvSpPr>
        <p:spPr>
          <a:xfrm>
            <a:off x="1234440" y="48736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Give each bar a distinct color and a label so a legend makes sense.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7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8" name="Text 2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2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3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5 · PIE CHARTS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Pie Charts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Showing how a whole splits into parts with plt.pie().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35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5 · PIE CHARTS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Anatomy of plt.pie()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0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3"/>
          <p:cNvSpPr/>
          <p:nvPr/>
        </p:nvSpPr>
        <p:spPr>
          <a:xfrm>
            <a:off x="548640" y="1691640"/>
            <a:ext cx="4937400" cy="3931560"/>
          </a:xfrm>
          <a:prstGeom prst="roundRect">
            <a:avLst>
              <a:gd name="adj" fmla="val 2791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7"/>
          <p:cNvSpPr/>
          <p:nvPr/>
        </p:nvSpPr>
        <p:spPr>
          <a:xfrm>
            <a:off x="749880" y="2075760"/>
            <a:ext cx="4534920" cy="340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plt.pie(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values,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labels=labels_list,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colors=color_list,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autopct="%1.1f%%",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startangle=90,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explode=(0.05,0,0,0)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graphicFrame>
        <p:nvGraphicFramePr>
          <p:cNvPr id="576" name="Table 0"/>
          <p:cNvGraphicFramePr/>
          <p:nvPr/>
        </p:nvGraphicFramePr>
        <p:xfrm>
          <a:off x="5715000" y="1691640"/>
          <a:ext cx="5943240" cy="3931560"/>
        </p:xfrm>
        <a:graphic>
          <a:graphicData uri="http://schemas.openxmlformats.org/drawingml/2006/table">
            <a:tbl>
              <a:tblPr/>
              <a:tblGrid>
                <a:gridCol w="1901880"/>
                <a:gridCol w="4041360"/>
              </a:tblGrid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values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Numerical values behind each slice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labels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Names shown for each slice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colors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Colors for each slice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autopct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Displays each slice's percentage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startangle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Rotates where the first slice begins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explode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Pulls a slice outward to highlight it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7" name="Text 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5 · PIE CHARTS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Revenue Share by Region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0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1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3"/>
          <p:cNvSpPr/>
          <p:nvPr/>
        </p:nvSpPr>
        <p:spPr>
          <a:xfrm>
            <a:off x="548640" y="1691640"/>
            <a:ext cx="521172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7"/>
          <p:cNvSpPr/>
          <p:nvPr/>
        </p:nvSpPr>
        <p:spPr>
          <a:xfrm>
            <a:off x="749880" y="2075760"/>
            <a:ext cx="480924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regions = ["North", "South",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       "East", "West"]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revenue = [3000, 2000, 1500, 1000]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plt.pie(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revenue,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labels=regions,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autopct="%1.1f%%",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colors=["teal", "skyblue",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        "lightgreen", "coral"]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plt.show()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587" name="Shape 8"/>
          <p:cNvSpPr/>
          <p:nvPr/>
        </p:nvSpPr>
        <p:spPr>
          <a:xfrm>
            <a:off x="6035040" y="1691640"/>
            <a:ext cx="5623200" cy="4023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8" name="Image 1" descr="/home/claude/mpl/charts/pie_revenue.png"/>
          <p:cNvPicPr/>
          <p:nvPr/>
        </p:nvPicPr>
        <p:blipFill>
          <a:blip r:embed="rId2"/>
          <a:stretch/>
        </p:blipFill>
        <p:spPr>
          <a:xfrm>
            <a:off x="6144840" y="1801440"/>
            <a:ext cx="5403600" cy="380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9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5 · PIE CHARTS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When to Use — and Avoid — Pie Charts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3"/>
          <p:cNvSpPr/>
          <p:nvPr/>
        </p:nvSpPr>
        <p:spPr>
          <a:xfrm>
            <a:off x="548640" y="1737360"/>
            <a:ext cx="5303160" cy="3931560"/>
          </a:xfrm>
          <a:prstGeom prst="roundRect">
            <a:avLst>
              <a:gd name="adj" fmla="val 2791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4"/>
          <p:cNvSpPr/>
          <p:nvPr/>
        </p:nvSpPr>
        <p:spPr>
          <a:xfrm>
            <a:off x="777240" y="192024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✓  Good fit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5"/>
          <p:cNvSpPr/>
          <p:nvPr/>
        </p:nvSpPr>
        <p:spPr>
          <a:xfrm>
            <a:off x="777240" y="2423160"/>
            <a:ext cx="484596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00201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A few categories (2–5)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00201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Parts clearly add up to one whole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002019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You want a quick "share of total" impression, not precise comparison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6"/>
          <p:cNvSpPr/>
          <p:nvPr/>
        </p:nvSpPr>
        <p:spPr>
          <a:xfrm>
            <a:off x="6309360" y="1737360"/>
            <a:ext cx="5303160" cy="3931560"/>
          </a:xfrm>
          <a:prstGeom prst="roundRect">
            <a:avLst>
              <a:gd name="adj" fmla="val 2791"/>
            </a:avLst>
          </a:prstGeom>
          <a:solidFill>
            <a:srgbClr val="E07AB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7"/>
          <p:cNvSpPr/>
          <p:nvPr/>
        </p:nvSpPr>
        <p:spPr>
          <a:xfrm>
            <a:off x="6537960" y="192024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F0523"/>
                </a:solidFill>
                <a:effectLst/>
                <a:uFillTx/>
                <a:latin typeface="Bricolage Grotesque"/>
                <a:ea typeface="Bricolage Grotesque"/>
              </a:rPr>
              <a:t>✕  Avoid 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8"/>
          <p:cNvSpPr/>
          <p:nvPr/>
        </p:nvSpPr>
        <p:spPr>
          <a:xfrm>
            <a:off x="6537960" y="2423160"/>
            <a:ext cx="484596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2F0523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F0523"/>
                </a:solidFill>
                <a:effectLst/>
                <a:uFillTx/>
                <a:latin typeface="Hanken Grotesk"/>
                <a:ea typeface="Hanken Grotesk"/>
              </a:rPr>
              <a:t>Many categories (8+) — slices become unreadable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2F0523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F0523"/>
                </a:solidFill>
                <a:effectLst/>
                <a:uFillTx/>
                <a:latin typeface="Hanken Grotesk"/>
                <a:ea typeface="Hanken Grotesk"/>
              </a:rPr>
              <a:t>Values are close together — humans compare angles poorly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2F0523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F0523"/>
                </a:solidFill>
                <a:effectLst/>
                <a:uFillTx/>
                <a:latin typeface="Hanken Grotesk"/>
                <a:ea typeface="Hanken Grotesk"/>
              </a:rPr>
              <a:t>You need to track change over time — use a line chart instead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5 · PIE CHARTS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Pie Charts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Build a pie chart showing how you'd split a 24-hour day into categories (sleep, work, study, etc.).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Add autopct to show percentages, and explode your largest slice.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Re-plot the same data as a bar chart, and decide which one communicates it better — and why.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8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9" name="Text 17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1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3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4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6 · HISTOGRAMS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Hi</a:t>
            </a: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st</a:t>
            </a: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og</a:t>
            </a: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ra</a:t>
            </a: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m</a:t>
            </a: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Understanding how a numerical variable is distributed with plt.hist().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40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6 · HISTOGRAMS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Anatomy of plt.hist()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0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1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Shape 3"/>
          <p:cNvSpPr/>
          <p:nvPr/>
        </p:nvSpPr>
        <p:spPr>
          <a:xfrm>
            <a:off x="548640" y="1691640"/>
            <a:ext cx="5211720" cy="2742840"/>
          </a:xfrm>
          <a:prstGeom prst="roundRect">
            <a:avLst>
              <a:gd name="adj" fmla="val 4000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7"/>
          <p:cNvSpPr/>
          <p:nvPr/>
        </p:nvSpPr>
        <p:spPr>
          <a:xfrm>
            <a:off x="749880" y="2075760"/>
            <a:ext cx="4809240" cy="22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plt.hist(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data,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bins=number_of_bins,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color="color_name",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edgecolor="black"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graphicFrame>
        <p:nvGraphicFramePr>
          <p:cNvPr id="637" name="Table 0"/>
          <p:cNvGraphicFramePr/>
          <p:nvPr/>
        </p:nvGraphicFramePr>
        <p:xfrm>
          <a:off x="6035040" y="1691640"/>
          <a:ext cx="5623200" cy="2743200"/>
        </p:xfrm>
        <a:graphic>
          <a:graphicData uri="http://schemas.openxmlformats.org/drawingml/2006/table">
            <a:tbl>
              <a:tblPr/>
              <a:tblGrid>
                <a:gridCol w="1799280"/>
                <a:gridCol w="3823920"/>
              </a:tblGrid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data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Numerical data to distribute into bins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bins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Number of intervals/groups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color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Fill color of the bars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edgecolor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Border color of each bar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38" name="Text 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6 · HISTOGRAMS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Score Distribution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1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2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3"/>
          <p:cNvSpPr/>
          <p:nvPr/>
        </p:nvSpPr>
        <p:spPr>
          <a:xfrm>
            <a:off x="548640" y="169164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7"/>
          <p:cNvSpPr/>
          <p:nvPr/>
        </p:nvSpPr>
        <p:spPr>
          <a:xfrm>
            <a:off x="749880" y="2075760"/>
            <a:ext cx="499212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scores = [45, 52, 58, 61, 63, 67, 69,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      70, 72, 74, 75, 77, 79, 81,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      83, 85, 87, 89, 92, 95]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plt.hist(scores, bins=5,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color="orange", edgecolor="black")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plt.xlabel("Scores")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plt.ylabel("Number of Students")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plt.title("Score Distribution")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plt.show()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648" name="Shape 8"/>
          <p:cNvSpPr/>
          <p:nvPr/>
        </p:nvSpPr>
        <p:spPr>
          <a:xfrm>
            <a:off x="6172200" y="1691640"/>
            <a:ext cx="5486040" cy="4023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9" name="Image 1" descr="/home/claude/mpl/charts/hist_scores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380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0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6 · HISTOGRAMS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Understanding Bins, and Histogram vs. Bar Chart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3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4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 3"/>
          <p:cNvSpPr/>
          <p:nvPr/>
        </p:nvSpPr>
        <p:spPr>
          <a:xfrm>
            <a:off x="548640" y="1691640"/>
            <a:ext cx="53946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bin is a range of values — bins=5 splits the data into 5 equal-width ranges and counts how many values fall in each.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Fewer bins = smoother, more general shape. More bins = finer detail, but noisier.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Shape 4"/>
          <p:cNvSpPr/>
          <p:nvPr/>
        </p:nvSpPr>
        <p:spPr>
          <a:xfrm>
            <a:off x="548640" y="3703320"/>
            <a:ext cx="5394600" cy="19656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5"/>
          <p:cNvSpPr/>
          <p:nvPr/>
        </p:nvSpPr>
        <p:spPr>
          <a:xfrm>
            <a:off x="731520" y="38404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Histogram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6"/>
          <p:cNvSpPr/>
          <p:nvPr/>
        </p:nvSpPr>
        <p:spPr>
          <a:xfrm>
            <a:off x="731520" y="4251960"/>
            <a:ext cx="50288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Numerical data grouped into ranges. Bars touch — the X-axis is continuous.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Shape 7"/>
          <p:cNvSpPr/>
          <p:nvPr/>
        </p:nvSpPr>
        <p:spPr>
          <a:xfrm>
            <a:off x="6126480" y="3703320"/>
            <a:ext cx="5394600" cy="1965600"/>
          </a:xfrm>
          <a:prstGeom prst="roundRect">
            <a:avLst>
              <a:gd name="adj" fmla="val 4651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8"/>
          <p:cNvSpPr/>
          <p:nvPr/>
        </p:nvSpPr>
        <p:spPr>
          <a:xfrm>
            <a:off x="6309360" y="38404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Bar Chart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9"/>
          <p:cNvSpPr/>
          <p:nvPr/>
        </p:nvSpPr>
        <p:spPr>
          <a:xfrm>
            <a:off x="6309360" y="4251960"/>
            <a:ext cx="50288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Distinct categories, each with its own value. Bars are separated — the X-axis is categorical.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Shape 10"/>
          <p:cNvSpPr/>
          <p:nvPr/>
        </p:nvSpPr>
        <p:spPr>
          <a:xfrm>
            <a:off x="6172200" y="1691640"/>
            <a:ext cx="5486040" cy="1828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3" name="Image 1" descr="/home/claude/mpl/charts/hist_scores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160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4" name="Text 11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6 · HISTOGRAMS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Histograms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Invent 20 numbers (e.g. quiz scores) and plot a histogram with 5 bins.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Re-plot the same data with 10 bins and compare what changes.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Add edgecolor so individual bars are easier to tell apart.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17"/>
          <p:cNvSpPr/>
          <p:nvPr/>
        </p:nvSpPr>
        <p:spPr>
          <a:xfrm>
            <a:off x="548640" y="48736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18"/>
          <p:cNvSpPr/>
          <p:nvPr/>
        </p:nvSpPr>
        <p:spPr>
          <a:xfrm>
            <a:off x="731520" y="51206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 19"/>
          <p:cNvSpPr/>
          <p:nvPr/>
        </p:nvSpPr>
        <p:spPr>
          <a:xfrm>
            <a:off x="731520" y="5120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20"/>
          <p:cNvSpPr/>
          <p:nvPr/>
        </p:nvSpPr>
        <p:spPr>
          <a:xfrm>
            <a:off x="1234440" y="48736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Explain, in one sentence, why this data couldn't be shown as a regular bar chart.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6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7" name="Text 2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2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1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2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7 · SCATTER PLOTS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Scatter Plots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Seeing the relationship between two numerical variables with plt.scatter().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45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7 · SCATTER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Anatomy of plt.scatter()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8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9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Shape 3"/>
          <p:cNvSpPr/>
          <p:nvPr/>
        </p:nvSpPr>
        <p:spPr>
          <a:xfrm>
            <a:off x="548640" y="1691640"/>
            <a:ext cx="4937400" cy="3931560"/>
          </a:xfrm>
          <a:prstGeom prst="roundRect">
            <a:avLst>
              <a:gd name="adj" fmla="val 2791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7"/>
          <p:cNvSpPr/>
          <p:nvPr/>
        </p:nvSpPr>
        <p:spPr>
          <a:xfrm>
            <a:off x="749880" y="2075760"/>
            <a:ext cx="4534920" cy="340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plt.scatter(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x, y,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color="color_name",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marker="style",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s=size,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alpha=transparency,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label="label_name"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graphicFrame>
        <p:nvGraphicFramePr>
          <p:cNvPr id="705" name="Table 0"/>
          <p:cNvGraphicFramePr/>
          <p:nvPr/>
        </p:nvGraphicFramePr>
        <p:xfrm>
          <a:off x="5715000" y="1691640"/>
          <a:ext cx="5943240" cy="3931560"/>
        </p:xfrm>
        <a:graphic>
          <a:graphicData uri="http://schemas.openxmlformats.org/drawingml/2006/table">
            <a:tbl>
              <a:tblPr/>
              <a:tblGrid>
                <a:gridCol w="1901880"/>
                <a:gridCol w="4041360"/>
              </a:tblGrid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x, 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Data for the X-axis and Y-axis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color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Color of the points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marker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Shape/style of the points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Size of each point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alpha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Transparency (0 = invisible, 1 = solid)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label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Name used in the legend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06" name="Text 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7 · SCATTER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Study Hours vs. Exam Scores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0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Shape 3"/>
          <p:cNvSpPr/>
          <p:nvPr/>
        </p:nvSpPr>
        <p:spPr>
          <a:xfrm>
            <a:off x="548640" y="169164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3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Text 7"/>
          <p:cNvSpPr/>
          <p:nvPr/>
        </p:nvSpPr>
        <p:spPr>
          <a:xfrm>
            <a:off x="749880" y="2075760"/>
            <a:ext cx="508356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plt.scatter(hours_studied, exam_scores,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color="green", marker="^",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label="Hours Studied vs Exam Scores")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plt.scatter(social_media_hours,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social_media_scores,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color="red", marker="x",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label="Social Media vs Exam Scores")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plt.xlabel("Hours")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plt.ylabel("Exam Scores")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plt.legend(loc="best")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716" name="Shape 8"/>
          <p:cNvSpPr/>
          <p:nvPr/>
        </p:nvSpPr>
        <p:spPr>
          <a:xfrm>
            <a:off x="6263640" y="1691640"/>
            <a:ext cx="5394600" cy="4023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7" name="Image 1" descr="/home/claude/mpl/charts/scatter_study.png"/>
          <p:cNvPicPr/>
          <p:nvPr/>
        </p:nvPicPr>
        <p:blipFill>
          <a:blip r:embed="rId2"/>
          <a:stretch/>
        </p:blipFill>
        <p:spPr>
          <a:xfrm>
            <a:off x="6373440" y="1801440"/>
            <a:ext cx="5175000" cy="380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8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7 · SCATTER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Reading Relationships Visually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1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2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Shape 3"/>
          <p:cNvSpPr/>
          <p:nvPr/>
        </p:nvSpPr>
        <p:spPr>
          <a:xfrm>
            <a:off x="548640" y="1737360"/>
            <a:ext cx="3611520" cy="3565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 4"/>
          <p:cNvSpPr/>
          <p:nvPr/>
        </p:nvSpPr>
        <p:spPr>
          <a:xfrm>
            <a:off x="731520" y="1920240"/>
            <a:ext cx="3245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Positive correlation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5"/>
          <p:cNvSpPr/>
          <p:nvPr/>
        </p:nvSpPr>
        <p:spPr>
          <a:xfrm>
            <a:off x="731520" y="2514600"/>
            <a:ext cx="324576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As X increases, Y tends to increase too — points trend up and to the right.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Shape 6"/>
          <p:cNvSpPr/>
          <p:nvPr/>
        </p:nvSpPr>
        <p:spPr>
          <a:xfrm>
            <a:off x="4297680" y="1737360"/>
            <a:ext cx="3611520" cy="3565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 7"/>
          <p:cNvSpPr/>
          <p:nvPr/>
        </p:nvSpPr>
        <p:spPr>
          <a:xfrm>
            <a:off x="4480560" y="1920240"/>
            <a:ext cx="3245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Negative correlation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 8"/>
          <p:cNvSpPr/>
          <p:nvPr/>
        </p:nvSpPr>
        <p:spPr>
          <a:xfrm>
            <a:off x="4480560" y="2514600"/>
            <a:ext cx="324576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As X increases, Y tends </a:t>
            </a: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to decrease — points </a:t>
            </a: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trend down and to the </a:t>
            </a: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right.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Shape 9"/>
          <p:cNvSpPr/>
          <p:nvPr/>
        </p:nvSpPr>
        <p:spPr>
          <a:xfrm>
            <a:off x="8046720" y="1737360"/>
            <a:ext cx="3611520" cy="3565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 10"/>
          <p:cNvSpPr/>
          <p:nvPr/>
        </p:nvSpPr>
        <p:spPr>
          <a:xfrm>
            <a:off x="8229600" y="1920240"/>
            <a:ext cx="3245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No clear correlation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 11"/>
          <p:cNvSpPr/>
          <p:nvPr/>
        </p:nvSpPr>
        <p:spPr>
          <a:xfrm>
            <a:off x="8229600" y="2514600"/>
            <a:ext cx="324576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Points scatter with no visible pattern — X doesn't predict 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 12"/>
          <p:cNvSpPr/>
          <p:nvPr/>
        </p:nvSpPr>
        <p:spPr>
          <a:xfrm>
            <a:off x="548640" y="5486400"/>
            <a:ext cx="11109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This is exactly the kind of visual reasoning you'll use constantly in EDA (Exploratory Data Analysis) and when checking relationships between features before training a model.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1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7 · SCATTER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Scatter Plots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Plot hours of sleep vs. focus level (invent 10 data points) as a scatter plot.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Adjust alpha and s until overlapping points become easy to read.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Add a second dataset to the same chart using a different marker and color.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Shape 17"/>
          <p:cNvSpPr/>
          <p:nvPr/>
        </p:nvSpPr>
        <p:spPr>
          <a:xfrm>
            <a:off x="548640" y="48736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Shape 18"/>
          <p:cNvSpPr/>
          <p:nvPr/>
        </p:nvSpPr>
        <p:spPr>
          <a:xfrm>
            <a:off x="731520" y="51206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 19"/>
          <p:cNvSpPr/>
          <p:nvPr/>
        </p:nvSpPr>
        <p:spPr>
          <a:xfrm>
            <a:off x="731520" y="5120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 20"/>
          <p:cNvSpPr/>
          <p:nvPr/>
        </p:nvSpPr>
        <p:spPr>
          <a:xfrm>
            <a:off x="1234440" y="48736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Decide whether your data shows positive, negative, or no correlation — and say why.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5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6" name="Text 2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 2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0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1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8 · SUBPLOTS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Subplots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One Figure, several Axes — building multi-panel charts side by side.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50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8 · SUBPLOTS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One Figure, Many Axes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7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8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Shape 3"/>
          <p:cNvSpPr/>
          <p:nvPr/>
        </p:nvSpPr>
        <p:spPr>
          <a:xfrm>
            <a:off x="548640" y="1691640"/>
            <a:ext cx="6034680" cy="39315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0" name="Image 1" descr="/home/claude/mpl/charts/subplots_two.png"/>
          <p:cNvPicPr/>
          <p:nvPr/>
        </p:nvPicPr>
        <p:blipFill>
          <a:blip r:embed="rId2"/>
          <a:stretch/>
        </p:blipFill>
        <p:spPr>
          <a:xfrm>
            <a:off x="658440" y="1801440"/>
            <a:ext cx="5815080" cy="354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1" name="Text 4"/>
          <p:cNvSpPr/>
          <p:nvPr/>
        </p:nvSpPr>
        <p:spPr>
          <a:xfrm>
            <a:off x="548640" y="5349240"/>
            <a:ext cx="6034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One Figure holding two Axes, side by side.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 5"/>
          <p:cNvSpPr/>
          <p:nvPr/>
        </p:nvSpPr>
        <p:spPr>
          <a:xfrm>
            <a:off x="6903720" y="1691640"/>
            <a:ext cx="475452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subplot is simply an additional Axes placed inside the same Figure.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You choose a grid of rows × columns, and each Axes gets its own position in that grid.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Every Axes still has its own title, labels, legend, and grid — they just share one Figure/canvas.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where the Figure vs. Axes distinction from Part 1 becomes genuinely useful.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Text 6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8 · SUBPLOTS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plt.subplot() — The Classic Way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6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7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Shape 3"/>
          <p:cNvSpPr/>
          <p:nvPr/>
        </p:nvSpPr>
        <p:spPr>
          <a:xfrm>
            <a:off x="548640" y="169164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9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0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 7"/>
          <p:cNvSpPr/>
          <p:nvPr/>
        </p:nvSpPr>
        <p:spPr>
          <a:xfrm>
            <a:off x="749880" y="2075760"/>
            <a:ext cx="508356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plt.subplot(nrows, ncols, index)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# index is 1-based, not 0-based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plt.subplot(1, 2, 1)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plt.plot(x, repositories, marker="o")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plt.title("Programming Languages")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plt.subplot(1, 2, 2)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plt.bar(x, repositories)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plt.title("Repositories by Language")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plt.show()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783" name="Shape 8"/>
          <p:cNvSpPr/>
          <p:nvPr/>
        </p:nvSpPr>
        <p:spPr>
          <a:xfrm>
            <a:off x="6172200" y="1691640"/>
            <a:ext cx="5486040" cy="3291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4" name="Image 1" descr="/home/claude/mpl/charts/subplots_two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307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5" name="Text 9"/>
          <p:cNvSpPr/>
          <p:nvPr/>
        </p:nvSpPr>
        <p:spPr>
          <a:xfrm>
            <a:off x="6172200" y="5074920"/>
            <a:ext cx="5486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Each plt.subplot(...) call selects a new active Axes — commands after it apply to that panel only.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8 · SUBPLOTS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plt.subplots() — The Modern Way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0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Shape 3"/>
          <p:cNvSpPr/>
          <p:nvPr/>
        </p:nvSpPr>
        <p:spPr>
          <a:xfrm>
            <a:off x="548640" y="169164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2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3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 7"/>
          <p:cNvSpPr/>
          <p:nvPr/>
        </p:nvSpPr>
        <p:spPr>
          <a:xfrm>
            <a:off x="749880" y="2075760"/>
            <a:ext cx="508356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fig, ax = plt.subplots(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1, 2,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figsize=(10, 5)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ax[0].plot(x, repositories, marker="o")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ax[0].set_title("Line Graph")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ax[1].bar(x, repositories)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ax[1].set_title("Bar Chart")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plt.tight_layout()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plt.show()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796" name="Shape 8"/>
          <p:cNvSpPr/>
          <p:nvPr/>
        </p:nvSpPr>
        <p:spPr>
          <a:xfrm>
            <a:off x="6172200" y="1691640"/>
            <a:ext cx="5486040" cy="3291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7" name="Image 1" descr="/home/claude/mpl/charts/subplots_two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307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8" name="Text 9"/>
          <p:cNvSpPr/>
          <p:nvPr/>
        </p:nvSpPr>
        <p:spPr>
          <a:xfrm>
            <a:off x="6172200" y="5074920"/>
            <a:ext cx="5486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fig, ax = plt.subplots(...) hands back the Figure and an array of Axes in one line — the foundation of the Object-Oriented API (Part 6).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8 · SUBPLOTS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Quick Reference: Sizing &amp; Layout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04" name="Table 0"/>
          <p:cNvGraphicFramePr/>
          <p:nvPr/>
        </p:nvGraphicFramePr>
        <p:xfrm>
          <a:off x="548640" y="1691640"/>
          <a:ext cx="11109600" cy="3931560"/>
        </p:xfrm>
        <a:graphic>
          <a:graphicData uri="http://schemas.openxmlformats.org/drawingml/2006/table">
            <a:tbl>
              <a:tblPr/>
              <a:tblGrid>
                <a:gridCol w="3555000"/>
                <a:gridCol w="7554600"/>
              </a:tblGrid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figsize=(w, h)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Sets the Figure's width and height, in inches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plt.tight_layout()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Automatically fixes spacing so titles/labels don't overlap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sharex=True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All Axes in a grid share one X-axis scale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sharey=True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All Axes in a grid share one Y-axis scale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fig, ax = plt.subplots(rows, cols)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ntarel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Creates a Figure and a grid of Axes together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05" name="Text 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7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8 · SUBPLOTS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Subplots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Create a 1×2 subplot grid with plt.subplots() showing a line chart and a bar chart of the same data.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Add one shared title for the whole Figure using fig.suptitle().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Call plt.tight_layout() and observe exactly what it changes.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Shape 17"/>
          <p:cNvSpPr/>
          <p:nvPr/>
        </p:nvSpPr>
        <p:spPr>
          <a:xfrm>
            <a:off x="548640" y="48736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Shape 18"/>
          <p:cNvSpPr/>
          <p:nvPr/>
        </p:nvSpPr>
        <p:spPr>
          <a:xfrm>
            <a:off x="731520" y="51206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Text 19"/>
          <p:cNvSpPr/>
          <p:nvPr/>
        </p:nvSpPr>
        <p:spPr>
          <a:xfrm>
            <a:off x="731520" y="5120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Text 20"/>
          <p:cNvSpPr/>
          <p:nvPr/>
        </p:nvSpPr>
        <p:spPr>
          <a:xfrm>
            <a:off x="1234440" y="48736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Rebuild the same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layout using the older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plt.subplot() approach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instead.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7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8" name="Text 2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 2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1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3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9 · OBJECT-ORIENTED API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4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The Object-Oriented API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The same charts, built by talking to fig and ax directly — the pattern behind every real Matplotlib project.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6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56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9 · OO API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Pyplot vs. Object-Oriented — Side by Side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0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Shape 3"/>
          <p:cNvSpPr/>
          <p:nvPr/>
        </p:nvSpPr>
        <p:spPr>
          <a:xfrm>
            <a:off x="548640" y="1691640"/>
            <a:ext cx="5211720" cy="39315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Shape 4"/>
          <p:cNvSpPr/>
          <p:nvPr/>
        </p:nvSpPr>
        <p:spPr>
          <a:xfrm>
            <a:off x="777240" y="1892880"/>
            <a:ext cx="1462680" cy="2923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Text 5"/>
          <p:cNvSpPr/>
          <p:nvPr/>
        </p:nvSpPr>
        <p:spPr>
          <a:xfrm>
            <a:off x="777240" y="189288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PYPLOT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Shape 6"/>
          <p:cNvSpPr/>
          <p:nvPr/>
        </p:nvSpPr>
        <p:spPr>
          <a:xfrm>
            <a:off x="777240" y="2468880"/>
            <a:ext cx="4754520" cy="1554120"/>
          </a:xfrm>
          <a:prstGeom prst="roundRect">
            <a:avLst>
              <a:gd name="adj" fmla="val 7059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5" name="Shape 7"/>
          <p:cNvSpPr/>
          <p:nvPr/>
        </p:nvSpPr>
        <p:spPr>
          <a:xfrm>
            <a:off x="941760" y="261504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6" name="Shape 8"/>
          <p:cNvSpPr/>
          <p:nvPr/>
        </p:nvSpPr>
        <p:spPr>
          <a:xfrm>
            <a:off x="1143000" y="261504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Shape 9"/>
          <p:cNvSpPr/>
          <p:nvPr/>
        </p:nvSpPr>
        <p:spPr>
          <a:xfrm>
            <a:off x="1344240" y="261504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Text 10"/>
          <p:cNvSpPr/>
          <p:nvPr/>
        </p:nvSpPr>
        <p:spPr>
          <a:xfrm>
            <a:off x="978480" y="2853000"/>
            <a:ext cx="435204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plt.plot(x, y)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plt.title("Sales")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plt.legend()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 11"/>
          <p:cNvSpPr/>
          <p:nvPr/>
        </p:nvSpPr>
        <p:spPr>
          <a:xfrm>
            <a:off x="777240" y="4206240"/>
            <a:ext cx="4754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Implicit — Matplotlib tracks the "current" figure and axes behind the scenes.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Shape 12"/>
          <p:cNvSpPr/>
          <p:nvPr/>
        </p:nvSpPr>
        <p:spPr>
          <a:xfrm>
            <a:off x="6217920" y="1691640"/>
            <a:ext cx="5211720" cy="39315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Shape 13"/>
          <p:cNvSpPr/>
          <p:nvPr/>
        </p:nvSpPr>
        <p:spPr>
          <a:xfrm>
            <a:off x="6446520" y="1892880"/>
            <a:ext cx="1828440" cy="29232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2" name="Text 14"/>
          <p:cNvSpPr/>
          <p:nvPr/>
        </p:nvSpPr>
        <p:spPr>
          <a:xfrm>
            <a:off x="6446520" y="189288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31F71"/>
                </a:solidFill>
                <a:effectLst/>
                <a:uFillTx/>
                <a:latin typeface="Plus Jakarta Sans"/>
                <a:ea typeface="Plus Jakarta Sans"/>
              </a:rPr>
              <a:t>OBJECT-ORIENTED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Shape 15"/>
          <p:cNvSpPr/>
          <p:nvPr/>
        </p:nvSpPr>
        <p:spPr>
          <a:xfrm>
            <a:off x="6446520" y="2468880"/>
            <a:ext cx="4754520" cy="1554120"/>
          </a:xfrm>
          <a:prstGeom prst="roundRect">
            <a:avLst>
              <a:gd name="adj" fmla="val 7059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4" name="Shape 16"/>
          <p:cNvSpPr/>
          <p:nvPr/>
        </p:nvSpPr>
        <p:spPr>
          <a:xfrm>
            <a:off x="6611040" y="261504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5" name="Shape 17"/>
          <p:cNvSpPr/>
          <p:nvPr/>
        </p:nvSpPr>
        <p:spPr>
          <a:xfrm>
            <a:off x="6812280" y="261504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Shape 18"/>
          <p:cNvSpPr/>
          <p:nvPr/>
        </p:nvSpPr>
        <p:spPr>
          <a:xfrm>
            <a:off x="7013520" y="261504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Text 19"/>
          <p:cNvSpPr/>
          <p:nvPr/>
        </p:nvSpPr>
        <p:spPr>
          <a:xfrm>
            <a:off x="6647760" y="2853000"/>
            <a:ext cx="435204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ax.plot(x, y)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ax.set_title("Sales")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ax.legend()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Text 20"/>
          <p:cNvSpPr/>
          <p:nvPr/>
        </p:nvSpPr>
        <p:spPr>
          <a:xfrm>
            <a:off x="6446520" y="4206240"/>
            <a:ext cx="4754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Explicit — you name exactly which Axes you're drawing on, every time.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Text 21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9 · OO API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Meet fig and ax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Text 3"/>
          <p:cNvSpPr/>
          <p:nvPr/>
        </p:nvSpPr>
        <p:spPr>
          <a:xfrm>
            <a:off x="548640" y="1737360"/>
            <a:ext cx="585180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fig, ax = plt.subplots() creates both objects in one line.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fig is the whole canvas — used for figure-level things like size and saving.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ax is the individual plotting surface — used for everything you draw and label.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With multiple subplots, ax becomes a list/array — ax[0], ax[1], and so 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Holding onto ax explicitly is what makes it possible to build reusable plotting functions later.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Shape 4"/>
          <p:cNvSpPr/>
          <p:nvPr/>
        </p:nvSpPr>
        <p:spPr>
          <a:xfrm>
            <a:off x="6675120" y="1737360"/>
            <a:ext cx="4983120" cy="3931560"/>
          </a:xfrm>
          <a:prstGeom prst="roundRect">
            <a:avLst>
              <a:gd name="adj" fmla="val 2791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6" name="Shape 5"/>
          <p:cNvSpPr/>
          <p:nvPr/>
        </p:nvSpPr>
        <p:spPr>
          <a:xfrm>
            <a:off x="6839640" y="188352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7" name="Shape 6"/>
          <p:cNvSpPr/>
          <p:nvPr/>
        </p:nvSpPr>
        <p:spPr>
          <a:xfrm>
            <a:off x="7040880" y="188352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Shape 7"/>
          <p:cNvSpPr/>
          <p:nvPr/>
        </p:nvSpPr>
        <p:spPr>
          <a:xfrm>
            <a:off x="7242120" y="188352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Text 8"/>
          <p:cNvSpPr/>
          <p:nvPr/>
        </p:nvSpPr>
        <p:spPr>
          <a:xfrm>
            <a:off x="6876360" y="2121480"/>
            <a:ext cx="4580640" cy="340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fig, ax = plt.subplots(figsize=(6, 4))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ax.plot(x, y, color="#5755A7")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ax.set_title("Revenue Over Time")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ax.set_xlabel("Month")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ax.set_ylabel("Revenue")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ax.legend()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ax.grid(alpha=0.3)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fig.savefig("revenue.png")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9 · OO API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Object-</a:t>
            </a: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Oriented </a:t>
            </a: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Method </a:t>
            </a: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Reference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3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4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75" name="Table 0"/>
          <p:cNvGraphicFramePr/>
          <p:nvPr/>
        </p:nvGraphicFramePr>
        <p:xfrm>
          <a:off x="548640" y="1691640"/>
          <a:ext cx="11109600" cy="4114440"/>
        </p:xfrm>
        <a:graphic>
          <a:graphicData uri="http://schemas.openxmlformats.org/drawingml/2006/table">
            <a:tbl>
              <a:tblPr/>
              <a:tblGrid>
                <a:gridCol w="3555000"/>
                <a:gridCol w="7554600"/>
              </a:tblGrid>
              <a:tr h="51408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1408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ax.plot(x, y)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Draw a line plot on this Axes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08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ax.bar(x, height)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Draw a bar chart on this Axes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08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ax.scatter(x, y)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Draw a scatter plot on this Axes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08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ax.set_title("...")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Set this Axes' title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08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ax.set_xlabel("...") / set_ylabel("...")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Set this Axes' axis labels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08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ax.legend()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Draw the legend for this Axes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08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ax.grid()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Toggle the grid for this Axes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76" name="Text 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9 · OO API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Why the OO API Matters for Real Projects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0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Text 3"/>
          <p:cNvSpPr/>
          <p:nvPr/>
        </p:nvSpPr>
        <p:spPr>
          <a:xfrm>
            <a:off x="548640" y="1737360"/>
            <a:ext cx="11109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Multi-panel dashboards need it — you must address ax[0], ax[1] individually; pyplot's "current axes" idea breaks down fast.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It's easier to wrap in a reusable function — e.g. def plot_metric(ax, data): ... that any script can call.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It's the style used throughout Pandas' .plot(ax=...), Seaborn, and most production ML reporting code.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Bottom line: pyplot is great for quick, single charts. The OO API is what you'll actually reach for in Data Analytics and ML projects.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Text 4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4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9 · OO API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The Object-Oriented API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Rewrite any earlier pyplot chart using fig, ax = plt.subplots() and ax. methods only.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Write a small function def plot_line(ax, x, y, title): that plots onto whichever Axes it's given.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Call your function twice on two different Axes inside the same Figure.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0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1" name="Text 17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Text 1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4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5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6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10 · CONTROLLING THE VIEW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7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Controlling the View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8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Fine-tuning axis ranges, ticks, figure size, and resolution.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9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62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10 · CONTROLLING THE 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Limits &amp; Tick Reference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14" name="Table 0"/>
          <p:cNvGraphicFramePr/>
          <p:nvPr/>
        </p:nvGraphicFramePr>
        <p:xfrm>
          <a:off x="548640" y="1691640"/>
          <a:ext cx="11109600" cy="3931560"/>
        </p:xfrm>
        <a:graphic>
          <a:graphicData uri="http://schemas.openxmlformats.org/drawingml/2006/table">
            <a:tbl>
              <a:tblPr/>
              <a:tblGrid>
                <a:gridCol w="3555000"/>
                <a:gridCol w="7554600"/>
              </a:tblGrid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plt.xlim(min, max) / plt.ylim(min, max)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Fix the visible axis range (pyplot)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ax.set_xlim(min, max) / ax.set_ylim(min, max)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Fix the visible axis range (OO API)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plt.xticks(positions, labels)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Set custom tick positions and labels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plt.xticks(rotation=45)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Rotate tick labels — useful for long category names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ha="right"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Aligns rotated labels neatly against their tick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5" name="Text 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10 · CONTROLLING THE 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figsize &amp; DPI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8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9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Text 3"/>
          <p:cNvSpPr/>
          <p:nvPr/>
        </p:nvSpPr>
        <p:spPr>
          <a:xfrm>
            <a:off x="548640" y="1737360"/>
            <a:ext cx="11109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figsize=(width,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height) sets the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Figure's size in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inches — e.g.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(10, 5) for a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wide chart.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DPI (Dots Per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Inch) controls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sharpness —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higher DPI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means a crisper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image,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especially once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saved or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printed.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On-screen, a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moderate DPI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(100) is plenty.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reports or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print, 200–300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DPI looks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noticeably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sharper.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Bigger figsize +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higher DPI = a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larger file, so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match it to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where the chart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will actually be </a:t>
            </a: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viewed.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Text 4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3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10 · CONTROLLING THE 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Controlling the View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Take any chart from earlier and fix its X and Y limits with set_xlim()/set_ylim().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Rotate your X tick labels by 45 degrees so long labels stop overlapping.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Resize your Figure with figsize=(10, 4) and compare it side by side with the default size.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0" name="Text 17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Text 1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3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44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5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11 · COLOR &amp; CUSTOMIZATION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6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Color &amp; Visual Customization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7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Named colors, hex, RGBA, and colormaps — how Matplotlib thinks about color.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8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66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11 · COLOR &amp; CUSTOMIZATION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Four Ways to Specify Color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1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2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53" name="Table 0"/>
          <p:cNvGraphicFramePr/>
          <p:nvPr/>
        </p:nvGraphicFramePr>
        <p:xfrm>
          <a:off x="548640" y="1691640"/>
          <a:ext cx="11109600" cy="3931560"/>
        </p:xfrm>
        <a:graphic>
          <a:graphicData uri="http://schemas.openxmlformats.org/drawingml/2006/table">
            <a:tbl>
              <a:tblPr/>
              <a:tblGrid>
                <a:gridCol w="3555000"/>
                <a:gridCol w="7554600"/>
              </a:tblGrid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"teal"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Named color — simplest, ~150 names built in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"#5755A7"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Hex code — precise, brand-exact colors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(0.34, 0.34, 0.65)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RGB tuple — red, green, blue, each 0 to 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(0.34, 0.34, 0.65, 0.5)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RGBA — RGB plus alpha (transparency)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alpha=0.5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A separate parameter for transparency on any plot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54" name="Text 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11 · COLOR &amp; CUSTOMIZATION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Colormaps — Encoding a Third Variable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7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8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Shape 3"/>
          <p:cNvSpPr/>
          <p:nvPr/>
        </p:nvSpPr>
        <p:spPr>
          <a:xfrm>
            <a:off x="548640" y="1691640"/>
            <a:ext cx="5120280" cy="2742840"/>
          </a:xfrm>
          <a:prstGeom prst="roundRect">
            <a:avLst>
              <a:gd name="adj" fmla="val 4000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0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1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Text 7"/>
          <p:cNvSpPr/>
          <p:nvPr/>
        </p:nvSpPr>
        <p:spPr>
          <a:xfrm>
            <a:off x="749880" y="2075760"/>
            <a:ext cx="4717800" cy="22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sc = plt.scatter(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feature_a, </a:t>
            </a: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feature_b,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c=combined_score,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cmap="viridis",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alpha=0.85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plt.colorbar(sc, </a:t>
            </a: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label="Score")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Text 8"/>
          <p:cNvSpPr/>
          <p:nvPr/>
        </p:nvSpPr>
        <p:spPr>
          <a:xfrm>
            <a:off x="548640" y="4572000"/>
            <a:ext cx="51202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cmap= colors points/bars by a numeric value instead of a fixed color — a colormap.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Sequential colormaps (viridis, Blues) go light→dark for one-directional data, like counts.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Diverging colormaps (coolwarm, RdBu) go color→neutral→color — great for data centered on zero, like error or change.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plt.colorbar() adds the legend strip explaining what each color means.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Shape 9"/>
          <p:cNvSpPr/>
          <p:nvPr/>
        </p:nvSpPr>
        <p:spPr>
          <a:xfrm>
            <a:off x="5989320" y="1691640"/>
            <a:ext cx="5668920" cy="498312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6" name="Image 1" descr="/home/claude/mpl/charts/colormap_scatter.png"/>
          <p:cNvPicPr/>
          <p:nvPr/>
        </p:nvPicPr>
        <p:blipFill>
          <a:blip r:embed="rId2"/>
          <a:stretch/>
        </p:blipFill>
        <p:spPr>
          <a:xfrm>
            <a:off x="6099120" y="1801440"/>
            <a:ext cx="5449320" cy="476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7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9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11 · COLOR &amp; CUSTOMIZATION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Color &amp; Visual Customization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Recreate one earlier chart using a hex color instead of a named color.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Build a scatter plot where color represents a third variable, using cmap=.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Add a colorbar to that chart and give it a meaningful label.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5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6" name="Text 17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Text 1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9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90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1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12 · TEXT &amp; ANNOTATIONS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2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Text &amp; Annotations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3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Calling out the moments in your data that matter most.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4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70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12 · TEXT &amp; ANNOTATIONS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plt.text() &amp; plt.annotate()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7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8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Shape 3"/>
          <p:cNvSpPr/>
          <p:nvPr/>
        </p:nvSpPr>
        <p:spPr>
          <a:xfrm>
            <a:off x="548640" y="169164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0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1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Text 7"/>
          <p:cNvSpPr/>
          <p:nvPr/>
        </p:nvSpPr>
        <p:spPr>
          <a:xfrm>
            <a:off x="749880" y="2075760"/>
            <a:ext cx="499212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plt.text(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x, y, "Training run #4",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fontsize=10, style="italic"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plt.annotate(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"Peak value",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xy=(peak_x, peak_y),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xytext=(peak_x-3, peak_y+10),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arrowprops=dict(arrowstyle="-&gt;")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Shape 8"/>
          <p:cNvSpPr/>
          <p:nvPr/>
        </p:nvSpPr>
        <p:spPr>
          <a:xfrm>
            <a:off x="6172200" y="1691640"/>
            <a:ext cx="5486040" cy="3291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5" name="Image 1" descr="/home/claude/mpl/charts/annotation_demo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307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6" name="Text 9"/>
          <p:cNvSpPr/>
          <p:nvPr/>
        </p:nvSpPr>
        <p:spPr>
          <a:xfrm>
            <a:off x="6172200" y="5074920"/>
            <a:ext cx="5486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plt.text() places plain text at a coordinate.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plt.annotate() adds text with a pointing arrow — great for calling out a peak, a threshold, or an outlier.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71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12 · TEXT &amp; ANNOTATIONS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Shapes on a Chart — matplotlib.patches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0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1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Shape 3"/>
          <p:cNvSpPr/>
          <p:nvPr/>
        </p:nvSpPr>
        <p:spPr>
          <a:xfrm>
            <a:off x="548640" y="169164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3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4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Text 7"/>
          <p:cNvSpPr/>
          <p:nvPr/>
        </p:nvSpPr>
        <p:spPr>
          <a:xfrm>
            <a:off x="749880" y="2075760"/>
            <a:ext cx="508356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from matplotlib.patches import Circle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fig, ax = plt.subplots()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ax.plot(x, y)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highlight = Circle(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(5, 20), radius=1.5,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color="orange", alpha=0.3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ax.add_patch(highlight)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plt.show()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Text 8"/>
          <p:cNvSpPr/>
          <p:nvPr/>
        </p:nvSpPr>
        <p:spPr>
          <a:xfrm>
            <a:off x="6309360" y="1691640"/>
            <a:ext cx="53488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matplotlib.patches holds ready-made shapes — Circle, Rectangle, Arrow, Polygon, and more.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patch works like any other Artist: create it, then hand it to an Axes with ax.add_patch(patch).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Most useful for highlighting a region, building a custom legend swatch, or drawing simple diagrams — like the Figure vs. Axes diagram back in Part 1.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You won't reach for these in everyday charts, but recognizing the pattern helps when reading other people's Matplotlib code.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72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12 · TEXT &amp; ANNOTATIONS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 Peek at Animation — matplotlib.animation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1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2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Shape 3"/>
          <p:cNvSpPr/>
          <p:nvPr/>
        </p:nvSpPr>
        <p:spPr>
          <a:xfrm>
            <a:off x="548640" y="169164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4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5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Text 7"/>
          <p:cNvSpPr/>
          <p:nvPr/>
        </p:nvSpPr>
        <p:spPr>
          <a:xfrm>
            <a:off x="749880" y="2075760"/>
            <a:ext cx="508356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from matplotlib.animation import FuncAnimation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fig, ax = plt.subplots()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line, = ax.plot(x, y[:1])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def update(frame):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line.set_ydata(y[:frame])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return line,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anim = FuncAnimation(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fig, update, frames=len(y)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plt.show()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Text 8"/>
          <p:cNvSpPr/>
          <p:nvPr/>
        </p:nvSpPr>
        <p:spPr>
          <a:xfrm>
            <a:off x="6309360" y="1691640"/>
            <a:ext cx="53488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matplotlib.animation redraws a Figure frame by frame — useful for showing a process over time, like training progress or a simulation.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FuncAnimation is the core tool: you write one update() function, and Matplotlib calls it once per frame.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a genuinely advanced topic — full animation programming is outside this module's scope. For now, just know it exists and what it's for.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Curious? matplotlib.org has interactive animation examples worth exploring on your own time.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73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1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12 · TEXT &amp; ANNOTATIONS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Text, Annotations &amp; Shapes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 plt.annotate() to point an arrow at the highest value in a line chart.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1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Add plt.text() somewhere on the chart to label a specific observation in plain words.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5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Draw a Circle or Rectangle patch to highlight one region of an existing chart.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7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8" name="Text 17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Text 1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74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1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5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3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13 · STATISTICAL VISUALIZATION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4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Statistical Visualization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5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Box plots — reading spread, center, and outliers at a glance.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6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75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13 · STATISTICAL VISUALIZATION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plt.boxplot() — Median, Quartiles &amp; Outliers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0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1" name="Shape 3"/>
          <p:cNvSpPr/>
          <p:nvPr/>
        </p:nvSpPr>
        <p:spPr>
          <a:xfrm>
            <a:off x="548640" y="1691640"/>
            <a:ext cx="5120280" cy="2011320"/>
          </a:xfrm>
          <a:prstGeom prst="roundRect">
            <a:avLst>
              <a:gd name="adj" fmla="val 5455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2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3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Text 7"/>
          <p:cNvSpPr/>
          <p:nvPr/>
        </p:nvSpPr>
        <p:spPr>
          <a:xfrm>
            <a:off x="749880" y="2075760"/>
            <a:ext cx="4717800" cy="14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plt.boxplot(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[model_a, model_b, model_c],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labels=["Model A","Model B","Model C"]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plt.ylabel("Accuracy (%)")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Text 8"/>
          <p:cNvSpPr/>
          <p:nvPr/>
        </p:nvSpPr>
        <p:spPr>
          <a:xfrm>
            <a:off x="548640" y="3886200"/>
            <a:ext cx="51202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box spans the middle 50% of the data (25th to 75th percentile).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line inside the box is the median.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Whiskers extend to the typical range; dots beyond them are outliers.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Shape 9"/>
          <p:cNvSpPr/>
          <p:nvPr/>
        </p:nvSpPr>
        <p:spPr>
          <a:xfrm>
            <a:off x="5852160" y="1691640"/>
            <a:ext cx="5806080" cy="498312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8" name="Image 1" descr="/home/claude/mpl/charts/boxplot_models.png"/>
          <p:cNvPicPr/>
          <p:nvPr/>
        </p:nvPicPr>
        <p:blipFill>
          <a:blip r:embed="rId2"/>
          <a:stretch/>
        </p:blipFill>
        <p:spPr>
          <a:xfrm>
            <a:off x="5961960" y="1801440"/>
            <a:ext cx="5586480" cy="476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9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76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13 · STATISTICAL VISUALIZATION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Box Plot vs. Histogram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4" name="Shape 3"/>
          <p:cNvSpPr/>
          <p:nvPr/>
        </p:nvSpPr>
        <p:spPr>
          <a:xfrm>
            <a:off x="548640" y="1737360"/>
            <a:ext cx="5394600" cy="39315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5" name="Text 4"/>
          <p:cNvSpPr/>
          <p:nvPr/>
        </p:nvSpPr>
        <p:spPr>
          <a:xfrm>
            <a:off x="777240" y="193860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Histogram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Text 5"/>
          <p:cNvSpPr/>
          <p:nvPr/>
        </p:nvSpPr>
        <p:spPr>
          <a:xfrm>
            <a:off x="777240" y="2514600"/>
            <a:ext cx="493740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Shows the full shape of a distribution — how values spread across ranges. Best for understanding one variable in depth.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Shape 6"/>
          <p:cNvSpPr/>
          <p:nvPr/>
        </p:nvSpPr>
        <p:spPr>
          <a:xfrm>
            <a:off x="6263640" y="1737360"/>
            <a:ext cx="5394600" cy="39315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Text 7"/>
          <p:cNvSpPr/>
          <p:nvPr/>
        </p:nvSpPr>
        <p:spPr>
          <a:xfrm>
            <a:off x="6492240" y="193860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Box Plot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9" name="Text 8"/>
          <p:cNvSpPr/>
          <p:nvPr/>
        </p:nvSpPr>
        <p:spPr>
          <a:xfrm>
            <a:off x="6492240" y="2514600"/>
            <a:ext cx="493740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Compresses a distribution into 5 key numbers. Best for comparing spread and outliers across several groups at once.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0" name="Text 9"/>
          <p:cNvSpPr/>
          <p:nvPr/>
        </p:nvSpPr>
        <p:spPr>
          <a:xfrm>
            <a:off x="548640" y="5806440"/>
            <a:ext cx="11109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In EDA, it's common to start with a histogram to understand one feature, then switch to box plots to compare that feature across categories or classes.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1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77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3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4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13 · STATISTICAL VISUALIZATION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5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Statistical Visualization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6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7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8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9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0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Build a box plot comparing three groups of numbers you invent.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1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2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3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4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Identify, just by looking at it, which group has the most outliers.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5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6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7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Plot the same data as a histogram, one group at a time, and compare the two views.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0" name="Text 17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Text 1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78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3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04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5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14 · SAVING FIGURES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6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Saving Figures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7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Turning a plot into a file you can share, embed, or print — with plt.savefig().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8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79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14 · SAVING FIGURES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Anatomy of plt.savefig()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1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2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3" name="Shape 3"/>
          <p:cNvSpPr/>
          <p:nvPr/>
        </p:nvSpPr>
        <p:spPr>
          <a:xfrm>
            <a:off x="548640" y="1691640"/>
            <a:ext cx="5028840" cy="2194200"/>
          </a:xfrm>
          <a:prstGeom prst="roundRect">
            <a:avLst>
              <a:gd name="adj" fmla="val 5000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4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5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7" name="Text 7"/>
          <p:cNvSpPr/>
          <p:nvPr/>
        </p:nvSpPr>
        <p:spPr>
          <a:xfrm>
            <a:off x="749880" y="2075760"/>
            <a:ext cx="4626360" cy="166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plt.savefig(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"filename.png",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dpi=300,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bbox_inches="tight"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18" name="Table 0"/>
          <p:cNvGraphicFramePr/>
          <p:nvPr/>
        </p:nvGraphicFramePr>
        <p:xfrm>
          <a:off x="5806440" y="1691640"/>
          <a:ext cx="5851800" cy="2194560"/>
        </p:xfrm>
        <a:graphic>
          <a:graphicData uri="http://schemas.openxmlformats.org/drawingml/2006/table">
            <a:tbl>
              <a:tblPr/>
              <a:tblGrid>
                <a:gridCol w="1872360"/>
                <a:gridCol w="3979440"/>
              </a:tblGrid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"filename.png" / .jpg / .pdf / .svg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Output format — set by the file extension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dpi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Resolution — higher = sharper, larger file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bbox_inches="tight"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Trims extra whitespace around the figure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19" name="Text 8"/>
          <p:cNvSpPr/>
          <p:nvPr/>
        </p:nvSpPr>
        <p:spPr>
          <a:xfrm>
            <a:off x="548640" y="4160520"/>
            <a:ext cx="110638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PNG — best default for slides, docs, and the web (supports transparency).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JPG — smaller file size, no transparency; fine for photos, not ideal for charts with text.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PDF / SVG — vector formats that stay crisp at any zoom level; great for print and papers.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Always call savefig() before plt.show() — some backends clear the figure after showing 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80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14 · SAVING </a:t>
            </a: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FIGURES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Saving a High-Quality Chart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3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4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5" name="Shape 3"/>
          <p:cNvSpPr/>
          <p:nvPr/>
        </p:nvSpPr>
        <p:spPr>
          <a:xfrm>
            <a:off x="548640" y="169164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6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7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8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9" name="Text 7"/>
          <p:cNvSpPr/>
          <p:nvPr/>
        </p:nvSpPr>
        <p:spPr>
          <a:xfrm>
            <a:off x="749880" y="2075760"/>
            <a:ext cx="508356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plt.plot(x1, repositories, color="red",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linewidth=3, linestyle=":", marker="o")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plt.title("Programming Languages")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plt.xticks(x1, languages,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rotation=45, ha="right")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plt.tight_layout()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plt.savefig(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"./outputs/languages_chart.png",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dpi=300,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bbox_inches="tight"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0" name="Shape 8"/>
          <p:cNvSpPr/>
          <p:nvPr/>
        </p:nvSpPr>
        <p:spPr>
          <a:xfrm>
            <a:off x="6172200" y="1691640"/>
            <a:ext cx="5486040" cy="4023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1" name="Image 1" descr="/home/claude/mpl/charts/saved_fig_example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380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2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81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4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5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14 · SAVING FIGURES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6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Saving Figures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7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9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0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1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Save any chart from this module as a PNG at 300 DPI.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2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3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4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5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Save the same chart again with bbox_inches="tight" and compare the two files.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6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7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8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9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Save one chart as a PDF and note what's different about opening 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0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1" name="Text 17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2" name="Text 1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82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4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55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6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15 · NUMPY &amp; PANDAS INTEGRATION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7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Matplotlib with NumPy &amp; Pandas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8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Why this module comes after NumPy and Pandas — plotting the data you already know how to build.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9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83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15 · NUMPY &amp; PANDAS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From NumPy Arrays to Plots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2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4" name="Shape 3"/>
          <p:cNvSpPr/>
          <p:nvPr/>
        </p:nvSpPr>
        <p:spPr>
          <a:xfrm>
            <a:off x="548640" y="1691640"/>
            <a:ext cx="5394600" cy="2834280"/>
          </a:xfrm>
          <a:prstGeom prst="roundRect">
            <a:avLst>
              <a:gd name="adj" fmla="val 3871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5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6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7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8" name="Text 7"/>
          <p:cNvSpPr/>
          <p:nvPr/>
        </p:nvSpPr>
        <p:spPr>
          <a:xfrm>
            <a:off x="749880" y="2075760"/>
            <a:ext cx="4992120" cy="230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import numpy as np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x = np.linspace(0, 10, 100)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y = np.sin(x)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plt.plot(x, y, color="#5755A7")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plt.title("A NumPy-Generated Curve")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plt.show()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9" name="Text 8"/>
          <p:cNvSpPr/>
          <p:nvPr/>
        </p:nvSpPr>
        <p:spPr>
          <a:xfrm>
            <a:off x="6172200" y="1691640"/>
            <a:ext cx="539460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plt.plot(), scatter(), bar() all accept NumPy arrays exactly like plain lists.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np.arange() and np.linspace() are the two most common ways to generate smooth X values for a curve.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You already used np.arange() for bar positioning in Part 4 — same array, new purpose.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0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84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15 · NUMPY &amp; PANDAS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2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Plotting Pandas Series &amp; DataFrames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3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4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5" name="Shape 3"/>
          <p:cNvSpPr/>
          <p:nvPr/>
        </p:nvSpPr>
        <p:spPr>
          <a:xfrm>
            <a:off x="548640" y="169164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6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7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8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9" name="Text 7"/>
          <p:cNvSpPr/>
          <p:nvPr/>
        </p:nvSpPr>
        <p:spPr>
          <a:xfrm>
            <a:off x="749880" y="2075760"/>
            <a:ext cx="508356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import pandas as pd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df = pd.read_csv("sales.csv")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# Plot one column directly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plt.plot(df["month"], df["revenue"])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# Pandas' own shortcut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df["revenue"].plot(kind="line")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df.plot(x="month", y="revenue", kind="bar")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0" name="Text 8"/>
          <p:cNvSpPr/>
          <p:nvPr/>
        </p:nvSpPr>
        <p:spPr>
          <a:xfrm>
            <a:off x="6309360" y="1691640"/>
            <a:ext cx="53488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Pandas Series or DataFrame column can be passed straight into plt.plot() — no conversion needed.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Pandas also ships its own .plot() method, built on top of Matplotlib, for one-line quick charts.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exactly the bridge from cleaned data (Pandas) to visual insight (Matplotlib) — the core of EDA.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1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85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3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4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15 · NUMPY &amp; PANDAS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5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Matplotlib with NumPy &amp; Pandas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7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Generate 50 points with np.linspace() and plot a smooth curve using them.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2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3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4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Load any small CSV (or make one up) into Pandas and plot one column directly with plt.plot().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5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7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 Pandas' own df.plot() shortcut on the same data and compare the result.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0" name="Text 17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1" name="Text 1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86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3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04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5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16 · MATPLOTLIB FOR AI, ML &amp; DATA SCIENCE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6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Matplotlib for AI, ML &amp; Data Science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7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Why you're really learning this — the visualization jobs that show up in every ML project.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8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87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16 · MATPLOTLIB FOR AI/ML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0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Understanding Your Data First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1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2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3" name="Shape 3"/>
          <p:cNvSpPr/>
          <p:nvPr/>
        </p:nvSpPr>
        <p:spPr>
          <a:xfrm>
            <a:off x="548640" y="1691640"/>
            <a:ext cx="6400440" cy="4023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4" name="Image 1" descr="/home/claude/mpl/charts/feature_class_combo.png"/>
          <p:cNvPicPr/>
          <p:nvPr/>
        </p:nvPicPr>
        <p:blipFill>
          <a:blip r:embed="rId2"/>
          <a:stretch/>
        </p:blipFill>
        <p:spPr>
          <a:xfrm>
            <a:off x="658440" y="1801440"/>
            <a:ext cx="6180840" cy="363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5" name="Text 4"/>
          <p:cNvSpPr/>
          <p:nvPr/>
        </p:nvSpPr>
        <p:spPr>
          <a:xfrm>
            <a:off x="548640" y="5440680"/>
            <a:ext cx="640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Feature distribution (left) and class balance (right).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6" name="Text 5"/>
          <p:cNvSpPr/>
          <p:nvPr/>
        </p:nvSpPr>
        <p:spPr>
          <a:xfrm>
            <a:off x="7223760" y="1691640"/>
            <a:ext cx="44344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Feature distributions — a histogram reveals skew, scale, and unexpected values before you train anything.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Class distributions — a bar chart shows whether your dataset is balanced or dominated by one class.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always step one in a real ML workflow, before any modeling begins.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7" name="Text 6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88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16 · MATPLOTLIB FOR AI/ML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9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Spotting Relationships &amp; Outliers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0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1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2" name="Shape 3"/>
          <p:cNvSpPr/>
          <p:nvPr/>
        </p:nvSpPr>
        <p:spPr>
          <a:xfrm>
            <a:off x="548640" y="1691640"/>
            <a:ext cx="5668920" cy="420588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3" name="Image 1" descr="/home/claude/mpl/charts/colormap_scatter.png"/>
          <p:cNvPicPr/>
          <p:nvPr/>
        </p:nvPicPr>
        <p:blipFill>
          <a:blip r:embed="rId2"/>
          <a:stretch/>
        </p:blipFill>
        <p:spPr>
          <a:xfrm>
            <a:off x="658440" y="1801440"/>
            <a:ext cx="5449320" cy="382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4" name="Text 4"/>
          <p:cNvSpPr/>
          <p:nvPr/>
        </p:nvSpPr>
        <p:spPr>
          <a:xfrm>
            <a:off x="548640" y="5623560"/>
            <a:ext cx="5668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Feature relationships, colored by a third variable.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5" name="Text 5"/>
          <p:cNvSpPr/>
          <p:nvPr/>
        </p:nvSpPr>
        <p:spPr>
          <a:xfrm>
            <a:off x="6355080" y="1691640"/>
            <a:ext cx="530316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Scatter plots reveal how two features relate — a key step before choosing a model.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Points far from the main cluster are candidate outliers, worth inspecting before training.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colormap can encode a third variable (like the target) directly into the same chart.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6" name="Text 6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89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16 · MATPLOTLIB FOR AI/ML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8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Evaluating a Model — Training Curves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0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1" name="Shape 3"/>
          <p:cNvSpPr/>
          <p:nvPr/>
        </p:nvSpPr>
        <p:spPr>
          <a:xfrm>
            <a:off x="548640" y="1691640"/>
            <a:ext cx="5668920" cy="4023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2" name="Image 1" descr="/home/claude/mpl/charts/train_val_curve.png"/>
          <p:cNvPicPr/>
          <p:nvPr/>
        </p:nvPicPr>
        <p:blipFill>
          <a:blip r:embed="rId2"/>
          <a:stretch/>
        </p:blipFill>
        <p:spPr>
          <a:xfrm>
            <a:off x="658440" y="1801440"/>
            <a:ext cx="5449320" cy="363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3" name="Text 4"/>
          <p:cNvSpPr/>
          <p:nvPr/>
        </p:nvSpPr>
        <p:spPr>
          <a:xfrm>
            <a:off x="548640" y="5440680"/>
            <a:ext cx="5668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Training vs. validation loss, over time.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4" name="Text 5"/>
          <p:cNvSpPr/>
          <p:nvPr/>
        </p:nvSpPr>
        <p:spPr>
          <a:xfrm>
            <a:off x="6355080" y="1691640"/>
            <a:ext cx="530316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training/validation curve plots a metric (loss, accuracy) per epoch for both sets.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If validation loss rises while training loss keeps falling, that's a classic overfitting signal — and it's only visible because you plotted it.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single line chart is one of the most-viewed charts in any ML project.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5" name="Text 6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90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16 · MATPLOTLIB FOR AI/ML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7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Evaluating a Model — Predictions &amp; Comparison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8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9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0" name="Shape 3"/>
          <p:cNvSpPr/>
          <p:nvPr/>
        </p:nvSpPr>
        <p:spPr>
          <a:xfrm>
            <a:off x="548640" y="1691640"/>
            <a:ext cx="5394600" cy="420588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1" name="Image 1" descr="/home/claude/mpl/charts/actual_vs_pred.png"/>
          <p:cNvPicPr/>
          <p:nvPr/>
        </p:nvPicPr>
        <p:blipFill>
          <a:blip r:embed="rId2"/>
          <a:stretch/>
        </p:blipFill>
        <p:spPr>
          <a:xfrm>
            <a:off x="658440" y="1801440"/>
            <a:ext cx="5175000" cy="382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2" name="Text 4"/>
          <p:cNvSpPr/>
          <p:nvPr/>
        </p:nvSpPr>
        <p:spPr>
          <a:xfrm>
            <a:off x="548640" y="5623560"/>
            <a:ext cx="5394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Actual vs. predicted — the closer to the diagonal, the better.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3" name="Shape 5"/>
          <p:cNvSpPr/>
          <p:nvPr/>
        </p:nvSpPr>
        <p:spPr>
          <a:xfrm>
            <a:off x="6080760" y="1691640"/>
            <a:ext cx="5577480" cy="420588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4" name="Image 2" descr="/home/claude/mpl/charts/boxplot_models.png"/>
          <p:cNvPicPr/>
          <p:nvPr/>
        </p:nvPicPr>
        <p:blipFill>
          <a:blip r:embed="rId3"/>
          <a:stretch/>
        </p:blipFill>
        <p:spPr>
          <a:xfrm>
            <a:off x="6190560" y="1801440"/>
            <a:ext cx="5357880" cy="382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5" name="Text 6"/>
          <p:cNvSpPr/>
          <p:nvPr/>
        </p:nvSpPr>
        <p:spPr>
          <a:xfrm>
            <a:off x="6080760" y="5623560"/>
            <a:ext cx="5577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Comparing accuracy across several models.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6" name="Text 7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91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16 · MATPLOTLIB FOR AI/ML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8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Confusion Matrix — Basic Concept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9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0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1" name="Text 3"/>
          <p:cNvSpPr/>
          <p:nvPr/>
        </p:nvSpPr>
        <p:spPr>
          <a:xfrm>
            <a:off x="548640" y="1737360"/>
            <a:ext cx="64918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classification models, a confusion matrix is a grid showing predicted class vs. actual class.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diagonal cells are correct predictions — everything off the diagonal is a mistake worth understanding.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 Matplotlib, this is typically drawn as a color-coded grid: plt.imshow(matrix, cmap="Blues") with the counts written into each cell using plt.text().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You'll build these for real once you reach Supervised Machine Learning — for now, just recognize the shape and purpose.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2" name="Shape 4"/>
          <p:cNvSpPr/>
          <p:nvPr/>
        </p:nvSpPr>
        <p:spPr>
          <a:xfrm>
            <a:off x="7406640" y="1828800"/>
            <a:ext cx="1737000" cy="1737000"/>
          </a:xfrm>
          <a:prstGeom prst="rect">
            <a:avLst/>
          </a:prstGeom>
          <a:solidFill>
            <a:srgbClr val="8C8AE0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3" name="Text 5"/>
          <p:cNvSpPr/>
          <p:nvPr/>
        </p:nvSpPr>
        <p:spPr>
          <a:xfrm>
            <a:off x="7406640" y="1828800"/>
            <a:ext cx="1737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42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4" name="Shape 6"/>
          <p:cNvSpPr/>
          <p:nvPr/>
        </p:nvSpPr>
        <p:spPr>
          <a:xfrm>
            <a:off x="9144000" y="1828800"/>
            <a:ext cx="1737000" cy="1737000"/>
          </a:xfrm>
          <a:prstGeom prst="rect">
            <a:avLst/>
          </a:prstGeom>
          <a:solidFill>
            <a:srgbClr val="F0ECF4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5" name="Text 7"/>
          <p:cNvSpPr/>
          <p:nvPr/>
        </p:nvSpPr>
        <p:spPr>
          <a:xfrm>
            <a:off x="9144000" y="1828800"/>
            <a:ext cx="1737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6" name="Shape 8"/>
          <p:cNvSpPr/>
          <p:nvPr/>
        </p:nvSpPr>
        <p:spPr>
          <a:xfrm>
            <a:off x="7406640" y="3566160"/>
            <a:ext cx="1737000" cy="1737000"/>
          </a:xfrm>
          <a:prstGeom prst="rect">
            <a:avLst/>
          </a:prstGeom>
          <a:solidFill>
            <a:srgbClr val="F0ECF4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7" name="Text 9"/>
          <p:cNvSpPr/>
          <p:nvPr/>
        </p:nvSpPr>
        <p:spPr>
          <a:xfrm>
            <a:off x="7406640" y="3566160"/>
            <a:ext cx="1737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8" name="Shape 10"/>
          <p:cNvSpPr/>
          <p:nvPr/>
        </p:nvSpPr>
        <p:spPr>
          <a:xfrm>
            <a:off x="9144000" y="3566160"/>
            <a:ext cx="1737000" cy="1737000"/>
          </a:xfrm>
          <a:prstGeom prst="rect">
            <a:avLst/>
          </a:prstGeom>
          <a:solidFill>
            <a:srgbClr val="8C8AE0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9" name="Text 11"/>
          <p:cNvSpPr/>
          <p:nvPr/>
        </p:nvSpPr>
        <p:spPr>
          <a:xfrm>
            <a:off x="9144000" y="3566160"/>
            <a:ext cx="17370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r>
              <a:rPr lang="en-US" sz="3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8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0" name="Text 12"/>
          <p:cNvSpPr/>
          <p:nvPr/>
        </p:nvSpPr>
        <p:spPr>
          <a:xfrm>
            <a:off x="7406640" y="150876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Predicted →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1" name="Text 1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92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3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4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5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17 · MINI PROJECTS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6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Put It All Together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7" name="Text 4"/>
          <p:cNvSpPr/>
          <p:nvPr/>
        </p:nvSpPr>
        <p:spPr>
          <a:xfrm>
            <a:off x="640080" y="3977640"/>
            <a:ext cx="9326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Three small projects combining everything from Foundations to AI/ML visualization — built end to end, using the Object-Oriented API.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8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93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17 · MINI PROJECTS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0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 1: Sales &amp; Expenses Report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1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2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3" name="Shape 3"/>
          <p:cNvSpPr/>
          <p:nvPr/>
        </p:nvSpPr>
        <p:spPr>
          <a:xfrm>
            <a:off x="548640" y="1737360"/>
            <a:ext cx="3062880" cy="3977280"/>
          </a:xfrm>
          <a:prstGeom prst="roundRect">
            <a:avLst>
              <a:gd name="adj" fmla="val 4179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4" name="Shape 4"/>
          <p:cNvSpPr/>
          <p:nvPr/>
        </p:nvSpPr>
        <p:spPr>
          <a:xfrm>
            <a:off x="1577520" y="2194560"/>
            <a:ext cx="1005480" cy="1005480"/>
          </a:xfrm>
          <a:prstGeom prst="ellipse">
            <a:avLst/>
          </a:prstGeom>
          <a:solidFill>
            <a:srgbClr val="231F71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5" name="Text 5"/>
          <p:cNvSpPr/>
          <p:nvPr/>
        </p:nvSpPr>
        <p:spPr>
          <a:xfrm>
            <a:off x="1577520" y="219456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6" name="Text 6"/>
          <p:cNvSpPr/>
          <p:nvPr/>
        </p:nvSpPr>
        <p:spPr>
          <a:xfrm>
            <a:off x="777240" y="4663440"/>
            <a:ext cx="2605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1F71"/>
                </a:solidFill>
                <a:effectLst/>
                <a:uFillTx/>
                <a:latin typeface="Plus Jakarta Sans"/>
                <a:ea typeface="Plus Jakarta Sans"/>
              </a:rPr>
              <a:t>Line + Bar,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1F71"/>
                </a:solidFill>
                <a:effectLst/>
                <a:uFillTx/>
                <a:latin typeface="Plus Jakarta Sans"/>
                <a:ea typeface="Plus Jakarta Sans"/>
              </a:rPr>
              <a:t>combined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7" name="Text 7"/>
          <p:cNvSpPr/>
          <p:nvPr/>
        </p:nvSpPr>
        <p:spPr>
          <a:xfrm>
            <a:off x="4069080" y="1783080"/>
            <a:ext cx="758916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Build a 1×2 subplot: a line chart of monthly sales vs. expenses, and a bar chart of totals by quarter.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 the Object-Oriented API — fig, ax — throughout, not plt. shortcuts.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Add a title, axis labels, and a legend to each panel.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Save the final figure as a 300 DPI PNG with plt.savefig().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8" name="Text 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94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17 · MINI PROJECTS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0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 2: Student Performance Dashboard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1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2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3" name="Shape 3"/>
          <p:cNvSpPr/>
          <p:nvPr/>
        </p:nvSpPr>
        <p:spPr>
          <a:xfrm>
            <a:off x="548640" y="1737360"/>
            <a:ext cx="3062880" cy="3977280"/>
          </a:xfrm>
          <a:prstGeom prst="roundRect">
            <a:avLst>
              <a:gd name="adj" fmla="val 4179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4" name="Shape 4"/>
          <p:cNvSpPr/>
          <p:nvPr/>
        </p:nvSpPr>
        <p:spPr>
          <a:xfrm>
            <a:off x="1577520" y="2194560"/>
            <a:ext cx="1005480" cy="1005480"/>
          </a:xfrm>
          <a:prstGeom prst="ellipse">
            <a:avLst/>
          </a:prstGeom>
          <a:solidFill>
            <a:srgbClr val="231F71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5" name="Text 5"/>
          <p:cNvSpPr/>
          <p:nvPr/>
        </p:nvSpPr>
        <p:spPr>
          <a:xfrm>
            <a:off x="1577520" y="219456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6" name="Text 6"/>
          <p:cNvSpPr/>
          <p:nvPr/>
        </p:nvSpPr>
        <p:spPr>
          <a:xfrm>
            <a:off x="777240" y="4663440"/>
            <a:ext cx="2605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1F71"/>
                </a:solidFill>
                <a:effectLst/>
                <a:uFillTx/>
                <a:latin typeface="Plus Jakarta Sans"/>
                <a:ea typeface="Plus Jakarta Sans"/>
              </a:rPr>
              <a:t>Line + Bar +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1F71"/>
                </a:solidFill>
                <a:effectLst/>
                <a:uFillTx/>
                <a:latin typeface="Plus Jakarta Sans"/>
                <a:ea typeface="Plus Jakarta Sans"/>
              </a:rPr>
              <a:t>Scatter + Histogram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7" name="Text 7"/>
          <p:cNvSpPr/>
          <p:nvPr/>
        </p:nvSpPr>
        <p:spPr>
          <a:xfrm>
            <a:off x="4069080" y="1783080"/>
            <a:ext cx="758916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Build a 2×2 grid: average score per subject (line), grade-band counts (bar), study hours vs. score colored by pass/fail (scatter), and score distribution (histogram).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Call plt.tight_layout() so nothing overlaps between panels.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 plt.annotate() to call out the highest-scoring student on the scatter panel.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Save with plt.savefig("dashboard.png", dpi=200, bbox_inches="tight").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8" name="Text 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95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17 · MINI PROJECTS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0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 3: Model Evaluation Snapshot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1" name="Image 0" descr="/home/claude/mpl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2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Matplotlib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3" name="Shape 3"/>
          <p:cNvSpPr/>
          <p:nvPr/>
        </p:nvSpPr>
        <p:spPr>
          <a:xfrm>
            <a:off x="548640" y="1737360"/>
            <a:ext cx="3062880" cy="3977280"/>
          </a:xfrm>
          <a:prstGeom prst="roundRect">
            <a:avLst>
              <a:gd name="adj" fmla="val 4179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4" name="Shape 4"/>
          <p:cNvSpPr/>
          <p:nvPr/>
        </p:nvSpPr>
        <p:spPr>
          <a:xfrm>
            <a:off x="1577520" y="2194560"/>
            <a:ext cx="1005480" cy="1005480"/>
          </a:xfrm>
          <a:prstGeom prst="ellipse">
            <a:avLst/>
          </a:prstGeom>
          <a:solidFill>
            <a:srgbClr val="231F71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5" name="Text 5"/>
          <p:cNvSpPr/>
          <p:nvPr/>
        </p:nvSpPr>
        <p:spPr>
          <a:xfrm>
            <a:off x="1577520" y="219456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6" name="Text 6"/>
          <p:cNvSpPr/>
          <p:nvPr/>
        </p:nvSpPr>
        <p:spPr>
          <a:xfrm>
            <a:off x="777240" y="4663440"/>
            <a:ext cx="2605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1F71"/>
                </a:solidFill>
                <a:effectLst/>
                <a:uFillTx/>
                <a:latin typeface="Plus Jakarta Sans"/>
                <a:ea typeface="Plus Jakarta Sans"/>
              </a:rPr>
              <a:t>Training curves +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1F71"/>
                </a:solidFill>
                <a:effectLst/>
                <a:uFillTx/>
                <a:latin typeface="Plus Jakarta Sans"/>
                <a:ea typeface="Plus Jakarta Sans"/>
              </a:rPr>
              <a:t>Actual vs. Predicted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7" name="Text 7"/>
          <p:cNvSpPr/>
          <p:nvPr/>
        </p:nvSpPr>
        <p:spPr>
          <a:xfrm>
            <a:off x="4069080" y="1783080"/>
            <a:ext cx="758916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Plot training vs. validation loss curves across 20 epochs for a model (real or invented).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Plot actual vs. predicted values with a diagonal reference line.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Compare accuracy across 3 models using a box plot.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Combine all three panels into one Figure using plt.subplots().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8" name="Text 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96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Shape 0"/>
          <p:cNvSpPr/>
          <p:nvPr/>
        </p:nvSpPr>
        <p:spPr>
          <a:xfrm>
            <a:off x="-1828800" y="-2103120"/>
            <a:ext cx="4754520" cy="47545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0" name="Shape 1"/>
          <p:cNvSpPr/>
          <p:nvPr/>
        </p:nvSpPr>
        <p:spPr>
          <a:xfrm>
            <a:off x="9326880" y="4206240"/>
            <a:ext cx="4205880" cy="4205880"/>
          </a:xfrm>
          <a:prstGeom prst="ellipse">
            <a:avLst/>
          </a:prstGeom>
          <a:solidFill>
            <a:srgbClr val="11362E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1" name="Shape 2"/>
          <p:cNvSpPr/>
          <p:nvPr/>
        </p:nvSpPr>
        <p:spPr>
          <a:xfrm>
            <a:off x="4907160" y="1051560"/>
            <a:ext cx="2377080" cy="54360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480" rIns="90000" bIns="-64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2" name="Text 3"/>
          <p:cNvSpPr/>
          <p:nvPr/>
        </p:nvSpPr>
        <p:spPr>
          <a:xfrm>
            <a:off x="0" y="1234440"/>
            <a:ext cx="1219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MODULE RECAP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3" name="Text 4"/>
          <p:cNvSpPr/>
          <p:nvPr/>
        </p:nvSpPr>
        <p:spPr>
          <a:xfrm>
            <a:off x="1249560" y="1920240"/>
            <a:ext cx="96922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Matplotlib turns raw numbers into a picture you can actually reason about — and that same picture is what you'll lean on for every EDA, every model check, and every report from here forward.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4" name="Text 5"/>
          <p:cNvSpPr/>
          <p:nvPr/>
        </p:nvSpPr>
        <p:spPr>
          <a:xfrm>
            <a:off x="0" y="4526280"/>
            <a:ext cx="1219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Next up: Seaborn — statistical charts, built on everything you just learned.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5" name="Text 6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97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Shape 0"/>
          <p:cNvSpPr/>
          <p:nvPr/>
        </p:nvSpPr>
        <p:spPr>
          <a:xfrm>
            <a:off x="-1828800" y="-1828800"/>
            <a:ext cx="4571640" cy="457164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7" name="Shape 1"/>
          <p:cNvSpPr/>
          <p:nvPr/>
        </p:nvSpPr>
        <p:spPr>
          <a:xfrm>
            <a:off x="9601200" y="4114800"/>
            <a:ext cx="4114440" cy="4114440"/>
          </a:xfrm>
          <a:prstGeom prst="ellipse">
            <a:avLst/>
          </a:prstGeom>
          <a:solidFill>
            <a:srgbClr val="4C112D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8" name="Shape 2"/>
          <p:cNvSpPr/>
          <p:nvPr/>
        </p:nvSpPr>
        <p:spPr>
          <a:xfrm>
            <a:off x="4495680" y="2167200"/>
            <a:ext cx="3200040" cy="1188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9" name="Image 0" descr="/home/claude/mpl/assets/logo_full.png"/>
          <p:cNvPicPr/>
          <p:nvPr/>
        </p:nvPicPr>
        <p:blipFill>
          <a:blip r:embed="rId1"/>
          <a:stretch/>
        </p:blipFill>
        <p:spPr>
          <a:xfrm>
            <a:off x="4632840" y="2286000"/>
            <a:ext cx="2925720" cy="95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0" name="Text 3"/>
          <p:cNvSpPr/>
          <p:nvPr/>
        </p:nvSpPr>
        <p:spPr>
          <a:xfrm>
            <a:off x="0" y="3429000"/>
            <a:ext cx="1219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Thank You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1" name="Text 4"/>
          <p:cNvSpPr/>
          <p:nvPr/>
        </p:nvSpPr>
        <p:spPr>
          <a:xfrm>
            <a:off x="0" y="4160520"/>
            <a:ext cx="1219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Matplotlib · AI &amp; ML Playground · CodeByPaxto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2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98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2026-09-23T02:05:21Z</dcterms:created>
  <dc:creator>PptxGenJS</dc:creator>
  <dc:description/>
  <dc:language>en-US</dc:language>
  <cp:lastModifiedBy/>
  <dcterms:modified xsi:type="dcterms:W3CDTF">2026-09-24T16:57:15Z</dcterms:modified>
  <cp:revision>12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98</vt:i4>
  </property>
  <property fmtid="{D5CDD505-2E9C-101B-9397-08002B2CF9AE}" pid="3" name="PresentationFormat">
    <vt:lpwstr>On-screen Show (16:9)</vt:lpwstr>
  </property>
  <property fmtid="{D5CDD505-2E9C-101B-9397-08002B2CF9AE}" pid="4" name="Slides">
    <vt:i4>98</vt:i4>
  </property>
</Properties>
</file>