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92B35BA-2456-4FC9-A4D6-F49A09454C8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DA7FAA-9807-4058-B087-243436F7A2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claude/assets/logo_card.png"/>
          <p:cNvPicPr/>
          <p:nvPr/>
        </p:nvPicPr>
        <p:blipFill>
          <a:blip r:embed="rId1"/>
          <a:stretch/>
        </p:blipFill>
        <p:spPr>
          <a:xfrm>
            <a:off x="731520" y="502920"/>
            <a:ext cx="2559960" cy="83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4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15625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DATA ANALYSIS  ·  </a:t>
            </a: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DECK 1  ·  AI &amp; ML </a:t>
            </a: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58440" y="27889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h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e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D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&amp;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L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Pi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el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in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13160" y="370332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Where data comes from, how it is cleaned and prepared, and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which tools do each job: the big picture before the practice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1316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50018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Pipeline at a Glance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tep"/>
          <p:cNvSpPr/>
          <p:nvPr/>
        </p:nvSpPr>
        <p:spPr>
          <a:xfrm>
            <a:off x="548640" y="2011680"/>
            <a:ext cx="1508400" cy="1371240"/>
          </a:xfrm>
          <a:prstGeom prst="roundRect">
            <a:avLst>
              <a:gd name="adj" fmla="val 8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tep no"/>
          <p:cNvSpPr/>
          <p:nvPr/>
        </p:nvSpPr>
        <p:spPr>
          <a:xfrm>
            <a:off x="548640" y="210312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tep name"/>
          <p:cNvSpPr/>
          <p:nvPr/>
        </p:nvSpPr>
        <p:spPr>
          <a:xfrm>
            <a:off x="612720" y="2560320"/>
            <a:ext cx="138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Define the problem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tep"/>
          <p:cNvSpPr/>
          <p:nvPr/>
        </p:nvSpPr>
        <p:spPr>
          <a:xfrm>
            <a:off x="2148840" y="2011680"/>
            <a:ext cx="1508400" cy="1371240"/>
          </a:xfrm>
          <a:prstGeom prst="roundRect">
            <a:avLst>
              <a:gd name="adj" fmla="val 8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tep no"/>
          <p:cNvSpPr/>
          <p:nvPr/>
        </p:nvSpPr>
        <p:spPr>
          <a:xfrm>
            <a:off x="2148840" y="210312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tep name"/>
          <p:cNvSpPr/>
          <p:nvPr/>
        </p:nvSpPr>
        <p:spPr>
          <a:xfrm>
            <a:off x="2212920" y="2560320"/>
            <a:ext cx="138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Collect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tep"/>
          <p:cNvSpPr/>
          <p:nvPr/>
        </p:nvSpPr>
        <p:spPr>
          <a:xfrm>
            <a:off x="3749040" y="2011680"/>
            <a:ext cx="1508400" cy="1371240"/>
          </a:xfrm>
          <a:prstGeom prst="roundRect">
            <a:avLst>
              <a:gd name="adj" fmla="val 8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tep no"/>
          <p:cNvSpPr/>
          <p:nvPr/>
        </p:nvSpPr>
        <p:spPr>
          <a:xfrm>
            <a:off x="3749040" y="210312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tep name"/>
          <p:cNvSpPr/>
          <p:nvPr/>
        </p:nvSpPr>
        <p:spPr>
          <a:xfrm>
            <a:off x="3813120" y="2560320"/>
            <a:ext cx="138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Explore (EDA)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tep"/>
          <p:cNvSpPr/>
          <p:nvPr/>
        </p:nvSpPr>
        <p:spPr>
          <a:xfrm>
            <a:off x="5349240" y="2011680"/>
            <a:ext cx="1508400" cy="1371240"/>
          </a:xfrm>
          <a:prstGeom prst="roundRect">
            <a:avLst>
              <a:gd name="adj" fmla="val 8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tep no"/>
          <p:cNvSpPr/>
          <p:nvPr/>
        </p:nvSpPr>
        <p:spPr>
          <a:xfrm>
            <a:off x="5349240" y="210312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tep name"/>
          <p:cNvSpPr/>
          <p:nvPr/>
        </p:nvSpPr>
        <p:spPr>
          <a:xfrm>
            <a:off x="5413320" y="2560320"/>
            <a:ext cx="138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Clean &amp; wrangle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tep"/>
          <p:cNvSpPr/>
          <p:nvPr/>
        </p:nvSpPr>
        <p:spPr>
          <a:xfrm>
            <a:off x="6949440" y="2011680"/>
            <a:ext cx="1508400" cy="1371240"/>
          </a:xfrm>
          <a:prstGeom prst="roundRect">
            <a:avLst>
              <a:gd name="adj" fmla="val 8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tep no"/>
          <p:cNvSpPr/>
          <p:nvPr/>
        </p:nvSpPr>
        <p:spPr>
          <a:xfrm>
            <a:off x="6949440" y="210312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tep name"/>
          <p:cNvSpPr/>
          <p:nvPr/>
        </p:nvSpPr>
        <p:spPr>
          <a:xfrm>
            <a:off x="7013520" y="2560320"/>
            <a:ext cx="138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Engineer features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tep"/>
          <p:cNvSpPr/>
          <p:nvPr/>
        </p:nvSpPr>
        <p:spPr>
          <a:xfrm>
            <a:off x="8549640" y="2011680"/>
            <a:ext cx="1508400" cy="1371240"/>
          </a:xfrm>
          <a:prstGeom prst="roundRect">
            <a:avLst>
              <a:gd name="adj" fmla="val 8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tep no"/>
          <p:cNvSpPr/>
          <p:nvPr/>
        </p:nvSpPr>
        <p:spPr>
          <a:xfrm>
            <a:off x="8549640" y="210312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tep name"/>
          <p:cNvSpPr/>
          <p:nvPr/>
        </p:nvSpPr>
        <p:spPr>
          <a:xfrm>
            <a:off x="8613720" y="2560320"/>
            <a:ext cx="138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Split &amp; model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tep"/>
          <p:cNvSpPr/>
          <p:nvPr/>
        </p:nvSpPr>
        <p:spPr>
          <a:xfrm>
            <a:off x="10149840" y="2011680"/>
            <a:ext cx="1508400" cy="1371240"/>
          </a:xfrm>
          <a:prstGeom prst="roundRect">
            <a:avLst>
              <a:gd name="adj" fmla="val 8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tep no"/>
          <p:cNvSpPr/>
          <p:nvPr/>
        </p:nvSpPr>
        <p:spPr>
          <a:xfrm>
            <a:off x="10149840" y="210312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tep name"/>
          <p:cNvSpPr/>
          <p:nvPr/>
        </p:nvSpPr>
        <p:spPr>
          <a:xfrm>
            <a:off x="10213920" y="2560320"/>
            <a:ext cx="138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Evaluate &amp; deploy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Brace"/>
          <p:cNvSpPr/>
          <p:nvPr/>
        </p:nvSpPr>
        <p:spPr>
          <a:xfrm>
            <a:off x="548640" y="3657600"/>
            <a:ext cx="790956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his module"/>
          <p:cNvSpPr/>
          <p:nvPr/>
        </p:nvSpPr>
        <p:spPr>
          <a:xfrm>
            <a:off x="548640" y="3749040"/>
            <a:ext cx="7909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This module: steps 1 to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Brace2"/>
          <p:cNvSpPr/>
          <p:nvPr/>
        </p:nvSpPr>
        <p:spPr>
          <a:xfrm>
            <a:off x="8549640" y="3657600"/>
            <a:ext cx="3108960" cy="360"/>
          </a:xfrm>
          <a:prstGeom prst="line">
            <a:avLst/>
          </a:prstGeom>
          <a:ln w="254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ML module"/>
          <p:cNvSpPr/>
          <p:nvPr/>
        </p:nvSpPr>
        <p:spPr>
          <a:xfrm>
            <a:off x="8549640" y="37490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Machi</a:t>
            </a:r>
            <a:r>
              <a:rPr lang="en-US" sz="13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ne </a:t>
            </a:r>
            <a:r>
              <a:rPr lang="en-US" sz="13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learni</a:t>
            </a:r>
            <a:r>
              <a:rPr lang="en-US" sz="13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ng </a:t>
            </a:r>
            <a:r>
              <a:rPr lang="en-US" sz="13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modu</a:t>
            </a:r>
            <a:r>
              <a:rPr lang="en-US" sz="13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Callout"/>
          <p:cNvSpPr/>
          <p:nvPr/>
        </p:nvSpPr>
        <p:spPr>
          <a:xfrm>
            <a:off x="548640" y="4480560"/>
            <a:ext cx="11109600" cy="1096920"/>
          </a:xfrm>
          <a:prstGeom prst="roundRect">
            <a:avLst>
              <a:gd name="adj" fmla="val 11111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Callout text"/>
          <p:cNvSpPr/>
          <p:nvPr/>
        </p:nvSpPr>
        <p:spPr>
          <a:xfrm>
            <a:off x="777240" y="4480560"/>
            <a:ext cx="10652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It is a loop, not a line: what you find while exploring sends you back to collect or clean again. Each step has its own deck, and machine learning has its own dedicated module.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Data Collection?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#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first step, and everything depends on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Bullets"/>
          <p:cNvSpPr/>
          <p:nvPr/>
        </p:nvSpPr>
        <p:spPr>
          <a:xfrm>
            <a:off x="3611880" y="178308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 collection is gathering information from the real world, or from existing sources, and storing it in a form you can analyze, usually rows and columns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later step depends on it: you cannot clean, explore or model data you do not have, and your results can never be better than the data you start with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"garbage in, garbage out": a clever model on poor data still gives poor answers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Before collecting anything, ask: what question am I answering, and what data would actually answer it?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 either already exists (someone collected it) or you have to create it yourself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Ty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pe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of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ta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Yo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Wi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ll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ee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ard"/>
          <p:cNvSpPr/>
          <p:nvPr/>
        </p:nvSpPr>
        <p:spPr>
          <a:xfrm>
            <a:off x="54864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ill"/>
          <p:cNvSpPr/>
          <p:nvPr/>
        </p:nvSpPr>
        <p:spPr>
          <a:xfrm>
            <a:off x="73152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ill label"/>
          <p:cNvSpPr/>
          <p:nvPr/>
        </p:nvSpPr>
        <p:spPr>
          <a:xfrm>
            <a:off x="73152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Structured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Items"/>
          <p:cNvSpPr/>
          <p:nvPr/>
        </p:nvSpPr>
        <p:spPr>
          <a:xfrm>
            <a:off x="77724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Organized in rows and columns, like a spreadsheet or database table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CSV files, Excel sheets, SQL tables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Easiest to analyze, and what most of this course uses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rd"/>
          <p:cNvSpPr/>
          <p:nvPr/>
        </p:nvSpPr>
        <p:spPr>
          <a:xfrm>
            <a:off x="432828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ill"/>
          <p:cNvSpPr/>
          <p:nvPr/>
        </p:nvSpPr>
        <p:spPr>
          <a:xfrm>
            <a:off x="451116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ill label"/>
          <p:cNvSpPr/>
          <p:nvPr/>
        </p:nvSpPr>
        <p:spPr>
          <a:xfrm>
            <a:off x="451116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Semi-structured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Items"/>
          <p:cNvSpPr/>
          <p:nvPr/>
        </p:nvSpPr>
        <p:spPr>
          <a:xfrm>
            <a:off x="455688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Has labels and nesting, but no fixed table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JSON from APIs, XML, web pages, log files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Usually needs flattening into a table first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Card"/>
          <p:cNvSpPr/>
          <p:nvPr/>
        </p:nvSpPr>
        <p:spPr>
          <a:xfrm>
            <a:off x="810756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ill"/>
          <p:cNvSpPr/>
          <p:nvPr/>
        </p:nvSpPr>
        <p:spPr>
          <a:xfrm>
            <a:off x="829044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ill label"/>
          <p:cNvSpPr/>
          <p:nvPr/>
        </p:nvSpPr>
        <p:spPr>
          <a:xfrm>
            <a:off x="829044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Unstructured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Items"/>
          <p:cNvSpPr/>
          <p:nvPr/>
        </p:nvSpPr>
        <p:spPr>
          <a:xfrm>
            <a:off x="833616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 built-in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structure at all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free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text, images,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audio, video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Must be turned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into numbers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before analysis,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which is where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deep learning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comes 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Primary vs Secondary 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ard"/>
          <p:cNvSpPr/>
          <p:nvPr/>
        </p:nvSpPr>
        <p:spPr>
          <a:xfrm>
            <a:off x="548640" y="1737360"/>
            <a:ext cx="544032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ill"/>
          <p:cNvSpPr/>
          <p:nvPr/>
        </p:nvSpPr>
        <p:spPr>
          <a:xfrm>
            <a:off x="731520" y="1920240"/>
            <a:ext cx="507456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Pill label"/>
          <p:cNvSpPr/>
          <p:nvPr/>
        </p:nvSpPr>
        <p:spPr>
          <a:xfrm>
            <a:off x="731520" y="1920240"/>
            <a:ext cx="5074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Primary data: you collect 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Items"/>
          <p:cNvSpPr/>
          <p:nvPr/>
        </p:nvSpPr>
        <p:spPr>
          <a:xfrm>
            <a:off x="777240" y="2606040"/>
            <a:ext cx="498312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gather it yourself for your own question, through surveys, experiments, sensors or scraping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fits your exact question, and you know how it was made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costs more time and effort, and the sample is often small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rd"/>
          <p:cNvSpPr/>
          <p:nvPr/>
        </p:nvSpPr>
        <p:spPr>
          <a:xfrm>
            <a:off x="6217920" y="1737360"/>
            <a:ext cx="544032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ill"/>
          <p:cNvSpPr/>
          <p:nvPr/>
        </p:nvSpPr>
        <p:spPr>
          <a:xfrm>
            <a:off x="6400800" y="1920240"/>
            <a:ext cx="507456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ill label"/>
          <p:cNvSpPr/>
          <p:nvPr/>
        </p:nvSpPr>
        <p:spPr>
          <a:xfrm>
            <a:off x="6400800" y="1920240"/>
            <a:ext cx="5074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Secondary data: others collected 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Items"/>
          <p:cNvSpPr/>
          <p:nvPr/>
        </p:nvSpPr>
        <p:spPr>
          <a:xfrm>
            <a:off x="6446520" y="2606040"/>
            <a:ext cx="498312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Already gathered by someone else: Kaggle, UCI, the World Bank, government portals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Fast, cheap and often large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must check how and why it was collected, since it may not fit your question perfectly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How Data Gets Collected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ard"/>
          <p:cNvSpPr/>
          <p:nvPr/>
        </p:nvSpPr>
        <p:spPr>
          <a:xfrm>
            <a:off x="54864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ill"/>
          <p:cNvSpPr/>
          <p:nvPr/>
        </p:nvSpPr>
        <p:spPr>
          <a:xfrm>
            <a:off x="73152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Pill label"/>
          <p:cNvSpPr/>
          <p:nvPr/>
        </p:nvSpPr>
        <p:spPr>
          <a:xfrm>
            <a:off x="73152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Surveys and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forms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Items"/>
          <p:cNvSpPr/>
          <p:nvPr/>
        </p:nvSpPr>
        <p:spPr>
          <a:xfrm>
            <a:off x="77724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Ask people directly: Google Forms, questionnaires, interviews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Good for opinions and behavior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Watch for biased questions and low response rates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ard"/>
          <p:cNvSpPr/>
          <p:nvPr/>
        </p:nvSpPr>
        <p:spPr>
          <a:xfrm>
            <a:off x="432828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ill"/>
          <p:cNvSpPr/>
          <p:nvPr/>
        </p:nvSpPr>
        <p:spPr>
          <a:xfrm>
            <a:off x="451116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ill label"/>
          <p:cNvSpPr/>
          <p:nvPr/>
        </p:nvSpPr>
        <p:spPr>
          <a:xfrm>
            <a:off x="451116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APIs and web scraping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Items"/>
          <p:cNvSpPr/>
          <p:nvPr/>
        </p:nvSpPr>
        <p:spPr>
          <a:xfrm>
            <a:off x="455688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API lets a program request data from a service in a clean format such as JSON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Scraping reads web pages when no API exists, and must respect the site’s rules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Both can fetch fresh data automatically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ard"/>
          <p:cNvSpPr/>
          <p:nvPr/>
        </p:nvSpPr>
        <p:spPr>
          <a:xfrm>
            <a:off x="810756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ill"/>
          <p:cNvSpPr/>
          <p:nvPr/>
        </p:nvSpPr>
        <p:spPr>
          <a:xfrm>
            <a:off x="829044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ill label"/>
          <p:cNvSpPr/>
          <p:nvPr/>
        </p:nvSpPr>
        <p:spPr>
          <a:xfrm>
            <a:off x="829044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Sensors, logs and databases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Items"/>
          <p:cNvSpPr/>
          <p:nvPr/>
        </p:nvSpPr>
        <p:spPr>
          <a:xfrm>
            <a:off x="833616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Devices, apps and websites record data constantly: temperatures, clicks, transactions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Company databases are queried with SQL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Large and detailed, but often messy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Data Comes From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ard"/>
          <p:cNvSpPr/>
          <p:nvPr/>
        </p:nvSpPr>
        <p:spPr>
          <a:xfrm>
            <a:off x="54864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ill"/>
          <p:cNvSpPr/>
          <p:nvPr/>
        </p:nvSpPr>
        <p:spPr>
          <a:xfrm>
            <a:off x="73152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Pill label"/>
          <p:cNvSpPr/>
          <p:nvPr/>
        </p:nvSpPr>
        <p:spPr>
          <a:xfrm>
            <a:off x="73152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Ready-made datasets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Items"/>
          <p:cNvSpPr/>
          <p:nvPr/>
        </p:nvSpPr>
        <p:spPr>
          <a:xfrm>
            <a:off x="77724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Kaggle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UCI Machine Learning Repository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OpenML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Hugging Face Datasets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Google Dataset Search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rd"/>
          <p:cNvSpPr/>
          <p:nvPr/>
        </p:nvSpPr>
        <p:spPr>
          <a:xfrm>
            <a:off x="432828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ill"/>
          <p:cNvSpPr/>
          <p:nvPr/>
        </p:nvSpPr>
        <p:spPr>
          <a:xfrm>
            <a:off x="451116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ill label"/>
          <p:cNvSpPr/>
          <p:nvPr/>
        </p:nvSpPr>
        <p:spPr>
          <a:xfrm>
            <a:off x="451116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Real-world statistics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Items"/>
          <p:cNvSpPr/>
          <p:nvPr/>
        </p:nvSpPr>
        <p:spPr>
          <a:xfrm>
            <a:off x="455688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World Bank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Our World in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data.gov and national portals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NCBI and GEO (biology)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ard"/>
          <p:cNvSpPr/>
          <p:nvPr/>
        </p:nvSpPr>
        <p:spPr>
          <a:xfrm>
            <a:off x="810756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ill"/>
          <p:cNvSpPr/>
          <p:nvPr/>
        </p:nvSpPr>
        <p:spPr>
          <a:xfrm>
            <a:off x="829044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ill label"/>
          <p:cNvSpPr/>
          <p:nvPr/>
        </p:nvSpPr>
        <p:spPr>
          <a:xfrm>
            <a:off x="829044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Built-in and your own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Items"/>
          <p:cNvSpPr/>
          <p:nvPr/>
        </p:nvSpPr>
        <p:spPr>
          <a:xfrm>
            <a:off x="833616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sns.load_dataset and scikit-learn datasets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APIs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Web scraping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Surveys and sensors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How to Find and Judge a Dataset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Find it, then check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Bullets"/>
          <p:cNvSpPr/>
          <p:nvPr/>
        </p:nvSpPr>
        <p:spPr>
          <a:xfrm>
            <a:off x="3611880" y="178308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Search with specific keywords (topic plus "dataset"), then filter by file type, size, license and last-updated date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Read the documentation: the data dictionary tells you what each column means and which one is the 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Check the source and license: who collected it, when, and whether you are allowed to use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Check size and shape: enough rows to learn from, and columns that relate to your question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Download a sample and take a quick look before committing to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Collection Mistakes to Avoid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Small mistakes here spoil every later step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Bullets"/>
          <p:cNvSpPr/>
          <p:nvPr/>
        </p:nvSpPr>
        <p:spPr>
          <a:xfrm>
            <a:off x="3611880" y="178308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Biased sample: if the data covers only one kind of person or place, your conclusions only hold for 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Outdated data: patterns from ten years ago may not describe today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Unclear license or private data: some data cannot be reused, and personal information needs care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Scraping against a site’s rules: always check its terms before collecting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Leakage hidden in columns: a column only known after the outcome (like "refund issued" when predicting a purchase) gives the answer away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EDA Really Is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Understand the data before you touch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Bullets"/>
          <p:cNvSpPr/>
          <p:nvPr/>
        </p:nvSpPr>
        <p:spPr>
          <a:xfrm>
            <a:off x="3611880" y="173772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EDA (exploratory data analysis) means looking at the data from many angles to learn what is in it, before deciding what to fix or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ask questions: how many rows and columns? What type is each column? Where is data missing? How are values spread? Which columns move together?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answer them with summary numbers (describe, value_counts, corr) and with charts such as histograms, box plots, scatter plots and heatmaps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Nothing is changed yet. The result is a list of findings, such as "Age is 20% missing" or "Price is heavily skewed"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Those findings tell you exactly what to clean, reshape or transform next, which is why EDA comes first (and comes back later)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Exploratory Data Analysis (EDA)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Look before you change anything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Bullets"/>
          <p:cNvSpPr/>
          <p:nvPr/>
        </p:nvSpPr>
        <p:spPr>
          <a:xfrm>
            <a:off x="3611880" y="178308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EDA means understanding the data first: shape, types, missing values, distributions, outliers, relationships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pandas: head, tail, shape, info, dtypes, describe, nunique, value_counts, isna, corr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seaborn: histplot, kdeplot, countplot, boxplot, scatterplot, pairplot, heatmap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matplotlib: plt.hist, plt.scatter, plt.subplots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Data Cleaning Is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Fix errors and gaps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Bullets"/>
          <p:cNvSpPr/>
          <p:nvPr/>
        </p:nvSpPr>
        <p:spPr>
          <a:xfrm>
            <a:off x="3612240" y="160020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cleaning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correcting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removing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 that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wrong,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missing,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duplicated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inconsiste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nt, so that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value can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be trusted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Typical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problems: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empty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cells, the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same row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twice,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numbers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stored as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text,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"Karachi"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"karachi "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counted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cities, an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age of 250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each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problem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decide: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delete the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row, fill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gap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with 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sensible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value such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 the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median,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correct it,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 keep it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and flag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choice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changes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results, so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cleaning is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series of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decisions,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 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button.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Note what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did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and why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starts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from the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problems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EDA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found,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and it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ends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when the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 is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correct,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 when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looks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tidy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Data Cleaning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Fix what is wrong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Bullets"/>
          <p:cNvSpPr/>
          <p:nvPr/>
        </p:nvSpPr>
        <p:spPr>
          <a:xfrm>
            <a:off x="3611880" y="178308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Missing values: isna, dropna, fillna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Duplicates: duplicated, drop_duplicates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Wrong types: astype, to_numeric, to_datetime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Messy labels: str.strip, str.lower, replace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Outliers and impossible values: clip, query, and the IQR rule from the statistics decks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axto  ·  AI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&amp; 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nd  · 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Hafiz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Waseem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Data Wrangling Is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#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Reshape and combine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Bullets"/>
          <p:cNvSpPr/>
          <p:nvPr/>
        </p:nvSpPr>
        <p:spPr>
          <a:xfrm>
            <a:off x="3611880" y="160020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 wrangling means changing the structure of correct data so it fits your question: selecting, grouping, combining and reshaping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Example: sales are in one table and customers in another, so you merge them, then group by city to get total sales per city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Example: a table with one column per month becomes one row per month (melt), because most tools and charts expect that shape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values stay the same. What changes is how they are arranged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Cleaning asks "is it correct?" and wrangling asks "is it in the right shape?" In practice you go back and forth between 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Data Wrangling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#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Fix the shape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Bullets"/>
          <p:cNvSpPr/>
          <p:nvPr/>
        </p:nvSpPr>
        <p:spPr>
          <a:xfrm>
            <a:off x="3611880" y="178308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Reshaping and combining data into the form your question needs: the data may be correct but arranged badly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Select and sort: loc, iloc, query, sort_values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Group and summarize: groupby, agg, value_counts, crosstab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Combine: merge, concat, join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Reshape: pivot, pivot_table, melt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Preprocessing &amp; Feature Work Is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Make it model-ready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Bullets"/>
          <p:cNvSpPr/>
          <p:nvPr/>
        </p:nvSpPr>
        <p:spPr>
          <a:xfrm>
            <a:off x="3611880" y="160020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Preprocessing turns cleaned data into the numeric, consistent form a machine learning model needs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Models work with numbers, so text categories are encoded, and columns on very different scales (age vs income) are scaled so one does not dominate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Feature extraction and engineering build better inputs: the month from a date, a ratio of two columns, age groups instead of raw 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Feature selection drops columns that add noise or repeat each 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stage ends with a train/test split, done carefully to avoid leakage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Preprocessing &amp; Feature Work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Prepare it for a model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Bullets"/>
          <p:cNvSpPr/>
          <p:nvPr/>
        </p:nvSpPr>
        <p:spPr>
          <a:xfrm>
            <a:off x="3611880" y="178308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Preprocessing: getting data into a form a model can use (encoding, scaling, splitting)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Feature extraction: pulling useful pieces out of raw data, such as the month from a date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Feature engineering: creating new features from existing ones, such as ratios, bins and interactions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Feature selection: keeping the features that help and dropping the ones that do not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Functions: cut, qcut, apply, the dt accessor, corr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Visualization Fits: Plot, Fix, Plot Again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Card"/>
          <p:cNvSpPr/>
          <p:nvPr/>
        </p:nvSpPr>
        <p:spPr>
          <a:xfrm>
            <a:off x="548640" y="1737360"/>
            <a:ext cx="2605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ill"/>
          <p:cNvSpPr/>
          <p:nvPr/>
        </p:nvSpPr>
        <p:spPr>
          <a:xfrm>
            <a:off x="731520" y="19202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Pill label"/>
          <p:cNvSpPr/>
          <p:nvPr/>
        </p:nvSpPr>
        <p:spPr>
          <a:xfrm>
            <a:off x="731520" y="19202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Items"/>
          <p:cNvSpPr/>
          <p:nvPr/>
        </p:nvSpPr>
        <p:spPr>
          <a:xfrm>
            <a:off x="777240" y="2606040"/>
            <a:ext cx="2148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Used the most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Histograms show shape, box plots show outliers, scatter plots and heatmaps show relationships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charts reveal what needs fixing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Card"/>
          <p:cNvSpPr/>
          <p:nvPr/>
        </p:nvSpPr>
        <p:spPr>
          <a:xfrm>
            <a:off x="3383280" y="1737360"/>
            <a:ext cx="2605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ill"/>
          <p:cNvSpPr/>
          <p:nvPr/>
        </p:nvSpPr>
        <p:spPr>
          <a:xfrm>
            <a:off x="3566160" y="19202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ill label"/>
          <p:cNvSpPr/>
          <p:nvPr/>
        </p:nvSpPr>
        <p:spPr>
          <a:xfrm>
            <a:off x="3566160" y="19202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Clea</a:t>
            </a: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Items"/>
          <p:cNvSpPr/>
          <p:nvPr/>
        </p:nvSpPr>
        <p:spPr>
          <a:xfrm>
            <a:off x="3611880" y="2606040"/>
            <a:ext cx="2148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problems: a bar chart of missing counts, a box plot for outliers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again after fixing to confirm it worked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Card"/>
          <p:cNvSpPr/>
          <p:nvPr/>
        </p:nvSpPr>
        <p:spPr>
          <a:xfrm>
            <a:off x="6217920" y="1737360"/>
            <a:ext cx="2605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ill"/>
          <p:cNvSpPr/>
          <p:nvPr/>
        </p:nvSpPr>
        <p:spPr>
          <a:xfrm>
            <a:off x="6400800" y="19202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ill label"/>
          <p:cNvSpPr/>
          <p:nvPr/>
        </p:nvSpPr>
        <p:spPr>
          <a:xfrm>
            <a:off x="6400800" y="19202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Wrangling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Items"/>
          <p:cNvSpPr/>
          <p:nvPr/>
        </p:nvSpPr>
        <p:spPr>
          <a:xfrm>
            <a:off x="6446520" y="2606040"/>
            <a:ext cx="2148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Used lightly, mostly tables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a grouped result, such as average per city, to check the reshape worked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Card"/>
          <p:cNvSpPr/>
          <p:nvPr/>
        </p:nvSpPr>
        <p:spPr>
          <a:xfrm>
            <a:off x="9052560" y="1737360"/>
            <a:ext cx="2605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ill"/>
          <p:cNvSpPr/>
          <p:nvPr/>
        </p:nvSpPr>
        <p:spPr>
          <a:xfrm>
            <a:off x="9235440" y="19202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Pill label"/>
          <p:cNvSpPr/>
          <p:nvPr/>
        </p:nvSpPr>
        <p:spPr>
          <a:xfrm>
            <a:off x="9235440" y="19202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Preprocessing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Items"/>
          <p:cNvSpPr/>
          <p:nvPr/>
        </p:nvSpPr>
        <p:spPr>
          <a:xfrm>
            <a:off x="9281160" y="2606040"/>
            <a:ext cx="2148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Histogram before and after a log transform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Check scaled columns share a range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7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correlation heatmap guides feature selection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Encoding &amp; Scaling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Card"/>
          <p:cNvSpPr/>
          <p:nvPr/>
        </p:nvSpPr>
        <p:spPr>
          <a:xfrm>
            <a:off x="54864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ill"/>
          <p:cNvSpPr/>
          <p:nvPr/>
        </p:nvSpPr>
        <p:spPr>
          <a:xfrm>
            <a:off x="73152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Pill label"/>
          <p:cNvSpPr/>
          <p:nvPr/>
        </p:nvSpPr>
        <p:spPr>
          <a:xfrm>
            <a:off x="73152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Encoding types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Items"/>
          <p:cNvSpPr/>
          <p:nvPr/>
        </p:nvSpPr>
        <p:spPr>
          <a:xfrm>
            <a:off x="77724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Ordinal / label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One-hot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Binary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Frequency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Target (watch for leakage)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Card"/>
          <p:cNvSpPr/>
          <p:nvPr/>
        </p:nvSpPr>
        <p:spPr>
          <a:xfrm>
            <a:off x="432828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ill"/>
          <p:cNvSpPr/>
          <p:nvPr/>
        </p:nvSpPr>
        <p:spPr>
          <a:xfrm>
            <a:off x="451116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ill label"/>
          <p:cNvSpPr/>
          <p:nvPr/>
        </p:nvSpPr>
        <p:spPr>
          <a:xfrm>
            <a:off x="451116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Scaling types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Items"/>
          <p:cNvSpPr/>
          <p:nvPr/>
        </p:nvSpPr>
        <p:spPr>
          <a:xfrm>
            <a:off x="455688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Standardization (z-score)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Min-max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Robust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Log transform for skewed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Card"/>
          <p:cNvSpPr/>
          <p:nvPr/>
        </p:nvSpPr>
        <p:spPr>
          <a:xfrm>
            <a:off x="8107560" y="1737360"/>
            <a:ext cx="3550680" cy="402300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ill"/>
          <p:cNvSpPr/>
          <p:nvPr/>
        </p:nvSpPr>
        <p:spPr>
          <a:xfrm>
            <a:off x="8290440" y="1920240"/>
            <a:ext cx="3184920" cy="45684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ill label"/>
          <p:cNvSpPr/>
          <p:nvPr/>
        </p:nvSpPr>
        <p:spPr>
          <a:xfrm>
            <a:off x="8290440" y="1920240"/>
            <a:ext cx="318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Tools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Items"/>
          <p:cNvSpPr/>
          <p:nvPr/>
        </p:nvSpPr>
        <p:spPr>
          <a:xfrm>
            <a:off x="8336160" y="2606040"/>
            <a:ext cx="3093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get_dummies, OneHotEncoder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OrdinalEncoder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StandardScaler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MinMaxScaler, RobustScaler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Split, Leakage &amp; Pipelines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anel"/>
          <p:cNvSpPr/>
          <p:nvPr/>
        </p:nvSpPr>
        <p:spPr>
          <a:xfrm>
            <a:off x="548640" y="1737360"/>
            <a:ext cx="2742840" cy="4023000"/>
          </a:xfrm>
          <a:prstGeom prst="roundRect">
            <a:avLst>
              <a:gd name="adj" fmla="val 3182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Circle"/>
          <p:cNvSpPr/>
          <p:nvPr/>
        </p:nvSpPr>
        <p:spPr>
          <a:xfrm>
            <a:off x="1645920" y="21031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ymbol"/>
          <p:cNvSpPr/>
          <p:nvPr/>
        </p:nvSpPr>
        <p:spPr>
          <a:xfrm>
            <a:off x="16459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Caption"/>
          <p:cNvSpPr/>
          <p:nvPr/>
        </p:nvSpPr>
        <p:spPr>
          <a:xfrm>
            <a:off x="731520" y="2926080"/>
            <a:ext cx="2377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Prepare without cheating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Bullets"/>
          <p:cNvSpPr/>
          <p:nvPr/>
        </p:nvSpPr>
        <p:spPr>
          <a:xfrm>
            <a:off x="3611880" y="1783080"/>
            <a:ext cx="80463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Split into train and test sets so the test data stays unseen: train_test_split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stratify keeps class proportions, and random_state makes the split repeatable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 leakage: information from the test set, or the answer itself, sneaking into training. Fit scalers and encoders on the training set only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Chain the steps safely: ColumnTransformer and Pipeline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Next: the following decks practice each step on real datasets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2026-10-01T23:27:36Z</dcterms:created>
  <dc:creator>Hafiz Waseem Ahmed (Paxto)</dc:creator>
  <dc:description/>
  <dc:language>en-US</dc:language>
  <cp:lastModifiedBy/>
  <dcterms:modified xsi:type="dcterms:W3CDTF">2026-10-08T18:10:05Z</dcterms:modified>
  <cp:revision>5</cp:revision>
  <dc:subject>PptxGenJS Presentation</dc:subject>
  <dc:title>Descriptive Statistics I — CodeByPaxto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85</vt:i4>
  </property>
  <property fmtid="{D5CDD505-2E9C-101B-9397-08002B2CF9AE}" pid="3" name="PresentationFormat">
    <vt:lpwstr>On-screen Show (16:9)</vt:lpwstr>
  </property>
  <property fmtid="{D5CDD505-2E9C-101B-9397-08002B2CF9AE}" pid="4" name="Slides">
    <vt:i4>85</vt:i4>
  </property>
</Properties>
</file>