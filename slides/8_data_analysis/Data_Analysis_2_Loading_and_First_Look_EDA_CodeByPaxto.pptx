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a:t>
            </a:r>
            <a:r>
              <a:rPr lang="en-US" sz="2000" b="0" u="none" strike="noStrike">
                <a:solidFill>
                  <a:srgbClr val="000000"/>
                </a:solidFill>
                <a:effectLst/>
                <a:uFillTx/>
                <a:latin typeface="Arial"/>
              </a:rPr>
              <a:t>k to </a:t>
            </a:r>
            <a:r>
              <a:rPr lang="en-US" sz="2000" b="0" u="none" strike="noStrike">
                <a:solidFill>
                  <a:srgbClr val="000000"/>
                </a:solidFill>
                <a:effectLst/>
                <a:uFillTx/>
                <a:latin typeface="Arial"/>
              </a:rPr>
              <a:t>edit </a:t>
            </a:r>
            <a:r>
              <a:rPr lang="en-US" sz="2000" b="0" u="none" strike="noStrike">
                <a:solidFill>
                  <a:srgbClr val="000000"/>
                </a:solidFill>
                <a:effectLst/>
                <a:uFillTx/>
                <a:latin typeface="Arial"/>
              </a:rPr>
              <a:t>the </a:t>
            </a:r>
            <a:r>
              <a:rPr lang="en-US" sz="2000" b="0" u="none" strike="noStrike">
                <a:solidFill>
                  <a:srgbClr val="000000"/>
                </a:solidFill>
                <a:effectLst/>
                <a:uFillTx/>
                <a:latin typeface="Arial"/>
              </a:rPr>
              <a:t>note</a:t>
            </a:r>
            <a:r>
              <a:rPr lang="en-US" sz="2000" b="0" u="none" strike="noStrike">
                <a:solidFill>
                  <a:srgbClr val="000000"/>
                </a:solidFill>
                <a:effectLst/>
                <a:uFillTx/>
                <a:latin typeface="Arial"/>
              </a:rPr>
              <a:t>s </a:t>
            </a:r>
            <a:r>
              <a:rPr lang="en-US" sz="2000" b="0" u="none" strike="noStrike">
                <a:solidFill>
                  <a:srgbClr val="000000"/>
                </a:solidFill>
                <a:effectLst/>
                <a:uFillTx/>
                <a:latin typeface="Arial"/>
              </a:rPr>
              <a:t>for</a:t>
            </a:r>
            <a:r>
              <a:rPr lang="en-US" sz="2000" b="0" u="none" strike="noStrike">
                <a:solidFill>
                  <a:srgbClr val="000000"/>
                </a:solidFill>
                <a:effectLst/>
                <a:uFillTx/>
                <a:latin typeface="Arial"/>
              </a:rPr>
              <a:t>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1BFFE8B-5B73-4D9F-85BB-5DA5B36FB60C}"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7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73A5DD-D984-45F0-95EE-10AF9DB563F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55000"/>
            </a:srgbClr>
          </a:solidFill>
          <a:ln w="12700">
            <a:solidFill>
              <a:srgbClr val="262758">
                <a:alpha val="5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1645920" y="4754880"/>
            <a:ext cx="3474360" cy="3474360"/>
          </a:xfrm>
          <a:prstGeom prst="ellipse">
            <a:avLst/>
          </a:prstGeom>
          <a:solidFill>
            <a:srgbClr val="11362E">
              <a:alpha val="45000"/>
            </a:srgbClr>
          </a:solidFill>
          <a:ln w="12700">
            <a:solidFill>
              <a:srgbClr val="11362E">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5943600" y="5212080"/>
            <a:ext cx="1462680" cy="1462680"/>
          </a:xfrm>
          <a:prstGeom prst="ellipse">
            <a:avLst/>
          </a:prstGeom>
          <a:solidFill>
            <a:srgbClr val="4C112D">
              <a:alpha val="45000"/>
            </a:srgbClr>
          </a:solidFill>
          <a:ln w="12700">
            <a:solidFill>
              <a:srgbClr val="4C112D">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 name="Image 0" descr="/home/claude/assets/logo_card.png"/>
          <p:cNvPicPr/>
          <p:nvPr/>
        </p:nvPicPr>
        <p:blipFill>
          <a:blip r:embed="rId1"/>
          <a:stretch/>
        </p:blipFill>
        <p:spPr>
          <a:xfrm>
            <a:off x="731520" y="502920"/>
            <a:ext cx="2559960" cy="831600"/>
          </a:xfrm>
          <a:prstGeom prst="rect">
            <a:avLst/>
          </a:prstGeom>
          <a:noFill/>
          <a:ln w="0">
            <a:noFill/>
          </a:ln>
        </p:spPr>
      </p:pic>
      <p:sp>
        <p:nvSpPr>
          <p:cNvPr id="14" name="Shape 4"/>
          <p:cNvSpPr/>
          <p:nvPr/>
        </p:nvSpPr>
        <p:spPr>
          <a:xfrm>
            <a:off x="713160" y="2331720"/>
            <a:ext cx="3931560" cy="292320"/>
          </a:xfrm>
          <a:prstGeom prst="roundRect">
            <a:avLst>
              <a:gd name="adj" fmla="val 156250"/>
            </a:avLst>
          </a:prstGeom>
          <a:solidFill>
            <a:srgbClr val="262758"/>
          </a:solidFill>
          <a:ln w="12700">
            <a:solidFill>
              <a:srgbClr val="26275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Text 5"/>
          <p:cNvSpPr/>
          <p:nvPr/>
        </p:nvSpPr>
        <p:spPr>
          <a:xfrm>
            <a:off x="713160" y="2331720"/>
            <a:ext cx="393156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DATA ANALYSIS  ·  DECK 2  ·  AI &amp; ML PLAYGROUND</a:t>
            </a:r>
            <a:endParaRPr lang="en-US" sz="1100" b="0" u="none" strike="noStrike">
              <a:solidFill>
                <a:srgbClr val="FFFFFF"/>
              </a:solidFill>
              <a:effectLst/>
              <a:uFillTx/>
              <a:latin typeface="Arial"/>
            </a:endParaRPr>
          </a:p>
        </p:txBody>
      </p:sp>
      <p:sp>
        <p:nvSpPr>
          <p:cNvPr id="16" name="Text 6"/>
          <p:cNvSpPr/>
          <p:nvPr/>
        </p:nvSpPr>
        <p:spPr>
          <a:xfrm>
            <a:off x="658440" y="2788920"/>
            <a:ext cx="10515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F1F5F9"/>
                </a:solidFill>
                <a:effectLst/>
                <a:uFillTx/>
                <a:latin typeface="Bricolage Grotesque"/>
                <a:ea typeface="Bricolage Grotesque"/>
              </a:rPr>
              <a:t>Loading Data &amp; First-Look EDA</a:t>
            </a:r>
            <a:endParaRPr lang="en-US" sz="4000" b="0" u="none" strike="noStrike">
              <a:solidFill>
                <a:srgbClr val="FFFFFF"/>
              </a:solidFill>
              <a:effectLst/>
              <a:uFillTx/>
              <a:latin typeface="Arial"/>
            </a:endParaRPr>
          </a:p>
        </p:txBody>
      </p:sp>
      <p:sp>
        <p:nvSpPr>
          <p:cNvPr id="17" name="Text 7"/>
          <p:cNvSpPr/>
          <p:nvPr/>
        </p:nvSpPr>
        <p:spPr>
          <a:xfrm>
            <a:off x="713160" y="3703320"/>
            <a:ext cx="960084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rgbClr val="94A3B8"/>
                </a:solidFill>
                <a:effectLst/>
                <a:uFillTx/>
                <a:latin typeface="Hanken Grotesk"/>
                <a:ea typeface="Hanken Grotesk"/>
              </a:rPr>
              <a:t>A step-by-step first look at messy, real-world taxi data: why each check matters, how to run it, and the edge cases it reveals</a:t>
            </a:r>
            <a:endParaRPr lang="en-US" sz="1700" b="0" u="none" strike="noStrike">
              <a:solidFill>
                <a:srgbClr val="FFFFFF"/>
              </a:solidFill>
              <a:effectLst/>
              <a:uFillTx/>
              <a:latin typeface="Arial"/>
            </a:endParaRPr>
          </a:p>
        </p:txBody>
      </p:sp>
      <p:sp>
        <p:nvSpPr>
          <p:cNvPr id="18" name="Shape 8"/>
          <p:cNvSpPr/>
          <p:nvPr/>
        </p:nvSpPr>
        <p:spPr>
          <a:xfrm>
            <a:off x="713160" y="4572000"/>
            <a:ext cx="2926080" cy="360"/>
          </a:xfrm>
          <a:prstGeom prst="line">
            <a:avLst/>
          </a:prstGeom>
          <a:ln w="12700">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 name="Text 9"/>
          <p:cNvSpPr/>
          <p:nvPr/>
        </p:nvSpPr>
        <p:spPr>
          <a:xfrm>
            <a:off x="713160" y="4663440"/>
            <a:ext cx="5486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DD4BF"/>
                </a:solidFill>
                <a:effectLst/>
                <a:uFillTx/>
                <a:latin typeface="Plus Jakarta Sans"/>
                <a:ea typeface="Plus Jakarta Sans"/>
              </a:rPr>
              <a:t>CodeByPaxto: The AI &amp; ML Playground</a:t>
            </a:r>
            <a:endParaRPr lang="en-US" sz="1300" b="0" u="none" strike="noStrike">
              <a:solidFill>
                <a:srgbClr val="FFFFFF"/>
              </a:solidFill>
              <a:effectLst/>
              <a:uFillTx/>
              <a:latin typeface="Arial"/>
            </a:endParaRPr>
          </a:p>
        </p:txBody>
      </p:sp>
      <p:sp>
        <p:nvSpPr>
          <p:cNvPr id="20" name="Text 10"/>
          <p:cNvSpPr/>
          <p:nvPr/>
        </p:nvSpPr>
        <p:spPr>
          <a:xfrm>
            <a:off x="713160" y="500184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94A3B8"/>
                </a:solidFill>
                <a:effectLst/>
                <a:uFillTx/>
                <a:latin typeface="Hanken Grotesk"/>
                <a:ea typeface="Hanken Grotesk"/>
              </a:rPr>
              <a:t>Hafiz Waseem Ahmed (Paxto)</a:t>
            </a:r>
            <a:endParaRPr lang="en-US" sz="1200" b="0" u="none" strike="noStrike">
              <a:solidFill>
                <a:srgbClr val="FFFFFF"/>
              </a:solidFill>
              <a:effectLst/>
              <a:uFillTx/>
              <a:latin typeface="Arial"/>
            </a:endParaRPr>
          </a:p>
        </p:txBody>
      </p:sp>
      <p:sp>
        <p:nvSpPr>
          <p:cNvPr id="21" name="Text 1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01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2"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23"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02</a:t>
            </a:r>
            <a:endParaRPr lang="en-US" sz="900" b="0" u="none" strike="noStrike">
              <a:solidFill>
                <a:srgbClr val="000000"/>
              </a:solidFill>
              <a:effectLst/>
              <a:uFillTx/>
              <a:latin typeface="Arial"/>
            </a:endParaRPr>
          </a:p>
        </p:txBody>
      </p:sp>
      <p:pic>
        <p:nvPicPr>
          <p:cNvPr id="24" name="Image 0" descr="/home/claude/assets/logo_crop.png"/>
          <p:cNvPicPr/>
          <p:nvPr/>
        </p:nvPicPr>
        <p:blipFill>
          <a:blip r:embed="rId1"/>
          <a:stretch/>
        </p:blipFill>
        <p:spPr>
          <a:xfrm>
            <a:off x="11201400" y="384120"/>
            <a:ext cx="456840" cy="511560"/>
          </a:xfrm>
          <a:prstGeom prst="rect">
            <a:avLst/>
          </a:prstGeom>
          <a:noFill/>
          <a:ln w="0">
            <a:noFill/>
          </a:ln>
        </p:spPr>
      </p:pic>
      <p:sp>
        <p:nvSpPr>
          <p:cNvPr id="25"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Our Dataset: NYC Taxi Trips</a:t>
            </a:r>
            <a:endParaRPr lang="en-US" sz="2600" b="0" u="none" strike="noStrike">
              <a:solidFill>
                <a:srgbClr val="000000"/>
              </a:solidFill>
              <a:effectLst/>
              <a:uFillTx/>
              <a:latin typeface="Arial"/>
            </a:endParaRPr>
          </a:p>
        </p:txBody>
      </p:sp>
      <p:sp>
        <p:nvSpPr>
          <p:cNvPr id="26"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29"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Real data is messy, and that is the point</a:t>
            </a:r>
            <a:endParaRPr lang="en-US" sz="1600" b="0" u="none" strike="noStrike">
              <a:solidFill>
                <a:srgbClr val="000000"/>
              </a:solidFill>
              <a:effectLst/>
              <a:uFillTx/>
              <a:latin typeface="Arial"/>
            </a:endParaRPr>
          </a:p>
        </p:txBody>
      </p:sp>
      <p:sp>
        <p:nvSpPr>
          <p:cNvPr id="30"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One row = one taxi trip in New York City, March 2019: 6433 trips and 14 columns (times, passengers, distance, fare, tip, tolls, total, payment, color, pickup and dropoff zones and boroughs)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We use it instead of Titanic because it behaves like data from a real company: some values are missing, some are suspicious, and some are extreme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Before running any code, read what each column means. This is your data dictionary: distance is in miles, fare and tip are in US dollars, color is the taxi type (yellow or green)</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We will do the same five checks on it that you would do on any new dataset, and for each one we first learn why it matters, then run it, then read what it found</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1"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32"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03</a:t>
            </a:r>
            <a:endParaRPr lang="en-US" sz="900" b="0" u="none" strike="noStrike">
              <a:solidFill>
                <a:srgbClr val="000000"/>
              </a:solidFill>
              <a:effectLst/>
              <a:uFillTx/>
              <a:latin typeface="Arial"/>
            </a:endParaRPr>
          </a:p>
        </p:txBody>
      </p:sp>
      <p:pic>
        <p:nvPicPr>
          <p:cNvPr id="33" name="Image 0" descr="/home/claude/assets/logo_crop.png"/>
          <p:cNvPicPr/>
          <p:nvPr/>
        </p:nvPicPr>
        <p:blipFill>
          <a:blip r:embed="rId1"/>
          <a:stretch/>
        </p:blipFill>
        <p:spPr>
          <a:xfrm>
            <a:off x="11201400" y="384120"/>
            <a:ext cx="456840" cy="511560"/>
          </a:xfrm>
          <a:prstGeom prst="rect">
            <a:avLst/>
          </a:prstGeom>
          <a:noFill/>
          <a:ln w="0">
            <a:noFill/>
          </a:ln>
        </p:spPr>
      </p:pic>
      <p:sp>
        <p:nvSpPr>
          <p:cNvPr id="34"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1: Load and Check the Size</a:t>
            </a:r>
            <a:endParaRPr lang="en-US" sz="2600" b="0" u="none" strike="noStrike">
              <a:solidFill>
                <a:srgbClr val="000000"/>
              </a:solidFill>
              <a:effectLst/>
              <a:uFillTx/>
              <a:latin typeface="Arial"/>
            </a:endParaRPr>
          </a:p>
        </p:txBody>
      </p:sp>
      <p:sp>
        <p:nvSpPr>
          <p:cNvPr id="35"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38"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make sure the file loaded correctly</a:t>
            </a:r>
            <a:endParaRPr lang="en-US" sz="1600" b="0" u="none" strike="noStrike">
              <a:solidFill>
                <a:srgbClr val="000000"/>
              </a:solidFill>
              <a:effectLst/>
              <a:uFillTx/>
              <a:latin typeface="Arial"/>
            </a:endParaRPr>
          </a:p>
        </p:txBody>
      </p:sp>
      <p:sp>
        <p:nvSpPr>
          <p:cNvPr id="39"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if loading went wrong, every later result is wrong, and you will not notice. So the first check confirms the data arrived the way you expect</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shape gives (rows, columns). Ask: is the row count plausible for this source? Does the column count match the documentation?</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head shows the first rows with real values, so you see what a row looks like and which units are used</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if you see a single giant column, the separator was wrong (use sep). Edge case: if a header row appears as data, the header argument is wrong</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head can be misleading because files are often sorted. A tail or a random sample shows a different part of the data</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0"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41"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04</a:t>
            </a:r>
            <a:endParaRPr lang="en-US" sz="900" b="0" u="none" strike="noStrike">
              <a:solidFill>
                <a:srgbClr val="000000"/>
              </a:solidFill>
              <a:effectLst/>
              <a:uFillTx/>
              <a:latin typeface="Arial"/>
            </a:endParaRPr>
          </a:p>
        </p:txBody>
      </p:sp>
      <p:pic>
        <p:nvPicPr>
          <p:cNvPr id="42" name="Image 0" descr="/home/claude/assets/logo_crop.png"/>
          <p:cNvPicPr/>
          <p:nvPr/>
        </p:nvPicPr>
        <p:blipFill>
          <a:blip r:embed="rId1"/>
          <a:stretch/>
        </p:blipFill>
        <p:spPr>
          <a:xfrm>
            <a:off x="11201400" y="384120"/>
            <a:ext cx="456840" cy="511560"/>
          </a:xfrm>
          <a:prstGeom prst="rect">
            <a:avLst/>
          </a:prstGeom>
          <a:noFill/>
          <a:ln w="0">
            <a:noFill/>
          </a:ln>
        </p:spPr>
      </p:pic>
      <p:sp>
        <p:nvSpPr>
          <p:cNvPr id="43"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1 in Code</a:t>
            </a:r>
            <a:endParaRPr lang="en-US" sz="2600" b="0" u="none" strike="noStrike">
              <a:solidFill>
                <a:srgbClr val="000000"/>
              </a:solidFill>
              <a:effectLst/>
              <a:uFillTx/>
              <a:latin typeface="Arial"/>
            </a:endParaRPr>
          </a:p>
        </p:txBody>
      </p:sp>
      <p:sp>
        <p:nvSpPr>
          <p:cNvPr id="44"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shape is (6433, 14): 6,433 trips and 14 columns, so one row is one trip.</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head shows pickup and dropoff times, distance, fare, tip and zones, with sensible values and units.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Nothing looks broken, so loading worked.</a:t>
            </a:r>
            <a:endParaRPr lang="en-US" sz="1400" b="0" u="none" strike="noStrike">
              <a:solidFill>
                <a:srgbClr val="000000"/>
              </a:solidFill>
              <a:effectLst/>
              <a:uFillTx/>
              <a:latin typeface="Arial"/>
            </a:endParaRPr>
          </a:p>
        </p:txBody>
      </p:sp>
      <p:sp>
        <p:nvSpPr>
          <p:cNvPr id="45"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47"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8"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9"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 = sns.load_dataset("taxis")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how big is it?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print(df.shape)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what does a row look like?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df.head()</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a random sample, not just the top</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df.sample(5)</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0"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51"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05</a:t>
            </a:r>
            <a:endParaRPr lang="en-US" sz="900" b="0" u="none" strike="noStrike">
              <a:solidFill>
                <a:srgbClr val="000000"/>
              </a:solidFill>
              <a:effectLst/>
              <a:uFillTx/>
              <a:latin typeface="Arial"/>
            </a:endParaRPr>
          </a:p>
        </p:txBody>
      </p:sp>
      <p:pic>
        <p:nvPicPr>
          <p:cNvPr id="52" name="Image 0" descr="/home/claude/assets/logo_crop.png"/>
          <p:cNvPicPr/>
          <p:nvPr/>
        </p:nvPicPr>
        <p:blipFill>
          <a:blip r:embed="rId1"/>
          <a:stretch/>
        </p:blipFill>
        <p:spPr>
          <a:xfrm>
            <a:off x="11201400" y="384120"/>
            <a:ext cx="456840" cy="511560"/>
          </a:xfrm>
          <a:prstGeom prst="rect">
            <a:avLst/>
          </a:prstGeom>
          <a:noFill/>
          <a:ln w="0">
            <a:noFill/>
          </a:ln>
        </p:spPr>
      </p:pic>
      <p:sp>
        <p:nvSpPr>
          <p:cNvPr id="53"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2: Check the Data Types</a:t>
            </a:r>
            <a:endParaRPr lang="en-US" sz="2600" b="0" u="none" strike="noStrike">
              <a:solidFill>
                <a:srgbClr val="000000"/>
              </a:solidFill>
              <a:effectLst/>
              <a:uFillTx/>
              <a:latin typeface="Arial"/>
            </a:endParaRPr>
          </a:p>
        </p:txBody>
      </p:sp>
      <p:sp>
        <p:nvSpPr>
          <p:cNvPr id="54"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57"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the type decides what you can do</a:t>
            </a:r>
            <a:endParaRPr lang="en-US" sz="1600" b="0" u="none" strike="noStrike">
              <a:solidFill>
                <a:srgbClr val="000000"/>
              </a:solidFill>
              <a:effectLst/>
              <a:uFillTx/>
              <a:latin typeface="Arial"/>
            </a:endParaRPr>
          </a:p>
        </p:txBody>
      </p:sp>
      <p:sp>
        <p:nvSpPr>
          <p:cNvPr id="58"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a column’s type decides what operations work. You cannot average text, subtract dates stored as text, or sort numbers stored as strings correctly</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info lists every column with its type and its non-null count. dtypes shows only the types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Look for: numbers stored as text (object), dates stored as text, categories that should be text but are numbers, and ID columns that are not really numbers to average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one stray value like "N/A" or "$12" turns a whole numeric column into text</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when you load from a CSV, dates always arrive as text and need pd.to_datetime. This built-in dataset already has them as real dates, which you should confirm, never assume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9"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60"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06</a:t>
            </a:r>
            <a:endParaRPr lang="en-US" sz="900" b="0" u="none" strike="noStrike">
              <a:solidFill>
                <a:srgbClr val="000000"/>
              </a:solidFill>
              <a:effectLst/>
              <a:uFillTx/>
              <a:latin typeface="Arial"/>
            </a:endParaRPr>
          </a:p>
        </p:txBody>
      </p:sp>
      <p:pic>
        <p:nvPicPr>
          <p:cNvPr id="61" name="Image 0" descr="/home/claude/assets/logo_crop.png"/>
          <p:cNvPicPr/>
          <p:nvPr/>
        </p:nvPicPr>
        <p:blipFill>
          <a:blip r:embed="rId1"/>
          <a:stretch/>
        </p:blipFill>
        <p:spPr>
          <a:xfrm>
            <a:off x="11201400" y="384120"/>
            <a:ext cx="456840" cy="511560"/>
          </a:xfrm>
          <a:prstGeom prst="rect">
            <a:avLst/>
          </a:prstGeom>
          <a:noFill/>
          <a:ln w="0">
            <a:noFill/>
          </a:ln>
        </p:spPr>
      </p:pic>
      <p:sp>
        <p:nvSpPr>
          <p:cNvPr id="62"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2 in Code</a:t>
            </a:r>
            <a:endParaRPr lang="en-US" sz="2600" b="0" u="none" strike="noStrike">
              <a:solidFill>
                <a:srgbClr val="000000"/>
              </a:solidFill>
              <a:effectLst/>
              <a:uFillTx/>
              <a:latin typeface="Arial"/>
            </a:endParaRPr>
          </a:p>
        </p:txBody>
      </p:sp>
      <p:sp>
        <p:nvSpPr>
          <p:cNvPr id="63"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pickup and dropoff are real datetime columns, so we can subtract them to get trip duration.</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distance, fare, tip, tolls and total are numbers, which is what we want.</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text columns have fewer non-null values than 6433 for payment and the zones: a hint of missing data.</a:t>
            </a:r>
            <a:endParaRPr lang="en-US" sz="1400" b="0" u="none" strike="noStrike">
              <a:solidFill>
                <a:srgbClr val="000000"/>
              </a:solidFill>
              <a:effectLst/>
              <a:uFillTx/>
              <a:latin typeface="Arial"/>
            </a:endParaRPr>
          </a:p>
        </p:txBody>
      </p:sp>
      <p:sp>
        <p:nvSpPr>
          <p:cNvPr id="64"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6"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7"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8"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 = sns.load_dataset("taxis")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types and non-null counts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df.info()</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types only</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print(df.dtypes)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a check we can only do on real dates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print(df["dropoff"] - df["pickup"])</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0"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07</a:t>
            </a:r>
            <a:endParaRPr lang="en-US" sz="900" b="0" u="none" strike="noStrike">
              <a:solidFill>
                <a:srgbClr val="000000"/>
              </a:solidFill>
              <a:effectLst/>
              <a:uFillTx/>
              <a:latin typeface="Arial"/>
            </a:endParaRPr>
          </a:p>
        </p:txBody>
      </p:sp>
      <p:pic>
        <p:nvPicPr>
          <p:cNvPr id="71" name="Image 0" descr="/home/claude/assets/logo_crop.png"/>
          <p:cNvPicPr/>
          <p:nvPr/>
        </p:nvPicPr>
        <p:blipFill>
          <a:blip r:embed="rId1"/>
          <a:stretch/>
        </p:blipFill>
        <p:spPr>
          <a:xfrm>
            <a:off x="11201400" y="384120"/>
            <a:ext cx="456840" cy="511560"/>
          </a:xfrm>
          <a:prstGeom prst="rect">
            <a:avLst/>
          </a:prstGeom>
          <a:noFill/>
          <a:ln w="0">
            <a:noFill/>
          </a:ln>
        </p:spPr>
      </p:pic>
      <p:sp>
        <p:nvSpPr>
          <p:cNvPr id="72"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3: Find Missing Values</a:t>
            </a:r>
            <a:endParaRPr lang="en-US" sz="2600" b="0" u="none" strike="noStrike">
              <a:solidFill>
                <a:srgbClr val="000000"/>
              </a:solidFill>
              <a:effectLst/>
              <a:uFillTx/>
              <a:latin typeface="Arial"/>
            </a:endParaRPr>
          </a:p>
        </p:txBody>
      </p:sp>
      <p:sp>
        <p:nvSpPr>
          <p:cNvPr id="73"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76"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gaps break maths and hide bias</a:t>
            </a:r>
            <a:endParaRPr lang="en-US" sz="1600" b="0" u="none" strike="noStrike">
              <a:solidFill>
                <a:srgbClr val="000000"/>
              </a:solidFill>
              <a:effectLst/>
              <a:uFillTx/>
              <a:latin typeface="Arial"/>
            </a:endParaRPr>
          </a:p>
        </p:txBody>
      </p:sp>
      <p:sp>
        <p:nvSpPr>
          <p:cNvPr id="77"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most calculations and models fail or silently drop rows when a value is missing. How much is missing, and why, decides how you fix it</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isna().sum() counts missing cells per column. Always also look at the percentage, because 44 missing in 6,433 rows is tiny but 44 in 100 rows is serious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Ask whether values are missing at random or for a reason. If payment is missing only for certain trips, filling it blindly can hide a pattern</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Check whether columns go missing together. If zone and borough are always missing in the same rows, it is one problem, not two</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missing is not always NaN. Blank strings, "N/A", "?", 0 and -999 can all mean missing and isna will not see them</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8"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79"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08</a:t>
            </a:r>
            <a:endParaRPr lang="en-US" sz="900" b="0" u="none" strike="noStrike">
              <a:solidFill>
                <a:srgbClr val="000000"/>
              </a:solidFill>
              <a:effectLst/>
              <a:uFillTx/>
              <a:latin typeface="Arial"/>
            </a:endParaRPr>
          </a:p>
        </p:txBody>
      </p:sp>
      <p:pic>
        <p:nvPicPr>
          <p:cNvPr id="80" name="Image 0" descr="/home/claude/assets/logo_crop.png"/>
          <p:cNvPicPr/>
          <p:nvPr/>
        </p:nvPicPr>
        <p:blipFill>
          <a:blip r:embed="rId1"/>
          <a:stretch/>
        </p:blipFill>
        <p:spPr>
          <a:xfrm>
            <a:off x="11201400" y="384120"/>
            <a:ext cx="456840" cy="511560"/>
          </a:xfrm>
          <a:prstGeom prst="rect">
            <a:avLst/>
          </a:prstGeom>
          <a:noFill/>
          <a:ln w="0">
            <a:noFill/>
          </a:ln>
        </p:spPr>
      </p:pic>
      <p:sp>
        <p:nvSpPr>
          <p:cNvPr id="81"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3 in Code</a:t>
            </a:r>
            <a:endParaRPr lang="en-US" sz="2600" b="0" u="none" strike="noStrike">
              <a:solidFill>
                <a:srgbClr val="000000"/>
              </a:solidFill>
              <a:effectLst/>
              <a:uFillTx/>
              <a:latin typeface="Arial"/>
            </a:endParaRPr>
          </a:p>
        </p:txBody>
      </p:sp>
      <p:sp>
        <p:nvSpPr>
          <p:cNvPr id="82"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Only 5 columns have gaps: payment (44), the two zones (26 and 45) and the two boroughs (26 and 45). Each is under 1% of rows.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Zone and borough are missing in exactly the same rows, so each pair is one issue.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92 trips (1.4%) have at least one missing value, so deleting them all would be cheap here, but not always.</a:t>
            </a:r>
            <a:endParaRPr lang="en-US" sz="1400" b="0" u="none" strike="noStrike">
              <a:solidFill>
                <a:srgbClr val="000000"/>
              </a:solidFill>
              <a:effectLst/>
              <a:uFillTx/>
              <a:latin typeface="Arial"/>
            </a:endParaRPr>
          </a:p>
        </p:txBody>
      </p:sp>
      <p:sp>
        <p:nvSpPr>
          <p:cNvPr id="83"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5"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6"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7"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miss = df.isna().sum()</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print(miss[miss &gt; 0])</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as a percentage of rows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print((df.isna().mean() * 100).round(2))</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do zone and borough go missing together?</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same = df["pickup_zone"].isna().equals(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df["pickup_borough"].isna())</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print(same)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rows with any missing value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print(df.isna().any(axis=1).sum())</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8"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89"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09</a:t>
            </a:r>
            <a:endParaRPr lang="en-US" sz="900" b="0" u="none" strike="noStrike">
              <a:solidFill>
                <a:srgbClr val="000000"/>
              </a:solidFill>
              <a:effectLst/>
              <a:uFillTx/>
              <a:latin typeface="Arial"/>
            </a:endParaRPr>
          </a:p>
        </p:txBody>
      </p:sp>
      <p:pic>
        <p:nvPicPr>
          <p:cNvPr id="90" name="Image 0" descr="/home/claude/assets/logo_crop.png"/>
          <p:cNvPicPr/>
          <p:nvPr/>
        </p:nvPicPr>
        <p:blipFill>
          <a:blip r:embed="rId1"/>
          <a:stretch/>
        </p:blipFill>
        <p:spPr>
          <a:xfrm>
            <a:off x="11201400" y="384120"/>
            <a:ext cx="456840" cy="511560"/>
          </a:xfrm>
          <a:prstGeom prst="rect">
            <a:avLst/>
          </a:prstGeom>
          <a:noFill/>
          <a:ln w="0">
            <a:noFill/>
          </a:ln>
        </p:spPr>
      </p:pic>
      <p:sp>
        <p:nvSpPr>
          <p:cNvPr id="91"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4: Summary Statistics</a:t>
            </a:r>
            <a:endParaRPr lang="en-US" sz="2600" b="0" u="none" strike="noStrike">
              <a:solidFill>
                <a:srgbClr val="000000"/>
              </a:solidFill>
              <a:effectLst/>
              <a:uFillTx/>
              <a:latin typeface="Arial"/>
            </a:endParaRPr>
          </a:p>
        </p:txBody>
      </p:sp>
      <p:sp>
        <p:nvSpPr>
          <p:cNvPr id="92"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σ</a:t>
            </a:r>
            <a:endParaRPr lang="en-US" sz="2000" b="0" u="none" strike="noStrike">
              <a:solidFill>
                <a:srgbClr val="000000"/>
              </a:solidFill>
              <a:effectLst/>
              <a:uFillTx/>
              <a:latin typeface="Arial"/>
            </a:endParaRPr>
          </a:p>
        </p:txBody>
      </p:sp>
      <p:sp>
        <p:nvSpPr>
          <p:cNvPr id="95"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spot impossible values and skew</a:t>
            </a:r>
            <a:endParaRPr lang="en-US" sz="1600" b="0" u="none" strike="noStrike">
              <a:solidFill>
                <a:srgbClr val="000000"/>
              </a:solidFill>
              <a:effectLst/>
              <a:uFillTx/>
              <a:latin typeface="Arial"/>
            </a:endParaRPr>
          </a:p>
        </p:txBody>
      </p:sp>
      <p:sp>
        <p:nvSpPr>
          <p:cNvPr id="96"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describe turns thousands of rows into a few numbers, and the odd ones reveal problems. Read min and max first, then compare mean with median</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Min and max catch impossible values: a negative fare, an age of 250, a trip of 0 miles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Mean far above the median means a few huge values are pulling it up (right skew), so the mean misleads and the median is the better typical value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zero can be valid or wrong. A tip of 0 or a toll of 0 is normal, but 0 passengers or 0 miles for a paid trip is suspicious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a huge value is not automatically an error. A 150 dollar fare may be a real airport trip, so investigate before removing it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7"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98"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10</a:t>
            </a:r>
            <a:endParaRPr lang="en-US" sz="900" b="0" u="none" strike="noStrike">
              <a:solidFill>
                <a:srgbClr val="000000"/>
              </a:solidFill>
              <a:effectLst/>
              <a:uFillTx/>
              <a:latin typeface="Arial"/>
            </a:endParaRPr>
          </a:p>
        </p:txBody>
      </p:sp>
      <p:pic>
        <p:nvPicPr>
          <p:cNvPr id="99" name="Image 0" descr="/home/claude/assets/logo_crop.png"/>
          <p:cNvPicPr/>
          <p:nvPr/>
        </p:nvPicPr>
        <p:blipFill>
          <a:blip r:embed="rId1"/>
          <a:stretch/>
        </p:blipFill>
        <p:spPr>
          <a:xfrm>
            <a:off x="11201400" y="384120"/>
            <a:ext cx="456840" cy="511560"/>
          </a:xfrm>
          <a:prstGeom prst="rect">
            <a:avLst/>
          </a:prstGeom>
          <a:noFill/>
          <a:ln w="0">
            <a:noFill/>
          </a:ln>
        </p:spPr>
      </p:pic>
      <p:sp>
        <p:nvSpPr>
          <p:cNvPr id="100"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4 in Code</a:t>
            </a:r>
            <a:endParaRPr lang="en-US" sz="2600" b="0" u="none" strike="noStrike">
              <a:solidFill>
                <a:srgbClr val="000000"/>
              </a:solidFill>
              <a:effectLst/>
              <a:uFillTx/>
              <a:latin typeface="Arial"/>
            </a:endParaRPr>
          </a:p>
        </p:txBody>
      </p:sp>
      <p:sp>
        <p:nvSpPr>
          <p:cNvPr id="101"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fare: median 9.50 but mean 13.09 and max 150, so the distribution is right-skewed.</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96 trips have 0 passengers and 51 have 0 miles. These are suspicious, not necessarily wrong.</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6 fares exceed 100 dollars: rare, but worth a look.</a:t>
            </a:r>
            <a:endParaRPr lang="en-US" sz="1400" b="0" u="none" strike="noStrike">
              <a:solidFill>
                <a:srgbClr val="000000"/>
              </a:solidFill>
              <a:effectLst/>
              <a:uFillTx/>
              <a:latin typeface="Arial"/>
            </a:endParaRPr>
          </a:p>
        </p:txBody>
      </p:sp>
      <p:sp>
        <p:nvSpPr>
          <p:cNvPr id="102"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3"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04"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05"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06"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print(df.describe())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investigate the suspicious zeros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print((df["passengers"] == 0).sum())</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print((df["distance"] == 0).sum())</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how many extreme fares?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print((df["fare"] &gt; 100).sum())</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skew: how lopsided is fare?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print(df["fare"].skew().round(2))</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07"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08"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11</a:t>
            </a:r>
            <a:endParaRPr lang="en-US" sz="900" b="0" u="none" strike="noStrike">
              <a:solidFill>
                <a:srgbClr val="000000"/>
              </a:solidFill>
              <a:effectLst/>
              <a:uFillTx/>
              <a:latin typeface="Arial"/>
            </a:endParaRPr>
          </a:p>
        </p:txBody>
      </p:sp>
      <p:pic>
        <p:nvPicPr>
          <p:cNvPr id="109" name="Image 0" descr="/home/claude/assets/logo_crop.png"/>
          <p:cNvPicPr/>
          <p:nvPr/>
        </p:nvPicPr>
        <p:blipFill>
          <a:blip r:embed="rId1"/>
          <a:stretch/>
        </p:blipFill>
        <p:spPr>
          <a:xfrm>
            <a:off x="11201400" y="384120"/>
            <a:ext cx="456840" cy="511560"/>
          </a:xfrm>
          <a:prstGeom prst="rect">
            <a:avLst/>
          </a:prstGeom>
          <a:noFill/>
          <a:ln w="0">
            <a:noFill/>
          </a:ln>
        </p:spPr>
      </p:pic>
      <p:sp>
        <p:nvSpPr>
          <p:cNvPr id="110"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5: Check the Categories</a:t>
            </a:r>
            <a:endParaRPr lang="en-US" sz="2600" b="0" u="none" strike="noStrike">
              <a:solidFill>
                <a:srgbClr val="000000"/>
              </a:solidFill>
              <a:effectLst/>
              <a:uFillTx/>
              <a:latin typeface="Arial"/>
            </a:endParaRPr>
          </a:p>
        </p:txBody>
      </p:sp>
      <p:sp>
        <p:nvSpPr>
          <p:cNvPr id="111"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114"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categories hide typos and imbalance</a:t>
            </a:r>
            <a:endParaRPr lang="en-US" sz="1600" b="0" u="none" strike="noStrike">
              <a:solidFill>
                <a:srgbClr val="000000"/>
              </a:solidFill>
              <a:effectLst/>
              <a:uFillTx/>
              <a:latin typeface="Arial"/>
            </a:endParaRPr>
          </a:p>
        </p:txBody>
      </p:sp>
      <p:sp>
        <p:nvSpPr>
          <p:cNvPr id="115"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for text columns, describe is not enough. You need to know which values exist and how often, so typos, rare labels and imbalance show up</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value_counts lists every category with its count. Use dropna=False so missing values appear as their own row instead of vanishing</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Look for: spelling variants like "Cash" and "cash ", categories with very few rows, and one category that dominates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Then compare numbers across categories with groupby, because the real patterns hide there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Edge case: a column with thousands of unique values (like pickup_zone) is high cardinality, and it needs different treatment than a column with two</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6"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17"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12</a:t>
            </a:r>
            <a:endParaRPr lang="en-US" sz="900" b="0" u="none" strike="noStrike">
              <a:solidFill>
                <a:srgbClr val="000000"/>
              </a:solidFill>
              <a:effectLst/>
              <a:uFillTx/>
              <a:latin typeface="Arial"/>
            </a:endParaRPr>
          </a:p>
        </p:txBody>
      </p:sp>
      <p:pic>
        <p:nvPicPr>
          <p:cNvPr id="118" name="Image 0" descr="/home/claude/assets/logo_crop.png"/>
          <p:cNvPicPr/>
          <p:nvPr/>
        </p:nvPicPr>
        <p:blipFill>
          <a:blip r:embed="rId1"/>
          <a:stretch/>
        </p:blipFill>
        <p:spPr>
          <a:xfrm>
            <a:off x="11201400" y="384120"/>
            <a:ext cx="456840" cy="511560"/>
          </a:xfrm>
          <a:prstGeom prst="rect">
            <a:avLst/>
          </a:prstGeom>
          <a:noFill/>
          <a:ln w="0">
            <a:noFill/>
          </a:ln>
        </p:spPr>
      </p:pic>
      <p:sp>
        <p:nvSpPr>
          <p:cNvPr id="119"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5 in Code</a:t>
            </a:r>
            <a:endParaRPr lang="en-US" sz="2600" b="0" u="none" strike="noStrike">
              <a:solidFill>
                <a:srgbClr val="000000"/>
              </a:solidFill>
              <a:effectLst/>
              <a:uFillTx/>
              <a:latin typeface="Arial"/>
            </a:endParaRPr>
          </a:p>
        </p:txBody>
      </p:sp>
      <p:sp>
        <p:nvSpPr>
          <p:cNvPr id="120"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payment: 4577 credit card, 1812 cash, and 44 missing, which only dropna=False reveals.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Cash trips record a tip of 0 in 100% of rows versus 10% for cards. Cash tips are likely not recorded, so tip is biased by payment type.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Manhattan has 5,268 of 6,433 pickups: heavily imbalanced.</a:t>
            </a:r>
            <a:endParaRPr lang="en-US" sz="1400" b="0" u="none" strike="noStrike">
              <a:solidFill>
                <a:srgbClr val="000000"/>
              </a:solidFill>
              <a:effectLst/>
              <a:uFillTx/>
              <a:latin typeface="Arial"/>
            </a:endParaRPr>
          </a:p>
        </p:txBody>
      </p:sp>
      <p:sp>
        <p:nvSpPr>
          <p:cNvPr id="121"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3"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4"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5"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print(df["payment"].value_counts(dropna=False))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print(df["color"].value_counts())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print(df["pickup_borough"]</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.value_counts(dropna=False))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i="1" u="none" strike="noStrike">
                <a:solidFill>
                  <a:srgbClr val="94A3B8"/>
                </a:solidFill>
                <a:effectLst/>
                <a:uFillTx/>
                <a:latin typeface="Cantarell"/>
                <a:ea typeface="Consolas"/>
              </a:rPr>
              <a:t># compare a number across categories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print(df.groupby("payment")["tip"].mean())</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6"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27"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13</a:t>
            </a:r>
            <a:endParaRPr lang="en-US" sz="900" b="0" u="none" strike="noStrike">
              <a:solidFill>
                <a:srgbClr val="000000"/>
              </a:solidFill>
              <a:effectLst/>
              <a:uFillTx/>
              <a:latin typeface="Arial"/>
            </a:endParaRPr>
          </a:p>
        </p:txBody>
      </p:sp>
      <p:pic>
        <p:nvPicPr>
          <p:cNvPr id="128" name="Image 0" descr="/home/claude/assets/logo_crop.png"/>
          <p:cNvPicPr/>
          <p:nvPr/>
        </p:nvPicPr>
        <p:blipFill>
          <a:blip r:embed="rId1"/>
          <a:stretch/>
        </p:blipFill>
        <p:spPr>
          <a:xfrm>
            <a:off x="11201400" y="384120"/>
            <a:ext cx="456840" cy="511560"/>
          </a:xfrm>
          <a:prstGeom prst="rect">
            <a:avLst/>
          </a:prstGeom>
          <a:noFill/>
          <a:ln w="0">
            <a:noFill/>
          </a:ln>
        </p:spPr>
      </p:pic>
      <p:sp>
        <p:nvSpPr>
          <p:cNvPr id="129"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6: Look at Charts</a:t>
            </a:r>
            <a:endParaRPr lang="en-US" sz="2600" b="0" u="none" strike="noStrike">
              <a:solidFill>
                <a:srgbClr val="000000"/>
              </a:solidFill>
              <a:effectLst/>
              <a:uFillTx/>
              <a:latin typeface="Arial"/>
            </a:endParaRPr>
          </a:p>
        </p:txBody>
      </p:sp>
      <p:sp>
        <p:nvSpPr>
          <p:cNvPr id="130"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133"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Why: charts show shape that numbers hide</a:t>
            </a:r>
            <a:endParaRPr lang="en-US" sz="1600" b="0" u="none" strike="noStrike">
              <a:solidFill>
                <a:srgbClr val="000000"/>
              </a:solidFill>
              <a:effectLst/>
              <a:uFillTx/>
              <a:latin typeface="Arial"/>
            </a:endParaRPr>
          </a:p>
        </p:txBody>
      </p:sp>
      <p:sp>
        <p:nvSpPr>
          <p:cNvPr id="134"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Why: two datasets can have identical summary numbers and look completely different. Charts show the shape, the outliers and the relationships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histplot of one numeric column shows its shape: bell, skewed or with several humps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boxplot marks outliers as dots beyond the whiskers, so you see exactly how many extreme values there are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scatterplot of two columns shows relationships and odd points that break the pattern, such as a long trip with a tiny fare</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countplot shows how a category is spread. Plot, note what looks wrong, then move on: this is a first look, not a final report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35"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36"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14</a:t>
            </a:r>
            <a:endParaRPr lang="en-US" sz="900" b="0" u="none" strike="noStrike">
              <a:solidFill>
                <a:srgbClr val="000000"/>
              </a:solidFill>
              <a:effectLst/>
              <a:uFillTx/>
              <a:latin typeface="Arial"/>
            </a:endParaRPr>
          </a:p>
        </p:txBody>
      </p:sp>
      <p:pic>
        <p:nvPicPr>
          <p:cNvPr id="137" name="Image 0" descr="/home/claude/assets/logo_crop.png"/>
          <p:cNvPicPr/>
          <p:nvPr/>
        </p:nvPicPr>
        <p:blipFill>
          <a:blip r:embed="rId1"/>
          <a:stretch/>
        </p:blipFill>
        <p:spPr>
          <a:xfrm>
            <a:off x="11201400" y="384120"/>
            <a:ext cx="456840" cy="511560"/>
          </a:xfrm>
          <a:prstGeom prst="rect">
            <a:avLst/>
          </a:prstGeom>
          <a:noFill/>
          <a:ln w="0">
            <a:noFill/>
          </a:ln>
        </p:spPr>
      </p:pic>
      <p:sp>
        <p:nvSpPr>
          <p:cNvPr id="138"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Step 6 in Code</a:t>
            </a:r>
            <a:endParaRPr lang="en-US" sz="2600" b="0" u="none" strike="noStrike">
              <a:solidFill>
                <a:srgbClr val="000000"/>
              </a:solidFill>
              <a:effectLst/>
              <a:uFillTx/>
              <a:latin typeface="Arial"/>
            </a:endParaRPr>
          </a:p>
        </p:txBody>
      </p:sp>
      <p:sp>
        <p:nvSpPr>
          <p:cNvPr id="139" name="Text 3"/>
          <p:cNvSpPr/>
          <p:nvPr/>
        </p:nvSpPr>
        <p:spPr>
          <a:xfrm>
            <a:off x="548640" y="1783080"/>
            <a:ext cx="521172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fare piles up on the left with a long tail to the right: right skew.</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box plot shows many dots beyond the whisker: expensive trips.</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In the scatter plot, fare grows roughly with distance, and the 0-mile trips sit on the vertical axis with real fares.</a:t>
            </a:r>
            <a:endParaRPr lang="en-US" sz="1400" b="0" u="none" strike="noStrike">
              <a:solidFill>
                <a:srgbClr val="000000"/>
              </a:solidFill>
              <a:effectLst/>
              <a:uFillTx/>
              <a:latin typeface="Arial"/>
            </a:endParaRPr>
          </a:p>
        </p:txBody>
      </p:sp>
      <p:sp>
        <p:nvSpPr>
          <p:cNvPr id="140" name="Shape 4"/>
          <p:cNvSpPr/>
          <p:nvPr/>
        </p:nvSpPr>
        <p:spPr>
          <a:xfrm>
            <a:off x="5989320" y="1737360"/>
            <a:ext cx="5668920" cy="4023000"/>
          </a:xfrm>
          <a:prstGeom prst="roundRect">
            <a:avLst>
              <a:gd name="adj" fmla="val 3182"/>
            </a:avLst>
          </a:prstGeom>
          <a:solidFill>
            <a:srgbClr val="0E1420"/>
          </a:solidFill>
          <a:ln w="12700">
            <a:solidFill>
              <a:srgbClr val="0E14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1" name="Shape 5"/>
          <p:cNvSpPr/>
          <p:nvPr/>
        </p:nvSpPr>
        <p:spPr>
          <a:xfrm>
            <a:off x="6153840" y="1883520"/>
            <a:ext cx="100080" cy="100080"/>
          </a:xfrm>
          <a:prstGeom prst="ellipse">
            <a:avLst/>
          </a:prstGeom>
          <a:solidFill>
            <a:srgbClr val="F43F5E"/>
          </a:solidFill>
          <a:ln w="12700">
            <a:solidFill>
              <a:srgbClr val="F43F5E"/>
            </a:solidFill>
            <a:round/>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42" name="Shape 6"/>
          <p:cNvSpPr/>
          <p:nvPr/>
        </p:nvSpPr>
        <p:spPr>
          <a:xfrm>
            <a:off x="6355080" y="1883520"/>
            <a:ext cx="100080" cy="100080"/>
          </a:xfrm>
          <a:prstGeom prst="ellipse">
            <a:avLst/>
          </a:prstGeom>
          <a:solidFill>
            <a:srgbClr val="F9C6FE"/>
          </a:solidFill>
          <a:ln w="12700">
            <a:solidFill>
              <a:srgbClr val="F9C6FE"/>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43" name="Shape 7"/>
          <p:cNvSpPr/>
          <p:nvPr/>
        </p:nvSpPr>
        <p:spPr>
          <a:xfrm>
            <a:off x="6556320" y="1883520"/>
            <a:ext cx="100080" cy="100080"/>
          </a:xfrm>
          <a:prstGeom prst="ellipse">
            <a:avLst/>
          </a:prstGeom>
          <a:solidFill>
            <a:srgbClr val="2DD4BF"/>
          </a:solidFill>
          <a:ln w="12700">
            <a:solidFill>
              <a:srgbClr val="2DD4BF"/>
            </a:solidFill>
            <a:round/>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44" name="Text 8"/>
          <p:cNvSpPr/>
          <p:nvPr/>
        </p:nvSpPr>
        <p:spPr>
          <a:xfrm>
            <a:off x="6172200" y="2148840"/>
            <a:ext cx="5348880" cy="347436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300" b="0" u="none" strike="noStrike">
                <a:solidFill>
                  <a:srgbClr val="F1F5F9"/>
                </a:solidFill>
                <a:effectLst/>
                <a:uFillTx/>
                <a:latin typeface="Cantarell"/>
                <a:ea typeface="Consolas"/>
              </a:rPr>
              <a:t>import seaborn as sns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import matplotlib.pyplot as plt</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df = sns.load_dataset("taxis")</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sns.histplot(data=df, x="fare")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sns.boxplot(data=df, x="fare")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sns.scatterplot(data=df,</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x="distance", y="fare")</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sns.countplot(data=df,</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    x="pickup_borough")</a:t>
            </a:r>
            <a:endParaRPr lang="en-US" sz="1300" b="0" u="none" strike="noStrike">
              <a:solidFill>
                <a:srgbClr val="000000"/>
              </a:solidFill>
              <a:effectLst/>
              <a:uFillTx/>
              <a:latin typeface="Cantarell"/>
            </a:endParaRPr>
          </a:p>
          <a:p>
            <a:pPr defTabSz="914400">
              <a:lnSpc>
                <a:spcPct val="110000"/>
              </a:lnSpc>
              <a:tabLst>
                <a:tab pos="0" algn="l"/>
              </a:tabLst>
            </a:pPr>
            <a:r>
              <a:rPr lang="en-US" sz="1300" b="0" u="none" strike="noStrike">
                <a:solidFill>
                  <a:srgbClr val="F1F5F9"/>
                </a:solidFill>
                <a:effectLst/>
                <a:uFillTx/>
                <a:latin typeface="Cantarell"/>
                <a:ea typeface="Consolas"/>
              </a:rPr>
              <a:t>plt.show()</a:t>
            </a:r>
            <a:endParaRPr lang="en-US" sz="1300" b="0" u="none" strike="noStrike">
              <a:solidFill>
                <a:srgbClr val="000000"/>
              </a:solidFill>
              <a:effectLst/>
              <a:uFillTx/>
              <a:latin typeface="Cantarel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45"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46"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15</a:t>
            </a:r>
            <a:endParaRPr lang="en-US" sz="900" b="0" u="none" strike="noStrike">
              <a:solidFill>
                <a:srgbClr val="000000"/>
              </a:solidFill>
              <a:effectLst/>
              <a:uFillTx/>
              <a:latin typeface="Arial"/>
            </a:endParaRPr>
          </a:p>
        </p:txBody>
      </p:sp>
      <p:pic>
        <p:nvPicPr>
          <p:cNvPr id="147" name="Image 0" descr="/home/claude/assets/logo_crop.png"/>
          <p:cNvPicPr/>
          <p:nvPr/>
        </p:nvPicPr>
        <p:blipFill>
          <a:blip r:embed="rId1"/>
          <a:stretch/>
        </p:blipFill>
        <p:spPr>
          <a:xfrm>
            <a:off x="11201400" y="384120"/>
            <a:ext cx="456840" cy="511560"/>
          </a:xfrm>
          <a:prstGeom prst="rect">
            <a:avLst/>
          </a:prstGeom>
          <a:noFill/>
          <a:ln w="0">
            <a:noFill/>
          </a:ln>
        </p:spPr>
      </p:pic>
      <p:sp>
        <p:nvSpPr>
          <p:cNvPr id="148"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The Findings Log</a:t>
            </a:r>
            <a:endParaRPr lang="en-US" sz="2600" b="0" u="none" strike="noStrike">
              <a:solidFill>
                <a:srgbClr val="000000"/>
              </a:solidFill>
              <a:effectLst/>
              <a:uFillTx/>
              <a:latin typeface="Arial"/>
            </a:endParaRPr>
          </a:p>
        </p:txBody>
      </p:sp>
      <p:sp>
        <p:nvSpPr>
          <p:cNvPr id="149" name="Card"/>
          <p:cNvSpPr/>
          <p:nvPr/>
        </p:nvSpPr>
        <p:spPr>
          <a:xfrm>
            <a:off x="548640" y="1737360"/>
            <a:ext cx="3550680" cy="4023000"/>
          </a:xfrm>
          <a:prstGeom prst="roundRect">
            <a:avLst>
              <a:gd name="adj" fmla="val 2060"/>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0" name="Pill"/>
          <p:cNvSpPr/>
          <p:nvPr/>
        </p:nvSpPr>
        <p:spPr>
          <a:xfrm>
            <a:off x="731520" y="1920240"/>
            <a:ext cx="3184920" cy="456840"/>
          </a:xfrm>
          <a:prstGeom prst="roundRect">
            <a:avLst>
              <a:gd name="adj" fmla="val 50000"/>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Pill label"/>
          <p:cNvSpPr/>
          <p:nvPr/>
        </p:nvSpPr>
        <p:spPr>
          <a:xfrm>
            <a:off x="731520" y="1920240"/>
            <a:ext cx="3184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Plus Jakarta Sans"/>
                <a:ea typeface="Plus Jakarta Sans"/>
              </a:rPr>
              <a:t>Missing values</a:t>
            </a:r>
            <a:endParaRPr lang="en-US" sz="1400" b="0" u="none" strike="noStrike">
              <a:solidFill>
                <a:srgbClr val="000000"/>
              </a:solidFill>
              <a:effectLst/>
              <a:uFillTx/>
              <a:latin typeface="Arial"/>
            </a:endParaRPr>
          </a:p>
        </p:txBody>
      </p:sp>
      <p:sp>
        <p:nvSpPr>
          <p:cNvPr id="152" name="Items"/>
          <p:cNvSpPr/>
          <p:nvPr/>
        </p:nvSpPr>
        <p:spPr>
          <a:xfrm>
            <a:off x="777240" y="2606040"/>
            <a:ext cx="3093480" cy="30171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payment: 44 rows</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zones: 26 pickup, 45 dropoff</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boroughs follow the zones exactly</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Deck 3: decide drop or fill, per column</a:t>
            </a:r>
            <a:endParaRPr lang="en-US" sz="1300" b="0" u="none" strike="noStrike">
              <a:solidFill>
                <a:srgbClr val="000000"/>
              </a:solidFill>
              <a:effectLst/>
              <a:uFillTx/>
              <a:latin typeface="Arial"/>
            </a:endParaRPr>
          </a:p>
        </p:txBody>
      </p:sp>
      <p:sp>
        <p:nvSpPr>
          <p:cNvPr id="153" name="Card"/>
          <p:cNvSpPr/>
          <p:nvPr/>
        </p:nvSpPr>
        <p:spPr>
          <a:xfrm>
            <a:off x="4328280" y="1737360"/>
            <a:ext cx="3550680" cy="4023000"/>
          </a:xfrm>
          <a:prstGeom prst="roundRect">
            <a:avLst>
              <a:gd name="adj" fmla="val 2060"/>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4" name="Pill"/>
          <p:cNvSpPr/>
          <p:nvPr/>
        </p:nvSpPr>
        <p:spPr>
          <a:xfrm>
            <a:off x="4511160" y="1920240"/>
            <a:ext cx="3184920" cy="456840"/>
          </a:xfrm>
          <a:prstGeom prst="roundRect">
            <a:avLst>
              <a:gd name="adj" fmla="val 50000"/>
            </a:avLst>
          </a:prstGeom>
          <a:solidFill>
            <a:srgbClr val="2DD4BF"/>
          </a:solidFill>
          <a:ln w="12700">
            <a:solidFill>
              <a:srgbClr val="2DD4B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Pill label"/>
          <p:cNvSpPr/>
          <p:nvPr/>
        </p:nvSpPr>
        <p:spPr>
          <a:xfrm>
            <a:off x="4511160" y="1920240"/>
            <a:ext cx="3184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02019"/>
                </a:solidFill>
                <a:effectLst/>
                <a:uFillTx/>
                <a:latin typeface="Plus Jakarta Sans"/>
                <a:ea typeface="Plus Jakarta Sans"/>
              </a:rPr>
              <a:t>Suspicious values</a:t>
            </a:r>
            <a:endParaRPr lang="en-US" sz="1400" b="0" u="none" strike="noStrike">
              <a:solidFill>
                <a:srgbClr val="000000"/>
              </a:solidFill>
              <a:effectLst/>
              <a:uFillTx/>
              <a:latin typeface="Arial"/>
            </a:endParaRPr>
          </a:p>
        </p:txBody>
      </p:sp>
      <p:sp>
        <p:nvSpPr>
          <p:cNvPr id="156" name="Items"/>
          <p:cNvSpPr/>
          <p:nvPr/>
        </p:nvSpPr>
        <p:spPr>
          <a:xfrm>
            <a:off x="4556880" y="2606040"/>
            <a:ext cx="3093480" cy="30171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96 trips with 0 passengers</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51 trips with 0 miles</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6 fares above 100</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Deck 3: investigate, then keep, fix or flag</a:t>
            </a:r>
            <a:endParaRPr lang="en-US" sz="1300" b="0" u="none" strike="noStrike">
              <a:solidFill>
                <a:srgbClr val="000000"/>
              </a:solidFill>
              <a:effectLst/>
              <a:uFillTx/>
              <a:latin typeface="Arial"/>
            </a:endParaRPr>
          </a:p>
        </p:txBody>
      </p:sp>
      <p:sp>
        <p:nvSpPr>
          <p:cNvPr id="157" name="Card"/>
          <p:cNvSpPr/>
          <p:nvPr/>
        </p:nvSpPr>
        <p:spPr>
          <a:xfrm>
            <a:off x="8107560" y="1737360"/>
            <a:ext cx="3550680" cy="4023000"/>
          </a:xfrm>
          <a:prstGeom prst="roundRect">
            <a:avLst>
              <a:gd name="adj" fmla="val 2060"/>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8" name="Pill"/>
          <p:cNvSpPr/>
          <p:nvPr/>
        </p:nvSpPr>
        <p:spPr>
          <a:xfrm>
            <a:off x="8290440" y="1920240"/>
            <a:ext cx="3184920" cy="456840"/>
          </a:xfrm>
          <a:prstGeom prst="roundRect">
            <a:avLst>
              <a:gd name="adj" fmla="val 50000"/>
            </a:avLst>
          </a:prstGeom>
          <a:solidFill>
            <a:srgbClr val="F9C6FE"/>
          </a:solidFill>
          <a:ln w="12700">
            <a:solidFill>
              <a:srgbClr val="F9C6FE"/>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9" name="Pill label"/>
          <p:cNvSpPr/>
          <p:nvPr/>
        </p:nvSpPr>
        <p:spPr>
          <a:xfrm>
            <a:off x="8290440" y="1920240"/>
            <a:ext cx="31849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4C112D"/>
                </a:solidFill>
                <a:effectLst/>
                <a:uFillTx/>
                <a:latin typeface="Plus Jakarta Sans"/>
                <a:ea typeface="Plus Jakarta Sans"/>
              </a:rPr>
              <a:t>Shape and bias</a:t>
            </a:r>
            <a:endParaRPr lang="en-US" sz="1400" b="0" u="none" strike="noStrike">
              <a:solidFill>
                <a:srgbClr val="000000"/>
              </a:solidFill>
              <a:effectLst/>
              <a:uFillTx/>
              <a:latin typeface="Arial"/>
            </a:endParaRPr>
          </a:p>
        </p:txBody>
      </p:sp>
      <p:sp>
        <p:nvSpPr>
          <p:cNvPr id="160" name="Items"/>
          <p:cNvSpPr/>
          <p:nvPr/>
        </p:nvSpPr>
        <p:spPr>
          <a:xfrm>
            <a:off x="8336160" y="2606040"/>
            <a:ext cx="3093480" cy="30171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fare is right-skewed (skew 3.22)</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Cash tips look unrecorded</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Manhattan dominates pickups</a:t>
            </a:r>
            <a:endParaRPr lang="en-US" sz="1300" b="0" u="none" strike="noStrike">
              <a:solidFill>
                <a:srgbClr val="000000"/>
              </a:solidFill>
              <a:effectLst/>
              <a:uFillTx/>
              <a:latin typeface="Arial"/>
            </a:endParaRPr>
          </a:p>
          <a:p>
            <a:pPr marL="203040" indent="-203040" defTabSz="914400">
              <a:lnSpc>
                <a:spcPct val="100000"/>
              </a:lnSpc>
              <a:spcAft>
                <a:spcPts val="700"/>
              </a:spcAft>
              <a:buClr>
                <a:srgbClr val="1B1B20"/>
              </a:buClr>
              <a:buFont typeface="Symbol" charset="2"/>
              <a:buChar char=""/>
            </a:pPr>
            <a:r>
              <a:rPr lang="en-US" sz="1300" b="0" u="none" strike="noStrike">
                <a:solidFill>
                  <a:srgbClr val="1B1B20"/>
                </a:solidFill>
                <a:effectLst/>
                <a:uFillTx/>
                <a:latin typeface="Hanken Grotesk"/>
                <a:ea typeface="Hanken Grotesk"/>
              </a:rPr>
              <a:t>Deck 4 and 5: handle in analysis and features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61" name="Text 0"/>
          <p:cNvSpPr/>
          <p:nvPr/>
        </p:nvSpPr>
        <p:spPr>
          <a:xfrm>
            <a:off x="457200" y="6473880"/>
            <a:ext cx="6400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CodeByPaxto  ·  AI &amp; ML Playground  ·  Hafiz Waseem Ahmed (Paxto)</a:t>
            </a:r>
            <a:endParaRPr lang="en-US" sz="900" b="0" u="none" strike="noStrike">
              <a:solidFill>
                <a:srgbClr val="000000"/>
              </a:solidFill>
              <a:effectLst/>
              <a:uFillTx/>
              <a:latin typeface="Arial"/>
            </a:endParaRPr>
          </a:p>
        </p:txBody>
      </p:sp>
      <p:sp>
        <p:nvSpPr>
          <p:cNvPr id="162" name="Text 1"/>
          <p:cNvSpPr/>
          <p:nvPr/>
        </p:nvSpPr>
        <p:spPr>
          <a:xfrm>
            <a:off x="11503080" y="6473880"/>
            <a:ext cx="50256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16</a:t>
            </a:r>
            <a:endParaRPr lang="en-US" sz="900" b="0" u="none" strike="noStrike">
              <a:solidFill>
                <a:srgbClr val="000000"/>
              </a:solidFill>
              <a:effectLst/>
              <a:uFillTx/>
              <a:latin typeface="Arial"/>
            </a:endParaRPr>
          </a:p>
        </p:txBody>
      </p:sp>
      <p:pic>
        <p:nvPicPr>
          <p:cNvPr id="163" name="Image 0" descr="/home/claude/assets/logo_crop.png"/>
          <p:cNvPicPr/>
          <p:nvPr/>
        </p:nvPicPr>
        <p:blipFill>
          <a:blip r:embed="rId1"/>
          <a:stretch/>
        </p:blipFill>
        <p:spPr>
          <a:xfrm>
            <a:off x="11201400" y="384120"/>
            <a:ext cx="456840" cy="511560"/>
          </a:xfrm>
          <a:prstGeom prst="rect">
            <a:avLst/>
          </a:prstGeom>
          <a:noFill/>
          <a:ln w="0">
            <a:noFill/>
          </a:ln>
        </p:spPr>
      </p:pic>
      <p:sp>
        <p:nvSpPr>
          <p:cNvPr id="164" name="Text 2"/>
          <p:cNvSpPr/>
          <p:nvPr/>
        </p:nvSpPr>
        <p:spPr>
          <a:xfrm>
            <a:off x="548640" y="457200"/>
            <a:ext cx="10240920" cy="6854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1B1B20"/>
                </a:solidFill>
                <a:effectLst/>
                <a:uFillTx/>
                <a:latin typeface="Bricolage Grotesque"/>
                <a:ea typeface="Bricolage Grotesque"/>
              </a:rPr>
              <a:t>Practice Set</a:t>
            </a:r>
            <a:endParaRPr lang="en-US" sz="2600" b="0" u="none" strike="noStrike">
              <a:solidFill>
                <a:srgbClr val="000000"/>
              </a:solidFill>
              <a:effectLst/>
              <a:uFillTx/>
              <a:latin typeface="Arial"/>
            </a:endParaRPr>
          </a:p>
        </p:txBody>
      </p:sp>
      <p:sp>
        <p:nvSpPr>
          <p:cNvPr id="165" name="Panel"/>
          <p:cNvSpPr/>
          <p:nvPr/>
        </p:nvSpPr>
        <p:spPr>
          <a:xfrm>
            <a:off x="548640" y="1737360"/>
            <a:ext cx="2742840" cy="4023000"/>
          </a:xfrm>
          <a:prstGeom prst="roundRect">
            <a:avLst>
              <a:gd name="adj" fmla="val 3182"/>
            </a:avLst>
          </a:prstGeom>
          <a:solidFill>
            <a:srgbClr val="8C8AE0"/>
          </a:solidFill>
          <a:ln w="12700">
            <a:solidFill>
              <a:srgbClr val="8C8AE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 name="Circle"/>
          <p:cNvSpPr/>
          <p:nvPr/>
        </p:nvSpPr>
        <p:spPr>
          <a:xfrm>
            <a:off x="1645920" y="2103120"/>
            <a:ext cx="548280" cy="548280"/>
          </a:xfrm>
          <a:prstGeom prst="ellipse">
            <a:avLst/>
          </a:prstGeom>
          <a:solidFill>
            <a:srgbClr val="FFFFFF"/>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7" name="Symbol"/>
          <p:cNvSpPr/>
          <p:nvPr/>
        </p:nvSpPr>
        <p:spPr>
          <a:xfrm>
            <a:off x="1645920" y="21031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8C8AE0"/>
                </a:solidFill>
                <a:effectLst/>
                <a:uFillTx/>
                <a:latin typeface="Bricolage Grotesque"/>
                <a:ea typeface="Bricolage Grotesque"/>
              </a:rPr>
              <a:t>◎</a:t>
            </a:r>
            <a:endParaRPr lang="en-US" sz="2000" b="0" u="none" strike="noStrike">
              <a:solidFill>
                <a:srgbClr val="000000"/>
              </a:solidFill>
              <a:effectLst/>
              <a:uFillTx/>
              <a:latin typeface="Arial"/>
            </a:endParaRPr>
          </a:p>
        </p:txBody>
      </p:sp>
      <p:sp>
        <p:nvSpPr>
          <p:cNvPr id="168" name="Caption"/>
          <p:cNvSpPr/>
          <p:nvPr/>
        </p:nvSpPr>
        <p:spPr>
          <a:xfrm>
            <a:off x="731520" y="2926080"/>
            <a:ext cx="2377080" cy="15998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31F71"/>
                </a:solidFill>
                <a:effectLst/>
                <a:uFillTx/>
                <a:latin typeface="Bricolage Grotesque"/>
                <a:ea typeface="Bricolage Grotesque"/>
              </a:rPr>
              <a:t>Repeat the five checks on new data</a:t>
            </a:r>
            <a:endParaRPr lang="en-US" sz="1600" b="0" u="none" strike="noStrike">
              <a:solidFill>
                <a:srgbClr val="000000"/>
              </a:solidFill>
              <a:effectLst/>
              <a:uFillTx/>
              <a:latin typeface="Arial"/>
            </a:endParaRPr>
          </a:p>
        </p:txBody>
      </p:sp>
      <p:sp>
        <p:nvSpPr>
          <p:cNvPr id="169" name="Bullets"/>
          <p:cNvSpPr/>
          <p:nvPr/>
        </p:nvSpPr>
        <p:spPr>
          <a:xfrm>
            <a:off x="3611880" y="1783080"/>
            <a:ext cx="8046360" cy="397728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Load the "diamonds" dataset with sns.load_dataset and run steps 1 to 5. Write one finding per step</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Load "penguins" and find which columns have missing values. Are they missing together, like zone and borough?</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In the taxi data, create a trip duration (dropoff minus pickup) and find the shortest and longest trips. What would you flag?</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Explain in your own words why a tip of 0 and a distance of 0 deserve different treatment</a:t>
            </a:r>
            <a:endParaRPr lang="en-US" sz="1400" b="0" u="none" strike="noStrike">
              <a:solidFill>
                <a:srgbClr val="000000"/>
              </a:solidFill>
              <a:effectLst/>
              <a:uFillTx/>
              <a:latin typeface="Arial"/>
            </a:endParaRPr>
          </a:p>
          <a:p>
            <a:pPr marL="203040" indent="-20304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Next: Deck 3 fixes the problems in your findings log</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2026-10-01T23:27:36Z</dcterms:created>
  <dc:creator>Hafiz Waseem Ahmed (Paxto)</dc:creator>
  <dc:description/>
  <dc:language>en-US</dc:language>
  <cp:lastModifiedBy/>
  <dcterms:modified xsi:type="dcterms:W3CDTF">2026-10-08T18:23:37Z</dcterms:modified>
  <cp:revision>2</cp:revision>
  <dc:subject>PptxGenJS Presentation</dc:subject>
  <dc:title>Descriptive Statistics I — CodeByPaxto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85</vt:i4>
  </property>
  <property fmtid="{D5CDD505-2E9C-101B-9397-08002B2CF9AE}" pid="3" name="PresentationFormat">
    <vt:lpwstr>On-screen Show (16:9)</vt:lpwstr>
  </property>
  <property fmtid="{D5CDD505-2E9C-101B-9397-08002B2CF9AE}" pid="4" name="Slides">
    <vt:i4>85</vt:i4>
  </property>
</Properties>
</file>